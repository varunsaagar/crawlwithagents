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17.xml" ContentType="application/vnd.openxmlformats-officedocument.presentationml.slide+xml"/>
  <Override PartName="/ppt/slides/slide21.xml" ContentType="application/vnd.openxmlformats-officedocument.presentationml.slide+xml"/>
  <Override PartName="/ppt/slides/slide2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notesSlides/notesSlide40.xml" ContentType="application/vnd.openxmlformats-officedocument.presentationml.notesSlide+xml"/>
  <Override PartName="/ppt/slides/slide40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2"/>
  </p:notesMasterIdLst>
  <p:sldIdLst>
    <p:sldId id="256" r:id="rId2"/>
    <p:sldId id="272" r:id="rId18"/>
    <p:sldId id="276" r:id="rId22"/>
    <p:sldId id="295" r:id="rId67"/>
    <p:sldId id="293" r:id="rId39"/>
    <p:sldId id="290" r:id="rId36"/>
    <p:sldId id="294" r:id="rId40"/>
    <p:sldId id="265" r:id="rId11"/>
    <p:sldId id="267" r:id="rId13"/>
    <p:sldId id="291" r:id="rId37"/>
    <p:sldId id="279" r:id="rId25"/>
  </p:sld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11" Type="http://schemas.openxmlformats.org/officeDocument/2006/relationships/slide" Target="slides/slide10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2" Type="http://schemas.openxmlformats.org/officeDocument/2006/relationships/slide" Target="slides/slide21.xml"/><Relationship Id="rId25" Type="http://schemas.openxmlformats.org/officeDocument/2006/relationships/slide" Target="slides/slide2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62" Type="http://schemas.openxmlformats.org/officeDocument/2006/relationships/notesMaster" Target="notesMasters/notesMaster1.xml"/><Relationship Id="rId63" Type="http://schemas.openxmlformats.org/officeDocument/2006/relationships/presProps" Target="presProps.xml"/><Relationship Id="rId64" Type="http://schemas.openxmlformats.org/officeDocument/2006/relationships/viewProps" Target="viewProps.xml"/><Relationship Id="rId65" Type="http://schemas.openxmlformats.org/officeDocument/2006/relationships/theme" Target="theme/theme1.xml"/><Relationship Id="rId66" Type="http://schemas.openxmlformats.org/officeDocument/2006/relationships/tableStyles" Target="tableStyles.xml"/><Relationship Id="rId67" Type="http://schemas.openxmlformats.org/officeDocument/2006/relationships/slide" Target="slides/slide40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3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1 of the architecture: how traces get into LangSmith.</a:t>
            </a:r>
          </a:p>
          <a:p>
            <a:r>
              <a:rPr lang="en-US" dirty="0"/>
              <a:t>Path A: our native LangGraph agents trace automatically once LANGSMITH_TRACING=true is set; no code changes.</a:t>
            </a:r>
          </a:p>
          <a:p>
            <a:r>
              <a:rPr lang="en-US" dirty="0"/>
              <a:t>Path B: external agents (plain Python, Java, ADK, CrewAI, custom HTTP) instrument with the LangSmith SDK (@traceable, wrap_openai) or an OpenTelemetry OTLP exporter pointed at https://api.smith.langchain.com/otel with headers x-api-key and Langsmith-Project.</a:t>
            </a:r>
          </a:p>
          <a:p>
            <a:r>
              <a:rPr lang="en-US" dirty="0"/>
              <a:t>Both paths land in one LangSmith tracing project (same or separate project). The trace must carry inputs.messages / outputs.messages including tool calls, plus thread_id metadata, so the thread-level judges can run.</a:t>
            </a:r>
          </a:p>
          <a:p>
            <a:r>
              <a:rPr lang="en-US" dirty="0"/>
              <a:t>Source: architecture-v2.mmd (team architecture diagram).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2: what happens to the traces once they are in LangSmith.</a:t>
            </a:r>
          </a:p>
          <a:p>
            <a:r>
              <a:rPr lang="en-US" dirty="0"/>
              <a:t>Online evaluators pick which runs to judge (filter, sampling rate, spend cap) and send them to five LLM-as-judge evaluators: Action completion (thread-level), Output PII, Toxicity, Sexism, Hallucination. The judge model is configured via a workspace secret (OpenAI, Azure OpenAI or Gemini).</a:t>
            </a:r>
          </a:p>
          <a:p>
            <a:r>
              <a:rPr lang="en-US" dirty="0"/>
              <a:t>Judges write feedback scores on runs and threads. Those feed dashboards and alerts, and annotation queues for human review.</a:t>
            </a:r>
          </a:p>
          <a:p>
            <a:r>
              <a:rPr lang="en-US" dirty="0"/>
              <a:t>Reviewed examples become datasets, which drive offline experiments: evaluate() in CI with the same LLM judges.</a:t>
            </a:r>
          </a:p>
          <a:p>
            <a:r>
              <a:rPr lang="en-US" dirty="0"/>
              <a:t>Source: architecture-v2.mmd (team architecture diagram).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2"/>
      </p:ext>
    </p:extLst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5488" y="329184"/>
            <a:ext cx="2743200" cy="34747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LangSmith · LLM-as-Judge</a:t>
            </a:r>
          </a:p>
        </p:txBody>
      </p:sp>
      <p:sp>
        <p:nvSpPr>
          <p:cNvPr id="3" name="Text 1"/>
          <p:cNvSpPr txBox="1"/>
          <p:nvPr/>
        </p:nvSpPr>
        <p:spPr>
          <a:xfrm>
            <a:off x="10835640" y="6217920"/>
            <a:ext cx="896112" cy="26517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080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Page 1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114032" y="1316736"/>
            <a:ext cx="3419856" cy="4379976"/>
          </a:xfrm>
          <a:prstGeom prst="roundRect">
            <a:avLst>
              <a:gd name="adj" fmla="val 5000"/>
            </a:avLst>
          </a:prstGeom>
          <a:ln w="12700">
            <a:solidFill>
              <a:srgbClr val="ECEEF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14032" y="1316736"/>
            <a:ext cx="3419856" cy="4379976"/>
          </a:xfrm>
          <a:prstGeom prst="rect">
            <a:avLst/>
          </a:prstGeom>
          <a:noFill/>
          <a:ln/>
        </p:spPr>
        <p:txBody>
          <a:bodyPr wrap="square" lIns="777240" tIns="1325880" rIns="182880" bIns="9144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500" dirty="0" b="1">
                <a:solidFill>
                  <a:srgbClr val="26262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LLM judges in LangSmith</a:t>
            </a:r>
          </a:p>
          <a:p>
            <a:pPr algn="l" indent="0" marL="0">
              <a:spcBef>
                <a:spcPts val="500"/>
              </a:spcBef>
              <a:buNone/>
            </a:pPr>
            <a:r>
              <a:rPr lang="en-US" sz="1500" dirty="0">
                <a:solidFill>
                  <a:srgbClr val="26262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Action completion</a:t>
            </a:r>
          </a:p>
          <a:p>
            <a:pPr algn="l" indent="0" marL="0">
              <a:spcBef>
                <a:spcPts val="500"/>
              </a:spcBef>
              <a:buNone/>
            </a:pPr>
            <a:r>
              <a:rPr lang="en-US" sz="1500" dirty="0">
                <a:solidFill>
                  <a:srgbClr val="26262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Output PII</a:t>
            </a:r>
          </a:p>
          <a:p>
            <a:pPr algn="l" indent="0" marL="0">
              <a:spcBef>
                <a:spcPts val="500"/>
              </a:spcBef>
              <a:buNone/>
            </a:pPr>
            <a:r>
              <a:rPr lang="en-US" sz="1500" dirty="0">
                <a:solidFill>
                  <a:srgbClr val="26262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Toxicity</a:t>
            </a:r>
          </a:p>
          <a:p>
            <a:pPr algn="l" indent="0" marL="0">
              <a:spcBef>
                <a:spcPts val="500"/>
              </a:spcBef>
              <a:buNone/>
            </a:pPr>
            <a:r>
              <a:rPr lang="en-US" sz="1500" dirty="0">
                <a:solidFill>
                  <a:srgbClr val="26262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Sexism</a:t>
            </a:r>
          </a:p>
          <a:p>
            <a:pPr algn="l" indent="0" marL="0">
              <a:spcBef>
                <a:spcPts val="500"/>
              </a:spcBef>
              <a:buNone/>
            </a:pPr>
            <a:r>
              <a:rPr lang="en-US" sz="1500" dirty="0">
                <a:solidFill>
                  <a:srgbClr val="26262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Hallucination</a:t>
            </a:r>
          </a:p>
        </p:txBody>
      </p:sp>
      <p:sp>
        <p:nvSpPr>
          <p:cNvPr id="6" name="Shape 4"/>
          <p:cNvSpPr/>
          <p:nvPr/>
        </p:nvSpPr>
        <p:spPr>
          <a:xfrm>
            <a:off x="6766560" y="3081528"/>
            <a:ext cx="694944" cy="694944"/>
          </a:xfrm>
          <a:prstGeom prst="roundRect">
            <a:avLst>
              <a:gd name="adj" fmla="val 50000"/>
            </a:avLst>
          </a:prstGeom>
          <a:ln w="12700">
            <a:solidFill>
              <a:srgbClr val="ECEEF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186416" y="1828800"/>
            <a:ext cx="694944" cy="694944"/>
          </a:xfrm>
          <a:prstGeom prst="roundRect">
            <a:avLst>
              <a:gd name="adj" fmla="val 50000"/>
            </a:avLst>
          </a:prstGeom>
          <a:ln w="12700">
            <a:solidFill>
              <a:srgbClr val="ECEEF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408176" y="1005840"/>
            <a:ext cx="4617720" cy="22402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buNone/>
            </a:pPr>
            <a:r>
              <a:rPr lang="en-US" sz="3400" dirty="0">
                <a:solidFill>
                  <a:srgbClr val="262626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LangSmith as the </a:t>
            </a:r>
            <a:r>
              <a:rPr lang="en-US" sz="3400" dirty="0">
                <a:solidFill>
                  <a:srgbClr val="00C7AA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LLM-as-Judge</a:t>
            </a:r>
            <a:r>
              <a:rPr lang="en-US" sz="3400" dirty="0">
                <a:solidFill>
                  <a:srgbClr val="262626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 Platform for External Agents</a:t>
            </a:r>
          </a:p>
        </p:txBody>
      </p:sp>
      <p:sp>
        <p:nvSpPr>
          <p:cNvPr id="9" name="Text 7"/>
          <p:cNvSpPr txBox="1"/>
          <p:nvPr/>
        </p:nvSpPr>
        <p:spPr>
          <a:xfrm>
            <a:off x="1408176" y="3383280"/>
            <a:ext cx="4526280" cy="7315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808080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Tracing non-LangGraph agents and judging action completion, PII, toxicity, sexism and hallucination</a:t>
            </a:r>
          </a:p>
        </p:txBody>
      </p:sp>
      <p:sp>
        <p:nvSpPr>
          <p:cNvPr id="10" name="Text 8"/>
          <p:cNvSpPr txBox="1"/>
          <p:nvPr/>
        </p:nvSpPr>
        <p:spPr>
          <a:xfrm>
            <a:off x="1408176" y="4343400"/>
            <a:ext cx="452628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080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Varun Saagar · Architecture review · Oct 2026</a:t>
            </a:r>
          </a:p>
        </p:txBody>
      </p:sp>
      <p:sp>
        <p:nvSpPr>
          <p:cNvPr id="13" name="Shape 11"/>
          <p:cNvSpPr/>
          <p:nvPr/>
        </p:nvSpPr>
        <p:spPr>
          <a:xfrm>
            <a:off x="6135624" y="3922776"/>
            <a:ext cx="1581912" cy="1627632"/>
          </a:xfrm>
          <a:prstGeom prst="roundRect">
            <a:avLst>
              <a:gd name="adj" fmla="val 9249"/>
            </a:avLst>
          </a:prstGeom>
          <a:solidFill>
            <a:srgbClr val="4437E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300216" y="4645152"/>
            <a:ext cx="1325880" cy="74066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Native + external agents</a:t>
            </a:r>
          </a:p>
        </p:txBody>
      </p:sp>
      <p:sp>
        <p:nvSpPr>
          <p:cNvPr id="15" name="Shape 13"/>
          <p:cNvSpPr/>
          <p:nvPr/>
        </p:nvSpPr>
        <p:spPr>
          <a:xfrm>
            <a:off x="6447983" y="4189415"/>
            <a:ext cx="179954" cy="179954"/>
          </a:xfrm>
          <a:prstGeom prst="roundRect">
            <a:avLst>
              <a:gd name="adj" fmla="val 25000"/>
            </a:avLst>
          </a:prstGeom>
          <a:ln w="15875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09167" y="4250599"/>
            <a:ext cx="57585" cy="57585"/>
          </a:xfrm>
          <a:prstGeom prst="ellipse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5488" y="329184"/>
            <a:ext cx="2743200" cy="34747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LangSmith · LLM-as-Judge</a:t>
            </a:r>
          </a:p>
        </p:txBody>
      </p:sp>
      <p:sp>
        <p:nvSpPr>
          <p:cNvPr id="3" name="Text 1"/>
          <p:cNvSpPr txBox="1"/>
          <p:nvPr/>
        </p:nvSpPr>
        <p:spPr>
          <a:xfrm>
            <a:off x="10835640" y="6217920"/>
            <a:ext cx="896112" cy="26517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080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Page 8</a:t>
            </a:r>
          </a:p>
        </p:txBody>
      </p:sp>
      <p:sp>
        <p:nvSpPr>
          <p:cNvPr id="4" name="Shape 2"/>
          <p:cNvSpPr/>
          <p:nvPr/>
        </p:nvSpPr>
        <p:spPr>
          <a:xfrm>
            <a:off x="1463040" y="1188720"/>
            <a:ext cx="3675888" cy="4526280"/>
          </a:xfrm>
          <a:prstGeom prst="roundRect">
            <a:avLst>
              <a:gd name="adj" fmla="val 6742"/>
            </a:avLst>
          </a:prstGeom>
          <a:ln w="12700">
            <a:solidFill>
              <a:srgbClr val="ECEEF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63040" y="1188720"/>
            <a:ext cx="3675888" cy="3017520"/>
          </a:xfrm>
          <a:prstGeom prst="rect">
            <a:avLst/>
          </a:prstGeom>
          <a:noFill/>
          <a:ln/>
        </p:spPr>
        <p:txBody>
          <a:bodyPr wrap="square" lIns="274320" tIns="274320" rIns="274320" bIns="91440" rtlCol="0" anchor="t"/>
          <a:lstStyle/>
          <a:p>
            <a:pPr algn="l" indent="0" marL="0">
              <a:spcBef>
                <a:spcPts val="800"/>
              </a:spcBef>
              <a:buNone/>
            </a:pPr>
            <a:r>
              <a:rPr lang="en-US" sz="1500" dirty="0" b="1">
                <a:solidFill>
                  <a:srgbClr val="262626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Judge-token cost (estimate)</a:t>
            </a:r>
          </a:p>
          <a:p>
            <a:pPr algn="l" indent="0" marL="0">
              <a:spcBef>
                <a:spcPts val="800"/>
              </a:spcBef>
              <a:buNone/>
            </a:pPr>
            <a:r>
              <a:rPr lang="en-US" sz="1300" dirty="0">
                <a:solidFill>
                  <a:srgbClr val="26262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100% of traffic: ~$4k/day</a:t>
            </a:r>
          </a:p>
          <a:p>
            <a:pPr algn="l" indent="0" marL="0">
              <a:spcBef>
                <a:spcPts val="800"/>
              </a:spcBef>
              <a:buNone/>
            </a:pPr>
            <a:r>
              <a:rPr lang="en-US" sz="1300" dirty="0">
                <a:solidFill>
                  <a:srgbClr val="26262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5% sample + flagged: ~$200/day</a:t>
            </a:r>
          </a:p>
          <a:p>
            <a:pPr algn="l" indent="0" marL="0">
              <a:spcBef>
                <a:spcPts val="800"/>
              </a:spcBef>
              <a:buNone/>
            </a:pPr>
            <a:r>
              <a:rPr lang="en-US" sz="1100" dirty="0">
                <a:solidFill>
                  <a:srgbClr val="8080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Source-doc estimate at an assumed mini-class judge price; not a quote.</a:t>
            </a:r>
          </a:p>
        </p:txBody>
      </p:sp>
      <p:sp>
        <p:nvSpPr>
          <p:cNvPr id="6" name="Text 4"/>
          <p:cNvSpPr txBox="1"/>
          <p:nvPr/>
        </p:nvSpPr>
        <p:spPr>
          <a:xfrm>
            <a:off x="5623560" y="1097280"/>
            <a:ext cx="5486400" cy="1463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rgbClr val="262626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Scaling LLM judges to </a:t>
            </a:r>
            <a:r>
              <a:rPr lang="en-US" sz="3200" dirty="0">
                <a:solidFill>
                  <a:srgbClr val="00C7AA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~1M sessions/day</a:t>
            </a:r>
          </a:p>
        </p:txBody>
      </p:sp>
      <p:sp>
        <p:nvSpPr>
          <p:cNvPr id="7" name="Text 5"/>
          <p:cNvSpPr txBox="1"/>
          <p:nvPr/>
        </p:nvSpPr>
        <p:spPr>
          <a:xfrm>
            <a:off x="5623560" y="3200400"/>
            <a:ext cx="5486400" cy="2651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lnSpc>
                <a:spcPct val="110000"/>
              </a:lnSpc>
              <a:spcBef>
                <a:spcPts val="600"/>
              </a:spcBef>
              <a:buNone/>
            </a:pPr>
            <a:r>
              <a:rPr lang="en-US" sz="1250" dirty="0">
                <a:solidFill>
                  <a:srgbClr val="8080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Online-evaluator filters, sampling rate and weekly spend caps control judge cost.</a:t>
            </a:r>
          </a:p>
          <a:p>
            <a:pPr algn="l" indent="0" marL="0">
              <a:lnSpc>
                <a:spcPct val="110000"/>
              </a:lnSpc>
              <a:spcBef>
                <a:spcPts val="600"/>
              </a:spcBef>
              <a:buNone/>
            </a:pPr>
            <a:r>
              <a:rPr lang="en-US" sz="1250" dirty="0">
                <a:solidFill>
                  <a:srgbClr val="8080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Thread-level judges for action completion.</a:t>
            </a:r>
          </a:p>
          <a:p>
            <a:pPr algn="l" indent="0" marL="0">
              <a:lnSpc>
                <a:spcPct val="110000"/>
              </a:lnSpc>
              <a:spcBef>
                <a:spcPts val="600"/>
              </a:spcBef>
              <a:buNone/>
            </a:pPr>
            <a:r>
              <a:rPr lang="en-US" sz="1250" dirty="0">
                <a:solidFill>
                  <a:srgbClr val="8080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Opt out of extended retention on judged traces; the default upgrades them to 180 days.</a:t>
            </a:r>
          </a:p>
          <a:p>
            <a:pPr algn="l" indent="0" marL="0">
              <a:lnSpc>
                <a:spcPct val="110000"/>
              </a:lnSpc>
              <a:spcBef>
                <a:spcPts val="600"/>
              </a:spcBef>
              <a:buNone/>
            </a:pPr>
            <a:r>
              <a:rPr lang="en-US" sz="1250" dirty="0">
                <a:solidFill>
                  <a:srgbClr val="8080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SaaS regions are US, EU and APAC, with no India region: needs legal sign-off.</a:t>
            </a:r>
          </a:p>
          <a:p>
            <a:pPr algn="l" indent="0" marL="0">
              <a:lnSpc>
                <a:spcPct val="110000"/>
              </a:lnSpc>
              <a:spcBef>
                <a:spcPts val="600"/>
              </a:spcBef>
              <a:buNone/>
            </a:pPr>
            <a:r>
              <a:rPr lang="en-US" sz="1250" dirty="0">
                <a:solidFill>
                  <a:srgbClr val="8080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Self-hosting is an Enterprise add-on and needs ClickHouse, which is not allowed in our environment.</a:t>
            </a:r>
          </a:p>
        </p:txBody>
      </p:sp>
      <p:sp>
        <p:nvSpPr>
          <p:cNvPr id="8" name="Text 6"/>
          <p:cNvSpPr txBox="1"/>
          <p:nvPr/>
        </p:nvSpPr>
        <p:spPr>
          <a:xfrm>
            <a:off x="5623560" y="2788920"/>
            <a:ext cx="5047488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62626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Controls and constraints</a:t>
            </a:r>
          </a:p>
        </p:txBody>
      </p:sp>
      <p:sp>
        <p:nvSpPr>
          <p:cNvPr id="13" name="Shape 11"/>
          <p:cNvSpPr/>
          <p:nvPr/>
        </p:nvSpPr>
        <p:spPr>
          <a:xfrm flipV="1">
            <a:off x="1463040" y="3931920"/>
            <a:ext cx="3675888" cy="1783080"/>
          </a:xfrm>
          <a:prstGeom prst="round2SameRect">
            <a:avLst>
              <a:gd name="adj" fmla="val 15789"/>
            </a:avLst>
          </a:prstGeom>
          <a:solidFill>
            <a:srgbClr val="4437E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691640" y="4160520"/>
            <a:ext cx="114300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500k/h</a:t>
            </a:r>
          </a:p>
        </p:txBody>
      </p:sp>
      <p:sp>
        <p:nvSpPr>
          <p:cNvPr id="15" name="Text 13"/>
          <p:cNvSpPr txBox="1"/>
          <p:nvPr/>
        </p:nvSpPr>
        <p:spPr>
          <a:xfrm>
            <a:off x="2898648" y="4160520"/>
            <a:ext cx="114300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~1.25M/h</a:t>
            </a:r>
          </a:p>
        </p:txBody>
      </p:sp>
      <p:sp>
        <p:nvSpPr>
          <p:cNvPr id="16" name="Text 14"/>
          <p:cNvSpPr txBox="1"/>
          <p:nvPr/>
        </p:nvSpPr>
        <p:spPr>
          <a:xfrm>
            <a:off x="4105656" y="4160520"/>
            <a:ext cx="114300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2–5%</a:t>
            </a:r>
          </a:p>
        </p:txBody>
      </p:sp>
      <p:sp>
        <p:nvSpPr>
          <p:cNvPr id="17" name="Text 15"/>
          <p:cNvSpPr txBox="1"/>
          <p:nvPr/>
        </p:nvSpPr>
        <p:spPr>
          <a:xfrm>
            <a:off x="1691640" y="4617720"/>
            <a:ext cx="1097280" cy="9144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Plus-plan ingest cap</a:t>
            </a:r>
          </a:p>
        </p:txBody>
      </p:sp>
      <p:sp>
        <p:nvSpPr>
          <p:cNvPr id="18" name="Text 16"/>
          <p:cNvSpPr txBox="1"/>
          <p:nvPr/>
        </p:nvSpPr>
        <p:spPr>
          <a:xfrm>
            <a:off x="4105656" y="4617720"/>
            <a:ext cx="1097280" cy="9144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Sample, plus all flagged sessions</a:t>
            </a:r>
          </a:p>
        </p:txBody>
      </p:sp>
      <p:sp>
        <p:nvSpPr>
          <p:cNvPr id="19" name="Text 17"/>
          <p:cNvSpPr txBox="1"/>
          <p:nvPr/>
        </p:nvSpPr>
        <p:spPr>
          <a:xfrm>
            <a:off x="2898648" y="4617720"/>
            <a:ext cx="1097280" cy="9144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Full-traffic need (estimate)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5488" y="329184"/>
            <a:ext cx="2743200" cy="34747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LangSmith · LLM-as-Judge</a:t>
            </a:r>
          </a:p>
        </p:txBody>
      </p:sp>
      <p:sp>
        <p:nvSpPr>
          <p:cNvPr id="3" name="Text 1"/>
          <p:cNvSpPr txBox="1"/>
          <p:nvPr/>
        </p:nvSpPr>
        <p:spPr>
          <a:xfrm>
            <a:off x="10835640" y="6217920"/>
            <a:ext cx="896112" cy="26517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080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Page 9</a:t>
            </a:r>
          </a:p>
        </p:txBody>
      </p:sp>
      <p:sp>
        <p:nvSpPr>
          <p:cNvPr id="4" name="Shape 2"/>
          <p:cNvSpPr/>
          <p:nvPr/>
        </p:nvSpPr>
        <p:spPr>
          <a:xfrm>
            <a:off x="5989320" y="1188720"/>
            <a:ext cx="4709160" cy="2194560"/>
          </a:xfrm>
          <a:prstGeom prst="roundRect">
            <a:avLst>
              <a:gd name="adj" fmla="val 5000"/>
            </a:avLst>
          </a:prstGeom>
          <a:ln w="12700">
            <a:solidFill>
              <a:srgbClr val="ECEEF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89320" y="1188720"/>
            <a:ext cx="4709160" cy="2194560"/>
          </a:xfrm>
          <a:prstGeom prst="rect">
            <a:avLst/>
          </a:prstGeom>
          <a:noFill/>
          <a:ln/>
        </p:spPr>
        <p:txBody>
          <a:bodyPr wrap="square" lIns="274320" tIns="182880" rIns="274320" bIns="182880" rtlCol="0" anchor="ctr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500" dirty="0" b="1">
                <a:solidFill>
                  <a:srgbClr val="00C7AA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Caveat: mock judge</a:t>
            </a:r>
          </a:p>
          <a:p>
            <a:pPr algn="l" indent="0" marL="0">
              <a:spcBef>
                <a:spcPts val="600"/>
              </a:spcBef>
              <a:buNone/>
            </a:pPr>
            <a:r>
              <a:rPr lang="en-US" sz="1300" dirty="0">
                <a:solidFill>
                  <a:srgbClr val="26262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dry run used a deterministic stand-in, not an LLM, because no API keys were available. It proves the tracing and feedback plumbing, not real judge accuracy.</a:t>
            </a:r>
          </a:p>
        </p:txBody>
      </p:sp>
      <p:sp>
        <p:nvSpPr>
          <p:cNvPr id="6" name="Text 4"/>
          <p:cNvSpPr txBox="1"/>
          <p:nvPr/>
        </p:nvSpPr>
        <p:spPr>
          <a:xfrm>
            <a:off x="1527048" y="1188720"/>
            <a:ext cx="4389120" cy="20116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buNone/>
            </a:pPr>
            <a:r>
              <a:rPr lang="en-US" sz="4000" dirty="0">
                <a:solidFill>
                  <a:srgbClr val="262626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POC results </a:t>
            </a:r>
            <a:r>
              <a:rPr lang="en-US" sz="4000" dirty="0">
                <a:solidFill>
                  <a:srgbClr val="00C7AA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(dry run)</a:t>
            </a:r>
          </a:p>
        </p:txBody>
      </p:sp>
      <p:sp>
        <p:nvSpPr>
          <p:cNvPr id="7" name="Text 5"/>
          <p:cNvSpPr txBox="1"/>
          <p:nvPr/>
        </p:nvSpPr>
        <p:spPr>
          <a:xfrm>
            <a:off x="5989320" y="4892040"/>
            <a:ext cx="4709160" cy="6400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8080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Live run: add LANGSMITH_API_KEY and a judge-model key. No code change.</a:t>
            </a:r>
          </a:p>
        </p:txBody>
      </p:sp>
      <p:sp>
        <p:nvSpPr>
          <p:cNvPr id="8" name="Text 6"/>
          <p:cNvSpPr txBox="1"/>
          <p:nvPr/>
        </p:nvSpPr>
        <p:spPr>
          <a:xfrm>
            <a:off x="5989320" y="3611880"/>
            <a:ext cx="4709160" cy="10972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The one miss: c06</a:t>
            </a:r>
          </a:p>
          <a:p>
            <a:pPr algn="l"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8080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agent called the right tool but invented a date and a discount, so it completed the action and hallucinated.</a:t>
            </a:r>
          </a:p>
        </p:txBody>
      </p:sp>
      <p:sp>
        <p:nvSpPr>
          <p:cNvPr id="9" name="Shape 7"/>
          <p:cNvSpPr/>
          <p:nvPr/>
        </p:nvSpPr>
        <p:spPr>
          <a:xfrm>
            <a:off x="1527048" y="3557016"/>
            <a:ext cx="2130552" cy="2139696"/>
          </a:xfrm>
          <a:prstGeom prst="roundRect">
            <a:avLst>
              <a:gd name="adj" fmla="val 6438"/>
            </a:avLst>
          </a:prstGeom>
          <a:solidFill>
            <a:srgbClr val="4437E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755648" y="3822192"/>
            <a:ext cx="1828800" cy="52120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10 / 13</a:t>
            </a:r>
          </a:p>
        </p:txBody>
      </p:sp>
      <p:sp>
        <p:nvSpPr>
          <p:cNvPr id="11" name="Text 9"/>
          <p:cNvSpPr txBox="1"/>
          <p:nvPr/>
        </p:nvSpPr>
        <p:spPr>
          <a:xfrm>
            <a:off x="1755648" y="4389120"/>
            <a:ext cx="1783080" cy="11887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conversations / turns, traced via SDK + OTel (35 spans)</a:t>
            </a:r>
          </a:p>
        </p:txBody>
      </p:sp>
      <p:sp>
        <p:nvSpPr>
          <p:cNvPr id="12" name="Shape 10"/>
          <p:cNvSpPr/>
          <p:nvPr/>
        </p:nvSpPr>
        <p:spPr>
          <a:xfrm>
            <a:off x="3749040" y="3557016"/>
            <a:ext cx="2130552" cy="2139696"/>
          </a:xfrm>
          <a:prstGeom prst="roundRect">
            <a:avLst>
              <a:gd name="adj" fmla="val 64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0" dist="38100" dir="54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3977640" y="3822192"/>
            <a:ext cx="1828800" cy="52120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rgbClr val="262626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49</a:t>
            </a:r>
            <a:r>
              <a:rPr lang="en-US" sz="2800" dirty="0">
                <a:solidFill>
                  <a:srgbClr val="00C7AA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 / 50</a:t>
            </a:r>
          </a:p>
        </p:txBody>
      </p:sp>
      <p:sp>
        <p:nvSpPr>
          <p:cNvPr id="14" name="Text 12"/>
          <p:cNvSpPr txBox="1"/>
          <p:nvPr/>
        </p:nvSpPr>
        <p:spPr>
          <a:xfrm>
            <a:off x="3977640" y="4389120"/>
            <a:ext cx="1783080" cy="11887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080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judge scores matched the expected labels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5488" y="329184"/>
            <a:ext cx="2743200" cy="34747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LangSmith · LLM-as-Judge</a:t>
            </a:r>
          </a:p>
        </p:txBody>
      </p:sp>
      <p:sp>
        <p:nvSpPr>
          <p:cNvPr id="3" name="Text 1"/>
          <p:cNvSpPr txBox="1"/>
          <p:nvPr/>
        </p:nvSpPr>
        <p:spPr>
          <a:xfrm>
            <a:off x="10835640" y="6217920"/>
            <a:ext cx="896112" cy="26517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080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Page 2</a:t>
            </a:r>
          </a:p>
        </p:txBody>
      </p:sp>
      <p:sp>
        <p:nvSpPr>
          <p:cNvPr id="4" name="Shape 2"/>
          <p:cNvSpPr/>
          <p:nvPr/>
        </p:nvSpPr>
        <p:spPr>
          <a:xfrm>
            <a:off x="6391656" y="3209544"/>
            <a:ext cx="2103120" cy="2487168"/>
          </a:xfrm>
          <a:prstGeom prst="roundRect">
            <a:avLst>
              <a:gd name="adj" fmla="val 5000"/>
            </a:avLst>
          </a:prstGeom>
          <a:ln w="12700">
            <a:solidFill>
              <a:srgbClr val="ECEEF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391656" y="3209544"/>
            <a:ext cx="2103120" cy="2487168"/>
          </a:xfrm>
          <a:prstGeom prst="rect">
            <a:avLst/>
          </a:prstGeom>
          <a:noFill/>
          <a:ln/>
        </p:spPr>
        <p:txBody>
          <a:bodyPr wrap="square" lIns="182880" tIns="137160" rIns="182880" bIns="137160" rtlCol="0" anchor="ctr"/>
          <a:lstStyle/>
          <a:p>
            <a:pPr algn="l" indent="0" marL="0">
              <a:buNone/>
            </a:pPr>
            <a:r>
              <a:rPr lang="en-US" sz="1200" dirty="0" b="1">
                <a:solidFill>
                  <a:srgbClr val="26262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Path A</a:t>
            </a:r>
          </a:p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Native LangGraph agent</a:t>
            </a:r>
          </a:p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Automatic tracing: LANGSMITH_TRACING=true, no code changes</a:t>
            </a:r>
          </a:p>
        </p:txBody>
      </p:sp>
      <p:sp>
        <p:nvSpPr>
          <p:cNvPr id="6" name="Shape 4"/>
          <p:cNvSpPr/>
          <p:nvPr/>
        </p:nvSpPr>
        <p:spPr>
          <a:xfrm>
            <a:off x="8604504" y="3209544"/>
            <a:ext cx="2103120" cy="2487168"/>
          </a:xfrm>
          <a:prstGeom prst="roundRect">
            <a:avLst>
              <a:gd name="adj" fmla="val 5000"/>
            </a:avLst>
          </a:prstGeom>
          <a:ln w="12700">
            <a:solidFill>
              <a:srgbClr val="ECEEF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04504" y="3209544"/>
            <a:ext cx="2103120" cy="2487168"/>
          </a:xfrm>
          <a:prstGeom prst="rect">
            <a:avLst/>
          </a:prstGeom>
          <a:noFill/>
          <a:ln/>
        </p:spPr>
        <p:txBody>
          <a:bodyPr wrap="square" lIns="182880" tIns="137160" rIns="182880" bIns="137160" rtlCol="0" anchor="ctr"/>
          <a:lstStyle/>
          <a:p>
            <a:pPr algn="l" indent="0" marL="0">
              <a:buNone/>
            </a:pPr>
            <a:r>
              <a:rPr lang="en-US" sz="1200" dirty="0" b="1">
                <a:solidFill>
                  <a:srgbClr val="26262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Path B</a:t>
            </a:r>
          </a:p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External agent</a:t>
            </a:r>
          </a:p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LangSmith SDK (@traceable, wrap_openai) or OpenTelemetry OTLP exporter</a:t>
            </a:r>
          </a:p>
        </p:txBody>
      </p:sp>
      <p:sp>
        <p:nvSpPr>
          <p:cNvPr id="8" name="Text 6"/>
          <p:cNvSpPr txBox="1"/>
          <p:nvPr/>
        </p:nvSpPr>
        <p:spPr>
          <a:xfrm>
            <a:off x="1426464" y="1097280"/>
            <a:ext cx="5120640" cy="15544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buNone/>
            </a:pPr>
            <a:r>
              <a:rPr lang="en-US" sz="3400" dirty="0">
                <a:solidFill>
                  <a:srgbClr val="262626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Judge the agents we </a:t>
            </a:r>
            <a:r>
              <a:rPr lang="en-US" sz="3400" dirty="0">
                <a:solidFill>
                  <a:srgbClr val="00C7AA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already built</a:t>
            </a:r>
          </a:p>
        </p:txBody>
      </p:sp>
      <p:sp>
        <p:nvSpPr>
          <p:cNvPr id="9" name="Text 7"/>
          <p:cNvSpPr txBox="1"/>
          <p:nvPr/>
        </p:nvSpPr>
        <p:spPr>
          <a:xfrm>
            <a:off x="1426464" y="2834640"/>
            <a:ext cx="4572000" cy="1143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080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Native LangGraph agents and external agents (plain Python, Java, Google ADK, CrewAI, custom HTTP) need a Galileo-style judge platform, without rebuilding the agents. Scoring is LLM-as-judge only, on five metrics:</a:t>
            </a:r>
          </a:p>
        </p:txBody>
      </p:sp>
      <p:sp>
        <p:nvSpPr>
          <p:cNvPr id="10" name="Text 8"/>
          <p:cNvSpPr txBox="1"/>
          <p:nvPr/>
        </p:nvSpPr>
        <p:spPr>
          <a:xfrm>
            <a:off x="1719072" y="4096512"/>
            <a:ext cx="3310128" cy="29260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Action completion (thread-level)</a:t>
            </a:r>
          </a:p>
        </p:txBody>
      </p:sp>
      <p:sp>
        <p:nvSpPr>
          <p:cNvPr id="11" name="Shape 9"/>
          <p:cNvSpPr/>
          <p:nvPr/>
        </p:nvSpPr>
        <p:spPr>
          <a:xfrm>
            <a:off x="1517904" y="4169663"/>
            <a:ext cx="155448" cy="155448"/>
          </a:xfrm>
          <a:prstGeom prst="ellipse">
            <a:avLst/>
          </a:prstGeom>
          <a:solidFill>
            <a:srgbClr val="4437E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719072" y="4425696"/>
            <a:ext cx="3310128" cy="29260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Output PII</a:t>
            </a:r>
          </a:p>
        </p:txBody>
      </p:sp>
      <p:sp>
        <p:nvSpPr>
          <p:cNvPr id="13" name="Shape 11"/>
          <p:cNvSpPr/>
          <p:nvPr/>
        </p:nvSpPr>
        <p:spPr>
          <a:xfrm>
            <a:off x="1517904" y="4498848"/>
            <a:ext cx="155448" cy="155448"/>
          </a:xfrm>
          <a:prstGeom prst="ellipse">
            <a:avLst/>
          </a:prstGeom>
          <a:solidFill>
            <a:srgbClr val="4437E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719072" y="4754880"/>
            <a:ext cx="3310128" cy="29260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Toxicity</a:t>
            </a:r>
          </a:p>
        </p:txBody>
      </p:sp>
      <p:sp>
        <p:nvSpPr>
          <p:cNvPr id="15" name="Shape 13"/>
          <p:cNvSpPr/>
          <p:nvPr/>
        </p:nvSpPr>
        <p:spPr>
          <a:xfrm>
            <a:off x="1517904" y="4828031"/>
            <a:ext cx="155448" cy="155448"/>
          </a:xfrm>
          <a:prstGeom prst="ellipse">
            <a:avLst/>
          </a:prstGeom>
          <a:solidFill>
            <a:srgbClr val="4437E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031736" y="1645920"/>
            <a:ext cx="3749040" cy="10058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8080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Goal: trace once via the LangSmith SDK or OpenTelemetry, judge in LangSmith, review flagged sessions, build datasets.</a:t>
            </a:r>
          </a:p>
        </p:txBody>
      </p:sp>
      <p:sp>
        <p:nvSpPr>
          <p:cNvPr id="17" name="Text 15"/>
          <p:cNvSpPr txBox="1"/>
          <p:nvPr/>
        </p:nvSpPr>
        <p:spPr>
          <a:xfrm>
            <a:off x="7031736" y="1188720"/>
            <a:ext cx="3749039" cy="40233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C7AA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0 agent rewrites</a:t>
            </a:r>
          </a:p>
        </p:txBody>
      </p:sp>
      <p:sp>
        <p:nvSpPr>
          <p:cNvPr id="41" name="Shape 20"/>
          <p:cNvSpPr/>
          <p:nvPr/>
        </p:nvSpPr>
        <p:spPr>
          <a:xfrm>
            <a:off x="1517904" y="5157216"/>
            <a:ext cx="155448" cy="155448"/>
          </a:xfrm>
          <a:prstGeom prst="ellipse">
            <a:avLst/>
          </a:prstGeom>
          <a:solidFill>
            <a:srgbClr val="4437E6"/>
          </a:solidFill>
          <a:ln/>
        </p:spPr>
      </p:sp>
      <p:sp>
        <p:nvSpPr>
          <p:cNvPr id="40" name="Text 20"/>
          <p:cNvSpPr txBox="1"/>
          <p:nvPr/>
        </p:nvSpPr>
        <p:spPr>
          <a:xfrm>
            <a:off x="1719072" y="5084064"/>
            <a:ext cx="3310128" cy="29260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Sexism</a:t>
            </a:r>
          </a:p>
        </p:txBody>
      </p:sp>
      <p:sp>
        <p:nvSpPr>
          <p:cNvPr id="43" name="Shape 21"/>
          <p:cNvSpPr/>
          <p:nvPr/>
        </p:nvSpPr>
        <p:spPr>
          <a:xfrm>
            <a:off x="1517904" y="5486399"/>
            <a:ext cx="155448" cy="155448"/>
          </a:xfrm>
          <a:prstGeom prst="ellipse">
            <a:avLst/>
          </a:prstGeom>
          <a:solidFill>
            <a:srgbClr val="4437E6"/>
          </a:solidFill>
          <a:ln/>
        </p:spPr>
      </p:sp>
      <p:sp>
        <p:nvSpPr>
          <p:cNvPr id="42" name="Text 21"/>
          <p:cNvSpPr txBox="1"/>
          <p:nvPr/>
        </p:nvSpPr>
        <p:spPr>
          <a:xfrm>
            <a:off x="1719072" y="5413248"/>
            <a:ext cx="3310128" cy="29260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Hallucination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5488" y="329184"/>
            <a:ext cx="2743200" cy="34747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LangSmith · LLM-as-Judge</a:t>
            </a:r>
          </a:p>
        </p:txBody>
      </p:sp>
      <p:sp>
        <p:nvSpPr>
          <p:cNvPr id="3" name="Text 1"/>
          <p:cNvSpPr txBox="1"/>
          <p:nvPr/>
        </p:nvSpPr>
        <p:spPr>
          <a:xfrm>
            <a:off x="10835640" y="6217920"/>
            <a:ext cx="896112" cy="26517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080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Page 3</a:t>
            </a:r>
          </a:p>
        </p:txBody>
      </p:sp>
      <p:sp>
        <p:nvSpPr>
          <p:cNvPr id="6" name="Text 4"/>
          <p:cNvSpPr txBox="1"/>
          <p:nvPr/>
        </p:nvSpPr>
        <p:spPr>
          <a:xfrm>
            <a:off x="822960" y="685800"/>
            <a:ext cx="10545775" cy="64922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 indent="0" marL="0">
              <a:buNone/>
            </a:pPr>
            <a:r>
              <a:rPr lang="en-US" sz="3600" dirty="0">
                <a:solidFill>
                  <a:srgbClr val="262626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Solution </a:t>
            </a:r>
            <a:r>
              <a:rPr lang="en-US" sz="3600" dirty="0">
                <a:solidFill>
                  <a:srgbClr val="00C7AA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architecture</a:t>
            </a:r>
            <a:r>
              <a:rPr lang="en-US" sz="3600" dirty="0">
                <a:solidFill>
                  <a:srgbClr val="262626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: trace ingest</a:t>
            </a:r>
          </a:p>
        </p:txBody>
      </p:sp>
      <p:sp>
        <p:nvSpPr>
          <p:cNvPr id="10" name="Path A agent"/>
          <p:cNvSpPr/>
          <p:nvPr/>
        </p:nvSpPr>
        <p:spPr>
          <a:xfrm>
            <a:off x="457200" y="1691640"/>
            <a:ext cx="3429000" cy="1737360"/>
          </a:xfrm>
          <a:prstGeom prst="roundRect">
            <a:avLst>
              <a:gd name="adj" fmla="val 10000"/>
            </a:avLst>
          </a:prstGeom>
          <a:solidFill>
            <a:srgbClr val="E5F9F6"/>
          </a:solidFill>
          <a:ln w="19050">
            <a:solidFill>
              <a:srgbClr val="00C7AA"/>
            </a:solidFill>
          </a:ln>
        </p:spPr>
        <p:txBody>
          <a:bodyPr wrap="square" lIns="91440" tIns="64008" rIns="91440" bIns="64008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0A08A"/>
                </a:solidFill>
                <a:latin typeface="Nunito"/>
                <a:ea typeface="Nunito"/>
                <a:cs typeface="Nunito"/>
              </a:rPr>
              <a:t>PATH A</a:t>
            </a:r>
          </a:p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262626"/>
                </a:solidFill>
                <a:latin typeface="Poppins Medium"/>
                <a:ea typeface="Poppins Medium"/>
                <a:cs typeface="Poppins Medium"/>
              </a:rPr>
              <a:t>Native LangGraph agent</a:t>
            </a:r>
          </a:p>
        </p:txBody>
      </p:sp>
      <p:sp>
        <p:nvSpPr>
          <p:cNvPr id="11" name="Path A tracing"/>
          <p:cNvSpPr/>
          <p:nvPr/>
        </p:nvSpPr>
        <p:spPr>
          <a:xfrm>
            <a:off x="4434840" y="1691640"/>
            <a:ext cx="3657600" cy="1737360"/>
          </a:xfrm>
          <a:prstGeom prst="roundRect">
            <a:avLst>
              <a:gd name="adj" fmla="val 10000"/>
            </a:avLst>
          </a:prstGeom>
          <a:solidFill>
            <a:srgbClr val="E5F9F6"/>
          </a:solidFill>
          <a:ln w="19050">
            <a:solidFill>
              <a:srgbClr val="00C7AA"/>
            </a:solidFill>
          </a:ln>
        </p:spPr>
        <p:txBody>
          <a:bodyPr wrap="square" lIns="91440" tIns="64008" rIns="91440" bIns="64008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500" dirty="0">
                <a:solidFill>
                  <a:srgbClr val="262626"/>
                </a:solidFill>
                <a:latin typeface="Poppins Medium"/>
                <a:ea typeface="Poppins Medium"/>
                <a:cs typeface="Poppins Medium"/>
              </a:rPr>
              <a:t>Automatic LangSmith tracing</a:t>
            </a:r>
          </a:p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300" dirty="0">
                <a:solidFill>
                  <a:srgbClr val="404040"/>
                </a:solidFill>
                <a:latin typeface="Nunito"/>
                <a:ea typeface="Nunito"/>
                <a:cs typeface="Nunito"/>
              </a:rPr>
              <a:t>LANGSMITH_TRACING=true</a:t>
            </a:r>
          </a:p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300" dirty="0">
                <a:solidFill>
                  <a:srgbClr val="404040"/>
                </a:solidFill>
                <a:latin typeface="Nunito"/>
                <a:ea typeface="Nunito"/>
                <a:cs typeface="Nunito"/>
              </a:rPr>
              <a:t>No code changes</a:t>
            </a:r>
          </a:p>
        </p:txBody>
      </p:sp>
      <p:sp>
        <p:nvSpPr>
          <p:cNvPr id="12" name="Path B agent"/>
          <p:cNvSpPr/>
          <p:nvPr/>
        </p:nvSpPr>
        <p:spPr>
          <a:xfrm>
            <a:off x="457200" y="4114800"/>
            <a:ext cx="3429000" cy="1828800"/>
          </a:xfrm>
          <a:prstGeom prst="roundRect">
            <a:avLst>
              <a:gd name="adj" fmla="val 10000"/>
            </a:avLst>
          </a:prstGeom>
          <a:solidFill>
            <a:srgbClr val="E5F9F6"/>
          </a:solidFill>
          <a:ln w="19050">
            <a:solidFill>
              <a:srgbClr val="00C7AA"/>
            </a:solidFill>
          </a:ln>
        </p:spPr>
        <p:txBody>
          <a:bodyPr wrap="square" lIns="91440" tIns="64008" rIns="91440" bIns="64008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0A08A"/>
                </a:solidFill>
                <a:latin typeface="Nunito"/>
                <a:ea typeface="Nunito"/>
                <a:cs typeface="Nunito"/>
              </a:rPr>
              <a:t>PATH B</a:t>
            </a:r>
          </a:p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400" dirty="0">
                <a:solidFill>
                  <a:srgbClr val="262626"/>
                </a:solidFill>
                <a:latin typeface="Poppins Medium"/>
                <a:ea typeface="Poppins Medium"/>
                <a:cs typeface="Poppins Medium"/>
              </a:rPr>
              <a:t>External agent (not LangGraph)</a:t>
            </a:r>
          </a:p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300" dirty="0">
                <a:solidFill>
                  <a:srgbClr val="404040"/>
                </a:solidFill>
                <a:latin typeface="Nunito"/>
                <a:ea typeface="Nunito"/>
                <a:cs typeface="Nunito"/>
              </a:rPr>
              <a:t>Plain Python · Java · ADK · CrewAI · custom HTTP</a:t>
            </a:r>
          </a:p>
        </p:txBody>
      </p:sp>
      <p:sp>
        <p:nvSpPr>
          <p:cNvPr id="13" name="Path B instrumentation"/>
          <p:cNvSpPr/>
          <p:nvPr/>
        </p:nvSpPr>
        <p:spPr>
          <a:xfrm>
            <a:off x="4434840" y="4114800"/>
            <a:ext cx="3657600" cy="1828800"/>
          </a:xfrm>
          <a:prstGeom prst="roundRect">
            <a:avLst>
              <a:gd name="adj" fmla="val 10000"/>
            </a:avLst>
          </a:prstGeom>
          <a:solidFill>
            <a:srgbClr val="E5F9F6"/>
          </a:solidFill>
          <a:ln w="19050">
            <a:solidFill>
              <a:srgbClr val="00C7AA"/>
            </a:solidFill>
          </a:ln>
        </p:spPr>
        <p:txBody>
          <a:bodyPr wrap="square" lIns="91440" tIns="64008" rIns="91440" bIns="64008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500" dirty="0">
                <a:solidFill>
                  <a:srgbClr val="262626"/>
                </a:solidFill>
                <a:latin typeface="Poppins Medium"/>
                <a:ea typeface="Poppins Medium"/>
                <a:cs typeface="Poppins Medium"/>
              </a:rPr>
              <a:t>LangSmith SDK or OpenTelemetry</a:t>
            </a:r>
          </a:p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200" dirty="0">
                <a:solidFill>
                  <a:srgbClr val="404040"/>
                </a:solidFill>
                <a:latin typeface="Nunito"/>
                <a:ea typeface="Nunito"/>
                <a:cs typeface="Nunito"/>
              </a:rPr>
              <a:t>SDK: @traceable / wrap_openai</a:t>
            </a:r>
          </a:p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200" dirty="0">
                <a:solidFill>
                  <a:srgbClr val="404040"/>
                </a:solidFill>
                <a:latin typeface="Nunito"/>
                <a:ea typeface="Nunito"/>
                <a:cs typeface="Nunito"/>
              </a:rPr>
              <a:t>OTLP exporter → api.smith.langchain.com/otel</a:t>
            </a:r>
          </a:p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200" dirty="0">
                <a:solidFill>
                  <a:srgbClr val="404040"/>
                </a:solidFill>
                <a:latin typeface="Nunito"/>
                <a:ea typeface="Nunito"/>
                <a:cs typeface="Nunito"/>
              </a:rPr>
              <a:t>Headers: x-api-key, Langsmith-Project</a:t>
            </a:r>
          </a:p>
        </p:txBody>
      </p:sp>
      <p:sp>
        <p:nvSpPr>
          <p:cNvPr id="14" name="LangSmith tracing project"/>
          <p:cNvSpPr/>
          <p:nvPr/>
        </p:nvSpPr>
        <p:spPr>
          <a:xfrm>
            <a:off x="8778240" y="1691640"/>
            <a:ext cx="2926080" cy="4251960"/>
          </a:xfrm>
          <a:prstGeom prst="roundRect">
            <a:avLst>
              <a:gd name="adj" fmla="val 10000"/>
            </a:avLst>
          </a:prstGeom>
          <a:solidFill>
            <a:srgbClr val="4437E6"/>
          </a:solidFill>
          <a:ln w="19050">
            <a:solidFill>
              <a:srgbClr val="4437E6"/>
            </a:solidFill>
          </a:ln>
        </p:spPr>
        <p:txBody>
          <a:bodyPr wrap="square" lIns="91440" tIns="64008" rIns="91440" bIns="64008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Poppins Medium"/>
                <a:ea typeface="Poppins Medium"/>
                <a:cs typeface="Poppins Medium"/>
              </a:rPr>
              <a:t>LangSmith tracing project</a:t>
            </a:r>
          </a:p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Nunito"/>
                <a:ea typeface="Nunito"/>
                <a:cs typeface="Nunito"/>
              </a:rPr>
              <a:t>Same or separate project</a:t>
            </a:r>
          </a:p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Nunito"/>
                <a:ea typeface="Nunito"/>
                <a:cs typeface="Nunito"/>
              </a:rPr>
              <a:t>Required trace shape</a:t>
            </a:r>
          </a:p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Nunito"/>
                <a:ea typeface="Nunito"/>
                <a:cs typeface="Nunito"/>
              </a:rPr>
              <a:t>inputs.messages / outputs.messages incl. tool calls</a:t>
            </a:r>
          </a:p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Nunito"/>
                <a:ea typeface="Nunito"/>
                <a:cs typeface="Nunito"/>
              </a:rPr>
              <a:t>thread_id metadata</a:t>
            </a:r>
          </a:p>
        </p:txBody>
      </p:sp>
      <p:cxnSp>
        <p:nvCxnSpPr>
          <p:cNvPr id="20" name="A1 to A2"/>
          <p:cNvCxnSpPr>
            <a:stCxn id="10" idx="3"/>
            <a:endCxn id="11" idx="1"/>
          </p:cNvCxnSpPr>
          <p:nvPr/>
        </p:nvCxnSpPr>
        <p:spPr>
          <a:xfrm>
            <a:off x="3886200" y="2560320"/>
            <a:ext cx="548640" cy="0"/>
          </a:xfrm>
          <a:prstGeom prst="straightConnector1">
            <a:avLst/>
          </a:prstGeom>
          <a:noFill/>
          <a:ln w="22225">
            <a:solidFill>
              <a:srgbClr val="808080"/>
            </a:solidFill>
            <a:round/>
            <a:tailEnd type="triangle" w="med" len="med"/>
          </a:ln>
        </p:spPr>
      </p:cxnSp>
      <p:cxnSp>
        <p:nvCxnSpPr>
          <p:cNvPr id="21" name="B1 to B2"/>
          <p:cNvCxnSpPr>
            <a:stCxn id="12" idx="3"/>
            <a:endCxn id="13" idx="1"/>
          </p:cNvCxnSpPr>
          <p:nvPr/>
        </p:nvCxnSpPr>
        <p:spPr>
          <a:xfrm>
            <a:off x="3886200" y="5029200"/>
            <a:ext cx="548640" cy="0"/>
          </a:xfrm>
          <a:prstGeom prst="straightConnector1">
            <a:avLst/>
          </a:prstGeom>
          <a:noFill/>
          <a:ln w="22225">
            <a:solidFill>
              <a:srgbClr val="808080"/>
            </a:solidFill>
            <a:round/>
            <a:tailEnd type="triangle" w="med" len="med"/>
          </a:ln>
        </p:spPr>
      </p:cxnSp>
      <p:cxnSp>
        <p:nvCxnSpPr>
          <p:cNvPr id="22" name="A2 to project"/>
          <p:cNvCxnSpPr>
            <a:stCxn id="11" idx="3"/>
            <a:endCxn id="14" idx="1"/>
          </p:cNvCxnSpPr>
          <p:nvPr/>
        </p:nvCxnSpPr>
        <p:spPr>
          <a:xfrm>
            <a:off x="8092440" y="2560320"/>
            <a:ext cx="685800" cy="1257300"/>
          </a:xfrm>
          <a:prstGeom prst="bentConnector3">
            <a:avLst/>
          </a:prstGeom>
          <a:noFill/>
          <a:ln w="22225">
            <a:solidFill>
              <a:srgbClr val="4437E6"/>
            </a:solidFill>
            <a:round/>
            <a:tailEnd type="triangle" w="med" len="med"/>
          </a:ln>
        </p:spPr>
      </p:cxnSp>
      <p:cxnSp>
        <p:nvCxnSpPr>
          <p:cNvPr id="23" name="B2 to project"/>
          <p:cNvCxnSpPr>
            <a:stCxn id="13" idx="3"/>
            <a:endCxn id="14" idx="1"/>
          </p:cNvCxnSpPr>
          <p:nvPr/>
        </p:nvCxnSpPr>
        <p:spPr>
          <a:xfrm flipV="1">
            <a:off x="8092440" y="3817620"/>
            <a:ext cx="685800" cy="1211580"/>
          </a:xfrm>
          <a:prstGeom prst="bentConnector3">
            <a:avLst/>
          </a:prstGeom>
          <a:noFill/>
          <a:ln w="22225">
            <a:solidFill>
              <a:srgbClr val="4437E6"/>
            </a:solidFill>
            <a:round/>
            <a:tailEnd type="triangle" w="med" len="med"/>
          </a:ln>
        </p:spPr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5488" y="329184"/>
            <a:ext cx="2743200" cy="34747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LangSmith · LLM-as-Judge</a:t>
            </a:r>
          </a:p>
        </p:txBody>
      </p:sp>
      <p:sp>
        <p:nvSpPr>
          <p:cNvPr id="3" name="Text 1"/>
          <p:cNvSpPr txBox="1"/>
          <p:nvPr/>
        </p:nvSpPr>
        <p:spPr>
          <a:xfrm>
            <a:off x="10835640" y="6217920"/>
            <a:ext cx="896112" cy="26517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080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Page 11</a:t>
            </a:r>
          </a:p>
        </p:txBody>
      </p:sp>
      <p:sp>
        <p:nvSpPr>
          <p:cNvPr id="6" name="Shape 4"/>
          <p:cNvSpPr/>
          <p:nvPr/>
        </p:nvSpPr>
        <p:spPr>
          <a:xfrm>
            <a:off x="5989320" y="1097280"/>
            <a:ext cx="5212080" cy="4663440"/>
          </a:xfrm>
          <a:prstGeom prst="roundRect">
            <a:avLst>
              <a:gd name="adj" fmla="val 7317"/>
            </a:avLst>
          </a:prstGeom>
          <a:ln w="12700">
            <a:solidFill>
              <a:srgbClr val="ECEEF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89320" y="1097280"/>
            <a:ext cx="5212080" cy="4663440"/>
          </a:xfrm>
          <a:prstGeom prst="rect">
            <a:avLst/>
          </a:prstGeom>
          <a:noFill/>
          <a:ln/>
        </p:spPr>
        <p:txBody>
          <a:bodyPr wrap="square" lIns="320040" tIns="182880" rIns="320040" bIns="182880" rtlCol="0" anchor="ctr"/>
          <a:lstStyle/>
          <a:p>
            <a:pPr algn="l" indent="0" marL="0">
              <a:lnSpc>
                <a:spcPct val="105000"/>
              </a:lnSpc>
              <a:spcBef>
                <a:spcPts val="200"/>
              </a:spcBef>
              <a:buNone/>
            </a:pPr>
            <a:r>
              <a:rPr lang="en-US" sz="1400" dirty="0">
                <a:solidFill>
                  <a:srgbClr val="262626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1  Workspace &amp; region</a:t>
            </a:r>
          </a:p>
          <a:p>
            <a:pPr algn="l" indent="0" marL="0">
              <a:lnSpc>
                <a:spcPct val="105000"/>
              </a:lnSpc>
              <a:spcBef>
                <a:spcPts val="200"/>
              </a:spcBef>
              <a:buNone/>
            </a:pPr>
            <a:r>
              <a:rPr lang="en-US" sz="1250" dirty="0">
                <a:solidFill>
                  <a:srgbClr val="4D4D4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Get a LangSmith workspace and API key. Pick the region (EU or US) with legal sign-off on sending transcripts and PII to the judge model.</a:t>
            </a:r>
          </a:p>
          <a:p>
            <a:pPr algn="l" indent="0" marL="0">
              <a:lnSpc>
                <a:spcPct val="105000"/>
              </a:lnSpc>
              <a:spcBef>
                <a:spcPts val="1200"/>
              </a:spcBef>
              <a:buNone/>
            </a:pPr>
            <a:r>
              <a:rPr lang="en-US" sz="1400" dirty="0">
                <a:solidFill>
                  <a:srgbClr val="262626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2  Judge-model secret</a:t>
            </a:r>
          </a:p>
          <a:p>
            <a:pPr algn="l" indent="0" marL="0">
              <a:lnSpc>
                <a:spcPct val="105000"/>
              </a:lnSpc>
              <a:spcBef>
                <a:spcPts val="200"/>
              </a:spcBef>
              <a:buNone/>
            </a:pPr>
            <a:r>
              <a:rPr lang="en-US" sz="1250" dirty="0">
                <a:solidFill>
                  <a:srgbClr val="4D4D4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Add the judge model key as a workspace secret (OpenAI, Azure OpenAI or Gemini).</a:t>
            </a:r>
          </a:p>
          <a:p>
            <a:pPr algn="l" indent="0" marL="0">
              <a:lnSpc>
                <a:spcPct val="105000"/>
              </a:lnSpc>
              <a:spcBef>
                <a:spcPts val="1200"/>
              </a:spcBef>
              <a:buNone/>
            </a:pPr>
            <a:r>
              <a:rPr lang="en-US" sz="1400" dirty="0">
                <a:solidFill>
                  <a:srgbClr val="262626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3  Pilot</a:t>
            </a:r>
          </a:p>
          <a:p>
            <a:pPr algn="l" indent="0" marL="0">
              <a:lnSpc>
                <a:spcPct val="105000"/>
              </a:lnSpc>
              <a:spcBef>
                <a:spcPts val="200"/>
              </a:spcBef>
              <a:buNone/>
            </a:pPr>
            <a:r>
              <a:rPr lang="en-US" sz="1250" dirty="0">
                <a:solidFill>
                  <a:srgbClr val="4D4D4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One native LangGraph agent and one external agent (SDK or OTel). Five online LLM judges at 5% sampling plus flagged sessions, spend caps on.</a:t>
            </a:r>
          </a:p>
          <a:p>
            <a:pPr algn="l" indent="0" marL="0">
              <a:lnSpc>
                <a:spcPct val="105000"/>
              </a:lnSpc>
              <a:spcBef>
                <a:spcPts val="1200"/>
              </a:spcBef>
              <a:buNone/>
            </a:pPr>
            <a:r>
              <a:rPr lang="en-US" sz="1400" dirty="0">
                <a:solidFill>
                  <a:srgbClr val="262626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4  Calibrate &amp; verify</a:t>
            </a:r>
          </a:p>
          <a:p>
            <a:pPr algn="l" indent="0" marL="0">
              <a:lnSpc>
                <a:spcPct val="105000"/>
              </a:lnSpc>
              <a:spcBef>
                <a:spcPts val="200"/>
              </a:spcBef>
              <a:buNone/>
            </a:pPr>
            <a:r>
              <a:rPr lang="en-US" sz="1250" dirty="0">
                <a:solidFill>
                  <a:srgbClr val="4D4D4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Calibrate the judges against human labels via annotation queues and Align Evaluator. Confirm the unverified items: rules API judge config, OTel message attribute parsing, current per-trace pricing.</a:t>
            </a:r>
          </a:p>
        </p:txBody>
      </p:sp>
      <p:sp>
        <p:nvSpPr>
          <p:cNvPr id="8" name="Text 6"/>
          <p:cNvSpPr txBox="1"/>
          <p:nvPr/>
        </p:nvSpPr>
        <p:spPr>
          <a:xfrm>
            <a:off x="3246120" y="2148840"/>
            <a:ext cx="2286000" cy="171907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8080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From dry run to a live pilot: the same LLM judges, real keys, real agents, no agent rewrites.</a:t>
            </a:r>
          </a:p>
        </p:txBody>
      </p:sp>
      <p:sp>
        <p:nvSpPr>
          <p:cNvPr id="9" name="Shape 7"/>
          <p:cNvSpPr/>
          <p:nvPr/>
        </p:nvSpPr>
        <p:spPr>
          <a:xfrm>
            <a:off x="1506565" y="4473793"/>
            <a:ext cx="104973" cy="104973"/>
          </a:xfrm>
          <a:prstGeom prst="roundRect">
            <a:avLst>
              <a:gd name="adj" fmla="val 25000"/>
            </a:avLst>
          </a:prstGeom>
          <a:ln w="15875">
            <a:solidFill>
              <a:srgbClr val="00C7A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42256" y="4509484"/>
            <a:ext cx="33591" cy="33591"/>
          </a:xfrm>
          <a:prstGeom prst="ellipse">
            <a:avLst/>
          </a:prstGeom>
          <a:solidFill>
            <a:srgbClr val="00C7AA"/>
          </a:solidFill>
          <a:ln/>
        </p:spPr>
      </p:sp>
      <p:sp>
        <p:nvSpPr>
          <p:cNvPr id="11" name="Shape 9"/>
          <p:cNvSpPr/>
          <p:nvPr/>
        </p:nvSpPr>
        <p:spPr>
          <a:xfrm>
            <a:off x="1506565" y="4857841"/>
            <a:ext cx="104973" cy="104973"/>
          </a:xfrm>
          <a:prstGeom prst="roundRect">
            <a:avLst>
              <a:gd name="adj" fmla="val 25000"/>
            </a:avLst>
          </a:prstGeom>
          <a:ln w="15875">
            <a:solidFill>
              <a:srgbClr val="00C7A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542256" y="4893532"/>
            <a:ext cx="33591" cy="33591"/>
          </a:xfrm>
          <a:prstGeom prst="ellipse">
            <a:avLst/>
          </a:prstGeom>
          <a:solidFill>
            <a:srgbClr val="00C7A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783080" y="4370832"/>
            <a:ext cx="2029968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Workspace &amp; region</a:t>
            </a:r>
          </a:p>
        </p:txBody>
      </p:sp>
      <p:sp>
        <p:nvSpPr>
          <p:cNvPr id="14" name="Text 12"/>
          <p:cNvSpPr txBox="1"/>
          <p:nvPr/>
        </p:nvSpPr>
        <p:spPr>
          <a:xfrm>
            <a:off x="1783080" y="4745736"/>
            <a:ext cx="2029968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Pilot</a:t>
            </a:r>
          </a:p>
        </p:txBody>
      </p:sp>
      <p:sp>
        <p:nvSpPr>
          <p:cNvPr id="15" name="Text 13"/>
          <p:cNvSpPr txBox="1"/>
          <p:nvPr/>
        </p:nvSpPr>
        <p:spPr>
          <a:xfrm>
            <a:off x="1371600" y="1097280"/>
            <a:ext cx="4206240" cy="822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buNone/>
            </a:pPr>
            <a:r>
              <a:rPr lang="en-US" sz="4000" dirty="0">
                <a:solidFill>
                  <a:srgbClr val="262626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Next </a:t>
            </a:r>
            <a:r>
              <a:rPr lang="en-US" sz="4000" dirty="0">
                <a:solidFill>
                  <a:srgbClr val="00C7AA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steps</a:t>
            </a:r>
          </a:p>
        </p:txBody>
      </p:sp>
      <p:sp>
        <p:nvSpPr>
          <p:cNvPr id="16" name="Shape 14"/>
          <p:cNvSpPr/>
          <p:nvPr/>
        </p:nvSpPr>
        <p:spPr>
          <a:xfrm>
            <a:off x="3691981" y="4473793"/>
            <a:ext cx="104973" cy="104973"/>
          </a:xfrm>
          <a:prstGeom prst="roundRect">
            <a:avLst>
              <a:gd name="adj" fmla="val 25000"/>
            </a:avLst>
          </a:prstGeom>
          <a:ln w="15875">
            <a:solidFill>
              <a:srgbClr val="00C7A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727672" y="4509484"/>
            <a:ext cx="33591" cy="33591"/>
          </a:xfrm>
          <a:prstGeom prst="ellipse">
            <a:avLst/>
          </a:prstGeom>
          <a:solidFill>
            <a:srgbClr val="00C7AA"/>
          </a:solidFill>
          <a:ln/>
        </p:spPr>
      </p:sp>
      <p:sp>
        <p:nvSpPr>
          <p:cNvPr id="18" name="Shape 16"/>
          <p:cNvSpPr/>
          <p:nvPr/>
        </p:nvSpPr>
        <p:spPr>
          <a:xfrm>
            <a:off x="3691981" y="4857841"/>
            <a:ext cx="104973" cy="104973"/>
          </a:xfrm>
          <a:prstGeom prst="roundRect">
            <a:avLst>
              <a:gd name="adj" fmla="val 25000"/>
            </a:avLst>
          </a:prstGeom>
          <a:ln w="15875">
            <a:solidFill>
              <a:srgbClr val="00C7A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27672" y="4893532"/>
            <a:ext cx="33591" cy="33591"/>
          </a:xfrm>
          <a:prstGeom prst="ellipse">
            <a:avLst/>
          </a:prstGeom>
          <a:solidFill>
            <a:srgbClr val="00C7A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3968496" y="4370832"/>
            <a:ext cx="2029968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Judge-model secret</a:t>
            </a:r>
          </a:p>
        </p:txBody>
      </p:sp>
      <p:sp>
        <p:nvSpPr>
          <p:cNvPr id="21" name="Text 19"/>
          <p:cNvSpPr txBox="1"/>
          <p:nvPr/>
        </p:nvSpPr>
        <p:spPr>
          <a:xfrm>
            <a:off x="3968496" y="4745736"/>
            <a:ext cx="2029968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Calibrate &amp; verify</a:t>
            </a:r>
          </a:p>
        </p:txBody>
      </p:sp>
      <p:sp>
        <p:nvSpPr>
          <p:cNvPr id="22" name="Shape 20"/>
          <p:cNvSpPr/>
          <p:nvPr/>
        </p:nvSpPr>
        <p:spPr>
          <a:xfrm>
            <a:off x="1371601" y="2148840"/>
            <a:ext cx="1655064" cy="1719072"/>
          </a:xfrm>
          <a:prstGeom prst="roundRect">
            <a:avLst>
              <a:gd name="adj" fmla="val 11602"/>
            </a:avLst>
          </a:prstGeom>
          <a:solidFill>
            <a:srgbClr val="4437E6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371601" y="2313432"/>
            <a:ext cx="1655064" cy="31089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Ready to pilot</a:t>
            </a:r>
          </a:p>
        </p:txBody>
      </p:sp>
      <p:sp>
        <p:nvSpPr>
          <p:cNvPr id="24" name="Text 22"/>
          <p:cNvSpPr txBox="1"/>
          <p:nvPr/>
        </p:nvSpPr>
        <p:spPr>
          <a:xfrm>
            <a:off x="1371600" y="3355848"/>
            <a:ext cx="1655064" cy="31089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steps to live</a:t>
            </a:r>
          </a:p>
        </p:txBody>
      </p:sp>
      <p:sp>
        <p:nvSpPr>
          <p:cNvPr id="25" name="Text 23"/>
          <p:cNvSpPr txBox="1"/>
          <p:nvPr/>
        </p:nvSpPr>
        <p:spPr>
          <a:xfrm>
            <a:off x="1645921" y="2606040"/>
            <a:ext cx="1106424" cy="83210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 indent="0" marL="0">
              <a:buNone/>
            </a:pPr>
            <a:r>
              <a:rPr lang="en-US" sz="4800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5488" y="329184"/>
            <a:ext cx="2743200" cy="34747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LangSmith · LLM-as-Judge</a:t>
            </a:r>
          </a:p>
        </p:txBody>
      </p:sp>
      <p:sp>
        <p:nvSpPr>
          <p:cNvPr id="3" name="Text 1"/>
          <p:cNvSpPr txBox="1"/>
          <p:nvPr/>
        </p:nvSpPr>
        <p:spPr>
          <a:xfrm>
            <a:off x="10835640" y="6217920"/>
            <a:ext cx="896112" cy="26517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080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Page 6</a:t>
            </a:r>
          </a:p>
        </p:txBody>
      </p:sp>
      <p:sp>
        <p:nvSpPr>
          <p:cNvPr id="6" name="Text 4"/>
          <p:cNvSpPr txBox="1"/>
          <p:nvPr/>
        </p:nvSpPr>
        <p:spPr>
          <a:xfrm>
            <a:off x="1472184" y="3611880"/>
            <a:ext cx="4206240" cy="1463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lnSpc>
                <a:spcPct val="150000"/>
              </a:lnSpc>
              <a:spcBef>
                <a:spcPts val="800"/>
              </a:spcBef>
              <a:buNone/>
            </a:pPr>
            <a:r>
              <a:rPr lang="en-US" sz="1400" dirty="0">
                <a:solidFill>
                  <a:srgbClr val="8080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Structured output: a score plus reasoning</a:t>
            </a:r>
          </a:p>
          <a:p>
            <a:pPr algn="l" indent="0" marL="0">
              <a:lnSpc>
                <a:spcPct val="150000"/>
              </a:lnSpc>
              <a:spcBef>
                <a:spcPts val="800"/>
              </a:spcBef>
              <a:buNone/>
            </a:pPr>
            <a:r>
              <a:rPr lang="en-US" sz="1400" dirty="0">
                <a:solidFill>
                  <a:srgbClr val="8080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Its own feedback key on the run or thread</a:t>
            </a:r>
          </a:p>
          <a:p>
            <a:pPr algn="l" indent="0" marL="0">
              <a:lnSpc>
                <a:spcPct val="150000"/>
              </a:lnSpc>
              <a:spcBef>
                <a:spcPts val="800"/>
              </a:spcBef>
              <a:buNone/>
            </a:pPr>
            <a:r>
              <a:rPr lang="en-US" sz="1400" dirty="0">
                <a:solidFill>
                  <a:srgbClr val="8080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 judge model called via a workspace secret</a:t>
            </a:r>
          </a:p>
        </p:txBody>
      </p:sp>
      <p:sp>
        <p:nvSpPr>
          <p:cNvPr id="7" name="Text 5"/>
          <p:cNvSpPr txBox="1"/>
          <p:nvPr/>
        </p:nvSpPr>
        <p:spPr>
          <a:xfrm>
            <a:off x="1472184" y="3154680"/>
            <a:ext cx="420624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62626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Every judge has</a:t>
            </a:r>
          </a:p>
        </p:txBody>
      </p:sp>
      <p:sp>
        <p:nvSpPr>
          <p:cNvPr id="8" name="Text 6"/>
          <p:cNvSpPr txBox="1"/>
          <p:nvPr/>
        </p:nvSpPr>
        <p:spPr>
          <a:xfrm>
            <a:off x="1472184" y="1097280"/>
            <a:ext cx="4206240" cy="17373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rgbClr val="262626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One LLM judge </a:t>
            </a:r>
            <a:r>
              <a:rPr lang="en-US" sz="3600" dirty="0">
                <a:solidFill>
                  <a:srgbClr val="00C7AA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per metric</a:t>
            </a:r>
          </a:p>
        </p:txBody>
      </p:sp>
      <p:sp>
        <p:nvSpPr>
          <p:cNvPr id="9" name="Shape 7"/>
          <p:cNvSpPr/>
          <p:nvPr/>
        </p:nvSpPr>
        <p:spPr>
          <a:xfrm>
            <a:off x="6126480" y="2962656"/>
            <a:ext cx="5486400" cy="89611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26480" y="1005840"/>
            <a:ext cx="5486400" cy="896112"/>
          </a:xfrm>
          <a:prstGeom prst="roundRect">
            <a:avLst>
              <a:gd name="adj" fmla="val 10169"/>
            </a:avLst>
          </a:prstGeom>
          <a:solidFill>
            <a:srgbClr val="4437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236208" y="1133856"/>
            <a:ext cx="502920" cy="31089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01.</a:t>
            </a:r>
          </a:p>
        </p:txBody>
      </p:sp>
      <p:sp>
        <p:nvSpPr>
          <p:cNvPr id="12" name="Text 10"/>
          <p:cNvSpPr txBox="1"/>
          <p:nvPr/>
        </p:nvSpPr>
        <p:spPr>
          <a:xfrm>
            <a:off x="6748272" y="1042416"/>
            <a:ext cx="4800600" cy="822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 b="1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Action completion (thread-level)</a:t>
            </a:r>
          </a:p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Judges the whole conversation and tool calls: did the agent achieve the user's goal, and did the tools succeed?</a:t>
            </a:r>
          </a:p>
        </p:txBody>
      </p:sp>
      <p:sp>
        <p:nvSpPr>
          <p:cNvPr id="13" name="Shape 11"/>
          <p:cNvSpPr/>
          <p:nvPr/>
        </p:nvSpPr>
        <p:spPr>
          <a:xfrm>
            <a:off x="6126480" y="1984248"/>
            <a:ext cx="5486400" cy="89611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0" dist="38100" dir="54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236208" y="2112264"/>
            <a:ext cx="502920" cy="31089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0C7AA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02.</a:t>
            </a:r>
          </a:p>
        </p:txBody>
      </p:sp>
      <p:sp>
        <p:nvSpPr>
          <p:cNvPr id="15" name="Text 13"/>
          <p:cNvSpPr txBox="1"/>
          <p:nvPr/>
        </p:nvSpPr>
        <p:spPr>
          <a:xfrm>
            <a:off x="6748272" y="2020824"/>
            <a:ext cx="4800600" cy="822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 b="1">
                <a:solidFill>
                  <a:srgbClr val="26262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Output PII</a:t>
            </a:r>
          </a:p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Checks final agent outputs for leaked personal data: names, phone, email, account or ID numbers.</a:t>
            </a:r>
          </a:p>
        </p:txBody>
      </p:sp>
      <p:sp>
        <p:nvSpPr>
          <p:cNvPr id="16" name="Text 14"/>
          <p:cNvSpPr txBox="1"/>
          <p:nvPr/>
        </p:nvSpPr>
        <p:spPr>
          <a:xfrm>
            <a:off x="6236208" y="3090672"/>
            <a:ext cx="502920" cy="31089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0C7AA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03.</a:t>
            </a:r>
          </a:p>
        </p:txBody>
      </p:sp>
      <p:sp>
        <p:nvSpPr>
          <p:cNvPr id="17" name="Text 15"/>
          <p:cNvSpPr txBox="1"/>
          <p:nvPr/>
        </p:nvSpPr>
        <p:spPr>
          <a:xfrm>
            <a:off x="6748272" y="2999232"/>
            <a:ext cx="4800600" cy="822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 b="1">
                <a:solidFill>
                  <a:srgbClr val="26262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Toxicity</a:t>
            </a:r>
          </a:p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LLM judge on agent outputs, with the openevals TOXICITY prompt as the base.</a:t>
            </a:r>
          </a:p>
        </p:txBody>
      </p:sp>
      <p:sp>
        <p:nvSpPr>
          <p:cNvPr id="60" name="Shape 30"/>
          <p:cNvSpPr/>
          <p:nvPr/>
        </p:nvSpPr>
        <p:spPr>
          <a:xfrm>
            <a:off x="6126480" y="3941064"/>
            <a:ext cx="5486400" cy="89611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0" dist="38100" dir="5400000">
              <a:srgbClr val="000000">
                <a:alpha val="10000"/>
              </a:srgbClr>
            </a:outerShdw>
          </a:effectLst>
        </p:spPr>
      </p:sp>
      <p:sp>
        <p:nvSpPr>
          <p:cNvPr id="61" name="Text 30"/>
          <p:cNvSpPr txBox="1"/>
          <p:nvPr/>
        </p:nvSpPr>
        <p:spPr>
          <a:xfrm>
            <a:off x="6236208" y="4069080"/>
            <a:ext cx="502920" cy="31089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0C7AA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04.</a:t>
            </a:r>
          </a:p>
        </p:txBody>
      </p:sp>
      <p:sp>
        <p:nvSpPr>
          <p:cNvPr id="62" name="Text 40"/>
          <p:cNvSpPr txBox="1"/>
          <p:nvPr/>
        </p:nvSpPr>
        <p:spPr>
          <a:xfrm>
            <a:off x="6748272" y="3977640"/>
            <a:ext cx="4800600" cy="822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 b="1">
                <a:solidFill>
                  <a:srgbClr val="26262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Sexism</a:t>
            </a:r>
          </a:p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Custom rubric: openevals has no sexism prompt, so its FAIRNESS prompt is the base.</a:t>
            </a:r>
          </a:p>
        </p:txBody>
      </p:sp>
      <p:sp>
        <p:nvSpPr>
          <p:cNvPr id="63" name="Shape 31"/>
          <p:cNvSpPr/>
          <p:nvPr/>
        </p:nvSpPr>
        <p:spPr>
          <a:xfrm>
            <a:off x="6126480" y="4919472"/>
            <a:ext cx="5486400" cy="89611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0" dist="38100" dir="5400000">
              <a:srgbClr val="000000">
                <a:alpha val="10000"/>
              </a:srgbClr>
            </a:outerShdw>
          </a:effectLst>
        </p:spPr>
      </p:sp>
      <p:sp>
        <p:nvSpPr>
          <p:cNvPr id="64" name="Text 31"/>
          <p:cNvSpPr txBox="1"/>
          <p:nvPr/>
        </p:nvSpPr>
        <p:spPr>
          <a:xfrm>
            <a:off x="6236208" y="5047488"/>
            <a:ext cx="502920" cy="31089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0C7AA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05.</a:t>
            </a:r>
          </a:p>
        </p:txBody>
      </p:sp>
      <p:sp>
        <p:nvSpPr>
          <p:cNvPr id="65" name="Text 41"/>
          <p:cNvSpPr txBox="1"/>
          <p:nvPr/>
        </p:nvSpPr>
        <p:spPr>
          <a:xfrm>
            <a:off x="6748272" y="4956048"/>
            <a:ext cx="4800600" cy="822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 b="1">
                <a:solidFill>
                  <a:srgbClr val="26262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Hallucination</a:t>
            </a:r>
          </a:p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Groundedness against retrieved context and tool outputs in the trace; openevals HALLUCINATION prompt.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5488" y="329184"/>
            <a:ext cx="2743200" cy="34747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LangSmith · LLM-as-Judge</a:t>
            </a:r>
          </a:p>
        </p:txBody>
      </p:sp>
      <p:sp>
        <p:nvSpPr>
          <p:cNvPr id="3" name="Text 1"/>
          <p:cNvSpPr txBox="1"/>
          <p:nvPr/>
        </p:nvSpPr>
        <p:spPr>
          <a:xfrm>
            <a:off x="10835640" y="6217920"/>
            <a:ext cx="896112" cy="26517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080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Page 10</a:t>
            </a:r>
          </a:p>
        </p:txBody>
      </p:sp>
      <p:sp>
        <p:nvSpPr>
          <p:cNvPr id="4" name="Text 2"/>
          <p:cNvSpPr txBox="1"/>
          <p:nvPr/>
        </p:nvSpPr>
        <p:spPr>
          <a:xfrm>
            <a:off x="6903720" y="1188720"/>
            <a:ext cx="4297680" cy="1371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rgbClr val="262626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Possibilities </a:t>
            </a:r>
            <a:r>
              <a:rPr lang="en-US" sz="3600" dirty="0">
                <a:solidFill>
                  <a:srgbClr val="00C7AA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and limits</a:t>
            </a:r>
          </a:p>
        </p:txBody>
      </p:sp>
      <p:sp>
        <p:nvSpPr>
          <p:cNvPr id="5" name="Text 3"/>
          <p:cNvSpPr txBox="1"/>
          <p:nvPr/>
        </p:nvSpPr>
        <p:spPr>
          <a:xfrm>
            <a:off x="6903720" y="3246120"/>
            <a:ext cx="4297680" cy="23774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lnSpc>
                <a:spcPct val="150000"/>
              </a:lnSpc>
              <a:spcBef>
                <a:spcPts val="800"/>
              </a:spcBef>
              <a:buNone/>
            </a:pPr>
            <a:r>
              <a:rPr lang="en-US" sz="1250" dirty="0">
                <a:solidFill>
                  <a:srgbClr val="8080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Galileo: Luna-2 small judge models for cheaper always-on scoring (vendor claims, Enterprise only).</a:t>
            </a:r>
          </a:p>
          <a:p>
            <a:pPr algn="l" indent="0" marL="0">
              <a:lnSpc>
                <a:spcPct val="150000"/>
              </a:lnSpc>
              <a:spcBef>
                <a:spcPts val="800"/>
              </a:spcBef>
              <a:buNone/>
            </a:pPr>
            <a:r>
              <a:rPr lang="en-US" sz="1250" dirty="0">
                <a:solidFill>
                  <a:srgbClr val="8080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MLflow 3: self-hostable (Cloud Run + Cloud SQL in our earlier design), but online rules and alerts UI are limited, so we would build more.</a:t>
            </a:r>
          </a:p>
        </p:txBody>
      </p:sp>
      <p:sp>
        <p:nvSpPr>
          <p:cNvPr id="6" name="Text 4"/>
          <p:cNvSpPr txBox="1"/>
          <p:nvPr/>
        </p:nvSpPr>
        <p:spPr>
          <a:xfrm>
            <a:off x="6903720" y="2834640"/>
            <a:ext cx="411480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62626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Compared with</a:t>
            </a:r>
          </a:p>
        </p:txBody>
      </p:sp>
      <p:sp>
        <p:nvSpPr>
          <p:cNvPr id="7" name="Shape 5"/>
          <p:cNvSpPr/>
          <p:nvPr/>
        </p:nvSpPr>
        <p:spPr>
          <a:xfrm>
            <a:off x="914401" y="1051561"/>
            <a:ext cx="2743200" cy="2331720"/>
          </a:xfrm>
          <a:prstGeom prst="roundRect">
            <a:avLst>
              <a:gd name="adj" fmla="val 5652"/>
            </a:avLst>
          </a:prstGeom>
          <a:solidFill>
            <a:srgbClr val="4437E6"/>
          </a:solidFill>
          <a:ln/>
          <a:effectLst>
            <a:outerShdw sx="100000" sy="100000" kx="0" ky="0" algn="bl" rotWithShape="0" blurRad="190500" dist="381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1088137" y="1755649"/>
            <a:ext cx="2468880" cy="1600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1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Thread-level evals</a:t>
            </a:r>
          </a:p>
          <a:p>
            <a:pPr algn="l" indent="0" marL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1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Online + offline, same judge prompts</a:t>
            </a:r>
          </a:p>
          <a:p>
            <a:pPr algn="l" indent="0" marL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1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Annotation queues + Align Evaluator</a:t>
            </a:r>
          </a:p>
          <a:p>
            <a:pPr algn="l" indent="0" marL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1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Dashboards and alerts</a:t>
            </a:r>
          </a:p>
          <a:p>
            <a:pPr algn="l" indent="0" marL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1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Datasets, experiments, prompt hub</a:t>
            </a:r>
          </a:p>
        </p:txBody>
      </p:sp>
      <p:sp>
        <p:nvSpPr>
          <p:cNvPr id="9" name="Text 7"/>
          <p:cNvSpPr txBox="1"/>
          <p:nvPr/>
        </p:nvSpPr>
        <p:spPr>
          <a:xfrm>
            <a:off x="1627633" y="1289305"/>
            <a:ext cx="2011680" cy="52120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What we gain</a:t>
            </a:r>
          </a:p>
        </p:txBody>
      </p:sp>
      <p:sp>
        <p:nvSpPr>
          <p:cNvPr id="10" name="Shape 8"/>
          <p:cNvSpPr/>
          <p:nvPr/>
        </p:nvSpPr>
        <p:spPr>
          <a:xfrm>
            <a:off x="1124713" y="1335025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3931920" y="1051561"/>
            <a:ext cx="2743200" cy="2331720"/>
          </a:xfrm>
          <a:prstGeom prst="roundRect">
            <a:avLst>
              <a:gd name="adj" fmla="val 56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123944" y="1335025"/>
            <a:ext cx="438912" cy="438912"/>
          </a:xfrm>
          <a:prstGeom prst="ellipse">
            <a:avLst/>
          </a:prstGeom>
          <a:solidFill>
            <a:srgbClr val="00C7A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087368" y="1755649"/>
            <a:ext cx="2468880" cy="1600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200" dirty="0">
                <a:solidFill>
                  <a:srgbClr val="8080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Judge cost at scale: sampling is required</a:t>
            </a:r>
          </a:p>
          <a:p>
            <a:pPr algn="l" indent="0" marL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200" dirty="0">
                <a:solidFill>
                  <a:srgbClr val="8080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Plus ingest cap: 500k events/hour</a:t>
            </a:r>
          </a:p>
        </p:txBody>
      </p:sp>
      <p:sp>
        <p:nvSpPr>
          <p:cNvPr id="14" name="Text 12"/>
          <p:cNvSpPr txBox="1"/>
          <p:nvPr/>
        </p:nvSpPr>
        <p:spPr>
          <a:xfrm>
            <a:off x="4636008" y="1280161"/>
            <a:ext cx="2011680" cy="52120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262626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Limit: cost &amp; caps</a:t>
            </a:r>
          </a:p>
        </p:txBody>
      </p:sp>
      <p:sp>
        <p:nvSpPr>
          <p:cNvPr id="15" name="Shape 13"/>
          <p:cNvSpPr/>
          <p:nvPr/>
        </p:nvSpPr>
        <p:spPr>
          <a:xfrm>
            <a:off x="3931920" y="3657600"/>
            <a:ext cx="2743200" cy="2331720"/>
          </a:xfrm>
          <a:prstGeom prst="roundRect">
            <a:avLst>
              <a:gd name="adj" fmla="val 5652"/>
            </a:avLst>
          </a:prstGeom>
          <a:solidFill>
            <a:srgbClr val="4437E6"/>
          </a:solidFill>
          <a:ln/>
        </p:spPr>
      </p:sp>
      <p:sp>
        <p:nvSpPr>
          <p:cNvPr id="16" name="Shape 14"/>
          <p:cNvSpPr/>
          <p:nvPr/>
        </p:nvSpPr>
        <p:spPr>
          <a:xfrm>
            <a:off x="4142232" y="3941064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105656" y="4370832"/>
            <a:ext cx="2468880" cy="1600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2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PII is sent to the judge model unless masked</a:t>
            </a:r>
          </a:p>
          <a:p>
            <a:pPr algn="l" indent="0" marL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2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Online evals are async, so scores arrive after the run</a:t>
            </a:r>
          </a:p>
        </p:txBody>
      </p:sp>
      <p:sp>
        <p:nvSpPr>
          <p:cNvPr id="18" name="Text 16"/>
          <p:cNvSpPr txBox="1"/>
          <p:nvPr/>
        </p:nvSpPr>
        <p:spPr>
          <a:xfrm>
            <a:off x="4645152" y="3886200"/>
            <a:ext cx="2011680" cy="52120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Limit: privacy &amp; latency</a:t>
            </a:r>
          </a:p>
        </p:txBody>
      </p:sp>
      <p:sp>
        <p:nvSpPr>
          <p:cNvPr id="19" name="Shape 17"/>
          <p:cNvSpPr/>
          <p:nvPr/>
        </p:nvSpPr>
        <p:spPr>
          <a:xfrm>
            <a:off x="1285830" y="1486998"/>
            <a:ext cx="134965" cy="134965"/>
          </a:xfrm>
          <a:prstGeom prst="roundRect">
            <a:avLst>
              <a:gd name="adj" fmla="val 25000"/>
            </a:avLst>
          </a:prstGeom>
          <a:ln w="15875">
            <a:solidFill>
              <a:srgbClr val="26262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331719" y="1532887"/>
            <a:ext cx="43189" cy="43189"/>
          </a:xfrm>
          <a:prstGeom prst="ellipse">
            <a:avLst/>
          </a:prstGeom>
          <a:solidFill>
            <a:srgbClr val="262626"/>
          </a:solidFill>
          <a:ln/>
        </p:spPr>
      </p:sp>
      <p:sp>
        <p:nvSpPr>
          <p:cNvPr id="21" name="Shape 19"/>
          <p:cNvSpPr/>
          <p:nvPr/>
        </p:nvSpPr>
        <p:spPr>
          <a:xfrm>
            <a:off x="4279209" y="4068897"/>
            <a:ext cx="164958" cy="164958"/>
          </a:xfrm>
          <a:prstGeom prst="roundRect">
            <a:avLst>
              <a:gd name="adj" fmla="val 25000"/>
            </a:avLst>
          </a:prstGeom>
          <a:ln w="15875">
            <a:solidFill>
              <a:srgbClr val="26262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35295" y="4124983"/>
            <a:ext cx="52786" cy="52786"/>
          </a:xfrm>
          <a:prstGeom prst="ellipse">
            <a:avLst/>
          </a:prstGeom>
          <a:solidFill>
            <a:srgbClr val="262626"/>
          </a:solidFill>
          <a:ln/>
        </p:spPr>
      </p:sp>
      <p:sp>
        <p:nvSpPr>
          <p:cNvPr id="23" name="Shape 21"/>
          <p:cNvSpPr/>
          <p:nvPr/>
        </p:nvSpPr>
        <p:spPr>
          <a:xfrm>
            <a:off x="914401" y="3657600"/>
            <a:ext cx="2743200" cy="2331720"/>
          </a:xfrm>
          <a:prstGeom prst="roundRect">
            <a:avLst>
              <a:gd name="adj" fmla="val 56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0" dist="38100" dir="54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1115569" y="3941064"/>
            <a:ext cx="438912" cy="438912"/>
          </a:xfrm>
          <a:prstGeom prst="ellipse">
            <a:avLst/>
          </a:prstGeom>
          <a:solidFill>
            <a:srgbClr val="00C7A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1069849" y="4370832"/>
            <a:ext cx="2468880" cy="1600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200" dirty="0">
                <a:solidFill>
                  <a:srgbClr val="8080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SaaS in US, EU, APAC: no India region</a:t>
            </a:r>
          </a:p>
          <a:p>
            <a:pPr algn="l" indent="0" marL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200" dirty="0">
                <a:solidFill>
                  <a:srgbClr val="8080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Self-host needs Enterprise + ClickHouse</a:t>
            </a:r>
          </a:p>
        </p:txBody>
      </p:sp>
      <p:sp>
        <p:nvSpPr>
          <p:cNvPr id="26" name="Text 24"/>
          <p:cNvSpPr txBox="1"/>
          <p:nvPr/>
        </p:nvSpPr>
        <p:spPr>
          <a:xfrm>
            <a:off x="1618489" y="3886200"/>
            <a:ext cx="2011680" cy="52120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262626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Limit: residency</a:t>
            </a:r>
          </a:p>
        </p:txBody>
      </p:sp>
      <p:sp>
        <p:nvSpPr>
          <p:cNvPr id="27" name="Shape 25"/>
          <p:cNvSpPr/>
          <p:nvPr/>
        </p:nvSpPr>
        <p:spPr>
          <a:xfrm>
            <a:off x="1260867" y="4068074"/>
            <a:ext cx="157460" cy="157460"/>
          </a:xfrm>
          <a:prstGeom prst="roundRect">
            <a:avLst>
              <a:gd name="adj" fmla="val 25000"/>
            </a:avLst>
          </a:prstGeom>
          <a:ln w="15875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314403" y="4121610"/>
            <a:ext cx="50387" cy="50387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9" name="Shape 25 copy"/>
          <p:cNvSpPr/>
          <p:nvPr/>
        </p:nvSpPr>
        <p:spPr>
          <a:xfrm>
            <a:off x="4269333" y="1462125"/>
            <a:ext cx="157460" cy="157460"/>
          </a:xfrm>
          <a:prstGeom prst="roundRect">
            <a:avLst>
              <a:gd name="adj" fmla="val 25000"/>
            </a:avLst>
          </a:prstGeom>
          <a:ln w="15875">
            <a:solidFill>
              <a:srgbClr val="FFFFFF"/>
            </a:solidFill>
            <a:prstDash val="solid"/>
          </a:ln>
        </p:spPr>
      </p:sp>
      <p:sp>
        <p:nvSpPr>
          <p:cNvPr id="30" name="Shape 26 copy"/>
          <p:cNvSpPr/>
          <p:nvPr/>
        </p:nvSpPr>
        <p:spPr>
          <a:xfrm>
            <a:off x="4322368" y="1515160"/>
            <a:ext cx="50387" cy="50387"/>
          </a:xfrm>
          <a:prstGeom prst="ellipse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5488" y="329184"/>
            <a:ext cx="2743200" cy="34747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LangSmith · LLM-as-Judge</a:t>
            </a:r>
          </a:p>
        </p:txBody>
      </p:sp>
      <p:sp>
        <p:nvSpPr>
          <p:cNvPr id="3" name="Text 1"/>
          <p:cNvSpPr txBox="1"/>
          <p:nvPr/>
        </p:nvSpPr>
        <p:spPr>
          <a:xfrm>
            <a:off x="10835640" y="6217920"/>
            <a:ext cx="896112" cy="26517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080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Page 5</a:t>
            </a:r>
          </a:p>
        </p:txBody>
      </p:sp>
      <p:sp>
        <p:nvSpPr>
          <p:cNvPr id="6" name="Text 4"/>
          <p:cNvSpPr txBox="1"/>
          <p:nvPr/>
        </p:nvSpPr>
        <p:spPr>
          <a:xfrm>
            <a:off x="1417320" y="822960"/>
            <a:ext cx="9326880" cy="7315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rgbClr val="262626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Getting traces into </a:t>
            </a:r>
            <a:r>
              <a:rPr lang="en-US" sz="3600" dirty="0">
                <a:solidFill>
                  <a:srgbClr val="00C7AA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LangSmith</a:t>
            </a:r>
          </a:p>
        </p:txBody>
      </p:sp>
      <p:sp>
        <p:nvSpPr>
          <p:cNvPr id="7" name="Text 5"/>
          <p:cNvSpPr txBox="1"/>
          <p:nvPr/>
        </p:nvSpPr>
        <p:spPr>
          <a:xfrm>
            <a:off x="1417320" y="2606040"/>
            <a:ext cx="3017520" cy="2514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lnSpc>
                <a:spcPct val="115000"/>
              </a:lnSpc>
              <a:spcBef>
                <a:spcPts val="600"/>
              </a:spcBef>
              <a:buNone/>
            </a:pPr>
            <a:r>
              <a:rPr lang="en-US" sz="1500" dirty="0">
                <a:solidFill>
                  <a:srgbClr val="262626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Native LangGraph</a:t>
            </a:r>
          </a:p>
          <a:p>
            <a:pPr algn="l" indent="0" marL="0">
              <a:lnSpc>
                <a:spcPct val="115000"/>
              </a:lnSpc>
              <a:spcBef>
                <a:spcPts val="600"/>
              </a:spcBef>
              <a:buNone/>
            </a:pPr>
            <a:r>
              <a:rPr lang="en-US" sz="1300" dirty="0">
                <a:solidFill>
                  <a:srgbClr val="8080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Set LANGSMITH_TRACING=true, LANGSMITH_API_KEY and LANGSMITH_PROJECT.</a:t>
            </a:r>
          </a:p>
          <a:p>
            <a:pPr algn="l" indent="0" marL="0">
              <a:lnSpc>
                <a:spcPct val="115000"/>
              </a:lnSpc>
              <a:spcBef>
                <a:spcPts val="600"/>
              </a:spcBef>
              <a:buNone/>
            </a:pPr>
            <a:r>
              <a:rPr lang="en-US" sz="1300" dirty="0">
                <a:solidFill>
                  <a:srgbClr val="8080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Graph runs, nodes and tool calls are traced automatically. No code change.</a:t>
            </a:r>
          </a:p>
        </p:txBody>
      </p:sp>
      <p:sp>
        <p:nvSpPr>
          <p:cNvPr id="8" name="Text 6"/>
          <p:cNvSpPr txBox="1"/>
          <p:nvPr/>
        </p:nvSpPr>
        <p:spPr>
          <a:xfrm>
            <a:off x="1417320" y="2103120"/>
            <a:ext cx="813816" cy="52120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rgbClr val="00C7AA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01.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4617720" y="2606040"/>
            <a:ext cx="3017520" cy="2514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lnSpc>
                <a:spcPct val="115000"/>
              </a:lnSpc>
              <a:spcBef>
                <a:spcPts val="600"/>
              </a:spcBef>
              <a:buNone/>
            </a:pPr>
            <a:r>
              <a:rPr lang="en-US" sz="1500" dirty="0">
                <a:solidFill>
                  <a:srgbClr val="262626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External agent · LangSmith SDK</a:t>
            </a:r>
          </a:p>
          <a:p>
            <a:pPr algn="l" indent="0" marL="0">
              <a:lnSpc>
                <a:spcPct val="115000"/>
              </a:lnSpc>
              <a:spcBef>
                <a:spcPts val="600"/>
              </a:spcBef>
              <a:buNone/>
            </a:pPr>
            <a:r>
              <a:rPr lang="en-US" sz="1300" dirty="0">
                <a:solidFill>
                  <a:srgbClr val="8080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@traceable on the agent entry point and tools; wrap_openai for LLM calls.</a:t>
            </a:r>
          </a:p>
          <a:p>
            <a:pPr algn="l" indent="0" marL="0">
              <a:lnSpc>
                <a:spcPct val="115000"/>
              </a:lnSpc>
              <a:spcBef>
                <a:spcPts val="600"/>
              </a:spcBef>
              <a:buNone/>
            </a:pPr>
            <a:r>
              <a:rPr lang="en-US" sz="1300" dirty="0">
                <a:solidFill>
                  <a:srgbClr val="8080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Python and JS/TS.</a:t>
            </a:r>
          </a:p>
        </p:txBody>
      </p:sp>
      <p:sp>
        <p:nvSpPr>
          <p:cNvPr id="10" name="Text 8"/>
          <p:cNvSpPr txBox="1"/>
          <p:nvPr/>
        </p:nvSpPr>
        <p:spPr>
          <a:xfrm>
            <a:off x="4617720" y="2103120"/>
            <a:ext cx="813816" cy="52120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rgbClr val="00C7AA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02.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7818120" y="2606040"/>
            <a:ext cx="3017520" cy="2514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lnSpc>
                <a:spcPct val="115000"/>
              </a:lnSpc>
              <a:spcBef>
                <a:spcPts val="600"/>
              </a:spcBef>
              <a:buNone/>
            </a:pPr>
            <a:r>
              <a:rPr lang="en-US" sz="1500" dirty="0">
                <a:solidFill>
                  <a:srgbClr val="262626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External agent · OpenTelemetry</a:t>
            </a:r>
          </a:p>
          <a:p>
            <a:pPr algn="l" indent="0" marL="0">
              <a:lnSpc>
                <a:spcPct val="115000"/>
              </a:lnSpc>
              <a:spcBef>
                <a:spcPts val="600"/>
              </a:spcBef>
              <a:buNone/>
            </a:pPr>
            <a:r>
              <a:rPr lang="en-US" sz="1300" dirty="0">
                <a:solidFill>
                  <a:srgbClr val="8080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OTLP exporter to https://api.smith.langchain.com/otel with headers x-api-key and Langsmith-Project.</a:t>
            </a:r>
          </a:p>
          <a:p>
            <a:pPr algn="l" indent="0" marL="0">
              <a:lnSpc>
                <a:spcPct val="115000"/>
              </a:lnSpc>
              <a:spcBef>
                <a:spcPts val="600"/>
              </a:spcBef>
              <a:buNone/>
            </a:pPr>
            <a:r>
              <a:rPr lang="en-US" sz="1300" dirty="0">
                <a:solidFill>
                  <a:srgbClr val="8080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Works for Java and any OTel-instrumented framework (GenAI, OpenLLMetry, OpenInference).</a:t>
            </a:r>
          </a:p>
        </p:txBody>
      </p:sp>
      <p:sp>
        <p:nvSpPr>
          <p:cNvPr id="12" name="Text 10"/>
          <p:cNvSpPr txBox="1"/>
          <p:nvPr/>
        </p:nvSpPr>
        <p:spPr>
          <a:xfrm>
            <a:off x="7818120" y="2103120"/>
            <a:ext cx="813816" cy="52120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rgbClr val="00C7AA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03.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1417320" y="1600200"/>
            <a:ext cx="9326880" cy="4114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8080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Native LangGraph agents trace automatically; external agents use the LangSmith SDK or OpenTelemetry.</a:t>
            </a:r>
          </a:p>
        </p:txBody>
      </p:sp>
      <p:sp>
        <p:nvSpPr>
          <p:cNvPr id="14" name="Shape 12"/>
          <p:cNvSpPr/>
          <p:nvPr/>
        </p:nvSpPr>
        <p:spPr>
          <a:xfrm>
            <a:off x="1417320" y="5303520"/>
            <a:ext cx="9372600" cy="731520"/>
          </a:xfrm>
          <a:prstGeom prst="roundRect">
            <a:avLst>
              <a:gd name="adj" fmla="val 9756"/>
            </a:avLst>
          </a:prstGeom>
          <a:solidFill>
            <a:srgbClr val="4437E6"/>
          </a:solidFill>
          <a:ln/>
          <a:effectLst>
            <a:outerShdw sx="100000" sy="100000" kx="0" ky="0" algn="bl" rotWithShape="0" blurRad="1905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1417320" y="5303520"/>
            <a:ext cx="9372600" cy="731520"/>
          </a:xfrm>
          <a:prstGeom prst="rect">
            <a:avLst/>
          </a:prstGeom>
          <a:noFill/>
          <a:ln/>
        </p:spPr>
        <p:txBody>
          <a:bodyPr wrap="square" lIns="228600" tIns="45720" rIns="228600" bIns="4572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Trace shape judges need: </a:t>
            </a:r>
            <a:r>
              <a:rPr lang="en-US" sz="1300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top-level inputs.messages / outputs.messages incl. tool calls, plus thread_id metadata (OTel: langsmith.metadata.thread_id)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5488" y="329184"/>
            <a:ext cx="2743200" cy="34747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LangSmith · LLM-as-Judge</a:t>
            </a:r>
          </a:p>
        </p:txBody>
      </p:sp>
      <p:sp>
        <p:nvSpPr>
          <p:cNvPr id="3" name="Text 1"/>
          <p:cNvSpPr txBox="1"/>
          <p:nvPr/>
        </p:nvSpPr>
        <p:spPr>
          <a:xfrm>
            <a:off x="10835640" y="6217920"/>
            <a:ext cx="896112" cy="26517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080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Page 7</a:t>
            </a:r>
          </a:p>
        </p:txBody>
      </p:sp>
      <p:sp>
        <p:nvSpPr>
          <p:cNvPr id="6" name="Text 4"/>
          <p:cNvSpPr txBox="1"/>
          <p:nvPr/>
        </p:nvSpPr>
        <p:spPr>
          <a:xfrm>
            <a:off x="1719072" y="822960"/>
            <a:ext cx="9052560" cy="7315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rgbClr val="262626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Three ways to </a:t>
            </a:r>
            <a:r>
              <a:rPr lang="en-US" sz="3600" dirty="0">
                <a:solidFill>
                  <a:srgbClr val="00C7AA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run the judges</a:t>
            </a:r>
          </a:p>
        </p:txBody>
      </p:sp>
      <p:sp>
        <p:nvSpPr>
          <p:cNvPr id="7" name="Shape 5"/>
          <p:cNvSpPr/>
          <p:nvPr/>
        </p:nvSpPr>
        <p:spPr>
          <a:xfrm>
            <a:off x="1719072" y="2926081"/>
            <a:ext cx="2926080" cy="3108960"/>
          </a:xfrm>
          <a:prstGeom prst="roundRect">
            <a:avLst>
              <a:gd name="adj" fmla="val 1036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0" dist="38100" dir="54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956816" y="3090673"/>
            <a:ext cx="530352" cy="530352"/>
          </a:xfrm>
          <a:prstGeom prst="ellipse">
            <a:avLst/>
          </a:prstGeom>
          <a:solidFill>
            <a:srgbClr val="00C7A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892808" y="3639313"/>
            <a:ext cx="2587752" cy="23774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lnSpc>
                <a:spcPct val="150000"/>
              </a:lnSpc>
              <a:spcBef>
                <a:spcPts val="800"/>
              </a:spcBef>
              <a:buNone/>
            </a:pPr>
            <a:r>
              <a:rPr lang="en-US" sz="1400" dirty="0">
                <a:solidFill>
                  <a:srgbClr val="8080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Rules on the tracing project: filter, sampling rate, weekly spend cap, optional backfill.</a:t>
            </a:r>
          </a:p>
          <a:p>
            <a:pPr algn="l" indent="0" marL="0">
              <a:lnSpc>
                <a:spcPct val="150000"/>
              </a:lnSpc>
              <a:spcBef>
                <a:spcPts val="800"/>
              </a:spcBef>
              <a:buNone/>
            </a:pPr>
            <a:r>
              <a:rPr lang="en-US" sz="1400" dirty="0">
                <a:solidFill>
                  <a:srgbClr val="8080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Scores land as feedback on runs and threads.</a:t>
            </a:r>
          </a:p>
        </p:txBody>
      </p:sp>
      <p:sp>
        <p:nvSpPr>
          <p:cNvPr id="10" name="Text 8"/>
          <p:cNvSpPr txBox="1"/>
          <p:nvPr/>
        </p:nvSpPr>
        <p:spPr>
          <a:xfrm>
            <a:off x="2615184" y="3200401"/>
            <a:ext cx="2103120" cy="31089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62626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Online evaluators</a:t>
            </a:r>
          </a:p>
        </p:txBody>
      </p:sp>
      <p:sp>
        <p:nvSpPr>
          <p:cNvPr id="11" name="Shape 9"/>
          <p:cNvSpPr/>
          <p:nvPr/>
        </p:nvSpPr>
        <p:spPr>
          <a:xfrm>
            <a:off x="4791456" y="2926081"/>
            <a:ext cx="2926080" cy="3108960"/>
          </a:xfrm>
          <a:prstGeom prst="roundRect">
            <a:avLst>
              <a:gd name="adj" fmla="val 10366"/>
            </a:avLst>
          </a:prstGeom>
          <a:solidFill>
            <a:srgbClr val="4437E6"/>
          </a:solidFill>
          <a:ln/>
        </p:spPr>
      </p:sp>
      <p:sp>
        <p:nvSpPr>
          <p:cNvPr id="12" name="Shape 10"/>
          <p:cNvSpPr/>
          <p:nvPr/>
        </p:nvSpPr>
        <p:spPr>
          <a:xfrm>
            <a:off x="5020056" y="3090673"/>
            <a:ext cx="530352" cy="53035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956048" y="3639313"/>
            <a:ext cx="2587752" cy="23774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lnSpc>
                <a:spcPct val="150000"/>
              </a:lnSpc>
              <a:spcBef>
                <a:spcPts val="800"/>
              </a:spcBef>
              <a:buNone/>
            </a:pPr>
            <a:r>
              <a:rPr lang="en-US" sz="14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evaluate() on LangSmith datasets with the same judge prompts.</a:t>
            </a:r>
          </a:p>
          <a:p>
            <a:pPr algn="l" indent="0" marL="0">
              <a:lnSpc>
                <a:spcPct val="150000"/>
              </a:lnSpc>
              <a:spcBef>
                <a:spcPts val="800"/>
              </a:spcBef>
              <a:buNone/>
            </a:pPr>
            <a:r>
              <a:rPr lang="en-US" sz="14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Regression gate in CI.</a:t>
            </a:r>
          </a:p>
        </p:txBody>
      </p:sp>
      <p:sp>
        <p:nvSpPr>
          <p:cNvPr id="14" name="Text 12"/>
          <p:cNvSpPr txBox="1"/>
          <p:nvPr/>
        </p:nvSpPr>
        <p:spPr>
          <a:xfrm>
            <a:off x="5687568" y="3200401"/>
            <a:ext cx="2103120" cy="31089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Offline experiments</a:t>
            </a:r>
          </a:p>
        </p:txBody>
      </p:sp>
      <p:sp>
        <p:nvSpPr>
          <p:cNvPr id="15" name="Shape 13"/>
          <p:cNvSpPr/>
          <p:nvPr/>
        </p:nvSpPr>
        <p:spPr>
          <a:xfrm>
            <a:off x="7854696" y="2926081"/>
            <a:ext cx="2926080" cy="3108960"/>
          </a:xfrm>
          <a:prstGeom prst="roundRect">
            <a:avLst>
              <a:gd name="adj" fmla="val 10366"/>
            </a:avLst>
          </a:prstGeom>
          <a:solidFill>
            <a:srgbClr val="4437E6"/>
          </a:solidFill>
          <a:ln/>
          <a:effectLst>
            <a:outerShdw sx="100000" sy="100000" kx="0" ky="0" algn="bl" rotWithShape="0" blurRad="1905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092440" y="3090673"/>
            <a:ext cx="530352" cy="53035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028432" y="3639313"/>
            <a:ext cx="2587752" cy="23774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lnSpc>
                <a:spcPct val="150000"/>
              </a:lnSpc>
              <a:spcBef>
                <a:spcPts val="800"/>
              </a:spcBef>
              <a:buNone/>
            </a:pPr>
            <a:r>
              <a:rPr lang="en-US" sz="14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Annotation queues for flagged or low-score sessions.</a:t>
            </a:r>
          </a:p>
          <a:p>
            <a:pPr algn="l" indent="0" marL="0">
              <a:lnSpc>
                <a:spcPct val="150000"/>
              </a:lnSpc>
              <a:spcBef>
                <a:spcPts val="800"/>
              </a:spcBef>
              <a:buNone/>
            </a:pPr>
            <a:r>
              <a:rPr lang="en-US" sz="14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Corrections become few-shot examples that align the judges (Align Evaluator).</a:t>
            </a:r>
          </a:p>
        </p:txBody>
      </p:sp>
      <p:sp>
        <p:nvSpPr>
          <p:cNvPr id="18" name="Text 16"/>
          <p:cNvSpPr txBox="1"/>
          <p:nvPr/>
        </p:nvSpPr>
        <p:spPr>
          <a:xfrm>
            <a:off x="8759952" y="3200401"/>
            <a:ext cx="2103120" cy="31089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Human review</a:t>
            </a:r>
          </a:p>
        </p:txBody>
      </p:sp>
      <p:sp>
        <p:nvSpPr>
          <p:cNvPr id="19" name="Shape 17"/>
          <p:cNvSpPr/>
          <p:nvPr/>
        </p:nvSpPr>
        <p:spPr>
          <a:xfrm>
            <a:off x="8230972" y="3229205"/>
            <a:ext cx="262433" cy="262433"/>
          </a:xfrm>
          <a:prstGeom prst="roundRect">
            <a:avLst>
              <a:gd name="adj" fmla="val 25000"/>
            </a:avLst>
          </a:prstGeom>
          <a:ln w="15875">
            <a:solidFill>
              <a:srgbClr val="26262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320199" y="3318432"/>
            <a:ext cx="83978" cy="83978"/>
          </a:xfrm>
          <a:prstGeom prst="ellipse">
            <a:avLst/>
          </a:prstGeom>
          <a:solidFill>
            <a:srgbClr val="262626"/>
          </a:solidFill>
          <a:ln/>
        </p:spPr>
      </p:sp>
      <p:sp>
        <p:nvSpPr>
          <p:cNvPr id="21" name="Shape 19"/>
          <p:cNvSpPr/>
          <p:nvPr/>
        </p:nvSpPr>
        <p:spPr>
          <a:xfrm>
            <a:off x="5158588" y="3229205"/>
            <a:ext cx="262433" cy="262433"/>
          </a:xfrm>
          <a:prstGeom prst="roundRect">
            <a:avLst>
              <a:gd name="adj" fmla="val 25000"/>
            </a:avLst>
          </a:prstGeom>
          <a:ln w="15875">
            <a:solidFill>
              <a:srgbClr val="26262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247815" y="3318432"/>
            <a:ext cx="83978" cy="83978"/>
          </a:xfrm>
          <a:prstGeom prst="ellipse">
            <a:avLst/>
          </a:prstGeom>
          <a:solidFill>
            <a:srgbClr val="262626"/>
          </a:solidFill>
          <a:ln/>
        </p:spPr>
      </p:sp>
      <p:sp>
        <p:nvSpPr>
          <p:cNvPr id="23" name="Shape 21"/>
          <p:cNvSpPr/>
          <p:nvPr/>
        </p:nvSpPr>
        <p:spPr>
          <a:xfrm>
            <a:off x="2093702" y="3218415"/>
            <a:ext cx="247437" cy="247437"/>
          </a:xfrm>
          <a:prstGeom prst="roundRect">
            <a:avLst>
              <a:gd name="adj" fmla="val 25000"/>
            </a:avLst>
          </a:prstGeom>
          <a:ln w="15875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177830" y="3302543"/>
            <a:ext cx="79180" cy="791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1719072" y="1691640"/>
            <a:ext cx="9052560" cy="457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8080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same five LLM judges run on live traffic, on datasets in CI, and alongside human reviewers.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5488" y="329184"/>
            <a:ext cx="2743200" cy="34747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LangSmith · LLM-as-Judge</a:t>
            </a:r>
          </a:p>
        </p:txBody>
      </p:sp>
      <p:sp>
        <p:nvSpPr>
          <p:cNvPr id="3" name="Text 1"/>
          <p:cNvSpPr txBox="1"/>
          <p:nvPr/>
        </p:nvSpPr>
        <p:spPr>
          <a:xfrm>
            <a:off x="10835640" y="6217920"/>
            <a:ext cx="896112" cy="26517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080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Page 4</a:t>
            </a:r>
          </a:p>
        </p:txBody>
      </p:sp>
      <p:sp>
        <p:nvSpPr>
          <p:cNvPr id="6" name="Text 4"/>
          <p:cNvSpPr txBox="1"/>
          <p:nvPr/>
        </p:nvSpPr>
        <p:spPr>
          <a:xfrm>
            <a:off x="822960" y="685800"/>
            <a:ext cx="10545775" cy="64922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 indent="0" marL="0">
              <a:buNone/>
            </a:pPr>
            <a:r>
              <a:rPr lang="en-US" sz="3600" dirty="0">
                <a:solidFill>
                  <a:srgbClr val="262626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Solution </a:t>
            </a:r>
            <a:r>
              <a:rPr lang="en-US" sz="3600" dirty="0">
                <a:solidFill>
                  <a:srgbClr val="00C7AA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architecture</a:t>
            </a:r>
            <a:r>
              <a:rPr lang="en-US" sz="3600" dirty="0">
                <a:solidFill>
                  <a:srgbClr val="262626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: judge &amp; review</a:t>
            </a:r>
          </a:p>
        </p:txBody>
      </p:sp>
      <p:sp>
        <p:nvSpPr>
          <p:cNvPr id="10" name="Tracing project (entry)"/>
          <p:cNvSpPr/>
          <p:nvPr/>
        </p:nvSpPr>
        <p:spPr>
          <a:xfrm>
            <a:off x="457200" y="2743200"/>
            <a:ext cx="1508760" cy="1188720"/>
          </a:xfrm>
          <a:prstGeom prst="roundRect">
            <a:avLst>
              <a:gd name="adj" fmla="val 10000"/>
            </a:avLst>
          </a:prstGeom>
          <a:solidFill>
            <a:srgbClr val="4437E6"/>
          </a:solidFill>
          <a:ln w="19050">
            <a:solidFill>
              <a:srgbClr val="4437E6"/>
            </a:solidFill>
          </a:ln>
        </p:spPr>
        <p:txBody>
          <a:bodyPr wrap="square" lIns="91440" tIns="64008" rIns="91440" bIns="64008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Poppins Medium"/>
                <a:ea typeface="Poppins Medium"/>
                <a:cs typeface="Poppins Medium"/>
              </a:rPr>
              <a:t>LangSmith tracing project</a:t>
            </a:r>
          </a:p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Nunito"/>
                <a:ea typeface="Nunito"/>
                <a:cs typeface="Nunito"/>
              </a:rPr>
              <a:t>Traces from 3a</a:t>
            </a:r>
          </a:p>
        </p:txBody>
      </p:sp>
      <p:sp>
        <p:nvSpPr>
          <p:cNvPr id="11" name="Online evaluators"/>
          <p:cNvSpPr/>
          <p:nvPr/>
        </p:nvSpPr>
        <p:spPr>
          <a:xfrm>
            <a:off x="2331720" y="2560320"/>
            <a:ext cx="1874520" cy="1554480"/>
          </a:xfrm>
          <a:prstGeom prst="roundRect">
            <a:avLst>
              <a:gd name="adj" fmla="val 10000"/>
            </a:avLst>
          </a:prstGeom>
          <a:solidFill>
            <a:srgbClr val="ECEBFD"/>
          </a:solidFill>
          <a:ln w="19050">
            <a:solidFill>
              <a:srgbClr val="4437E6"/>
            </a:solidFill>
          </a:ln>
        </p:spPr>
        <p:txBody>
          <a:bodyPr wrap="square" lIns="91440" tIns="64008" rIns="91440" bIns="64008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500" dirty="0">
                <a:solidFill>
                  <a:srgbClr val="262626"/>
                </a:solidFill>
                <a:latin typeface="Poppins Medium"/>
                <a:ea typeface="Poppins Medium"/>
                <a:cs typeface="Poppins Medium"/>
              </a:rPr>
              <a:t>Online evaluators</a:t>
            </a:r>
          </a:p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200" dirty="0">
                <a:solidFill>
                  <a:srgbClr val="404040"/>
                </a:solidFill>
                <a:latin typeface="Nunito"/>
                <a:ea typeface="Nunito"/>
                <a:cs typeface="Nunito"/>
              </a:rPr>
              <a:t>Filter</a:t>
            </a:r>
          </a:p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200" dirty="0">
                <a:solidFill>
                  <a:srgbClr val="404040"/>
                </a:solidFill>
                <a:latin typeface="Nunito"/>
                <a:ea typeface="Nunito"/>
                <a:cs typeface="Nunito"/>
              </a:rPr>
              <a:t>Sampling rate</a:t>
            </a:r>
          </a:p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200" dirty="0">
                <a:solidFill>
                  <a:srgbClr val="404040"/>
                </a:solidFill>
                <a:latin typeface="Nunito"/>
                <a:ea typeface="Nunito"/>
                <a:cs typeface="Nunito"/>
              </a:rPr>
              <a:t>Spend cap</a:t>
            </a:r>
          </a:p>
        </p:txBody>
      </p:sp>
      <p:sp>
        <p:nvSpPr>
          <p:cNvPr id="12" name="LLM judges"/>
          <p:cNvSpPr/>
          <p:nvPr/>
        </p:nvSpPr>
        <p:spPr>
          <a:xfrm>
            <a:off x="4526280" y="1737360"/>
            <a:ext cx="3017520" cy="3200400"/>
          </a:xfrm>
          <a:prstGeom prst="roundRect">
            <a:avLst>
              <a:gd name="adj" fmla="val 10000"/>
            </a:avLst>
          </a:prstGeom>
          <a:solidFill>
            <a:srgbClr val="F1EAFE"/>
          </a:solidFill>
          <a:ln w="19050">
            <a:solidFill>
              <a:srgbClr val="7C3AED"/>
            </a:solidFill>
          </a:ln>
        </p:spPr>
        <p:txBody>
          <a:bodyPr wrap="square" lIns="91440" tIns="64008" rIns="91440" bIns="64008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7C3AED"/>
                </a:solidFill>
                <a:latin typeface="Nunito"/>
                <a:ea typeface="Nunito"/>
                <a:cs typeface="Nunito"/>
              </a:rPr>
              <a:t>5 JUDGES</a:t>
            </a:r>
          </a:p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500" dirty="0">
                <a:solidFill>
                  <a:srgbClr val="262626"/>
                </a:solidFill>
                <a:latin typeface="Poppins Medium"/>
                <a:ea typeface="Poppins Medium"/>
                <a:cs typeface="Poppins Medium"/>
              </a:rPr>
              <a:t>LLM-as-judge</a:t>
            </a:r>
          </a:p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200" dirty="0">
                <a:solidFill>
                  <a:srgbClr val="404040"/>
                </a:solidFill>
                <a:latin typeface="Nunito"/>
                <a:ea typeface="Nunito"/>
                <a:cs typeface="Nunito"/>
              </a:rPr>
              <a:t>Action completion (thread-level)</a:t>
            </a:r>
          </a:p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200" dirty="0">
                <a:solidFill>
                  <a:srgbClr val="404040"/>
                </a:solidFill>
                <a:latin typeface="Nunito"/>
                <a:ea typeface="Nunito"/>
                <a:cs typeface="Nunito"/>
              </a:rPr>
              <a:t>Output PII</a:t>
            </a:r>
          </a:p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200" dirty="0">
                <a:solidFill>
                  <a:srgbClr val="404040"/>
                </a:solidFill>
                <a:latin typeface="Nunito"/>
                <a:ea typeface="Nunito"/>
                <a:cs typeface="Nunito"/>
              </a:rPr>
              <a:t>Toxicity</a:t>
            </a:r>
          </a:p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200" dirty="0">
                <a:solidFill>
                  <a:srgbClr val="404040"/>
                </a:solidFill>
                <a:latin typeface="Nunito"/>
                <a:ea typeface="Nunito"/>
                <a:cs typeface="Nunito"/>
              </a:rPr>
              <a:t>Sexism</a:t>
            </a:r>
          </a:p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1200" dirty="0">
                <a:solidFill>
                  <a:srgbClr val="404040"/>
                </a:solidFill>
                <a:latin typeface="Nunito"/>
                <a:ea typeface="Nunito"/>
                <a:cs typeface="Nunito"/>
              </a:rPr>
              <a:t>Hallucination</a:t>
            </a:r>
          </a:p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404040"/>
                </a:solidFill>
                <a:latin typeface="Nunito"/>
                <a:ea typeface="Nunito"/>
                <a:cs typeface="Nunito"/>
              </a:rPr>
              <a:t>Judge model via workspace secret:</a:t>
            </a:r>
          </a:p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404040"/>
                </a:solidFill>
                <a:latin typeface="Nunito"/>
                <a:ea typeface="Nunito"/>
                <a:cs typeface="Nunito"/>
              </a:rPr>
              <a:t>OpenAI / Azure OpenAI / Gemini</a:t>
            </a:r>
          </a:p>
        </p:txBody>
      </p:sp>
      <p:sp>
        <p:nvSpPr>
          <p:cNvPr id="13" name="Feedback scores"/>
          <p:cNvSpPr/>
          <p:nvPr/>
        </p:nvSpPr>
        <p:spPr>
          <a:xfrm>
            <a:off x="7863840" y="2697480"/>
            <a:ext cx="1371600" cy="1280160"/>
          </a:xfrm>
          <a:prstGeom prst="roundRect">
            <a:avLst>
              <a:gd name="adj" fmla="val 10000"/>
            </a:avLst>
          </a:prstGeom>
          <a:solidFill>
            <a:srgbClr val="ECEBFD"/>
          </a:solidFill>
          <a:ln w="19050">
            <a:solidFill>
              <a:srgbClr val="4437E6"/>
            </a:solidFill>
          </a:ln>
        </p:spPr>
        <p:txBody>
          <a:bodyPr wrap="square" lIns="91440" tIns="64008" rIns="91440" bIns="64008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500" dirty="0">
                <a:solidFill>
                  <a:srgbClr val="262626"/>
                </a:solidFill>
                <a:latin typeface="Poppins Medium"/>
                <a:ea typeface="Poppins Medium"/>
                <a:cs typeface="Poppins Medium"/>
              </a:rPr>
              <a:t>Feedback scores</a:t>
            </a:r>
          </a:p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200" dirty="0">
                <a:solidFill>
                  <a:srgbClr val="404040"/>
                </a:solidFill>
                <a:latin typeface="Nunito"/>
                <a:ea typeface="Nunito"/>
                <a:cs typeface="Nunito"/>
              </a:rPr>
              <a:t>on runs / threads</a:t>
            </a:r>
          </a:p>
        </p:txBody>
      </p:sp>
      <p:sp>
        <p:nvSpPr>
          <p:cNvPr id="14" name="Dashboards and alerts"/>
          <p:cNvSpPr/>
          <p:nvPr/>
        </p:nvSpPr>
        <p:spPr>
          <a:xfrm>
            <a:off x="9555480" y="1600200"/>
            <a:ext cx="2176272" cy="777240"/>
          </a:xfrm>
          <a:prstGeom prst="roundRect">
            <a:avLst>
              <a:gd name="adj" fmla="val 10000"/>
            </a:avLst>
          </a:prstGeom>
          <a:solidFill>
            <a:srgbClr val="ECEBFD"/>
          </a:solidFill>
          <a:ln w="19050">
            <a:solidFill>
              <a:srgbClr val="4437E6"/>
            </a:solidFill>
          </a:ln>
        </p:spPr>
        <p:txBody>
          <a:bodyPr wrap="square" lIns="91440" tIns="64008" rIns="91440" bIns="64008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262626"/>
                </a:solidFill>
                <a:latin typeface="Poppins Medium"/>
                <a:ea typeface="Poppins Medium"/>
                <a:cs typeface="Poppins Medium"/>
              </a:rPr>
              <a:t>Dashboards &amp; alerts</a:t>
            </a:r>
          </a:p>
        </p:txBody>
      </p:sp>
      <p:sp>
        <p:nvSpPr>
          <p:cNvPr id="15" name="Annotation queues"/>
          <p:cNvSpPr/>
          <p:nvPr/>
        </p:nvSpPr>
        <p:spPr>
          <a:xfrm>
            <a:off x="9555480" y="2880360"/>
            <a:ext cx="2176272" cy="914400"/>
          </a:xfrm>
          <a:prstGeom prst="roundRect">
            <a:avLst>
              <a:gd name="adj" fmla="val 10000"/>
            </a:avLst>
          </a:prstGeom>
          <a:solidFill>
            <a:srgbClr val="ECEBFD"/>
          </a:solidFill>
          <a:ln w="19050">
            <a:solidFill>
              <a:srgbClr val="4437E6"/>
            </a:solidFill>
          </a:ln>
        </p:spPr>
        <p:txBody>
          <a:bodyPr wrap="square" lIns="91440" tIns="64008" rIns="91440" bIns="64008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500" dirty="0">
                <a:solidFill>
                  <a:srgbClr val="262626"/>
                </a:solidFill>
                <a:latin typeface="Poppins Medium"/>
                <a:ea typeface="Poppins Medium"/>
                <a:cs typeface="Poppins Medium"/>
              </a:rPr>
              <a:t>Annotation queues</a:t>
            </a:r>
          </a:p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200" dirty="0">
                <a:solidFill>
                  <a:srgbClr val="404040"/>
                </a:solidFill>
                <a:latin typeface="Nunito"/>
                <a:ea typeface="Nunito"/>
                <a:cs typeface="Nunito"/>
              </a:rPr>
              <a:t>Human review</a:t>
            </a:r>
          </a:p>
        </p:txBody>
      </p:sp>
      <p:sp>
        <p:nvSpPr>
          <p:cNvPr id="16" name="Datasets"/>
          <p:cNvSpPr/>
          <p:nvPr/>
        </p:nvSpPr>
        <p:spPr>
          <a:xfrm>
            <a:off x="9555480" y="4114800"/>
            <a:ext cx="2176272" cy="502920"/>
          </a:xfrm>
          <a:prstGeom prst="roundRect">
            <a:avLst>
              <a:gd name="adj" fmla="val 10000"/>
            </a:avLst>
          </a:prstGeom>
          <a:solidFill>
            <a:srgbClr val="ECEBFD"/>
          </a:solidFill>
          <a:ln w="19050">
            <a:solidFill>
              <a:srgbClr val="4437E6"/>
            </a:solidFill>
          </a:ln>
        </p:spPr>
        <p:txBody>
          <a:bodyPr wrap="square" lIns="91440" tIns="64008" rIns="91440" bIns="64008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262626"/>
                </a:solidFill>
                <a:latin typeface="Poppins Medium"/>
                <a:ea typeface="Poppins Medium"/>
                <a:cs typeface="Poppins Medium"/>
              </a:rPr>
              <a:t>Datasets</a:t>
            </a:r>
          </a:p>
        </p:txBody>
      </p:sp>
      <p:sp>
        <p:nvSpPr>
          <p:cNvPr id="17" name="Offline experiments"/>
          <p:cNvSpPr/>
          <p:nvPr/>
        </p:nvSpPr>
        <p:spPr>
          <a:xfrm>
            <a:off x="9555480" y="4937760"/>
            <a:ext cx="2176272" cy="914400"/>
          </a:xfrm>
          <a:prstGeom prst="roundRect">
            <a:avLst>
              <a:gd name="adj" fmla="val 10000"/>
            </a:avLst>
          </a:prstGeom>
          <a:solidFill>
            <a:srgbClr val="ECEBFD"/>
          </a:solidFill>
          <a:ln w="19050">
            <a:solidFill>
              <a:srgbClr val="4437E6"/>
            </a:solidFill>
          </a:ln>
        </p:spPr>
        <p:txBody>
          <a:bodyPr wrap="square" lIns="91440" tIns="64008" rIns="91440" bIns="64008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500" dirty="0">
                <a:solidFill>
                  <a:srgbClr val="262626"/>
                </a:solidFill>
                <a:latin typeface="Poppins Medium"/>
                <a:ea typeface="Poppins Medium"/>
                <a:cs typeface="Poppins Medium"/>
              </a:rPr>
              <a:t>Offline experiments</a:t>
            </a:r>
          </a:p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200" dirty="0">
                <a:solidFill>
                  <a:srgbClr val="404040"/>
                </a:solidFill>
                <a:latin typeface="Nunito"/>
                <a:ea typeface="Nunito"/>
                <a:cs typeface="Nunito"/>
              </a:rPr>
              <a:t>evaluate() in CI · same LLM judges</a:t>
            </a:r>
          </a:p>
        </p:txBody>
      </p:sp>
      <p:cxnSp>
        <p:nvCxnSpPr>
          <p:cNvPr id="20" name="P to R"/>
          <p:cNvCxnSpPr>
            <a:stCxn id="10" idx="3"/>
            <a:endCxn id="11" idx="1"/>
          </p:cNvCxnSpPr>
          <p:nvPr/>
        </p:nvCxnSpPr>
        <p:spPr>
          <a:xfrm>
            <a:off x="1965960" y="3337560"/>
            <a:ext cx="365760" cy="0"/>
          </a:xfrm>
          <a:prstGeom prst="straightConnector1">
            <a:avLst/>
          </a:prstGeom>
          <a:noFill/>
          <a:ln w="22225">
            <a:solidFill>
              <a:srgbClr val="4437E6"/>
            </a:solidFill>
            <a:round/>
            <a:tailEnd type="triangle" w="med" len="med"/>
          </a:ln>
        </p:spPr>
      </p:cxnSp>
      <p:cxnSp>
        <p:nvCxnSpPr>
          <p:cNvPr id="21" name="R to J"/>
          <p:cNvCxnSpPr>
            <a:stCxn id="11" idx="3"/>
            <a:endCxn id="12" idx="1"/>
          </p:cNvCxnSpPr>
          <p:nvPr/>
        </p:nvCxnSpPr>
        <p:spPr>
          <a:xfrm>
            <a:off x="4206240" y="3337560"/>
            <a:ext cx="320040" cy="0"/>
          </a:xfrm>
          <a:prstGeom prst="straightConnector1">
            <a:avLst/>
          </a:prstGeom>
          <a:noFill/>
          <a:ln w="22225">
            <a:solidFill>
              <a:srgbClr val="4437E6"/>
            </a:solidFill>
            <a:round/>
            <a:tailEnd type="triangle" w="med" len="med"/>
          </a:ln>
        </p:spPr>
      </p:cxnSp>
      <p:cxnSp>
        <p:nvCxnSpPr>
          <p:cNvPr id="22" name="J to F"/>
          <p:cNvCxnSpPr>
            <a:stCxn id="12" idx="3"/>
            <a:endCxn id="13" idx="1"/>
          </p:cNvCxnSpPr>
          <p:nvPr/>
        </p:nvCxnSpPr>
        <p:spPr>
          <a:xfrm>
            <a:off x="7543800" y="3337560"/>
            <a:ext cx="320040" cy="0"/>
          </a:xfrm>
          <a:prstGeom prst="straightConnector1">
            <a:avLst/>
          </a:prstGeom>
          <a:noFill/>
          <a:ln w="22225">
            <a:solidFill>
              <a:srgbClr val="4437E6"/>
            </a:solidFill>
            <a:round/>
            <a:tailEnd type="triangle" w="med" len="med"/>
          </a:ln>
        </p:spPr>
      </p:cxnSp>
      <p:cxnSp>
        <p:nvCxnSpPr>
          <p:cNvPr id="23" name="F to D"/>
          <p:cNvCxnSpPr>
            <a:stCxn id="13" idx="3"/>
            <a:endCxn id="14" idx="1"/>
          </p:cNvCxnSpPr>
          <p:nvPr/>
        </p:nvCxnSpPr>
        <p:spPr>
          <a:xfrm flipV="1">
            <a:off x="9235440" y="1988820"/>
            <a:ext cx="320040" cy="1348740"/>
          </a:xfrm>
          <a:prstGeom prst="bentConnector3">
            <a:avLst/>
          </a:prstGeom>
          <a:noFill/>
          <a:ln w="22225">
            <a:solidFill>
              <a:srgbClr val="4437E6"/>
            </a:solidFill>
            <a:round/>
            <a:tailEnd type="triangle" w="med" len="med"/>
          </a:ln>
        </p:spPr>
      </p:cxnSp>
      <p:cxnSp>
        <p:nvCxnSpPr>
          <p:cNvPr id="24" name="F to Q"/>
          <p:cNvCxnSpPr>
            <a:stCxn id="13" idx="3"/>
            <a:endCxn id="15" idx="1"/>
          </p:cNvCxnSpPr>
          <p:nvPr/>
        </p:nvCxnSpPr>
        <p:spPr>
          <a:xfrm flipV="1">
            <a:off x="9235440" y="3337560"/>
            <a:ext cx="320040" cy="0"/>
          </a:xfrm>
          <a:prstGeom prst="straightConnector1">
            <a:avLst/>
          </a:prstGeom>
          <a:noFill/>
          <a:ln w="22225">
            <a:solidFill>
              <a:srgbClr val="4437E6"/>
            </a:solidFill>
            <a:round/>
            <a:tailEnd type="triangle" w="med" len="med"/>
          </a:ln>
        </p:spPr>
      </p:cxnSp>
      <p:cxnSp>
        <p:nvCxnSpPr>
          <p:cNvPr id="25" name="Q to DS"/>
          <p:cNvCxnSpPr>
            <a:stCxn id="15" idx="2"/>
            <a:endCxn id="16" idx="0"/>
          </p:cNvCxnSpPr>
          <p:nvPr/>
        </p:nvCxnSpPr>
        <p:spPr>
          <a:xfrm>
            <a:off x="10643616" y="3794760"/>
            <a:ext cx="0" cy="320040"/>
          </a:xfrm>
          <a:prstGeom prst="straightConnector1">
            <a:avLst/>
          </a:prstGeom>
          <a:noFill/>
          <a:ln w="22225">
            <a:solidFill>
              <a:srgbClr val="4437E6"/>
            </a:solidFill>
            <a:round/>
            <a:tailEnd type="triangle" w="med" len="med"/>
          </a:ln>
        </p:spPr>
      </p:cxnSp>
      <p:cxnSp>
        <p:nvCxnSpPr>
          <p:cNvPr id="26" name="DS to X"/>
          <p:cNvCxnSpPr>
            <a:stCxn id="16" idx="2"/>
            <a:endCxn id="17" idx="0"/>
          </p:cNvCxnSpPr>
          <p:nvPr/>
        </p:nvCxnSpPr>
        <p:spPr>
          <a:xfrm>
            <a:off x="10643616" y="4617720"/>
            <a:ext cx="0" cy="320040"/>
          </a:xfrm>
          <a:prstGeom prst="straightConnector1">
            <a:avLst/>
          </a:prstGeom>
          <a:noFill/>
          <a:ln w="22225">
            <a:solidFill>
              <a:srgbClr val="4437E6"/>
            </a:solidFill>
            <a:round/>
            <a:tailEnd type="triangle" w="med" len="med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oppins Medium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uni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60</Slides>
  <Notes>60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6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AI Technology is Transforming the World</dc:title>
  <dc:subject>PptxGenJS Presentation</dc:subject>
  <dc:creator>PptxGenJS</dc:creator>
  <cp:lastModifiedBy>PptxGenJS</cp:lastModifiedBy>
  <cp:revision>1</cp:revision>
  <dcterms:created xsi:type="dcterms:W3CDTF">2026-10-22T02:57:55Z</dcterms:created>
  <dcterms:modified xsi:type="dcterms:W3CDTF">2026-10-22T02:57:55Z</dcterms:modified>
</cp:coreProperties>
</file>