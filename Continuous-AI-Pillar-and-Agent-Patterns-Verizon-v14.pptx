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0.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0.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200.xml" ContentType="application/vnd.openxmlformats-officedocument.presentationml.slide+xml"/>
  <Override PartName="/ppt/notesSlides/notesSlide200.xml" ContentType="application/vnd.openxmlformats-officedocument.presentationml.notesSlide+xml"/>
  <Override PartName="/ppt/slides/slide201.xml" ContentType="application/vnd.openxmlformats-officedocument.presentationml.slide+xml"/>
  <Override PartName="/ppt/notesSlides/notesSlide201.xml" ContentType="application/vnd.openxmlformats-officedocument.presentationml.notesSlide+xml"/>
  <Override PartName="/ppt/slides/slide202.xml" ContentType="application/vnd.openxmlformats-officedocument.presentationml.slide+xml"/>
  <Override PartName="/ppt/notesSlides/notesSlide202.xml" ContentType="application/vnd.openxmlformats-officedocument.presentationml.notesSlide+xml"/>
  <Override PartName="/ppt/slides/slide204.xml" ContentType="application/vnd.openxmlformats-officedocument.presentationml.slide+xml"/>
  <Override PartName="/ppt/notesSlides/notesSlide204.xml" ContentType="application/vnd.openxmlformats-officedocument.presentationml.notesSlide+xml"/>
  <Override PartName="/ppt/slides/slide205.xml" ContentType="application/vnd.openxmlformats-officedocument.presentationml.slide+xml"/>
  <Override PartName="/ppt/notesSlides/notesSlide205.xml" ContentType="application/vnd.openxmlformats-officedocument.presentationml.notesSlide+xml"/>
  <Override PartName="/ppt/slides/slide206.xml" ContentType="application/vnd.openxmlformats-officedocument.presentationml.slide+xml"/>
  <Override PartName="/ppt/notesSlides/notesSlide206.xml" ContentType="application/vnd.openxmlformats-officedocument.presentationml.notesSlide+xml"/>
  <Override PartName="/ppt/slides/slide207.xml" ContentType="application/vnd.openxmlformats-officedocument.presentationml.slide+xml"/>
  <Override PartName="/ppt/notesSlides/notesSlide207.xml" ContentType="application/vnd.openxmlformats-officedocument.presentationml.notesSlide+xml"/>
  <Override PartName="/ppt/slides/slide208.xml" ContentType="application/vnd.openxmlformats-officedocument.presentationml.slide+xml"/>
  <Override PartName="/ppt/notesSlides/notesSlide208.xml" ContentType="application/vnd.openxmlformats-officedocument.presentationml.notesSlide+xml"/>
  <Override PartName="/ppt/slides/slide209.xml" ContentType="application/vnd.openxmlformats-officedocument.presentationml.slide+xml"/>
  <Override PartName="/ppt/notesSlides/notesSlide209.xml" ContentType="application/vnd.openxmlformats-officedocument.presentationml.notesSlide+xml"/>
  <Override PartName="/ppt/slides/slide210.xml" ContentType="application/vnd.openxmlformats-officedocument.presentationml.slide+xml"/>
  <Override PartName="/ppt/notesSlides/notesSlide210.xml" ContentType="application/vnd.openxmlformats-officedocument.presentationml.notesSlide+xml"/>
  <Override PartName="/ppt/slides/slide213.xml" ContentType="application/vnd.openxmlformats-officedocument.presentationml.slide+xml"/>
  <Override PartName="/ppt/notesSlides/notesSlide213.xml" ContentType="application/vnd.openxmlformats-officedocument.presentationml.notesSlide+xml"/>
  <Override PartName="/ppt/slides/slide214.xml" ContentType="application/vnd.openxmlformats-officedocument.presentationml.slide+xml"/>
  <Override PartName="/ppt/notesSlides/notesSlide214.xml" ContentType="application/vnd.openxmlformats-officedocument.presentationml.notesSlide+xml"/>
  <Override PartName="/ppt/slides/slide215.xml" ContentType="application/vnd.openxmlformats-officedocument.presentationml.slide+xml"/>
  <Override PartName="/ppt/notesSlides/notesSlide215.xml" ContentType="application/vnd.openxmlformats-officedocument.presentationml.notesSlide+xml"/>
  <Override PartName="/ppt/slides/slide216.xml" ContentType="application/vnd.openxmlformats-officedocument.presentationml.slide+xml"/>
  <Override PartName="/ppt/notesSlides/notesSlide216.xml" ContentType="application/vnd.openxmlformats-officedocument.presentationml.notesSlide+xml"/>
  <Override PartName="/ppt/slides/slide217.xml" ContentType="application/vnd.openxmlformats-officedocument.presentationml.slide+xml"/>
  <Override PartName="/ppt/notesSlides/notesSlide217.xml" ContentType="application/vnd.openxmlformats-officedocument.presentationml.notesSlide+xml"/>
  <Override PartName="/ppt/slides/slide218.xml" ContentType="application/vnd.openxmlformats-officedocument.presentationml.slide+xml"/>
  <Override PartName="/ppt/notesSlides/notesSlide218.xml" ContentType="application/vnd.openxmlformats-officedocument.presentationml.notesSlide+xml"/>
  <Override PartName="/ppt/slides/slide219.xml" ContentType="application/vnd.openxmlformats-officedocument.presentationml.slide+xml"/>
  <Override PartName="/ppt/notesSlides/notesSlide219.xml" ContentType="application/vnd.openxmlformats-officedocument.presentationml.notesSlide+xml"/>
  <Override PartName="/ppt/slides/slide221.xml" ContentType="application/vnd.openxmlformats-officedocument.presentationml.slide+xml"/>
  <Override PartName="/ppt/notesSlides/notesSlide221.xml" ContentType="application/vnd.openxmlformats-officedocument.presentationml.notesSlide+xml"/>
  <Override PartName="/ppt/slides/slide223.xml" ContentType="application/vnd.openxmlformats-officedocument.presentationml.slide+xml"/>
  <Override PartName="/ppt/notesSlides/notesSlide223.xml" ContentType="application/vnd.openxmlformats-officedocument.presentationml.notesSlide+xml"/>
  <Override PartName="/ppt/slides/slide224.xml" ContentType="application/vnd.openxmlformats-officedocument.presentationml.slide+xml"/>
  <Override PartName="/ppt/notesSlides/notesSlide224.xml" ContentType="application/vnd.openxmlformats-officedocument.presentationml.notesSlide+xml"/>
  <Override PartName="/ppt/slides/slide226.xml" ContentType="application/vnd.openxmlformats-officedocument.presentationml.slide+xml"/>
  <Override PartName="/ppt/notesSlides/notesSlide226.xml" ContentType="application/vnd.openxmlformats-officedocument.presentationml.notesSlide+xml"/>
  <Override PartName="/ppt/slides/slide227.xml" ContentType="application/vnd.openxmlformats-officedocument.presentationml.slide+xml"/>
  <Override PartName="/ppt/notesSlides/notesSlide227.xml" ContentType="application/vnd.openxmlformats-officedocument.presentationml.notesSlide+xml"/>
  <Override PartName="/ppt/slides/slide228.xml" ContentType="application/vnd.openxmlformats-officedocument.presentationml.slide+xml"/>
  <Override PartName="/ppt/notesSlides/notesSlide228.xml" ContentType="application/vnd.openxmlformats-officedocument.presentationml.notesSlide+xml"/>
  <Override PartName="/ppt/slides/slide229.xml" ContentType="application/vnd.openxmlformats-officedocument.presentationml.slide+xml"/>
  <Override PartName="/ppt/notesSlides/notesSlide229.xml" ContentType="application/vnd.openxmlformats-officedocument.presentationml.notesSlide+xml"/>
  <Override PartName="/ppt/slides/slide230.xml" ContentType="application/vnd.openxmlformats-officedocument.presentationml.slide+xml"/>
  <Override PartName="/ppt/notesSlides/notesSlide230.xml" ContentType="application/vnd.openxmlformats-officedocument.presentationml.notesSlide+xml"/>
  <Override PartName="/ppt/slides/slide231.xml" ContentType="application/vnd.openxmlformats-officedocument.presentationml.slide+xml"/>
  <Override PartName="/ppt/notesSlides/notesSlide231.xml" ContentType="application/vnd.openxmlformats-officedocument.presentationml.notesSlide+xml"/>
  <Override PartName="/ppt/slides/slide232.xml" ContentType="application/vnd.openxmlformats-officedocument.presentationml.slide+xml"/>
  <Override PartName="/ppt/notesSlides/notesSlide232.xml" ContentType="application/vnd.openxmlformats-officedocument.presentationml.notesSlide+xml"/>
  <Override PartName="/ppt/slides/slide233.xml" ContentType="application/vnd.openxmlformats-officedocument.presentationml.slide+xml"/>
  <Override PartName="/ppt/notesSlides/notesSlide233.xml" ContentType="application/vnd.openxmlformats-officedocument.presentationml.notesSlide+xml"/>
  <Override PartName="/ppt/slides/slide234.xml" ContentType="application/vnd.openxmlformats-officedocument.presentationml.slide+xml"/>
  <Override PartName="/ppt/notesSlides/notesSlide234.xml" ContentType="application/vnd.openxmlformats-officedocument.presentationml.notesSlide+xml"/>
  <Override PartName="/ppt/slides/slide235.xml" ContentType="application/vnd.openxmlformats-officedocument.presentationml.slide+xml"/>
  <Override PartName="/ppt/notesSlides/notesSlide23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00" r:id="rId29"/>
    <p:sldId id="316" r:id="rId38"/>
    <p:sldId id="301" r:id="rId30"/>
    <p:sldId id="302" r:id="rId11"/>
    <p:sldId id="318" r:id="rId40"/>
    <p:sldId id="319" r:id="rId41"/>
    <p:sldId id="320" r:id="rId42"/>
    <p:sldId id="321" r:id="rId43"/>
    <p:sldId id="322" r:id="rId44"/>
    <p:sldId id="323" r:id="rId45"/>
    <p:sldId id="325" r:id="rId47"/>
    <p:sldId id="343" r:id="rId65"/>
    <p:sldId id="330" r:id="rId52"/>
    <p:sldId id="331" r:id="rId53"/>
    <p:sldId id="328" r:id="rId50"/>
    <p:sldId id="333" r:id="rId55"/>
    <p:sldId id="334" r:id="rId56"/>
    <p:sldId id="344" r:id="rId66"/>
    <p:sldId id="345" r:id="rId67"/>
    <p:sldId id="336" r:id="rId58"/>
    <p:sldId id="346" r:id="rId68"/>
    <p:sldId id="303" r:id="rId23"/>
    <p:sldId id="349" r:id="rId71"/>
    <p:sldId id="339" r:id="rId61"/>
    <p:sldId id="347" r:id="rId69"/>
    <p:sldId id="341" r:id="rId63"/>
    <p:sldId id="306" r:id="rId14"/>
    <p:sldId id="307" r:id="rId28"/>
    <p:sldId id="308" r:id="rId31"/>
    <p:sldId id="309" r:id="rId32"/>
    <p:sldId id="310" r:id="rId33"/>
    <p:sldId id="311" r:id="rId34"/>
    <p:sldId id="312" r:id="rId35"/>
    <p:sldId id="313" r:id="rId36"/>
    <p:sldId id="314" r:id="rId37"/>
    <p:sldId id="315" r:id="rId25"/>
    <p:sldId id="317" r:id="rId39"/>
    <p:sldId id="324" r:id="rId46"/>
    <p:sldId id="329" r:id="rId51"/>
    <p:sldId id="332" r:id="rId54"/>
    <p:sldId id="338" r:id="rId60"/>
    <p:sldId id="342" r:id="rId64"/>
    <p:sldId id="348" r:id="rId70"/>
    <p:sldId id="350" r:id="rId72"/>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10.xml"/><Relationship Id="rId14" Type="http://schemas.openxmlformats.org/officeDocument/2006/relationships/slide" Target="slides/slide13.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3" Type="http://schemas.openxmlformats.org/officeDocument/2006/relationships/slide" Target="slides/slide17.xml"/><Relationship Id="rId25" Type="http://schemas.openxmlformats.org/officeDocument/2006/relationships/slide" Target="slides/slide19.xml"/><Relationship Id="rId28" Type="http://schemas.openxmlformats.org/officeDocument/2006/relationships/slide" Target="slides/slide22.xml"/><Relationship Id="rId29" Type="http://schemas.openxmlformats.org/officeDocument/2006/relationships/slide" Target="slides/slide105.xml"/><Relationship Id="rId30" Type="http://schemas.openxmlformats.org/officeDocument/2006/relationships/slide" Target="slides/slide117.xml"/><Relationship Id="rId31" Type="http://schemas.openxmlformats.org/officeDocument/2006/relationships/slide" Target="slides/slide107.xml"/><Relationship Id="rId32" Type="http://schemas.openxmlformats.org/officeDocument/2006/relationships/slide" Target="slides/slide104.xml"/><Relationship Id="rId33" Type="http://schemas.openxmlformats.org/officeDocument/2006/relationships/slide" Target="slides/slide116.xml"/><Relationship Id="rId34" Type="http://schemas.openxmlformats.org/officeDocument/2006/relationships/slide" Target="slides/slide108.xml"/><Relationship Id="rId35" Type="http://schemas.openxmlformats.org/officeDocument/2006/relationships/slide" Target="slides/slide121.xml"/><Relationship Id="rId36" Type="http://schemas.openxmlformats.org/officeDocument/2006/relationships/slide" Target="slides/slide113.xml"/><Relationship Id="rId37" Type="http://schemas.openxmlformats.org/officeDocument/2006/relationships/slide" Target="slides/slide120.xml"/><Relationship Id="rId38" Type="http://schemas.openxmlformats.org/officeDocument/2006/relationships/slide" Target="slides/slide200.xml"/><Relationship Id="rId39" Type="http://schemas.openxmlformats.org/officeDocument/2006/relationships/slide" Target="slides/slide201.xml"/><Relationship Id="rId40" Type="http://schemas.openxmlformats.org/officeDocument/2006/relationships/slide" Target="slides/slide202.xml"/><Relationship Id="rId41" Type="http://schemas.openxmlformats.org/officeDocument/2006/relationships/slide" Target="slides/slide204.xml"/><Relationship Id="rId42" Type="http://schemas.openxmlformats.org/officeDocument/2006/relationships/slide" Target="slides/slide205.xml"/><Relationship Id="rId43" Type="http://schemas.openxmlformats.org/officeDocument/2006/relationships/slide" Target="slides/slide206.xml"/><Relationship Id="rId44" Type="http://schemas.openxmlformats.org/officeDocument/2006/relationships/slide" Target="slides/slide207.xml"/><Relationship Id="rId45" Type="http://schemas.openxmlformats.org/officeDocument/2006/relationships/slide" Target="slides/slide208.xml"/><Relationship Id="rId46" Type="http://schemas.openxmlformats.org/officeDocument/2006/relationships/slide" Target="slides/slide209.xml"/><Relationship Id="rId47" Type="http://schemas.openxmlformats.org/officeDocument/2006/relationships/slide" Target="slides/slide210.xml"/><Relationship Id="rId50" Type="http://schemas.openxmlformats.org/officeDocument/2006/relationships/slide" Target="slides/slide213.xml"/><Relationship Id="rId51" Type="http://schemas.openxmlformats.org/officeDocument/2006/relationships/slide" Target="slides/slide214.xml"/><Relationship Id="rId52" Type="http://schemas.openxmlformats.org/officeDocument/2006/relationships/slide" Target="slides/slide215.xml"/><Relationship Id="rId53" Type="http://schemas.openxmlformats.org/officeDocument/2006/relationships/slide" Target="slides/slide216.xml"/><Relationship Id="rId54" Type="http://schemas.openxmlformats.org/officeDocument/2006/relationships/slide" Target="slides/slide217.xml"/><Relationship Id="rId55" Type="http://schemas.openxmlformats.org/officeDocument/2006/relationships/slide" Target="slides/slide218.xml"/><Relationship Id="rId56" Type="http://schemas.openxmlformats.org/officeDocument/2006/relationships/slide" Target="slides/slide219.xml"/><Relationship Id="rId58" Type="http://schemas.openxmlformats.org/officeDocument/2006/relationships/slide" Target="slides/slide221.xml"/><Relationship Id="rId60" Type="http://schemas.openxmlformats.org/officeDocument/2006/relationships/slide" Target="slides/slide223.xml"/><Relationship Id="rId61" Type="http://schemas.openxmlformats.org/officeDocument/2006/relationships/slide" Target="slides/slide224.xml"/><Relationship Id="rId63" Type="http://schemas.openxmlformats.org/officeDocument/2006/relationships/slide" Target="slides/slide226.xml"/><Relationship Id="rId64" Type="http://schemas.openxmlformats.org/officeDocument/2006/relationships/slide" Target="slides/slide227.xml"/><Relationship Id="rId65" Type="http://schemas.openxmlformats.org/officeDocument/2006/relationships/slide" Target="slides/slide228.xml"/><Relationship Id="rId66" Type="http://schemas.openxmlformats.org/officeDocument/2006/relationships/slide" Target="slides/slide229.xml"/><Relationship Id="rId67" Type="http://schemas.openxmlformats.org/officeDocument/2006/relationships/slide" Target="slides/slide230.xml"/><Relationship Id="rId68" Type="http://schemas.openxmlformats.org/officeDocument/2006/relationships/slide" Target="slides/slide231.xml"/><Relationship Id="rId69" Type="http://schemas.openxmlformats.org/officeDocument/2006/relationships/slide" Target="slides/slide232.xml"/><Relationship Id="rId70" Type="http://schemas.openxmlformats.org/officeDocument/2006/relationships/slide" Target="slides/slide233.xml"/><Relationship Id="rId71" Type="http://schemas.openxmlformats.org/officeDocument/2006/relationships/slide" Target="slides/slide234.xml"/><Relationship Id="rId72" Type="http://schemas.openxmlformats.org/officeDocument/2006/relationships/slide" Target="slides/slide2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stack: integrate, not replace. One open-source, one startup and one enterprise option per stage, plus our pick (our assessment). Source: v2-research.md section 2. Selection criteria: exists and verified, OSS-first, runs on OpenShift, plugs into OTel + gateway/SDK + Galileo.</a:t>
            </a:r>
          </a:p>
          <a:p>
            <a:r>
              <a:rPr lang="en-US"/>
              <a:t>Galileo / Splunk AO: https://docs.galileo.ai/release-notes ; https://agent-observability-docs.splunk.com/sdk-api/third-party-integrations/opentelemetry-and-openinference</a:t>
            </a:r>
          </a:p>
          <a:p>
            <a:r>
              <a:rPr lang="en-US"/>
              <a:t>Red Hat: Developer Hub https://developers.redhat.com/articles/2025/11/10/mcp-red-hat-developer-hub-chat-your-catalog ; SDG Hub https://github.com/Red-Hat-AI-Innovation-Team/sdg_hub/releases/tag/v0.9.1 ; EvalHub https://docs.redhat.com/en/documentation/red_hat_openshift_ai_self-managed/3.5/html/evaluating_ai_systems/evaluating-llms-with-evalhub_evaluate ; Training Hub https://ai-innovation.team/training_hub/ ; NeMo Guardrails https://developers.redhat.com/articles/2026/09/09/deploy-nemo-guardrails-on-red-hat-openshift-ai</a:t>
            </a:r>
          </a:p>
          <a:p>
            <a:r>
              <a:rPr lang="en-US"/>
              <a:t>Harness optimisation: GEPA https://arxiv.org/html/2507.19457 ; MLflow https://mlflow.org/docs/latest/genai/prompt-registry/optimize-prompts/ ; Meta-Harness https://arxiv.org/html/2603.28052 ; Databricks https://www.databricks.com/blog/building-state-art-enterprise-agents-90x-cheaper-automated-prompt-optimization ; Zenbase https://www.ycombinator.com/launches/Lmp-zenbase-continuous-prompt-optimization-from-dspy-core-contributors</a:t>
            </a:r>
          </a:p>
          <a:p>
            <a:r>
              <a:rPr lang="en-US"/>
              <a:t>Red teaming: garak https://github.com/NVIDIA/garak ; DeepTeam https://github.com/confident-ai/deepteam ; General Analysis https://generalanalysis.com/blog/general-analysis-raises-10m ; Cisco AI Defense https://blogs.cisco.com/ai/agent-validation-explorer-edition</a:t>
            </a:r>
          </a:p>
          <a:p>
            <a:r>
              <a:rPr lang="en-US"/>
              <a:t>Runtime control: Agent Control https://galileo.ai/blog/announcing-agent-control ; Golf https://www.ycombinator.com/companies/golf ; AWS AgentCore Policy https://aws.amazon.com/about-aws/whats-new/2026/03/policy-amazon-bedrock-agentcore-generally-available/</a:t>
            </a:r>
          </a:p>
          <a:p>
            <a:r>
              <a:rPr lang="en-US"/>
              <a:t>Governance: Kagenti https://github.com/kagenti/kagenti ; CycloneDX https://cyclonedx.org/capabilities/mlbom/ ; Credal https://www.ycombinator.com/companies/credal-ai ; watsonx.governance https://www.ibm.com/docs/en/watsonx/w-and-w/2.2.0?topic=ai-using-governed-agentic-catalog ; ServiceNow https://newsroom.servicenow.com/press-releases/details/2026/ServiceNow-expands-AI-Control-Tower-to-discover-observe-govern-secure-and-measure-AI-deployed-across-any-system-in-the-enterprise/default.aspx</a:t>
            </a:r>
          </a:p>
          <a:p>
            <a:r>
              <a:rPr lang="en-US"/>
              <a:t>Other startups: Laminar https://www.ycombinator.com/companies/laminar ; Confident AI https://www.ycombinator.com/companies/confident-ai ; Coval https://www.ycombinator.com/companies/coval ; Unsloth via Training Hub https://github.com/Red-Hat-AI-Innovation-Team/training_hub . Simulation enterprise: https://docs.cloud.google.com/gemini-enterprise-agent-platform/optimize/evaluation/evaluate-simulated</a:t>
            </a:r>
          </a:p>
          <a:p>
            <a:r>
              <a:rPr lang="en-US"/>
              <a:t>Caveats: YC batches for Zenbase and General Analysis unverified (v2-research.md section 7). Fine-tuning is optional; no managed fine-tuning commitments.</a:t>
            </a:r>
          </a:p>
          <a:p>
            <a:r>
              <a:rPr lang="en-US"/>
              <a:t>v3 edit: the matrix is now a native PowerPoint table. Observability and Scoring add Arize (exploring) beside Galileo. Arize Phoenix (open source) covers tracing and evals (LLM, code and human) on OpenTelemetry / OpenInference; Arize AX is the managed enterprise platform with online evals: https://arize.com/docs/phoenix ; https://arize.com/ . This is an exploration, not a pick change.</a:t>
            </a:r>
          </a:p>
          <a:p>
            <a:r>
              <a:rPr lang="en-US"/>
              <a:t>Harness opt.: startup Lucidic AI (exploring) trains harness and model together on simulations built from production traces, and integrates with LangChain, LangGraph, Langfuse, OpenAI and Anthropic: https://lucidic.ai . Open source adds AWS Strands Agents, an open-source agent SDK from AWS with OpenTelemetry traces (an agent framework to run harness candidates on, not an optimiser): https://aws.amazon.com/blogs/machine-learning/strands-agents-sdk-a-technical-deep-dive-into-agent-architectures-and-observability/ ; https://strandsagents.com/integrations/</a:t>
            </a:r>
          </a:p>
          <a:p>
            <a:r>
              <a:rPr lang="en-US"/>
              <a:t>v4 edit (g1): new Distribution row. Source: /workspace/continuous-eval/v3-mods-research.md §2.1, §3, §7, §8.1.</a:t>
            </a:r>
          </a:p>
          <a:p>
            <a:r>
              <a:rPr lang="en-US"/>
              <a:t>Open source: Agent Skills open standard (https://agentskills.io/) plus MCP. Enterprise: Claude Code plugin marketplaces and managed settings (https://code.claude.com/docs/en/plugins/org ; https://code.claude.com/docs/en/managed-settings). No credible startup option, so n/a.</a:t>
            </a:r>
          </a:p>
          <a:p>
            <a:r>
              <a:rPr lang="en-US"/>
              <a:t>Pick: Pillar Mods Hub, an internal marketplace on the Claude Code plugin format, with the portable core in Agent Skills + MCP + OTel (OUR ASSESSMENT, research §7).</a:t>
            </a:r>
          </a:p>
          <a:p>
            <a:r>
              <a:rPr lang="en-US"/>
              <a:t>Merge edit: baseline from the v4 slide "Strong base, three gaps" folded in here (left column). The three gaps are the workstreams of the gap register (slide 35) and of decision 02 (slide 36).</a:t>
            </a:r>
          </a:p>
          <a:p>
            <a:r>
              <a:rPr lang="en-US"/>
              <a:t>--- Merged from v4 pillar slide 2 (Where we are today) ---</a:t>
            </a:r>
          </a:p>
          <a:p>
            <a:r>
              <a:rPr lang="en-US"/>
              <a:t>Where we are today: an honest baseline.</a:t>
            </a:r>
          </a:p>
          <a:p>
            <a:r>
              <a:rPr lang="en-US"/>
              <a:t>In place: Galileo in production for observability and scoring for two years; governance onboarding and production scoring are fine. Harness optimisation is new. Simulation and fine-tuning are with Red Hat, open source and end to end required. Source: v2-research.md section 0 (user context is authoritative).</a:t>
            </a:r>
          </a:p>
          <a:p>
            <a:r>
              <a:rPr lang="en-US"/>
              <a:t>Gaps: red teaming unclear; runtime policy and agent control being explored; governance for agents unexplored (v2-research.md section 0). Needs per gap: v2-research.md sections 3.1-3.3. OWASP Top 10 for Agentic Applications: https://genai.owasp.org/2025/12/09/owasp-top-10-for-agentic-applications-the-benchmark-for-agentic-security-in-the-age-of-autonomous-ai/</a:t>
            </a:r>
          </a:p>
          <a:p>
            <a:r>
              <a:rPr lang="en-US"/>
              <a:t>Galileo rename to Splunk Agent Observability on 7 Aug 2026; OTel/OpenInference ingest; Cisco deal completed May 2026: https://docs.galileo.ai/release-notes ; https://agent-observability-docs.splunk.com/sdk-api/third-party-integrations/opentelemetry-and-openinference ; https://blogs.cisco.com/news/cisco-announces-the-intent-to-acquire-galileo</a:t>
            </a:r>
          </a:p>
          <a:p>
            <a:r>
              <a:rPr lang="en-US"/>
              <a:t>Open item: confirm contract, SKU and roadmap continuity with the account team (v2-research.md section 7).</a:t>
            </a:r>
          </a:p>
          <a:p>
            <a:r>
              <a:rPr lang="en-US"/>
              <a:t>v3 edit, Arize (exploring) beside Galileo for observability and scoring: an exploration, not a deployment. Arize AI offers Arize Phoenix, an open-source AI observability and evaluation tool built on OpenTelemetry and OpenInference (tracing, LLM-based, code-based and human evals, prompt management, datasets and experiments), and Arize AX, a managed enterprise platform with online evals: https://arize.com/docs/phoenix ; https://arize.com/ . OTel/OpenInference ingest matches what Galileo / Splunk AO already accepts (see the Splunk link above), so the comparison should cover trace portability and eval parity.</a:t>
            </a:r>
          </a:p>
          <a:p>
            <a:r>
              <a:rPr lang="en-US"/>
              <a:t>v3 edit, Harness opt.: Lucidic AI is being explored. Lucidic says it optimises the agents you already have (system prompts, memory, context, tools, guardrails, policies, and the model) through simulations on production traces, with evolutionary methods, RL and Bayesian optimisation; it works with LangChain, LangGraph, Langfuse, OpenAI and Anthropic, and does not build agents: https://lucidic.ai</a:t>
            </a:r>
          </a:p>
          <a:p>
            <a:r>
              <a:rPr lang="en-US"/>
              <a:t>v3 edit, AWS Strands Agents as the open-source suggestion: an open-source, model-driven agent SDK from AWS that emits OpenTelemetry traces of agent trajectories (model and tool calls): https://aws.amazon.com/blogs/machine-learning/strands-agents-sdk-a-technical-deep-dive-into-agent-architectures-and-observability/ . Its integrations list includes Langfuse and Braintrust tracing: https://strandsagents.com/integrations/ . Strands is a suggestion only; it is not in use or under evaluation today.</a:t>
            </a:r>
          </a:p>
          <a:p>
            <a:r>
              <a:rPr lang="en-US"/>
              <a:t>v6: the table footnote cites [41] = the per-pick source links listed above, reproduced on the References slide.</a:t>
            </a:r>
          </a:p>
          <a:p>
            <a:r>
              <a:rPr lang="en-US"/>
              <a:t>v14: added HALO, Strands simulators, LangWatch Scenario, TRL / verl / OpenRLHF and a Memory row (Mem0 OSS, Apache-2.0; the managed platform has optimisations not in OSS). Details and licences on slide 23 and References 8 [137]–[165]. Mem0 startup batch not checked.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Agent governance: from unexplored to registry + tiers + evidence. Source: v2-research.md section 3.3 (minimum viable agent governance is our proposal).</a:t>
            </a:r>
          </a:p>
          <a:p>
            <a:r>
              <a:rPr lang="en-US"/>
              <a:t>Why model governance is not enough: agents add identity, permissions, autonomy, delegation, memory and inter-agent calls. JPMorgan's FSB response says validation must go beyond the model: https://www.fsb.org/uploads/JPMorgan-Chase.pdf</a:t>
            </a:r>
          </a:p>
          <a:p>
            <a:r>
              <a:rPr lang="en-US"/>
              <a:t>Registry fields, risk tiers (impact x autonomy), evidence bundle, lifecycle and audit: v2-research.md section 3.3. The 3x3 tier grid is illustrative. CycloneDX AI/ML-BOM for inventory export: https://cyclonedx.org/capabilities/mlbom/</a:t>
            </a:r>
          </a:p>
          <a:p>
            <a:r>
              <a:rPr lang="en-US"/>
              <a:t>GRC sync: IBM watsonx.governance Governed Agentic Catalog https://www.ibm.com/docs/en/watsonx/w-and-w/2.2.0?topic=ai-using-governed-agentic-catalog ; ServiceNow AI Control Tower https://newsroom.servicenow.com/press-releases/details/2026/ServiceNow-expands-AI-Control-Tower-to-discover-observe-govern-secure-and-measure-AI-deployed-across-any-system-in-the-enterprise/default.aspx . Use whichever the GRC team runs; no new purchase.</a:t>
            </a:r>
          </a:p>
          <a:p>
            <a:r>
              <a:rPr lang="en-US"/>
              <a:t>Frameworks: NIST AI RMF / AI 600-1 https://nvlpubs.nist.gov/nistpubs/ai/NIST.AI.600-1.pdf ; NCCoE concept paper https://csrc.nist.gov/pubs/other/2026/02/05/accelerating-the-adoption-of-software-and-ai-agent/ipd ; ISO/IEC 42001 https://www.iso.org/insights/iso-42001-explained ; EU AI Act after Regulation (EU) 2026/1744: Annex III high-risk from 2 Dec 2027, Annex I from 2 Aug 2028 https://eur-lex.europa.eu/eli/reg/2026/1744/oj/eng (confirm dates with Legal) ; OWASP Agentic Top 10 https://genai.owasp.org/2025/12/09/owasp-top-10-for-agentic-applications-the-benchmark-for-agentic-security-in-the-age-of-autonomous-ai/ ; Singapore IMDA agentic framework https://www.imda.gov.sg/assets/63438074-73f6-4dcc-a281-030f42642cf4.pdf</a:t>
            </a:r>
          </a:p>
          <a:p>
            <a:r>
              <a:rPr lang="en-US"/>
              <a:t>v3 edit: the 3x3 risk-tier heatmap is now a native PowerPoint table (labels, column heads and cells), with the same fills, outlines and text. The thin gaps are 0.04in spacer rows and columns, and the cells now have square corners. No content change; the sources above are unchanged.</a:t>
            </a:r>
          </a:p>
          <a:p>
            <a:r>
              <a:rPr lang="en-US"/>
              <a:t>v4 edit (g2): memory scope added to the registry record; new cards for memory and context hygiene and the policy-drafting agent. Source: /workspace/continuous-eval/v3-mods-research.md §1.2, §1.3, §6.1 (memory-hygiene mod), §7.2 (policy-author skill).</a:t>
            </a:r>
          </a:p>
          <a:p>
            <a:r>
              <a:rPr lang="en-US"/>
              <a:t>Memory and context hygiene: scope memory by user / session / app, purge stale or poisoned entries, redact PII before persisting. Need is VERIFIED via OWASP ASI06 memory poisoning (OWASP Top 10 for Agentic Applications, v2 ref 67: https://genai.owasp.org/). The control design is OUR ASSESSMENT.</a:t>
            </a:r>
          </a:p>
          <a:p>
            <a:r>
              <a:rPr lang="en-US"/>
              <a:t>Policy-drafting agent: requirement docs (DOCX/PDF/XLSX) + natural language → validated YAML / Rego + golden scenarios, with diffs and tests. OUR ASSESSMENT, from the user PDF; ships as the policy-author skill on the Pillar Mods Hub.</a:t>
            </a:r>
          </a:p>
          <a:p>
            <a:r>
              <a:rPr lang="en-US"/>
              <a:t>Real analogues for memory consolidation, if asked: Anthropic Managed Agents Dreams (research preview): https://platform.claude.com/docs/en/managed-agents/dreams</a:t>
            </a:r>
          </a:p>
          <a:p>
            <a:r>
              <a:rPr lang="en-US"/>
              <a:t>Merge edit: risk tiers now use Gartner autonomy levels L1 Observe, L2 Advise, L3 Act with approval, L4 Act autonomously [7]; autonomy level is a live registry field that can be promoted or demoted, plus retire (gap register G2, G13). Pattern-to-tier mapping and "highest tier wins" moved here from the cut five-pattern matrix (OUR ASSESSMENT).</a:t>
            </a:r>
          </a:p>
          <a:p>
            <a:r>
              <a:rPr lang="en-US"/>
              <a:t>Memory &amp; context hygiene and the policy-drafting agent cards moved to the gap register and to the P5 slide (memory-scope policy).</a:t>
            </a:r>
          </a:p>
          <a:p>
            <a:r>
              <a:rPr lang="en-US"/>
              <a:t>[7] https://www.gartner.com/en/newsroom/press-releases/2026-05-26-gartner-says-applying-uniform-governance-across-ai-agents-will-lead-to-enterprise-ai-agent-failure</a:t>
            </a:r>
          </a:p>
          <a:p>
            <a:r>
              <a:rPr lang="en-US"/>
              <a:t>--- Merged from agent-patterns slide 3 (five patterns matrix) ---</a:t>
            </a:r>
          </a:p>
          <a:p>
            <a:r>
              <a:rPr lang="en-US"/>
              <a:t>Five patterns: one loop, five profiles. P1 multi-agent (orchestrator + subagents, A2A), P2 user-facing conversational / voice, P3 business-facing back-office workflow, P4 critical real-time, P5 always-on autonomous background incl. coding agents.</a:t>
            </a:r>
          </a:p>
          <a:p>
            <a:r>
              <a:rPr lang="en-US"/>
              <a:t>Table compresses the research brief section 3.2 matrix to keywords. Governance tier row is highlighted: tiers follow Gartner autonomy levels L1 Observe, L2 Advise, L3 Act with approval, L4 Act autonomously [7]. A composite takes the highest tier of its parts (OUR ASSESSMENT, section 3.1).</a:t>
            </a:r>
          </a:p>
          <a:p>
            <a:r>
              <a:rPr lang="en-US"/>
              <a:t>Caveats: latency targets are UNVERIFIED; voice &lt; 800 ms speech-end to first audio and p95 &lt; 1.5 s come from a SECONDARY practitioner source [34]. P4 is not a vendor-guide pattern; derived from Gartner L4 controls [7] and Forrester AEGIS circuit breakers [17] (OUR ASSESSMENT).</a:t>
            </a:r>
          </a:p>
          <a:p>
            <a:r>
              <a:rPr lang="en-US"/>
              <a:t>Detail: MAST categories FC1 design, FC2 inter-agent, FC3 verification [21]; multi-agent ~15x chat tokens [22]; A2A v1.0 task states and signed Agent Cards [28]; W3C trace context in MCP _meta [29]; Microsoft v2 inter-agent trust escalation, session-context contamination, XPIA, HITL by reversibility [20]; OWASP ASI01-ASI10 [19]; tau3-bench voice [36]; EU AI Act Art. 50 disclosure from 2 Aug 2026 (v2 ref 66).</a:t>
            </a:r>
          </a:p>
          <a:p>
            <a:r>
              <a:rPr lang="en-US"/>
              <a:t>Source: /workspace/continuous-eval/v4-agent-patterns-research.md sections 3.1-3.3 and 8.</a:t>
            </a:r>
          </a:p>
          <a:p>
            <a:r>
              <a:rPr lang="en-US"/>
              <a:t>[7] https://www.gartner.com/en/newsroom/press-releases/2026-05-26-gartner-says-applying-uniform-governance-across-ai-agents-will-lead-to-enterprise-ai-agent-failure</a:t>
            </a:r>
          </a:p>
          <a:p>
            <a:r>
              <a:rPr lang="en-US"/>
              <a:t>[17] https://www.forrester.com/blogs/introducing-aegis-the-guardrails-cisos-need-for-the-agentic-enterprise/</a:t>
            </a:r>
          </a:p>
          <a:p>
            <a:r>
              <a:rPr lang="en-US"/>
              <a:t>[19] https://genai.owasp.org/2025/12/09/owasp-top-10-for-agentic-applications-the-benchmark-for-agentic-security-in-the-age-of-autonomous-ai/</a:t>
            </a:r>
          </a:p>
          <a:p>
            <a:r>
              <a:rPr lang="en-US"/>
              <a:t>[20] https://www.microsoft.com/en-us/security/blog/2026/06/04/updating-taxonomy-failure-modes-agentic-ai-systems-year-red-teaming-taught-us/</a:t>
            </a:r>
          </a:p>
          <a:p>
            <a:r>
              <a:rPr lang="en-US"/>
              <a:t>[21] https://arxiv.org/abs/2503.13657 ; [22] https://www.anthropic.com/engineering/multi-agent-research-system</a:t>
            </a:r>
          </a:p>
          <a:p>
            <a:r>
              <a:rPr lang="en-US"/>
              <a:t>[28] https://a2a-protocol.org/v1.0.0/specification/ ; [29] https://modelcontextprotocol.io/specification/2026-07-28</a:t>
            </a:r>
          </a:p>
          <a:p>
            <a:r>
              <a:rPr lang="en-US"/>
              <a:t>[34] https://builder.aws.com/content/3JDFAfXBiuwPP5MPzgf4RUWSAIp/the-800ms-rule-budgeting-latency-for-a-real-time-voice-agent-on-aws (SECONDARY)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Harness optimisation: the new lever. Optimise the harness (prompt, tool descriptions, context/memory policy, model route, params) before touching weights. Source: v2-research.md section 2 (stage 5) and section 1.1.</a:t>
            </a:r>
          </a:p>
          <a:p>
            <a:r>
              <a:rPr lang="en-US"/>
              <a:t>Inner loop: GEPA via MLflow optimize_prompts (OpenShift AI EvalHub already tracks in MLflow) or the Red Hat Training Hub GEPA entry point; objective = Galileo metrics on simulation suites; candidates seeded from Galileo Signals. Meta-Harness pilot on one agent where harness code is the bottleneck.</a:t>
            </a:r>
          </a:p>
          <a:p>
            <a:r>
              <a:rPr lang="en-US"/>
              <a:t>GEPA evidence: across six tasks GEPA outperforms GRPO by 6% on average and up to 20% with up to 35x fewer rollouts (Agrawal et al., ICLR 2026): https://arxiv.org/abs/2507.19457 ; DSPy GEPA https://dspy.ai/api/optimizers/GEPA/overview/ ; MLflow https://mlflow.org/docs/latest/genai/prompt-registry/optimize-prompts/ ; Meta-Harness https://arxiv.org/html/2603.28052 ; Training Hub https://ai-innovation.team/training_hub/</a:t>
            </a:r>
          </a:p>
          <a:p>
            <a:r>
              <a:rPr lang="en-US"/>
              <a:t>Gate logic (our assessment): one evaluator definition used as monitor, objective and gate; keep held-out gate sets separate from optimisation sets to avoid grader/reward hacking: https://developers.openai.com/api/docs/guides/graders</a:t>
            </a:r>
          </a:p>
          <a:p>
            <a:r>
              <a:rPr lang="en-US"/>
              <a:t>Fine-tuning: only when harness optimisation has plateaued and a cost/latency case exists; output re-enters at simulation and passes the same gates (v2-research.md section 1.1, stage 9).</a:t>
            </a:r>
          </a:p>
          <a:p>
            <a:r>
              <a:rPr lang="en-US"/>
              <a:t>Pilot metric (one agent, Galileo score uplift on held-out scenarios) is our proposal.</a:t>
            </a:r>
          </a:p>
          <a:p>
            <a:r>
              <a:rPr lang="en-US"/>
              <a:t>v3 edit: the objective and online scoring read Galileo (Arize exploring). Arize Phoenix and Arize AX score traces and spans with LLM, code-based or human evaluators, and AX adds online evals: https://arize.com/docs/phoenix ; https://arize.com/</a:t>
            </a:r>
          </a:p>
          <a:p>
            <a:r>
              <a:rPr lang="en-US"/>
              <a:t>The optimiser card names Lucidic AI as a startup being explored. Lucidic searches harness configurations (prompts, tool orderings, context strategies) against a custom reward with evolutionary methods, RL and Bayesian optimisation: https://lucidic.ai . The candidate harness card names AWS Strands Agents as the OSS agent framework option (open-source, model-driven, with OpenTelemetry trajectory traces): https://aws.amazon.com/blogs/machine-learning/strands-agents-sdk-a-technical-deep-dive-into-agent-architectures-and-observability/ . It is a suggestion only.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Onboarding + 90-day plan. Onboarding steps and exit criteria: v2-research.md section 5.1 (target &lt;= 2 weeks for a low tier, proposed). Steps 0 Intake and 8 Operate in the research table are folded into Intake and the ongoing operate/recertify loop.</a:t>
            </a:r>
          </a:p>
          <a:p>
            <a:r>
              <a:rPr lang="en-US"/>
              <a:t>90-day milestones follow v2-research.md section 6 (slide 10 outline): 2 lighthouse agents fully through the pillar, red-team pipeline live, Agent Control + MCP gateway on 1 agent, registry v1, KPIs. The 30/60/90 split is our proposal.</a:t>
            </a:r>
          </a:p>
          <a:p>
            <a:r>
              <a:rPr lang="en-US"/>
              <a:t>Components behind the plan (BUILD / REUSE / OSS / PARTNER): v2-research.md section 5.2. Developer Hub templates: https://developers.redhat.com/articles/2024/11/12/template-ai-software-red-hat-developer-hub ; EvalHub: https://docs.redhat.com/en/documentation/red_hat_openshift_ai_self-managed/3.5/html/evaluating_ai_systems/evaluating-llms-with-evalhub_evaluate</a:t>
            </a:r>
          </a:p>
          <a:p>
            <a:r>
              <a:rPr lang="en-US"/>
              <a:t>Fine-tuning: optional, last; Red Hat Training Hub only after a harness plateau with a cost/latency case: https://ai-innovation.team/training_hub/</a:t>
            </a:r>
          </a:p>
          <a:p>
            <a:r>
              <a:rPr lang="en-US"/>
              <a:t>Open items before external use: Red Hat GA vs tech-preview status per component; Galileo / Splunk AO SKU continuity; EU AI Act dates with Legal (v2-research.md section 7).</a:t>
            </a:r>
          </a:p>
          <a:p>
            <a:r>
              <a:rPr lang="en-US"/>
              <a:t>v3 edit: the step 3 traces and the Days 0-30 lighthouse row add Arize (exploring) beside Galileo. Arize Phoenix is open-source AI observability and evaluation on OpenTelemetry / OpenInference; Arize AX is the managed enterprise platform: https://arize.com/docs/phoenix ; https://arize.com/ . Galileo stays the system of record.</a:t>
            </a:r>
          </a:p>
          <a:p>
            <a:r>
              <a:rPr lang="en-US"/>
              <a:t>v4 edit (g4): Days 31-60 Platform adds "Mods Hub v1 with pillar-governance + llmops-tracing on lighthouse agents"; KPI adds "% agents with governance mods loaded" (measured from the Claude Code plugin_loaded OTel event, https://code.claude.com/docs/en/monitoring-usage). Source: /workspace/continuous-eval/v3-mods-research.md §7.4, §8.1. Milestones are OUR ASSESSMENT; Mods are new (1 Oct 2026), so pilot on lighthouse agents only (§9.4).</a:t>
            </a:r>
          </a:p>
          <a:p>
            <a:r>
              <a:rPr lang="en-US"/>
              <a:t>Merge edit: the onboarding strip duplicated loop steps 1–6 (slide 3) and is replaced by the three leadership decisions from the v4 opening slide (cut). Decision 02 now names the top-3 gaps of the register (G3 A2A policy point; G2 + G13 autonomy level + retire; G4 MAST in the gate); G1 inventory and G9 vendor evidence contract are placed in the 90 days (OUR PROPOSAL).</a:t>
            </a:r>
          </a:p>
          <a:p>
            <a:r>
              <a:rPr lang="en-US"/>
              <a:t>The separate sources-and-caveats slide was cut; its caveats and full reference list follow below. Inline UNVERIFIED / SECONDARY labels stay on the slides.</a:t>
            </a:r>
          </a:p>
          <a:p>
            <a:r>
              <a:rPr lang="en-US"/>
              <a:t>--- Merged from v4 pillar slide 1 (the ask) ---</a:t>
            </a:r>
          </a:p>
          <a:p>
            <a:r>
              <a:rPr lang="en-US"/>
              <a:t>The ask. Three decisions, one pillar.</a:t>
            </a:r>
          </a:p>
          <a:p>
            <a:r>
              <a:rPr lang="en-US"/>
              <a:t>Pillar definition: every agent enters through one onboarding contract; it is then observed, scored, simulated, optimised, attacked, controlled at runtime and governed with the same IDs, evaluators and evidence trail. Fine-tuning is an optional exit ramp. Source: v2-research.md section 1.</a:t>
            </a:r>
          </a:p>
          <a:p>
            <a:r>
              <a:rPr lang="en-US"/>
              <a:t>Asks 1-3 follow v2-research.md section 6 (slide 1 outline). Ownership split for red teaming (security owns libraries and thresholds, platform owns the pipeline) is our proposal, v2-research.md section 3.1.</a:t>
            </a:r>
          </a:p>
          <a:p>
            <a:r>
              <a:rPr lang="en-US"/>
              <a:t>Manifest fields and join keys (agent_id, agent_version, use_case_id, tenant, risk_tier, trace_id): v2-research.md section 1.1. Backstage / Red Hat Developer Hub catalog: https://backstage.io/ ; https://developers.redhat.com/articles/2024/11/12/template-ai-software-red-hat-developer-hub</a:t>
            </a:r>
          </a:p>
          <a:p>
            <a:r>
              <a:rPr lang="en-US"/>
              <a:t>Principles in the pills are our assessment (v2-research.md sections 0 and 2).</a:t>
            </a:r>
          </a:p>
          <a:p>
            <a:r>
              <a:rPr lang="en-US"/>
              <a:t>--- Merged from agent-patterns slide 11 (sources and caveats) ---</a:t>
            </a:r>
          </a:p>
          <a:p>
            <a:r>
              <a:rPr lang="en-US"/>
              <a:t>Sources and caveats. Evidence labels: VERIFIED (checked against a primary source on 14 Oct 2026), VERIFIED (title/abstract) for paywalled analyst documents, VENDOR CLAIM, SECONDARY, UNVERIFIED, OUR ASSESSMENT.</a:t>
            </a:r>
          </a:p>
          <a:p>
            <a:r>
              <a:rPr lang="en-US"/>
              <a:t>Other open items (research section 6): vendor BYO-model through the Kairos gateway not checked; Forrester Agentic Control Plane Landscape Q2 2026 title only; Who&amp;When failure attribution cited via MAST; agentgateway A2A support and Galileo A2A tracing carried from v2, re-confirm; ServiceNow A2A v1.0 update is forward-looking; lighthouse agents per pattern and whether we already have P4 agents with actuation rights are UNVERIFIED and need confirmation with Varun.</a:t>
            </a:r>
          </a:p>
          <a:p>
            <a:r>
              <a:rPr lang="en-US"/>
              <a:t>References: [1] https://www.gartner.com/en/articles/hype-cycle-for-artificial-intelligence ; [2] https://www.gartner.com/en/articles/hype-cycle-for-agentic-ai ; [3] https://www.gartner.com/en/newsroom/press-releases/2025-06-25-gartner-predicts-over-40-percent-of-agentic-ai-projects-will-be-canceled-by-end-of-2027 ; [4] https://www.gartner.com/en/newsroom/press-releases/2025-06-11-gartner-predicts-that-guardian-agents-will-capture-10-15-percent-of-the-agentic-ai-market-by-2030 ; [5] https://www.gartner.com/en/documents/7509053 and https://thehackernews.com/2026/03/5-learnings-from-first-ever-gartner.html (SECONDARY)</a:t>
            </a:r>
          </a:p>
          <a:p>
            <a:r>
              <a:rPr lang="en-US"/>
              <a:t>[6] https://www.gartner.com/en/newsroom/press-releases/2026-04-28-gartner-identifies-six-steps-to-manage-artificial-intelligence-agent-sprawl ; [7] https://www.gartner.com/en/newsroom/press-releases/2026-05-26-gartner-says-applying-uniform-governance-across-ai-agents-will-lead-to-enterprise-ai-agent-failure ; [8] https://www.gartner.com/en/newsroom/press-releases/2026-03-11-gartner-announces-top-predictions-for-data-and-analytics-in-2026 ; [9] https://www.gartner.com/en/newsroom/press-releases/2026-02-17-gartner-global-ai-regulations-fuel-billion-dollar-market-for-ai-governance-platforms ; [10] https://www.gartner.com/en/articles/ai-governance-trism</a:t>
            </a:r>
          </a:p>
          <a:p>
            <a:r>
              <a:rPr lang="en-US"/>
              <a:t>[11] https://www.gartner.com/en/newsroom/press-releases/2025-08-26-gartner-predicts-40-percent-of-enterprise-apps-will-feature-task-specific-ai-agents-by-2026-up-from-less-than-5-percent-in-2025 ; [11b] https://www.gartner.com/en/newsroom/press-releases/2026-01-15-gartner-predicts-60-percent-of-brands-will-use-agentic-ai-to-deliver-streamlined-one-to-one-interactions-by-2028 ; [12] https://www.gartner.com/en/newsroom/press-releases/2026-09-29-gartner-predicts-70-percent-of-enterprises-will-abandon-agentic-ai-built-by-vendor-forward-deployed-engineering-by-2028 ; [13] https://www.gartner.com/en/documents/8012669 ; [14] https://www.gartner.com/en/newsroom/press-releases/2025-10-20-gartner-identifies-the-top-strategic-technology-trends-for-2026</a:t>
            </a:r>
          </a:p>
          <a:p>
            <a:r>
              <a:rPr lang="en-US"/>
              <a:t>[15] https://www.forrester.com/blogs/announcing-our-evaluation-of-the-agent-control-plane-market/ ; [16] https://www.forrester.com/report/the-agentic-control-plane-solutions-landscape-q2-2026/RES197170 and https://www.forrester.com/blogs/agent-control-planes-still-need-a-robust-standards-stack/ ; [17] https://www.forrester.com/blogs/introducing-aegis-the-guardrails-cisos-need-for-the-agentic-enterprise/ ; [19] https://genai.owasp.org/2025/12/09/owasp-top-10-for-agentic-applications-the-benchmark-for-agentic-security-in-the-age-of-autonomous-ai/</a:t>
            </a:r>
          </a:p>
          <a:p>
            <a:r>
              <a:rPr lang="en-US"/>
              <a:t>[20] https://www.microsoft.com/en-us/security/blog/2026/06/04/updating-taxonomy-failure-modes-agentic-ai-systems-year-red-teaming-taught-us/ ; [21] https://arxiv.org/abs/2503.13657 ; [22] https://www.anthropic.com/engineering/multi-agent-research-system ; [23] https://www.anthropic.com/research/building-effective-agents ; [24] https://cdn.openai.com/business-guides-and-resources/a-practical-guide-to-building-agents.pdf ; [25] https://docs.cloud.google.com/architecture/choose-design-pattern-agentic-ai-system ; [26] https://learn.microsoft.com/en-us/azure/architecture/ai-ml/guide/ai-agent-design-patterns ; [27] https://docs.aws.amazon.com/prescriptive-guidance/latest/agentic-ai-patterns/introduction.html</a:t>
            </a:r>
          </a:p>
          <a:p>
            <a:r>
              <a:rPr lang="en-US"/>
              <a:t>[28] https://a2a-protocol.org/v1.0.0/specification/ ; [29] https://modelcontextprotocol.io/specification/2026-07-28 ; [30] OpenTelemetry GenAI agent spans (v2 ref 24) ; [31] https://learn.microsoft.com/en-us/microsoft-agent-365/developer/direct-open-telemetry-integration ; [32] https://www.salesforce.com/blog/how-to-choose-integration-pattern-for-agentforce/ and https://developer.salesforce.com/docs/ai/agentforce/guide/otel-api.html ; [33] https://www.servicenow.com/community/servicenow-otto-articles/action-fabric-mcp-server-mcp-client-and-a2a-explained/ta-p/3557794 ; [34] https://builder.aws.com/content/3JDFAfXBiuwPP5MPzgf4RUWSAIp/the-800ms-rule-budgeting-latency-for-a-real-time-voice-agent-on-aws ; [35] Galileo / Agent Control (v2 refs 1, 4, 5) ; [36] Sierra tau3-bench (v3 ref 24).</a:t>
            </a:r>
          </a:p>
          <a:p>
            <a:r>
              <a:rPr lang="en-US"/>
              <a:t>Source: /workspace/continuous-eval/v4-agent-patterns-research.md sections 0, 6 and 8.</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B (v4, g4): Pillar Mods Hub, the democratisation mechanism. Source: /workspace/continuous-eval/v3-mods-research.md §4, §7.1, §7.2, §7.3, §8.1. The hub design, names (vz-core, vz-hub) and trust tiers are OUR ASSESSMENT.</a:t>
            </a:r>
          </a:p>
          <a:p>
            <a:r>
              <a:rPr lang="en-US"/>
              <a:t>Flow: author (template + uploader skill) → publishing CI (claude plugin validate, claude plugin eval with baseline Δ, SAST / secret scan, signing) → hub registry → marketplaces (vz-core admin-only directory; vz-hub stable / early on different refs) → policy push via managed settings (MDM or Claude apps gateway group policy) → sessions → Kairos gateway / MCP gateway / OTel → Galileo / Splunk AO (Arize exploring) → back to the registry; SessionEnd gap classifier → issues → new skills.</a:t>
            </a:r>
          </a:p>
          <a:p>
            <a:r>
              <a:rPr lang="en-US"/>
              <a:t>VERIFIED mechanics: marketplaces and org controls https://code.claude.com/docs/en/plugins/org ; https://code.claude.com/docs/en/plugins/host-marketplace ; plugin evals (v2.1.269) https://code.claude.com/docs/en/plugin-evals ; managed settings https://code.claude.com/docs/en/managed-settings ; apps gateway policies https://code.claude.com/docs/en/claude-apps-gateway-config ; OTel https://code.claude.com/docs/en/monitoring-usage</a:t>
            </a:r>
          </a:p>
          <a:p>
            <a:r>
              <a:rPr lang="en-US"/>
              <a:t>Catalogue building blocks (VERIFIED): Arize coding-harness-tracing https://github.com/Arize-ai/coding-harness-tracing ; GEPA gskill https://gepa-ai.github.io/gepa/guides/gskill/ ; Strands agent-sop https://github.com/strands-agents/agent-sop ; SDG Hub v0.9.1 https://github.com/Red-Hat-AI-Innovation-Team/sdg_hub/releases/tag/v0.9.1 ; τ³-bench https://sierra.ai/blog/bench-advancing-agent-benchmarking-to-knowledge-and-voice ; Training Hub https://ai-innovation.team/training_hub/ ; Lucidic (exploring, vendor claims) https://lucidic.ai/ . Policy author is OUR ASSESSMENT (from the user PDF).</a:t>
            </a:r>
          </a:p>
          <a:p>
            <a:r>
              <a:rPr lang="en-US"/>
              <a:t>Proof strip: Intercom (SECONDARY) https://ideas.fin.ai/p/how-we-use-claude-code-today-at-intercom ; KDDI (VERIFIED) https://tech-note.kddi.com/n/nd3ff2fb0e55c?hl=en ; Uber (SECONDARY) https://aaif.io/blog/how-uber-runs-60000-ai-agent-tasks-per-week-with-mcp ; Stripe (VERIFIED) https://claude.com/customers/stripe</a:t>
            </a:r>
          </a:p>
          <a:p>
            <a:r>
              <a:rPr lang="en-US"/>
              <a:t>Open item: verify the Kairos gateway forwards the headers Claude Code needs (https://code.claude.com/docs/en/llm-gateway-protocol). Hub mods installed from git count as user-tier, so the core governance bundle must live in the admin-only directory marketplace (research §6.3).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P2 user-facing conversational / voice: guard inline, judge async. Columns are the three views: first-party, third-party, gap. Flow across the top is the first-party voice path.</a:t>
            </a:r>
          </a:p>
          <a:p>
            <a:r>
              <a:rPr lang="en-US"/>
              <a:t>(a) Channel (chat / IVR / SIP) -&gt; agent on Kairos SDK -&gt; Kairos gateway with inline Tier-1 (regex, schema, PII) + Tier-2 (NeMo / Luna) checks inside the latency budget; Tier-3 LLM judges run async on the trace stream and steer the next turn. Simulation gate: persona + voice sims (tau3-style [36]) scored in Galileo session metrics. Human-handoff tool; disclosure (EU AI Act Art. 50 from 2 Aug 2026, v2 ref 66).</a:t>
            </a:r>
          </a:p>
          <a:p>
            <a:r>
              <a:rPr lang="en-US"/>
              <a:t>(b) Contact-centre or CRM-embedded agents (Agentforce Service agents, Copilot Studio agents). We control knowledge and tools exposed via the MCP gateway, customer-data scopes, black-box sims through the channel, trace ingestion (Agentforce OTel session traces [32]; Copilot Studio / Agent 365 OTel [31]). We cannot insert inline guardrails or change prompts unless the vendor routes model calls through the Kairos gateway (UNVERIFIED per vendor). Salesforce details came from search snippets (fetch returned 403): re-check before external use.</a:t>
            </a:r>
          </a:p>
          <a:p>
            <a:r>
              <a:rPr lang="en-US"/>
              <a:t>(c) Missing in our stack: voice simulation and voice red-team harness; latency-SLO-aware guardrail tier (targets UNVERIFIED); cross-vendor session scoring. Missing in industry: consistent quality metrics across vendor bots. Why (Gartner): 60% of brands will use agentic AI for one-to-one interactions by 2028 [11b]; AI observability "consequential" but "fragmented" [1].</a:t>
            </a:r>
          </a:p>
          <a:p>
            <a:r>
              <a:rPr lang="en-US"/>
              <a:t>Voice &lt; 800 ms speech-end to first audio, p95 &lt; 1.5 s: SECONDARY [34]. Main failure mode: confident, polished output that misleads the human (OWASP ASI09) [19].</a:t>
            </a:r>
          </a:p>
          <a:p>
            <a:r>
              <a:rPr lang="en-US"/>
              <a:t>Source: /workspace/continuous-eval/v4-agent-patterns-research.md sections 3.3, 4.2 P2, 4.3 G11, 6.</a:t>
            </a:r>
          </a:p>
          <a:p>
            <a:r>
              <a:rPr lang="en-US"/>
              <a:t>[1] https://www.gartner.com/en/articles/hype-cycle-for-artificial-intelligence</a:t>
            </a:r>
          </a:p>
          <a:p>
            <a:r>
              <a:rPr lang="en-US"/>
              <a:t>[11b] https://www.gartner.com/en/newsroom/press-releases/2026-01-15-gartner-predicts-60-percent-of-brands-will-use-agentic-ai-to-deliver-streamlined-one-to-one-interactions-by-2028</a:t>
            </a:r>
          </a:p>
          <a:p>
            <a:r>
              <a:rPr lang="en-US"/>
              <a:t>[31] https://learn.microsoft.com/en-us/microsoft-agent-365/developer/direct-open-telemetry-integration</a:t>
            </a:r>
          </a:p>
          <a:p>
            <a:r>
              <a:rPr lang="en-US"/>
              <a:t>[32] https://developer.salesforce.com/docs/ai/agentforce/guide/otel-api.html</a:t>
            </a:r>
          </a:p>
          <a:p>
            <a:r>
              <a:rPr lang="en-US"/>
              <a:t>[34] https://builder.aws.com/content/3JDFAfXBiuwPP5MPzgf4RUWSAIp/the-800ms-rule-budgeting-latency-for-a-real-time-voice-agent-on-aws (SECONDARY)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now: control before capability. Opening slide for the agent-patterns deck.</a:t>
            </a:r>
          </a:p>
          <a:p>
            <a:r>
              <a:rPr lang="en-US"/>
              <a:t>Talk track: adoption is still early (17% deployed) but expected to jump (&gt;60% within two years). Gartner expects heavy attrition (&gt;40% of agentic projects cancelled by end-2027) and demotions (40% by 2027) where governance is uniform rather than proportional. So the pillar has to be re-cut around the agent.</a:t>
            </a:r>
          </a:p>
          <a:p>
            <a:r>
              <a:rPr lang="en-US"/>
              <a:t>Chips: governance and identity are named "prerequisite investments"; AI observability "one of the most consequential developments"; recommendations are intelligence tiering, dynamic session budgets with circuit breakers, cross-vendor cost controls [1].</a:t>
            </a:r>
          </a:p>
          <a:p>
            <a:r>
              <a:rPr lang="en-US"/>
              <a:t>Sources (research brief v4-agent-patterns-research.md, sections 0, 1 and 8; all VERIFIED 14 Oct 2026):</a:t>
            </a:r>
          </a:p>
          <a:p>
            <a:r>
              <a:rPr lang="en-US"/>
              <a:t>[1] Gartner, Hype Cycle for AI 2026 puts control ahead of capability (1 Oct 2026): https://www.gartner.com/en/articles/hype-cycle-for-artificial-intelligence</a:t>
            </a:r>
          </a:p>
          <a:p>
            <a:r>
              <a:rPr lang="en-US"/>
              <a:t>[2] Gartner, What the 2026 Hype Cycle for Agentic AI reveals (15 Apr 2026): https://www.gartner.com/en/articles/hype-cycle-for-agentic-ai</a:t>
            </a:r>
          </a:p>
          <a:p>
            <a:r>
              <a:rPr lang="en-US"/>
              <a:t>[3] Gartner press release, &gt;40% of agentic AI projects cancelled by end-2027 (25 Jun 2025): https://www.gartner.com/en/newsroom/press-releases/2025-06-25-gartner-predicts-over-40-percent-of-agentic-ai-projects-will-be-canceled-by-end-of-2027</a:t>
            </a:r>
          </a:p>
          <a:p>
            <a:r>
              <a:rPr lang="en-US"/>
              <a:t>[6] Gartner press release, Six steps to manage AI agent sprawl (28 Apr 2026; &gt;150,000 agents per F500 by 2028; 13% governed): https://www.gartner.com/en/newsroom/press-releases/2026-04-28-gartner-identifies-six-steps-to-manage-artificial-intelligence-agent-sprawl</a:t>
            </a:r>
          </a:p>
          <a:p>
            <a:r>
              <a:rPr lang="en-US"/>
              <a:t>[7] Gartner press release, Uniform governance across AI agents will lead to failure (26 May 2026; L1-L4; 40% demote by 2027): https://www.gartner.com/en/newsroom/press-releases/2026-05-26-gartner-says-applying-uniform-governance-across-ai-agents-will-lead-to-enterprise-ai-agent-failure</a:t>
            </a:r>
          </a:p>
          <a:p>
            <a:r>
              <a:rPr lang="en-US"/>
              <a:t>Merge edit: the outline chips now show peer proof from the v4 pillar deck slide "What Fortune 500 leaders do" (cut as a separate slide). Gartner recommendations dropped from the chips (intelligence tiering, session budgets + circuit breakers, cross-vendor cost controls) remain in the research [1].</a:t>
            </a:r>
          </a:p>
          <a:p>
            <a:r>
              <a:rPr lang="en-US"/>
              <a:t>All Gartner figures on this slide are stated only here in the merged deck; later slides cite them without restating.</a:t>
            </a:r>
          </a:p>
          <a:p>
            <a:r>
              <a:rPr lang="en-US"/>
              <a:t>--- Merged from v4 pillar slide 3 (What Fortune 500 leaders do) ---</a:t>
            </a:r>
          </a:p>
          <a:p>
            <a:r>
              <a:rPr lang="en-US"/>
              <a:t>What Fortune 500 leaders do: they put registry, identity and runtime control in place, then scale. One line per company, public sources. Source: v2-research.md section 4.</a:t>
            </a:r>
          </a:p>
          <a:p>
            <a:r>
              <a:rPr lang="en-US"/>
              <a:t>Verizon (intent, from a job posting): https://mycareer.verizon.com/jobs/r-1100572/principal-engineer-aiml-engineer/ ; https://www.verizon.com/about/investors/responsible-ai-program</a:t>
            </a:r>
          </a:p>
          <a:p>
            <a:r>
              <a:rPr lang="en-US"/>
              <a:t>AT&amp;T: https://venturebeat.com/orchestration/8-billion-tokens-a-day-forced-at-and-t-to-rethink-ai-orchestration-and-cut</a:t>
            </a:r>
          </a:p>
          <a:p>
            <a:r>
              <a:rPr lang="en-US"/>
              <a:t>JPMorgan Chase: https://www.fsb.org/uploads/JPMorgan-Chase.pdf ; https://www.jpmorganchase.com/about/technology/blog/fence-framework</a:t>
            </a:r>
          </a:p>
          <a:p>
            <a:r>
              <a:rPr lang="en-US"/>
              <a:t>Morgan Stanley: https://openai.com/customer-stories/morgan-stanley</a:t>
            </a:r>
          </a:p>
          <a:p>
            <a:r>
              <a:rPr lang="en-US"/>
              <a:t>Microsoft Agent 365 and Entra Agent ID: https://www.microsoft.com/en-us/security/blog/2026/05/01/microsoft-agent-365-now-generally-available-expands-capabilities-and-integrations/ ; https://learn.microsoft.com/en-us/entra/agent-id/whats-new-agent-id</a:t>
            </a:r>
          </a:p>
          <a:p>
            <a:r>
              <a:rPr lang="en-US"/>
              <a:t>Uber MCP gateway (secondary summary of Uber's Oct 2026 post; cite the primary before external use): https://platformengineering.com/features/what-ubers-800-server-mcp-gateway-means-for-platform-teams/</a:t>
            </a:r>
          </a:p>
          <a:p>
            <a:r>
              <a:rPr lang="en-US"/>
              <a:t>LinkedIn: https://www.linkedin.com/blog/engineering/generative-ai/the-linkedin-generative-ai-application-tech-stack-extending-to-build-ai-agents</a:t>
            </a:r>
          </a:p>
          <a:p>
            <a:r>
              <a:rPr lang="en-US"/>
              <a:t>Also in the research, not shown: Walmart (MCP + A2A under governance), Salesforce (Agentforce Observability).</a:t>
            </a:r>
          </a:p>
          <a:p>
            <a:r>
              <a:rPr lang="en-US"/>
              <a:t>v4 edit (g1): added a "Harness distribution" row, KDDI to Telco, Stripe to Finance (column renamed from Banking), Intercom to Tech; strengthened Uber. Source: /workspace/continuous-eval/v3-mods-research.md §4.1, §8.2 (refs 20-23).</a:t>
            </a:r>
          </a:p>
          <a:p>
            <a:r>
              <a:rPr lang="en-US"/>
              <a:t>KDDI, internal Claude Code marketplace on GHE + plugin-uploader plugin (VERIFIED, company tech blog): https://tech-note.kddi.com/n/nd3ff2fb0e55c?hl=en</a:t>
            </a:r>
          </a:p>
          <a:p>
            <a:r>
              <a:rPr lang="en-US"/>
              <a:t>Stripe, signed enterprise binary pre-configured for 1,370 engineers (VERIFIED, Anthropic case study): https://claude.com/customers/stripe</a:t>
            </a:r>
          </a:p>
          <a:p>
            <a:r>
              <a:rPr lang="en-US"/>
              <a:t>Intercom, 13 internal plugins, 100+ skills via JAMF/MDM, OTel on every lifecycle event, SessionEnd gap classifier files GitHub issues (SECONDARY, engineering blog): https://ideas.fin.ai/p/how-we-use-claude-code-today-at-intercom</a:t>
            </a:r>
          </a:p>
          <a:p>
            <a:r>
              <a:rPr lang="en-US"/>
              <a:t>Uber, MCP Gateway + Registry, tools off until owner approves, AIFX CLI installs MCP into Claude Code, Skills Registry with A/B-tested skill versions on the roadmap (SECONDARY, AAIF talk recap): https://aaif.io/blog/how-uber-runs-60000-ai-agent-tasks-per-week-with-mcp</a:t>
            </a:r>
          </a:p>
          <a:p>
            <a:r>
              <a:rPr lang="en-US"/>
              <a:t>Not used here: ServiceNow x Lucidic 65% vs 51.1% on EnterpriseOps-Gym is a VENDOR CLAIM (https://lucidic.ai/case-studies/servicenow/), left for the harness slide. Snowflake ExCoT execution-verified scoring (VERIFIED, https://www.snowflake.com/en/blog/engineering/arctic-text2sql-excot-sql-generation-accuracy/) is a backup for Evals as gates. Misattributed or unverified rows from the PDF are not used (§1.3).</a:t>
            </a:r>
          </a:p>
          <a:p>
            <a:r>
              <a:rPr lang="en-US"/>
              <a:t>v6: peer chips now cite [38] Verizon, [39] JPMorgan Chase, [40] Microsoft (see References slide). The Verizon job-posting URL returned 404 on 14 Oct 2026 (posting expired); the Responsible AI program page still resolves.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P1 multi-agent (orchestrator + subagents, A2A): score the system, not the agent. Three views: (a) first-party, (b) third-party, (c) gap.</a:t>
            </a:r>
          </a:p>
          <a:p>
            <a:r>
              <a:rPr lang="en-US"/>
              <a:t>(a) Each subagent has its own agent_id, identity and manifest. Model calls go through the Kairos gateway, tool calls through the MCP gateway, agent-to-agent calls through A2A with signed Agent Cards. Agent Control on each step; trace context propagates across hops into Galileo; MAST annotator scores sessions; fan-out / depth / budget limits per trace.</a:t>
            </a:r>
          </a:p>
          <a:p>
            <a:r>
              <a:rPr lang="en-US"/>
              <a:t>(b) A vendor agent acts as a subagent (ServiceNow or Agentforce over A2A), or a vendor orchestrator calls our agents. We control the A2A edge (authN, allowed skills, task states, artifact schema), trace correlation (shared conversation ID), budgets and timeouts. We cannot see the vendor agent reasoning or tools.</a:t>
            </a:r>
          </a:p>
          <a:p>
            <a:r>
              <a:rPr lang="en-US"/>
              <a:t>(c) Missing in our stack: A2A policy enforcement point (agentgateway OSS supports A2A, v2 ref 55, to re-confirm), Agent Card signing / verification, MAST in the gate, per-trace budget breaker across agents. Missing in industry: vendor-neutral A2A governance. Why (Gartner): 70% of AI apps multi-agent by 2028 [4]; coordination mechanisms least mature guardian approach [5, SECONDARY summary]; 50% of deployment failures by 2030 tied to runtime enforcement and multisystem interoperability [8].</a:t>
            </a:r>
          </a:p>
          <a:p>
            <a:r>
              <a:rPr lang="en-US"/>
              <a:t>Labels: architecture is OUR ASSESSMENT; facts VERIFIED unless marked. Source: /workspace/continuous-eval/v4-agent-patterns-research.md sections 3.3, 4.2 P1, 4.3 G3/G4.</a:t>
            </a:r>
          </a:p>
          <a:p>
            <a:r>
              <a:rPr lang="en-US"/>
              <a:t>[4] https://www.gartner.com/en/newsroom/press-releases/2025-06-11-gartner-predicts-that-guardian-agents-will-capture-10-15-percent-of-the-agentic-ai-market-by-2030</a:t>
            </a:r>
          </a:p>
          <a:p>
            <a:r>
              <a:rPr lang="en-US"/>
              <a:t>[8] https://www.gartner.com/en/newsroom/press-releases/2026-03-11-gartner-announces-top-predictions-for-data-and-analytics-in-2026</a:t>
            </a:r>
          </a:p>
          <a:p>
            <a:r>
              <a:rPr lang="en-US"/>
              <a:t>[16] https://www.forrester.com/blogs/agent-control-planes-still-need-a-robust-standards-stack/</a:t>
            </a:r>
          </a:p>
          <a:p>
            <a:r>
              <a:rPr lang="en-US"/>
              <a:t>[20] https://www.microsoft.com/en-us/security/blog/2026/06/04/updating-taxonomy-failure-modes-agentic-ai-systems-year-red-teaming-taught-us/</a:t>
            </a:r>
          </a:p>
          <a:p>
            <a:r>
              <a:rPr lang="en-US"/>
              <a:t>[21] https://arxiv.org/abs/2503.13657 ; [22] https://www.anthropic.com/engineering/multi-agent-research-system</a:t>
            </a:r>
          </a:p>
          <a:p>
            <a:r>
              <a:rPr lang="en-US"/>
              <a:t>[28] https://a2a-protocol.org/v1.0.0/specification/ ; [33] https://www.servicenow.com/community/servicenow-otto-articles/action-fabric-mcp-server-mcp-client-and-a2a-explained/ta-p/3557794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P4 critical real-time (network fault mitigation, fraud / SIM-swap blocking, outage triage): LLM advises, guard acts. Three views in the frame: (a) first-party, (b) third-party, (c) gap.</a:t>
            </a:r>
          </a:p>
          <a:p>
            <a:r>
              <a:rPr lang="en-US"/>
              <a:t>(a) Event stream -&gt; detector (rules / SLM) -&gt; LLM agent proposes an action (advisory) -&gt; deterministic policy guard at the actuation API (pre-approved playbooks, blast-radius limits, two-person rule) -&gt; actuation -&gt; verifier checks the outcome -&gt; automatic rollback on breach. Circuit breaker halts the agent on threshold violation [7]. Digital-twin replay is the release gate. Fail-closed for actions, fail-open for advice (OUR ASSESSMENT).</a:t>
            </a:r>
          </a:p>
          <a:p>
            <a:r>
              <a:rPr lang="en-US"/>
              <a:t>(b) Vendor-embedded AIOps / security agents (network vendors, SOC tools). OUR ASSESSMENT: no third-party agent gets direct actuation in a critical loop; integrate as advisory via A2A/MCP into our guarded path; require replayable decision logs and a pause API by contract.</a:t>
            </a:r>
          </a:p>
          <a:p>
            <a:r>
              <a:rPr lang="en-US"/>
              <a:t>(c) Missing in our stack: actuation-API guard service with playbooks and blast-radius policy; deterministic replay harness; circuit breaker / rollback wired to registry autonomy demotion; latency SLOs per policy tier (targets UNVERIFIED). Missing in industry: platforms optimise for task completion, not bounded actuation. Why (Gartner): Level 4 needs "circuit breakers ... rapid rollback ... clear ownership"; 40% will demote or decommission autonomous agents by 2027 [7]. AEGIS circuit breakers and least agency [17]; session budgets with circuit breakers [1].</a:t>
            </a:r>
          </a:p>
          <a:p>
            <a:r>
              <a:rPr lang="en-US"/>
              <a:t>P4 is not a vendor-guide pattern; derived from Gartner L4 controls and AEGIS. Open item: whether we already have P4 agents with actuation rights is UNVERIFIED (research section 6 item 10).</a:t>
            </a:r>
          </a:p>
          <a:p>
            <a:r>
              <a:rPr lang="en-US"/>
              <a:t>Source: /workspace/continuous-eval/v4-agent-patterns-research.md sections 3.3, 4.2 P4, 4.3 G10.</a:t>
            </a:r>
          </a:p>
          <a:p>
            <a:r>
              <a:rPr lang="en-US"/>
              <a:t>[1] https://www.gartner.com/en/articles/hype-cycle-for-artificial-intelligence</a:t>
            </a:r>
          </a:p>
          <a:p>
            <a:r>
              <a:rPr lang="en-US"/>
              <a:t>[7] https://www.gartner.com/en/newsroom/press-releases/2026-05-26-gartner-says-applying-uniform-governance-across-ai-agents-will-lead-to-enterprise-ai-agent-failure</a:t>
            </a:r>
          </a:p>
          <a:p>
            <a:r>
              <a:rPr lang="en-US"/>
              <a:t>[17] https://www.forrester.com/blogs/introducing-aegis-the-guardrails-cisos-need-for-the-agentic-enterprise/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first-party vs third-party lets us control. Control-surface matrix from research section 4.1: first-party (built on the Kairos platform (gateway + SDK)) has full control on every surface; third-party (vendor-built) / embedded agents (Agentforce, ServiceNow, Microsoft Copilot / Agent 365, other SaaS) give partial, boundary-only, black-box or no control.</a:t>
            </a:r>
          </a:p>
          <a:p>
            <a:r>
              <a:rPr lang="en-US"/>
              <a:t>Integration for third-party: IdP federation and scoped OAuth (Entra Agent ID where supported, v2 ref 61); BYO-LLM via contract where offered (UNVERIFIED per vendor); Red Hat MCP gateway AuthPolicy per tool; A2A at a policy point we own with signed Agent Cards [28]; vendor kill switch, e.g. ServiceNow AI Control Tower pause for MCP [33]; Agentforce Session Trace OTel API [32] and Agent 365 OTLP ingest [31]; vendor test centres (Agentforce Testing Center, v2 ref 80).</a:t>
            </a:r>
          </a:p>
          <a:p>
            <a:r>
              <a:rPr lang="en-US"/>
              <a:t>Eight contract clauses (OUR ASSESSMENT): 1 OTLP trace export with gen_ai.* attributes, our join keys and a retention SLA; 2 eval evidence per release; 3 right to red-team the endpoint; 4 kill-switch / pause API and incident notification SLA; 5 data residency and no training on our data; 6 agent identity and scope documentation; 7 A2A/MCP protocol versions and deprecation policy; 8 exit and IP terms.</a:t>
            </a:r>
          </a:p>
          <a:p>
            <a:r>
              <a:rPr lang="en-US"/>
              <a:t>Clause 8: Gartner predicts 70% of enterprises will abandon agentic AI built by vendor forward-deployed engineering by 2028 and urges governance, ownership, knowledge-transfer and exit terms from day one [12].</a:t>
            </a:r>
          </a:p>
          <a:p>
            <a:r>
              <a:rPr lang="en-US"/>
              <a:t>Source: /workspace/continuous-eval/v4-agent-patterns-research.md section 4.1.</a:t>
            </a:r>
          </a:p>
          <a:p>
            <a:r>
              <a:rPr lang="en-US"/>
              <a:t>[12] https://www.gartner.com/en/newsroom/press-releases/2026-09-29-gartner-predicts-70-percent-of-enterprises-will-abandon-agentic-ai-built-by-vendor-forward-deployed-engineering-by-2028</a:t>
            </a:r>
          </a:p>
          <a:p>
            <a:r>
              <a:rPr lang="en-US"/>
              <a:t>[28] https://a2a-protocol.org/v1.0.0/specification/ ; [31] https://learn.microsoft.com/en-us/microsoft-agent-365/developer/direct-open-telemetry-integration</a:t>
            </a:r>
          </a:p>
          <a:p>
            <a:r>
              <a:rPr lang="en-US"/>
              <a:t>[32] https://developer.salesforce.com/docs/ai/agentforce/guide/otel-api.html (search-snippet verified) ; [33] https://www.servicenow.com/community/servicenow-otto-articles/action-fabric-mcp-server-mcp-client-and-a2a-explained/ta-p/3557794</a:t>
            </a:r>
          </a:p>
          <a:p>
            <a:r>
              <a:rPr lang="en-US"/>
              <a:t>Definition (user, merge edit): third-party agents = agents built or outsourced by external vendors that run for us, e.g. CES, Google, CRA (names as given by the user). Vendor platforms (ServiceNow, Agentforce, Agent 365) appear only where a fact about the platform those agents may run on is cited.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P3 business-facing back-office / workflow: skeleton first. Three views left to right inside the frame: (a) first-party, (b) third-party, (c) gap.</a:t>
            </a:r>
          </a:p>
          <a:p>
            <a:r>
              <a:rPr lang="en-US"/>
              <a:t>(a) Deterministic workflow skeleton (Strands / LangGraph graph) with agentic steps only where needed. Reversible actions go straight to the MCP gateway; irreversible ones go to HITL approval tiered by reversibility. Tools via the MCP gateway with Cedar/OPA per tool; idempotency keys. End-state verifiers check the final state in simulation and production (case-level). GEPA tunes prompts and tool descriptions (Anthropic: -40% task time from rewritten tool descriptions [22]).</a:t>
            </a:r>
          </a:p>
          <a:p>
            <a:r>
              <a:rPr lang="en-US"/>
              <a:t>(b) ServiceNow / Agentforce / SAP workflow agents acting on our systems. We control our MCP tools they call (scopes, rate limits, data masking), service accounts, approvals in our systems, audit. ServiceNow AI Control Tower can approve, pause and audit MCP connections [33], so our registry should sync with it, not duplicate it. We cannot control their workflow logic.</a:t>
            </a:r>
          </a:p>
          <a:p>
            <a:r>
              <a:rPr lang="en-US"/>
              <a:t>(c) Missing in our stack: case-level end-state verifiers as a reusable library; reversibility metadata on tools (needed for tiered HITL); a third-party agent inventory feed (ServiceNow / Agentforce / Agent 365 -&gt; our registry). Missing in industry: most governance platforms see only their own agents. Why (Gartner): 40% of enterprise apps will have task-specific agents by end-2026 [11]; F500 heading to 150k agents and only 13% governed [6]; governance platforms must cover "third-party and embedded systems" [9].</a:t>
            </a:r>
          </a:p>
          <a:p>
            <a:r>
              <a:rPr lang="en-US"/>
              <a:t>Source: /workspace/continuous-eval/v4-agent-patterns-research.md sections 3.3, 4.2 P3, 4.3 G1/G9.</a:t>
            </a:r>
          </a:p>
          <a:p>
            <a:r>
              <a:rPr lang="en-US"/>
              <a:t>[6] https://www.gartner.com/en/newsroom/press-releases/2026-04-28-gartner-identifies-six-steps-to-manage-artificial-intelligence-agent-sprawl</a:t>
            </a:r>
          </a:p>
          <a:p>
            <a:r>
              <a:rPr lang="en-US"/>
              <a:t>[9] https://www.gartner.com/en/newsroom/press-releases/2026-02-17-gartner-global-ai-regulations-fuel-billion-dollar-market-for-ai-governance-platforms</a:t>
            </a:r>
          </a:p>
          <a:p>
            <a:r>
              <a:rPr lang="en-US"/>
              <a:t>[11] https://www.gartner.com/en/newsroom/press-releases/2025-08-26-gartner-predicts-40-percent-of-enterprise-apps-will-feature-task-specific-ai-agents-by-2026-up-from-less-than-5-percent-in-2025</a:t>
            </a:r>
          </a:p>
          <a:p>
            <a:r>
              <a:rPr lang="en-US"/>
              <a:t>[20] https://www.microsoft.com/en-us/security/blog/2026/06/04/updating-taxonomy-failure-modes-agentic-ai-systems-year-red-teaming-taught-us/</a:t>
            </a:r>
          </a:p>
          <a:p>
            <a:r>
              <a:rPr lang="en-US"/>
              <a:t>[22] https://www.anthropic.com/engineering/multi-agent-research-system ; [23] https://www.anthropic.com/research/building-effective-agents ; [25] https://docs.cloud.google.com/architecture/choose-design-pattern-agentic-ai-system</a:t>
            </a:r>
          </a:p>
          <a:p>
            <a:r>
              <a:rPr lang="en-US"/>
              <a:t>[33] https://www.servicenow.com/community/servicenow-otto-articles/action-fabric-mcp-server-mcp-client-and-a2a-explained/ta-p/3557794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loop for every agent: design to retire. 11 steps; new steps Build (2), Deploy via gateway (6) and Retire (11) are filled.</a:t>
            </a:r>
          </a:p>
          <a:p>
            <a:r>
              <a:rPr lang="en-US"/>
              <a:t>Each box shows our components and the artefact it hands on (arrow line): manifest@v, harness bundle + agent SBOM, scenario suite + run report, eval results + gate receipt, ASR receipt, deployment record, decision spans, failure clusters, candidate harness@v+1, agent record, decommission record.</a:t>
            </a:r>
          </a:p>
          <a:p>
            <a:r>
              <a:rPr lang="en-US"/>
              <a:t>Feedback: red-team findings become runtime controls (5-&gt;7); a candidate harness goes back through simulation, never straight to production (9-&gt;3); governance recertifies or demotes autonomy (10-&gt;4); breaches and incidents go to governance (8-&gt;10). Failure clusters from step 8 seed the simulation suite.</a:t>
            </a:r>
          </a:p>
          <a:p>
            <a:r>
              <a:rPr lang="en-US"/>
              <a:t>Mapping from the v4 deck 9 stages: onboarding-&gt;1, observability+scoring-&gt;4 and 8, simulation-&gt;3, harness optimisation-&gt;9, red teaming-&gt;5, runtime control-&gt;7, governance-&gt;10, fine-tuning inside 9, last.</a:t>
            </a:r>
          </a:p>
          <a:p>
            <a:r>
              <a:rPr lang="en-US"/>
              <a:t>Labels: loop and rules are OUR ASSESSMENT (research brief section 2). Rainbow/canary deploys: Anthropic [22]. Retire step and inventory metric: Gartner sprawl step 3 [6]. Autonomy level as a movable registry field: Gartner proportional governance [7]. Join keys on OTel GenAI spans [30]; Agent 365 caller-agent attributes [31]. Agent SBOM / tool descriptions as code: Microsoft v2 [20]. MAST annotator [21]. Threat model OWASP ASI [19].</a:t>
            </a:r>
          </a:p>
          <a:p>
            <a:r>
              <a:rPr lang="en-US"/>
              <a:t>Source: /workspace/continuous-eval/v4-agent-patterns-research.md sections 2.1-2.2 and 8.</a:t>
            </a:r>
          </a:p>
          <a:p>
            <a:r>
              <a:rPr lang="en-US"/>
              <a:t>[6] https://www.gartner.com/en/newsroom/press-releases/2026-04-28-gartner-identifies-six-steps-to-manage-artificial-intelligence-agent-sprawl</a:t>
            </a:r>
          </a:p>
          <a:p>
            <a:r>
              <a:rPr lang="en-US"/>
              <a:t>[7] https://www.gartner.com/en/newsroom/press-releases/2026-05-26-gartner-says-applying-uniform-governance-across-ai-agents-will-lead-to-enterprise-ai-agent-failure</a:t>
            </a:r>
          </a:p>
          <a:p>
            <a:r>
              <a:rPr lang="en-US"/>
              <a:t>[19] https://genai.owasp.org/2025/12/09/owasp-top-10-for-agentic-applications-the-benchmark-for-agentic-security-in-the-age-of-autonomous-ai/</a:t>
            </a:r>
          </a:p>
          <a:p>
            <a:r>
              <a:rPr lang="en-US"/>
              <a:t>[20] https://www.microsoft.com/en-us/security/blog/2026/06/04/updating-taxonomy-failure-modes-agentic-ai-systems-year-red-teaming-taught-us/</a:t>
            </a:r>
          </a:p>
          <a:p>
            <a:r>
              <a:rPr lang="en-US"/>
              <a:t>[21] https://arxiv.org/abs/2503.13657</a:t>
            </a:r>
          </a:p>
          <a:p>
            <a:r>
              <a:rPr lang="en-US"/>
              <a:t>[22] https://www.anthropic.com/engineering/multi-agent-research-system</a:t>
            </a:r>
          </a:p>
          <a:p>
            <a:r>
              <a:rPr lang="en-US"/>
              <a:t>[30] OpenTelemetry GenAI agent spans (v2 ref 24); [31] https://learn.microsoft.com/en-us/microsoft-agent-365/developer/direct-open-telemetry-integration</a:t>
            </a:r>
          </a:p>
          <a:p>
            <a:r>
              <a:rPr lang="en-US"/>
              <a:t>Merge edit: this 11-step loop replaces the v4 nine-stage spine. Onboarding target ≤ 2 weeks for a low-tier agent (v2-research.md section 5.1, proposed) moved here from the onboarding strip of the plan slide.</a:t>
            </a:r>
          </a:p>
          <a:p>
            <a:r>
              <a:rPr lang="en-US"/>
              <a:t>--- Merged from v4 pillar slide 4 (Nine stages, one spine: shared backend and runs-on rows) ---</a:t>
            </a:r>
          </a:p>
          <a:p>
            <a:r>
              <a:rPr lang="en-US"/>
              <a:t>The pillar as one flow: nine stages, each producing a versioned artifact (data contract) for the next. Source: v2-research.md section 1 and 1.1.</a:t>
            </a:r>
          </a:p>
          <a:p>
            <a:r>
              <a:rPr lang="en-US"/>
              <a:t>Artifacts: agent manifest -&gt; OTel GenAI spans -&gt; evaluation results -&gt; scenario spec + run report (pass^k) -&gt; harness config @version -&gt; attack-pack results (ASR) -&gt; policy bundle @version -&gt; agent record in the registry. Fine-tuning is optional and last; its output re-enters at simulation and passes the same gates.</a:t>
            </a:r>
          </a:p>
          <a:p>
            <a:r>
              <a:rPr lang="en-US"/>
              <a:t>Feedback loops: scoring failures -&gt; versioned datasets -&gt; simulation; red-team findings -&gt; runtime controls + regression tests; policy decisions and violations logged as spans back to observability; revocation is the kill switch.</a:t>
            </a:r>
          </a:p>
          <a:p>
            <a:r>
              <a:rPr lang="en-US"/>
              <a:t>Join keys: agent_id, agent_version, use_case_id, tenant, risk_tier, plus OTel trace_id / session_id. OTel GenAI semconv: https://github.com/open-telemetry/semantic-conventions-genai/blob/main/docs/gen-ai/gen-ai-agent-spans.md</a:t>
            </a:r>
          </a:p>
          <a:p>
            <a:r>
              <a:rPr lang="en-US"/>
              <a:t>Placement: Developer Hub https://developers.redhat.com/articles/2024/11/12/template-ai-software-red-hat-developer-hub ; Galileo / Splunk AO https://docs.galileo.ai/release-notes ; OpenShift AI EvalHub https://docs.redhat.com/en/documentation/red_hat_openshift_ai_self-managed/3.5/html/evaluating_ai_systems/evaluating-llms-with-evalhub_evaluate ; SDG Hub https://github.com/Red-Hat-AI-Innovation-Team/sdg_hub/releases/tag/v0.9.1 ; MLflow GEPA https://mlflow.org/docs/latest/genai/prompt-registry/optimize-prompts/ ; Agent Control https://docs.agentcontrol.dev/concepts/architecture ; MCP gateway https://docs.redhat.com/en/documentation/red_hat_connectivity_link/1.4/html/mcp_gateway/mcp-gateway-introduction</a:t>
            </a:r>
          </a:p>
          <a:p>
            <a:r>
              <a:rPr lang="en-US"/>
              <a:t>Backend components and BUILD / REUSE / OSS / PARTNER calls: v2-research.md section 5.2 (our assessment).</a:t>
            </a:r>
          </a:p>
          <a:p>
            <a:r>
              <a:rPr lang="en-US"/>
              <a:t>v3 edit: the Galileo / Splunk AO box adds Arize (exploring), and stage 5 notes Lucidic AI (exploring) and AWS Strands Agents (OSS suggestion). Arize Phoenix is open-source AI observability and evaluation on OpenTelemetry / OpenInference; Arize AX is the managed enterprise platform: https://arize.com/docs/phoenix ; https://arize.com/</a:t>
            </a:r>
          </a:p>
          <a:p>
            <a:r>
              <a:rPr lang="en-US"/>
              <a:t>Lucidic AI optimises an existing agent's harness (prompts, memory, context, tools, guardrails, policies) and model through simulations on production traces: https://lucidic.ai . AWS Strands Agents is an open-source, model-driven agent SDK that emits OpenTelemetry traces: https://aws.amazon.com/blogs/machine-learning/strands-agents-sdk-a-technical-deep-dive-into-agent-architectures-and-observability/ ; https://strandsagents.com/integrations/ . Both are being explored or suggested, not in use.</a:t>
            </a:r>
          </a:p>
          <a:p>
            <a:r>
              <a:rPr lang="en-US"/>
              <a:t>v14: step 3 now names the user simulators (Strands ActorSimulator, LangWatch Scenario) and reward per task; step 8 adds Langfuse; step 9 adds the HALO trace report and cost optimisation, outputs team insights. The gold strip points to the new harness-optimisation architecture (slide 23), including the parallel Mem0 memory lane.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Gap register G1-G14 (research section 4.3): required component, patterns, our stack today, typical industry today, long-term analyst rationale, evidence label. Highlighted rows G2, G3, G4, G13 are the recommended first three moves (OUR ASSESSMENT): G3 A2A policy point (biggest blind spot for P1 and third-party agents); G2 + G13 autonomy-level field with demote / retire (cheap; Gartner explicit failure mode); G4 MAST in the eval gate (open source; uses traces we already collect). G1 and G9 go in the next 90-day plan.</a:t>
            </a:r>
          </a:p>
          <a:p>
            <a:r>
              <a:rPr lang="en-US"/>
              <a:t>Labels: G1 VERIFIED rationale, status OUR ASSESSMENT; G5 VERIFIED (title) / SECONDARY quote; G9 VERIFIED vendor APIs, contract OUR ASSESSMENT; G11 benchmarks VERIFIED, tooling UNVERIFIED; others VERIFIED.</a:t>
            </a:r>
          </a:p>
          <a:p>
            <a:r>
              <a:rPr lang="en-US"/>
              <a:t>Source: /workspace/continuous-eval/v4-agent-patterns-research.md section 4.3 and refs section 8.</a:t>
            </a:r>
          </a:p>
          <a:p>
            <a:r>
              <a:rPr lang="en-US"/>
              <a:t>[1] https://www.gartner.com/en/articles/hype-cycle-for-artificial-intelligence ; [2] https://www.gartner.com/en/articles/hype-cycle-for-agentic-ai</a:t>
            </a:r>
          </a:p>
          <a:p>
            <a:r>
              <a:rPr lang="en-US"/>
              <a:t>[4] https://www.gartner.com/en/newsroom/press-releases/2025-06-11-gartner-predicts-that-guardian-agents-will-capture-10-15-percent-of-the-agentic-ai-market-by-2030</a:t>
            </a:r>
          </a:p>
          <a:p>
            <a:r>
              <a:rPr lang="en-US"/>
              <a:t>[5] https://www.gartner.com/en/documents/7509053 ; summary (SECONDARY): https://thehackernews.com/2026/03/5-learnings-from-first-ever-gartner.html</a:t>
            </a:r>
          </a:p>
          <a:p>
            <a:r>
              <a:rPr lang="en-US"/>
              <a:t>[6] https://www.gartner.com/en/newsroom/press-releases/2026-04-28-gartner-identifies-six-steps-to-manage-artificial-intelligence-agent-sprawl</a:t>
            </a:r>
          </a:p>
          <a:p>
            <a:r>
              <a:rPr lang="en-US"/>
              <a:t>[7] https://www.gartner.com/en/newsroom/press-releases/2026-05-26-gartner-says-applying-uniform-governance-across-ai-agents-will-lead-to-enterprise-ai-agent-failure</a:t>
            </a:r>
          </a:p>
          <a:p>
            <a:r>
              <a:rPr lang="en-US"/>
              <a:t>[8] https://www.gartner.com/en/newsroom/press-releases/2026-03-11-gartner-announces-top-predictions-for-data-and-analytics-in-2026</a:t>
            </a:r>
          </a:p>
          <a:p>
            <a:r>
              <a:rPr lang="en-US"/>
              <a:t>[9] https://www.gartner.com/en/newsroom/press-releases/2026-02-17-gartner-global-ai-regulations-fuel-billion-dollar-market-for-ai-governance-platforms</a:t>
            </a:r>
          </a:p>
          <a:p>
            <a:r>
              <a:rPr lang="en-US"/>
              <a:t>[11b] https://www.gartner.com/en/newsroom/press-releases/2026-01-15-gartner-predicts-60-percent-of-brands-will-use-agentic-ai-to-deliver-streamlined-one-to-one-interactions-by-2028</a:t>
            </a:r>
          </a:p>
          <a:p>
            <a:r>
              <a:rPr lang="en-US"/>
              <a:t>[12] https://www.gartner.com/en/newsroom/press-releases/2026-09-29-gartner-predicts-70-percent-of-enterprises-will-abandon-agentic-ai-built-by-vendor-forward-deployed-engineering-by-2028</a:t>
            </a:r>
          </a:p>
          <a:p>
            <a:r>
              <a:rPr lang="en-US"/>
              <a:t>[14] https://www.gartner.com/en/newsroom/press-releases/2025-10-20-gartner-identifies-the-top-strategic-technology-trends-for-2026</a:t>
            </a:r>
          </a:p>
          <a:p>
            <a:r>
              <a:rPr lang="en-US"/>
              <a:t>[15] https://www.forrester.com/blogs/announcing-our-evaluation-of-the-agent-control-plane-market/ ; [16] https://www.forrester.com/blogs/agent-control-planes-still-need-a-robust-standards-stack/ ; [17] https://www.forrester.com/blogs/introducing-aegis-the-guardrails-cisos-need-for-the-agentic-enterprise/</a:t>
            </a:r>
          </a:p>
          <a:p>
            <a:r>
              <a:rPr lang="en-US"/>
              <a:t>[19] https://genai.owasp.org/2025/12/09/owasp-top-10-for-agentic-applications-the-benchmark-for-agentic-security-in-the-age-of-autonomous-ai/ ; [20] https://www.microsoft.com/en-us/security/blog/2026/06/04/updating-taxonomy-failure-modes-agentic-ai-systems-year-red-teaming-taught-us/ ; [21] https://arxiv.org/abs/2503.13657</a:t>
            </a:r>
          </a:p>
          <a:p>
            <a:r>
              <a:rPr lang="en-US"/>
              <a:t>[31] https://learn.microsoft.com/en-us/microsoft-agent-365/developer/direct-open-telemetry-integration ; [32] https://www.salesforce.com/blog/how-to-choose-integration-pattern-for-agentforce/ ; [33] https://www.servicenow.com/platform/action-fabric.html</a:t>
            </a:r>
          </a:p>
          <a:p>
            <a:r>
              <a:rPr lang="en-US"/>
              <a:t>Merge edit: this is the single gap list of the merged deck. The three v4 workstreams group the rows: red teaming (multi-agent eval, SBOM / provenance), runtime control (A2A policy point G3, guardian layer, actuation guard), agent governance (inventory G1, autonomy field G2, retire G13, third-party evidence G9). Gartner figures are cited, not restated (stated on slide 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P5 always-on autonomous background (always-on agents; incl. coding agents: Claude Code Routines / /loop, scheduled data-quality agents, PR-fixing agents): always on, always owned. Three views: (a) first-party, (b) third-party, (c) gap.</a:t>
            </a:r>
          </a:p>
          <a:p>
            <a:r>
              <a:rPr lang="en-US"/>
              <a:t>(a) Claude Code / Agent SDK / Kairos SDK agents with the pillar-governance bundle (managed hooks + gov-guard, autonomy-guard, memory-hygiene, kill-switch; v3 section 6), Kairos gateway spend limits, MCP gateway scopes, OTel ticks into Galileo, memory-scope policy; periodic permission re-check vs manifest, spend/turn caps, quiet hours.</a:t>
            </a:r>
          </a:p>
          <a:p>
            <a:r>
              <a:rPr lang="en-US"/>
              <a:t>(b) Embedded SaaS background agents and vendor coding agents (Copilot agents, vendor Routines). We control managed settings where the product supports them (Claude Code), MCP tools and tokens we grant, the registry (Agent 365 is Microsoft registry / control plane for tenant agents, v2 ref 60), revoke. Little visibility into scheduling and memory.</a:t>
            </a:r>
          </a:p>
          <a:p>
            <a:r>
              <a:rPr lang="en-US"/>
              <a:t>(c) Missing in our stack: shadow / embedded agent discovery (we only see agents that onboard); memory governance across vendors; periodic permission recertification automation. Missing in industry: memory and trigger controls are product-specific. Why (Gartner): sprawl steps 2-3 (inventory, life cycle) [6]; L4 needs clear ownership [7]; agentic AI governance, security and FinOps are Hype Cycle profiles [2]. Memory poisoning via XPIA "requires only a single successful injection" [20]; OWASP ASI06 / ASI10 [19].</a:t>
            </a:r>
          </a:p>
          <a:p>
            <a:r>
              <a:rPr lang="en-US"/>
              <a:t>Note: Claude Code’s leaked always-on mode is unreleased; Routines, Channels and /loop per v3 sections 5-6.</a:t>
            </a:r>
          </a:p>
          <a:p>
            <a:r>
              <a:rPr lang="en-US"/>
              <a:t>Source: /workspace/continuous-eval/v4-agent-patterns-research.md sections 3.3, 4.2 P5, 4.3 G1/G12.</a:t>
            </a:r>
          </a:p>
          <a:p>
            <a:r>
              <a:rPr lang="en-US"/>
              <a:t>[2] https://www.gartner.com/en/articles/hype-cycle-for-agentic-ai</a:t>
            </a:r>
          </a:p>
          <a:p>
            <a:r>
              <a:rPr lang="en-US"/>
              <a:t>[6] https://www.gartner.com/en/newsroom/press-releases/2026-04-28-gartner-identifies-six-steps-to-manage-artificial-intelligence-agent-sprawl</a:t>
            </a:r>
          </a:p>
          <a:p>
            <a:r>
              <a:rPr lang="en-US"/>
              <a:t>[7] https://www.gartner.com/en/newsroom/press-releases/2026-05-26-gartner-says-applying-uniform-governance-across-ai-agents-will-lead-to-enterprise-ai-agent-failure</a:t>
            </a:r>
          </a:p>
          <a:p>
            <a:r>
              <a:rPr lang="en-US"/>
              <a:t>[19] https://genai.owasp.org/2025/12/09/owasp-top-10-for-agentic-applications-the-benchmark-for-agentic-security-in-the-age-of-autonomous-ai/</a:t>
            </a:r>
          </a:p>
          <a:p>
            <a:r>
              <a:rPr lang="en-US"/>
              <a:t>[20] https://www.microsoft.com/en-us/security/blog/2026/06/04/updating-taxonomy-failure-modes-agentic-ai-systems-year-red-teaming-taught-us/</a:t>
            </a:r>
          </a:p>
          <a:p>
            <a:r>
              <a:rPr lang="en-US"/>
              <a:t>Naming: "Kairos" is our unified platform (Kairos gateway + Kairos SDK). Claude Code’s leaked, unreleased always-on mode is described here only by what it does; the slide says "always-on agents".</a:t>
            </a:r>
          </a:p>
          <a:p>
            <a:r>
              <a:rPr lang="en-US"/>
              <a:t>Merge edit: the five risks (numbered 1–5 on the first-party stack) and the hard layer strip come from the v4 slides "always-on: what changes" and "Governance, built in", both cut. Risk → control: 1 triggers → channel allowlist + autonomy-guard; 2 unattended → pillar-governance bundle, HITL for irreversible tools; 3 grants → permission re-check vs manifest + MCP scopes; 4 memory → memory-scope policy (memory-hygiene); 5 spend → Kairos gateway spend limits + turn caps (OUR ASSESSMENT).</a:t>
            </a:r>
          </a:p>
          <a:p>
            <a:r>
              <a:rPr lang="en-US"/>
              <a:t>--- Merged from v4 pillar slide 10 (always-on agents) ---</a:t>
            </a:r>
          </a:p>
          <a:p>
            <a:r>
              <a:rPr lang="en-US"/>
              <a:t>New slide C (v4, g3): always-on agents add five risks that one-shot sessions do not have; each gets a pillar control (mod) and a hard backstop. Source: /workspace/continuous-eval/v3-mods-research.md §5, §6.1, §8.1. Risks and controls are OUR ASSESSMENT.</a:t>
            </a:r>
          </a:p>
          <a:p>
            <a:r>
              <a:rPr lang="en-US"/>
              <a:t>Verified vs rumoured (§5). LEAKED: an always-on compile-time flag found in the Claude Code v2.1.88 npm source map (31 Mar 2026): tick prompts, SleepTool, daily logs, autoDream memory consolidation, push notifications, PR subscriptions. https://codepointer.substack.com/p/claude-code-architecture-of-kairos ; https://decodethefuture.org/en/kairos-always-on-ai-agent-claude-code-leaked/ . NOT announced or shipped as of 14 Oct 2026 (absent from docs and changelog: https://code.claude.com/docs/en/changelog). RUMOURED: "Operon" platform under the leaked always-on mode (single blog, uncorroborated).</a:t>
            </a:r>
          </a:p>
          <a:p>
            <a:r>
              <a:rPr lang="en-US"/>
              <a:t>SHIPPED (VERIFIED): Routines (research preview) https://code.claude.com/docs/en/routines ; /loop and scheduled tasks https://code.claude.com/docs/en/scheduled-tasks ; Channels (research preview; must be enabled for Team/Enterprise) https://code.claude.com/docs/en/channels ; background subagents, auto mode default (Aug 2026); Managed Agents Dreams (research preview) https://platform.claude.com/docs/en/managed-agents/dreams</a:t>
            </a:r>
          </a:p>
          <a:p>
            <a:r>
              <a:rPr lang="en-US"/>
              <a:t>Backstops: channelsEnabled / allowedChannelPlugins (https://code.claude.com/docs/en/channels); managed PreToolUse hooks (https://code.claude.com/docs/en/hooks); gateway spend limits (https://code.claude.com/docs/en/claude-apps-gateway-spend-limits). Controls autonomy-guard and memory-hygiene are proposed mods in research §6.1.</a:t>
            </a:r>
          </a:p>
          <a:p>
            <a:r>
              <a:rPr lang="en-US"/>
              <a:t>Resolved: Kairos is our internal platform; the leaked Claude Code always-on mode is described, not named, in this deck (research §9.1).</a:t>
            </a:r>
          </a:p>
          <a:p>
            <a:r>
              <a:rPr lang="en-US"/>
              <a:t>--- Merged from v4 pillar slide 11 (governance mods) ---</a:t>
            </a:r>
          </a:p>
          <a:p>
            <a:r>
              <a:rPr lang="en-US"/>
              <a:t>New slide A (v4, g3): governance mods built into every agent harness, with a hard layer underneath. Source: /workspace/continuous-eval/v3-mods-research.md §2.2, §3, §6.1, §6.2, §8.1. The bundle design (gov-guard, manifest-check, mod-vetting, eval-gate, redteam-gate, audit-evidence, kill-switch) is OUR ASSESSMENT.</a:t>
            </a:r>
          </a:p>
          <a:p>
            <a:r>
              <a:rPr lang="en-US"/>
              <a:t>VERIFIED: Claude Mods added in Claude Code v2.1.287 (1 Oct 2026) https://code.claude.com/docs/en/changelog ; https://claude.com/resources/articles/claude-code-mods ; https://code.claude.com/docs/en/plugins/mods/overview . Built-in sec-default, allowManagedModsOnly, prependPlugins, disableSideloadFlags: https://code.claude.com/docs/en/plugins/mods/admin</a:t>
            </a:r>
          </a:p>
          <a:p>
            <a:r>
              <a:rPr lang="en-US"/>
              <a:t>VERIFIED: --safe-mode disables managed plugins (so org mods, managed skills, managed MCP) but keeps managed hooks and permissions https://code.claude.com/docs/en/cli-reference . Managed PreToolUse hooks run before any mod and their block is final https://code.claude.com/docs/en/hooks . Mods are not sandboxed: vet with plugin.register and claude plugin validate.</a:t>
            </a:r>
          </a:p>
          <a:p>
            <a:r>
              <a:rPr lang="en-US"/>
              <a:t>Hooks and mods also run in subagents, -p, the Agent SDK and cloud sessions, so one bundle covers interactive, headless and SDK-built agents (research §2.2). Strands / LangGraph agents get the portable part via MCP + skills + OTel, not mod code.</a:t>
            </a:r>
          </a:p>
          <a:p>
            <a:r>
              <a:rPr lang="en-US"/>
              <a:t>Rollout (§6.2): observe in WARN mode and replay 7 days of traces → HITL at medium / high tier → enforce by flipping policy centrally with no redeploy → recertify by tier. Mods are two weeks old: pilot on lighthouse agents only (§9.4).</a:t>
            </a:r>
          </a:p>
          <a:p>
            <a:r>
              <a:rPr lang="en-US"/>
              <a:t>Footnote: Claude Code’s leaked, unreleased always-on mode; we govern the always-on class using shipped Routines, Channels and /loop (see slide 10).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(v4): market context. YC’s last four batches (W26, P26 Spring, S26 Summer, F26 Fall, in progress) show money moving from agent apps to the control layers our pillar owns: simulation, evals, runtime guardrails, identity, fleet runtime.</a:t>
            </a:r>
          </a:p>
          <a:p>
            <a:r>
              <a:rPr lang="en-US"/>
              <a:t>Source: /workspace/continuous-eval/yc-ai-intake-research.md sections 2-4. Batch calendar: W26 Demo Day 24 Mar 2026; P26 16 Jun; S26 10 Sep; F26 2 Dec 2026 (TLDL tracker, citing YC).</a:t>
            </a:r>
          </a:p>
          <a:p>
            <a:r>
              <a:rPr lang="en-US"/>
              <a:t>Stat 1 (VERIFIED, article read in full): 60% of P26 one-liners mention AI or agents; 190+ startups. Ollie Forsyth, New Economies, "Y Combinator Spring 2026 Batch" [35] https://www.neweconomies.co/p/y-combinator-spring-2026-batch</a:t>
            </a:r>
          </a:p>
          <a:p>
            <a:r>
              <a:rPr lang="en-US"/>
              <a:t>Stat 2 (THIRD-PARTY ANALYSIS, search snippet only, translated): S26 application layer 55% → 39%; RL-environment companies 1 (P26) → 7 (S26). elsewhere.news [36] https://elsewhere.news/en/crossing/yc-236 . Not YC data.</a:t>
            </a:r>
          </a:p>
          <a:p>
            <a:r>
              <a:rPr lang="en-US"/>
              <a:t>[37] Startups (YC pages fetched 14 Oct 2026): Polymath W26 https://www.ycombinator.com/companies/polymath ; Arga Labs P26 https://www.ycombinator.com/companies/arga-labs ; Archal S26 https://www.ycombinator.com/companies/archal ; Olam Labs S26 https://www.ycombinator.com/companies/olam-labs ; Agnost AI S26 https://www.ycombinator.com/companies/agnost-ai ; CoArena S26 https://www.ycombinator.com/companies/coarena ; Salus W26 https://www.ycombinator.com/companies/salus ; Decawork S26 https://www.ycombinator.com/companies/decawork ; Silmaril P26 https://www.ycombinator.com/companies/silmaril ; Inkbox S26 https://www.ycombinator.com/companies/inkbox ; Clawvisor P26 https://www.ycombinator.com/companies/clawvisor ; Maritime F26 https://www.ycombinator.com/companies/maritime ; Agent Relay F26 https://www.ycombinator.com/companies/agent-relay</a:t>
            </a:r>
          </a:p>
          <a:p>
            <a:r>
              <a:rPr lang="en-US"/>
              <a:t>Other sources (not cited on slide; research-file numbering dropped): https://www.neweconomies.co/p/y-combinator-summer-26-batch (snippet)  ; https://www.tldl.io/blog/yc-ai-startups-2026  ; F26 list https://www.gpagent.ai/yc/batch/fall-2026</a:t>
            </a:r>
          </a:p>
          <a:p>
            <a:r>
              <a:rPr lang="en-US"/>
              <a:t>Takeaway (OUR ASSESSMENT): build identity, policy and eval in-house on the Kairos platform (gateway + SDK); pilot 1–2 sandbox / guardrail startups as thin, swappable add-ons. Mapping of categories to loop steps (slide 3) is our assessment. Caveat: early-stage companies, watchlist / pilot pool only.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(v6): References for slides 1–4. Numbers match the in-slide markers: [1]–[3], [6], [7] Gartner (slides 1 and 3); [35]–[37] YC slide (renumbered from its own [1]/[3] so the deck has one numbering space); [38]–[40] peer chips on slide 1; [41] stack-table sources on slide 4.</a:t>
            </a:r>
          </a:p>
          <a:p>
            <a:r>
              <a:rPr lang="en-US"/>
              <a:t>Gaps in numbering ([4], [5], [8]–[34]) are citations used on later slides; they keep their original numbers.</a:t>
            </a:r>
          </a:p>
          <a:p>
            <a:r>
              <a:rPr lang="en-US"/>
              <a:t>Link check 14 Oct 2026 (curl + WebFetch): all resolve except https://mycareer.verizon.com/jobs/r-1100572/principal-engineer-aiml-engineer/ (404, posting expired). Gartner, developers.redhat.com, docs.redhat.com and ibm.com return 403 to curl (bot challenge) but load via a browser-style fetch.</a:t>
            </a:r>
          </a:p>
          <a:p>
            <a:r>
              <a:rPr lang="en-US"/>
              <a:t>v7: added [42] OTel GenAI agent spans and [43] OTel session attributes, cited in the doc-fix strip on slide 5 (Galileo onboarding). Both returned 200 on 14 Oct 2026.</a:t>
            </a:r>
          </a:p>
          <a:p>
            <a:r>
              <a:rPr lang="en-US"/>
              <a:t>v8: Galileo citations [42]–[47] moved to References 2 of 2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(v7): Galileo onboarding, end to end. Deep dive on loop step 8 (Observe / score) for the Galileo pick on slide 4. Metric packs: slide 6; segment flowcharts: slides 7–10.</a:t>
            </a:r>
          </a:p>
          <a:p>
            <a:r>
              <a:rPr lang="en-US"/>
              <a:t>TODAY (as given by the platform team and the onboarding doc, not verified by us): P1 default metrics via Kairos gateway common logging — any team calls the Kairos endpoint and passes a bucket parameter (user-facing, agentic, non-agent GenAI); templated metrics are computed automatically and visible in Galileo. P2 agentic metrics via the Kairos SDK (VZAISDK; same product) plus a Galileo custom callback handler for LLM and tool spans — zero config, automatic logging, preconfigured spans. P3 customised flow (non-SDK, custom templates) with the team’s own OpenTelemetry: OTLP exporter to KAIROS_OTLP_ENDPOINT, gen_ai.agent.name / gen_ai.agent.id resource attributes, OpenInference LangChain instrumentor.</a:t>
            </a:r>
          </a:p>
          <a:p>
            <a:r>
              <a:rPr lang="en-US"/>
              <a:t>All patterns flow into the Common Logging Service, then trace sampling (rate-limited; e.g. 1% of 1M; applies to every pattern) to the Galileo Service and Galileo Observe. Storage and PII masking are abstracted in the backend and deliberately not drawn.</a:t>
            </a:r>
          </a:p>
          <a:p>
            <a:r>
              <a:rPr lang="en-US"/>
              <a:t>Sampling (TODAY, confirmed by the user): the platform applies a global default rate; each team changes the rate for its own use case in the Galileo dashboard. Flagship critical high-volume use cases (voice agents, Verizon flagship products) are treated as pre-RTB high volume, where 100% of traffic can be enabled; everything else is set per requirement.</a:t>
            </a:r>
          </a:p>
          <a:p>
            <a:r>
              <a:rPr lang="en-US"/>
              <a:t>PROPOSED (our design, not built): segment tags on every span (use_case_id, agent_version, risk_tier, first- vs third-party); tail-based keep on errors / latency and whole-session keep (ties to G7 session-level behaviour detection); a priority lane so critical traces are never rate-limited; alert routing to on-call; agent id issued by the registry (G1). Third-party (vendor-built: CES, Google, CRA) needs a trace-export / OTel adapter into P3 and an evidence contract (G9).</a:t>
            </a:r>
          </a:p>
          <a:p>
            <a:r>
              <a:rPr lang="en-US"/>
              <a:t>Doc fixes for the manual OTel snippet: headers=vegas_headers is a leftover name (rename to Kairos headers); BatchSpanProcessor schedule_delay_millis=300_000 means spans can wait up to 5 minutes, too slow for critical alerting; SESSION_ID is generated and printed but never attached to spans (set session.id per OTel session attributes [43]); gen_ai.agent.id is a placeholder string (should come from the registry; OTel GenAI agent span conventions [42]).</a:t>
            </a:r>
          </a:p>
          <a:p>
            <a:r>
              <a:rPr lang="en-US"/>
              <a:t>Sources: user pipeline diagram “DEFAULT · Most use cases (Low Volume / SAMPLED)”; onboarding doc “Choose your path”; user answers 14 Oct 2026. [42] https://github.com/open-telemetry/semantic-conventions-genai/blob/main/docs/gen-ai/gen-ai-agent-spans.md ; [43] https://opentelemetry.io/docs/specs/semconv/registry/attributes/session/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(v8): how metrics are switched on. TODAY (platform team): the team passes a bucket parameter (user-facing, agentic, non-agent GenAI) with its traffic; traffic goes through the Common Logging Service and sampling (global default or the team’s dashboard rate); the Galileo Service computes the bucket’s templated metric pack on sampled traces; scores show in Galileo Observe.</a:t>
            </a:r>
          </a:p>
          <a:p>
            <a:r>
              <a:rPr lang="en-US"/>
              <a:t>Pack contents: the names on the slide are representative Galileo out-of-the-box metrics, each with a docs page checked 14 Oct 2026 (Metrics Comparison [45]): user-facing — Conversation Quality, Tone, Toxicity, Prompt Injection, PII; agentic — Action Completion, Action Advancement, Tool Selection Quality, Tool Error, Agent Flow, Agent Efficiency; non-agent GenAI — Correctness, Instruction Adherence, Context Adherence, Completeness. Which metrics are actually in each Verizon pack is set by the platform team and should be confirmed with them.</a:t>
            </a:r>
          </a:p>
          <a:p>
            <a:r>
              <a:rPr lang="en-US"/>
              <a:t>Galileo docs [44]: most out-of-the-box metrics and all LLM-as-a-judge metrics are LLM-based and need an LLM integration or Luna-2; metrics apply to session, trace or span nodes; metrics are used in experiments and Log Streams.</a:t>
            </a:r>
          </a:p>
          <a:p>
            <a:r>
              <a:rPr lang="en-US"/>
              <a:t>OPTION path: Galileo supports custom LLM-as-a-judge metrics (prompt + rubric; output types boolean, categorical, count, discrete, percentage; apply to session, trace, retriever / LLM / tool span; created in the Metrics hub or in code; tested on logs or a labelled dataset; versioned; enabled per Log Stream with a pinned or default version) [46], and custom code-based metrics [47]. Scoping a custom metric to one use case through its Log Stream and letting teams register their own is our proposed onboarding process, not a confirmed Verizon process.</a:t>
            </a:r>
          </a:p>
          <a:p>
            <a:r>
              <a:rPr lang="en-US"/>
              <a:t>Onboarding strip (moved here from the old segment table slide): 1 register (agent id from registry = G1); 2 pick a segment (slides 7–10); 3 pick P1 / P2 / P3; 4 pass the bucket (+ segment tags, proposed); 5 set the sampling rate in the Galileo dashboard; 6 verify pack scores in Galileo Observe; 7 wire alerts (proposed).</a:t>
            </a:r>
          </a:p>
          <a:p>
            <a:r>
              <a:rPr lang="en-US"/>
              <a:t>Sources: [44] https://docs.galileo.ai/concepts/metrics/overview ; [45] https://docs.galileo.ai/concepts/metrics/metric-comparison ; [46] https://docs.galileo.ai/concepts/metrics/custom-metrics/custom-metrics-ui-llm ; [47] https://docs.galileo.ai/concepts/metrics/custom-metrics/custom-metrics-ui-code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Segment A (v8): critical first-party, flagship, high volume — voice agents and Verizon flagship products. User confirmed: these are treated as pre-RTB high volume, where 100% of traffic can be enabled (the team sets the rate in the Galileo dashboard; the platform default applies otherwise).</a:t>
            </a:r>
          </a:p>
          <a:p>
            <a:r>
              <a:rPr lang="en-US"/>
              <a:t>Entry: agentic → P2 Kairos SDK (VZAISDK) + Galileo callback (LLM and tool spans); non-agentic → P1 Kairos gateway; custom stack → P3 own OTel to KAIROS_OTLP_ENDPOINT. Bucket: voice / chat → user-facing; tool-using → agentic. All TODAY as described by the platform team.</a:t>
            </a:r>
          </a:p>
          <a:p>
            <a:r>
              <a:rPr lang="en-US"/>
              <a:t>PROPOSED: priority lane so these traces are never rate-limited; eval mode = online guardrail metrics on live traffic plus async LLM-judge and an offline regression set before release; alerts page on-call within seconds (the doc snippet batches spans for up to 5 minutes); session view once session.id is on every span (G7); agent id issued by the registry (G1).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Segment B (v8): critical first-party, not flagship (customer- or operations-critical at normal volume). TODAY: same entry patterns and bucket packs; the team sets its rate above the global default in the Galileo dashboard per its requirement.</a:t>
            </a:r>
          </a:p>
          <a:p>
            <a:r>
              <a:rPr lang="en-US"/>
              <a:t>PROPOSED: tail-based keep on errors and slow traces plus whole-session keep so a failure is never sampled away (ties to G7 session-level behaviour detection); online guardrail metrics plus async LLM judge; alerts page the owning team.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Segment C (v8): non-critical first-party. High-volume and low-volume were separate columns in v7; they are merged here because the pipe, entry patterns, buckets and view are identical — only the sampling rate (keep default vs raise if too few traces) and the alert cadence differ, shown as HV / LV annotations.</a:t>
            </a:r>
          </a:p>
          <a:p>
            <a:r>
              <a:rPr lang="en-US"/>
              <a:t>TODAY: ready as is — P1 / P2 / P3, bucket packs, platform global default rate, optional per-use-case override in the Galileo dashboard, Galileo Observe view. PROPOSED: error and latency triggers for high volume; async eval on the sample, plus an offline set before release for low volume; digests rather than pages.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Segment D (v8): third-party agents = built and run for us by external vendors (CES, Google, CRA). They reach Galileo only if the vendor can export OpenTelemetry traces, which then enter through P3 (OTLP to KAIROS_OTLP_ENDPOINT) tagged as third-party. Otherwise an export adapter is needed (G9 third-party evidence contract + OTel adapters).</a:t>
            </a:r>
          </a:p>
          <a:p>
            <a:r>
              <a:rPr lang="en-US"/>
              <a:t>PROPOSED: write trace export, metric coverage and exit terms into the vendor contract (G9); keep sessions consistent across the vendor hop; async eval on exported traces with the runtime guard owned by the vendor under contract; breach alerts go to the vendor owner with an SLA clause; register every vendor agent in the inventory (G1).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(v8): References 2 of 2, for the Galileo onboarding slides 5–10. [42]–[43] OpenTelemetry conventions cited in the slide 5 doc-fix strip; [44]–[47] Galileo docs cited on slide 6 (metrics enablement); individual metric pages back the representative names in each pack. Internal inputs have no public link. All links returned 200 (two via redirect) on 14 Oct 2026.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(v9): the Galileo ingest bottleneck. Reported by the team: Galileo (Splunk Agent Observability) ingests about 300 traces / sessions per minute (5 per second) into ClickHouse, even with LLM evals switched off. Targets: 20M traces / day now (231/s average) and up to 500M / day in production (5,787/s average); with 3–5× peaks (ASSUMPTION) that is ~1.2k/s and ~29k/s. Evals: today ~16 h per 1M sessions (~17/s); target 20M / day (231/s).</a:t>
            </a:r>
          </a:p>
          <a:p>
            <a:r>
              <a:rPr lang="en-US"/>
              <a:t>Why we think it is the write path, not raw capacity: a single ClickHouse node normally takes far more than 5 rows/s when inserts are batched. Hypotheses H1–H7 are unconfirmed; confirm with system.parts, system.query_log and system.asynchronous_inserts. H1/H3/H6 [48] https://clickhouse.com/docs/resources/support-center/knowledge-base/troubleshooting/exception-too-many-parts ; H1–H3 [49] https://clickhouse.com/docs/concepts/best-practices/selecting-an-insert-strategy ; H2 [50] https://clickhouse.com/docs/concepts/features/operations/insert/inserting-data . H4, H5, H7 are design hypotheses with no external source.</a:t>
            </a:r>
          </a:p>
          <a:p>
            <a:r>
              <a:rPr lang="en-US"/>
              <a:t>Quick isolation test: replay the same OTLP data into a plain ClickHouse table with 10k-row batches. If that is fast, the bottleneck is in Galileo’s pipeline (H4, H5, H7) and we ask Splunk / Galileo for their ingest metrics; if not, fix the ClickHouse write path (H1–H3, H6).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(v9): two-day POC. Day 1: GKE Autopilot cluster; Langfuse Helm chart with in-cluster ClickHouse (3 replicas), Valkey, Cloud SQL Postgres and a GCS bucket via HMAC; Google OIDC SSO; OTel Collector (HPA) with one Kairos SDK sample agent pointed at it; smoke-test traces in the UI. Day 2: load test with telemetrygen (OTel) or k6 with an OTLP extension replaying realistic OpenInference spans; ramp 300/min → 231 traces/s → 1,200/s sustained for 1 h; measure queue depth, worker CPU, ClickHouse parts / inserts and p95 UI query time; run the same load through Pub/Sub into a direct ClickHouse + Iceberg writer to compare.</a:t>
            </a:r>
          </a:p>
          <a:p>
            <a:r>
              <a:rPr lang="en-US"/>
              <a:t>Pass criteria (proposed): ≥1,200 traces/s sustained with zero loss; ingest-to-UI-visible p95 &lt; 60 s; trace search p95 &lt; 3 s on 7 days of data; SSO login with two roles; throughput scales roughly linearly with worker replicas; one Vertex batch eval job (≥10k sessions) written back and visible.</a:t>
            </a:r>
          </a:p>
          <a:p>
            <a:r>
              <a:rPr lang="en-US"/>
              <a:t>Open questions from the research file (§7); the “TCS solution” question is resolved: it meant GCP. Why Langfuse for the POC: MIT licence with free Google / OIDC SSO and org RBAC [52][53]; its S3-first + queue ingest directly addresses H1 / H4 [51]; it accepts OTLP / OpenInference (attribute mapping from the Kairos SDK still to VERIFY). A third-party blog puts 2,400 events/s at ~4 two-CPU Langfuse workers [68] — secondary source, not a benchmark.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(v9): References 3 of 3 for the scalable trace platform slides 11–17 (Vertex batch [66][67] is also cited on slide 13; the old options slide was merged into slide 17 in v11). [48]–[68] map to research-file citations C1–C21 in order; [69] Grafana Tempo repo (AGPL-3.0), added to confirm the licence. Research-file numbering was replaced so the deck has one numbering space.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(v10): one pipeline, two lanes, both fed by the same ingest (Kairos SDK / gateway → OTel Collectors on GKE, which tag risk_tier and tenant_id → per-tenant Pub/Sub topics with message retention for replay [80]). Everything is PROPOSED except the Kairos SDK / gateway and today’s Spark multi-DAG pipeline.</a:t>
            </a:r>
          </a:p>
          <a:p>
            <a:r>
              <a:rPr lang="en-US"/>
              <a:t>Real-time lane: a streaming Dataflow job (Apache Beam) reads Pub/Sub, dedupes by span_id (Dataflow streaming is exactly-once inside the pipeline by default [74]), groups spans into session windows keyed by session_id (a session window contains elements within a gap duration of each other; session windowing is per key [71]), stitches sessions with state and timers [72][73], computes light rule / heuristic metrics on every session and, for the critical tier only, calls an online judge / guardrail on a Vertex AI real-time endpoint via Beam RunInference (VertexAIModelHandlerJSON; public endpoints cap requests at 1.5 MB [76]). Online endpoints autoscale between min and max replicas, re-evaluated every 15 s; batch inference nodes do not autoscale [77]. Sinks: ClickHouse hot store within seconds, alerts to on-call, and a streaming Iceberg write via Dataflow managed I/O [75]. The 30-minute gap is an ASSUMPTION.</a:t>
            </a:r>
          </a:p>
          <a:p>
            <a:r>
              <a:rPr lang="en-US"/>
              <a:t>Batch lane: reads sessions + light scores from Iceberg on GCS. Option A (today): Spark multi-DAG on Dataproc / Dataproc Serverless (now “Managed Service for Apache Spark”), scheduled by Cloud Composer (now “Managed Service for Apache Airflow”) [78][79]. Option B (alternative): Dataflow batch reusing the same Beam transforms — Beam is “a unified model for defining both batch and streaming data-parallel processing pipelines” and runs on Dataflow, Spark or Flink [70]. Both feed preprocessing + prompt build (system prompt = rubric, cached; user prompt = compact session text) → Vertex AI batch (≤200k requests and ≤1 GB per job; jobs can queue up to 72 h) [66][67] → idempotent scores write-back to ClickHouse and Iceberg. Dataflow does not guarantee exactly-once side effects to external stores, hence idempotent keys [74].</a:t>
            </a:r>
          </a:p>
          <a:p>
            <a:r>
              <a:rPr lang="en-US"/>
              <a:t>Tier routing (latency targets PROPOSED): A critical flagship (slide 7) — 100% through the real-time judge, score p95 &lt; 60 s, alert &lt; 2 min, plus daily batch deep eval; B critical other (slide 8) — real-time stitch + rules, online judge on flagged sessions, batch on a sample within 24 h; C non-critical (slide 9) — real-time stitch + rules, batch judge on 1–10% within 24 h; D third-party (slide 10) — batch only once vendor exports land (G9). Backfill / re-score from Iceberg, or Pub/Sub seek (snapshots last at most 7 days) [80].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(v10): when to use the existing Spark multi-DAG pipeline vs Dataflow (Beam), and the work plan. All PROPOSED.</a:t>
            </a:r>
          </a:p>
          <a:p>
            <a:r>
              <a:rPr lang="en-US"/>
              <a:t>Comparison. Strengths: Spark is mature for batch SQL / DataFrames with big joins and the DAGs already exist; Beam is one model for batch and streaming [70] with session windows, state and timers [71][72][73]. Cost: Dataproc Serverless (Managed Service for Apache Spark) bills per second on DCUs + shuffle storage with a 1-minute minimum and scales to zero [82]; Dataflow bills per second on worker vCPU and memory plus Dataflow Shuffle (batch) or Streaming Engine (streaming) [81] — a streaming job runs continuously. Ops: Composer / Managed Airflow schedules Spark batches [78][79]; Dataflow streaming needs job updates / drains and watermark / lag monitoring. Skills: PySpark UDFs reuse as-is; Beam requires porting them to DoFns. Latency: Spark minutes-to-hours per run; Dataflow seconds when streaming.</a:t>
            </a:r>
          </a:p>
          <a:p>
            <a:r>
              <a:rPr lang="en-US"/>
              <a:t>Recommendation: build the real-time lane in Beam on Dataflow now; keep Spark for batch; move batch to Dataflow only if a parity test on the same day of data matches cost and SLA. Beam can also run on Spark (Spark runner), so Beam code does not lock us into Dataflow [70].</a:t>
            </a:r>
          </a:p>
          <a:p>
            <a:r>
              <a:rPr lang="en-US"/>
              <a:t>Work items (owner type, phase): 1 session schema + join keys (platform + data eng, P0); 2 per-tenant Pub/Sub topics / subscriptions with replay retention (platform / SRE, P1); 3 Beam session-stitch job (data eng, P1); 4 real-time rule metric set (eval eng + use-case teams, P1); 5 online judge for critical tier on a Vertex endpoint (eval eng, P1); 6 Vertex endpoint autoscaling, quotas, Provisioned Throughput (ML platform, P1) [77][67]; 7 idempotent write-back (data eng, P1) [74]; 8 port preprocessing UDFs to a shared Beam library (data eng, P2); 9 Dataflow batch prompt build + Vertex batch submission (data + eval eng, P2) [66]; 10 Spark vs Dataflow parity test (data eng, P2 decision gate); 11 Composer DAG that runs either engine (data eng, P2); 12 backfill / replay from Iceberg and Pub/Sub seek ≤7 days (data eng, P2) [80]; 13 monitoring + SLOs (SRE, P3); 14 cost guardrails (FinOps + SRE, P3).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(v10): References 4 of 4 for slides 13–14 (two-lane pipeline; Spark vs Dataflow). [70]–[82], all checked 14 Oct 2026. Google renamed Cloud Composer to “Managed Service for Apache Airflow” and Dataproc Serverless to “Managed Service for Apache Spark”; the deck keeps the familiar names. Vertex AI docs now live under docs.cloud.google.com/gemini-enterprise-agent-platform/.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(v11): what exists today and what is missing. TODAY (team): first-party and third-party traces are published to Pub/Sub topics, and a BigQuery subscription writes them into BigQuery. Nothing else consumes the topics, so there is no session stitching, no eval scores and no trace UI on this path.</a:t>
            </a:r>
          </a:p>
          <a:p>
            <a:r>
              <a:rPr lang="en-US"/>
              <a:t>Gap design (research §2a): add a new pull subscription (sub-ceval-*) next to the BigQuery subscription; each subscription receives its own copy of every message, but only messages published after it is created [92]. Delivery is at-least-once, so dedupe on span_id [92][93]. Add a dead-letter topic with max delivery attempts [94]. Backfill / replay: enable topic retention and seek to a timestamp or snapshot; on a filtered subscription seek only redelivers matching messages [80]. Ordering keys (session_id) need publisher control and only hold within a region [92]; if we do not own the publishers, stitch downstream (slide 13).</a:t>
            </a:r>
          </a:p>
          <a:p>
            <a:r>
              <a:rPr lang="en-US"/>
              <a:t>Conflict to resolve: slide 10 (segment D) assumes third-party agents send no traces; the team now says some 3P traces reach Pub/Sub. Open questions from the research: do we own the publishers; message format (one span per message or batches); topic retention settings.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(v11), replacing the v9 options table (old slide 12), whose content is merged here: Langfuse, Opik, Phoenix, SigNoz and Grafana/Tempo rows keep their citations; the ClickHouse-sharded hot store and BigQuery/GCS system-of-record verdicts moved to the footnote. Source: v10-platform-gaps-research.md §1.</a:t>
            </a:r>
          </a:p>
          <a:p>
            <a:r>
              <a:rPr lang="en-US"/>
              <a:t>Langfuse (PRIMARY): MIT core, /ee commercial [52]; Postgres + ClickHouse + Redis + S3/GCS [51]; self-hosted ClickHouse single shard — the research flags this VERIFY, but the Langfuse ClickHouse page was read on 14 Oct 2026 and says multi-shard is not supported [54]; SSO + org RBAC free, project roles / SCIM / audit / retention paid [52][53]; OTLP endpoint /api/public/otel [83]; scores on trace, observation or session via API, with an optional id as idempotency key [84][85]. Opik (BACKUP, best licence): Apache-2.0 [58]; ClickHouse + MySQL + Redis + MinIO [59]; 1 shard, sharding not supported [60][61]; SSO / custom RBAC Enterprise and OTel support are VERIFY.</a:t>
            </a:r>
          </a:p>
          <a:p>
            <a:r>
              <a:rPr lang="en-US"/>
              <a:t>Others: Phoenix ELv2 [55][56][57]; OpenObserve AGPL-3.0 with SSO/RBAC Enterprise only [88][89]; Grafana Tempo AGPL-3.0 verified [69], Loki/Mimir relicensing VERIFY, Grafana auth [64]; Elastic licence options and default ELv2 [90], OpenSearch Apache-2.0 with free OIDC/SAML [91]; SigNoz licence not verified (GitHub reports no SPDX id) and SSO sources conflict [62][63]; Jaeger Apache-2.0 [104]; OpenLLMetry Apache-2.0 [87]; OpenLIT Apache-2.0 per GitHub [86] (evals module VERIFY). Splunk AO (Galileo) stays in phases 0–1 (slide 19).</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(v11): phased plan (research §3). Phase 0 (now to ~6 weeks, ASSUMPTION): Galileo / Splunk stays for current users; ask Splunk to fix ingest (batching / async inserts, see slide 11); add the Pub/Sub subscription (slide 16); Langfuse POC on 2–3 use cases (slide 15). Gate 1: POC sustains the target rate, SSO works, score write-back is visible.</a:t>
            </a:r>
          </a:p>
          <a:p>
            <a:r>
              <a:rPr lang="en-US"/>
              <a:t>Phase 1 (~1–2 quarters, ASSUMPTION): run both; new use cases default to in-house; metric registry plus Spark / Vertex write-back go live (slide 18); BigQuery stays the source of truth. Gate 2: score parity with Galileo on a shared sample, and an ops runbook the 5–6 person team can own, with on-call load measured. Phase 2: in-house becomes primary; Galileo optional (e.g. Luna judges via API) or renewed per use case. Gate 3: cost per 1M traces and cost per eval below Splunk’s, with no SLA regression.</a:t>
            </a:r>
          </a:p>
          <a:p>
            <a:r>
              <a:rPr lang="en-US"/>
              <a:t>Why in-house: modifiability (custom metrics and lanes), control of data and identity, predictable cost, and less dependence on a vendor in the middle of an acquisition (Galileo → Splunk / Cisco, per the research file).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(v11): References 5 of 5 for slides 16–20 (platform gaps). [83]–[107] map to the research file citations R2, R5, R6, R15–R18, R21–R25, R27–R35 plus Jaeger, OPA, Cedar and NeMo Guardrails repos (licences checked via the GitHub API). R1, R3, R4, R7–R14, R20 and R26 were already in the deck as [51]–[64] and [80].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(v12), replacing the v4 “Every release, attacked” slide. A red-team stage in CI/CD, analogous to the Sysdig image scan. Source: v11-redteam-agentcontrol-research.md §1–2. Sysdig scanning is TODAY; everything after it is PROPOSED. CI system is generic (open question).</a:t>
            </a:r>
          </a:p>
          <a:p>
            <a:r>
              <a:rPr lang="en-US"/>
              <a:t>Static stage: SecureAI-Scan [108] is an offline static scanner (TS/JS/Python, MCP configs, Agent Skills) tracing source → sink: prompt injection into system prompts, MCP command injection / path traversal / tool poisoning, unpinned npx/uvx MCP servers and inline secrets, poisoned SKILL.md, RAG without tenant filters, unsafe sinks; SARIF / JSON / HTML + AI-BOM; maps to OWASP LLM 2026, Agentic and MCP Top 10. It does not probe a live LLM and is not a general SAST. Maturity (GitHub API, 15 Oct 2026): MIT, 23 stars, 1 fork, created 5 Feb 2026, last push 10 Oct 2026, v0.12.0, one maintainer [109] → advisory only, or fork / pin. Snyk Agent Scan (ex Invariant mcp-scan): Apache-2.0, ~3.1k stars [110]. Diff the tool manifest against the registry allow-list.</a:t>
            </a:r>
          </a:p>
          <a:p>
            <a:r>
              <a:rPr lang="en-US"/>
              <a:t>Dynamic stage in staging behind the Kairos gateway (same guardrails as prod): promptfoo red team per PR (MIT [113]; OpenAI agreed to acquire it 9 Mar 2026, subject to closing, and promptfoo says it will remain open source [114][115]); garak sweep nightly / release (Apache-2.0 [111]); PyRIT multi-turn for Tier 1 (MIT [112]). Findings map to OWASP LLM Top 10 [129] and the Agentic Top 10 [130]. Gate by risk tier: T1 block on high/critical or ASR &gt; X%; T2 block critical, warn high; T3 warn; X set by security. Report attached to the release, pushed to the agent registry and as Langfuse / Galileo scores (trace tag redteam_run_id). Waiver: time-boxed (owner, expiry, compensating control) in the registry, approved by the security CODEOWNER. Post-deploy: weekly garak / PyRIT against prod-shadow, re-run on model / prompt / tool change, monthly human red team for T1, drift tracking.</a:t>
            </a:r>
          </a:p>
          <a:p>
            <a:r>
              <a:rPr lang="en-US"/>
              <a:t>Not verified this pass: DeepTeam, Giskard, Cisco AI Defense, Red Hat EvalHub + garak (VERIFY). The secondary licence round-up in the research (jailbreaks.fyi) was replaced by the repos themselves (garak Apache-2.0, promptfoo MIT, PyRIT MIT via the GitHub API).</a:t>
            </a:r>
          </a:p>
          <a:p>
            <a:r>
              <a:rPr lang="en-US"/>
              <a:t>--- Merged from former slide 22 “Every release, attacked” (v4) ---</a:t>
            </a:r>
          </a:p>
          <a:p>
            <a:r>
              <a:rPr lang="en-US"/>
              <a:t>Red teaming: from unclear to a repeatable pipeline, per release and on a schedule. Source: v2-research.md section 3.1.</a:t>
            </a:r>
          </a:p>
          <a:p>
            <a:r>
              <a:rPr lang="en-US"/>
              <a:t>Process: threat model from the manifest mapped to OWASP LLM Top 10 and OWASP Agentic Top 10 (ASI01-ASI10); attack pack by risk tier (low: garak scan; medium: + PyRIT Crescendo/TAP, DeepTeam OWASP ASI, promptfoo CI; high: + indirect injection via tool outputs/docs, tool-argument abuse, memory poisoning in the simulator + human red-team sprint); run in the simulation sandbox, never against production tools; score ASR per category, confirmed only with tool-call or state evidence; each confirmed finding becomes a regression scenario and a runtime control with an owner and SLA.</a:t>
            </a:r>
          </a:p>
          <a:p>
            <a:r>
              <a:rPr lang="en-US"/>
              <a:t>Cadence: pre-release (blocking for medium and high tiers), weekly scheduled runs, event-driven runs (new tool, model or MCP server).</a:t>
            </a:r>
          </a:p>
          <a:p>
            <a:r>
              <a:rPr lang="en-US"/>
              <a:t>Execution plane: OpenShift AI EvalHub (garak is a provider): https://docs.redhat.com/en/documentation/red_hat_openshift_ai_self-managed/3.5/html/evaluating_ai_systems/evaluating-llms-with-evalhub_evaluate ; https://github.com/opendatahub-io/llama-stack-provider-trustyai-garak</a:t>
            </a:r>
          </a:p>
          <a:p>
            <a:r>
              <a:rPr lang="en-US"/>
              <a:t>Engines: garak https://github.com/NVIDIA/garak ; PyRIT https://arxiv.org/pdf/2410.02828 ; promptfoo https://github.com/promptfoo/promptfoo/ ; DeepTeam OWASP ASI https://www.trydeepteam.com/docs/frameworks-owasp-top-10-for-agentic-applications ; OWASP Agentic Top 10 https://genai.owasp.org/2025/12/09/owasp-top-10-for-agentic-applications-the-benchmark-for-agentic-security-in-the-age-of-autonomous-ai/</a:t>
            </a:r>
          </a:p>
          <a:p>
            <a:r>
              <a:rPr lang="en-US"/>
              <a:t>Enterprise: Cisco AI Defense Agent Validation (tool routes, indirect channels, persistent state): https://blogs.cisco.com/ai/agent-validation-explorer-edition ; Red Hat Chatterbox Labs AIMI (plan to open-source): https://www.redhat.com/en/about/press-releases/red-hat-accelerates-ai-trust-and-security-chatterbox-labs-acquisition</a:t>
            </a:r>
          </a:p>
          <a:p>
            <a:r>
              <a:rPr lang="en-US"/>
              <a:t>Principles: Microsoft AI Red Team lessons from 100+ GenAI products (scope to capabilities, simple attacks often win, automate for coverage but keep human judgement): https://arxiv.org/html/2501.07238</a:t>
            </a:r>
          </a:p>
          <a:p>
            <a:r>
              <a:rPr lang="en-US"/>
              <a:t>Ownership split and the 4-week bake-off on two high-tier agents are our proposal (owner decision needed).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(v12): Microsoft vs open source for agent control and red teaming (research §3). Portable: Agent Governance Toolkit (MIT; in-process middleware or sidecar; policy, zero-trust identity, sandboxing; OWASP Agentic coverage claimed) [102][103] and PyRIT (MIT, ~4.6k stars) [112].</a:t>
            </a:r>
          </a:p>
          <a:p>
            <a:r>
              <a:rPr lang="en-US"/>
              <a:t>Azure-only: AI Red Teaming Agent in Foundry — uses PyRIT plus Foundry risk and safety evaluations; its supportability matrix (checked 15 Oct 2026) lists non-Foundry agents, non-Azure tools and function tool calls as not supported [116]; the local SDK can target a PyRIT chat target [117]. Foundry Control Plane is the Azure-managed fleet service [103]. Azure AI Content Safety / Prompt Shields [128] are Azure APIs callable from GCP, but data leaves GCP (VERIFY with security / privacy).</a:t>
            </a:r>
          </a:p>
          <a:p>
            <a:r>
              <a:rPr lang="en-US"/>
              <a:t>Takeaway: adopt the OSS pieces (AGT as the alternative to Agent Control, PyRIT) on GKE; skip the Foundry-managed pieces. Entra Agent ID / Agent 365 were not researched this pass.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(v12): References 6 of 6 for slides 24–26. [108]–[131] map to research citations S1–S3, S5–S19 plus garak, promptfoo, Presidio, Prompt Shields, OWASP LLM / Agentic Top 10 and Sysdig docs; S4 (jailbreaks.fyi, secondary) was replaced by the repos; S10 / S14 reuse [102][103] / [100].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(v13): target system architecture, replacing the v9–v12 production-architecture flow and merging the v11 target-data-flow slide (both drew the same components). Zones as swimlanes: Sources (Kairos SDK P2, own OTel P3, Kairos gateway P1, third-party vendors G9) → Ingest (OTel Collector tier on GKE with tail sampling and the routing connector [96]; Pub/Sub topic with attributes lane / risk_tier / use_case_id; rt + batch filtered subscriptions [95] and the BigQuery subscription that runs today [93]) → Processing + model serving (Dataflow streaming RT lane [71]; Spark multi-DAG on Dataproc as the batch lane [79], scheduled by Cloud Composer [78]; metric registry; Vertex AI batch [66] and online endpoints [77]) → Storage (ClickHouse hot store on GKE [65], Iceberg on GCS via BigLake [75], BigQuery raw spans, eval_scores) → Experience (Langfuse, BigQuery SQL / notebooks, Grafana). Cross-cutting: IAM / IAP / SSO, RBAC tenants, Secret Manager, Cloud Monitoring, VPC Service Controls (all PROPOSED).</a:t>
            </a:r>
          </a:p>
          <a:p>
            <a:r>
              <a:rPr lang="en-US"/>
              <a:t>Numbered paths: 1 ingest (OTLP gRPC / HTTP to the collector, publish to Pub/Sub, curated sample to Langfuse over OTLP/HTTP — Langfuse accepts HTTP/JSON and HTTP/protobuf only, no gRPC [83]); 2 real-time (Beam pull from the rt subscription, Dataflow → Vertex endpoints via REST predict, batched inserts to ClickHouse [49], IcebergIO to the lake); 3 batch (Composer → Spark, Spark reads Iceberg, Vertex batch job with JSONL on GCS); 4 write-back (POST /api/public/scores [84] and MERGE into eval_scores); 5 read (Langfuse UI, BigQuery SQL over BigLake, Grafana SQL on ClickHouse :8123).</a:t>
            </a:r>
          </a:p>
          <a:p>
            <a:r>
              <a:rPr lang="en-US"/>
              <a:t>Boundary convention for v13 diagrams: dotted gold = GCP project, solid tan = VPC / serving group, solid gold = GKE cluster; GKE tag on components that run on GKE. The detailed contracts (routing options A / B, deterministic score ids, metric.yaml, rule for spans, eval cost levers) moved to slide 19.</a:t>
            </a:r>
          </a:p>
          <a:p>
            <a:r>
              <a:rPr lang="en-US"/>
              <a:t>--- Merged from v12 slide 12 “Production architecture” ---</a:t>
            </a:r>
          </a:p>
          <a:p>
            <a:r>
              <a:rPr lang="en-US"/>
              <a:t>New slide (v9): proposed production architecture, all GCP-native. Flow: Kairos SDK (P2), Kairos gateway (P1), own OTel (P3) and vendor exports (G9) send OTLP to an OTel Collector gateway tier on GKE (HPA) that does tail sampling and routing by agent_id / risk_tier → Pub/Sub (per-tenant topics / subscriptions; Managed Kafka if per-session ordering is needed) → stateless autoscaled writers (10k–100k-row batches, async_insert [49]) → (a) a sharded ClickHouse hot store we own (OSS operator, shard by tenant / session hash, 7–30 days hot then TTL to a GCS volume [65]) and (b) Parquet / Iceberg on GCS via BigLake, partitioned by date and tenant, as the source of truth.</a:t>
            </a:r>
          </a:p>
          <a:p>
            <a:r>
              <a:rPr lang="en-US"/>
              <a:t>Session stitching moves upstream into a streaming Dataflow job (session window, 30-minute gap is an ASSUMPTION) writing sessions to both stores. Evals: Dataproc Serverless Spark (multi-DAG) reads Iceberg and builds prompts → Vertex AI batch jobs (≤200k requests per job, ≤1 GB GCS input; no fixed Gemini concurrency quota but jobs can queue up to 72 h; Google advises fewer, larger jobs) [66][67]; real-time GPU endpoints only for online / critical slices. Scores are written back to ClickHouse and Iceberg.</a:t>
            </a:r>
          </a:p>
          <a:p>
            <a:r>
              <a:rPr lang="en-US"/>
              <a:t>UIs: Langfuse for curated, sampled or evaluated traces and annotation — not proven on top of a 500M/day sharded store (self-hosted multi-shard not supported [54]); Grafana over ClickHouse for raw volume. Identity: corporate IdP via OIDC / SAML, IAP in front of tools without auth, RBAC per use-case tenant (Langfuse org / project, ClickHouse row policies).</a:t>
            </a:r>
          </a:p>
          <a:p>
            <a:r>
              <a:rPr lang="en-US"/>
              <a:t>Eval scaling (1M / 16 h today ≈ 17 sessions/s → 20M / day = 231/s ≈ 100 Vertex batch jobs/day at 200k each): stratified sampling, rule pre-filters, small judges, cascade, prompt caching, dedupe, compact trace text, Provisioned Throughput or real-time endpoints for SLA-critical slices. The 16 h Spark job is probably skewed by stitching or shuffle (HYPOTHESIS).</a:t>
            </a:r>
          </a:p>
          <a:p>
            <a:r>
              <a:rPr lang="en-US"/>
              <a:t>v10: the batch + real-time detail (two lanes, Dataflow batch as an alternative to the Spark DAGs, tier routing) is on slide 13; comparison and work plan on slide 14.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(v13): Langfuse tech stack, self-hosted on GCP. Verified on langfuse.com self-hosting docs, 15 Oct 2026. Architecture [51]: two application containers — Langfuse Web (langfuse/langfuse: UI, public APIs, SDK and OTLP endpoint /api/public/otel) and Langfuse Worker (langfuse/worker: asynchronous event processing) — plus PostgreSQL (transactional), Redis / Valkey (queue and cache), ClickHouse (traces, observations, scores; OLAP) and S3 / blob storage (raw events, multi-modal attachments, exports). Web optionally calls an LLM API for the playground, Worker for evaluations.</a:t>
            </a:r>
          </a:p>
          <a:p>
            <a:r>
              <a:rPr lang="en-US"/>
              <a:t>Ingestion [51]: traces are received in batches by Web and immediately written to S3 / blob storage; only a reference is queued in Redis; the Worker picks the event up from blob storage and ingests it into ClickHouse, so load spikes do not cause timeouts and events are recoverable. API keys and prompts are cached in Redis. OTLP: HTTP/JSON and HTTP/protobuf supported, gRPC not yet [83].</a:t>
            </a:r>
          </a:p>
          <a:p>
            <a:r>
              <a:rPr lang="en-US"/>
              <a:t>Scaling [132]: minimums web 2 CPU / 4 GiB, worker 2 / 4, Postgres 2 / 4, Redis 1 CPU / 1.5 GiB, ClickHouse 2 / 8; scale workers when a 2-CPU container is above 50% CPU or on the queue depth metric langfuse.queue.ingestion.depth (type:waiting); split langfuse-web into an ingestion deployment (/api/public/ingestion*, /api/public/media*, /api/public/otel*) and a UI deployment; raise LANGFUSE_S3_CONCURRENT_WRITES above the default 50 when sockets saturate; ClickHouse scales vertically (≥16 GiB for larger deployments); Redis ≥4 vCPU, cluster mode, then queue sharding; blob lifecycle ~30 days on events, not on the media bucket.</a:t>
            </a:r>
          </a:p>
          <a:p>
            <a:r>
              <a:rPr lang="en-US"/>
              <a:t>Stores: ClickHouse — Langfuse does not support multi-shard clusters; recommended 3 replicas and 3 Keeper replicas; official options are ClickHouse Cloud, BYOC and the ClickHouse Kubernetes operator [54]. Redis ≥7 (7.2 recommended for v4) or Valkey ≥8, maxmemory-policy=noeviction; GCP Memorystore is covered by official support [133]. GCS has a native integration (LANGFUSE_USE_GOOGLE_CLOUD_STORAGE=true) and is recommended over S3 interoperability mode [134]. PostgreSQL ≥12; v4 needs 15+, 16 recommended; Cloud SQL officially supported [135]. All components must run in UTC.</a:t>
            </a:r>
          </a:p>
          <a:p>
            <a:r>
              <a:rPr lang="en-US"/>
              <a:t>SSO [53]: Google, Azure AD / Entra ID, Okta, GitHub, Keycloak and others, plus a custom OIDC provider; email / password can be disabled. OSS vs Enterprise [52]: all core features and APIs are MIT-licensed without limits; a licence key adds project-level RBAC roles, protected prompt labels, data retention policies, audit logs, server-side data masking, UI customisation, organisation creators, org management API / SCIM and the instance management API. GCP Terraform module [136]: GKE cluster with node pools, Cloud SQL PostgreSQL, Memorystore Redis, a Cloud Storage bucket, ClickHouse via the official operator (or external ClickHouse Cloud), TLS certificates, Cloud DNS and the GKE Ingress controller.</a:t>
            </a:r>
          </a:p>
          <a:p>
            <a:r>
              <a:rPr lang="en-US"/>
              <a:t>Sources: [132] https://langfuse.com/self-hosting/configuration/scaling ; [133] https://langfuse.com/self-hosting/deployment/infrastructure/cache ; [134] https://langfuse.com/self-hosting/deployment/infrastructure/blobstorage ; [135] https://langfuse.com/self-hosting/deployment/infrastructure/postgres ; [136] https://github.com/langfuse/langfuse-terraform-gcp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(v13): interface contracts, replacing the v11 “Target data flow” diagram (its components now sit on the slide 12 system architecture). Each row is the promise behind one arrow on slide 12, with the source; facts unchanged from v11 / v12 and the eval scaling levers moved here from the old production-architecture slide.</a:t>
            </a:r>
          </a:p>
          <a:p>
            <a:r>
              <a:rPr lang="en-US"/>
              <a:t>--- Merged from v12 slide 18 “Target data flow” ---</a:t>
            </a:r>
          </a:p>
          <a:p>
            <a:r>
              <a:rPr lang="en-US"/>
              <a:t>New slide (v11): the target data flow. Routing: option A — publishers (or a thin enricher) stamp Pub/Sub attributes use_case_id, risk_tier, lane, flagship (lane looked up from the use-case registry), and two filtered subscriptions select attributes.lane = "rt" and "batch". Filters only see attributes, not the payload; a filter cannot be changed, so create a new subscription and move over with snapshot + seek, which the docs say loses no messages [95]. Option B — if attributes cannot be added at publish, route inside an OTel Collector with the routing connector (OTTL conditions on resource / span attributes) [96].</a:t>
            </a:r>
          </a:p>
          <a:p>
            <a:r>
              <a:rPr lang="en-US"/>
              <a:t>Compute: real-time lane on Dataflow (rule metrics + online judge for the critical tier; slide 13); batch lane on today’s Spark multi-DAG + Vertex AI batch. Merge back: Langfuse POST /api/public/scores with traceId (+observationId) or sessionId alone [84]. Idempotency (verified 15 Oct 2026 on the Langfuse page): a re-ingested score overwrites an existing one only when id, name and the timestamp date all match, so keep name and timestamp stable and use a deterministic id such as hash(metric_id, version, subject_id) [84]. BigQuery: eval_scores keyed by (subject_type, subject_id, metric_id, metric_version), loaded with MERGE and joined to spans on trace_id / session_id. Real-time guard decisions may ride on OTel span events or links; batch scores should not modify spans.</a:t>
            </a:r>
          </a:p>
          <a:p>
            <a:r>
              <a:rPr lang="en-US"/>
              <a:t>Metric registry (config-as-code): one YAML per metric (id, version, level, bucket, lane, judge, sample, threshold, owners). On PR merge CI validates it, creates the Langfuse ScoreConfig [85] and registers the metric with the Spark DAG and the real-time worker; use cases enable metrics by listing ids in their registry entry. Direct OTLP option: Kairos SDK / gateway exporter → OTel Collector → Langfuse /api/public/otel with Basic auth; trace-level attributes (session.id, user.id) must be on every span [83].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(v13): agent control as a system architecture (replaces the v11–v12 flow-style slide; same facts). Zones: agent runtime (GKE pod with the agent container — OpenAI Agents SDK, Strands or Kairos SDK with kairos.instrument() and @control() [100] — and the optional Microsoft AGT sidecar, which needs explicit calls to localhost:8081 and has no documented GKE deployment, so VERIFY [103]; raw OpenAI-format agents without the SDK), gateway (Kairos gateway, LiteLLM base ASSUMED, guardrail hooks pre / during / post [121], Presidio / Lakera / generic API [122]; MCP gateway for tool calls), control plane (Agent Control server: stateless FastAPI with API-key auth [101], controls per agent_id without redeploy [100]; policy registry; evaluators; OPA / Cedar PDP [105][106]; Cloud SQL Postgres), telemetry (decision events → Pub/Sub → BigQuery; Managed Prometheus scraping /metrics → Grafana [101]) and admin (CI policy deploy through the red-team gate on slide 24; dashboard behind IAP because Agent Control has no built-in SSO [101]; kill switch).</a:t>
            </a:r>
          </a:p>
          <a:p>
            <a:r>
              <a:rPr lang="en-US"/>
              <a:t>Request path: 1 SDK pre-check to Agent Control; 2 model call through the Kairos gateway; 3 gateway guardrails, optionally calling Luna / Agent Control through the generic guardrail API (VERIFY); 4 response with the x-kairos-guard header; 5 tool call through the MCP gateway, authorised by OPA / Cedar; 6 decision events to Pub/Sub and BigQuery. Per-control ownership and the skip rule are on slide 25.</a:t>
            </a:r>
          </a:p>
          <a:p>
            <a:r>
              <a:rPr lang="en-US"/>
              <a:t>--- Merged from v12 slide 20 “Agent control architecture” ---</a:t>
            </a:r>
          </a:p>
          <a:p>
            <a:r>
              <a:rPr lang="en-US"/>
              <a:t>New slide (v11): agent control, a separate runtime path. Galileo Agent Control: Apache-2.0 (GitHub API reports Apache-2.0; repo created 30 Jan 2026) [97]; launch blog confirms Apache 2.0 and quotes CrewAI and Strands Agents SDK [98]; press release [99] (returns 403 to bots, not re-read). Architecture: Python @control() decorator runs pre / post evaluations through the server; built-in evaluators regex, list, JSON validation, SQL injection; Luna-2 via Galileo API; custom evaluators; PostgreSQL; Next.js dashboard; runtime control updates without redeploy; configurable fail open / closed [100]. Server: API-key auth (X-API-Key), Prometheus /metrics, observability stats endpoints [101].</a:t>
            </a:r>
          </a:p>
          <a:p>
            <a:r>
              <a:rPr lang="en-US"/>
              <a:t>Our GKE design (PROPOSED): stateless Deployment + HPA, Cloud SQL Postgres, IAP in front of the dashboard (no built-in SSO), Managed Prometheus / Grafana for metrics, decision events to BigQuery. OPA / Cedar (both Apache-2.0 per GitHub) [105][106] for identity and tool-call authorisation. NeMo Guardrails licence VERIFY (GitHub reports no SPDX id) [107]; Guardrails AI is Apache-2.0 per GitHub (not on slide).</a:t>
            </a:r>
          </a:p>
          <a:p>
            <a:r>
              <a:rPr lang="en-US"/>
              <a:t>Alternative: Microsoft Agent Governance Toolkit — MIT; Python, npm, .NET, Rust packages; README badge says OWASP Agentic Top 10 “7 full, 3 partial” [102]. FAQ: runs as in-process middleware or a sidecar; &lt;0.1 ms p99 (vendor claim); Foundry Control Plane is the separate Azure-managed fleet service; the sidecar does not yet transparently intercept tool calls (agents call localhost:8081 explicitly); documented deployments are Foundry, AKS sidecar and Azure Container Apps, so GKE stays VERIFY [103]. Entra Agent ID / Agent 365 not researched. Open question: is MS AGT approved for Verizon?</a:t>
            </a:r>
          </a:p>
          <a:p>
            <a:r>
              <a:rPr lang="en-US"/>
              <a:t>Galileo metrics display / scale: phases 0–1 keep metric packs in Galileo Observe (slide 6) while Splunk fixes ingest (slide 11); Luna-2 can be reused as an Agent Control evaluator; phase 2 moves scores to Langfuse through write-back (slide 18), with Galileo kept per use case (slide 19).</a:t>
            </a:r>
          </a:p>
          <a:p>
            <a:r>
              <a:rPr lang="en-US"/>
              <a:t>v12: the Microsoft Agent Governance Toolkit lane moved to the Microsoft vs open source table (slide 25); runtime layering is on slide 24 and the CI/CD red-team gate on slide 22. The alternative-lane facts above remain valid.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(v13): the runtime layering becomes decision logic — one row per control with its single owner, timing, latency tier, proposed fail mode, what the SDK does when the gateway header is present and what raw agents (no SDK) get. The system view of the same components is slide 21, so the two slides no longer repeat each other. Sources unchanged from v12; fail modes, latency tiers and the T1 / T3 split are our proposal.</a:t>
            </a:r>
          </a:p>
          <a:p>
            <a:r>
              <a:rPr lang="en-US"/>
              <a:t>--- Merged from v12 slide 23 “Runtime control: three layers” ---</a:t>
            </a:r>
          </a:p>
          <a:p>
            <a:r>
              <a:rPr lang="en-US"/>
              <a:t>New slide (v12), replacing the v4 “One policy, three checkpoints” slide. Three layers, each control owned by exactly one layer (research §4–5, our proposal). Layer 1, agent + tool semantics: Kairos SDK kairos.instrument() auto-attaches an OTel exporter (OpenInference) and registers default input / output / tool guardrails that call the Agent Control server, so registered controls apply without code change; controls are fetched per agent_id at runtime [100]. OpenAI Agents SDK: input guardrails run on the first agent, output guardrails on the final agent, tool guardrails wrap each function tool (allow / reject_content / raise_exception); tripwires halt the run [118][119]; in manager-style flows agent-level guardrails do not cover every agent [120].</a:t>
            </a:r>
          </a:p>
          <a:p>
            <a:r>
              <a:rPr lang="en-US"/>
              <a:t>Layer 2, content + safety at the Kairos gateway. The gateway being LiteLLM-based is an ASSUMPTION (open question). LiteLLM guardrail modes: pre_call, during_call (parallel; response not returned until the check completes), post_call, logging_only [121]. Integrations: Presidio PII masking [127], Lakera, Aporia, a Tool Permission guardrail [126] and a generic guardrail API to any HTTP service, fail_closed by default (unreachable_fallback configurable) [122]; providers page [123]. Per key / team guardrail control was listed as Enterprise in a 2024 discussion [124] (VERIFY current status); team-based guardrails page [125]. No first-party Galileo guardrail found; wiring Luna / Agent Control through the generic API is VERIFY.</a:t>
            </a:r>
          </a:p>
          <a:p>
            <a:r>
              <a:rPr lang="en-US"/>
              <a:t>No double enforcement: the gateway adds x-kairos-guard: &lt;policy_version&gt;;&lt;decision_id&gt; and an OTel span attribute; the SDK skips content checks already run at that policy_version and runs only tool / agent controls. A single policy registry assigns each control to one layer. Layer 3, authorisation: OPA / Cedar [105][106]; identity per agent (SPIFFE or IdP principal); raw OpenAI-format agents without the SDK get gateway-only content controls, and tool control only through an MCP gateway.</a:t>
            </a:r>
          </a:p>
          <a:p>
            <a:r>
              <a:rPr lang="en-US"/>
              <a:t>Open questions: Is the Kairos gateway LiteLLM-based (or Apigee / other)? What does “Geo” mean (Galileo, guardrails, or geo-routing / data residency)? LiteLLM Enterprise licence for per-key / team guardrails? Agents on OpenAI Agents SDK, Strands or mixed?</a:t>
            </a:r>
          </a:p>
          <a:p>
            <a:r>
              <a:rPr lang="en-US"/>
              <a:t>--- Merged from former slide 24 “One policy, three checkpoints” (v4) ---</a:t>
            </a:r>
          </a:p>
          <a:p>
            <a:r>
              <a:rPr lang="en-US"/>
              <a:t>Runtime policy &amp; agent control: policy defined once, enforced at three points, every decision logged, every agent has a revocable identity. Source: v2-research.md section 3.2 (our assessment; mirrors the NCCoE agent identity and authorisation concept paper https://csrc.nist.gov/pubs/other/2026/02/05/accelerating-the-adoption-of-software-and-ai-agent/ipd ).</a:t>
            </a:r>
          </a:p>
          <a:p>
            <a:r>
              <a:rPr lang="en-US"/>
              <a:t>Enforcement points: (a) our AI gateway for model traffic, calling NeMo Guardrails + Luna (https://docs.redhat.com/en/documentation/red_hat_openshift_ai_self-managed/3.5/html/enabling_ai_safety_with_guardrails/enabling-ai-safety-with-nemo-guardrails_nemo-guardrails ); (b) Galileo Agent Control in our SDK for step-level allow/deny/steer, deny wins, fail-open/closed configurable, runtime updates without redeploy (https://docs.agentcontrol.dev/concepts/controls ; https://galileo.ai/blog/announcing-agent-control ); (c) Red Hat MCP gateway (Connectivity Link 1.4) with Kuadrant AuthPolicy per tool (https://docs.redhat.com/en/documentation/red_hat_connectivity_link/1.4/html/registering_mcp_servers_and_creating_policies/mcp-gateway-authorization ). Tools disabled by default until the owner enables them follows Uber's MCP gateway pattern.</a:t>
            </a:r>
          </a:p>
          <a:p>
            <a:r>
              <a:rPr lang="en-US"/>
              <a:t>Policy repo: Cedar for tool authZ (CNCF Sandbox; default-deny, forbid overrides permit) https://www.cncf.io/projects/cedar/ ; OPA where the platform already uses it https://www.openpolicyagent.org/</a:t>
            </a:r>
          </a:p>
          <a:p>
            <a:r>
              <a:rPr lang="en-US"/>
              <a:t>Identity: SPIFFE/SPIRE + token exchange + Kagenti binding https://next.redhat.com/2026/06/10/wiring-zero-trust-identity-for-ai-agents-spiffe-token-exchange-and-kagenti/ ; Entra Agent ID https://learn.microsoft.com/en-us/entra/agent-id/whats-new-agent-id ; Okta for AI Agents https://www.okta.com/en-gb/blog/ai/okta-for-ai-agents-general-availability/</a:t>
            </a:r>
          </a:p>
          <a:p>
            <a:r>
              <a:rPr lang="en-US"/>
              <a:t>Kill switch runbook: revoke identity -&gt; gateway deny -&gt; MCP deny -&gt; Agent Control global deny. HITL mandatory for irreversible tools at medium and high tiers (our pick).</a:t>
            </a:r>
          </a:p>
          <a:p>
            <a:r>
              <a:rPr lang="en-US"/>
              <a:t>Runtime threat detection: Cisco AI Defense https://blogs.cisco.com/ai/security-for-the-agentic-era-cisco-ai-defense-breaks-new-ground ; Golf (YC S25) https://www.ycombinator.com/companies/golf</a:t>
            </a:r>
          </a:p>
          <a:p>
            <a:r>
              <a:rPr lang="en-US"/>
              <a:t>v3 edit: the decision log destination adds Arize (exploring) beside Galileo / Splunk AO. Decisions are OTel spans; Arize Phoenix and Arize AX accept OpenTelemetry / OpenInference traces, so the same spans could be sent to Arize during the exploration. This is an exploration, not a deployment: https://arize.com/docs/phoenix ; https://arize.com/</a:t>
            </a:r>
          </a:p>
          <a:p>
            <a:r>
              <a:rPr lang="en-US"/>
              <a:t>v4 edit (g2): latency-banded tiers and the rollout lifecycle, adopted from the user PDF. Source: /workspace/continuous-eval/v3-mods-research.md §1.2, §6.1, §6.2.</a:t>
            </a:r>
          </a:p>
          <a:p>
            <a:r>
              <a:rPr lang="en-US"/>
              <a:t>Tiers: deterministic (regex, SQL AST, JSON schema, OPA) → semi-semantic (NeMo Guardrails, small verifiers such as Luna) → deep-semantic async on the trace stream. OUR ASSESSMENT. The &lt;5 ms and &lt;25 ms figures are targets from the PDF, UNVERIFIED (research §1.3); no target is given for tier 3.</a:t>
            </a:r>
          </a:p>
          <a:p>
            <a:r>
              <a:rPr lang="en-US"/>
              <a:t>Rollout: backtest on 7 days of traces → WARN (shadow) → STEER / DENY. Central policy update without redeploy is a VERIFIED Agent Control capability (v2 refs 4, 5: https://galileo.ai/blog/announcing-agent-control); the rollout process itself is OUR ASSESSMENT.</a:t>
            </a:r>
          </a:p>
          <a:p>
            <a:r>
              <a:rPr lang="en-US"/>
              <a:t>Runtime threat detection line kept, moved to the right column.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(v13): References 7 of 7. [132]–[136] are new Langfuse self-hosting sources for the slide 18 tech stack (all 200 on 15 Oct 2026). The right column maps the redrawn slides to the existing references they reuse.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(v14): one system architecture for the trace-driven harness-optimisation loop, all open source. Zones: trace sources (Galileo / Splunk AO today, export path to OTLP VERIFY; Kairos gateway, LiteLLM base ASSUMED; agent SDKs: Kairos SDK today, Strands and OpenAI Agents emit OTel spans [143][164]) → trace hub (OTel Collector and Langfuse, both reused from slides 12 and 18; a trace adapter to build) → harness optimisation (HALO engine, LLMOps cost analysis, GEPA / DSPy, coding agent opening a PR; UI) → simulation + reward (synthetic data, simulator, reward) → optimise, ship, learn (insights to use-case teams, held-out + red-team gate, fine-tuning last). Memory is a parallel lane, not a loop step.</a:t>
            </a:r>
          </a:p>
          <a:p>
            <a:r>
              <a:rPr lang="en-US"/>
              <a:t>Loop paths: 1 traces from every source into the collector and Langfuse; 2 Langfuse feeds cost analysis, and the adapter feeds HALO; 3 HALO report → coding agent (Cursor / Claude Code / Codex) → PR = harness@v+1, and cost findings → GEPA objective; 4 candidates run in the simulator on synthetic + seeded scenarios, reward goes back to GEPA; 5 best candidate → held-out + red-team gate (slides 22, 24) → Kairos canary; 6 reports to use-case teams per use_case_id; 7 fine-tuning only on a plateau. M: memory builder per agent_id → Mem0 → store → agents read via the Strands mem0_memory tool; memory quality is scored in simulation.</a:t>
            </a:r>
          </a:p>
          <a:p>
            <a:r>
              <a:rPr lang="en-US"/>
              <a:t>HALO (context-labs/HALO, “Hierarchal Agent Loop Optimizer”) [137]: RLM-based optimiser (built on alexzhang13/rlm [139]) that reads OTel-compatible traces as JSONL, finds systemic failure modes with sub-agents, and writes a report a coding agent applies; then redeploy and repeat. pip install halo-engine (0.3.5) [138]; CLI halo traces.jsonl -p "…"; any OpenAI-compatible base URL, so it can call models through the Kairos gateway (ASSUMED). Input today: the inference.net OTLP-shaped export (inference.* keys); the documented integration is the OpenAI Agents SDK processor, so Galileo / Langfuse / Kairos traces need the adapter (gap). The repo has a desktop app with a Langfuse import script. Licence: README says MIT but the repo has no LICENSE file and GitHub shows no licence → legal VERIFY before use. Telemetry: keep INFERENCE_API_KEY unset or traces upload to inference.net. Benchmark (vendor claim): AppWorld +15.8 pts dev / +10.7 test with prompt edits only.</a:t>
            </a:r>
          </a:p>
          <a:p>
            <a:r>
              <a:rPr lang="en-US"/>
              <a:t>Licences (GitHub, 15 Oct 2026): Mem0 Apache-2.0 (platform has optimisations not in OSS) [140][141]; Strands harness-sdk Apache-2.0 (sdk-python redirects here) [142], tools incl. mem0_memory Apache-2.0 [145], evals ActorSimulator [144]; Langfuse MIT core + ee/ [163]; Future AGI Apache-2.0 core + LICENSE-EE for ee/ directories, which features are EE = VERIFY [146][147]; agent-learning-kit README Apache-2.0 but GitHub shows Other [165] VERIFY; GEPA MIT [148], DSPy MIT [149]; τ²-bench MIT [153]; LangWatch Scenario Apache-2.0 [154]; Distilabel Apache-2.0 [155]; DeepEval Apache-2.0 [156]; TRL, Unsloth, verl, OpenRLHF Apache-2.0 [157]–[160]; Agent Lightning MIT [152]; Microsoft Trace MIT [151]; Opik Apache-2.0 alternative UI [161]. Left out: Arize Phoenix, Elastic License 2.0, not OSI [162]; TextGrad MIT but last push Jul 2025 [150].</a:t>
            </a:r>
          </a:p>
          <a:p>
            <a:r>
              <a:rPr lang="en-US"/>
              <a:t>Phases: 1 (day one) reuse collector, Langfuse, gateway and gates; add the adapter, HALO reports, cost SQL, GEPA, simulators (Strands / Scenario) and insights. 2 Mem0 lane, synthetic data, reward per task, Future AGI UI pilot. 3 fine-tuning: TRL / Unsloth, then reward RL with verl, OpenRLHF or Agent Lightning. Everything here is PROPOSED except the TODAY boxes.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slide (v14): References 8 of 8 for the harness-optimisation architecture (slide 23) and the overview updates on slides 3–4. All links returned 200 on 15 Oct 2026 (GitHub API used for licence fields). HALO: README states MIT but no LICENSE file exists (404) → VERIFY.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L1" Type="http://schemas.openxmlformats.org/officeDocument/2006/relationships/hyperlink" Target="https://www.gartner.com/en/articles/hype-cycle-for-artificial-intelligence" TargetMode="External"/><Relationship Id="rIdL2" Type="http://schemas.openxmlformats.org/officeDocument/2006/relationships/hyperlink" Target="https://www.gartner.com/en/articles/hype-cycle-for-artificial-intelligence" TargetMode="External"/><Relationship Id="rIdL3" Type="http://schemas.openxmlformats.org/officeDocument/2006/relationships/hyperlink" Target="https://www.gartner.com/en/articles/hype-cycle-for-agentic-ai" TargetMode="External"/><Relationship Id="rIdL4" Type="http://schemas.openxmlformats.org/officeDocument/2006/relationships/hyperlink" Target="https://www.gartner.com/en/articles/hype-cycle-for-agentic-ai" TargetMode="External"/><Relationship Id="rIdL5" Type="http://schemas.openxmlformats.org/officeDocument/2006/relationships/hyperlink" Target="https://www.gartner.com/en/newsroom/press-releases/2025-06-25-gartner-predicts-over-40-percent-of-agentic-ai-projects-will-be-canceled-by-end-of-2027" TargetMode="External"/><Relationship Id="rIdL6" Type="http://schemas.openxmlformats.org/officeDocument/2006/relationships/hyperlink" Target="https://www.gartner.com/en/newsroom/press-releases/2025-06-25-gartner-predicts-over-40-percent-of-agentic-ai-projects-will-be-canceled-by-end-of-2027" TargetMode="External"/><Relationship Id="rIdL7" Type="http://schemas.openxmlformats.org/officeDocument/2006/relationships/hyperlink" Target="https://www.gartner.com/en/newsroom/press-releases/2026-04-28-gartner-identifies-six-steps-to-manage-artificial-intelligence-agent-sprawl" TargetMode="External"/><Relationship Id="rIdL8" Type="http://schemas.openxmlformats.org/officeDocument/2006/relationships/hyperlink" Target="https://www.gartner.com/en/newsroom/press-releases/2026-04-28-gartner-identifies-six-steps-to-manage-artificial-intelligence-agent-sprawl" TargetMode="External"/><Relationship Id="rIdL9" Type="http://schemas.openxmlformats.org/officeDocument/2006/relationships/hyperlink" Target="https://www.gartner.com/en/newsroom/press-releases/2026-05-26-gartner-says-applying-uniform-governance-across-ai-agents-will-lead-to-enterprise-ai-agent-failure" TargetMode="External"/><Relationship Id="rIdL10" Type="http://schemas.openxmlformats.org/officeDocument/2006/relationships/hyperlink" Target="https://www.gartner.com/en/newsroom/press-releases/2026-05-26-gartner-says-applying-uniform-governance-across-ai-agents-will-lead-to-enterprise-ai-agent-failure" TargetMode="External"/><Relationship Id="rIdL11" Type="http://schemas.openxmlformats.org/officeDocument/2006/relationships/hyperlink" Target="https://www.verizon.com/about/investors/responsible-ai-program" TargetMode="External"/><Relationship Id="rIdL12" Type="http://schemas.openxmlformats.org/officeDocument/2006/relationships/hyperlink" Target="https://www.verizon.com/about/investors/responsible-ai-program" TargetMode="External"/><Relationship Id="rIdL13" Type="http://schemas.openxmlformats.org/officeDocument/2006/relationships/hyperlink" Target="https://mycareer.verizon.com/jobs/r-1100572/principal-engineer-aiml-engineer/" TargetMode="External"/><Relationship Id="rIdL14" Type="http://schemas.openxmlformats.org/officeDocument/2006/relationships/hyperlink" Target="https://www.fsb.org/uploads/JPMorgan-Chase.pdf" TargetMode="External"/><Relationship Id="rIdL15" Type="http://schemas.openxmlformats.org/officeDocument/2006/relationships/hyperlink" Target="https://www.jpmorganchase.com/about/technology/blog/fence-framework" TargetMode="External"/><Relationship Id="rIdL16" Type="http://schemas.openxmlformats.org/officeDocument/2006/relationships/hyperlink" Target="https://www.fsb.org/uploads/JPMorgan-Chase.pdf" TargetMode="External"/><Relationship Id="rIdL17" Type="http://schemas.openxmlformats.org/officeDocument/2006/relationships/hyperlink" Target="https://www.jpmorganchase.com/about/technology/blog/fence-framework" TargetMode="External"/><Relationship Id="rIdL18" Type="http://schemas.openxmlformats.org/officeDocument/2006/relationships/hyperlink" Target="https://www.microsoft.com/en-us/security/blog/2026/05/01/microsoft-agent-365-now-generally-available-expands-capabilities-and-integrations/" TargetMode="External"/><Relationship Id="rIdL19" Type="http://schemas.openxmlformats.org/officeDocument/2006/relationships/hyperlink" Target="https://learn.microsoft.com/en-us/entra/agent-id/whats-new-agent-id" TargetMode="External"/><Relationship Id="rIdL20" Type="http://schemas.openxmlformats.org/officeDocument/2006/relationships/hyperlink" Target="https://www.microsoft.com/en-us/security/blog/2026/05/01/microsoft-agent-365-now-generally-available-expands-capabilities-and-integrations/" TargetMode="External"/><Relationship Id="rIdL21" Type="http://schemas.openxmlformats.org/officeDocument/2006/relationships/hyperlink" Target="https://learn.microsoft.com/en-us/entra/agent-id/whats-new-agent-id" TargetMode="External"/><Relationship Id="rIdL22" Type="http://schemas.openxmlformats.org/officeDocument/2006/relationships/hyperlink" Target="https://www.neweconomies.co/p/y-combinator-spring-2026-batch" TargetMode="External"/><Relationship Id="rIdL23" Type="http://schemas.openxmlformats.org/officeDocument/2006/relationships/hyperlink" Target="https://www.neweconomies.co/p/y-combinator-spring-2026-batch" TargetMode="External"/><Relationship Id="rIdL24" Type="http://schemas.openxmlformats.org/officeDocument/2006/relationships/hyperlink" Target="https://elsewhere.news/en/crossing/yc-236" TargetMode="External"/><Relationship Id="rIdL25" Type="http://schemas.openxmlformats.org/officeDocument/2006/relationships/hyperlink" Target="https://elsewhere.news/en/crossing/yc-236" TargetMode="External"/><Relationship Id="rIdL26" Type="http://schemas.openxmlformats.org/officeDocument/2006/relationships/hyperlink" Target="https://www.ycombinator.com/companies/polymath" TargetMode="External"/><Relationship Id="rIdL27" Type="http://schemas.openxmlformats.org/officeDocument/2006/relationships/hyperlink" Target="https://www.ycombinator.com/companies/arga-labs" TargetMode="External"/><Relationship Id="rIdL28" Type="http://schemas.openxmlformats.org/officeDocument/2006/relationships/hyperlink" Target="https://www.ycombinator.com/companies/archal" TargetMode="External"/><Relationship Id="rIdL29" Type="http://schemas.openxmlformats.org/officeDocument/2006/relationships/hyperlink" Target="https://www.ycombinator.com/companies/olam-labs" TargetMode="External"/><Relationship Id="rIdL30" Type="http://schemas.openxmlformats.org/officeDocument/2006/relationships/hyperlink" Target="https://www.ycombinator.com/companies/agnost-ai" TargetMode="External"/><Relationship Id="rIdL31" Type="http://schemas.openxmlformats.org/officeDocument/2006/relationships/hyperlink" Target="https://www.ycombinator.com/companies/coarena" TargetMode="External"/><Relationship Id="rIdL32" Type="http://schemas.openxmlformats.org/officeDocument/2006/relationships/hyperlink" Target="https://www.ycombinator.com/companies/salus" TargetMode="External"/><Relationship Id="rIdL33" Type="http://schemas.openxmlformats.org/officeDocument/2006/relationships/hyperlink" Target="https://www.ycombinator.com/companies/decawork" TargetMode="External"/><Relationship Id="rIdL34" Type="http://schemas.openxmlformats.org/officeDocument/2006/relationships/hyperlink" Target="https://www.ycombinator.com/companies/silmaril" TargetMode="External"/><Relationship Id="rIdL35" Type="http://schemas.openxmlformats.org/officeDocument/2006/relationships/hyperlink" Target="https://www.ycombinator.com/companies/inkbox" TargetMode="External"/><Relationship Id="rIdL36" Type="http://schemas.openxmlformats.org/officeDocument/2006/relationships/hyperlink" Target="https://www.ycombinator.com/companies/clawvisor" TargetMode="External"/><Relationship Id="rIdL37" Type="http://schemas.openxmlformats.org/officeDocument/2006/relationships/hyperlink" Target="https://www.ycombinator.com/companies/maritime" TargetMode="External"/><Relationship Id="rIdL38" Type="http://schemas.openxmlformats.org/officeDocument/2006/relationships/hyperlink" Target="https://www.ycombinator.com/companies/agent-relay" TargetMode="External"/><Relationship Id="rIdL39" Type="http://schemas.openxmlformats.org/officeDocument/2006/relationships/hyperlink" Target="https://docs.galileo.ai/release-notes" TargetMode="External"/><Relationship Id="rIdL40" Type="http://schemas.openxmlformats.org/officeDocument/2006/relationships/hyperlink" Target="https://agent-observability-docs.splunk.com/sdk-api/third-party-integrations/opentelemetry-and-openinference" TargetMode="External"/><Relationship Id="rIdL41" Type="http://schemas.openxmlformats.org/officeDocument/2006/relationships/hyperlink" Target="https://blogs.cisco.com/news/cisco-announces-the-intent-to-acquire-galileo" TargetMode="External"/><Relationship Id="rIdL42" Type="http://schemas.openxmlformats.org/officeDocument/2006/relationships/hyperlink" Target="https://arize.com/docs/phoenix" TargetMode="External"/><Relationship Id="rIdL43" Type="http://schemas.openxmlformats.org/officeDocument/2006/relationships/hyperlink" Target="https://arize.com/" TargetMode="External"/><Relationship Id="rIdL44" Type="http://schemas.openxmlformats.org/officeDocument/2006/relationships/hyperlink" Target="https://developers.redhat.com/articles/2025/11/10/mcp-red-hat-developer-hub-chat-your-catalog" TargetMode="External"/><Relationship Id="rIdL45" Type="http://schemas.openxmlformats.org/officeDocument/2006/relationships/hyperlink" Target="https://github.com/Red-Hat-AI-Innovation-Team/sdg_hub/releases/tag/v0.9.1" TargetMode="External"/><Relationship Id="rIdL46" Type="http://schemas.openxmlformats.org/officeDocument/2006/relationships/hyperlink" Target="https://docs.redhat.com/en/documentation/red_hat_openshift_ai_self-managed/3.5/html/evaluating_ai_systems/evaluating-llms-with-evalhub_evaluate" TargetMode="External"/><Relationship Id="rIdL47" Type="http://schemas.openxmlformats.org/officeDocument/2006/relationships/hyperlink" Target="https://ai-innovation.team/training_hub/" TargetMode="External"/><Relationship Id="rIdL48" Type="http://schemas.openxmlformats.org/officeDocument/2006/relationships/hyperlink" Target="https://developers.redhat.com/articles/2026/09/09/deploy-nemo-guardrails-on-red-hat-openshift-ai" TargetMode="External"/><Relationship Id="rIdL49" Type="http://schemas.openxmlformats.org/officeDocument/2006/relationships/hyperlink" Target="https://arxiv.org/html/2507.19457" TargetMode="External"/><Relationship Id="rIdL50" Type="http://schemas.openxmlformats.org/officeDocument/2006/relationships/hyperlink" Target="https://mlflow.org/docs/latest/genai/prompt-registry/optimize-prompts/" TargetMode="External"/><Relationship Id="rIdL51" Type="http://schemas.openxmlformats.org/officeDocument/2006/relationships/hyperlink" Target="https://arxiv.org/html/2603.28052" TargetMode="External"/><Relationship Id="rIdL52" Type="http://schemas.openxmlformats.org/officeDocument/2006/relationships/hyperlink" Target="https://www.databricks.com/blog/building-state-art-enterprise-agents-90x-cheaper-automated-prompt-optimization" TargetMode="External"/><Relationship Id="rIdL53" Type="http://schemas.openxmlformats.org/officeDocument/2006/relationships/hyperlink" Target="https://www.ycombinator.com/launches/Lmp-zenbase-continuous-prompt-optimization-from-dspy-core-contributors" TargetMode="External"/><Relationship Id="rIdL54" Type="http://schemas.openxmlformats.org/officeDocument/2006/relationships/hyperlink" Target="https://lucidic.ai" TargetMode="External"/><Relationship Id="rIdL55" Type="http://schemas.openxmlformats.org/officeDocument/2006/relationships/hyperlink" Target="https://aws.amazon.com/blogs/machine-learning/strands-agents-sdk-a-technical-deep-dive-into-agent-architectures-and-observability/" TargetMode="External"/><Relationship Id="rIdL56" Type="http://schemas.openxmlformats.org/officeDocument/2006/relationships/hyperlink" Target="https://github.com/NVIDIA/garak" TargetMode="External"/><Relationship Id="rIdL57" Type="http://schemas.openxmlformats.org/officeDocument/2006/relationships/hyperlink" Target="https://github.com/confident-ai/deepteam" TargetMode="External"/><Relationship Id="rIdL58" Type="http://schemas.openxmlformats.org/officeDocument/2006/relationships/hyperlink" Target="https://generalanalysis.com/blog/general-analysis-raises-10m" TargetMode="External"/><Relationship Id="rIdL59" Type="http://schemas.openxmlformats.org/officeDocument/2006/relationships/hyperlink" Target="https://blogs.cisco.com/ai/agent-validation-explorer-edition" TargetMode="External"/><Relationship Id="rIdL60" Type="http://schemas.openxmlformats.org/officeDocument/2006/relationships/hyperlink" Target="https://genai.owasp.org/2025/12/09/owasp-top-10-for-agentic-applications-the-benchmark-for-agentic-security-in-the-age-of-autonomous-ai/" TargetMode="External"/><Relationship Id="rIdL61" Type="http://schemas.openxmlformats.org/officeDocument/2006/relationships/hyperlink" Target="https://galileo.ai/blog/announcing-agent-control" TargetMode="External"/><Relationship Id="rIdL62" Type="http://schemas.openxmlformats.org/officeDocument/2006/relationships/hyperlink" Target="https://www.ycombinator.com/companies/golf" TargetMode="External"/><Relationship Id="rIdL63" Type="http://schemas.openxmlformats.org/officeDocument/2006/relationships/hyperlink" Target="https://aws.amazon.com/about-aws/whats-new/2026/03/policy-amazon-bedrock-agentcore-generally-available/" TargetMode="External"/><Relationship Id="rIdL64" Type="http://schemas.openxmlformats.org/officeDocument/2006/relationships/hyperlink" Target="https://github.com/kagenti/kagenti" TargetMode="External"/><Relationship Id="rIdL65" Type="http://schemas.openxmlformats.org/officeDocument/2006/relationships/hyperlink" Target="https://cyclonedx.org/capabilities/mlbom/" TargetMode="External"/><Relationship Id="rIdL66" Type="http://schemas.openxmlformats.org/officeDocument/2006/relationships/hyperlink" Target="https://www.ycombinator.com/companies/credal-ai" TargetMode="External"/><Relationship Id="rIdL67" Type="http://schemas.openxmlformats.org/officeDocument/2006/relationships/hyperlink" Target="https://www.ibm.com/docs/en/watsonx/w-and-w/2.2.0?topic=ai-using-governed-agentic-catalog" TargetMode="External"/><Relationship Id="rIdL68" Type="http://schemas.openxmlformats.org/officeDocument/2006/relationships/hyperlink" Target="https://newsroom.servicenow.com/press-releases/details/2026/ServiceNow-expands-AI-Control-Tower-to-discover-observe-govern-secure-and-measure-AI-deployed-across-any-system-in-the-enterprise/default.aspx" TargetMode="External"/><Relationship Id="rIdL69" Type="http://schemas.openxmlformats.org/officeDocument/2006/relationships/hyperlink" Target="https://www.ycombinator.com/companies/laminar" TargetMode="External"/><Relationship Id="rIdL70" Type="http://schemas.openxmlformats.org/officeDocument/2006/relationships/hyperlink" Target="https://www.ycombinator.com/companies/confident-ai" TargetMode="External"/><Relationship Id="rIdL71" Type="http://schemas.openxmlformats.org/officeDocument/2006/relationships/hyperlink" Target="https://www.ycombinator.com/companies/coval" TargetMode="External"/><Relationship Id="rIdL72" Type="http://schemas.openxmlformats.org/officeDocument/2006/relationships/hyperlink" Target="https://docs.cloud.google.com/gemini-enterprise-agent-platform/optimize/evaluation/evaluate-simulated" TargetMode="External"/><Relationship Id="rIdL73" Type="http://schemas.openxmlformats.org/officeDocument/2006/relationships/hyperlink" Target="https://agentskills.io/" TargetMode="External"/><Relationship Id="rIdL74" Type="http://schemas.openxmlformats.org/officeDocument/2006/relationships/hyperlink" Target="https://code.claude.com/docs/en/plugins/org" TargetMode="External"/><Relationship Id="rIdL75" Type="http://schemas.openxmlformats.org/officeDocument/2006/relationships/hyperlink" Target="https://code.claude.com/docs/en/managed-settings" TargetMode="Externa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 Id="rIdL1" Type="http://schemas.openxmlformats.org/officeDocument/2006/relationships/hyperlink" Target="https://github.com/open-telemetry/semantic-conventions-genai/blob/main/docs/gen-ai/gen-ai-agent-spans.md" TargetMode="External"/><Relationship Id="rIdL2" Type="http://schemas.openxmlformats.org/officeDocument/2006/relationships/hyperlink" Target="https://github.com/open-telemetry/semantic-conventions-genai/blob/main/docs/gen-ai/gen-ai-agent-spans.md" TargetMode="External"/><Relationship Id="rIdL3" Type="http://schemas.openxmlformats.org/officeDocument/2006/relationships/hyperlink" Target="https://opentelemetry.io/docs/specs/semconv/registry/attributes/session/" TargetMode="External"/><Relationship Id="rIdL4" Type="http://schemas.openxmlformats.org/officeDocument/2006/relationships/hyperlink" Target="https://opentelemetry.io/docs/specs/semconv/registry/attributes/session/" TargetMode="External"/><Relationship Id="rIdL5" Type="http://schemas.openxmlformats.org/officeDocument/2006/relationships/hyperlink" Target="https://docs.galileo.ai/concepts/metrics/overview" TargetMode="External"/><Relationship Id="rIdL6" Type="http://schemas.openxmlformats.org/officeDocument/2006/relationships/hyperlink" Target="https://docs.galileo.ai/concepts/metrics/overview" TargetMode="External"/><Relationship Id="rIdL7" Type="http://schemas.openxmlformats.org/officeDocument/2006/relationships/hyperlink" Target="https://docs.galileo.ai/concepts/metrics/metric-comparison" TargetMode="External"/><Relationship Id="rIdL8" Type="http://schemas.openxmlformats.org/officeDocument/2006/relationships/hyperlink" Target="https://docs.galileo.ai/concepts/metrics/metric-comparison" TargetMode="External"/><Relationship Id="rIdL9" Type="http://schemas.openxmlformats.org/officeDocument/2006/relationships/hyperlink" Target="https://docs.galileo.ai/concepts/metrics/custom-metrics/custom-metrics-ui-llm" TargetMode="External"/><Relationship Id="rIdL10" Type="http://schemas.openxmlformats.org/officeDocument/2006/relationships/hyperlink" Target="https://docs.galileo.ai/concepts/metrics/custom-metrics/custom-metrics-ui-llm" TargetMode="External"/><Relationship Id="rIdL11" Type="http://schemas.openxmlformats.org/officeDocument/2006/relationships/hyperlink" Target="https://docs.galileo.ai/concepts/metrics/custom-metrics/custom-metrics-ui-code" TargetMode="External"/><Relationship Id="rIdL12" Type="http://schemas.openxmlformats.org/officeDocument/2006/relationships/hyperlink" Target="https://docs.galileo.ai/concepts/metrics/custom-metrics/custom-metrics-ui-code" TargetMode="External"/><Relationship Id="rIdL13" Type="http://schemas.openxmlformats.org/officeDocument/2006/relationships/hyperlink" Target="https://docs.galileo.ai/concepts/metrics/agentic/conversation-quality" TargetMode="External"/><Relationship Id="rIdL14" Type="http://schemas.openxmlformats.org/officeDocument/2006/relationships/hyperlink" Target="https://docs.galileo.ai/concepts/metrics/expression-and-readability/tone" TargetMode="External"/><Relationship Id="rIdL15" Type="http://schemas.openxmlformats.org/officeDocument/2006/relationships/hyperlink" Target="https://docs.galileo.ai/concepts/metrics/safety-and-compliance/toxicity" TargetMode="External"/><Relationship Id="rIdL16" Type="http://schemas.openxmlformats.org/officeDocument/2006/relationships/hyperlink" Target="https://docs.galileo.ai/concepts/metrics/safety-and-compliance/prompt-injection" TargetMode="External"/><Relationship Id="rIdL17" Type="http://schemas.openxmlformats.org/officeDocument/2006/relationships/hyperlink" Target="https://docs.galileo.ai/concepts/metrics/safety-and-compliance/pii" TargetMode="External"/><Relationship Id="rIdL18" Type="http://schemas.openxmlformats.org/officeDocument/2006/relationships/hyperlink" Target="https://docs.galileo.ai/concepts/metrics/agentic/action-completion" TargetMode="External"/><Relationship Id="rIdL19" Type="http://schemas.openxmlformats.org/officeDocument/2006/relationships/hyperlink" Target="https://docs.galileo.ai/concepts/metrics/agentic/action-advancement" TargetMode="External"/><Relationship Id="rIdL20" Type="http://schemas.openxmlformats.org/officeDocument/2006/relationships/hyperlink" Target="https://docs.galileo.ai/concepts/metrics/agentic/tool-selection-quality" TargetMode="External"/><Relationship Id="rIdL21" Type="http://schemas.openxmlformats.org/officeDocument/2006/relationships/hyperlink" Target="https://docs.galileo.ai/concepts/metrics/agentic/tool-error" TargetMode="External"/><Relationship Id="rIdL22" Type="http://schemas.openxmlformats.org/officeDocument/2006/relationships/hyperlink" Target="https://docs.galileo.ai/concepts/metrics/agentic/agent-flow" TargetMode="External"/><Relationship Id="rIdL23" Type="http://schemas.openxmlformats.org/officeDocument/2006/relationships/hyperlink" Target="https://docs.galileo.ai/concepts/metrics/agentic/agent-efficiency" TargetMode="External"/><Relationship Id="rIdL24" Type="http://schemas.openxmlformats.org/officeDocument/2006/relationships/hyperlink" Target="https://docs.galileo.ai/concepts/metrics/response-quality/correctness" TargetMode="External"/><Relationship Id="rIdL25" Type="http://schemas.openxmlformats.org/officeDocument/2006/relationships/hyperlink" Target="https://docs.galileo.ai/concepts/metrics/response-quality/instruction-adherence" TargetMode="External"/><Relationship Id="rIdL26" Type="http://schemas.openxmlformats.org/officeDocument/2006/relationships/hyperlink" Target="https://docs.galileo.ai/concepts/metrics/response-quality/context-adherence" TargetMode="External"/><Relationship Id="rIdL27" Type="http://schemas.openxmlformats.org/officeDocument/2006/relationships/hyperlink" Target="https://docs.galileo.ai/concepts/metrics/response-quality/completeness" TargetMode="Externa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L1" Type="http://schemas.openxmlformats.org/officeDocument/2006/relationships/hyperlink" Target="https://clickhouse.com/docs/resources/support-center/knowledge-base/troubleshooting/exception-too-many-parts" TargetMode="External"/><Relationship Id="rIdL2" Type="http://schemas.openxmlformats.org/officeDocument/2006/relationships/hyperlink" Target="https://clickhouse.com/docs/resources/support-center/knowledge-base/troubleshooting/exception-too-many-parts" TargetMode="External"/><Relationship Id="rIdL3" Type="http://schemas.openxmlformats.org/officeDocument/2006/relationships/hyperlink" Target="https://clickhouse.com/docs/concepts/best-practices/selecting-an-insert-strategy" TargetMode="External"/><Relationship Id="rIdL4" Type="http://schemas.openxmlformats.org/officeDocument/2006/relationships/hyperlink" Target="https://clickhouse.com/docs/concepts/best-practices/selecting-an-insert-strategy" TargetMode="External"/><Relationship Id="rIdL5" Type="http://schemas.openxmlformats.org/officeDocument/2006/relationships/hyperlink" Target="https://clickhouse.com/docs/concepts/features/operations/insert/inserting-data" TargetMode="External"/><Relationship Id="rIdL6" Type="http://schemas.openxmlformats.org/officeDocument/2006/relationships/hyperlink" Target="https://clickhouse.com/docs/concepts/features/operations/insert/inserting-data" TargetMode="External"/><Relationship Id="rIdL7" Type="http://schemas.openxmlformats.org/officeDocument/2006/relationships/hyperlink" Target="https://langfuse.com/self-hosting" TargetMode="External"/><Relationship Id="rIdL8" Type="http://schemas.openxmlformats.org/officeDocument/2006/relationships/hyperlink" Target="https://langfuse.com/self-hosting" TargetMode="External"/><Relationship Id="rIdL9" Type="http://schemas.openxmlformats.org/officeDocument/2006/relationships/hyperlink" Target="https://langfuse.com/self-hosting/license-key" TargetMode="External"/><Relationship Id="rIdL10" Type="http://schemas.openxmlformats.org/officeDocument/2006/relationships/hyperlink" Target="https://langfuse.com/self-hosting/license-key" TargetMode="External"/><Relationship Id="rIdL11" Type="http://schemas.openxmlformats.org/officeDocument/2006/relationships/hyperlink" Target="https://langfuse.com/self-hosting/security/authentication-and-sso" TargetMode="External"/><Relationship Id="rIdL12" Type="http://schemas.openxmlformats.org/officeDocument/2006/relationships/hyperlink" Target="https://langfuse.com/self-hosting/security/authentication-and-sso" TargetMode="External"/><Relationship Id="rIdL13" Type="http://schemas.openxmlformats.org/officeDocument/2006/relationships/hyperlink" Target="https://langfuse.com/self-hosting/deployment/infrastructure/clickhouse" TargetMode="External"/><Relationship Id="rIdL14" Type="http://schemas.openxmlformats.org/officeDocument/2006/relationships/hyperlink" Target="https://langfuse.com/self-hosting/deployment/infrastructure/clickhouse" TargetMode="External"/><Relationship Id="rIdL15" Type="http://schemas.openxmlformats.org/officeDocument/2006/relationships/hyperlink" Target="https://arize.com/docs/phoenix/self-hosting/license" TargetMode="External"/><Relationship Id="rIdL16" Type="http://schemas.openxmlformats.org/officeDocument/2006/relationships/hyperlink" Target="https://arize.com/docs/phoenix/self-hosting/license" TargetMode="External"/><Relationship Id="rIdL17" Type="http://schemas.openxmlformats.org/officeDocument/2006/relationships/hyperlink" Target="https://arize.com/docs/phoenix/self-hosting/architecture" TargetMode="External"/><Relationship Id="rIdL18" Type="http://schemas.openxmlformats.org/officeDocument/2006/relationships/hyperlink" Target="https://arize.com/docs/phoenix/self-hosting/architecture" TargetMode="External"/><Relationship Id="rIdL19" Type="http://schemas.openxmlformats.org/officeDocument/2006/relationships/hyperlink" Target="https://arize.com/docs/phoenix/self-hosting/features/authentication" TargetMode="External"/><Relationship Id="rIdL20" Type="http://schemas.openxmlformats.org/officeDocument/2006/relationships/hyperlink" Target="https://arize.com/docs/phoenix/self-hosting/features/authentication" TargetMode="External"/><Relationship Id="rIdL21" Type="http://schemas.openxmlformats.org/officeDocument/2006/relationships/hyperlink" Target="https://github.com/comet-ml/opik" TargetMode="External"/><Relationship Id="rIdL22" Type="http://schemas.openxmlformats.org/officeDocument/2006/relationships/hyperlink" Target="https://github.com/comet-ml/opik" TargetMode="External"/><Relationship Id="rIdL23" Type="http://schemas.openxmlformats.org/officeDocument/2006/relationships/hyperlink" Target="https://www.comet.com/docs/opik/self-host/architecture" TargetMode="External"/><Relationship Id="rIdL24" Type="http://schemas.openxmlformats.org/officeDocument/2006/relationships/hyperlink" Target="https://www.comet.com/docs/opik/self-host/architecture" TargetMode="External"/><Relationship Id="rIdL25" Type="http://schemas.openxmlformats.org/officeDocument/2006/relationships/hyperlink" Target="https://www.comet.com/docs/opik/self-host/scaling" TargetMode="External"/><Relationship Id="rIdL26" Type="http://schemas.openxmlformats.org/officeDocument/2006/relationships/hyperlink" Target="https://www.comet.com/docs/opik/self-host/scaling" TargetMode="External"/><Relationship Id="rIdL27" Type="http://schemas.openxmlformats.org/officeDocument/2006/relationships/hyperlink" Target="https://github.com/comet-ml/opik/issues/5303" TargetMode="External"/><Relationship Id="rIdL28" Type="http://schemas.openxmlformats.org/officeDocument/2006/relationships/hyperlink" Target="https://github.com/comet-ml/opik/issues/5303" TargetMode="External"/><Relationship Id="rIdL29" Type="http://schemas.openxmlformats.org/officeDocument/2006/relationships/hyperlink" Target="https://signoz.io/docs/manage/administrator-guide/sso/overview/" TargetMode="External"/><Relationship Id="rIdL30" Type="http://schemas.openxmlformats.org/officeDocument/2006/relationships/hyperlink" Target="https://signoz.io/docs/manage/administrator-guide/sso/overview/" TargetMode="External"/><Relationship Id="rIdL31" Type="http://schemas.openxmlformats.org/officeDocument/2006/relationships/hyperlink" Target="https://signoz.io/changelog/2025-05-28-sso-and-api-keys-in-community-edition-nj5nl7p6huac2qxetakcajmb/" TargetMode="External"/><Relationship Id="rIdL32" Type="http://schemas.openxmlformats.org/officeDocument/2006/relationships/hyperlink" Target="https://signoz.io/changelog/2025-05-28-sso-and-api-keys-in-community-edition-nj5nl7p6huac2qxetakcajmb/" TargetMode="External"/><Relationship Id="rIdL33" Type="http://schemas.openxmlformats.org/officeDocument/2006/relationships/hyperlink" Target="https://grafana.com/docs/grafana/latest/setup-grafana/configure-access/configure-authentication/" TargetMode="External"/><Relationship Id="rIdL34" Type="http://schemas.openxmlformats.org/officeDocument/2006/relationships/hyperlink" Target="https://grafana.com/docs/grafana/latest/setup-grafana/configure-access/configure-authentication/" TargetMode="External"/><Relationship Id="rIdL35" Type="http://schemas.openxmlformats.org/officeDocument/2006/relationships/hyperlink" Target="https://clickhouse.com/docs/integrations/connectors/data-sources/gcs" TargetMode="External"/><Relationship Id="rIdL36" Type="http://schemas.openxmlformats.org/officeDocument/2006/relationships/hyperlink" Target="https://clickhouse.com/docs/integrations/connectors/data-sources/gcs" TargetMode="External"/><Relationship Id="rIdL37" Type="http://schemas.openxmlformats.org/officeDocument/2006/relationships/hyperlink" Target="https://docs.cloud.google.com/vertex-ai/generative-ai/docs/multimodal/batch-prediction-gemini" TargetMode="External"/><Relationship Id="rIdL38" Type="http://schemas.openxmlformats.org/officeDocument/2006/relationships/hyperlink" Target="https://docs.cloud.google.com/vertex-ai/generative-ai/docs/multimodal/batch-prediction-gemini" TargetMode="External"/><Relationship Id="rIdL39" Type="http://schemas.openxmlformats.org/officeDocument/2006/relationships/hyperlink" Target="https://docs.cloud.google.com/vertex-ai/generative-ai/docs/quotas" TargetMode="External"/><Relationship Id="rIdL40" Type="http://schemas.openxmlformats.org/officeDocument/2006/relationships/hyperlink" Target="https://docs.cloud.google.com/vertex-ai/generative-ai/docs/quotas" TargetMode="External"/><Relationship Id="rIdL41" Type="http://schemas.openxmlformats.org/officeDocument/2006/relationships/hyperlink" Target="https://blog.lo0.es/en/posts/langfuse-inside-sorting-centre-bottleneck/" TargetMode="External"/><Relationship Id="rIdL42" Type="http://schemas.openxmlformats.org/officeDocument/2006/relationships/hyperlink" Target="https://blog.lo0.es/en/posts/langfuse-inside-sorting-centre-bottleneck/" TargetMode="External"/><Relationship Id="rIdL43" Type="http://schemas.openxmlformats.org/officeDocument/2006/relationships/hyperlink" Target="https://github.com/grafana/tempo" TargetMode="External"/><Relationship Id="rIdL44" Type="http://schemas.openxmlformats.org/officeDocument/2006/relationships/hyperlink" Target="https://github.com/grafana/tempo" TargetMode="Externa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 Id="rIdL1" Type="http://schemas.openxmlformats.org/officeDocument/2006/relationships/hyperlink" Target="https://beam.apache.org/get-started/beam-overview/" TargetMode="External"/><Relationship Id="rIdL2" Type="http://schemas.openxmlformats.org/officeDocument/2006/relationships/hyperlink" Target="https://beam.apache.org/get-started/beam-overview/" TargetMode="External"/><Relationship Id="rIdL3" Type="http://schemas.openxmlformats.org/officeDocument/2006/relationships/hyperlink" Target="https://docs.cloud.google.com/dataflow/docs/concepts/streaming-pipelines" TargetMode="External"/><Relationship Id="rIdL4" Type="http://schemas.openxmlformats.org/officeDocument/2006/relationships/hyperlink" Target="https://docs.cloud.google.com/dataflow/docs/concepts/streaming-pipelines" TargetMode="External"/><Relationship Id="rIdL5" Type="http://schemas.openxmlformats.org/officeDocument/2006/relationships/hyperlink" Target="https://beam.apache.org/documentation/programming-guide/" TargetMode="External"/><Relationship Id="rIdL6" Type="http://schemas.openxmlformats.org/officeDocument/2006/relationships/hyperlink" Target="https://beam.apache.org/documentation/programming-guide/" TargetMode="External"/><Relationship Id="rIdL7" Type="http://schemas.openxmlformats.org/officeDocument/2006/relationships/hyperlink" Target="https://beam.apache.org/blog/stateful-processing/" TargetMode="External"/><Relationship Id="rIdL8" Type="http://schemas.openxmlformats.org/officeDocument/2006/relationships/hyperlink" Target="https://beam.apache.org/blog/stateful-processing/" TargetMode="External"/><Relationship Id="rIdL9" Type="http://schemas.openxmlformats.org/officeDocument/2006/relationships/hyperlink" Target="https://docs.cloud.google.com/dataflow/docs/concepts/exactly-once" TargetMode="External"/><Relationship Id="rIdL10" Type="http://schemas.openxmlformats.org/officeDocument/2006/relationships/hyperlink" Target="https://docs.cloud.google.com/dataflow/docs/concepts/exactly-once" TargetMode="External"/><Relationship Id="rIdL11" Type="http://schemas.openxmlformats.org/officeDocument/2006/relationships/hyperlink" Target="https://docs.cloud.google.com/dataflow/docs/guides/write-to-iceberg" TargetMode="External"/><Relationship Id="rIdL12" Type="http://schemas.openxmlformats.org/officeDocument/2006/relationships/hyperlink" Target="https://docs.cloud.google.com/dataflow/docs/guides/write-to-iceberg" TargetMode="External"/><Relationship Id="rIdL13" Type="http://schemas.openxmlformats.org/officeDocument/2006/relationships/hyperlink" Target="https://docs.cloud.google.com/dataflow/docs/notebooks/run_inference_vertex_ai" TargetMode="External"/><Relationship Id="rIdL14" Type="http://schemas.openxmlformats.org/officeDocument/2006/relationships/hyperlink" Target="https://docs.cloud.google.com/dataflow/docs/notebooks/run_inference_vertex_ai" TargetMode="External"/><Relationship Id="rIdL15" Type="http://schemas.openxmlformats.org/officeDocument/2006/relationships/hyperlink" Target="https://docs.cloud.google.com/gemini-enterprise-agent-platform/machine-learning/predictions/autoscaling" TargetMode="External"/><Relationship Id="rIdL16" Type="http://schemas.openxmlformats.org/officeDocument/2006/relationships/hyperlink" Target="https://docs.cloud.google.com/gemini-enterprise-agent-platform/machine-learning/predictions/autoscaling" TargetMode="External"/><Relationship Id="rIdL17" Type="http://schemas.openxmlformats.org/officeDocument/2006/relationships/hyperlink" Target="https://docs.cloud.google.com/composer/docs/composer-3/composer-overview" TargetMode="External"/><Relationship Id="rIdL18" Type="http://schemas.openxmlformats.org/officeDocument/2006/relationships/hyperlink" Target="https://docs.cloud.google.com/composer/docs/composer-3/composer-overview" TargetMode="External"/><Relationship Id="rIdL19" Type="http://schemas.openxmlformats.org/officeDocument/2006/relationships/hyperlink" Target="https://docs.cloud.google.com/managed-spark/docs/serverless-overview" TargetMode="External"/><Relationship Id="rIdL20" Type="http://schemas.openxmlformats.org/officeDocument/2006/relationships/hyperlink" Target="https://docs.cloud.google.com/managed-spark/docs/serverless-overview" TargetMode="External"/><Relationship Id="rIdL21" Type="http://schemas.openxmlformats.org/officeDocument/2006/relationships/hyperlink" Target="https://docs.cloud.google.com/pubsub/docs/replay-overview" TargetMode="External"/><Relationship Id="rIdL22" Type="http://schemas.openxmlformats.org/officeDocument/2006/relationships/hyperlink" Target="https://docs.cloud.google.com/pubsub/docs/replay-overview" TargetMode="External"/><Relationship Id="rIdL23" Type="http://schemas.openxmlformats.org/officeDocument/2006/relationships/hyperlink" Target="https://cloud.google.com/dataflow/pricing" TargetMode="External"/><Relationship Id="rIdL24" Type="http://schemas.openxmlformats.org/officeDocument/2006/relationships/hyperlink" Target="https://cloud.google.com/dataflow/pricing" TargetMode="External"/><Relationship Id="rIdL25" Type="http://schemas.openxmlformats.org/officeDocument/2006/relationships/hyperlink" Target="https://cloud.google.com/products/managed-service-for-apache-spark/pricing" TargetMode="External"/><Relationship Id="rIdL26" Type="http://schemas.openxmlformats.org/officeDocument/2006/relationships/hyperlink" Target="https://cloud.google.com/products/managed-service-for-apache-spark/pricing" TargetMode="Externa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 Id="rIdL1" Type="http://schemas.openxmlformats.org/officeDocument/2006/relationships/hyperlink" Target="https://langfuse.com/integrations/native/opentelemetry" TargetMode="External"/><Relationship Id="rIdL2" Type="http://schemas.openxmlformats.org/officeDocument/2006/relationships/hyperlink" Target="https://langfuse.com/integrations/native/opentelemetry" TargetMode="External"/><Relationship Id="rIdL3" Type="http://schemas.openxmlformats.org/officeDocument/2006/relationships/hyperlink" Target="https://langfuse.com/docs/evaluation/evaluation-methods/scores-via-sdk" TargetMode="External"/><Relationship Id="rIdL4" Type="http://schemas.openxmlformats.org/officeDocument/2006/relationships/hyperlink" Target="https://langfuse.com/docs/evaluation/evaluation-methods/scores-via-sdk" TargetMode="External"/><Relationship Id="rIdL5" Type="http://schemas.openxmlformats.org/officeDocument/2006/relationships/hyperlink" Target="https://langfuse.com/docs/evaluation/scores/data-model" TargetMode="External"/><Relationship Id="rIdL6" Type="http://schemas.openxmlformats.org/officeDocument/2006/relationships/hyperlink" Target="https://langfuse.com/docs/evaluation/scores/data-model" TargetMode="External"/><Relationship Id="rIdL7" Type="http://schemas.openxmlformats.org/officeDocument/2006/relationships/hyperlink" Target="https://github.com/openlit/openlit" TargetMode="External"/><Relationship Id="rIdL8" Type="http://schemas.openxmlformats.org/officeDocument/2006/relationships/hyperlink" Target="https://github.com/openlit/openlit" TargetMode="External"/><Relationship Id="rIdL9" Type="http://schemas.openxmlformats.org/officeDocument/2006/relationships/hyperlink" Target="https://github.com/traceloop/openllmetry/blob/main/LICENSE" TargetMode="External"/><Relationship Id="rIdL10" Type="http://schemas.openxmlformats.org/officeDocument/2006/relationships/hyperlink" Target="https://github.com/traceloop/openllmetry/blob/main/LICENSE" TargetMode="External"/><Relationship Id="rIdL11" Type="http://schemas.openxmlformats.org/officeDocument/2006/relationships/hyperlink" Target="https://github.com/openobserve/openobserve" TargetMode="External"/><Relationship Id="rIdL12" Type="http://schemas.openxmlformats.org/officeDocument/2006/relationships/hyperlink" Target="https://github.com/openobserve/openobserve" TargetMode="External"/><Relationship Id="rIdL13" Type="http://schemas.openxmlformats.org/officeDocument/2006/relationships/hyperlink" Target="https://openobserve.ai/docs/user-guide/account-administration/identity-and-access-management/sso/" TargetMode="External"/><Relationship Id="rIdL14" Type="http://schemas.openxmlformats.org/officeDocument/2006/relationships/hyperlink" Target="https://openobserve.ai/docs/user-guide/account-administration/identity-and-access-management/sso/" TargetMode="External"/><Relationship Id="rIdL15" Type="http://schemas.openxmlformats.org/officeDocument/2006/relationships/hyperlink" Target="https://www.elastic.co/pricing/faq/licensing" TargetMode="External"/><Relationship Id="rIdL16" Type="http://schemas.openxmlformats.org/officeDocument/2006/relationships/hyperlink" Target="https://www.elastic.co/pricing/faq/licensing" TargetMode="External"/><Relationship Id="rIdL17" Type="http://schemas.openxmlformats.org/officeDocument/2006/relationships/hyperlink" Target="https://docs.opensearch.org/latest/security/authentication-backends/openid-connect/" TargetMode="External"/><Relationship Id="rIdL18" Type="http://schemas.openxmlformats.org/officeDocument/2006/relationships/hyperlink" Target="https://docs.opensearch.org/latest/security/authentication-backends/openid-connect/" TargetMode="External"/><Relationship Id="rIdL19" Type="http://schemas.openxmlformats.org/officeDocument/2006/relationships/hyperlink" Target="https://docs.cloud.google.com/pubsub/docs/subscription-overview" TargetMode="External"/><Relationship Id="rIdL20" Type="http://schemas.openxmlformats.org/officeDocument/2006/relationships/hyperlink" Target="https://docs.cloud.google.com/pubsub/docs/subscription-overview" TargetMode="External"/><Relationship Id="rIdL21" Type="http://schemas.openxmlformats.org/officeDocument/2006/relationships/hyperlink" Target="https://docs.cloud.google.com/pubsub/docs/bigquery" TargetMode="External"/><Relationship Id="rIdL22" Type="http://schemas.openxmlformats.org/officeDocument/2006/relationships/hyperlink" Target="https://docs.cloud.google.com/pubsub/docs/bigquery" TargetMode="External"/><Relationship Id="rIdL23" Type="http://schemas.openxmlformats.org/officeDocument/2006/relationships/hyperlink" Target="https://docs.cloud.google.com/pubsub/docs/dead-letter-topics" TargetMode="External"/><Relationship Id="rIdL24" Type="http://schemas.openxmlformats.org/officeDocument/2006/relationships/hyperlink" Target="https://docs.cloud.google.com/pubsub/docs/dead-letter-topics" TargetMode="External"/><Relationship Id="rIdL25" Type="http://schemas.openxmlformats.org/officeDocument/2006/relationships/hyperlink" Target="https://docs.cloud.google.com/pubsub/docs/subscription-message-filter" TargetMode="External"/><Relationship Id="rIdL26" Type="http://schemas.openxmlformats.org/officeDocument/2006/relationships/hyperlink" Target="https://docs.cloud.google.com/pubsub/docs/subscription-message-filter" TargetMode="External"/><Relationship Id="rIdL27" Type="http://schemas.openxmlformats.org/officeDocument/2006/relationships/hyperlink" Target="https://github.com/open-telemetry/opentelemetry-collector-contrib/blob/main/connector/routingconnector/README.md" TargetMode="External"/><Relationship Id="rIdL28" Type="http://schemas.openxmlformats.org/officeDocument/2006/relationships/hyperlink" Target="https://github.com/open-telemetry/opentelemetry-collector-contrib/blob/main/connector/routingconnector/README.md" TargetMode="External"/><Relationship Id="rIdL29" Type="http://schemas.openxmlformats.org/officeDocument/2006/relationships/hyperlink" Target="https://github.com/agentcontrol/agent-control" TargetMode="External"/><Relationship Id="rIdL30" Type="http://schemas.openxmlformats.org/officeDocument/2006/relationships/hyperlink" Target="https://github.com/agentcontrol/agent-control" TargetMode="External"/><Relationship Id="rIdL31" Type="http://schemas.openxmlformats.org/officeDocument/2006/relationships/hyperlink" Target="https://galileo.ai/blog/announcing-agent-control" TargetMode="External"/><Relationship Id="rIdL32" Type="http://schemas.openxmlformats.org/officeDocument/2006/relationships/hyperlink" Target="https://galileo.ai/blog/announcing-agent-control" TargetMode="External"/><Relationship Id="rIdL33" Type="http://schemas.openxmlformats.org/officeDocument/2006/relationships/hyperlink" Target="https://apnews.com/press-release/globenewswire-mobile/galileo-releases-open-source-ai-agent-control-plane-to-help-enterprises-govern-agents-at-scale-4c9f9ffa2ed9ce8ddaae0ceac7ce7c39" TargetMode="External"/><Relationship Id="rIdL34" Type="http://schemas.openxmlformats.org/officeDocument/2006/relationships/hyperlink" Target="https://apnews.com/press-release/globenewswire-mobile/galileo-releases-open-source-ai-agent-control-plane-to-help-enterprises-govern-agents-at-scale-4c9f9ffa2ed9ce8ddaae0ceac7ce7c39" TargetMode="External"/><Relationship Id="rIdL35" Type="http://schemas.openxmlformats.org/officeDocument/2006/relationships/hyperlink" Target="https://docs.agentcontrol.dev/concepts/architecture" TargetMode="External"/><Relationship Id="rIdL36" Type="http://schemas.openxmlformats.org/officeDocument/2006/relationships/hyperlink" Target="https://docs.agentcontrol.dev/concepts/architecture" TargetMode="External"/><Relationship Id="rIdL37" Type="http://schemas.openxmlformats.org/officeDocument/2006/relationships/hyperlink" Target="https://docs.agentcontrol.dev/components/server" TargetMode="External"/><Relationship Id="rIdL38" Type="http://schemas.openxmlformats.org/officeDocument/2006/relationships/hyperlink" Target="https://docs.agentcontrol.dev/components/server" TargetMode="External"/><Relationship Id="rIdL39" Type="http://schemas.openxmlformats.org/officeDocument/2006/relationships/hyperlink" Target="https://github.com/microsoft/agent-governance-toolkit" TargetMode="External"/><Relationship Id="rIdL40" Type="http://schemas.openxmlformats.org/officeDocument/2006/relationships/hyperlink" Target="https://github.com/microsoft/agent-governance-toolkit" TargetMode="External"/><Relationship Id="rIdL41" Type="http://schemas.openxmlformats.org/officeDocument/2006/relationships/hyperlink" Target="https://github.com/microsoft/agent-governance-toolkit/blob/main/docs/FAQ.md" TargetMode="External"/><Relationship Id="rIdL42" Type="http://schemas.openxmlformats.org/officeDocument/2006/relationships/hyperlink" Target="https://github.com/microsoft/agent-governance-toolkit/blob/main/docs/FAQ.md" TargetMode="External"/><Relationship Id="rIdL43" Type="http://schemas.openxmlformats.org/officeDocument/2006/relationships/hyperlink" Target="https://github.com/jaegertracing/jaeger" TargetMode="External"/><Relationship Id="rIdL44" Type="http://schemas.openxmlformats.org/officeDocument/2006/relationships/hyperlink" Target="https://github.com/jaegertracing/jaeger" TargetMode="External"/><Relationship Id="rIdL45" Type="http://schemas.openxmlformats.org/officeDocument/2006/relationships/hyperlink" Target="https://github.com/open-policy-agent/opa" TargetMode="External"/><Relationship Id="rIdL46" Type="http://schemas.openxmlformats.org/officeDocument/2006/relationships/hyperlink" Target="https://github.com/open-policy-agent/opa" TargetMode="External"/><Relationship Id="rIdL47" Type="http://schemas.openxmlformats.org/officeDocument/2006/relationships/hyperlink" Target="https://github.com/cedar-policy/cedar" TargetMode="External"/><Relationship Id="rIdL48" Type="http://schemas.openxmlformats.org/officeDocument/2006/relationships/hyperlink" Target="https://github.com/cedar-policy/cedar" TargetMode="External"/><Relationship Id="rIdL49" Type="http://schemas.openxmlformats.org/officeDocument/2006/relationships/hyperlink" Target="https://github.com/NVIDIA-NeMo/Guardrails" TargetMode="External"/><Relationship Id="rIdL50" Type="http://schemas.openxmlformats.org/officeDocument/2006/relationships/hyperlink" Target="https://github.com/NVIDIA-NeMo/Guardrails" TargetMode="Externa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 Id="rIdL1" Type="http://schemas.openxmlformats.org/officeDocument/2006/relationships/hyperlink" Target="https://github.com/akanthed/SecureAI-Scan" TargetMode="External"/><Relationship Id="rIdL2" Type="http://schemas.openxmlformats.org/officeDocument/2006/relationships/hyperlink" Target="https://github.com/akanthed/SecureAI-Scan" TargetMode="External"/><Relationship Id="rIdL3" Type="http://schemas.openxmlformats.org/officeDocument/2006/relationships/hyperlink" Target="https://api.github.com/repos/akanthed/SecureAI-Scan" TargetMode="External"/><Relationship Id="rIdL4" Type="http://schemas.openxmlformats.org/officeDocument/2006/relationships/hyperlink" Target="https://api.github.com/repos/akanthed/SecureAI-Scan" TargetMode="External"/><Relationship Id="rIdL5" Type="http://schemas.openxmlformats.org/officeDocument/2006/relationships/hyperlink" Target="https://github.com/snyk/agent-scan" TargetMode="External"/><Relationship Id="rIdL6" Type="http://schemas.openxmlformats.org/officeDocument/2006/relationships/hyperlink" Target="https://github.com/snyk/agent-scan" TargetMode="External"/><Relationship Id="rIdL7" Type="http://schemas.openxmlformats.org/officeDocument/2006/relationships/hyperlink" Target="https://github.com/NVIDIA/garak" TargetMode="External"/><Relationship Id="rIdL8" Type="http://schemas.openxmlformats.org/officeDocument/2006/relationships/hyperlink" Target="https://github.com/NVIDIA/garak" TargetMode="External"/><Relationship Id="rIdL9" Type="http://schemas.openxmlformats.org/officeDocument/2006/relationships/hyperlink" Target="https://github.com/microsoft/PyRIT" TargetMode="External"/><Relationship Id="rIdL10" Type="http://schemas.openxmlformats.org/officeDocument/2006/relationships/hyperlink" Target="https://github.com/microsoft/PyRIT" TargetMode="External"/><Relationship Id="rIdL11" Type="http://schemas.openxmlformats.org/officeDocument/2006/relationships/hyperlink" Target="https://github.com/promptfoo/promptfoo" TargetMode="External"/><Relationship Id="rIdL12" Type="http://schemas.openxmlformats.org/officeDocument/2006/relationships/hyperlink" Target="https://github.com/promptfoo/promptfoo" TargetMode="External"/><Relationship Id="rIdL13" Type="http://schemas.openxmlformats.org/officeDocument/2006/relationships/hyperlink" Target="https://openai.com/index/openai-to-acquire-promptfoo/" TargetMode="External"/><Relationship Id="rIdL14" Type="http://schemas.openxmlformats.org/officeDocument/2006/relationships/hyperlink" Target="https://openai.com/index/openai-to-acquire-promptfoo/" TargetMode="External"/><Relationship Id="rIdL15" Type="http://schemas.openxmlformats.org/officeDocument/2006/relationships/hyperlink" Target="https://www.promptfoo.dev/blog/promptfoo-joining-openai/" TargetMode="External"/><Relationship Id="rIdL16" Type="http://schemas.openxmlformats.org/officeDocument/2006/relationships/hyperlink" Target="https://www.promptfoo.dev/blog/promptfoo-joining-openai/" TargetMode="External"/><Relationship Id="rIdL17" Type="http://schemas.openxmlformats.org/officeDocument/2006/relationships/hyperlink" Target="https://learn.microsoft.com/en-us/azure/foundry/concepts/ai-red-teaming-agent" TargetMode="External"/><Relationship Id="rIdL18" Type="http://schemas.openxmlformats.org/officeDocument/2006/relationships/hyperlink" Target="https://learn.microsoft.com/en-us/azure/foundry/concepts/ai-red-teaming-agent" TargetMode="External"/><Relationship Id="rIdL19" Type="http://schemas.openxmlformats.org/officeDocument/2006/relationships/hyperlink" Target="https://learn.microsoft.com/en-us/azure/foundry/how-to/develop/run-scans-ai-red-teaming-agent" TargetMode="External"/><Relationship Id="rIdL20" Type="http://schemas.openxmlformats.org/officeDocument/2006/relationships/hyperlink" Target="https://learn.microsoft.com/en-us/azure/foundry/how-to/develop/run-scans-ai-red-teaming-agent" TargetMode="External"/><Relationship Id="rIdL21" Type="http://schemas.openxmlformats.org/officeDocument/2006/relationships/hyperlink" Target="https://openai.github.io/openai-agents-python/guardrails/" TargetMode="External"/><Relationship Id="rIdL22" Type="http://schemas.openxmlformats.org/officeDocument/2006/relationships/hyperlink" Target="https://openai.github.io/openai-agents-python/guardrails/" TargetMode="External"/><Relationship Id="rIdL23" Type="http://schemas.openxmlformats.org/officeDocument/2006/relationships/hyperlink" Target="https://openai.github.io/openai-agents-python/ref/tool_guardrails/" TargetMode="External"/><Relationship Id="rIdL24" Type="http://schemas.openxmlformats.org/officeDocument/2006/relationships/hyperlink" Target="https://openai.github.io/openai-agents-python/ref/tool_guardrails/" TargetMode="External"/><Relationship Id="rIdL25" Type="http://schemas.openxmlformats.org/officeDocument/2006/relationships/hyperlink" Target="https://developers.openai.com/api/docs/guides/agents/guardrails-approvals" TargetMode="External"/><Relationship Id="rIdL26" Type="http://schemas.openxmlformats.org/officeDocument/2006/relationships/hyperlink" Target="https://developers.openai.com/api/docs/guides/agents/guardrails-approvals" TargetMode="External"/><Relationship Id="rIdL27" Type="http://schemas.openxmlformats.org/officeDocument/2006/relationships/hyperlink" Target="https://docs.litellm.ai/docs/proxy/guardrails/quick_start" TargetMode="External"/><Relationship Id="rIdL28" Type="http://schemas.openxmlformats.org/officeDocument/2006/relationships/hyperlink" Target="https://docs.litellm.ai/docs/proxy/guardrails/quick_start" TargetMode="External"/><Relationship Id="rIdL29" Type="http://schemas.openxmlformats.org/officeDocument/2006/relationships/hyperlink" Target="https://docs.litellm.ai/docs/adding_provider/generic_guardrail_api" TargetMode="External"/><Relationship Id="rIdL30" Type="http://schemas.openxmlformats.org/officeDocument/2006/relationships/hyperlink" Target="https://docs.litellm.ai/docs/adding_provider/generic_guardrail_api" TargetMode="External"/><Relationship Id="rIdL31" Type="http://schemas.openxmlformats.org/officeDocument/2006/relationships/hyperlink" Target="https://docs.litellm.ai/docs/guardrail_providers" TargetMode="External"/><Relationship Id="rIdL32" Type="http://schemas.openxmlformats.org/officeDocument/2006/relationships/hyperlink" Target="https://docs.litellm.ai/docs/guardrail_providers" TargetMode="External"/><Relationship Id="rIdL33" Type="http://schemas.openxmlformats.org/officeDocument/2006/relationships/hyperlink" Target="https://github.com/BerriAI/litellm/discussions/5321" TargetMode="External"/><Relationship Id="rIdL34" Type="http://schemas.openxmlformats.org/officeDocument/2006/relationships/hyperlink" Target="https://github.com/BerriAI/litellm/discussions/5321" TargetMode="External"/><Relationship Id="rIdL35" Type="http://schemas.openxmlformats.org/officeDocument/2006/relationships/hyperlink" Target="https://docs.litellm.ai/docs/proxy/guardrails/team_based_guardrails" TargetMode="External"/><Relationship Id="rIdL36" Type="http://schemas.openxmlformats.org/officeDocument/2006/relationships/hyperlink" Target="https://docs.litellm.ai/docs/proxy/guardrails/team_based_guardrails" TargetMode="External"/><Relationship Id="rIdL37" Type="http://schemas.openxmlformats.org/officeDocument/2006/relationships/hyperlink" Target="https://docs.litellm.ai/docs/proxy/guardrails/tool_permission" TargetMode="External"/><Relationship Id="rIdL38" Type="http://schemas.openxmlformats.org/officeDocument/2006/relationships/hyperlink" Target="https://docs.litellm.ai/docs/proxy/guardrails/tool_permission" TargetMode="External"/><Relationship Id="rIdL39" Type="http://schemas.openxmlformats.org/officeDocument/2006/relationships/hyperlink" Target="https://github.com/data-privacy-stack/presidio" TargetMode="External"/><Relationship Id="rIdL40" Type="http://schemas.openxmlformats.org/officeDocument/2006/relationships/hyperlink" Target="https://github.com/data-privacy-stack/presidio" TargetMode="External"/><Relationship Id="rIdL41" Type="http://schemas.openxmlformats.org/officeDocument/2006/relationships/hyperlink" Target="https://learn.microsoft.com/en-us/azure/ai-services/content-safety/concepts/jailbreak-detection" TargetMode="External"/><Relationship Id="rIdL42" Type="http://schemas.openxmlformats.org/officeDocument/2006/relationships/hyperlink" Target="https://learn.microsoft.com/en-us/azure/ai-services/content-safety/concepts/jailbreak-detection" TargetMode="External"/><Relationship Id="rIdL43" Type="http://schemas.openxmlformats.org/officeDocument/2006/relationships/hyperlink" Target="https://owasp.org/www-project-top-10-for-large-language-model-applications/" TargetMode="External"/><Relationship Id="rIdL44" Type="http://schemas.openxmlformats.org/officeDocument/2006/relationships/hyperlink" Target="https://owasp.org/www-project-top-10-for-large-language-model-applications/" TargetMode="External"/><Relationship Id="rIdL45" Type="http://schemas.openxmlformats.org/officeDocument/2006/relationships/hyperlink" Target="https://genai.owasp.org/resource/owasp-top-10-for-agentic-applications-for-2026/" TargetMode="External"/><Relationship Id="rIdL46" Type="http://schemas.openxmlformats.org/officeDocument/2006/relationships/hyperlink" Target="https://genai.owasp.org/resource/owasp-top-10-for-agentic-applications-for-2026/" TargetMode="External"/><Relationship Id="rIdL47" Type="http://schemas.openxmlformats.org/officeDocument/2006/relationships/hyperlink" Target="https://docs.sysdig.com/en/sysdig-secure/vulnerability-management/" TargetMode="External"/><Relationship Id="rIdL48" Type="http://schemas.openxmlformats.org/officeDocument/2006/relationships/hyperlink" Target="https://docs.sysdig.com/en/sysdig-secure/vulnerability-management/" TargetMode="Externa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 Id="rIdL1" Type="http://schemas.openxmlformats.org/officeDocument/2006/relationships/hyperlink" Target="https://langfuse.com/self-hosting/configuration/scaling" TargetMode="External"/><Relationship Id="rIdL2" Type="http://schemas.openxmlformats.org/officeDocument/2006/relationships/hyperlink" Target="https://langfuse.com/self-hosting/configuration/scaling" TargetMode="External"/><Relationship Id="rIdL3" Type="http://schemas.openxmlformats.org/officeDocument/2006/relationships/hyperlink" Target="https://langfuse.com/self-hosting/deployment/infrastructure/cache" TargetMode="External"/><Relationship Id="rIdL4" Type="http://schemas.openxmlformats.org/officeDocument/2006/relationships/hyperlink" Target="https://langfuse.com/self-hosting/deployment/infrastructure/cache" TargetMode="External"/><Relationship Id="rIdL5" Type="http://schemas.openxmlformats.org/officeDocument/2006/relationships/hyperlink" Target="https://langfuse.com/self-hosting/deployment/infrastructure/blobstorage" TargetMode="External"/><Relationship Id="rIdL6" Type="http://schemas.openxmlformats.org/officeDocument/2006/relationships/hyperlink" Target="https://langfuse.com/self-hosting/deployment/infrastructure/blobstorage" TargetMode="External"/><Relationship Id="rIdL7" Type="http://schemas.openxmlformats.org/officeDocument/2006/relationships/hyperlink" Target="https://langfuse.com/self-hosting/deployment/infrastructure/postgres" TargetMode="External"/><Relationship Id="rIdL8" Type="http://schemas.openxmlformats.org/officeDocument/2006/relationships/hyperlink" Target="https://langfuse.com/self-hosting/deployment/infrastructure/postgres" TargetMode="External"/><Relationship Id="rIdL9" Type="http://schemas.openxmlformats.org/officeDocument/2006/relationships/hyperlink" Target="https://github.com/langfuse/langfuse-terraform-gcp" TargetMode="External"/><Relationship Id="rIdL10" Type="http://schemas.openxmlformats.org/officeDocument/2006/relationships/hyperlink" Target="https://github.com/langfuse/langfuse-terraform-gcp" TargetMode="Externa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 Id="rIdL1" Type="http://schemas.openxmlformats.org/officeDocument/2006/relationships/hyperlink" Target="https://github.com/context-labs/HALO" TargetMode="External"/><Relationship Id="rIdL2" Type="http://schemas.openxmlformats.org/officeDocument/2006/relationships/hyperlink" Target="https://github.com/context-labs/HALO" TargetMode="External"/><Relationship Id="rIdL3" Type="http://schemas.openxmlformats.org/officeDocument/2006/relationships/hyperlink" Target="https://pypi.org/project/halo-engine/" TargetMode="External"/><Relationship Id="rIdL4" Type="http://schemas.openxmlformats.org/officeDocument/2006/relationships/hyperlink" Target="https://pypi.org/project/halo-engine/" TargetMode="External"/><Relationship Id="rIdL5" Type="http://schemas.openxmlformats.org/officeDocument/2006/relationships/hyperlink" Target="https://github.com/alexzhang13/rlm" TargetMode="External"/><Relationship Id="rIdL6" Type="http://schemas.openxmlformats.org/officeDocument/2006/relationships/hyperlink" Target="https://github.com/alexzhang13/rlm" TargetMode="External"/><Relationship Id="rIdL7" Type="http://schemas.openxmlformats.org/officeDocument/2006/relationships/hyperlink" Target="https://github.com/mem0ai/mem0" TargetMode="External"/><Relationship Id="rIdL8" Type="http://schemas.openxmlformats.org/officeDocument/2006/relationships/hyperlink" Target="https://github.com/mem0ai/mem0" TargetMode="External"/><Relationship Id="rIdL9" Type="http://schemas.openxmlformats.org/officeDocument/2006/relationships/hyperlink" Target="https://docs.mem0.ai/open-source/overview" TargetMode="External"/><Relationship Id="rIdL10" Type="http://schemas.openxmlformats.org/officeDocument/2006/relationships/hyperlink" Target="https://docs.mem0.ai/open-source/overview" TargetMode="External"/><Relationship Id="rIdL11" Type="http://schemas.openxmlformats.org/officeDocument/2006/relationships/hyperlink" Target="https://github.com/strands-agents/harness-sdk" TargetMode="External"/><Relationship Id="rIdL12" Type="http://schemas.openxmlformats.org/officeDocument/2006/relationships/hyperlink" Target="https://github.com/strands-agents/harness-sdk" TargetMode="External"/><Relationship Id="rIdL13" Type="http://schemas.openxmlformats.org/officeDocument/2006/relationships/hyperlink" Target="https://strandsagents.com/docs/user-guide/sdk/observability-evaluation/traces/" TargetMode="External"/><Relationship Id="rIdL14" Type="http://schemas.openxmlformats.org/officeDocument/2006/relationships/hyperlink" Target="https://strandsagents.com/docs/user-guide/sdk/observability-evaluation/traces/" TargetMode="External"/><Relationship Id="rIdL15" Type="http://schemas.openxmlformats.org/officeDocument/2006/relationships/hyperlink" Target="https://strandsagents.com/docs/user-guide/evals-sdk/simulators/user_simulation/" TargetMode="External"/><Relationship Id="rIdL16" Type="http://schemas.openxmlformats.org/officeDocument/2006/relationships/hyperlink" Target="https://strandsagents.com/docs/user-guide/evals-sdk/simulators/user_simulation/" TargetMode="External"/><Relationship Id="rIdL17" Type="http://schemas.openxmlformats.org/officeDocument/2006/relationships/hyperlink" Target="https://github.com/strands-agents/tools/blob/main/src/strands_tools/mem0_memory.py" TargetMode="External"/><Relationship Id="rIdL18" Type="http://schemas.openxmlformats.org/officeDocument/2006/relationships/hyperlink" Target="https://github.com/strands-agents/tools/blob/main/src/strands_tools/mem0_memory.py" TargetMode="External"/><Relationship Id="rIdL19" Type="http://schemas.openxmlformats.org/officeDocument/2006/relationships/hyperlink" Target="https://github.com/future-agi/future-agi" TargetMode="External"/><Relationship Id="rIdL20" Type="http://schemas.openxmlformats.org/officeDocument/2006/relationships/hyperlink" Target="https://github.com/future-agi/future-agi" TargetMode="External"/><Relationship Id="rIdL21" Type="http://schemas.openxmlformats.org/officeDocument/2006/relationships/hyperlink" Target="https://github.com/future-agi/future-agi/blob/main/LICENSE-EE" TargetMode="External"/><Relationship Id="rIdL22" Type="http://schemas.openxmlformats.org/officeDocument/2006/relationships/hyperlink" Target="https://github.com/future-agi/future-agi/blob/main/LICENSE-EE" TargetMode="External"/><Relationship Id="rIdL23" Type="http://schemas.openxmlformats.org/officeDocument/2006/relationships/hyperlink" Target="https://github.com/gepa-ai/gepa" TargetMode="External"/><Relationship Id="rIdL24" Type="http://schemas.openxmlformats.org/officeDocument/2006/relationships/hyperlink" Target="https://github.com/gepa-ai/gepa" TargetMode="External"/><Relationship Id="rIdL25" Type="http://schemas.openxmlformats.org/officeDocument/2006/relationships/hyperlink" Target="https://dspy.ai/api/optimizers/GEPA/overview/" TargetMode="External"/><Relationship Id="rIdL26" Type="http://schemas.openxmlformats.org/officeDocument/2006/relationships/hyperlink" Target="https://dspy.ai/api/optimizers/GEPA/overview/" TargetMode="External"/><Relationship Id="rIdL27" Type="http://schemas.openxmlformats.org/officeDocument/2006/relationships/hyperlink" Target="https://github.com/zou-group/textgrad" TargetMode="External"/><Relationship Id="rIdL28" Type="http://schemas.openxmlformats.org/officeDocument/2006/relationships/hyperlink" Target="https://github.com/zou-group/textgrad" TargetMode="External"/><Relationship Id="rIdL29" Type="http://schemas.openxmlformats.org/officeDocument/2006/relationships/hyperlink" Target="https://github.com/microsoft/Trace" TargetMode="External"/><Relationship Id="rIdL30" Type="http://schemas.openxmlformats.org/officeDocument/2006/relationships/hyperlink" Target="https://github.com/microsoft/Trace" TargetMode="External"/><Relationship Id="rIdL31" Type="http://schemas.openxmlformats.org/officeDocument/2006/relationships/hyperlink" Target="https://github.com/microsoft/agent-lightning" TargetMode="External"/><Relationship Id="rIdL32" Type="http://schemas.openxmlformats.org/officeDocument/2006/relationships/hyperlink" Target="https://github.com/microsoft/agent-lightning" TargetMode="External"/><Relationship Id="rIdL33" Type="http://schemas.openxmlformats.org/officeDocument/2006/relationships/hyperlink" Target="https://github.com/sierra-research/tau2-bench" TargetMode="External"/><Relationship Id="rIdL34" Type="http://schemas.openxmlformats.org/officeDocument/2006/relationships/hyperlink" Target="https://github.com/sierra-research/tau2-bench" TargetMode="External"/><Relationship Id="rIdL35" Type="http://schemas.openxmlformats.org/officeDocument/2006/relationships/hyperlink" Target="https://github.com/langwatch/scenario" TargetMode="External"/><Relationship Id="rIdL36" Type="http://schemas.openxmlformats.org/officeDocument/2006/relationships/hyperlink" Target="https://github.com/langwatch/scenario" TargetMode="External"/><Relationship Id="rIdL37" Type="http://schemas.openxmlformats.org/officeDocument/2006/relationships/hyperlink" Target="https://github.com/argilla-io/distilabel" TargetMode="External"/><Relationship Id="rIdL38" Type="http://schemas.openxmlformats.org/officeDocument/2006/relationships/hyperlink" Target="https://github.com/argilla-io/distilabel" TargetMode="External"/><Relationship Id="rIdL39" Type="http://schemas.openxmlformats.org/officeDocument/2006/relationships/hyperlink" Target="https://deepeval.com/docs/synthesizer-introduction" TargetMode="External"/><Relationship Id="rIdL40" Type="http://schemas.openxmlformats.org/officeDocument/2006/relationships/hyperlink" Target="https://deepeval.com/docs/synthesizer-introduction" TargetMode="External"/><Relationship Id="rIdL41" Type="http://schemas.openxmlformats.org/officeDocument/2006/relationships/hyperlink" Target="https://github.com/huggingface/trl" TargetMode="External"/><Relationship Id="rIdL42" Type="http://schemas.openxmlformats.org/officeDocument/2006/relationships/hyperlink" Target="https://github.com/huggingface/trl" TargetMode="External"/><Relationship Id="rIdL43" Type="http://schemas.openxmlformats.org/officeDocument/2006/relationships/hyperlink" Target="https://github.com/unslothai/unsloth" TargetMode="External"/><Relationship Id="rIdL44" Type="http://schemas.openxmlformats.org/officeDocument/2006/relationships/hyperlink" Target="https://github.com/unslothai/unsloth" TargetMode="External"/><Relationship Id="rIdL45" Type="http://schemas.openxmlformats.org/officeDocument/2006/relationships/hyperlink" Target="https://github.com/verl-project/verl" TargetMode="External"/><Relationship Id="rIdL46" Type="http://schemas.openxmlformats.org/officeDocument/2006/relationships/hyperlink" Target="https://github.com/verl-project/verl" TargetMode="External"/><Relationship Id="rIdL47" Type="http://schemas.openxmlformats.org/officeDocument/2006/relationships/hyperlink" Target="https://github.com/OpenRLHF/OpenRLHF" TargetMode="External"/><Relationship Id="rIdL48" Type="http://schemas.openxmlformats.org/officeDocument/2006/relationships/hyperlink" Target="https://github.com/OpenRLHF/OpenRLHF" TargetMode="External"/><Relationship Id="rIdL49" Type="http://schemas.openxmlformats.org/officeDocument/2006/relationships/hyperlink" Target="https://github.com/comet-ml/opik" TargetMode="External"/><Relationship Id="rIdL50" Type="http://schemas.openxmlformats.org/officeDocument/2006/relationships/hyperlink" Target="https://github.com/comet-ml/opik" TargetMode="External"/><Relationship Id="rIdL51" Type="http://schemas.openxmlformats.org/officeDocument/2006/relationships/hyperlink" Target="https://github.com/Arize-ai/phoenix/blob/main/LICENSE" TargetMode="External"/><Relationship Id="rIdL52" Type="http://schemas.openxmlformats.org/officeDocument/2006/relationships/hyperlink" Target="https://github.com/Arize-ai/phoenix/blob/main/LICENSE" TargetMode="External"/><Relationship Id="rIdL53" Type="http://schemas.openxmlformats.org/officeDocument/2006/relationships/hyperlink" Target="https://github.com/langfuse/langfuse/blob/main/LICENSE" TargetMode="External"/><Relationship Id="rIdL54" Type="http://schemas.openxmlformats.org/officeDocument/2006/relationships/hyperlink" Target="https://github.com/langfuse/langfuse/blob/main/LICENSE" TargetMode="External"/><Relationship Id="rIdL55" Type="http://schemas.openxmlformats.org/officeDocument/2006/relationships/hyperlink" Target="https://github.com/openai/openai-agents-python" TargetMode="External"/><Relationship Id="rIdL56" Type="http://schemas.openxmlformats.org/officeDocument/2006/relationships/hyperlink" Target="https://github.com/openai/openai-agents-python" TargetMode="External"/><Relationship Id="rIdL57" Type="http://schemas.openxmlformats.org/officeDocument/2006/relationships/hyperlink" Target="https://github.com/future-agi/agent-learning-kit" TargetMode="External"/><Relationship Id="rIdL58" Type="http://schemas.openxmlformats.org/officeDocument/2006/relationships/hyperlink" Target="https://github.com/future-agi/agent-learning-kit" TargetMode="External"/></Relationships>
</file>

<file path=ppt/slides/slide10.xml><?xml version="1.0" encoding="utf-8"?>
<p:sld xmlns:a="http://schemas.openxmlformats.org/drawingml/2006/main" xmlns:r="http://schemas.openxmlformats.org/officeDocument/2006/relationships" xmlns:p="http://schemas.openxmlformats.org/presentationml/2006/main">
  <p:cSld name="Slide 10">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717036" y="-5362956"/>
            <a:ext cx="8621878" cy="8621878"/>
          </a:xfrm>
          <a:prstGeom prst="ellipse">
            <a:avLst/>
          </a:prstGeom>
          <a:solidFill>
            <a:srgbClr val="8A0F1A">
              <a:alpha val="2547"/>
            </a:srgbClr>
          </a:solidFill>
          <a:ln/>
        </p:spPr>
      </p:sp>
      <p:sp>
        <p:nvSpPr>
          <p:cNvPr id="3" name="Shape 1"/>
          <p:cNvSpPr/>
          <p:nvPr/>
        </p:nvSpPr>
        <p:spPr>
          <a:xfrm>
            <a:off x="-3537414" y="-5183334"/>
            <a:ext cx="8262633" cy="8262633"/>
          </a:xfrm>
          <a:prstGeom prst="ellipse">
            <a:avLst/>
          </a:prstGeom>
          <a:solidFill>
            <a:srgbClr val="8A0F1A">
              <a:alpha val="4218"/>
            </a:srgbClr>
          </a:solidFill>
          <a:ln/>
        </p:spPr>
      </p:sp>
      <p:sp>
        <p:nvSpPr>
          <p:cNvPr id="4" name="Shape 2"/>
          <p:cNvSpPr/>
          <p:nvPr/>
        </p:nvSpPr>
        <p:spPr>
          <a:xfrm>
            <a:off x="-3357791" y="-5003711"/>
            <a:ext cx="7903388" cy="7903388"/>
          </a:xfrm>
          <a:prstGeom prst="ellipse">
            <a:avLst/>
          </a:prstGeom>
          <a:solidFill>
            <a:srgbClr val="8A0F1A">
              <a:alpha val="4138"/>
            </a:srgbClr>
          </a:solidFill>
          <a:ln/>
        </p:spPr>
      </p:sp>
      <p:sp>
        <p:nvSpPr>
          <p:cNvPr id="5" name="Shape 3"/>
          <p:cNvSpPr/>
          <p:nvPr/>
        </p:nvSpPr>
        <p:spPr>
          <a:xfrm>
            <a:off x="-3178169" y="-4824089"/>
            <a:ext cx="7544143" cy="7544143"/>
          </a:xfrm>
          <a:prstGeom prst="ellipse">
            <a:avLst/>
          </a:prstGeom>
          <a:solidFill>
            <a:srgbClr val="8A0F1A">
              <a:alpha val="2636"/>
            </a:srgbClr>
          </a:solidFill>
          <a:ln/>
        </p:spPr>
      </p:sp>
      <p:sp>
        <p:nvSpPr>
          <p:cNvPr id="6" name="Shape 4"/>
          <p:cNvSpPr/>
          <p:nvPr/>
        </p:nvSpPr>
        <p:spPr>
          <a:xfrm>
            <a:off x="-2998546" y="-4644466"/>
            <a:ext cx="7184898" cy="7184898"/>
          </a:xfrm>
          <a:prstGeom prst="ellipse">
            <a:avLst/>
          </a:prstGeom>
          <a:solidFill>
            <a:srgbClr val="8A0F1A">
              <a:alpha val="2661"/>
            </a:srgbClr>
          </a:solidFill>
          <a:ln/>
        </p:spPr>
      </p:sp>
      <p:sp>
        <p:nvSpPr>
          <p:cNvPr id="7" name="Shape 5"/>
          <p:cNvSpPr/>
          <p:nvPr/>
        </p:nvSpPr>
        <p:spPr>
          <a:xfrm>
            <a:off x="-2818924" y="-4464844"/>
            <a:ext cx="6825653" cy="6825653"/>
          </a:xfrm>
          <a:prstGeom prst="ellipse">
            <a:avLst/>
          </a:prstGeom>
          <a:solidFill>
            <a:srgbClr val="8A0F1A">
              <a:alpha val="3304"/>
            </a:srgbClr>
          </a:solidFill>
          <a:ln/>
        </p:spPr>
      </p:sp>
      <p:sp>
        <p:nvSpPr>
          <p:cNvPr id="8" name="Shape 6"/>
          <p:cNvSpPr/>
          <p:nvPr/>
        </p:nvSpPr>
        <p:spPr>
          <a:xfrm>
            <a:off x="-2639301" y="-4285221"/>
            <a:ext cx="6466408" cy="6466408"/>
          </a:xfrm>
          <a:prstGeom prst="ellipse">
            <a:avLst/>
          </a:prstGeom>
          <a:solidFill>
            <a:srgbClr val="8A0F1A">
              <a:alpha val="3622"/>
            </a:srgbClr>
          </a:solidFill>
          <a:ln/>
        </p:spPr>
      </p:sp>
      <p:sp>
        <p:nvSpPr>
          <p:cNvPr id="9" name="Shape 7"/>
          <p:cNvSpPr/>
          <p:nvPr/>
        </p:nvSpPr>
        <p:spPr>
          <a:xfrm>
            <a:off x="-2459679" y="-4105599"/>
            <a:ext cx="6107163" cy="6107163"/>
          </a:xfrm>
          <a:prstGeom prst="ellipse">
            <a:avLst/>
          </a:prstGeom>
          <a:solidFill>
            <a:srgbClr val="8A0F1A">
              <a:alpha val="3650"/>
            </a:srgbClr>
          </a:solidFill>
          <a:ln/>
        </p:spPr>
      </p:sp>
      <p:sp>
        <p:nvSpPr>
          <p:cNvPr id="10" name="Shape 8"/>
          <p:cNvSpPr/>
          <p:nvPr/>
        </p:nvSpPr>
        <p:spPr>
          <a:xfrm>
            <a:off x="-2280056" y="-3925976"/>
            <a:ext cx="5747918" cy="5747918"/>
          </a:xfrm>
          <a:prstGeom prst="ellipse">
            <a:avLst/>
          </a:prstGeom>
          <a:solidFill>
            <a:srgbClr val="8A0F1A">
              <a:alpha val="3631"/>
            </a:srgbClr>
          </a:solidFill>
          <a:ln/>
        </p:spPr>
      </p:sp>
      <p:sp>
        <p:nvSpPr>
          <p:cNvPr id="11" name="Shape 9"/>
          <p:cNvSpPr/>
          <p:nvPr/>
        </p:nvSpPr>
        <p:spPr>
          <a:xfrm>
            <a:off x="-2100434" y="-3746354"/>
            <a:ext cx="5388674" cy="5388674"/>
          </a:xfrm>
          <a:prstGeom prst="ellipse">
            <a:avLst/>
          </a:prstGeom>
          <a:solidFill>
            <a:srgbClr val="8A0F1A">
              <a:alpha val="3693"/>
            </a:srgbClr>
          </a:solidFill>
          <a:ln/>
        </p:spPr>
      </p:sp>
      <p:sp>
        <p:nvSpPr>
          <p:cNvPr id="12" name="Shape 10"/>
          <p:cNvSpPr/>
          <p:nvPr/>
        </p:nvSpPr>
        <p:spPr>
          <a:xfrm>
            <a:off x="-1920812" y="-3566731"/>
            <a:ext cx="5029429" cy="5029429"/>
          </a:xfrm>
          <a:prstGeom prst="ellipse">
            <a:avLst/>
          </a:prstGeom>
          <a:solidFill>
            <a:srgbClr val="8A0F1A">
              <a:alpha val="4536"/>
            </a:srgbClr>
          </a:solidFill>
          <a:ln/>
        </p:spPr>
      </p:sp>
      <p:sp>
        <p:nvSpPr>
          <p:cNvPr id="13" name="Shape 11"/>
          <p:cNvSpPr/>
          <p:nvPr/>
        </p:nvSpPr>
        <p:spPr>
          <a:xfrm>
            <a:off x="-1741189" y="-3387109"/>
            <a:ext cx="4670184" cy="4670184"/>
          </a:xfrm>
          <a:prstGeom prst="ellipse">
            <a:avLst/>
          </a:prstGeom>
          <a:solidFill>
            <a:srgbClr val="8A0F1A">
              <a:alpha val="4737"/>
            </a:srgbClr>
          </a:solidFill>
          <a:ln/>
        </p:spPr>
      </p:sp>
      <p:sp>
        <p:nvSpPr>
          <p:cNvPr id="14" name="Shape 12"/>
          <p:cNvSpPr/>
          <p:nvPr/>
        </p:nvSpPr>
        <p:spPr>
          <a:xfrm>
            <a:off x="-1561567" y="-3207487"/>
            <a:ext cx="4310939" cy="4310939"/>
          </a:xfrm>
          <a:prstGeom prst="ellipse">
            <a:avLst/>
          </a:prstGeom>
          <a:solidFill>
            <a:srgbClr val="8A0F1A">
              <a:alpha val="4994"/>
            </a:srgbClr>
          </a:solidFill>
          <a:ln/>
        </p:spPr>
      </p:sp>
      <p:sp>
        <p:nvSpPr>
          <p:cNvPr id="15" name="Shape 13"/>
          <p:cNvSpPr/>
          <p:nvPr/>
        </p:nvSpPr>
        <p:spPr>
          <a:xfrm>
            <a:off x="-1381944" y="-3027864"/>
            <a:ext cx="3951694" cy="3951694"/>
          </a:xfrm>
          <a:prstGeom prst="ellipse">
            <a:avLst/>
          </a:prstGeom>
          <a:solidFill>
            <a:srgbClr val="8A0F1A">
              <a:alpha val="5272"/>
            </a:srgbClr>
          </a:solidFill>
          <a:ln/>
        </p:spPr>
      </p:sp>
      <p:sp>
        <p:nvSpPr>
          <p:cNvPr id="16" name="Shape 14"/>
          <p:cNvSpPr/>
          <p:nvPr/>
        </p:nvSpPr>
        <p:spPr>
          <a:xfrm>
            <a:off x="-1202322" y="-2848242"/>
            <a:ext cx="3592449" cy="3592449"/>
          </a:xfrm>
          <a:prstGeom prst="ellipse">
            <a:avLst/>
          </a:prstGeom>
          <a:solidFill>
            <a:srgbClr val="8A0F1A">
              <a:alpha val="5521"/>
            </a:srgbClr>
          </a:solidFill>
          <a:ln/>
        </p:spPr>
      </p:sp>
      <p:sp>
        <p:nvSpPr>
          <p:cNvPr id="17" name="Shape 15"/>
          <p:cNvSpPr/>
          <p:nvPr/>
        </p:nvSpPr>
        <p:spPr>
          <a:xfrm>
            <a:off x="-1022699" y="-2668619"/>
            <a:ext cx="3233204" cy="3233204"/>
          </a:xfrm>
          <a:prstGeom prst="ellipse">
            <a:avLst/>
          </a:prstGeom>
          <a:solidFill>
            <a:srgbClr val="8A0F1A">
              <a:alpha val="6496"/>
            </a:srgbClr>
          </a:solidFill>
          <a:ln/>
        </p:spPr>
      </p:sp>
      <p:sp>
        <p:nvSpPr>
          <p:cNvPr id="18" name="Shape 16"/>
          <p:cNvSpPr/>
          <p:nvPr/>
        </p:nvSpPr>
        <p:spPr>
          <a:xfrm>
            <a:off x="-843077" y="-2488997"/>
            <a:ext cx="2873959" cy="2873959"/>
          </a:xfrm>
          <a:prstGeom prst="ellipse">
            <a:avLst/>
          </a:prstGeom>
          <a:solidFill>
            <a:srgbClr val="8A0F1A">
              <a:alpha val="6768"/>
            </a:srgbClr>
          </a:solidFill>
          <a:ln/>
        </p:spPr>
      </p:sp>
      <p:sp>
        <p:nvSpPr>
          <p:cNvPr id="19" name="Shape 17"/>
          <p:cNvSpPr/>
          <p:nvPr/>
        </p:nvSpPr>
        <p:spPr>
          <a:xfrm>
            <a:off x="-663454" y="-2309374"/>
            <a:ext cx="2514714" cy="2514714"/>
          </a:xfrm>
          <a:prstGeom prst="ellipse">
            <a:avLst/>
          </a:prstGeom>
          <a:solidFill>
            <a:srgbClr val="8A0F1A">
              <a:alpha val="7123"/>
            </a:srgbClr>
          </a:solidFill>
          <a:ln/>
        </p:spPr>
      </p:sp>
      <p:sp>
        <p:nvSpPr>
          <p:cNvPr id="20" name="Shape 18"/>
          <p:cNvSpPr/>
          <p:nvPr/>
        </p:nvSpPr>
        <p:spPr>
          <a:xfrm>
            <a:off x="-483832" y="-2129752"/>
            <a:ext cx="2155469" cy="2155469"/>
          </a:xfrm>
          <a:prstGeom prst="ellipse">
            <a:avLst/>
          </a:prstGeom>
          <a:solidFill>
            <a:srgbClr val="8A0F1A">
              <a:alpha val="7486"/>
            </a:srgbClr>
          </a:solidFill>
          <a:ln/>
        </p:spPr>
      </p:sp>
      <p:sp>
        <p:nvSpPr>
          <p:cNvPr id="21" name="Shape 19"/>
          <p:cNvSpPr/>
          <p:nvPr/>
        </p:nvSpPr>
        <p:spPr>
          <a:xfrm>
            <a:off x="-304209" y="-1950129"/>
            <a:ext cx="1796225" cy="1796225"/>
          </a:xfrm>
          <a:prstGeom prst="ellipse">
            <a:avLst/>
          </a:prstGeom>
          <a:solidFill>
            <a:srgbClr val="8A0F1A">
              <a:alpha val="8191"/>
            </a:srgbClr>
          </a:solidFill>
          <a:ln/>
        </p:spPr>
      </p:sp>
      <p:sp>
        <p:nvSpPr>
          <p:cNvPr id="22" name="Shape 20"/>
          <p:cNvSpPr/>
          <p:nvPr/>
        </p:nvSpPr>
        <p:spPr>
          <a:xfrm>
            <a:off x="-124587" y="-1770507"/>
            <a:ext cx="1436980" cy="1436980"/>
          </a:xfrm>
          <a:prstGeom prst="ellipse">
            <a:avLst/>
          </a:prstGeom>
          <a:solidFill>
            <a:srgbClr val="8A0F1A">
              <a:alpha val="9466"/>
            </a:srgbClr>
          </a:solidFill>
          <a:ln/>
        </p:spPr>
      </p:sp>
      <p:sp>
        <p:nvSpPr>
          <p:cNvPr id="23" name="Shape 21"/>
          <p:cNvSpPr/>
          <p:nvPr/>
        </p:nvSpPr>
        <p:spPr>
          <a:xfrm>
            <a:off x="55035" y="-1590885"/>
            <a:ext cx="1077735" cy="1077735"/>
          </a:xfrm>
          <a:prstGeom prst="ellipse">
            <a:avLst/>
          </a:prstGeom>
          <a:solidFill>
            <a:srgbClr val="8A0F1A">
              <a:alpha val="10120"/>
            </a:srgbClr>
          </a:solidFill>
          <a:ln/>
        </p:spPr>
      </p:sp>
      <p:sp>
        <p:nvSpPr>
          <p:cNvPr id="24" name="Shape 22"/>
          <p:cNvSpPr/>
          <p:nvPr/>
        </p:nvSpPr>
        <p:spPr>
          <a:xfrm>
            <a:off x="234658" y="-1411262"/>
            <a:ext cx="718490" cy="718490"/>
          </a:xfrm>
          <a:prstGeom prst="ellipse">
            <a:avLst/>
          </a:prstGeom>
          <a:solidFill>
            <a:srgbClr val="8A0F1A">
              <a:alpha val="10280"/>
            </a:srgbClr>
          </a:solidFill>
          <a:ln/>
        </p:spPr>
      </p:sp>
      <p:sp>
        <p:nvSpPr>
          <p:cNvPr id="25" name="Shape 23"/>
          <p:cNvSpPr/>
          <p:nvPr/>
        </p:nvSpPr>
        <p:spPr>
          <a:xfrm>
            <a:off x="414280" y="-1231640"/>
            <a:ext cx="359245" cy="359245"/>
          </a:xfrm>
          <a:prstGeom prst="ellipse">
            <a:avLst/>
          </a:prstGeom>
          <a:solidFill>
            <a:srgbClr val="8A0F1A">
              <a:alpha val="10999"/>
            </a:srgbClr>
          </a:solidFill>
          <a:ln/>
        </p:spPr>
      </p:sp>
      <p:sp>
        <p:nvSpPr>
          <p:cNvPr id="26" name="Shape 24"/>
          <p:cNvSpPr/>
          <p:nvPr/>
        </p:nvSpPr>
        <p:spPr>
          <a:xfrm>
            <a:off x="895198" y="3602736"/>
            <a:ext cx="8621878" cy="8621878"/>
          </a:xfrm>
          <a:prstGeom prst="ellipse">
            <a:avLst/>
          </a:prstGeom>
          <a:solidFill>
            <a:srgbClr val="8A0F1A">
              <a:alpha val="2547"/>
            </a:srgbClr>
          </a:solidFill>
          <a:ln/>
        </p:spPr>
      </p:sp>
      <p:sp>
        <p:nvSpPr>
          <p:cNvPr id="27" name="Shape 25"/>
          <p:cNvSpPr/>
          <p:nvPr/>
        </p:nvSpPr>
        <p:spPr>
          <a:xfrm>
            <a:off x="1074820" y="3782358"/>
            <a:ext cx="8262633" cy="8262633"/>
          </a:xfrm>
          <a:prstGeom prst="ellipse">
            <a:avLst/>
          </a:prstGeom>
          <a:solidFill>
            <a:srgbClr val="8A0F1A">
              <a:alpha val="4218"/>
            </a:srgbClr>
          </a:solidFill>
          <a:ln/>
        </p:spPr>
      </p:sp>
      <p:sp>
        <p:nvSpPr>
          <p:cNvPr id="28" name="Shape 26"/>
          <p:cNvSpPr/>
          <p:nvPr/>
        </p:nvSpPr>
        <p:spPr>
          <a:xfrm>
            <a:off x="1254443" y="3961981"/>
            <a:ext cx="7903388" cy="7903388"/>
          </a:xfrm>
          <a:prstGeom prst="ellipse">
            <a:avLst/>
          </a:prstGeom>
          <a:solidFill>
            <a:srgbClr val="8A0F1A">
              <a:alpha val="4138"/>
            </a:srgbClr>
          </a:solidFill>
          <a:ln/>
        </p:spPr>
      </p:sp>
      <p:sp>
        <p:nvSpPr>
          <p:cNvPr id="29" name="Shape 27"/>
          <p:cNvSpPr/>
          <p:nvPr/>
        </p:nvSpPr>
        <p:spPr>
          <a:xfrm>
            <a:off x="1434065" y="4141603"/>
            <a:ext cx="7544143" cy="7544143"/>
          </a:xfrm>
          <a:prstGeom prst="ellipse">
            <a:avLst/>
          </a:prstGeom>
          <a:solidFill>
            <a:srgbClr val="8A0F1A">
              <a:alpha val="2636"/>
            </a:srgbClr>
          </a:solidFill>
          <a:ln/>
        </p:spPr>
      </p:sp>
      <p:sp>
        <p:nvSpPr>
          <p:cNvPr id="30" name="Shape 28"/>
          <p:cNvSpPr/>
          <p:nvPr/>
        </p:nvSpPr>
        <p:spPr>
          <a:xfrm>
            <a:off x="1613687" y="4321226"/>
            <a:ext cx="7184898" cy="7184898"/>
          </a:xfrm>
          <a:prstGeom prst="ellipse">
            <a:avLst/>
          </a:prstGeom>
          <a:solidFill>
            <a:srgbClr val="8A0F1A">
              <a:alpha val="2661"/>
            </a:srgbClr>
          </a:solidFill>
          <a:ln/>
        </p:spPr>
      </p:sp>
      <p:sp>
        <p:nvSpPr>
          <p:cNvPr id="31" name="Shape 29"/>
          <p:cNvSpPr/>
          <p:nvPr/>
        </p:nvSpPr>
        <p:spPr>
          <a:xfrm>
            <a:off x="1793310" y="4500848"/>
            <a:ext cx="6825653" cy="6825653"/>
          </a:xfrm>
          <a:prstGeom prst="ellipse">
            <a:avLst/>
          </a:prstGeom>
          <a:solidFill>
            <a:srgbClr val="8A0F1A">
              <a:alpha val="3304"/>
            </a:srgbClr>
          </a:solidFill>
          <a:ln/>
        </p:spPr>
      </p:sp>
      <p:sp>
        <p:nvSpPr>
          <p:cNvPr id="32" name="Shape 30"/>
          <p:cNvSpPr/>
          <p:nvPr/>
        </p:nvSpPr>
        <p:spPr>
          <a:xfrm>
            <a:off x="1972932" y="4680471"/>
            <a:ext cx="6466408" cy="6466408"/>
          </a:xfrm>
          <a:prstGeom prst="ellipse">
            <a:avLst/>
          </a:prstGeom>
          <a:solidFill>
            <a:srgbClr val="8A0F1A">
              <a:alpha val="3622"/>
            </a:srgbClr>
          </a:solidFill>
          <a:ln/>
        </p:spPr>
      </p:sp>
      <p:sp>
        <p:nvSpPr>
          <p:cNvPr id="33" name="Shape 31"/>
          <p:cNvSpPr/>
          <p:nvPr/>
        </p:nvSpPr>
        <p:spPr>
          <a:xfrm>
            <a:off x="2152555" y="4860093"/>
            <a:ext cx="6107163" cy="6107163"/>
          </a:xfrm>
          <a:prstGeom prst="ellipse">
            <a:avLst/>
          </a:prstGeom>
          <a:solidFill>
            <a:srgbClr val="8A0F1A">
              <a:alpha val="3650"/>
            </a:srgbClr>
          </a:solidFill>
          <a:ln/>
        </p:spPr>
      </p:sp>
      <p:sp>
        <p:nvSpPr>
          <p:cNvPr id="34" name="Shape 32"/>
          <p:cNvSpPr/>
          <p:nvPr/>
        </p:nvSpPr>
        <p:spPr>
          <a:xfrm>
            <a:off x="2332177" y="5039716"/>
            <a:ext cx="5747918" cy="5747918"/>
          </a:xfrm>
          <a:prstGeom prst="ellipse">
            <a:avLst/>
          </a:prstGeom>
          <a:solidFill>
            <a:srgbClr val="8A0F1A">
              <a:alpha val="3631"/>
            </a:srgbClr>
          </a:solidFill>
          <a:ln/>
        </p:spPr>
      </p:sp>
      <p:sp>
        <p:nvSpPr>
          <p:cNvPr id="35" name="Shape 33"/>
          <p:cNvSpPr/>
          <p:nvPr/>
        </p:nvSpPr>
        <p:spPr>
          <a:xfrm>
            <a:off x="2511800" y="5219338"/>
            <a:ext cx="5388674" cy="5388674"/>
          </a:xfrm>
          <a:prstGeom prst="ellipse">
            <a:avLst/>
          </a:prstGeom>
          <a:solidFill>
            <a:srgbClr val="8A0F1A">
              <a:alpha val="3693"/>
            </a:srgbClr>
          </a:solidFill>
          <a:ln/>
        </p:spPr>
      </p:sp>
      <p:sp>
        <p:nvSpPr>
          <p:cNvPr id="36" name="Shape 34"/>
          <p:cNvSpPr/>
          <p:nvPr/>
        </p:nvSpPr>
        <p:spPr>
          <a:xfrm>
            <a:off x="2691422" y="5398961"/>
            <a:ext cx="5029429" cy="5029429"/>
          </a:xfrm>
          <a:prstGeom prst="ellipse">
            <a:avLst/>
          </a:prstGeom>
          <a:solidFill>
            <a:srgbClr val="8A0F1A">
              <a:alpha val="4536"/>
            </a:srgbClr>
          </a:solidFill>
          <a:ln/>
        </p:spPr>
      </p:sp>
      <p:sp>
        <p:nvSpPr>
          <p:cNvPr id="37" name="Shape 35"/>
          <p:cNvSpPr/>
          <p:nvPr/>
        </p:nvSpPr>
        <p:spPr>
          <a:xfrm>
            <a:off x="2871045" y="5578583"/>
            <a:ext cx="4670184" cy="4670184"/>
          </a:xfrm>
          <a:prstGeom prst="ellipse">
            <a:avLst/>
          </a:prstGeom>
          <a:solidFill>
            <a:srgbClr val="8A0F1A">
              <a:alpha val="4737"/>
            </a:srgbClr>
          </a:solidFill>
          <a:ln/>
        </p:spPr>
      </p:sp>
      <p:sp>
        <p:nvSpPr>
          <p:cNvPr id="38" name="Shape 36"/>
          <p:cNvSpPr/>
          <p:nvPr/>
        </p:nvSpPr>
        <p:spPr>
          <a:xfrm>
            <a:off x="3050667" y="5758205"/>
            <a:ext cx="4310939" cy="4310939"/>
          </a:xfrm>
          <a:prstGeom prst="ellipse">
            <a:avLst/>
          </a:prstGeom>
          <a:solidFill>
            <a:srgbClr val="8A0F1A">
              <a:alpha val="4994"/>
            </a:srgbClr>
          </a:solidFill>
          <a:ln/>
        </p:spPr>
      </p:sp>
      <p:sp>
        <p:nvSpPr>
          <p:cNvPr id="39" name="Shape 37"/>
          <p:cNvSpPr/>
          <p:nvPr/>
        </p:nvSpPr>
        <p:spPr>
          <a:xfrm>
            <a:off x="3230289" y="5937828"/>
            <a:ext cx="3951694" cy="3951694"/>
          </a:xfrm>
          <a:prstGeom prst="ellipse">
            <a:avLst/>
          </a:prstGeom>
          <a:solidFill>
            <a:srgbClr val="8A0F1A">
              <a:alpha val="5272"/>
            </a:srgbClr>
          </a:solidFill>
          <a:ln/>
        </p:spPr>
      </p:sp>
      <p:sp>
        <p:nvSpPr>
          <p:cNvPr id="40" name="Shape 38"/>
          <p:cNvSpPr/>
          <p:nvPr/>
        </p:nvSpPr>
        <p:spPr>
          <a:xfrm>
            <a:off x="3409912" y="6117450"/>
            <a:ext cx="3592449" cy="3592449"/>
          </a:xfrm>
          <a:prstGeom prst="ellipse">
            <a:avLst/>
          </a:prstGeom>
          <a:solidFill>
            <a:srgbClr val="8A0F1A">
              <a:alpha val="5521"/>
            </a:srgbClr>
          </a:solidFill>
          <a:ln/>
        </p:spPr>
      </p:sp>
      <p:sp>
        <p:nvSpPr>
          <p:cNvPr id="41" name="Shape 39"/>
          <p:cNvSpPr/>
          <p:nvPr/>
        </p:nvSpPr>
        <p:spPr>
          <a:xfrm>
            <a:off x="3589534" y="6297073"/>
            <a:ext cx="3233204" cy="3233204"/>
          </a:xfrm>
          <a:prstGeom prst="ellipse">
            <a:avLst/>
          </a:prstGeom>
          <a:solidFill>
            <a:srgbClr val="8A0F1A">
              <a:alpha val="6496"/>
            </a:srgbClr>
          </a:solidFill>
          <a:ln/>
        </p:spPr>
      </p:sp>
      <p:sp>
        <p:nvSpPr>
          <p:cNvPr id="42" name="Shape 40"/>
          <p:cNvSpPr/>
          <p:nvPr/>
        </p:nvSpPr>
        <p:spPr>
          <a:xfrm>
            <a:off x="3769157" y="6476695"/>
            <a:ext cx="2873959" cy="2873959"/>
          </a:xfrm>
          <a:prstGeom prst="ellipse">
            <a:avLst/>
          </a:prstGeom>
          <a:solidFill>
            <a:srgbClr val="8A0F1A">
              <a:alpha val="6768"/>
            </a:srgbClr>
          </a:solidFill>
          <a:ln/>
        </p:spPr>
      </p:sp>
      <p:sp>
        <p:nvSpPr>
          <p:cNvPr id="43" name="Shape 41"/>
          <p:cNvSpPr/>
          <p:nvPr/>
        </p:nvSpPr>
        <p:spPr>
          <a:xfrm>
            <a:off x="3948779" y="6656318"/>
            <a:ext cx="2514714" cy="2514714"/>
          </a:xfrm>
          <a:prstGeom prst="ellipse">
            <a:avLst/>
          </a:prstGeom>
          <a:solidFill>
            <a:srgbClr val="8A0F1A">
              <a:alpha val="7123"/>
            </a:srgbClr>
          </a:solidFill>
          <a:ln/>
        </p:spPr>
      </p:sp>
      <p:sp>
        <p:nvSpPr>
          <p:cNvPr id="44" name="Shape 42"/>
          <p:cNvSpPr/>
          <p:nvPr/>
        </p:nvSpPr>
        <p:spPr>
          <a:xfrm>
            <a:off x="4128402" y="6835940"/>
            <a:ext cx="2155469" cy="2155469"/>
          </a:xfrm>
          <a:prstGeom prst="ellipse">
            <a:avLst/>
          </a:prstGeom>
          <a:solidFill>
            <a:srgbClr val="8A0F1A">
              <a:alpha val="7486"/>
            </a:srgbClr>
          </a:solidFill>
          <a:ln/>
        </p:spPr>
      </p:sp>
      <p:sp>
        <p:nvSpPr>
          <p:cNvPr id="45" name="Shape 43"/>
          <p:cNvSpPr/>
          <p:nvPr/>
        </p:nvSpPr>
        <p:spPr>
          <a:xfrm>
            <a:off x="4308024" y="7015563"/>
            <a:ext cx="1796225" cy="1796225"/>
          </a:xfrm>
          <a:prstGeom prst="ellipse">
            <a:avLst/>
          </a:prstGeom>
          <a:solidFill>
            <a:srgbClr val="8A0F1A">
              <a:alpha val="8191"/>
            </a:srgbClr>
          </a:solidFill>
          <a:ln/>
        </p:spPr>
      </p:sp>
      <p:sp>
        <p:nvSpPr>
          <p:cNvPr id="46" name="Shape 44"/>
          <p:cNvSpPr/>
          <p:nvPr/>
        </p:nvSpPr>
        <p:spPr>
          <a:xfrm>
            <a:off x="4487647" y="7195185"/>
            <a:ext cx="1436980" cy="1436980"/>
          </a:xfrm>
          <a:prstGeom prst="ellipse">
            <a:avLst/>
          </a:prstGeom>
          <a:solidFill>
            <a:srgbClr val="8A0F1A">
              <a:alpha val="9466"/>
            </a:srgbClr>
          </a:solidFill>
          <a:ln/>
        </p:spPr>
      </p:sp>
      <p:sp>
        <p:nvSpPr>
          <p:cNvPr id="47" name="Shape 45"/>
          <p:cNvSpPr/>
          <p:nvPr/>
        </p:nvSpPr>
        <p:spPr>
          <a:xfrm>
            <a:off x="4667269" y="7374807"/>
            <a:ext cx="1077735" cy="1077735"/>
          </a:xfrm>
          <a:prstGeom prst="ellipse">
            <a:avLst/>
          </a:prstGeom>
          <a:solidFill>
            <a:srgbClr val="8A0F1A">
              <a:alpha val="10120"/>
            </a:srgbClr>
          </a:solidFill>
          <a:ln/>
        </p:spPr>
      </p:sp>
      <p:sp>
        <p:nvSpPr>
          <p:cNvPr id="48" name="Shape 46"/>
          <p:cNvSpPr/>
          <p:nvPr/>
        </p:nvSpPr>
        <p:spPr>
          <a:xfrm>
            <a:off x="4846892" y="7554430"/>
            <a:ext cx="718490" cy="718490"/>
          </a:xfrm>
          <a:prstGeom prst="ellipse">
            <a:avLst/>
          </a:prstGeom>
          <a:solidFill>
            <a:srgbClr val="8A0F1A">
              <a:alpha val="10280"/>
            </a:srgbClr>
          </a:solidFill>
          <a:ln/>
        </p:spPr>
      </p:sp>
      <p:sp>
        <p:nvSpPr>
          <p:cNvPr id="49" name="Shape 47"/>
          <p:cNvSpPr/>
          <p:nvPr/>
        </p:nvSpPr>
        <p:spPr>
          <a:xfrm>
            <a:off x="5026514" y="7734052"/>
            <a:ext cx="359245" cy="359245"/>
          </a:xfrm>
          <a:prstGeom prst="ellipse">
            <a:avLst/>
          </a:prstGeom>
          <a:solidFill>
            <a:srgbClr val="8A0F1A">
              <a:alpha val="10999"/>
            </a:srgbClr>
          </a:solidFill>
          <a:ln/>
        </p:spPr>
      </p:sp>
      <p:sp>
        <p:nvSpPr>
          <p:cNvPr id="50" name="Text 48"/>
          <p:cNvSpPr/>
          <p:nvPr/>
        </p:nvSpPr>
        <p:spPr>
          <a:xfrm>
            <a:off x="678485" y="1051560"/>
            <a:ext cx="301752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Our stack</a:t>
            </a:r>
          </a:p>
        </p:txBody>
      </p:sp>
      <p:sp>
        <p:nvSpPr>
          <p:cNvPr id="51" name="Text 49"/>
          <p:cNvSpPr/>
          <p:nvPr/>
        </p:nvSpPr>
        <p:spPr>
          <a:xfrm>
            <a:off x="678485" y="1280160"/>
            <a:ext cx="31089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Integrate,</a:t>
            </a:r>
          </a:p>
        </p:txBody>
      </p:sp>
      <p:sp>
        <p:nvSpPr>
          <p:cNvPr id="52" name="Text 50"/>
          <p:cNvSpPr/>
          <p:nvPr/>
        </p:nvSpPr>
        <p:spPr>
          <a:xfrm>
            <a:off x="1351483" y="1737360"/>
            <a:ext cx="2788920" cy="646481"/>
          </a:xfrm>
          <a:prstGeom prst="rect">
            <a:avLst/>
          </a:prstGeom>
          <a:noFill/>
          <a:ln/>
        </p:spPr>
        <p:txBody>
          <a:bodyPr wrap="none" lIns="91440" tIns="45720" rIns="91440" bIns="45720" rtlCol="0" anchor="t">
            <a:spAutoFit/>
          </a:bodyPr>
          <a:lstStyle/>
          <a:p>
            <a:pPr indent="0" marL="0">
              <a:buNone/>
            </a:pPr>
            <a:r>
              <a:rPr lang="en-US" sz="2550" dirty="0" b="1">
                <a:solidFill>
                  <a:srgbClr val="EE0000"/>
                </a:solidFill>
                <a:latin typeface="Arial" pitchFamily="34" charset="0"/>
                <a:ea typeface="Arial" pitchFamily="34" charset="-122"/>
                <a:cs typeface="Arial" pitchFamily="34" charset="-120"/>
              </a:rPr>
              <a:t>not replace</a:t>
            </a:r>
          </a:p>
        </p:txBody>
      </p:sp>
      <p:sp>
        <p:nvSpPr>
          <p:cNvPr id="53" name="Shape 51"/>
          <p:cNvSpPr/>
          <p:nvPr/>
        </p:nvSpPr>
        <p:spPr>
          <a:xfrm rot="16200000">
            <a:off x="938174" y="187452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Text 52"/>
          <p:cNvSpPr/>
          <p:nvPr/>
        </p:nvSpPr>
        <p:spPr>
          <a:xfrm>
            <a:off x="717804" y="2606040"/>
            <a:ext cx="324612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Every stage has a verified open-source and enterprise option, and a startup where one exists. Our pick favours what already runs and builds only thin glue.</a:t>
            </a:r>
          </a:p>
        </p:txBody>
      </p:sp>
      <p:sp>
        <p:nvSpPr>
          <p:cNvPr id="55" name="Text 53"/>
          <p:cNvSpPr/>
          <p:nvPr/>
        </p:nvSpPr>
        <p:spPr>
          <a:xfrm>
            <a:off x="709574" y="4023360"/>
            <a:ext cx="3108960" cy="585216"/>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3 gaps</a:t>
            </a:r>
          </a:p>
        </p:txBody>
      </p:sp>
      <p:sp>
        <p:nvSpPr>
          <p:cNvPr id="56" name="Text 54"/>
          <p:cNvSpPr/>
          <p:nvPr/>
        </p:nvSpPr>
        <p:spPr>
          <a:xfrm>
            <a:off x="715061" y="4617720"/>
            <a:ext cx="3108960" cy="338328"/>
          </a:xfrm>
          <a:prstGeom prst="rect">
            <a:avLst/>
          </a:prstGeom>
          <a:noFill/>
          <a:ln/>
        </p:spPr>
        <p:txBody>
          <a:bodyPr wrap="square" lIns="91440" tIns="45720" rIns="91440" bIns="45720" rtlCol="0" anchor="t">
            <a:spAutoFit/>
          </a:bodyPr>
          <a:lstStyle/>
          <a:p>
            <a:pPr indent="0" marL="0">
              <a:buNone/>
            </a:pPr>
            <a:r>
              <a:rPr lang="en-US" sz="1100" dirty="0">
                <a:solidFill>
                  <a:srgbClr val="FFFFFF"/>
                </a:solidFill>
                <a:latin typeface="Arial" pitchFamily="34" charset="0"/>
                <a:ea typeface="Arial" pitchFamily="34" charset="-122"/>
                <a:cs typeface="Arial" pitchFamily="34" charset="-120"/>
              </a:rPr>
              <a:t>Six stages already run. Galileo (Splunk AO since 7 Aug 2026) has scored production agents for 2 years, Arize exploring; Red Hat OpenShift AI is the open-source partner. Gaps: red teaming, runtime control, agent governance.</a:t>
            </a:r>
          </a:p>
        </p:txBody>
      </p:sp>
      <p:graphicFrame>
        <p:nvGraphicFramePr>
          <p:cNvPr id="300" name="Stack matrix table"/>
          <p:cNvGraphicFramePr>
            <a:graphicFrameLocks noGrp="1"/>
          </p:cNvGraphicFramePr>
          <p:nvPr/>
        </p:nvGraphicFramePr>
        <p:xfrm>
          <a:off x="4160520" y="1005840"/>
          <a:ext cx="7726680" cy="4700016"/>
        </p:xfrm>
        <a:graphic>
          <a:graphicData uri="http://schemas.openxmlformats.org/drawingml/2006/table">
            <a:tbl>
              <a:tblPr firstRow="1"/>
              <a:tblGrid>
                <a:gridCol w="1188720"/>
                <a:gridCol w="1554480"/>
                <a:gridCol w="1325880"/>
                <a:gridCol w="1600200"/>
                <a:gridCol w="2057400"/>
              </a:tblGrid>
              <a:tr h="310896">
                <a:tc>
                  <a:txBody>
                    <a:bodyPr/>
                    <a:lstStyle/>
                    <a:p>
                      <a:pPr algn="l" marL="0" indent="0">
                        <a:buNone/>
                      </a:pPr>
                      <a:r>
                        <a:rPr lang="en-US" sz="950" b="1" dirty="0">
                          <a:solidFill>
                            <a:srgbClr val="F5B700"/>
                          </a:solidFill>
                          <a:latin typeface="Arial"/>
                          <a:ea typeface="Arial"/>
                          <a:cs typeface="Arial"/>
                        </a:rPr>
                        <a:t>Stage</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Open source</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Startup</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Enterprise</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950" b="1" dirty="0">
                          <a:solidFill>
                            <a:srgbClr val="F5B700"/>
                          </a:solidFill>
                          <a:latin typeface="Arial"/>
                          <a:ea typeface="Arial"/>
                          <a:cs typeface="Arial"/>
                        </a:rPr>
                        <a:t>Our pick</a:t>
                      </a:r>
                    </a:p>
                  </a:txBody>
                  <a:tcPr marL="73152" marR="45720" marT="0" marB="0" anchor="ctr">
                    <a:lnL w="0">
                      <a:noFill/>
                    </a:lnL>
                    <a:lnR w="0">
                      <a:noFill/>
                    </a:lnR>
                    <a:lnT w="0">
                      <a:noFill/>
                    </a:lnT>
                    <a:lnB w="9525">
                      <a:solidFill>
                        <a:srgbClr val="D9B48A"/>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Onboarding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Backstage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Credal (YC W23)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Red Hat Developer Hub</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Developer Hub template emits the manifest</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Observability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OTel GenAI + Collector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Laminar (YC S24)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Galileo / Splunk AO; Arize (exploring)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Keep Galileo, Arize (exploring); OTel dual export to lake</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Scoring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DeepEval, Ragas, MLflow</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Confident AI (YC W25)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Galileo Luna, session metrics; Arize (exploring)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Galileo primary, Arize (exploring); calibrate before gating</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Simulation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SDG Hub, τ²-bench, Strands sims, Scenario</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Coval (YC S24)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Gemini Enterprise user sim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SDG Hub + thin persona simulator</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Harness opt.</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HALO, DSPy GEPA, Meta-Harness; Strands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Zenbase; Lucidic AI (exploring)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Databricks Agent Bricks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HALO reports + GEPA; Future AGI UI pilot</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Red teaming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garak, PyRIT, DeepTeam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General Analysis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Cisco AI Defense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OSS on EvalHub; Cisco bake-off</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Runtime control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Agent Control, NeMo Guardrails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Golf (YC S25)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AWS AgentCore Policy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Gateway + MCP gateway + Agent Control</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Agent governance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Kagenti, CycloneDX</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Credal (YC W23)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watsonx.governance, ServiceNow</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Thin registry, synced to our GRC</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Distribution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Agent Skills standard + MCP</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n/a</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Claude Code plugin marketplaces + managed settings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Pillar Mods Hub on the plugin format</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FFFFFF"/>
                          </a:solidFill>
                          <a:latin typeface="Arial"/>
                          <a:ea typeface="Arial"/>
                          <a:cs typeface="Arial"/>
                        </a:rPr>
                        <a:t>Memory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Mem0 (Apache-2.0)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Mem0 platform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F3E6D6"/>
                          </a:solidFill>
                          <a:latin typeface="Arial"/>
                          <a:ea typeface="Arial"/>
                          <a:cs typeface="Arial"/>
                        </a:rPr>
                        <a:t>n/a (not assessed)</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b="1" dirty="0">
                          <a:solidFill>
                            <a:srgbClr val="F5B700"/>
                          </a:solidFill>
                          <a:latin typeface="Arial"/>
                          <a:ea typeface="Arial"/>
                          <a:cs typeface="Arial"/>
                        </a:rPr>
                        <a:t>Mem0 lane per agent, Phase 2</a:t>
                      </a:r>
                    </a:p>
                  </a:txBody>
                  <a:tcPr marL="73152" marR="45720" marT="0" marB="0" anchor="ctr">
                    <a:lnL w="0">
                      <a:noFill/>
                    </a:lnL>
                    <a:lnR w="0">
                      <a:noFill/>
                    </a:lnR>
                    <a:lnT w="0">
                      <a:noFill/>
                    </a:lnT>
                    <a:lnB w="9525">
                      <a:solidFill>
                        <a:srgbClr val="5A3A2E"/>
                      </a:solidFill>
                    </a:lnB>
                    <a:solidFill>
                      <a:srgbClr val="2A1A16"/>
                    </a:solidFill>
                  </a:tcPr>
                </a:tc>
              </a:tr>
              <a:tr h="402336">
                <a:tc>
                  <a:txBody>
                    <a:bodyPr/>
                    <a:lstStyle/>
                    <a:p>
                      <a:pPr algn="l" marL="0" indent="0">
                        <a:lnSpc>
                          <a:spcPct val="100000"/>
                        </a:lnSpc>
                        <a:buNone/>
                      </a:pPr>
                      <a:r>
                        <a:rPr lang="en-US" sz="950" b="1" dirty="0">
                          <a:solidFill>
                            <a:srgbClr val="D9B48A"/>
                          </a:solidFill>
                          <a:latin typeface="Arial"/>
                          <a:ea typeface="Arial"/>
                          <a:cs typeface="Arial"/>
                        </a:rPr>
                        <a:t>Fine-tuning (opt.)</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Training Hub; TRL, verl, OpenRLHF</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Unsloth (YC S24)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OpenShift AI</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50" dirty="0">
                          <a:solidFill>
                            <a:srgbClr val="D9B48A"/>
                          </a:solidFill>
                          <a:latin typeface="Arial"/>
                          <a:ea typeface="Arial"/>
                          <a:cs typeface="Arial"/>
                        </a:rPr>
                        <a:t>TRL / Unsloth pilot, after a plateau only</a:t>
                      </a:r>
                    </a:p>
                  </a:txBody>
                  <a:tcPr marL="73152" marR="45720" marT="0" marB="0" anchor="ctr">
                    <a:lnL w="0">
                      <a:noFill/>
                    </a:lnL>
                    <a:lnR w="0">
                      <a:noFill/>
                    </a:lnR>
                    <a:lnT w="0">
                      <a:noFill/>
                    </a:lnT>
                    <a:lnB w="9525">
                      <a:solidFill>
                        <a:srgbClr val="5A3A2E"/>
                      </a:solidFill>
                    </a:lnB>
                    <a:solidFill>
                      <a:srgbClr val="2A1A16"/>
                    </a:solidFill>
                  </a:tcPr>
                </a:tc>
              </a:tr>
            </a:tbl>
          </a:graphicData>
        </a:graphic>
      </p:graphicFrame>
      <p:sp>
        <p:nvSpPr>
          <p:cNvPr id="225" name="v2 225"/>
          <p:cNvSpPr/>
          <p:nvPr/>
        </p:nvSpPr>
        <p:spPr>
          <a:xfrm>
            <a:off x="4160520" y="5815584"/>
            <a:ext cx="7726680" cy="329184"/>
          </a:xfrm>
          <a:prstGeom prst="rect">
            <a:avLst/>
          </a:prstGeom>
          <a:noFill/>
          <a:ln>
            <a:noFill/>
          </a:ln>
        </p:spPr>
        <p:txBody>
          <a:bodyPr wrap="square" lIns="0" tIns="0" rIns="0" bIns="0" rtlCol="0" anchor="t">
            <a:noAutofit/>
          </a:bodyPr>
          <a:lstStyle/>
          <a:p>
            <a:pPr algn="l" marL="0" indent="0">
              <a:buNone/>
            </a:pPr>
            <a:r>
              <a:rPr lang="en-US" sz="850" dirty="0">
                <a:solidFill>
                  <a:srgbClr val="F3E6D6"/>
                </a:solidFill>
                <a:latin typeface="Arial"/>
                <a:ea typeface="Arial"/>
                <a:cs typeface="Arial"/>
              </a:rPr>
              <a:t>Startup = YC company where a credible one exists (none for distribution); Zenbase and General Analysis batches unverified. Arize and Lucidic AI are being explored. Picks are our assessment. Sources [41]; v14 additions [137]–[160], slide 23.</a:t>
            </a:r>
          </a:p>
        </p:txBody>
      </p:sp>
      <p:sp>
        <p:nvSpPr>
          <p:cNvPr id="30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04 / 44</a:t>
            </a:r>
          </a:p>
        </p:txBody>
      </p:sp>
      <p:sp>
        <p:nvSpPr>
          <p:cNvPr id="30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30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1172261" y="-5298948"/>
            <a:ext cx="8621878" cy="8621878"/>
          </a:xfrm>
          <a:prstGeom prst="ellipse">
            <a:avLst/>
          </a:prstGeom>
          <a:solidFill>
            <a:srgbClr val="8A0F1A">
              <a:alpha val="2547"/>
            </a:srgbClr>
          </a:solidFill>
          <a:ln/>
        </p:spPr>
      </p:sp>
      <p:sp>
        <p:nvSpPr>
          <p:cNvPr id="3" name="Shape 1"/>
          <p:cNvSpPr/>
          <p:nvPr/>
        </p:nvSpPr>
        <p:spPr>
          <a:xfrm>
            <a:off x="1351883" y="-5119326"/>
            <a:ext cx="8262633" cy="8262633"/>
          </a:xfrm>
          <a:prstGeom prst="ellipse">
            <a:avLst/>
          </a:prstGeom>
          <a:solidFill>
            <a:srgbClr val="8A0F1A">
              <a:alpha val="4218"/>
            </a:srgbClr>
          </a:solidFill>
          <a:ln/>
        </p:spPr>
      </p:sp>
      <p:sp>
        <p:nvSpPr>
          <p:cNvPr id="4" name="Shape 2"/>
          <p:cNvSpPr/>
          <p:nvPr/>
        </p:nvSpPr>
        <p:spPr>
          <a:xfrm>
            <a:off x="1531506" y="-4939703"/>
            <a:ext cx="7903388" cy="7903388"/>
          </a:xfrm>
          <a:prstGeom prst="ellipse">
            <a:avLst/>
          </a:prstGeom>
          <a:solidFill>
            <a:srgbClr val="8A0F1A">
              <a:alpha val="4138"/>
            </a:srgbClr>
          </a:solidFill>
          <a:ln/>
        </p:spPr>
      </p:sp>
      <p:sp>
        <p:nvSpPr>
          <p:cNvPr id="5" name="Shape 3"/>
          <p:cNvSpPr/>
          <p:nvPr/>
        </p:nvSpPr>
        <p:spPr>
          <a:xfrm>
            <a:off x="1711128" y="-4760081"/>
            <a:ext cx="7544143" cy="7544143"/>
          </a:xfrm>
          <a:prstGeom prst="ellipse">
            <a:avLst/>
          </a:prstGeom>
          <a:solidFill>
            <a:srgbClr val="8A0F1A">
              <a:alpha val="2636"/>
            </a:srgbClr>
          </a:solidFill>
          <a:ln/>
        </p:spPr>
      </p:sp>
      <p:sp>
        <p:nvSpPr>
          <p:cNvPr id="6" name="Shape 4"/>
          <p:cNvSpPr/>
          <p:nvPr/>
        </p:nvSpPr>
        <p:spPr>
          <a:xfrm>
            <a:off x="1890751" y="-4580458"/>
            <a:ext cx="7184898" cy="7184898"/>
          </a:xfrm>
          <a:prstGeom prst="ellipse">
            <a:avLst/>
          </a:prstGeom>
          <a:solidFill>
            <a:srgbClr val="8A0F1A">
              <a:alpha val="2661"/>
            </a:srgbClr>
          </a:solidFill>
          <a:ln/>
        </p:spPr>
      </p:sp>
      <p:sp>
        <p:nvSpPr>
          <p:cNvPr id="7" name="Shape 5"/>
          <p:cNvSpPr/>
          <p:nvPr/>
        </p:nvSpPr>
        <p:spPr>
          <a:xfrm>
            <a:off x="2070373" y="-4400836"/>
            <a:ext cx="6825653" cy="6825653"/>
          </a:xfrm>
          <a:prstGeom prst="ellipse">
            <a:avLst/>
          </a:prstGeom>
          <a:solidFill>
            <a:srgbClr val="8A0F1A">
              <a:alpha val="3304"/>
            </a:srgbClr>
          </a:solidFill>
          <a:ln/>
        </p:spPr>
      </p:sp>
      <p:sp>
        <p:nvSpPr>
          <p:cNvPr id="8" name="Shape 6"/>
          <p:cNvSpPr/>
          <p:nvPr/>
        </p:nvSpPr>
        <p:spPr>
          <a:xfrm>
            <a:off x="2249996" y="-4221213"/>
            <a:ext cx="6466408" cy="6466408"/>
          </a:xfrm>
          <a:prstGeom prst="ellipse">
            <a:avLst/>
          </a:prstGeom>
          <a:solidFill>
            <a:srgbClr val="8A0F1A">
              <a:alpha val="3622"/>
            </a:srgbClr>
          </a:solidFill>
          <a:ln/>
        </p:spPr>
      </p:sp>
      <p:sp>
        <p:nvSpPr>
          <p:cNvPr id="9" name="Shape 7"/>
          <p:cNvSpPr/>
          <p:nvPr/>
        </p:nvSpPr>
        <p:spPr>
          <a:xfrm>
            <a:off x="2429618" y="-4041591"/>
            <a:ext cx="6107163" cy="6107163"/>
          </a:xfrm>
          <a:prstGeom prst="ellipse">
            <a:avLst/>
          </a:prstGeom>
          <a:solidFill>
            <a:srgbClr val="8A0F1A">
              <a:alpha val="3650"/>
            </a:srgbClr>
          </a:solidFill>
          <a:ln/>
        </p:spPr>
      </p:sp>
      <p:sp>
        <p:nvSpPr>
          <p:cNvPr id="10" name="Shape 8"/>
          <p:cNvSpPr/>
          <p:nvPr/>
        </p:nvSpPr>
        <p:spPr>
          <a:xfrm>
            <a:off x="2609240" y="-3861968"/>
            <a:ext cx="5747918" cy="5747918"/>
          </a:xfrm>
          <a:prstGeom prst="ellipse">
            <a:avLst/>
          </a:prstGeom>
          <a:solidFill>
            <a:srgbClr val="8A0F1A">
              <a:alpha val="3631"/>
            </a:srgbClr>
          </a:solidFill>
          <a:ln/>
        </p:spPr>
      </p:sp>
      <p:sp>
        <p:nvSpPr>
          <p:cNvPr id="11" name="Shape 9"/>
          <p:cNvSpPr/>
          <p:nvPr/>
        </p:nvSpPr>
        <p:spPr>
          <a:xfrm>
            <a:off x="2788863" y="-3682346"/>
            <a:ext cx="5388674" cy="5388674"/>
          </a:xfrm>
          <a:prstGeom prst="ellipse">
            <a:avLst/>
          </a:prstGeom>
          <a:solidFill>
            <a:srgbClr val="8A0F1A">
              <a:alpha val="3693"/>
            </a:srgbClr>
          </a:solidFill>
          <a:ln/>
        </p:spPr>
      </p:sp>
      <p:sp>
        <p:nvSpPr>
          <p:cNvPr id="12" name="Shape 10"/>
          <p:cNvSpPr/>
          <p:nvPr/>
        </p:nvSpPr>
        <p:spPr>
          <a:xfrm>
            <a:off x="2968485" y="-3502723"/>
            <a:ext cx="5029429" cy="5029429"/>
          </a:xfrm>
          <a:prstGeom prst="ellipse">
            <a:avLst/>
          </a:prstGeom>
          <a:solidFill>
            <a:srgbClr val="8A0F1A">
              <a:alpha val="4536"/>
            </a:srgbClr>
          </a:solidFill>
          <a:ln/>
        </p:spPr>
      </p:sp>
      <p:sp>
        <p:nvSpPr>
          <p:cNvPr id="13" name="Shape 11"/>
          <p:cNvSpPr/>
          <p:nvPr/>
        </p:nvSpPr>
        <p:spPr>
          <a:xfrm>
            <a:off x="3148108" y="-3323101"/>
            <a:ext cx="4670184" cy="4670184"/>
          </a:xfrm>
          <a:prstGeom prst="ellipse">
            <a:avLst/>
          </a:prstGeom>
          <a:solidFill>
            <a:srgbClr val="8A0F1A">
              <a:alpha val="4737"/>
            </a:srgbClr>
          </a:solidFill>
          <a:ln/>
        </p:spPr>
      </p:sp>
      <p:sp>
        <p:nvSpPr>
          <p:cNvPr id="14" name="Shape 12"/>
          <p:cNvSpPr/>
          <p:nvPr/>
        </p:nvSpPr>
        <p:spPr>
          <a:xfrm>
            <a:off x="3327730" y="-3143479"/>
            <a:ext cx="4310939" cy="4310939"/>
          </a:xfrm>
          <a:prstGeom prst="ellipse">
            <a:avLst/>
          </a:prstGeom>
          <a:solidFill>
            <a:srgbClr val="8A0F1A">
              <a:alpha val="4994"/>
            </a:srgbClr>
          </a:solidFill>
          <a:ln/>
        </p:spPr>
      </p:sp>
      <p:sp>
        <p:nvSpPr>
          <p:cNvPr id="15" name="Shape 13"/>
          <p:cNvSpPr/>
          <p:nvPr/>
        </p:nvSpPr>
        <p:spPr>
          <a:xfrm>
            <a:off x="3507353" y="-2963856"/>
            <a:ext cx="3951694" cy="3951694"/>
          </a:xfrm>
          <a:prstGeom prst="ellipse">
            <a:avLst/>
          </a:prstGeom>
          <a:solidFill>
            <a:srgbClr val="8A0F1A">
              <a:alpha val="5272"/>
            </a:srgbClr>
          </a:solidFill>
          <a:ln/>
        </p:spPr>
      </p:sp>
      <p:sp>
        <p:nvSpPr>
          <p:cNvPr id="16" name="Shape 14"/>
          <p:cNvSpPr/>
          <p:nvPr/>
        </p:nvSpPr>
        <p:spPr>
          <a:xfrm>
            <a:off x="3686975" y="-2784234"/>
            <a:ext cx="3592449" cy="3592449"/>
          </a:xfrm>
          <a:prstGeom prst="ellipse">
            <a:avLst/>
          </a:prstGeom>
          <a:solidFill>
            <a:srgbClr val="8A0F1A">
              <a:alpha val="5521"/>
            </a:srgbClr>
          </a:solidFill>
          <a:ln/>
        </p:spPr>
      </p:sp>
      <p:sp>
        <p:nvSpPr>
          <p:cNvPr id="17" name="Shape 15"/>
          <p:cNvSpPr/>
          <p:nvPr/>
        </p:nvSpPr>
        <p:spPr>
          <a:xfrm>
            <a:off x="3866598" y="-2604611"/>
            <a:ext cx="3233204" cy="3233204"/>
          </a:xfrm>
          <a:prstGeom prst="ellipse">
            <a:avLst/>
          </a:prstGeom>
          <a:solidFill>
            <a:srgbClr val="8A0F1A">
              <a:alpha val="6496"/>
            </a:srgbClr>
          </a:solidFill>
          <a:ln/>
        </p:spPr>
      </p:sp>
      <p:sp>
        <p:nvSpPr>
          <p:cNvPr id="18" name="Shape 16"/>
          <p:cNvSpPr/>
          <p:nvPr/>
        </p:nvSpPr>
        <p:spPr>
          <a:xfrm>
            <a:off x="4046220" y="-2424989"/>
            <a:ext cx="2873959" cy="2873959"/>
          </a:xfrm>
          <a:prstGeom prst="ellipse">
            <a:avLst/>
          </a:prstGeom>
          <a:solidFill>
            <a:srgbClr val="8A0F1A">
              <a:alpha val="6768"/>
            </a:srgbClr>
          </a:solidFill>
          <a:ln/>
        </p:spPr>
      </p:sp>
      <p:sp>
        <p:nvSpPr>
          <p:cNvPr id="19" name="Shape 17"/>
          <p:cNvSpPr/>
          <p:nvPr/>
        </p:nvSpPr>
        <p:spPr>
          <a:xfrm>
            <a:off x="4225842" y="-2245366"/>
            <a:ext cx="2514714" cy="2514714"/>
          </a:xfrm>
          <a:prstGeom prst="ellipse">
            <a:avLst/>
          </a:prstGeom>
          <a:solidFill>
            <a:srgbClr val="8A0F1A">
              <a:alpha val="7123"/>
            </a:srgbClr>
          </a:solidFill>
          <a:ln/>
        </p:spPr>
      </p:sp>
      <p:sp>
        <p:nvSpPr>
          <p:cNvPr id="20" name="Shape 18"/>
          <p:cNvSpPr/>
          <p:nvPr/>
        </p:nvSpPr>
        <p:spPr>
          <a:xfrm>
            <a:off x="4405465" y="-2065744"/>
            <a:ext cx="2155469" cy="2155469"/>
          </a:xfrm>
          <a:prstGeom prst="ellipse">
            <a:avLst/>
          </a:prstGeom>
          <a:solidFill>
            <a:srgbClr val="8A0F1A">
              <a:alpha val="7486"/>
            </a:srgbClr>
          </a:solidFill>
          <a:ln/>
        </p:spPr>
      </p:sp>
      <p:sp>
        <p:nvSpPr>
          <p:cNvPr id="21" name="Shape 19"/>
          <p:cNvSpPr/>
          <p:nvPr/>
        </p:nvSpPr>
        <p:spPr>
          <a:xfrm>
            <a:off x="4585087" y="-1886121"/>
            <a:ext cx="1796225" cy="1796225"/>
          </a:xfrm>
          <a:prstGeom prst="ellipse">
            <a:avLst/>
          </a:prstGeom>
          <a:solidFill>
            <a:srgbClr val="8A0F1A">
              <a:alpha val="8191"/>
            </a:srgbClr>
          </a:solidFill>
          <a:ln/>
        </p:spPr>
      </p:sp>
      <p:sp>
        <p:nvSpPr>
          <p:cNvPr id="22" name="Shape 20"/>
          <p:cNvSpPr/>
          <p:nvPr/>
        </p:nvSpPr>
        <p:spPr>
          <a:xfrm>
            <a:off x="4764710" y="-1706499"/>
            <a:ext cx="1436980" cy="1436980"/>
          </a:xfrm>
          <a:prstGeom prst="ellipse">
            <a:avLst/>
          </a:prstGeom>
          <a:solidFill>
            <a:srgbClr val="8A0F1A">
              <a:alpha val="9466"/>
            </a:srgbClr>
          </a:solidFill>
          <a:ln/>
        </p:spPr>
      </p:sp>
      <p:sp>
        <p:nvSpPr>
          <p:cNvPr id="23" name="Shape 21"/>
          <p:cNvSpPr/>
          <p:nvPr/>
        </p:nvSpPr>
        <p:spPr>
          <a:xfrm>
            <a:off x="4944332" y="-1526877"/>
            <a:ext cx="1077735" cy="1077735"/>
          </a:xfrm>
          <a:prstGeom prst="ellipse">
            <a:avLst/>
          </a:prstGeom>
          <a:solidFill>
            <a:srgbClr val="8A0F1A">
              <a:alpha val="10120"/>
            </a:srgbClr>
          </a:solidFill>
          <a:ln/>
        </p:spPr>
      </p:sp>
      <p:sp>
        <p:nvSpPr>
          <p:cNvPr id="24" name="Shape 22"/>
          <p:cNvSpPr/>
          <p:nvPr/>
        </p:nvSpPr>
        <p:spPr>
          <a:xfrm>
            <a:off x="5123955" y="-1347254"/>
            <a:ext cx="718490" cy="718490"/>
          </a:xfrm>
          <a:prstGeom prst="ellipse">
            <a:avLst/>
          </a:prstGeom>
          <a:solidFill>
            <a:srgbClr val="8A0F1A">
              <a:alpha val="10280"/>
            </a:srgbClr>
          </a:solidFill>
          <a:ln/>
        </p:spPr>
      </p:sp>
      <p:sp>
        <p:nvSpPr>
          <p:cNvPr id="25" name="Shape 23"/>
          <p:cNvSpPr/>
          <p:nvPr/>
        </p:nvSpPr>
        <p:spPr>
          <a:xfrm>
            <a:off x="5303577" y="-1167632"/>
            <a:ext cx="359245" cy="359245"/>
          </a:xfrm>
          <a:prstGeom prst="ellipse">
            <a:avLst/>
          </a:prstGeom>
          <a:solidFill>
            <a:srgbClr val="8A0F1A">
              <a:alpha val="10999"/>
            </a:srgbClr>
          </a:solidFill>
          <a:ln/>
        </p:spPr>
      </p:sp>
      <p:sp>
        <p:nvSpPr>
          <p:cNvPr id="26" name="Shape 24"/>
          <p:cNvSpPr/>
          <p:nvPr/>
        </p:nvSpPr>
        <p:spPr>
          <a:xfrm>
            <a:off x="-4889297" y="3577133"/>
            <a:ext cx="8621878" cy="8621878"/>
          </a:xfrm>
          <a:prstGeom prst="ellipse">
            <a:avLst/>
          </a:prstGeom>
          <a:solidFill>
            <a:srgbClr val="8A0F1A">
              <a:alpha val="2547"/>
            </a:srgbClr>
          </a:solidFill>
          <a:ln/>
        </p:spPr>
      </p:sp>
      <p:sp>
        <p:nvSpPr>
          <p:cNvPr id="27" name="Shape 25"/>
          <p:cNvSpPr/>
          <p:nvPr/>
        </p:nvSpPr>
        <p:spPr>
          <a:xfrm>
            <a:off x="-4709674" y="3756755"/>
            <a:ext cx="8262633" cy="8262633"/>
          </a:xfrm>
          <a:prstGeom prst="ellipse">
            <a:avLst/>
          </a:prstGeom>
          <a:solidFill>
            <a:srgbClr val="8A0F1A">
              <a:alpha val="4218"/>
            </a:srgbClr>
          </a:solidFill>
          <a:ln/>
        </p:spPr>
      </p:sp>
      <p:sp>
        <p:nvSpPr>
          <p:cNvPr id="28" name="Shape 26"/>
          <p:cNvSpPr/>
          <p:nvPr/>
        </p:nvSpPr>
        <p:spPr>
          <a:xfrm>
            <a:off x="-4530052" y="3936378"/>
            <a:ext cx="7903388" cy="7903388"/>
          </a:xfrm>
          <a:prstGeom prst="ellipse">
            <a:avLst/>
          </a:prstGeom>
          <a:solidFill>
            <a:srgbClr val="8A0F1A">
              <a:alpha val="4138"/>
            </a:srgbClr>
          </a:solidFill>
          <a:ln/>
        </p:spPr>
      </p:sp>
      <p:sp>
        <p:nvSpPr>
          <p:cNvPr id="29" name="Shape 27"/>
          <p:cNvSpPr/>
          <p:nvPr/>
        </p:nvSpPr>
        <p:spPr>
          <a:xfrm>
            <a:off x="-4350429" y="4116000"/>
            <a:ext cx="7544143" cy="7544143"/>
          </a:xfrm>
          <a:prstGeom prst="ellipse">
            <a:avLst/>
          </a:prstGeom>
          <a:solidFill>
            <a:srgbClr val="8A0F1A">
              <a:alpha val="2636"/>
            </a:srgbClr>
          </a:solidFill>
          <a:ln/>
        </p:spPr>
      </p:sp>
      <p:sp>
        <p:nvSpPr>
          <p:cNvPr id="30" name="Shape 28"/>
          <p:cNvSpPr/>
          <p:nvPr/>
        </p:nvSpPr>
        <p:spPr>
          <a:xfrm>
            <a:off x="-4170807" y="4295623"/>
            <a:ext cx="7184898" cy="7184898"/>
          </a:xfrm>
          <a:prstGeom prst="ellipse">
            <a:avLst/>
          </a:prstGeom>
          <a:solidFill>
            <a:srgbClr val="8A0F1A">
              <a:alpha val="2661"/>
            </a:srgbClr>
          </a:solidFill>
          <a:ln/>
        </p:spPr>
      </p:sp>
      <p:sp>
        <p:nvSpPr>
          <p:cNvPr id="31" name="Shape 29"/>
          <p:cNvSpPr/>
          <p:nvPr/>
        </p:nvSpPr>
        <p:spPr>
          <a:xfrm>
            <a:off x="-3991185" y="4475245"/>
            <a:ext cx="6825653" cy="6825653"/>
          </a:xfrm>
          <a:prstGeom prst="ellipse">
            <a:avLst/>
          </a:prstGeom>
          <a:solidFill>
            <a:srgbClr val="8A0F1A">
              <a:alpha val="3304"/>
            </a:srgbClr>
          </a:solidFill>
          <a:ln/>
        </p:spPr>
      </p:sp>
      <p:sp>
        <p:nvSpPr>
          <p:cNvPr id="32" name="Shape 30"/>
          <p:cNvSpPr/>
          <p:nvPr/>
        </p:nvSpPr>
        <p:spPr>
          <a:xfrm>
            <a:off x="-3811562" y="4654868"/>
            <a:ext cx="6466408" cy="6466408"/>
          </a:xfrm>
          <a:prstGeom prst="ellipse">
            <a:avLst/>
          </a:prstGeom>
          <a:solidFill>
            <a:srgbClr val="8A0F1A">
              <a:alpha val="3622"/>
            </a:srgbClr>
          </a:solidFill>
          <a:ln/>
        </p:spPr>
      </p:sp>
      <p:sp>
        <p:nvSpPr>
          <p:cNvPr id="33" name="Shape 31"/>
          <p:cNvSpPr/>
          <p:nvPr/>
        </p:nvSpPr>
        <p:spPr>
          <a:xfrm>
            <a:off x="-3631940" y="4834490"/>
            <a:ext cx="6107163" cy="6107163"/>
          </a:xfrm>
          <a:prstGeom prst="ellipse">
            <a:avLst/>
          </a:prstGeom>
          <a:solidFill>
            <a:srgbClr val="8A0F1A">
              <a:alpha val="3650"/>
            </a:srgbClr>
          </a:solidFill>
          <a:ln/>
        </p:spPr>
      </p:sp>
      <p:sp>
        <p:nvSpPr>
          <p:cNvPr id="34" name="Shape 32"/>
          <p:cNvSpPr/>
          <p:nvPr/>
        </p:nvSpPr>
        <p:spPr>
          <a:xfrm>
            <a:off x="-3452317" y="5014112"/>
            <a:ext cx="5747918" cy="5747918"/>
          </a:xfrm>
          <a:prstGeom prst="ellipse">
            <a:avLst/>
          </a:prstGeom>
          <a:solidFill>
            <a:srgbClr val="8A0F1A">
              <a:alpha val="3631"/>
            </a:srgbClr>
          </a:solidFill>
          <a:ln/>
        </p:spPr>
      </p:sp>
      <p:sp>
        <p:nvSpPr>
          <p:cNvPr id="35" name="Shape 33"/>
          <p:cNvSpPr/>
          <p:nvPr/>
        </p:nvSpPr>
        <p:spPr>
          <a:xfrm>
            <a:off x="-3272695" y="5193735"/>
            <a:ext cx="5388674" cy="5388674"/>
          </a:xfrm>
          <a:prstGeom prst="ellipse">
            <a:avLst/>
          </a:prstGeom>
          <a:solidFill>
            <a:srgbClr val="8A0F1A">
              <a:alpha val="3693"/>
            </a:srgbClr>
          </a:solidFill>
          <a:ln/>
        </p:spPr>
      </p:sp>
      <p:sp>
        <p:nvSpPr>
          <p:cNvPr id="36" name="Shape 34"/>
          <p:cNvSpPr/>
          <p:nvPr/>
        </p:nvSpPr>
        <p:spPr>
          <a:xfrm>
            <a:off x="-3093072" y="5373357"/>
            <a:ext cx="5029429" cy="5029429"/>
          </a:xfrm>
          <a:prstGeom prst="ellipse">
            <a:avLst/>
          </a:prstGeom>
          <a:solidFill>
            <a:srgbClr val="8A0F1A">
              <a:alpha val="4536"/>
            </a:srgbClr>
          </a:solidFill>
          <a:ln/>
        </p:spPr>
      </p:sp>
      <p:sp>
        <p:nvSpPr>
          <p:cNvPr id="37" name="Shape 35"/>
          <p:cNvSpPr/>
          <p:nvPr/>
        </p:nvSpPr>
        <p:spPr>
          <a:xfrm>
            <a:off x="-2913450" y="5552980"/>
            <a:ext cx="4670184" cy="4670184"/>
          </a:xfrm>
          <a:prstGeom prst="ellipse">
            <a:avLst/>
          </a:prstGeom>
          <a:solidFill>
            <a:srgbClr val="8A0F1A">
              <a:alpha val="4737"/>
            </a:srgbClr>
          </a:solidFill>
          <a:ln/>
        </p:spPr>
      </p:sp>
      <p:sp>
        <p:nvSpPr>
          <p:cNvPr id="38" name="Shape 36"/>
          <p:cNvSpPr/>
          <p:nvPr/>
        </p:nvSpPr>
        <p:spPr>
          <a:xfrm>
            <a:off x="-2733827" y="5732602"/>
            <a:ext cx="4310939" cy="4310939"/>
          </a:xfrm>
          <a:prstGeom prst="ellipse">
            <a:avLst/>
          </a:prstGeom>
          <a:solidFill>
            <a:srgbClr val="8A0F1A">
              <a:alpha val="4994"/>
            </a:srgbClr>
          </a:solidFill>
          <a:ln/>
        </p:spPr>
      </p:sp>
      <p:sp>
        <p:nvSpPr>
          <p:cNvPr id="39" name="Shape 37"/>
          <p:cNvSpPr/>
          <p:nvPr/>
        </p:nvSpPr>
        <p:spPr>
          <a:xfrm>
            <a:off x="-2554205" y="5912225"/>
            <a:ext cx="3951694" cy="3951694"/>
          </a:xfrm>
          <a:prstGeom prst="ellipse">
            <a:avLst/>
          </a:prstGeom>
          <a:solidFill>
            <a:srgbClr val="8A0F1A">
              <a:alpha val="5272"/>
            </a:srgbClr>
          </a:solidFill>
          <a:ln/>
        </p:spPr>
      </p:sp>
      <p:sp>
        <p:nvSpPr>
          <p:cNvPr id="40" name="Shape 38"/>
          <p:cNvSpPr/>
          <p:nvPr/>
        </p:nvSpPr>
        <p:spPr>
          <a:xfrm>
            <a:off x="-2374583" y="6091847"/>
            <a:ext cx="3592449" cy="3592449"/>
          </a:xfrm>
          <a:prstGeom prst="ellipse">
            <a:avLst/>
          </a:prstGeom>
          <a:solidFill>
            <a:srgbClr val="8A0F1A">
              <a:alpha val="5521"/>
            </a:srgbClr>
          </a:solidFill>
          <a:ln/>
        </p:spPr>
      </p:sp>
      <p:sp>
        <p:nvSpPr>
          <p:cNvPr id="41" name="Shape 39"/>
          <p:cNvSpPr/>
          <p:nvPr/>
        </p:nvSpPr>
        <p:spPr>
          <a:xfrm>
            <a:off x="-2194960" y="6271470"/>
            <a:ext cx="3233204" cy="3233204"/>
          </a:xfrm>
          <a:prstGeom prst="ellipse">
            <a:avLst/>
          </a:prstGeom>
          <a:solidFill>
            <a:srgbClr val="8A0F1A">
              <a:alpha val="6496"/>
            </a:srgbClr>
          </a:solidFill>
          <a:ln/>
        </p:spPr>
      </p:sp>
      <p:sp>
        <p:nvSpPr>
          <p:cNvPr id="42" name="Shape 40"/>
          <p:cNvSpPr/>
          <p:nvPr/>
        </p:nvSpPr>
        <p:spPr>
          <a:xfrm>
            <a:off x="-2015338" y="6451092"/>
            <a:ext cx="2873959" cy="2873959"/>
          </a:xfrm>
          <a:prstGeom prst="ellipse">
            <a:avLst/>
          </a:prstGeom>
          <a:solidFill>
            <a:srgbClr val="8A0F1A">
              <a:alpha val="6768"/>
            </a:srgbClr>
          </a:solidFill>
          <a:ln/>
        </p:spPr>
      </p:sp>
      <p:sp>
        <p:nvSpPr>
          <p:cNvPr id="43" name="Shape 41"/>
          <p:cNvSpPr/>
          <p:nvPr/>
        </p:nvSpPr>
        <p:spPr>
          <a:xfrm>
            <a:off x="-1835715" y="6630714"/>
            <a:ext cx="2514714" cy="2514714"/>
          </a:xfrm>
          <a:prstGeom prst="ellipse">
            <a:avLst/>
          </a:prstGeom>
          <a:solidFill>
            <a:srgbClr val="8A0F1A">
              <a:alpha val="7123"/>
            </a:srgbClr>
          </a:solidFill>
          <a:ln/>
        </p:spPr>
      </p:sp>
      <p:sp>
        <p:nvSpPr>
          <p:cNvPr id="44" name="Shape 42"/>
          <p:cNvSpPr/>
          <p:nvPr/>
        </p:nvSpPr>
        <p:spPr>
          <a:xfrm>
            <a:off x="-1656093" y="6810337"/>
            <a:ext cx="2155469" cy="2155469"/>
          </a:xfrm>
          <a:prstGeom prst="ellipse">
            <a:avLst/>
          </a:prstGeom>
          <a:solidFill>
            <a:srgbClr val="8A0F1A">
              <a:alpha val="7486"/>
            </a:srgbClr>
          </a:solidFill>
          <a:ln/>
        </p:spPr>
      </p:sp>
      <p:sp>
        <p:nvSpPr>
          <p:cNvPr id="45" name="Shape 43"/>
          <p:cNvSpPr/>
          <p:nvPr/>
        </p:nvSpPr>
        <p:spPr>
          <a:xfrm>
            <a:off x="-1476470" y="6989959"/>
            <a:ext cx="1796225" cy="1796225"/>
          </a:xfrm>
          <a:prstGeom prst="ellipse">
            <a:avLst/>
          </a:prstGeom>
          <a:solidFill>
            <a:srgbClr val="8A0F1A">
              <a:alpha val="8191"/>
            </a:srgbClr>
          </a:solidFill>
          <a:ln/>
        </p:spPr>
      </p:sp>
      <p:sp>
        <p:nvSpPr>
          <p:cNvPr id="46" name="Shape 44"/>
          <p:cNvSpPr/>
          <p:nvPr/>
        </p:nvSpPr>
        <p:spPr>
          <a:xfrm>
            <a:off x="-1296848" y="7169582"/>
            <a:ext cx="1436980" cy="1436980"/>
          </a:xfrm>
          <a:prstGeom prst="ellipse">
            <a:avLst/>
          </a:prstGeom>
          <a:solidFill>
            <a:srgbClr val="8A0F1A">
              <a:alpha val="9466"/>
            </a:srgbClr>
          </a:solidFill>
          <a:ln/>
        </p:spPr>
      </p:sp>
      <p:sp>
        <p:nvSpPr>
          <p:cNvPr id="47" name="Shape 45"/>
          <p:cNvSpPr/>
          <p:nvPr/>
        </p:nvSpPr>
        <p:spPr>
          <a:xfrm>
            <a:off x="-1117225" y="7349204"/>
            <a:ext cx="1077735" cy="1077735"/>
          </a:xfrm>
          <a:prstGeom prst="ellipse">
            <a:avLst/>
          </a:prstGeom>
          <a:solidFill>
            <a:srgbClr val="8A0F1A">
              <a:alpha val="10120"/>
            </a:srgbClr>
          </a:solidFill>
          <a:ln/>
        </p:spPr>
      </p:sp>
      <p:sp>
        <p:nvSpPr>
          <p:cNvPr id="48" name="Shape 46"/>
          <p:cNvSpPr/>
          <p:nvPr/>
        </p:nvSpPr>
        <p:spPr>
          <a:xfrm>
            <a:off x="-937603" y="7528827"/>
            <a:ext cx="718490" cy="718490"/>
          </a:xfrm>
          <a:prstGeom prst="ellipse">
            <a:avLst/>
          </a:prstGeom>
          <a:solidFill>
            <a:srgbClr val="8A0F1A">
              <a:alpha val="10280"/>
            </a:srgbClr>
          </a:solidFill>
          <a:ln/>
        </p:spPr>
      </p:sp>
      <p:sp>
        <p:nvSpPr>
          <p:cNvPr id="49" name="Shape 47"/>
          <p:cNvSpPr/>
          <p:nvPr/>
        </p:nvSpPr>
        <p:spPr>
          <a:xfrm>
            <a:off x="-757980" y="7708449"/>
            <a:ext cx="359245" cy="359245"/>
          </a:xfrm>
          <a:prstGeom prst="ellipse">
            <a:avLst/>
          </a:prstGeom>
          <a:solidFill>
            <a:srgbClr val="8A0F1A">
              <a:alpha val="10999"/>
            </a:srgbClr>
          </a:solidFill>
          <a:ln/>
        </p:spPr>
      </p:sp>
      <p:sp>
        <p:nvSpPr>
          <p:cNvPr id="50" name="Text 48"/>
          <p:cNvSpPr/>
          <p:nvPr/>
        </p:nvSpPr>
        <p:spPr>
          <a:xfrm>
            <a:off x="830275" y="1394460"/>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Agent governance</a:t>
            </a:r>
          </a:p>
        </p:txBody>
      </p:sp>
      <p:sp>
        <p:nvSpPr>
          <p:cNvPr id="51" name="Text 49"/>
          <p:cNvSpPr/>
          <p:nvPr/>
        </p:nvSpPr>
        <p:spPr>
          <a:xfrm>
            <a:off x="829361" y="1623060"/>
            <a:ext cx="35661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Govern agents,</a:t>
            </a:r>
          </a:p>
        </p:txBody>
      </p:sp>
      <p:sp>
        <p:nvSpPr>
          <p:cNvPr id="52" name="Text 50"/>
          <p:cNvSpPr/>
          <p:nvPr/>
        </p:nvSpPr>
        <p:spPr>
          <a:xfrm>
            <a:off x="1502359" y="2115007"/>
            <a:ext cx="32918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not just models</a:t>
            </a:r>
          </a:p>
        </p:txBody>
      </p:sp>
      <p:sp>
        <p:nvSpPr>
          <p:cNvPr id="53" name="Shape 51"/>
          <p:cNvSpPr/>
          <p:nvPr/>
        </p:nvSpPr>
        <p:spPr>
          <a:xfrm rot="16200000">
            <a:off x="1089965" y="224028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Shape 52"/>
          <p:cNvSpPr/>
          <p:nvPr/>
        </p:nvSpPr>
        <p:spPr>
          <a:xfrm>
            <a:off x="869594" y="3094330"/>
            <a:ext cx="2743200" cy="325526"/>
          </a:xfrm>
          <a:prstGeom prst="roundRect">
            <a:avLst>
              <a:gd name="adj" fmla="val 50000"/>
            </a:avLst>
          </a:prstGeom>
          <a:solidFill>
            <a:srgbClr val="8A0F1A">
              <a:alpha val="15600"/>
            </a:srgbClr>
          </a:solidFill>
          <a:ln w="6350">
            <a:solidFill>
              <a:srgbClr val="D9B48A"/>
            </a:solidFill>
            <a:prstDash val="solid"/>
          </a:ln>
        </p:spPr>
      </p:sp>
      <p:sp>
        <p:nvSpPr>
          <p:cNvPr id="55" name="Text 53"/>
          <p:cNvSpPr/>
          <p:nvPr/>
        </p:nvSpPr>
        <p:spPr>
          <a:xfrm>
            <a:off x="1181405" y="3129991"/>
            <a:ext cx="2468880" cy="261518"/>
          </a:xfrm>
          <a:prstGeom prst="rect">
            <a:avLst/>
          </a:prstGeom>
          <a:noFill/>
          <a:ln/>
        </p:spPr>
        <p:txBody>
          <a:bodyPr wrap="none" lIns="91440" tIns="45720" rIns="91440" bIns="45720" rtlCol="0" anchor="t">
            <a:spAutoFit/>
          </a:bodyPr>
          <a:lstStyle/>
          <a:p>
            <a:pPr indent="0" marL="0">
              <a:buNone/>
            </a:pPr>
            <a:r>
              <a:rPr lang="en-US" sz="1100" dirty="0">
                <a:solidFill>
                  <a:srgbClr val="FFFFFF"/>
                </a:solidFill>
                <a:latin typeface="Arial" pitchFamily="34" charset="0"/>
                <a:ea typeface="Arial" pitchFamily="34" charset="-122"/>
                <a:cs typeface="Arial" pitchFamily="34" charset="-120"/>
              </a:rPr>
              <a:t>Tier = impact × autonomy level</a:t>
            </a:r>
          </a:p>
        </p:txBody>
      </p:sp>
      <p:sp>
        <p:nvSpPr>
          <p:cNvPr id="56" name="Shape 54"/>
          <p:cNvSpPr/>
          <p:nvPr/>
        </p:nvSpPr>
        <p:spPr>
          <a:xfrm rot="19800000">
            <a:off x="1029614" y="3209544"/>
            <a:ext cx="95098" cy="95098"/>
          </a:xfrm>
          <a:prstGeom prst="rect">
            <a:avLst/>
          </a:prstGeom>
          <a:solidFill>
            <a:srgbClr val="CC0000"/>
          </a:solidFill>
          <a:ln/>
        </p:spPr>
      </p:sp>
      <p:sp>
        <p:nvSpPr>
          <p:cNvPr id="57" name="Text 55"/>
          <p:cNvSpPr/>
          <p:nvPr/>
        </p:nvSpPr>
        <p:spPr>
          <a:xfrm>
            <a:off x="869594" y="3577133"/>
            <a:ext cx="3885286"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Model cards miss identity, permissions, autonomy, delegation and memory. A thin registry, synced to our GRC (watsonx.governance or ServiceNow AI Control Tower), holds our agents and vendor-built ones.</a:t>
            </a:r>
          </a:p>
        </p:txBody>
      </p:sp>
      <p:sp>
        <p:nvSpPr>
          <p:cNvPr id="58" name="Text 56"/>
          <p:cNvSpPr/>
          <p:nvPr/>
        </p:nvSpPr>
        <p:spPr>
          <a:xfrm>
            <a:off x="869594" y="4709160"/>
            <a:ext cx="3885286" cy="571500"/>
          </a:xfrm>
          <a:prstGeom prst="rect">
            <a:avLst/>
          </a:prstGeom>
          <a:noFill/>
          <a:ln/>
        </p:spPr>
        <p:txBody>
          <a:bodyPr wrap="square" lIns="91440" tIns="45720" rIns="91440" bIns="45720" rtlCol="0" anchor="t">
            <a:spAutoFit/>
          </a:bodyPr>
          <a:lstStyle/>
          <a:p>
            <a:pPr indent="0" marL="0">
              <a:lnSpc>
                <a:spcPct val="150000"/>
              </a:lnSpc>
              <a:buNone/>
            </a:pPr>
            <a:r>
              <a:rPr lang="en-US" sz="950" dirty="0" b="1">
                <a:solidFill>
                  <a:srgbClr val="F5B700"/>
                </a:solidFill>
                <a:latin typeface="Arial" pitchFamily="34" charset="0"/>
                <a:ea typeface="Arial" pitchFamily="34" charset="-122"/>
                <a:cs typeface="Arial" pitchFamily="34" charset="-120"/>
              </a:rPr>
              <a:t>FRAMEWORK MAP</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NIST AI RMF + NCCoE  </a:t>
            </a:r>
            <a:r>
              <a:rPr lang="en-US" sz="900" dirty="0">
                <a:solidFill>
                  <a:srgbClr val="F3E6D6"/>
                </a:solidFill>
                <a:latin typeface="Arial" pitchFamily="34" charset="0"/>
                <a:ea typeface="Arial" pitchFamily="34" charset="-122"/>
                <a:cs typeface="Arial" pitchFamily="34" charset="-120"/>
              </a:rPr>
              <a:t>evidence → Measure / Manage; identity</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ISO/IEC 42001  </a:t>
            </a:r>
            <a:r>
              <a:rPr lang="en-US" sz="900" dirty="0">
                <a:solidFill>
                  <a:srgbClr val="F3E6D6"/>
                </a:solidFill>
                <a:latin typeface="Arial" pitchFamily="34" charset="0"/>
                <a:ea typeface="Arial" pitchFamily="34" charset="-122"/>
                <a:cs typeface="Arial" pitchFamily="34" charset="-120"/>
              </a:rPr>
              <a:t>registry + recertification as AIMS evidence</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EU AI Act  </a:t>
            </a:r>
            <a:r>
              <a:rPr lang="en-US" sz="900" dirty="0">
                <a:solidFill>
                  <a:srgbClr val="F3E6D6"/>
                </a:solidFill>
                <a:latin typeface="Arial" pitchFamily="34" charset="0"/>
                <a:ea typeface="Arial" pitchFamily="34" charset="-122"/>
                <a:cs typeface="Arial" pitchFamily="34" charset="-120"/>
              </a:rPr>
              <a:t>high-risk from 2 Dec 2027; tag EU-exposed agents</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OWASP Agentic Top 10  </a:t>
            </a:r>
            <a:r>
              <a:rPr lang="en-US" sz="900" dirty="0">
                <a:solidFill>
                  <a:srgbClr val="F3E6D6"/>
                </a:solidFill>
                <a:latin typeface="Arial" pitchFamily="34" charset="0"/>
                <a:ea typeface="Arial" pitchFamily="34" charset="-122"/>
                <a:cs typeface="Arial" pitchFamily="34" charset="-120"/>
              </a:rPr>
              <a:t>one threat taxonomy for tests and controls</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Singapore IMDA agentic  </a:t>
            </a:r>
            <a:r>
              <a:rPr lang="en-US" sz="900" dirty="0">
                <a:solidFill>
                  <a:srgbClr val="F3E6D6"/>
                </a:solidFill>
                <a:latin typeface="Arial" pitchFamily="34" charset="0"/>
                <a:ea typeface="Arial" pitchFamily="34" charset="-122"/>
                <a:cs typeface="Arial" pitchFamily="34" charset="-120"/>
              </a:rPr>
              <a:t>basis for tiers and human-in-the-loop rules</a:t>
            </a:r>
          </a:p>
        </p:txBody>
      </p:sp>
      <p:sp>
        <p:nvSpPr>
          <p:cNvPr id="59" name="Shape 57"/>
          <p:cNvSpPr/>
          <p:nvPr/>
        </p:nvSpPr>
        <p:spPr>
          <a:xfrm>
            <a:off x="5692140" y="1295705"/>
            <a:ext cx="6048756" cy="1384402"/>
          </a:xfrm>
          <a:prstGeom prst="roundRect">
            <a:avLst>
              <a:gd name="adj" fmla="val 15852"/>
            </a:avLst>
          </a:prstGeom>
          <a:solidFill>
            <a:srgbClr val="F5B700"/>
          </a:solidFill>
          <a:ln/>
        </p:spPr>
      </p:sp>
      <p:sp>
        <p:nvSpPr>
          <p:cNvPr id="60" name="Shape 58"/>
          <p:cNvSpPr/>
          <p:nvPr/>
        </p:nvSpPr>
        <p:spPr>
          <a:xfrm>
            <a:off x="5872277" y="1488643"/>
            <a:ext cx="1189634" cy="374904"/>
          </a:xfrm>
          <a:prstGeom prst="roundRect">
            <a:avLst>
              <a:gd name="adj" fmla="val 50000"/>
            </a:avLst>
          </a:prstGeom>
          <a:solidFill>
            <a:srgbClr val="FFF1CC">
              </a:srgbClr>
          </a:solidFill>
          <a:ln w="6350">
            <a:solidFill>
              <a:srgbClr val="141010"/>
            </a:solidFill>
            <a:prstDash val="solid"/>
          </a:ln>
        </p:spPr>
      </p:sp>
      <p:sp>
        <p:nvSpPr>
          <p:cNvPr id="61" name="Text 59"/>
          <p:cNvSpPr/>
          <p:nvPr/>
        </p:nvSpPr>
        <p:spPr>
          <a:xfrm>
            <a:off x="5800954" y="1488643"/>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Registry</a:t>
            </a:r>
          </a:p>
        </p:txBody>
      </p:sp>
      <p:sp>
        <p:nvSpPr>
          <p:cNvPr id="62" name="Text 60"/>
          <p:cNvSpPr/>
          <p:nvPr/>
        </p:nvSpPr>
        <p:spPr>
          <a:xfrm>
            <a:off x="5920740" y="1891894"/>
            <a:ext cx="2011680" cy="585216"/>
          </a:xfrm>
          <a:prstGeom prst="rect">
            <a:avLst/>
          </a:prstGeom>
          <a:noFill/>
          <a:ln/>
        </p:spPr>
        <p:txBody>
          <a:bodyPr wrap="square" lIns="91440" tIns="45720" rIns="91440" bIns="45720" rtlCol="0" anchor="t">
            <a:spAutoFit/>
          </a:bodyPr>
          <a:lstStyle/>
          <a:p>
            <a:pPr indent="0" marL="0">
              <a:buNone/>
            </a:pPr>
            <a:r>
              <a:rPr lang="en-US" sz="1500" dirty="0">
                <a:solidFill>
                  <a:srgbClr val="141010"/>
                </a:solidFill>
                <a:latin typeface="Arial" pitchFamily="34" charset="0"/>
                <a:ea typeface="Arial" pitchFamily="34" charset="-122"/>
                <a:cs typeface="Arial" pitchFamily="34" charset="-120"/>
              </a:rPr>
              <a:t>One record per agent</a:t>
            </a:r>
          </a:p>
        </p:txBody>
      </p:sp>
      <p:sp>
        <p:nvSpPr>
          <p:cNvPr id="64" name="Shape 62"/>
          <p:cNvSpPr/>
          <p:nvPr/>
        </p:nvSpPr>
        <p:spPr>
          <a:xfrm>
            <a:off x="5692140" y="2914193"/>
            <a:ext cx="6048756" cy="2031797"/>
          </a:xfrm>
          <a:prstGeom prst="roundRect">
            <a:avLst>
              <a:gd name="adj" fmla="val 11386"/>
            </a:avLst>
          </a:prstGeom>
          <a:ln w="9525">
            <a:solidFill>
              <a:srgbClr val="D9B48A"/>
            </a:solidFill>
            <a:prstDash val="solid"/>
          </a:ln>
        </p:spPr>
      </p:sp>
      <p:sp>
        <p:nvSpPr>
          <p:cNvPr id="65" name="Shape 63"/>
          <p:cNvSpPr/>
          <p:nvPr/>
        </p:nvSpPr>
        <p:spPr>
          <a:xfrm>
            <a:off x="5872277" y="3107131"/>
            <a:ext cx="1189634" cy="374904"/>
          </a:xfrm>
          <a:prstGeom prst="roundRect">
            <a:avLst>
              <a:gd name="adj" fmla="val 50000"/>
            </a:avLst>
          </a:prstGeom>
          <a:solidFill>
            <a:srgbClr val="8A0F1A">
              <a:alpha val="15600"/>
            </a:srgbClr>
          </a:solidFill>
          <a:ln w="6350">
            <a:solidFill>
              <a:srgbClr val="D9B48A"/>
            </a:solidFill>
            <a:prstDash val="solid"/>
          </a:ln>
        </p:spPr>
      </p:sp>
      <p:sp>
        <p:nvSpPr>
          <p:cNvPr id="66" name="Text 64"/>
          <p:cNvSpPr/>
          <p:nvPr/>
        </p:nvSpPr>
        <p:spPr>
          <a:xfrm>
            <a:off x="5800954" y="3107131"/>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Risk tiers</a:t>
            </a:r>
          </a:p>
        </p:txBody>
      </p:sp>
      <p:sp>
        <p:nvSpPr>
          <p:cNvPr id="67" name="Text 65"/>
          <p:cNvSpPr/>
          <p:nvPr/>
        </p:nvSpPr>
        <p:spPr>
          <a:xfrm>
            <a:off x="5920740" y="3577133"/>
            <a:ext cx="2103120" cy="831190"/>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Impact × autonomy sets the bar</a:t>
            </a:r>
          </a:p>
        </p:txBody>
      </p:sp>
      <p:sp>
        <p:nvSpPr>
          <p:cNvPr id="400" name="g2 400"/>
          <p:cNvSpPr/>
          <p:nvPr/>
        </p:nvSpPr>
        <p:spPr>
          <a:xfrm>
            <a:off x="5692140" y="5047488"/>
            <a:ext cx="1924812" cy="914400"/>
          </a:xfrm>
          <a:prstGeom prst="roundRect">
            <a:avLst>
              <a:gd name="adj" fmla="val 12000"/>
            </a:avLst>
          </a:prstGeom>
          <a:solidFill>
            <a:srgbClr val="2A1A16"/>
          </a:solidFill>
          <a:ln w="9525">
            <a:solidFill>
              <a:srgbClr val="A0704A"/>
            </a:solidFill>
          </a:ln>
        </p:spPr>
        <p:txBody>
          <a:bodyPr wrap="square" lIns="118872" tIns="27432" rIns="91440" bIns="27432" rtlCol="0" anchor="ctr">
            <a:noAutofit/>
          </a:bodyPr>
          <a:lstStyle/>
          <a:p>
            <a:pPr algn="l" marL="0" indent="0">
              <a:lnSpc>
                <a:spcPct val="100000"/>
              </a:lnSpc>
              <a:buNone/>
            </a:pPr>
            <a:r>
              <a:rPr lang="en-US" sz="1050" b="1" dirty="0">
                <a:solidFill>
                  <a:srgbClr val="F5B700"/>
                </a:solidFill>
                <a:latin typeface="Arial"/>
                <a:ea typeface="Arial"/>
                <a:cs typeface="Arial"/>
              </a:rPr>
              <a:t>Evidence per version</a:t>
            </a:r>
          </a:p>
          <a:p>
            <a:pPr algn="l" marL="0" indent="0">
              <a:lnSpc>
                <a:spcPct val="100000"/>
              </a:lnSpc>
              <a:buNone/>
            </a:pPr>
            <a:r>
              <a:rPr lang="en-US" sz="900" dirty="0">
                <a:solidFill>
                  <a:srgbClr val="F3E6D6"/>
                </a:solidFill>
                <a:latin typeface="Arial"/>
                <a:ea typeface="Arial"/>
                <a:cs typeface="Arial"/>
              </a:rPr>
              <a:t>scores · pass^k · ASR · policy version · approvals · incidents; immutable audit log</a:t>
            </a:r>
          </a:p>
        </p:txBody>
      </p:sp>
      <p:sp>
        <p:nvSpPr>
          <p:cNvPr id="401" name="g2 401"/>
          <p:cNvSpPr/>
          <p:nvPr/>
        </p:nvSpPr>
        <p:spPr>
          <a:xfrm>
            <a:off x="7754112" y="5047488"/>
            <a:ext cx="1924812" cy="914400"/>
          </a:xfrm>
          <a:prstGeom prst="roundRect">
            <a:avLst>
              <a:gd name="adj" fmla="val 12000"/>
            </a:avLst>
          </a:prstGeom>
          <a:solidFill>
            <a:srgbClr val="2A1A16"/>
          </a:solidFill>
          <a:ln w="9525">
            <a:solidFill>
              <a:srgbClr val="A0704A"/>
            </a:solidFill>
          </a:ln>
        </p:spPr>
        <p:txBody>
          <a:bodyPr wrap="square" lIns="118872" tIns="27432" rIns="91440" bIns="27432" rtlCol="0" anchor="ctr">
            <a:noAutofit/>
          </a:bodyPr>
          <a:lstStyle/>
          <a:p>
            <a:pPr algn="l" marL="0" indent="0">
              <a:lnSpc>
                <a:spcPct val="100000"/>
              </a:lnSpc>
              <a:buNone/>
            </a:pPr>
            <a:r>
              <a:rPr lang="en-US" sz="1050" b="1" dirty="0">
                <a:solidFill>
                  <a:srgbClr val="F5B700"/>
                </a:solidFill>
                <a:latin typeface="Arial"/>
                <a:ea typeface="Arial"/>
                <a:cs typeface="Arial"/>
              </a:rPr>
              <a:t>Autonomy moves</a:t>
            </a:r>
          </a:p>
          <a:p>
            <a:pPr algn="l" marL="0" indent="0">
              <a:lnSpc>
                <a:spcPct val="100000"/>
              </a:lnSpc>
              <a:buNone/>
            </a:pPr>
            <a:r>
              <a:rPr lang="en-US" sz="900" dirty="0">
                <a:solidFill>
                  <a:srgbClr val="F3E6D6"/>
                </a:solidFill>
                <a:latin typeface="Arial"/>
                <a:ea typeface="Arial"/>
                <a:cs typeface="Arial"/>
              </a:rPr>
              <a:t>promote or demote a level on evidence; L4 → L3 on incidents; uniform governance fails [7]</a:t>
            </a:r>
          </a:p>
        </p:txBody>
      </p:sp>
      <p:sp>
        <p:nvSpPr>
          <p:cNvPr id="402" name="g2 402"/>
          <p:cNvSpPr/>
          <p:nvPr/>
        </p:nvSpPr>
        <p:spPr>
          <a:xfrm>
            <a:off x="9816084" y="5047488"/>
            <a:ext cx="1924812" cy="914400"/>
          </a:xfrm>
          <a:prstGeom prst="roundRect">
            <a:avLst>
              <a:gd name="adj" fmla="val 12000"/>
            </a:avLst>
          </a:prstGeom>
          <a:solidFill>
            <a:srgbClr val="2A1A16"/>
          </a:solidFill>
          <a:ln w="9525">
            <a:solidFill>
              <a:srgbClr val="A0704A"/>
            </a:solidFill>
          </a:ln>
        </p:spPr>
        <p:txBody>
          <a:bodyPr wrap="square" lIns="118872" tIns="27432" rIns="91440" bIns="27432" rtlCol="0" anchor="ctr">
            <a:noAutofit/>
          </a:bodyPr>
          <a:lstStyle/>
          <a:p>
            <a:pPr algn="l" marL="0" indent="0">
              <a:lnSpc>
                <a:spcPct val="100000"/>
              </a:lnSpc>
              <a:buNone/>
            </a:pPr>
            <a:r>
              <a:rPr lang="en-US" sz="1050" b="1" dirty="0">
                <a:solidFill>
                  <a:srgbClr val="F5B700"/>
                </a:solidFill>
                <a:latin typeface="Arial"/>
                <a:ea typeface="Arial"/>
                <a:cs typeface="Arial"/>
              </a:rPr>
              <a:t>Highest tier wins</a:t>
            </a:r>
          </a:p>
          <a:p>
            <a:pPr algn="l" marL="0" indent="0">
              <a:lnSpc>
                <a:spcPct val="100000"/>
              </a:lnSpc>
              <a:buNone/>
            </a:pPr>
            <a:r>
              <a:rPr lang="en-US" sz="900" dirty="0">
                <a:solidFill>
                  <a:srgbClr val="F3E6D6"/>
                </a:solidFill>
                <a:latin typeface="Arial"/>
                <a:ea typeface="Arial"/>
                <a:cs typeface="Arial"/>
              </a:rPr>
              <a:t>P1 L3–L4 · P2 L2–L3 · P3 L3 · P4 L4 only with breakers · P5 L4; a composite takes its highest part</a:t>
            </a:r>
          </a:p>
        </p:txBody>
      </p:sp>
      <p:sp>
        <p:nvSpPr>
          <p:cNvPr id="73" name="Shape 71"/>
          <p:cNvSpPr/>
          <p:nvPr/>
        </p:nvSpPr>
        <p:spPr>
          <a:xfrm>
            <a:off x="731520" y="6098134"/>
            <a:ext cx="10967314" cy="0"/>
          </a:xfrm>
          <a:prstGeom prst="line">
            <a:avLst/>
          </a:prstGeom>
          <a:noFill/>
          <a:ln w="12700">
            <a:solidFill>
              <a:srgbClr val="D9B48A"/>
            </a:solidFill>
            <a:prstDash val="solid"/>
            <a:tailEnd type="triangle"/>
          </a:ln>
        </p:spPr>
      </p:sp>
      <p:sp>
        <p:nvSpPr>
          <p:cNvPr id="110" name="v2 110"/>
          <p:cNvSpPr/>
          <p:nvPr/>
        </p:nvSpPr>
        <p:spPr>
          <a:xfrm>
            <a:off x="8092440" y="1463040"/>
            <a:ext cx="3520440" cy="1097280"/>
          </a:xfrm>
          <a:prstGeom prst="rect">
            <a:avLst/>
          </a:prstGeom>
          <a:noFill/>
          <a:ln>
            <a:noFill/>
          </a:ln>
        </p:spPr>
        <p:txBody>
          <a:bodyPr wrap="square" lIns="0" tIns="0" rIns="0" bIns="0" rtlCol="0" anchor="ctr">
            <a:noAutofit/>
          </a:bodyPr>
          <a:lstStyle/>
          <a:p>
            <a:pPr algn="l" marL="0" indent="0">
              <a:lnSpc>
                <a:spcPct val="105000"/>
              </a:lnSpc>
              <a:buNone/>
            </a:pPr>
            <a:r>
              <a:rPr lang="en-US" sz="1000" b="1" dirty="0">
                <a:solidFill>
                  <a:srgbClr val="141010"/>
                </a:solidFill>
                <a:latin typeface="Arial"/>
                <a:ea typeface="Arial"/>
                <a:cs typeface="Arial"/>
              </a:rPr>
              <a:t>From the onboarding manifest</a:t>
            </a:r>
          </a:p>
          <a:p>
            <a:pPr algn="l" marL="0" indent="0">
              <a:lnSpc>
                <a:spcPct val="105000"/>
              </a:lnSpc>
              <a:buNone/>
            </a:pPr>
            <a:r>
              <a:rPr lang="en-US" sz="900" dirty="0">
                <a:solidFill>
                  <a:srgbClr val="141010"/>
                </a:solidFill>
                <a:latin typeface="Arial"/>
                <a:ea typeface="Arial"/>
                <a:cs typeface="Arial"/>
              </a:rPr>
              <a:t>owner · vendor (third-party) · purpose · autonomy level L1–L4 · tools + scopes · data classes · memory scope · models · linked agents · risk tier · status · recert date</a:t>
            </a:r>
          </a:p>
          <a:p>
            <a:pPr algn="l" marL="0" indent="0">
              <a:lnSpc>
                <a:spcPct val="105000"/>
              </a:lnSpc>
              <a:buNone/>
            </a:pPr>
            <a:r>
              <a:rPr lang="en-US" sz="900" b="1" dirty="0">
                <a:solidFill>
                  <a:srgbClr val="141010"/>
                </a:solidFill>
                <a:latin typeface="Arial"/>
                <a:ea typeface="Arial"/>
                <a:cs typeface="Arial"/>
              </a:rPr>
              <a:t>onboard → approve → monitor → promote / demote → recertify → retire</a:t>
            </a:r>
          </a:p>
        </p:txBody>
      </p:sp>
      <p:sp>
        <p:nvSpPr>
          <p:cNvPr id="111" name="v2 111"/>
          <p:cNvSpPr/>
          <p:nvPr/>
        </p:nvSpPr>
        <p:spPr>
          <a:xfrm>
            <a:off x="5920740" y="4206240"/>
            <a:ext cx="2057400" cy="685800"/>
          </a:xfrm>
          <a:prstGeom prst="rect">
            <a:avLst/>
          </a:prstGeom>
          <a:noFill/>
          <a:ln>
            <a:noFill/>
          </a:ln>
        </p:spPr>
        <p:txBody>
          <a:bodyPr wrap="square" lIns="0" tIns="0" rIns="0" bIns="0" rtlCol="0" anchor="t">
            <a:noAutofit/>
          </a:bodyPr>
          <a:lstStyle/>
          <a:p>
            <a:pPr algn="l" marL="0" indent="0">
              <a:buNone/>
            </a:pPr>
            <a:r>
              <a:rPr lang="en-US" sz="900" dirty="0">
                <a:solidFill>
                  <a:srgbClr val="F3E6D6"/>
                </a:solidFill>
                <a:latin typeface="Arial"/>
                <a:ea typeface="Arial"/>
                <a:cs typeface="Arial"/>
              </a:rPr>
              <a:t>Tier sets the eval pack, red-team depth, required controls, approver and recert cadence.</a:t>
            </a:r>
          </a:p>
        </p:txBody>
      </p:sp>
      <p:graphicFrame>
        <p:nvGraphicFramePr>
          <p:cNvPr id="300" name="Risk tier heatmap table"/>
          <p:cNvGraphicFramePr>
            <a:graphicFrameLocks noGrp="1"/>
          </p:cNvGraphicFramePr>
          <p:nvPr/>
        </p:nvGraphicFramePr>
        <p:xfrm>
          <a:off x="8138160" y="3072384"/>
          <a:ext cx="3474720" cy="1554480"/>
        </p:xfrm>
        <a:graphic>
          <a:graphicData uri="http://schemas.openxmlformats.org/drawingml/2006/table">
            <a:tbl>
              <a:tblPr/>
              <a:tblGrid>
                <a:gridCol w="768096"/>
                <a:gridCol w="877824"/>
                <a:gridCol w="36576"/>
                <a:gridCol w="877824"/>
                <a:gridCol w="36576"/>
                <a:gridCol w="877824"/>
              </a:tblGrid>
              <a:tr h="329184">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dirty="0">
                          <a:solidFill>
                            <a:srgbClr val="F3E6D6"/>
                          </a:solidFill>
                          <a:latin typeface="Arial"/>
                          <a:ea typeface="Arial"/>
                          <a:cs typeface="Arial"/>
                        </a:rPr>
                        <a:t>L2 Advise</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dirty="0">
                          <a:solidFill>
                            <a:srgbClr val="F3E6D6"/>
                          </a:solidFill>
                          <a:latin typeface="Arial"/>
                          <a:ea typeface="Arial"/>
                          <a:cs typeface="Arial"/>
                        </a:rPr>
                        <a:t>L3 Approve</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dirty="0">
                          <a:solidFill>
                            <a:srgbClr val="F3E6D6"/>
                          </a:solidFill>
                          <a:latin typeface="Arial"/>
                          <a:ea typeface="Arial"/>
                          <a:cs typeface="Arial"/>
                        </a:rPr>
                        <a:t>L4 Act</a:t>
                      </a:r>
                    </a:p>
                  </a:txBody>
                  <a:tcPr marL="0" marR="0" marT="0" marB="0" anchor="ctr">
                    <a:lnL w="0">
                      <a:noFill/>
                    </a:lnL>
                    <a:lnR w="0">
                      <a:noFill/>
                    </a:lnR>
                    <a:lnT w="0">
                      <a:noFill/>
                    </a:lnT>
                    <a:lnB w="9525">
                      <a:solidFill>
                        <a:srgbClr val="D9B48A"/>
                      </a:solidFill>
                    </a:lnB>
                    <a:noFill/>
                  </a:tcPr>
                </a:tc>
              </a:tr>
              <a:tr h="384048">
                <a:tc>
                  <a:txBody>
                    <a:bodyPr/>
                    <a:lstStyle/>
                    <a:p>
                      <a:pPr algn="l" marL="0" indent="0">
                        <a:buNone/>
                      </a:pPr>
                      <a:r>
                        <a:rPr lang="en-US" sz="850" dirty="0">
                          <a:solidFill>
                            <a:srgbClr val="FFFFFF"/>
                          </a:solidFill>
                          <a:latin typeface="Arial"/>
                          <a:ea typeface="Arial"/>
                          <a:cs typeface="Arial"/>
                        </a:rPr>
                        <a:t>Low impact</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900" b="1" dirty="0">
                          <a:solidFill>
                            <a:srgbClr val="FFFFFF"/>
                          </a:solidFill>
                          <a:latin typeface="Arial"/>
                          <a:ea typeface="Arial"/>
                          <a:cs typeface="Arial"/>
                        </a:rPr>
                        <a:t>Low</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9525">
                      <a:solidFill>
                        <a:srgbClr val="A0704A"/>
                      </a:solidFill>
                    </a:lnL>
                    <a:lnR w="9525">
                      <a:solidFill>
                        <a:srgbClr val="A0704A"/>
                      </a:solidFill>
                    </a:lnR>
                    <a:lnT w="0">
                      <a:noFill/>
                    </a:lnT>
                    <a:lnB w="0">
                      <a:noFill/>
                    </a:lnB>
                    <a:noFill/>
                  </a:tcPr>
                </a:tc>
                <a:tc>
                  <a:txBody>
                    <a:bodyPr/>
                    <a:lstStyle/>
                    <a:p>
                      <a:pPr algn="ctr" marL="0" indent="0">
                        <a:buNone/>
                      </a:pPr>
                      <a:r>
                        <a:rPr lang="en-US" sz="900" b="1" dirty="0">
                          <a:solidFill>
                            <a:srgbClr val="FFFFFF"/>
                          </a:solidFill>
                          <a:latin typeface="Arial"/>
                          <a:ea typeface="Arial"/>
                          <a:cs typeface="Arial"/>
                        </a:rPr>
                        <a:t>Low</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9525">
                      <a:solidFill>
                        <a:srgbClr val="A0704A"/>
                      </a:solidFill>
                    </a:lnL>
                    <a:lnR w="9525">
                      <a:solidFill>
                        <a:srgbClr val="D9B48A"/>
                      </a:solidFill>
                    </a:lnR>
                    <a:lnT w="0">
                      <a:noFill/>
                    </a:lnT>
                    <a:lnB w="0">
                      <a:noFill/>
                    </a:lnB>
                    <a:noFill/>
                  </a:tcPr>
                </a:tc>
                <a:tc>
                  <a:txBody>
                    <a:bodyPr/>
                    <a:lstStyle/>
                    <a:p>
                      <a:pPr algn="ctr" marL="0" indent="0">
                        <a:buNone/>
                      </a:pPr>
                      <a:r>
                        <a:rPr lang="en-US" sz="900" b="1" dirty="0">
                          <a:solidFill>
                            <a:srgbClr val="F3E6D6"/>
                          </a:solidFill>
                          <a:latin typeface="Arial"/>
                          <a:ea typeface="Arial"/>
                          <a:cs typeface="Arial"/>
                        </a:rPr>
                        <a:t>Medium</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r>
              <a:tr h="36576">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A0704A"/>
                      </a:solid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A0704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D9B48A"/>
                      </a:solidFill>
                    </a:lnT>
                    <a:lnB w="9525">
                      <a:solidFill>
                        <a:srgbClr val="D9B48A"/>
                      </a:solidFill>
                    </a:lnB>
                    <a:noFill/>
                  </a:tcPr>
                </a:tc>
              </a:tr>
              <a:tr h="384048">
                <a:tc>
                  <a:txBody>
                    <a:bodyPr/>
                    <a:lstStyle/>
                    <a:p>
                      <a:pPr algn="l" marL="0" indent="0">
                        <a:buNone/>
                      </a:pPr>
                      <a:r>
                        <a:rPr lang="en-US" sz="850" dirty="0">
                          <a:solidFill>
                            <a:srgbClr val="FFFFFF"/>
                          </a:solidFill>
                          <a:latin typeface="Arial"/>
                          <a:ea typeface="Arial"/>
                          <a:cs typeface="Arial"/>
                        </a:rPr>
                        <a:t>Med impact</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900" b="1" dirty="0">
                          <a:solidFill>
                            <a:srgbClr val="FFFFFF"/>
                          </a:solidFill>
                          <a:latin typeface="Arial"/>
                          <a:ea typeface="Arial"/>
                          <a:cs typeface="Arial"/>
                        </a:rPr>
                        <a:t>Low</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9525">
                      <a:solidFill>
                        <a:srgbClr val="A0704A"/>
                      </a:solidFill>
                    </a:lnL>
                    <a:lnR w="9525">
                      <a:solidFill>
                        <a:srgbClr val="D9B48A"/>
                      </a:solidFill>
                    </a:lnR>
                    <a:lnT w="0">
                      <a:noFill/>
                    </a:lnT>
                    <a:lnB w="0">
                      <a:noFill/>
                    </a:lnB>
                    <a:noFill/>
                  </a:tcPr>
                </a:tc>
                <a:tc>
                  <a:txBody>
                    <a:bodyPr/>
                    <a:lstStyle/>
                    <a:p>
                      <a:pPr algn="ctr" marL="0" indent="0">
                        <a:buNone/>
                      </a:pPr>
                      <a:r>
                        <a:rPr lang="en-US" sz="900" b="1" dirty="0">
                          <a:solidFill>
                            <a:srgbClr val="F3E6D6"/>
                          </a:solidFill>
                          <a:latin typeface="Arial"/>
                          <a:ea typeface="Arial"/>
                          <a:cs typeface="Arial"/>
                        </a:rPr>
                        <a:t>Medium</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9525">
                      <a:solidFill>
                        <a:srgbClr val="D9B48A"/>
                      </a:solidFill>
                    </a:lnL>
                    <a:lnR w="9525">
                      <a:solidFill>
                        <a:srgbClr val="D9B48A"/>
                      </a:solidFill>
                    </a:lnR>
                    <a:lnT w="0">
                      <a:noFill/>
                    </a:lnT>
                    <a:lnB w="0">
                      <a:noFill/>
                    </a:lnB>
                    <a:noFill/>
                  </a:tcPr>
                </a:tc>
                <a:tc>
                  <a:txBody>
                    <a:bodyPr/>
                    <a:lstStyle/>
                    <a:p>
                      <a:pPr algn="ctr" marL="0" indent="0">
                        <a:buNone/>
                      </a:pPr>
                      <a:r>
                        <a:rPr lang="en-US" sz="900" b="1" dirty="0">
                          <a:solidFill>
                            <a:srgbClr val="141010"/>
                          </a:solidFill>
                          <a:latin typeface="Arial"/>
                          <a:ea typeface="Arial"/>
                          <a:cs typeface="Arial"/>
                        </a:rPr>
                        <a:t>High</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r>
              <a:tr h="36576">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A0704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9525">
                      <a:solidFill>
                        <a:srgbClr val="D9B48A"/>
                      </a:solidFill>
                    </a:lnT>
                    <a:lnB w="9525">
                      <a:solidFill>
                        <a:srgbClr val="D9B48A"/>
                      </a:solidFill>
                    </a:lnB>
                    <a:noFill/>
                  </a:tcPr>
                </a:tc>
              </a:tr>
              <a:tr h="384048">
                <a:tc>
                  <a:txBody>
                    <a:bodyPr/>
                    <a:lstStyle/>
                    <a:p>
                      <a:pPr algn="l" marL="0" indent="0">
                        <a:buNone/>
                      </a:pPr>
                      <a:r>
                        <a:rPr lang="en-US" sz="850" dirty="0">
                          <a:solidFill>
                            <a:srgbClr val="FFFFFF"/>
                          </a:solidFill>
                          <a:latin typeface="Arial"/>
                          <a:ea typeface="Arial"/>
                          <a:cs typeface="Arial"/>
                        </a:rPr>
                        <a:t>High impact</a:t>
                      </a:r>
                    </a:p>
                  </a:txBody>
                  <a:tcPr marL="0" marR="0" marT="0" marB="0" anchor="ctr">
                    <a:lnL w="0">
                      <a:noFill/>
                    </a:lnL>
                    <a:lnR w="9525">
                      <a:solidFill>
                        <a:srgbClr val="D9B48A"/>
                      </a:solidFill>
                    </a:lnR>
                    <a:lnT w="0">
                      <a:noFill/>
                    </a:lnT>
                    <a:lnB w="0">
                      <a:noFill/>
                    </a:lnB>
                    <a:noFill/>
                  </a:tcPr>
                </a:tc>
                <a:tc>
                  <a:txBody>
                    <a:bodyPr/>
                    <a:lstStyle/>
                    <a:p>
                      <a:pPr algn="ctr" marL="0" indent="0">
                        <a:buNone/>
                      </a:pPr>
                      <a:r>
                        <a:rPr lang="en-US" sz="900" b="1" dirty="0">
                          <a:solidFill>
                            <a:srgbClr val="F3E6D6"/>
                          </a:solidFill>
                          <a:latin typeface="Arial"/>
                          <a:ea typeface="Arial"/>
                          <a:cs typeface="Arial"/>
                        </a:rPr>
                        <a:t>Medium</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9525">
                      <a:solidFill>
                        <a:srgbClr val="D9B48A"/>
                      </a:solidFill>
                    </a:lnL>
                    <a:lnR w="9525">
                      <a:solidFill>
                        <a:srgbClr val="D9B48A"/>
                      </a:solidFill>
                    </a:lnR>
                    <a:lnT w="0">
                      <a:noFill/>
                    </a:lnT>
                    <a:lnB w="0">
                      <a:noFill/>
                    </a:lnB>
                    <a:noFill/>
                  </a:tcPr>
                </a:tc>
                <a:tc>
                  <a:txBody>
                    <a:bodyPr/>
                    <a:lstStyle/>
                    <a:p>
                      <a:pPr algn="ctr" marL="0" indent="0">
                        <a:buNone/>
                      </a:pPr>
                      <a:r>
                        <a:rPr lang="en-US" sz="900" b="1" dirty="0">
                          <a:solidFill>
                            <a:srgbClr val="141010"/>
                          </a:solidFill>
                          <a:latin typeface="Arial"/>
                          <a:ea typeface="Arial"/>
                          <a:cs typeface="Arial"/>
                        </a:rPr>
                        <a:t>High</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9525">
                      <a:solidFill>
                        <a:srgbClr val="D9B48A"/>
                      </a:solidFill>
                    </a:lnL>
                    <a:lnR w="9525">
                      <a:solidFill>
                        <a:srgbClr val="D9B48A"/>
                      </a:solidFill>
                    </a:lnR>
                    <a:lnT w="0">
                      <a:noFill/>
                    </a:lnT>
                    <a:lnB w="0">
                      <a:noFill/>
                    </a:lnB>
                    <a:noFill/>
                  </a:tcPr>
                </a:tc>
                <a:tc>
                  <a:txBody>
                    <a:bodyPr/>
                    <a:lstStyle/>
                    <a:p>
                      <a:pPr algn="ctr" marL="0" indent="0">
                        <a:buNone/>
                      </a:pPr>
                      <a:r>
                        <a:rPr lang="en-US" sz="900" b="1" dirty="0">
                          <a:solidFill>
                            <a:srgbClr val="141010"/>
                          </a:solidFill>
                          <a:latin typeface="Arial"/>
                          <a:ea typeface="Arial"/>
                          <a:cs typeface="Arial"/>
                        </a:rPr>
                        <a:t>High</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r>
            </a:tbl>
          </a:graphicData>
        </a:graphic>
      </p:graphicFrame>
      <p:sp>
        <p:nvSpPr>
          <p:cNvPr id="127" name="g2 127"/>
          <p:cNvSpPr/>
          <p:nvPr/>
        </p:nvSpPr>
        <p:spPr>
          <a:xfrm>
            <a:off x="8138160" y="4681728"/>
            <a:ext cx="3474720" cy="182880"/>
          </a:xfrm>
          <a:prstGeom prst="rect">
            <a:avLst/>
          </a:prstGeom>
          <a:noFill/>
          <a:ln>
            <a:noFill/>
          </a:ln>
        </p:spPr>
        <p:txBody>
          <a:bodyPr wrap="square" lIns="0" tIns="0" rIns="0" bIns="0" rtlCol="0" anchor="ctr">
            <a:noAutofit/>
          </a:bodyPr>
          <a:lstStyle/>
          <a:p>
            <a:pPr algn="l" marL="0" indent="0">
              <a:buNone/>
            </a:pPr>
            <a:r>
              <a:rPr lang="en-US" sz="750" dirty="0">
                <a:solidFill>
                  <a:srgbClr val="F3E6D6"/>
                </a:solidFill>
                <a:latin typeface="Arial"/>
                <a:ea typeface="Arial"/>
                <a:cs typeface="Arial"/>
              </a:rPr>
              <a:t>Illustrative; L1 Observe = monitor only. Impact = data class, customer reach, financial or regulatory effect.</a:t>
            </a:r>
          </a:p>
        </p:txBody>
      </p:sp>
      <p:sp>
        <p:nvSpPr>
          <p:cNvPr id="403"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27 / 44</a:t>
            </a:r>
          </a:p>
        </p:txBody>
      </p:sp>
      <p:sp>
        <p:nvSpPr>
          <p:cNvPr id="404"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405"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998525" y="3636569"/>
            <a:ext cx="8621878" cy="8621878"/>
          </a:xfrm>
          <a:prstGeom prst="ellipse">
            <a:avLst/>
          </a:prstGeom>
          <a:solidFill>
            <a:srgbClr val="8A0F1A">
              <a:alpha val="2547"/>
            </a:srgbClr>
          </a:solidFill>
          <a:ln/>
        </p:spPr>
      </p:sp>
      <p:sp>
        <p:nvSpPr>
          <p:cNvPr id="3" name="Shape 1"/>
          <p:cNvSpPr/>
          <p:nvPr/>
        </p:nvSpPr>
        <p:spPr>
          <a:xfrm>
            <a:off x="-818902" y="3816191"/>
            <a:ext cx="8262633" cy="8262633"/>
          </a:xfrm>
          <a:prstGeom prst="ellipse">
            <a:avLst/>
          </a:prstGeom>
          <a:solidFill>
            <a:srgbClr val="8A0F1A">
              <a:alpha val="4218"/>
            </a:srgbClr>
          </a:solidFill>
          <a:ln/>
        </p:spPr>
      </p:sp>
      <p:sp>
        <p:nvSpPr>
          <p:cNvPr id="4" name="Shape 2"/>
          <p:cNvSpPr/>
          <p:nvPr/>
        </p:nvSpPr>
        <p:spPr>
          <a:xfrm>
            <a:off x="-639280" y="3995814"/>
            <a:ext cx="7903388" cy="7903388"/>
          </a:xfrm>
          <a:prstGeom prst="ellipse">
            <a:avLst/>
          </a:prstGeom>
          <a:solidFill>
            <a:srgbClr val="8A0F1A">
              <a:alpha val="4138"/>
            </a:srgbClr>
          </a:solidFill>
          <a:ln/>
        </p:spPr>
      </p:sp>
      <p:sp>
        <p:nvSpPr>
          <p:cNvPr id="5" name="Shape 3"/>
          <p:cNvSpPr/>
          <p:nvPr/>
        </p:nvSpPr>
        <p:spPr>
          <a:xfrm>
            <a:off x="-459657" y="4175436"/>
            <a:ext cx="7544143" cy="7544143"/>
          </a:xfrm>
          <a:prstGeom prst="ellipse">
            <a:avLst/>
          </a:prstGeom>
          <a:solidFill>
            <a:srgbClr val="8A0F1A">
              <a:alpha val="2636"/>
            </a:srgbClr>
          </a:solidFill>
          <a:ln/>
        </p:spPr>
      </p:sp>
      <p:sp>
        <p:nvSpPr>
          <p:cNvPr id="6" name="Shape 4"/>
          <p:cNvSpPr/>
          <p:nvPr/>
        </p:nvSpPr>
        <p:spPr>
          <a:xfrm>
            <a:off x="-280035" y="4355059"/>
            <a:ext cx="7184898" cy="7184898"/>
          </a:xfrm>
          <a:prstGeom prst="ellipse">
            <a:avLst/>
          </a:prstGeom>
          <a:solidFill>
            <a:srgbClr val="8A0F1A">
              <a:alpha val="2661"/>
            </a:srgbClr>
          </a:solidFill>
          <a:ln/>
        </p:spPr>
      </p:sp>
      <p:sp>
        <p:nvSpPr>
          <p:cNvPr id="7" name="Shape 5"/>
          <p:cNvSpPr/>
          <p:nvPr/>
        </p:nvSpPr>
        <p:spPr>
          <a:xfrm>
            <a:off x="-100413" y="4534681"/>
            <a:ext cx="6825653" cy="6825653"/>
          </a:xfrm>
          <a:prstGeom prst="ellipse">
            <a:avLst/>
          </a:prstGeom>
          <a:solidFill>
            <a:srgbClr val="8A0F1A">
              <a:alpha val="3304"/>
            </a:srgbClr>
          </a:solidFill>
          <a:ln/>
        </p:spPr>
      </p:sp>
      <p:sp>
        <p:nvSpPr>
          <p:cNvPr id="8" name="Shape 6"/>
          <p:cNvSpPr/>
          <p:nvPr/>
        </p:nvSpPr>
        <p:spPr>
          <a:xfrm>
            <a:off x="79210" y="4714304"/>
            <a:ext cx="6466408" cy="6466408"/>
          </a:xfrm>
          <a:prstGeom prst="ellipse">
            <a:avLst/>
          </a:prstGeom>
          <a:solidFill>
            <a:srgbClr val="8A0F1A">
              <a:alpha val="3622"/>
            </a:srgbClr>
          </a:solidFill>
          <a:ln/>
        </p:spPr>
      </p:sp>
      <p:sp>
        <p:nvSpPr>
          <p:cNvPr id="9" name="Shape 7"/>
          <p:cNvSpPr/>
          <p:nvPr/>
        </p:nvSpPr>
        <p:spPr>
          <a:xfrm>
            <a:off x="258832" y="4893926"/>
            <a:ext cx="6107163" cy="6107163"/>
          </a:xfrm>
          <a:prstGeom prst="ellipse">
            <a:avLst/>
          </a:prstGeom>
          <a:solidFill>
            <a:srgbClr val="8A0F1A">
              <a:alpha val="3650"/>
            </a:srgbClr>
          </a:solidFill>
          <a:ln/>
        </p:spPr>
      </p:sp>
      <p:sp>
        <p:nvSpPr>
          <p:cNvPr id="10" name="Shape 8"/>
          <p:cNvSpPr/>
          <p:nvPr/>
        </p:nvSpPr>
        <p:spPr>
          <a:xfrm>
            <a:off x="438455" y="5073548"/>
            <a:ext cx="5747918" cy="5747918"/>
          </a:xfrm>
          <a:prstGeom prst="ellipse">
            <a:avLst/>
          </a:prstGeom>
          <a:solidFill>
            <a:srgbClr val="8A0F1A">
              <a:alpha val="3631"/>
            </a:srgbClr>
          </a:solidFill>
          <a:ln/>
        </p:spPr>
      </p:sp>
      <p:sp>
        <p:nvSpPr>
          <p:cNvPr id="11" name="Shape 9"/>
          <p:cNvSpPr/>
          <p:nvPr/>
        </p:nvSpPr>
        <p:spPr>
          <a:xfrm>
            <a:off x="618077" y="5253171"/>
            <a:ext cx="5388674" cy="5388674"/>
          </a:xfrm>
          <a:prstGeom prst="ellipse">
            <a:avLst/>
          </a:prstGeom>
          <a:solidFill>
            <a:srgbClr val="8A0F1A">
              <a:alpha val="3693"/>
            </a:srgbClr>
          </a:solidFill>
          <a:ln/>
        </p:spPr>
      </p:sp>
      <p:sp>
        <p:nvSpPr>
          <p:cNvPr id="12" name="Shape 10"/>
          <p:cNvSpPr/>
          <p:nvPr/>
        </p:nvSpPr>
        <p:spPr>
          <a:xfrm>
            <a:off x="797700" y="5432793"/>
            <a:ext cx="5029429" cy="5029429"/>
          </a:xfrm>
          <a:prstGeom prst="ellipse">
            <a:avLst/>
          </a:prstGeom>
          <a:solidFill>
            <a:srgbClr val="8A0F1A">
              <a:alpha val="4536"/>
            </a:srgbClr>
          </a:solidFill>
          <a:ln/>
        </p:spPr>
      </p:sp>
      <p:sp>
        <p:nvSpPr>
          <p:cNvPr id="13" name="Shape 11"/>
          <p:cNvSpPr/>
          <p:nvPr/>
        </p:nvSpPr>
        <p:spPr>
          <a:xfrm>
            <a:off x="977322" y="5612416"/>
            <a:ext cx="4670184" cy="4670184"/>
          </a:xfrm>
          <a:prstGeom prst="ellipse">
            <a:avLst/>
          </a:prstGeom>
          <a:solidFill>
            <a:srgbClr val="8A0F1A">
              <a:alpha val="4737"/>
            </a:srgbClr>
          </a:solidFill>
          <a:ln/>
        </p:spPr>
      </p:sp>
      <p:sp>
        <p:nvSpPr>
          <p:cNvPr id="14" name="Shape 12"/>
          <p:cNvSpPr/>
          <p:nvPr/>
        </p:nvSpPr>
        <p:spPr>
          <a:xfrm>
            <a:off x="1156945" y="5792038"/>
            <a:ext cx="4310939" cy="4310939"/>
          </a:xfrm>
          <a:prstGeom prst="ellipse">
            <a:avLst/>
          </a:prstGeom>
          <a:solidFill>
            <a:srgbClr val="8A0F1A">
              <a:alpha val="4994"/>
            </a:srgbClr>
          </a:solidFill>
          <a:ln/>
        </p:spPr>
      </p:sp>
      <p:sp>
        <p:nvSpPr>
          <p:cNvPr id="15" name="Shape 13"/>
          <p:cNvSpPr/>
          <p:nvPr/>
        </p:nvSpPr>
        <p:spPr>
          <a:xfrm>
            <a:off x="1336567" y="5971661"/>
            <a:ext cx="3951694" cy="3951694"/>
          </a:xfrm>
          <a:prstGeom prst="ellipse">
            <a:avLst/>
          </a:prstGeom>
          <a:solidFill>
            <a:srgbClr val="8A0F1A">
              <a:alpha val="5272"/>
            </a:srgbClr>
          </a:solidFill>
          <a:ln/>
        </p:spPr>
      </p:sp>
      <p:sp>
        <p:nvSpPr>
          <p:cNvPr id="16" name="Shape 14"/>
          <p:cNvSpPr/>
          <p:nvPr/>
        </p:nvSpPr>
        <p:spPr>
          <a:xfrm>
            <a:off x="1516189" y="6151283"/>
            <a:ext cx="3592449" cy="3592449"/>
          </a:xfrm>
          <a:prstGeom prst="ellipse">
            <a:avLst/>
          </a:prstGeom>
          <a:solidFill>
            <a:srgbClr val="8A0F1A">
              <a:alpha val="5521"/>
            </a:srgbClr>
          </a:solidFill>
          <a:ln/>
        </p:spPr>
      </p:sp>
      <p:sp>
        <p:nvSpPr>
          <p:cNvPr id="17" name="Shape 15"/>
          <p:cNvSpPr/>
          <p:nvPr/>
        </p:nvSpPr>
        <p:spPr>
          <a:xfrm>
            <a:off x="1695812" y="6330906"/>
            <a:ext cx="3233204" cy="3233204"/>
          </a:xfrm>
          <a:prstGeom prst="ellipse">
            <a:avLst/>
          </a:prstGeom>
          <a:solidFill>
            <a:srgbClr val="8A0F1A">
              <a:alpha val="6496"/>
            </a:srgbClr>
          </a:solidFill>
          <a:ln/>
        </p:spPr>
      </p:sp>
      <p:sp>
        <p:nvSpPr>
          <p:cNvPr id="18" name="Shape 16"/>
          <p:cNvSpPr/>
          <p:nvPr/>
        </p:nvSpPr>
        <p:spPr>
          <a:xfrm>
            <a:off x="1875434" y="6510528"/>
            <a:ext cx="2873959" cy="2873959"/>
          </a:xfrm>
          <a:prstGeom prst="ellipse">
            <a:avLst/>
          </a:prstGeom>
          <a:solidFill>
            <a:srgbClr val="8A0F1A">
              <a:alpha val="6768"/>
            </a:srgbClr>
          </a:solidFill>
          <a:ln/>
        </p:spPr>
      </p:sp>
      <p:sp>
        <p:nvSpPr>
          <p:cNvPr id="19" name="Shape 17"/>
          <p:cNvSpPr/>
          <p:nvPr/>
        </p:nvSpPr>
        <p:spPr>
          <a:xfrm>
            <a:off x="2055057" y="6690150"/>
            <a:ext cx="2514714" cy="2514714"/>
          </a:xfrm>
          <a:prstGeom prst="ellipse">
            <a:avLst/>
          </a:prstGeom>
          <a:solidFill>
            <a:srgbClr val="8A0F1A">
              <a:alpha val="7123"/>
            </a:srgbClr>
          </a:solidFill>
          <a:ln/>
        </p:spPr>
      </p:sp>
      <p:sp>
        <p:nvSpPr>
          <p:cNvPr id="20" name="Shape 18"/>
          <p:cNvSpPr/>
          <p:nvPr/>
        </p:nvSpPr>
        <p:spPr>
          <a:xfrm>
            <a:off x="2234679" y="6869773"/>
            <a:ext cx="2155469" cy="2155469"/>
          </a:xfrm>
          <a:prstGeom prst="ellipse">
            <a:avLst/>
          </a:prstGeom>
          <a:solidFill>
            <a:srgbClr val="8A0F1A">
              <a:alpha val="7486"/>
            </a:srgbClr>
          </a:solidFill>
          <a:ln/>
        </p:spPr>
      </p:sp>
      <p:sp>
        <p:nvSpPr>
          <p:cNvPr id="21" name="Shape 19"/>
          <p:cNvSpPr/>
          <p:nvPr/>
        </p:nvSpPr>
        <p:spPr>
          <a:xfrm>
            <a:off x="2414302" y="7049395"/>
            <a:ext cx="1796225" cy="1796225"/>
          </a:xfrm>
          <a:prstGeom prst="ellipse">
            <a:avLst/>
          </a:prstGeom>
          <a:solidFill>
            <a:srgbClr val="8A0F1A">
              <a:alpha val="8191"/>
            </a:srgbClr>
          </a:solidFill>
          <a:ln/>
        </p:spPr>
      </p:sp>
      <p:sp>
        <p:nvSpPr>
          <p:cNvPr id="22" name="Shape 20"/>
          <p:cNvSpPr/>
          <p:nvPr/>
        </p:nvSpPr>
        <p:spPr>
          <a:xfrm>
            <a:off x="2593924" y="7229018"/>
            <a:ext cx="1436980" cy="1436980"/>
          </a:xfrm>
          <a:prstGeom prst="ellipse">
            <a:avLst/>
          </a:prstGeom>
          <a:solidFill>
            <a:srgbClr val="8A0F1A">
              <a:alpha val="9466"/>
            </a:srgbClr>
          </a:solidFill>
          <a:ln/>
        </p:spPr>
      </p:sp>
      <p:sp>
        <p:nvSpPr>
          <p:cNvPr id="23" name="Shape 21"/>
          <p:cNvSpPr/>
          <p:nvPr/>
        </p:nvSpPr>
        <p:spPr>
          <a:xfrm>
            <a:off x="2773547" y="7408640"/>
            <a:ext cx="1077735" cy="1077735"/>
          </a:xfrm>
          <a:prstGeom prst="ellipse">
            <a:avLst/>
          </a:prstGeom>
          <a:solidFill>
            <a:srgbClr val="8A0F1A">
              <a:alpha val="10120"/>
            </a:srgbClr>
          </a:solidFill>
          <a:ln/>
        </p:spPr>
      </p:sp>
      <p:sp>
        <p:nvSpPr>
          <p:cNvPr id="24" name="Shape 22"/>
          <p:cNvSpPr/>
          <p:nvPr/>
        </p:nvSpPr>
        <p:spPr>
          <a:xfrm>
            <a:off x="2953169" y="7588263"/>
            <a:ext cx="718490" cy="718490"/>
          </a:xfrm>
          <a:prstGeom prst="ellipse">
            <a:avLst/>
          </a:prstGeom>
          <a:solidFill>
            <a:srgbClr val="8A0F1A">
              <a:alpha val="10280"/>
            </a:srgbClr>
          </a:solidFill>
          <a:ln/>
        </p:spPr>
      </p:sp>
      <p:sp>
        <p:nvSpPr>
          <p:cNvPr id="25" name="Shape 23"/>
          <p:cNvSpPr/>
          <p:nvPr/>
        </p:nvSpPr>
        <p:spPr>
          <a:xfrm>
            <a:off x="3132792" y="7767885"/>
            <a:ext cx="359245" cy="359245"/>
          </a:xfrm>
          <a:prstGeom prst="ellipse">
            <a:avLst/>
          </a:prstGeom>
          <a:solidFill>
            <a:srgbClr val="8A0F1A">
              <a:alpha val="10999"/>
            </a:srgbClr>
          </a:solidFill>
          <a:ln/>
        </p:spPr>
      </p:sp>
      <p:sp>
        <p:nvSpPr>
          <p:cNvPr id="26" name="Shape 24"/>
          <p:cNvSpPr/>
          <p:nvPr/>
        </p:nvSpPr>
        <p:spPr>
          <a:xfrm>
            <a:off x="-3478378" y="-5801868"/>
            <a:ext cx="8621878" cy="8621878"/>
          </a:xfrm>
          <a:prstGeom prst="ellipse">
            <a:avLst/>
          </a:prstGeom>
          <a:solidFill>
            <a:srgbClr val="8A0F1A">
              <a:alpha val="2547"/>
            </a:srgbClr>
          </a:solidFill>
          <a:ln/>
        </p:spPr>
      </p:sp>
      <p:sp>
        <p:nvSpPr>
          <p:cNvPr id="27" name="Shape 25"/>
          <p:cNvSpPr/>
          <p:nvPr/>
        </p:nvSpPr>
        <p:spPr>
          <a:xfrm>
            <a:off x="-3298755" y="-5622246"/>
            <a:ext cx="8262633" cy="8262633"/>
          </a:xfrm>
          <a:prstGeom prst="ellipse">
            <a:avLst/>
          </a:prstGeom>
          <a:solidFill>
            <a:srgbClr val="8A0F1A">
              <a:alpha val="4218"/>
            </a:srgbClr>
          </a:solidFill>
          <a:ln/>
        </p:spPr>
      </p:sp>
      <p:sp>
        <p:nvSpPr>
          <p:cNvPr id="28" name="Shape 26"/>
          <p:cNvSpPr/>
          <p:nvPr/>
        </p:nvSpPr>
        <p:spPr>
          <a:xfrm>
            <a:off x="-3119133" y="-5442623"/>
            <a:ext cx="7903388" cy="7903388"/>
          </a:xfrm>
          <a:prstGeom prst="ellipse">
            <a:avLst/>
          </a:prstGeom>
          <a:solidFill>
            <a:srgbClr val="8A0F1A">
              <a:alpha val="4138"/>
            </a:srgbClr>
          </a:solidFill>
          <a:ln/>
        </p:spPr>
      </p:sp>
      <p:sp>
        <p:nvSpPr>
          <p:cNvPr id="29" name="Shape 27"/>
          <p:cNvSpPr/>
          <p:nvPr/>
        </p:nvSpPr>
        <p:spPr>
          <a:xfrm>
            <a:off x="-2939510" y="-5263001"/>
            <a:ext cx="7544143" cy="7544143"/>
          </a:xfrm>
          <a:prstGeom prst="ellipse">
            <a:avLst/>
          </a:prstGeom>
          <a:solidFill>
            <a:srgbClr val="8A0F1A">
              <a:alpha val="2636"/>
            </a:srgbClr>
          </a:solidFill>
          <a:ln/>
        </p:spPr>
      </p:sp>
      <p:sp>
        <p:nvSpPr>
          <p:cNvPr id="30" name="Shape 28"/>
          <p:cNvSpPr/>
          <p:nvPr/>
        </p:nvSpPr>
        <p:spPr>
          <a:xfrm>
            <a:off x="-2759888" y="-5083378"/>
            <a:ext cx="7184898" cy="7184898"/>
          </a:xfrm>
          <a:prstGeom prst="ellipse">
            <a:avLst/>
          </a:prstGeom>
          <a:solidFill>
            <a:srgbClr val="8A0F1A">
              <a:alpha val="2661"/>
            </a:srgbClr>
          </a:solidFill>
          <a:ln/>
        </p:spPr>
      </p:sp>
      <p:sp>
        <p:nvSpPr>
          <p:cNvPr id="31" name="Shape 29"/>
          <p:cNvSpPr/>
          <p:nvPr/>
        </p:nvSpPr>
        <p:spPr>
          <a:xfrm>
            <a:off x="-2580265" y="-4903756"/>
            <a:ext cx="6825653" cy="6825653"/>
          </a:xfrm>
          <a:prstGeom prst="ellipse">
            <a:avLst/>
          </a:prstGeom>
          <a:solidFill>
            <a:srgbClr val="8A0F1A">
              <a:alpha val="3304"/>
            </a:srgbClr>
          </a:solidFill>
          <a:ln/>
        </p:spPr>
      </p:sp>
      <p:sp>
        <p:nvSpPr>
          <p:cNvPr id="32" name="Shape 30"/>
          <p:cNvSpPr/>
          <p:nvPr/>
        </p:nvSpPr>
        <p:spPr>
          <a:xfrm>
            <a:off x="-2400643" y="-4724133"/>
            <a:ext cx="6466408" cy="6466408"/>
          </a:xfrm>
          <a:prstGeom prst="ellipse">
            <a:avLst/>
          </a:prstGeom>
          <a:solidFill>
            <a:srgbClr val="8A0F1A">
              <a:alpha val="3622"/>
            </a:srgbClr>
          </a:solidFill>
          <a:ln/>
        </p:spPr>
      </p:sp>
      <p:sp>
        <p:nvSpPr>
          <p:cNvPr id="33" name="Shape 31"/>
          <p:cNvSpPr/>
          <p:nvPr/>
        </p:nvSpPr>
        <p:spPr>
          <a:xfrm>
            <a:off x="-2221020" y="-4544511"/>
            <a:ext cx="6107163" cy="6107163"/>
          </a:xfrm>
          <a:prstGeom prst="ellipse">
            <a:avLst/>
          </a:prstGeom>
          <a:solidFill>
            <a:srgbClr val="8A0F1A">
              <a:alpha val="3650"/>
            </a:srgbClr>
          </a:solidFill>
          <a:ln/>
        </p:spPr>
      </p:sp>
      <p:sp>
        <p:nvSpPr>
          <p:cNvPr id="34" name="Shape 32"/>
          <p:cNvSpPr/>
          <p:nvPr/>
        </p:nvSpPr>
        <p:spPr>
          <a:xfrm>
            <a:off x="-2041398" y="-4364888"/>
            <a:ext cx="5747918" cy="5747918"/>
          </a:xfrm>
          <a:prstGeom prst="ellipse">
            <a:avLst/>
          </a:prstGeom>
          <a:solidFill>
            <a:srgbClr val="8A0F1A">
              <a:alpha val="3631"/>
            </a:srgbClr>
          </a:solidFill>
          <a:ln/>
        </p:spPr>
      </p:sp>
      <p:sp>
        <p:nvSpPr>
          <p:cNvPr id="35" name="Shape 33"/>
          <p:cNvSpPr/>
          <p:nvPr/>
        </p:nvSpPr>
        <p:spPr>
          <a:xfrm>
            <a:off x="-1861776" y="-4185266"/>
            <a:ext cx="5388674" cy="5388674"/>
          </a:xfrm>
          <a:prstGeom prst="ellipse">
            <a:avLst/>
          </a:prstGeom>
          <a:solidFill>
            <a:srgbClr val="8A0F1A">
              <a:alpha val="3693"/>
            </a:srgbClr>
          </a:solidFill>
          <a:ln/>
        </p:spPr>
      </p:sp>
      <p:sp>
        <p:nvSpPr>
          <p:cNvPr id="36" name="Shape 34"/>
          <p:cNvSpPr/>
          <p:nvPr/>
        </p:nvSpPr>
        <p:spPr>
          <a:xfrm>
            <a:off x="-1682153" y="-4005643"/>
            <a:ext cx="5029429" cy="5029429"/>
          </a:xfrm>
          <a:prstGeom prst="ellipse">
            <a:avLst/>
          </a:prstGeom>
          <a:solidFill>
            <a:srgbClr val="8A0F1A">
              <a:alpha val="4536"/>
            </a:srgbClr>
          </a:solidFill>
          <a:ln/>
        </p:spPr>
      </p:sp>
      <p:sp>
        <p:nvSpPr>
          <p:cNvPr id="37" name="Shape 35"/>
          <p:cNvSpPr/>
          <p:nvPr/>
        </p:nvSpPr>
        <p:spPr>
          <a:xfrm>
            <a:off x="-1502531" y="-3826021"/>
            <a:ext cx="4670184" cy="4670184"/>
          </a:xfrm>
          <a:prstGeom prst="ellipse">
            <a:avLst/>
          </a:prstGeom>
          <a:solidFill>
            <a:srgbClr val="8A0F1A">
              <a:alpha val="4737"/>
            </a:srgbClr>
          </a:solidFill>
          <a:ln/>
        </p:spPr>
      </p:sp>
      <p:sp>
        <p:nvSpPr>
          <p:cNvPr id="38" name="Shape 36"/>
          <p:cNvSpPr/>
          <p:nvPr/>
        </p:nvSpPr>
        <p:spPr>
          <a:xfrm>
            <a:off x="-1322908" y="-3646399"/>
            <a:ext cx="4310939" cy="4310939"/>
          </a:xfrm>
          <a:prstGeom prst="ellipse">
            <a:avLst/>
          </a:prstGeom>
          <a:solidFill>
            <a:srgbClr val="8A0F1A">
              <a:alpha val="4994"/>
            </a:srgbClr>
          </a:solidFill>
          <a:ln/>
        </p:spPr>
      </p:sp>
      <p:sp>
        <p:nvSpPr>
          <p:cNvPr id="39" name="Shape 37"/>
          <p:cNvSpPr/>
          <p:nvPr/>
        </p:nvSpPr>
        <p:spPr>
          <a:xfrm>
            <a:off x="-1143286" y="-3466776"/>
            <a:ext cx="3951694" cy="3951694"/>
          </a:xfrm>
          <a:prstGeom prst="ellipse">
            <a:avLst/>
          </a:prstGeom>
          <a:solidFill>
            <a:srgbClr val="8A0F1A">
              <a:alpha val="5272"/>
            </a:srgbClr>
          </a:solidFill>
          <a:ln/>
        </p:spPr>
      </p:sp>
      <p:sp>
        <p:nvSpPr>
          <p:cNvPr id="40" name="Shape 38"/>
          <p:cNvSpPr/>
          <p:nvPr/>
        </p:nvSpPr>
        <p:spPr>
          <a:xfrm>
            <a:off x="-963663" y="-3287154"/>
            <a:ext cx="3592449" cy="3592449"/>
          </a:xfrm>
          <a:prstGeom prst="ellipse">
            <a:avLst/>
          </a:prstGeom>
          <a:solidFill>
            <a:srgbClr val="8A0F1A">
              <a:alpha val="5521"/>
            </a:srgbClr>
          </a:solidFill>
          <a:ln/>
        </p:spPr>
      </p:sp>
      <p:sp>
        <p:nvSpPr>
          <p:cNvPr id="41" name="Shape 39"/>
          <p:cNvSpPr/>
          <p:nvPr/>
        </p:nvSpPr>
        <p:spPr>
          <a:xfrm>
            <a:off x="-784041" y="-3107531"/>
            <a:ext cx="3233204" cy="3233204"/>
          </a:xfrm>
          <a:prstGeom prst="ellipse">
            <a:avLst/>
          </a:prstGeom>
          <a:solidFill>
            <a:srgbClr val="8A0F1A">
              <a:alpha val="6496"/>
            </a:srgbClr>
          </a:solidFill>
          <a:ln/>
        </p:spPr>
      </p:sp>
      <p:sp>
        <p:nvSpPr>
          <p:cNvPr id="42" name="Shape 40"/>
          <p:cNvSpPr/>
          <p:nvPr/>
        </p:nvSpPr>
        <p:spPr>
          <a:xfrm>
            <a:off x="-604418" y="-2927909"/>
            <a:ext cx="2873959" cy="2873959"/>
          </a:xfrm>
          <a:prstGeom prst="ellipse">
            <a:avLst/>
          </a:prstGeom>
          <a:solidFill>
            <a:srgbClr val="8A0F1A">
              <a:alpha val="6768"/>
            </a:srgbClr>
          </a:solidFill>
          <a:ln/>
        </p:spPr>
      </p:sp>
      <p:sp>
        <p:nvSpPr>
          <p:cNvPr id="43" name="Shape 41"/>
          <p:cNvSpPr/>
          <p:nvPr/>
        </p:nvSpPr>
        <p:spPr>
          <a:xfrm>
            <a:off x="-424796" y="-2748286"/>
            <a:ext cx="2514714" cy="2514714"/>
          </a:xfrm>
          <a:prstGeom prst="ellipse">
            <a:avLst/>
          </a:prstGeom>
          <a:solidFill>
            <a:srgbClr val="8A0F1A">
              <a:alpha val="7123"/>
            </a:srgbClr>
          </a:solidFill>
          <a:ln/>
        </p:spPr>
      </p:sp>
      <p:sp>
        <p:nvSpPr>
          <p:cNvPr id="44" name="Shape 42"/>
          <p:cNvSpPr/>
          <p:nvPr/>
        </p:nvSpPr>
        <p:spPr>
          <a:xfrm>
            <a:off x="-245173" y="-2568664"/>
            <a:ext cx="2155469" cy="2155469"/>
          </a:xfrm>
          <a:prstGeom prst="ellipse">
            <a:avLst/>
          </a:prstGeom>
          <a:solidFill>
            <a:srgbClr val="8A0F1A">
              <a:alpha val="7486"/>
            </a:srgbClr>
          </a:solidFill>
          <a:ln/>
        </p:spPr>
      </p:sp>
      <p:sp>
        <p:nvSpPr>
          <p:cNvPr id="45" name="Shape 43"/>
          <p:cNvSpPr/>
          <p:nvPr/>
        </p:nvSpPr>
        <p:spPr>
          <a:xfrm>
            <a:off x="-65551" y="-2389041"/>
            <a:ext cx="1796225" cy="1796225"/>
          </a:xfrm>
          <a:prstGeom prst="ellipse">
            <a:avLst/>
          </a:prstGeom>
          <a:solidFill>
            <a:srgbClr val="8A0F1A">
              <a:alpha val="8191"/>
            </a:srgbClr>
          </a:solidFill>
          <a:ln/>
        </p:spPr>
      </p:sp>
      <p:sp>
        <p:nvSpPr>
          <p:cNvPr id="46" name="Shape 44"/>
          <p:cNvSpPr/>
          <p:nvPr/>
        </p:nvSpPr>
        <p:spPr>
          <a:xfrm>
            <a:off x="114071" y="-2209419"/>
            <a:ext cx="1436980" cy="1436980"/>
          </a:xfrm>
          <a:prstGeom prst="ellipse">
            <a:avLst/>
          </a:prstGeom>
          <a:solidFill>
            <a:srgbClr val="8A0F1A">
              <a:alpha val="9466"/>
            </a:srgbClr>
          </a:solidFill>
          <a:ln/>
        </p:spPr>
      </p:sp>
      <p:sp>
        <p:nvSpPr>
          <p:cNvPr id="47" name="Shape 45"/>
          <p:cNvSpPr/>
          <p:nvPr/>
        </p:nvSpPr>
        <p:spPr>
          <a:xfrm>
            <a:off x="293694" y="-2029797"/>
            <a:ext cx="1077735" cy="1077735"/>
          </a:xfrm>
          <a:prstGeom prst="ellipse">
            <a:avLst/>
          </a:prstGeom>
          <a:solidFill>
            <a:srgbClr val="8A0F1A">
              <a:alpha val="10120"/>
            </a:srgbClr>
          </a:solidFill>
          <a:ln/>
        </p:spPr>
      </p:sp>
      <p:sp>
        <p:nvSpPr>
          <p:cNvPr id="48" name="Shape 46"/>
          <p:cNvSpPr/>
          <p:nvPr/>
        </p:nvSpPr>
        <p:spPr>
          <a:xfrm>
            <a:off x="473316" y="-1850174"/>
            <a:ext cx="718490" cy="718490"/>
          </a:xfrm>
          <a:prstGeom prst="ellipse">
            <a:avLst/>
          </a:prstGeom>
          <a:solidFill>
            <a:srgbClr val="8A0F1A">
              <a:alpha val="10280"/>
            </a:srgbClr>
          </a:solidFill>
          <a:ln/>
        </p:spPr>
      </p:sp>
      <p:sp>
        <p:nvSpPr>
          <p:cNvPr id="49" name="Shape 47"/>
          <p:cNvSpPr/>
          <p:nvPr/>
        </p:nvSpPr>
        <p:spPr>
          <a:xfrm>
            <a:off x="652939" y="-1670552"/>
            <a:ext cx="359245" cy="359245"/>
          </a:xfrm>
          <a:prstGeom prst="ellipse">
            <a:avLst/>
          </a:prstGeom>
          <a:solidFill>
            <a:srgbClr val="8A0F1A">
              <a:alpha val="10999"/>
            </a:srgbClr>
          </a:solidFill>
          <a:ln/>
        </p:spPr>
      </p:sp>
      <p:sp>
        <p:nvSpPr>
          <p:cNvPr id="50" name="Text 48"/>
          <p:cNvSpPr/>
          <p:nvPr/>
        </p:nvSpPr>
        <p:spPr>
          <a:xfrm>
            <a:off x="616306" y="4871923"/>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Harness optimisation: the new lever</a:t>
            </a:r>
          </a:p>
        </p:txBody>
      </p:sp>
      <p:sp>
        <p:nvSpPr>
          <p:cNvPr id="51" name="Text 49"/>
          <p:cNvSpPr/>
          <p:nvPr/>
        </p:nvSpPr>
        <p:spPr>
          <a:xfrm>
            <a:off x="615391" y="5100523"/>
            <a:ext cx="274320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Optimise</a:t>
            </a:r>
          </a:p>
        </p:txBody>
      </p:sp>
      <p:sp>
        <p:nvSpPr>
          <p:cNvPr id="52" name="Text 50"/>
          <p:cNvSpPr/>
          <p:nvPr/>
        </p:nvSpPr>
        <p:spPr>
          <a:xfrm>
            <a:off x="1288390" y="5592470"/>
            <a:ext cx="310896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the harness</a:t>
            </a:r>
          </a:p>
        </p:txBody>
      </p:sp>
      <p:sp>
        <p:nvSpPr>
          <p:cNvPr id="53" name="Shape 51"/>
          <p:cNvSpPr/>
          <p:nvPr/>
        </p:nvSpPr>
        <p:spPr>
          <a:xfrm rot="16200000">
            <a:off x="875995" y="5717743"/>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Text 52"/>
          <p:cNvSpPr/>
          <p:nvPr/>
        </p:nvSpPr>
        <p:spPr>
          <a:xfrm>
            <a:off x="4526280" y="5138928"/>
            <a:ext cx="416052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The harness is everything around the model: prompt, tool descriptions, context and memory policy, model route, parameters. GEPA beat RL fine-tuning (GRPO) by 6% on average, up to 20%, with up to 35× fewer rollouts. Pilot: one agent, measured as Galileo score uplift on held-out scenarios.</a:t>
            </a:r>
          </a:p>
        </p:txBody>
      </p:sp>
      <p:sp>
        <p:nvSpPr>
          <p:cNvPr id="55" name="Shape 53"/>
          <p:cNvSpPr/>
          <p:nvPr/>
        </p:nvSpPr>
        <p:spPr>
          <a:xfrm>
            <a:off x="8928202" y="3636569"/>
            <a:ext cx="2371039" cy="2519172"/>
          </a:xfrm>
          <a:prstGeom prst="roundRect">
            <a:avLst>
              <a:gd name="adj" fmla="val 8639"/>
            </a:avLst>
          </a:prstGeom>
          <a:solidFill>
            <a:srgbClr val="141010"/>
          </a:solidFill>
          <a:ln w="6350">
            <a:solidFill>
              <a:srgbClr val="D9B48A"/>
            </a:solidFill>
            <a:prstDash val="solid"/>
          </a:ln>
        </p:spPr>
      </p:sp>
      <p:sp>
        <p:nvSpPr>
          <p:cNvPr id="56" name="Shape 54"/>
          <p:cNvSpPr/>
          <p:nvPr/>
        </p:nvSpPr>
        <p:spPr>
          <a:xfrm>
            <a:off x="10333634" y="3856939"/>
            <a:ext cx="801929" cy="374904"/>
          </a:xfrm>
          <a:prstGeom prst="roundRect">
            <a:avLst>
              <a:gd name="adj" fmla="val 50000"/>
            </a:avLst>
          </a:prstGeom>
          <a:solidFill>
            <a:srgbClr val="8A0F1A">
              <a:alpha val="15600"/>
            </a:srgbClr>
          </a:solidFill>
          <a:ln w="6350">
            <a:solidFill>
              <a:srgbClr val="D9B48A"/>
            </a:solidFill>
            <a:prstDash val="solid"/>
          </a:ln>
        </p:spPr>
      </p:sp>
      <p:sp>
        <p:nvSpPr>
          <p:cNvPr id="57" name="Text 55"/>
          <p:cNvSpPr/>
          <p:nvPr/>
        </p:nvSpPr>
        <p:spPr>
          <a:xfrm>
            <a:off x="10333634" y="3856939"/>
            <a:ext cx="801929"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Optional</a:t>
            </a:r>
          </a:p>
        </p:txBody>
      </p:sp>
      <p:sp>
        <p:nvSpPr>
          <p:cNvPr id="58" name="Text 56"/>
          <p:cNvSpPr/>
          <p:nvPr/>
        </p:nvSpPr>
        <p:spPr>
          <a:xfrm>
            <a:off x="9133027" y="4297680"/>
            <a:ext cx="2194560" cy="585216"/>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Fine-tune only on a plateau</a:t>
            </a:r>
          </a:p>
        </p:txBody>
      </p:sp>
      <p:sp>
        <p:nvSpPr>
          <p:cNvPr id="59" name="Text 57"/>
          <p:cNvSpPr/>
          <p:nvPr/>
        </p:nvSpPr>
        <p:spPr>
          <a:xfrm>
            <a:off x="9133027" y="4846320"/>
            <a:ext cx="2240280" cy="825703"/>
          </a:xfrm>
          <a:prstGeom prst="rect">
            <a:avLst/>
          </a:prstGeom>
          <a:noFill/>
          <a:ln/>
        </p:spPr>
        <p:txBody>
          <a:bodyPr wrap="square" lIns="91440" tIns="45720" rIns="91440" bIns="45720" rtlCol="0" anchor="t">
            <a:spAutoFit/>
          </a:bodyPr>
          <a:lstStyle/>
          <a:p>
            <a:pPr indent="0" marL="0">
              <a:lnSpc>
                <a:spcPct val="125000"/>
              </a:lnSpc>
              <a:buNone/>
            </a:pPr>
            <a:r>
              <a:rPr lang="en-US" sz="1000" dirty="0">
                <a:solidFill>
                  <a:srgbClr val="F3E6D6"/>
                </a:solidFill>
                <a:latin typeface="Arial" pitchFamily="34" charset="0"/>
                <a:ea typeface="Arial" pitchFamily="34" charset="-122"/>
                <a:cs typeface="Arial" pitchFamily="34" charset="-120"/>
              </a:rPr>
              <a:t>One small Red Hat Training Hub pilot. The adapter re-enters at simulation and clears the same gates.</a:t>
            </a:r>
          </a:p>
        </p:txBody>
      </p:sp>
      <p:sp>
        <p:nvSpPr>
          <p:cNvPr id="111" name="g2 111"/>
          <p:cNvSpPr/>
          <p:nvPr/>
        </p:nvSpPr>
        <p:spPr>
          <a:xfrm>
            <a:off x="548640" y="914400"/>
            <a:ext cx="242316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Optimiser: GEPA via MLflow</a:t>
            </a:r>
          </a:p>
          <a:p>
            <a:pPr algn="l" marL="0" indent="0">
              <a:lnSpc>
                <a:spcPct val="100000"/>
              </a:lnSpc>
              <a:buNone/>
            </a:pPr>
            <a:r>
              <a:rPr lang="en-US" sz="850" dirty="0">
                <a:solidFill>
                  <a:srgbClr val="F3E6D6"/>
                </a:solidFill>
                <a:latin typeface="Arial"/>
                <a:ea typeface="Arial"/>
                <a:cs typeface="Arial"/>
              </a:rPr>
              <a:t>Training Hub entry point · Meta-Harness pilot where harness code is the bottleneck · startup: Lucidic AI (exploring)</a:t>
            </a:r>
          </a:p>
        </p:txBody>
      </p:sp>
      <p:sp>
        <p:nvSpPr>
          <p:cNvPr id="112" name="g2 112"/>
          <p:cNvSpPr/>
          <p:nvPr/>
        </p:nvSpPr>
        <p:spPr>
          <a:xfrm>
            <a:off x="3520440" y="914400"/>
            <a:ext cx="242316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Candidate harness @version</a:t>
            </a:r>
          </a:p>
          <a:p>
            <a:pPr algn="l" marL="0" indent="0">
              <a:lnSpc>
                <a:spcPct val="100000"/>
              </a:lnSpc>
              <a:buNone/>
            </a:pPr>
            <a:r>
              <a:rPr lang="en-US" sz="850" dirty="0">
                <a:solidFill>
                  <a:srgbClr val="141010"/>
                </a:solidFill>
                <a:latin typeface="Arial"/>
                <a:ea typeface="Arial"/>
                <a:cs typeface="Arial"/>
              </a:rPr>
              <a:t>prompt · tool descriptions · context / memory policy · model route · params · OSS agent framework: AWS Strands Agents</a:t>
            </a:r>
          </a:p>
        </p:txBody>
      </p:sp>
      <p:sp>
        <p:nvSpPr>
          <p:cNvPr id="113" name="g2 113"/>
          <p:cNvSpPr/>
          <p:nvPr/>
        </p:nvSpPr>
        <p:spPr>
          <a:xfrm>
            <a:off x="3520440" y="2697480"/>
            <a:ext cx="242316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Simulation suite (train split)</a:t>
            </a:r>
          </a:p>
          <a:p>
            <a:pPr algn="l" marL="0" indent="0">
              <a:lnSpc>
                <a:spcPct val="100000"/>
              </a:lnSpc>
              <a:buNone/>
            </a:pPr>
            <a:r>
              <a:rPr lang="en-US" sz="850" dirty="0">
                <a:solidFill>
                  <a:srgbClr val="F3E6D6"/>
                </a:solidFill>
                <a:latin typeface="Arial"/>
                <a:ea typeface="Arial"/>
                <a:cs typeface="Arial"/>
              </a:rPr>
              <a:t>SDG Hub scenarios + persona sim · pass^k · seeded by Galileo Signals</a:t>
            </a:r>
          </a:p>
        </p:txBody>
      </p:sp>
      <p:sp>
        <p:nvSpPr>
          <p:cNvPr id="114" name="g2 114"/>
          <p:cNvSpPr/>
          <p:nvPr/>
        </p:nvSpPr>
        <p:spPr>
          <a:xfrm>
            <a:off x="548640" y="2697480"/>
            <a:ext cx="2423160" cy="8686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Objective: Galileo (Arize exploring)</a:t>
            </a:r>
          </a:p>
          <a:p>
            <a:pPr algn="l" marL="0" indent="0">
              <a:lnSpc>
                <a:spcPct val="100000"/>
              </a:lnSpc>
              <a:buNone/>
            </a:pPr>
            <a:r>
              <a:rPr lang="en-US" sz="850" dirty="0">
                <a:solidFill>
                  <a:srgbClr val="F3E6D6"/>
                </a:solidFill>
                <a:latin typeface="Arial"/>
                <a:ea typeface="Arial"/>
                <a:cs typeface="Arial"/>
              </a:rPr>
              <a:t>session metrics + textual feedback on every run</a:t>
            </a:r>
          </a:p>
        </p:txBody>
      </p:sp>
      <p:cxnSp>
        <p:nvCxnSpPr>
          <p:cNvPr id="115" name="g2 flow 115"/>
          <p:cNvCxnSpPr/>
          <p:nvPr/>
        </p:nvCxnSpPr>
        <p:spPr>
          <a:xfrm>
            <a:off x="2971800" y="1344168"/>
            <a:ext cx="548640" cy="0"/>
          </a:xfrm>
          <a:prstGeom prst="line">
            <a:avLst/>
          </a:prstGeom>
          <a:ln w="12700">
            <a:solidFill>
              <a:srgbClr val="EE0000"/>
            </a:solidFill>
            <a:tailEnd type="triangle" w="med" len="med"/>
          </a:ln>
        </p:spPr>
      </p:cxnSp>
      <p:sp>
        <p:nvSpPr>
          <p:cNvPr id="116" name="g2 116"/>
          <p:cNvSpPr/>
          <p:nvPr/>
        </p:nvSpPr>
        <p:spPr>
          <a:xfrm>
            <a:off x="2999232" y="1097280"/>
            <a:ext cx="54864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propose</a:t>
            </a:r>
          </a:p>
        </p:txBody>
      </p:sp>
      <p:cxnSp>
        <p:nvCxnSpPr>
          <p:cNvPr id="117" name="g2 flow 117"/>
          <p:cNvCxnSpPr/>
          <p:nvPr/>
        </p:nvCxnSpPr>
        <p:spPr>
          <a:xfrm>
            <a:off x="4709160" y="1783080"/>
            <a:ext cx="0" cy="914400"/>
          </a:xfrm>
          <a:prstGeom prst="line">
            <a:avLst/>
          </a:prstGeom>
          <a:ln w="12700">
            <a:solidFill>
              <a:srgbClr val="EE0000"/>
            </a:solidFill>
            <a:tailEnd type="triangle" w="med" len="med"/>
          </a:ln>
        </p:spPr>
      </p:cxnSp>
      <p:sp>
        <p:nvSpPr>
          <p:cNvPr id="118" name="g2 118"/>
          <p:cNvSpPr/>
          <p:nvPr/>
        </p:nvSpPr>
        <p:spPr>
          <a:xfrm>
            <a:off x="4782312" y="2103120"/>
            <a:ext cx="73152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run</a:t>
            </a:r>
          </a:p>
        </p:txBody>
      </p:sp>
      <p:cxnSp>
        <p:nvCxnSpPr>
          <p:cNvPr id="119" name="g2 flow 119"/>
          <p:cNvCxnSpPr/>
          <p:nvPr/>
        </p:nvCxnSpPr>
        <p:spPr>
          <a:xfrm flipH="1">
            <a:off x="2971800" y="3127248"/>
            <a:ext cx="548640" cy="0"/>
          </a:xfrm>
          <a:prstGeom prst="line">
            <a:avLst/>
          </a:prstGeom>
          <a:ln w="12700">
            <a:solidFill>
              <a:srgbClr val="EE0000"/>
            </a:solidFill>
            <a:tailEnd type="triangle" w="med" len="med"/>
          </a:ln>
        </p:spPr>
      </p:cxnSp>
      <p:sp>
        <p:nvSpPr>
          <p:cNvPr id="120" name="g2 120"/>
          <p:cNvSpPr/>
          <p:nvPr/>
        </p:nvSpPr>
        <p:spPr>
          <a:xfrm>
            <a:off x="3017520" y="3154680"/>
            <a:ext cx="54864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score</a:t>
            </a:r>
          </a:p>
        </p:txBody>
      </p:sp>
      <p:cxnSp>
        <p:nvCxnSpPr>
          <p:cNvPr id="121" name="g2 flow 121"/>
          <p:cNvCxnSpPr/>
          <p:nvPr/>
        </p:nvCxnSpPr>
        <p:spPr>
          <a:xfrm flipV="1">
            <a:off x="1737360" y="1783080"/>
            <a:ext cx="0" cy="914400"/>
          </a:xfrm>
          <a:prstGeom prst="line">
            <a:avLst/>
          </a:prstGeom>
          <a:ln w="12700">
            <a:solidFill>
              <a:srgbClr val="EE0000"/>
            </a:solidFill>
            <a:tailEnd type="triangle" w="med" len="med"/>
          </a:ln>
        </p:spPr>
      </p:cxnSp>
      <p:sp>
        <p:nvSpPr>
          <p:cNvPr id="122" name="g2 122"/>
          <p:cNvSpPr/>
          <p:nvPr/>
        </p:nvSpPr>
        <p:spPr>
          <a:xfrm>
            <a:off x="1810512" y="2103120"/>
            <a:ext cx="73152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reflect</a:t>
            </a:r>
          </a:p>
        </p:txBody>
      </p:sp>
      <p:sp>
        <p:nvSpPr>
          <p:cNvPr id="123" name="v2 123"/>
          <p:cNvSpPr/>
          <p:nvPr/>
        </p:nvSpPr>
        <p:spPr>
          <a:xfrm>
            <a:off x="2697480" y="1892808"/>
            <a:ext cx="1097280" cy="640080"/>
          </a:xfrm>
          <a:prstGeom prst="ellipse">
            <a:avLst/>
          </a:prstGeom>
          <a:noFill/>
          <a:ln w="9525">
            <a:solidFill>
              <a:srgbClr val="D9B48A"/>
            </a:solidFill>
          </a:ln>
        </p:spPr>
        <p:txBody>
          <a:bodyPr wrap="square" lIns="0" tIns="0" rIns="0" bIns="0" rtlCol="0" anchor="ctr">
            <a:noAutofit/>
          </a:bodyPr>
          <a:lstStyle/>
          <a:p>
            <a:pPr algn="ctr" marL="0" indent="0">
              <a:buNone/>
            </a:pPr>
            <a:r>
              <a:rPr lang="en-US" sz="850" b="1" dirty="0">
                <a:solidFill>
                  <a:srgbClr val="F5B700"/>
                </a:solidFill>
                <a:latin typeface="Arial"/>
                <a:ea typeface="Arial"/>
                <a:cs typeface="Arial"/>
              </a:rPr>
              <a:t>INNER LOOP</a:t>
            </a:r>
          </a:p>
          <a:p>
            <a:pPr algn="ctr" marL="0" indent="0">
              <a:buNone/>
            </a:pPr>
            <a:r>
              <a:rPr lang="en-US" sz="850" dirty="0">
                <a:solidFill>
                  <a:srgbClr val="F3E6D6"/>
                </a:solidFill>
                <a:latin typeface="Arial"/>
                <a:ea typeface="Arial"/>
                <a:cs typeface="Arial"/>
              </a:rPr>
              <a:t>search</a:t>
            </a:r>
          </a:p>
        </p:txBody>
      </p:sp>
      <p:sp>
        <p:nvSpPr>
          <p:cNvPr id="124" name="v2 124"/>
          <p:cNvSpPr/>
          <p:nvPr/>
        </p:nvSpPr>
        <p:spPr>
          <a:xfrm>
            <a:off x="6355080" y="502920"/>
            <a:ext cx="5532120" cy="274320"/>
          </a:xfrm>
          <a:prstGeom prst="rect">
            <a:avLst/>
          </a:prstGeom>
          <a:noFill/>
          <a:ln>
            <a:noFill/>
          </a:ln>
        </p:spPr>
        <p:txBody>
          <a:bodyPr wrap="square" lIns="0" tIns="0" rIns="0" bIns="0" rtlCol="0" anchor="ctr">
            <a:noAutofit/>
          </a:bodyPr>
          <a:lstStyle/>
          <a:p>
            <a:pPr algn="l" marL="0" indent="0">
              <a:buNone/>
            </a:pPr>
            <a:r>
              <a:rPr lang="en-US" sz="1000" b="1" dirty="0">
                <a:solidFill>
                  <a:srgbClr val="F5B700"/>
                </a:solidFill>
                <a:latin typeface="Arial"/>
                <a:ea typeface="Arial"/>
                <a:cs typeface="Arial"/>
              </a:rPr>
              <a:t>OUTER LOOP  </a:t>
            </a:r>
            <a:r>
              <a:rPr lang="en-US" sz="850" dirty="0">
                <a:solidFill>
                  <a:srgbClr val="F3E6D6"/>
                </a:solidFill>
                <a:latin typeface="Arial"/>
                <a:ea typeface="Arial"/>
                <a:cs typeface="Arial"/>
              </a:rPr>
              <a:t>a winning harness ships through the same gates as any release</a:t>
            </a:r>
          </a:p>
        </p:txBody>
      </p:sp>
      <p:sp>
        <p:nvSpPr>
          <p:cNvPr id="125" name="g2 125"/>
          <p:cNvSpPr/>
          <p:nvPr/>
        </p:nvSpPr>
        <p:spPr>
          <a:xfrm>
            <a:off x="6355080" y="914400"/>
            <a:ext cx="169164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Held-out gate</a:t>
            </a:r>
          </a:p>
          <a:p>
            <a:pPr algn="l" marL="0" indent="0">
              <a:lnSpc>
                <a:spcPct val="100000"/>
              </a:lnSpc>
              <a:buNone/>
            </a:pPr>
            <a:r>
              <a:rPr lang="en-US" sz="850" dirty="0">
                <a:solidFill>
                  <a:srgbClr val="141010"/>
                </a:solidFill>
                <a:latin typeface="Arial"/>
                <a:ea typeface="Arial"/>
                <a:cs typeface="Arial"/>
              </a:rPr>
              <a:t>beats baseline, no safety regression</a:t>
            </a:r>
          </a:p>
        </p:txBody>
      </p:sp>
      <p:sp>
        <p:nvSpPr>
          <p:cNvPr id="126" name="g2 126"/>
          <p:cNvSpPr/>
          <p:nvPr/>
        </p:nvSpPr>
        <p:spPr>
          <a:xfrm>
            <a:off x="8275320" y="914400"/>
            <a:ext cx="169164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Red-team gate</a:t>
            </a:r>
          </a:p>
          <a:p>
            <a:pPr algn="l" marL="0" indent="0">
              <a:lnSpc>
                <a:spcPct val="100000"/>
              </a:lnSpc>
              <a:buNone/>
            </a:pPr>
            <a:r>
              <a:rPr lang="en-US" sz="850" dirty="0">
                <a:solidFill>
                  <a:srgbClr val="141010"/>
                </a:solidFill>
                <a:latin typeface="Arial"/>
                <a:ea typeface="Arial"/>
                <a:cs typeface="Arial"/>
              </a:rPr>
              <a:t>release candidate to stage 6</a:t>
            </a:r>
          </a:p>
        </p:txBody>
      </p:sp>
      <p:sp>
        <p:nvSpPr>
          <p:cNvPr id="127" name="g2 127"/>
          <p:cNvSpPr/>
          <p:nvPr/>
        </p:nvSpPr>
        <p:spPr>
          <a:xfrm>
            <a:off x="10195560" y="914400"/>
            <a:ext cx="1691640" cy="8686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Promote via gateway</a:t>
            </a:r>
          </a:p>
          <a:p>
            <a:pPr algn="l" marL="0" indent="0">
              <a:lnSpc>
                <a:spcPct val="100000"/>
              </a:lnSpc>
              <a:buNone/>
            </a:pPr>
            <a:r>
              <a:rPr lang="en-US" sz="850" dirty="0">
                <a:solidFill>
                  <a:srgbClr val="F3E6D6"/>
                </a:solidFill>
                <a:latin typeface="Arial"/>
                <a:ea typeface="Arial"/>
                <a:cs typeface="Arial"/>
              </a:rPr>
              <a:t>config @version · canary · rollback</a:t>
            </a:r>
          </a:p>
        </p:txBody>
      </p:sp>
      <p:sp>
        <p:nvSpPr>
          <p:cNvPr id="128" name="g2 128"/>
          <p:cNvSpPr/>
          <p:nvPr/>
        </p:nvSpPr>
        <p:spPr>
          <a:xfrm>
            <a:off x="10195560" y="2423160"/>
            <a:ext cx="1691640" cy="8686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Online scoring</a:t>
            </a:r>
          </a:p>
          <a:p>
            <a:pPr algn="l" marL="0" indent="0">
              <a:lnSpc>
                <a:spcPct val="100000"/>
              </a:lnSpc>
              <a:buNone/>
            </a:pPr>
            <a:r>
              <a:rPr lang="en-US" sz="850" dirty="0">
                <a:solidFill>
                  <a:srgbClr val="F3E6D6"/>
                </a:solidFill>
                <a:latin typeface="Arial"/>
                <a:ea typeface="Arial"/>
                <a:cs typeface="Arial"/>
              </a:rPr>
              <a:t>same Galileo (Arize exploring) metrics on live traffic</a:t>
            </a:r>
          </a:p>
        </p:txBody>
      </p:sp>
      <p:cxnSp>
        <p:nvCxnSpPr>
          <p:cNvPr id="129" name="g2 flow 129"/>
          <p:cNvCxnSpPr/>
          <p:nvPr/>
        </p:nvCxnSpPr>
        <p:spPr>
          <a:xfrm>
            <a:off x="5943600" y="1344168"/>
            <a:ext cx="411480" cy="0"/>
          </a:xfrm>
          <a:prstGeom prst="line">
            <a:avLst/>
          </a:prstGeom>
          <a:ln w="12700">
            <a:solidFill>
              <a:srgbClr val="EE0000"/>
            </a:solidFill>
            <a:tailEnd type="triangle" w="med" len="med"/>
          </a:ln>
        </p:spPr>
      </p:cxnSp>
      <p:sp>
        <p:nvSpPr>
          <p:cNvPr id="130" name="g2 130"/>
          <p:cNvSpPr/>
          <p:nvPr/>
        </p:nvSpPr>
        <p:spPr>
          <a:xfrm>
            <a:off x="5961888" y="1097280"/>
            <a:ext cx="41148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best</a:t>
            </a:r>
          </a:p>
        </p:txBody>
      </p:sp>
      <p:cxnSp>
        <p:nvCxnSpPr>
          <p:cNvPr id="131" name="g2 flow 131"/>
          <p:cNvCxnSpPr/>
          <p:nvPr/>
        </p:nvCxnSpPr>
        <p:spPr>
          <a:xfrm>
            <a:off x="8046720" y="1344168"/>
            <a:ext cx="228600" cy="0"/>
          </a:xfrm>
          <a:prstGeom prst="line">
            <a:avLst/>
          </a:prstGeom>
          <a:ln w="12700">
            <a:solidFill>
              <a:srgbClr val="EE0000"/>
            </a:solidFill>
            <a:tailEnd type="triangle" w="med" len="med"/>
          </a:ln>
        </p:spPr>
      </p:cxnSp>
      <p:cxnSp>
        <p:nvCxnSpPr>
          <p:cNvPr id="132" name="g2 flow 132"/>
          <p:cNvCxnSpPr/>
          <p:nvPr/>
        </p:nvCxnSpPr>
        <p:spPr>
          <a:xfrm>
            <a:off x="9966960" y="1344168"/>
            <a:ext cx="228600" cy="0"/>
          </a:xfrm>
          <a:prstGeom prst="line">
            <a:avLst/>
          </a:prstGeom>
          <a:ln w="12700">
            <a:solidFill>
              <a:srgbClr val="EE0000"/>
            </a:solidFill>
            <a:tailEnd type="triangle" w="med" len="med"/>
          </a:ln>
        </p:spPr>
      </p:cxnSp>
      <p:cxnSp>
        <p:nvCxnSpPr>
          <p:cNvPr id="133" name="g2 flow 133"/>
          <p:cNvCxnSpPr/>
          <p:nvPr/>
        </p:nvCxnSpPr>
        <p:spPr>
          <a:xfrm>
            <a:off x="11041380" y="1783080"/>
            <a:ext cx="0" cy="640080"/>
          </a:xfrm>
          <a:prstGeom prst="line">
            <a:avLst/>
          </a:prstGeom>
          <a:ln w="12700">
            <a:solidFill>
              <a:srgbClr val="EE0000"/>
            </a:solidFill>
            <a:tailEnd type="triangle" w="med" len="med"/>
          </a:ln>
        </p:spPr>
      </p:cxnSp>
      <p:sp>
        <p:nvSpPr>
          <p:cNvPr id="134" name="g2 134"/>
          <p:cNvSpPr/>
          <p:nvPr/>
        </p:nvSpPr>
        <p:spPr>
          <a:xfrm>
            <a:off x="11109960" y="1965960"/>
            <a:ext cx="7772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canary</a:t>
            </a:r>
          </a:p>
        </p:txBody>
      </p:sp>
      <p:cxnSp>
        <p:nvCxnSpPr>
          <p:cNvPr id="135" name="g2 flow 135"/>
          <p:cNvCxnSpPr/>
          <p:nvPr/>
        </p:nvCxnSpPr>
        <p:spPr>
          <a:xfrm flipH="1">
            <a:off x="5943600" y="2971800"/>
            <a:ext cx="4251960" cy="0"/>
          </a:xfrm>
          <a:prstGeom prst="line">
            <a:avLst/>
          </a:prstGeom>
          <a:ln w="12700">
            <a:solidFill>
              <a:srgbClr val="EE0000"/>
            </a:solidFill>
            <a:tailEnd type="triangle" w="med" len="med"/>
          </a:ln>
        </p:spPr>
      </p:cxnSp>
      <p:sp>
        <p:nvSpPr>
          <p:cNvPr id="136" name="g2 136"/>
          <p:cNvSpPr/>
          <p:nvPr/>
        </p:nvSpPr>
        <p:spPr>
          <a:xfrm>
            <a:off x="6080760" y="2999232"/>
            <a:ext cx="393192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new production failures → new scenarios</a:t>
            </a:r>
          </a:p>
        </p:txBody>
      </p:sp>
      <p:sp>
        <p:nvSpPr>
          <p:cNvPr id="137" name="g2 137"/>
          <p:cNvSpPr/>
          <p:nvPr/>
        </p:nvSpPr>
        <p:spPr>
          <a:xfrm>
            <a:off x="6355080" y="1920240"/>
            <a:ext cx="3657600" cy="457200"/>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No reward hacking: optimisation and held-out sets never overlap. One evaluator definition is both objective and gate.</a:t>
            </a:r>
          </a:p>
        </p:txBody>
      </p:sp>
      <p:sp>
        <p:nvSpPr>
          <p:cNvPr id="138" name="g2 138"/>
          <p:cNvSpPr/>
          <p:nvPr/>
        </p:nvSpPr>
        <p:spPr>
          <a:xfrm>
            <a:off x="3520440" y="3840480"/>
            <a:ext cx="2423160" cy="566928"/>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Plateau on held-out?</a:t>
            </a:r>
          </a:p>
          <a:p>
            <a:pPr algn="l" marL="0" indent="0">
              <a:lnSpc>
                <a:spcPct val="100000"/>
              </a:lnSpc>
              <a:buNone/>
            </a:pPr>
            <a:r>
              <a:rPr lang="en-US" sz="850" dirty="0">
                <a:solidFill>
                  <a:srgbClr val="F3E6D6"/>
                </a:solidFill>
                <a:latin typeface="Arial"/>
                <a:ea typeface="Arial"/>
                <a:cs typeface="Arial"/>
              </a:rPr>
              <a:t>no uplift after search + a cost or latency case</a:t>
            </a:r>
          </a:p>
        </p:txBody>
      </p:sp>
      <p:cxnSp>
        <p:nvCxnSpPr>
          <p:cNvPr id="139" name="g2 flow 139"/>
          <p:cNvCxnSpPr/>
          <p:nvPr/>
        </p:nvCxnSpPr>
        <p:spPr>
          <a:xfrm>
            <a:off x="4709160" y="3566160"/>
            <a:ext cx="0" cy="274320"/>
          </a:xfrm>
          <a:prstGeom prst="line">
            <a:avLst/>
          </a:prstGeom>
          <a:ln w="12700">
            <a:solidFill>
              <a:srgbClr val="EE0000"/>
            </a:solidFill>
            <a:tailEnd type="triangle" w="med" len="med"/>
          </a:ln>
        </p:spPr>
      </p:cxnSp>
      <p:cxnSp>
        <p:nvCxnSpPr>
          <p:cNvPr id="140" name="g2 flow 140"/>
          <p:cNvCxnSpPr/>
          <p:nvPr/>
        </p:nvCxnSpPr>
        <p:spPr>
          <a:xfrm>
            <a:off x="5943600" y="4123944"/>
            <a:ext cx="2984602" cy="0"/>
          </a:xfrm>
          <a:prstGeom prst="line">
            <a:avLst/>
          </a:prstGeom>
          <a:ln w="12700">
            <a:solidFill>
              <a:srgbClr val="A0704A"/>
            </a:solidFill>
            <a:prstDash val="dash"/>
            <a:tailEnd type="triangle" w="med" len="med"/>
          </a:ln>
        </p:spPr>
      </p:cxnSp>
      <p:sp>
        <p:nvSpPr>
          <p:cNvPr id="141" name="g2 141"/>
          <p:cNvSpPr/>
          <p:nvPr/>
        </p:nvSpPr>
        <p:spPr>
          <a:xfrm>
            <a:off x="6035040" y="3904488"/>
            <a:ext cx="2743200" cy="201168"/>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escalate, optional and last</a:t>
            </a:r>
          </a:p>
        </p:txBody>
      </p:sp>
      <p:sp>
        <p:nvSpPr>
          <p:cNvPr id="142"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22 / 44</a:t>
            </a:r>
          </a:p>
        </p:txBody>
      </p:sp>
      <p:sp>
        <p:nvSpPr>
          <p:cNvPr id="143"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44"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4">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2988259" y="-5184648"/>
            <a:ext cx="8621878" cy="8621878"/>
          </a:xfrm>
          <a:prstGeom prst="ellipse">
            <a:avLst/>
          </a:prstGeom>
          <a:solidFill>
            <a:srgbClr val="8A0F1A">
              <a:alpha val="2547"/>
            </a:srgbClr>
          </a:solidFill>
          <a:ln/>
        </p:spPr>
      </p:sp>
      <p:sp>
        <p:nvSpPr>
          <p:cNvPr id="3" name="Shape 1"/>
          <p:cNvSpPr/>
          <p:nvPr/>
        </p:nvSpPr>
        <p:spPr>
          <a:xfrm>
            <a:off x="3167882" y="-5005026"/>
            <a:ext cx="8262633" cy="8262633"/>
          </a:xfrm>
          <a:prstGeom prst="ellipse">
            <a:avLst/>
          </a:prstGeom>
          <a:solidFill>
            <a:srgbClr val="8A0F1A">
              <a:alpha val="4218"/>
            </a:srgbClr>
          </a:solidFill>
          <a:ln/>
        </p:spPr>
      </p:sp>
      <p:sp>
        <p:nvSpPr>
          <p:cNvPr id="4" name="Shape 2"/>
          <p:cNvSpPr/>
          <p:nvPr/>
        </p:nvSpPr>
        <p:spPr>
          <a:xfrm>
            <a:off x="3347504" y="-4825403"/>
            <a:ext cx="7903388" cy="7903388"/>
          </a:xfrm>
          <a:prstGeom prst="ellipse">
            <a:avLst/>
          </a:prstGeom>
          <a:solidFill>
            <a:srgbClr val="8A0F1A">
              <a:alpha val="4138"/>
            </a:srgbClr>
          </a:solidFill>
          <a:ln/>
        </p:spPr>
      </p:sp>
      <p:sp>
        <p:nvSpPr>
          <p:cNvPr id="5" name="Shape 3"/>
          <p:cNvSpPr/>
          <p:nvPr/>
        </p:nvSpPr>
        <p:spPr>
          <a:xfrm>
            <a:off x="3527127" y="-4645781"/>
            <a:ext cx="7544143" cy="7544143"/>
          </a:xfrm>
          <a:prstGeom prst="ellipse">
            <a:avLst/>
          </a:prstGeom>
          <a:solidFill>
            <a:srgbClr val="8A0F1A">
              <a:alpha val="2636"/>
            </a:srgbClr>
          </a:solidFill>
          <a:ln/>
        </p:spPr>
      </p:sp>
      <p:sp>
        <p:nvSpPr>
          <p:cNvPr id="6" name="Shape 4"/>
          <p:cNvSpPr/>
          <p:nvPr/>
        </p:nvSpPr>
        <p:spPr>
          <a:xfrm>
            <a:off x="3706749" y="-4466158"/>
            <a:ext cx="7184898" cy="7184898"/>
          </a:xfrm>
          <a:prstGeom prst="ellipse">
            <a:avLst/>
          </a:prstGeom>
          <a:solidFill>
            <a:srgbClr val="8A0F1A">
              <a:alpha val="2661"/>
            </a:srgbClr>
          </a:solidFill>
          <a:ln/>
        </p:spPr>
      </p:sp>
      <p:sp>
        <p:nvSpPr>
          <p:cNvPr id="7" name="Shape 5"/>
          <p:cNvSpPr/>
          <p:nvPr/>
        </p:nvSpPr>
        <p:spPr>
          <a:xfrm>
            <a:off x="3886371" y="-4286536"/>
            <a:ext cx="6825653" cy="6825653"/>
          </a:xfrm>
          <a:prstGeom prst="ellipse">
            <a:avLst/>
          </a:prstGeom>
          <a:solidFill>
            <a:srgbClr val="8A0F1A">
              <a:alpha val="3304"/>
            </a:srgbClr>
          </a:solidFill>
          <a:ln/>
        </p:spPr>
      </p:sp>
      <p:sp>
        <p:nvSpPr>
          <p:cNvPr id="8" name="Shape 6"/>
          <p:cNvSpPr/>
          <p:nvPr/>
        </p:nvSpPr>
        <p:spPr>
          <a:xfrm>
            <a:off x="4065994" y="-4106913"/>
            <a:ext cx="6466408" cy="6466408"/>
          </a:xfrm>
          <a:prstGeom prst="ellipse">
            <a:avLst/>
          </a:prstGeom>
          <a:solidFill>
            <a:srgbClr val="8A0F1A">
              <a:alpha val="3622"/>
            </a:srgbClr>
          </a:solidFill>
          <a:ln/>
        </p:spPr>
      </p:sp>
      <p:sp>
        <p:nvSpPr>
          <p:cNvPr id="9" name="Shape 7"/>
          <p:cNvSpPr/>
          <p:nvPr/>
        </p:nvSpPr>
        <p:spPr>
          <a:xfrm>
            <a:off x="4245616" y="-3927291"/>
            <a:ext cx="6107163" cy="6107163"/>
          </a:xfrm>
          <a:prstGeom prst="ellipse">
            <a:avLst/>
          </a:prstGeom>
          <a:solidFill>
            <a:srgbClr val="8A0F1A">
              <a:alpha val="3650"/>
            </a:srgbClr>
          </a:solidFill>
          <a:ln/>
        </p:spPr>
      </p:sp>
      <p:sp>
        <p:nvSpPr>
          <p:cNvPr id="10" name="Shape 8"/>
          <p:cNvSpPr/>
          <p:nvPr/>
        </p:nvSpPr>
        <p:spPr>
          <a:xfrm>
            <a:off x="4425239" y="-3747668"/>
            <a:ext cx="5747918" cy="5747918"/>
          </a:xfrm>
          <a:prstGeom prst="ellipse">
            <a:avLst/>
          </a:prstGeom>
          <a:solidFill>
            <a:srgbClr val="8A0F1A">
              <a:alpha val="3631"/>
            </a:srgbClr>
          </a:solidFill>
          <a:ln/>
        </p:spPr>
      </p:sp>
      <p:sp>
        <p:nvSpPr>
          <p:cNvPr id="11" name="Shape 9"/>
          <p:cNvSpPr/>
          <p:nvPr/>
        </p:nvSpPr>
        <p:spPr>
          <a:xfrm>
            <a:off x="4604861" y="-3568046"/>
            <a:ext cx="5388674" cy="5388674"/>
          </a:xfrm>
          <a:prstGeom prst="ellipse">
            <a:avLst/>
          </a:prstGeom>
          <a:solidFill>
            <a:srgbClr val="8A0F1A">
              <a:alpha val="3693"/>
            </a:srgbClr>
          </a:solidFill>
          <a:ln/>
        </p:spPr>
      </p:sp>
      <p:sp>
        <p:nvSpPr>
          <p:cNvPr id="12" name="Shape 10"/>
          <p:cNvSpPr/>
          <p:nvPr/>
        </p:nvSpPr>
        <p:spPr>
          <a:xfrm>
            <a:off x="4784484" y="-3388423"/>
            <a:ext cx="5029429" cy="5029429"/>
          </a:xfrm>
          <a:prstGeom prst="ellipse">
            <a:avLst/>
          </a:prstGeom>
          <a:solidFill>
            <a:srgbClr val="8A0F1A">
              <a:alpha val="4536"/>
            </a:srgbClr>
          </a:solidFill>
          <a:ln/>
        </p:spPr>
      </p:sp>
      <p:sp>
        <p:nvSpPr>
          <p:cNvPr id="13" name="Shape 11"/>
          <p:cNvSpPr/>
          <p:nvPr/>
        </p:nvSpPr>
        <p:spPr>
          <a:xfrm>
            <a:off x="4964106" y="-3208801"/>
            <a:ext cx="4670184" cy="4670184"/>
          </a:xfrm>
          <a:prstGeom prst="ellipse">
            <a:avLst/>
          </a:prstGeom>
          <a:solidFill>
            <a:srgbClr val="8A0F1A">
              <a:alpha val="4737"/>
            </a:srgbClr>
          </a:solidFill>
          <a:ln/>
        </p:spPr>
      </p:sp>
      <p:sp>
        <p:nvSpPr>
          <p:cNvPr id="14" name="Shape 12"/>
          <p:cNvSpPr/>
          <p:nvPr/>
        </p:nvSpPr>
        <p:spPr>
          <a:xfrm>
            <a:off x="5143729" y="-3029179"/>
            <a:ext cx="4310939" cy="4310939"/>
          </a:xfrm>
          <a:prstGeom prst="ellipse">
            <a:avLst/>
          </a:prstGeom>
          <a:solidFill>
            <a:srgbClr val="8A0F1A">
              <a:alpha val="4994"/>
            </a:srgbClr>
          </a:solidFill>
          <a:ln/>
        </p:spPr>
      </p:sp>
      <p:sp>
        <p:nvSpPr>
          <p:cNvPr id="15" name="Shape 13"/>
          <p:cNvSpPr/>
          <p:nvPr/>
        </p:nvSpPr>
        <p:spPr>
          <a:xfrm>
            <a:off x="5323351" y="-2849556"/>
            <a:ext cx="3951694" cy="3951694"/>
          </a:xfrm>
          <a:prstGeom prst="ellipse">
            <a:avLst/>
          </a:prstGeom>
          <a:solidFill>
            <a:srgbClr val="8A0F1A">
              <a:alpha val="5272"/>
            </a:srgbClr>
          </a:solidFill>
          <a:ln/>
        </p:spPr>
      </p:sp>
      <p:sp>
        <p:nvSpPr>
          <p:cNvPr id="16" name="Shape 14"/>
          <p:cNvSpPr/>
          <p:nvPr/>
        </p:nvSpPr>
        <p:spPr>
          <a:xfrm>
            <a:off x="5502974" y="-2669934"/>
            <a:ext cx="3592449" cy="3592449"/>
          </a:xfrm>
          <a:prstGeom prst="ellipse">
            <a:avLst/>
          </a:prstGeom>
          <a:solidFill>
            <a:srgbClr val="8A0F1A">
              <a:alpha val="5521"/>
            </a:srgbClr>
          </a:solidFill>
          <a:ln/>
        </p:spPr>
      </p:sp>
      <p:sp>
        <p:nvSpPr>
          <p:cNvPr id="17" name="Shape 15"/>
          <p:cNvSpPr/>
          <p:nvPr/>
        </p:nvSpPr>
        <p:spPr>
          <a:xfrm>
            <a:off x="5682596" y="-2490311"/>
            <a:ext cx="3233204" cy="3233204"/>
          </a:xfrm>
          <a:prstGeom prst="ellipse">
            <a:avLst/>
          </a:prstGeom>
          <a:solidFill>
            <a:srgbClr val="8A0F1A">
              <a:alpha val="6496"/>
            </a:srgbClr>
          </a:solidFill>
          <a:ln/>
        </p:spPr>
      </p:sp>
      <p:sp>
        <p:nvSpPr>
          <p:cNvPr id="18" name="Shape 16"/>
          <p:cNvSpPr/>
          <p:nvPr/>
        </p:nvSpPr>
        <p:spPr>
          <a:xfrm>
            <a:off x="5862218" y="-2310689"/>
            <a:ext cx="2873959" cy="2873959"/>
          </a:xfrm>
          <a:prstGeom prst="ellipse">
            <a:avLst/>
          </a:prstGeom>
          <a:solidFill>
            <a:srgbClr val="8A0F1A">
              <a:alpha val="6768"/>
            </a:srgbClr>
          </a:solidFill>
          <a:ln/>
        </p:spPr>
      </p:sp>
      <p:sp>
        <p:nvSpPr>
          <p:cNvPr id="19" name="Shape 17"/>
          <p:cNvSpPr/>
          <p:nvPr/>
        </p:nvSpPr>
        <p:spPr>
          <a:xfrm>
            <a:off x="6041841" y="-2131066"/>
            <a:ext cx="2514714" cy="2514714"/>
          </a:xfrm>
          <a:prstGeom prst="ellipse">
            <a:avLst/>
          </a:prstGeom>
          <a:solidFill>
            <a:srgbClr val="8A0F1A">
              <a:alpha val="7123"/>
            </a:srgbClr>
          </a:solidFill>
          <a:ln/>
        </p:spPr>
      </p:sp>
      <p:sp>
        <p:nvSpPr>
          <p:cNvPr id="20" name="Shape 18"/>
          <p:cNvSpPr/>
          <p:nvPr/>
        </p:nvSpPr>
        <p:spPr>
          <a:xfrm>
            <a:off x="6221463" y="-1951444"/>
            <a:ext cx="2155469" cy="2155469"/>
          </a:xfrm>
          <a:prstGeom prst="ellipse">
            <a:avLst/>
          </a:prstGeom>
          <a:solidFill>
            <a:srgbClr val="8A0F1A">
              <a:alpha val="7486"/>
            </a:srgbClr>
          </a:solidFill>
          <a:ln/>
        </p:spPr>
      </p:sp>
      <p:sp>
        <p:nvSpPr>
          <p:cNvPr id="21" name="Shape 19"/>
          <p:cNvSpPr/>
          <p:nvPr/>
        </p:nvSpPr>
        <p:spPr>
          <a:xfrm>
            <a:off x="6401086" y="-1771821"/>
            <a:ext cx="1796225" cy="1796225"/>
          </a:xfrm>
          <a:prstGeom prst="ellipse">
            <a:avLst/>
          </a:prstGeom>
          <a:solidFill>
            <a:srgbClr val="8A0F1A">
              <a:alpha val="8191"/>
            </a:srgbClr>
          </a:solidFill>
          <a:ln/>
        </p:spPr>
      </p:sp>
      <p:sp>
        <p:nvSpPr>
          <p:cNvPr id="22" name="Shape 20"/>
          <p:cNvSpPr/>
          <p:nvPr/>
        </p:nvSpPr>
        <p:spPr>
          <a:xfrm>
            <a:off x="6580708" y="-1592199"/>
            <a:ext cx="1436980" cy="1436980"/>
          </a:xfrm>
          <a:prstGeom prst="ellipse">
            <a:avLst/>
          </a:prstGeom>
          <a:solidFill>
            <a:srgbClr val="8A0F1A">
              <a:alpha val="9466"/>
            </a:srgbClr>
          </a:solidFill>
          <a:ln/>
        </p:spPr>
      </p:sp>
      <p:sp>
        <p:nvSpPr>
          <p:cNvPr id="23" name="Shape 21"/>
          <p:cNvSpPr/>
          <p:nvPr/>
        </p:nvSpPr>
        <p:spPr>
          <a:xfrm>
            <a:off x="6760331" y="-1412577"/>
            <a:ext cx="1077735" cy="1077735"/>
          </a:xfrm>
          <a:prstGeom prst="ellipse">
            <a:avLst/>
          </a:prstGeom>
          <a:solidFill>
            <a:srgbClr val="8A0F1A">
              <a:alpha val="10120"/>
            </a:srgbClr>
          </a:solidFill>
          <a:ln/>
        </p:spPr>
      </p:sp>
      <p:sp>
        <p:nvSpPr>
          <p:cNvPr id="24" name="Shape 22"/>
          <p:cNvSpPr/>
          <p:nvPr/>
        </p:nvSpPr>
        <p:spPr>
          <a:xfrm>
            <a:off x="6939953" y="-1232954"/>
            <a:ext cx="718490" cy="718490"/>
          </a:xfrm>
          <a:prstGeom prst="ellipse">
            <a:avLst/>
          </a:prstGeom>
          <a:solidFill>
            <a:srgbClr val="8A0F1A">
              <a:alpha val="10280"/>
            </a:srgbClr>
          </a:solidFill>
          <a:ln/>
        </p:spPr>
      </p:sp>
      <p:sp>
        <p:nvSpPr>
          <p:cNvPr id="25" name="Shape 23"/>
          <p:cNvSpPr/>
          <p:nvPr/>
        </p:nvSpPr>
        <p:spPr>
          <a:xfrm>
            <a:off x="7119576" y="-1053332"/>
            <a:ext cx="359245" cy="359245"/>
          </a:xfrm>
          <a:prstGeom prst="ellipse">
            <a:avLst/>
          </a:prstGeom>
          <a:solidFill>
            <a:srgbClr val="8A0F1A">
              <a:alpha val="10999"/>
            </a:srgbClr>
          </a:solidFill>
          <a:ln/>
        </p:spPr>
      </p:sp>
      <p:sp>
        <p:nvSpPr>
          <p:cNvPr id="26" name="Text 24"/>
          <p:cNvSpPr/>
          <p:nvPr/>
        </p:nvSpPr>
        <p:spPr>
          <a:xfrm>
            <a:off x="819302" y="1220724"/>
            <a:ext cx="365760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The ask + 90-day plan</a:t>
            </a:r>
          </a:p>
        </p:txBody>
      </p:sp>
      <p:sp>
        <p:nvSpPr>
          <p:cNvPr id="27" name="Text 25"/>
          <p:cNvSpPr/>
          <p:nvPr/>
        </p:nvSpPr>
        <p:spPr>
          <a:xfrm>
            <a:off x="818388" y="1449324"/>
            <a:ext cx="201168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Decide,</a:t>
            </a:r>
          </a:p>
        </p:txBody>
      </p:sp>
      <p:sp>
        <p:nvSpPr>
          <p:cNvPr id="28" name="Text 26"/>
          <p:cNvSpPr/>
          <p:nvPr/>
        </p:nvSpPr>
        <p:spPr>
          <a:xfrm>
            <a:off x="2816352" y="1449324"/>
            <a:ext cx="35204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then 90 days</a:t>
            </a:r>
          </a:p>
        </p:txBody>
      </p:sp>
      <p:sp>
        <p:nvSpPr>
          <p:cNvPr id="29" name="Shape 27"/>
          <p:cNvSpPr/>
          <p:nvPr/>
        </p:nvSpPr>
        <p:spPr>
          <a:xfrm rot="16200000">
            <a:off x="2423160" y="1582826"/>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30" name="Shape 28"/>
          <p:cNvSpPr/>
          <p:nvPr/>
        </p:nvSpPr>
        <p:spPr>
          <a:xfrm>
            <a:off x="0" y="2709367"/>
            <a:ext cx="12191695" cy="0"/>
          </a:xfrm>
          <a:prstGeom prst="line">
            <a:avLst/>
          </a:prstGeom>
          <a:noFill/>
          <a:ln w="12700">
            <a:solidFill>
              <a:srgbClr val="D9B48A"/>
            </a:solidFill>
            <a:prstDash val="solid"/>
            <a:tailEnd type="triangle"/>
          </a:ln>
        </p:spPr>
      </p:sp>
      <p:sp>
        <p:nvSpPr>
          <p:cNvPr id="31" name="Shape 29"/>
          <p:cNvSpPr/>
          <p:nvPr/>
        </p:nvSpPr>
        <p:spPr>
          <a:xfrm>
            <a:off x="1874520" y="2926080"/>
            <a:ext cx="3264408" cy="3611880"/>
          </a:xfrm>
          <a:prstGeom prst="roundRect">
            <a:avLst>
              <a:gd name="adj" fmla="val 8650"/>
            </a:avLst>
          </a:prstGeom>
          <a:ln w="6350">
            <a:solidFill>
              <a:srgbClr val="D9B48A"/>
            </a:solidFill>
            <a:prstDash val="solid"/>
          </a:ln>
        </p:spPr>
      </p:sp>
      <p:sp>
        <p:nvSpPr>
          <p:cNvPr id="32" name="Shape 30"/>
          <p:cNvSpPr/>
          <p:nvPr/>
        </p:nvSpPr>
        <p:spPr>
          <a:xfrm rot="19800000">
            <a:off x="3459175" y="2661818"/>
            <a:ext cx="95098" cy="95098"/>
          </a:xfrm>
          <a:prstGeom prst="rect">
            <a:avLst/>
          </a:prstGeom>
          <a:solidFill>
            <a:srgbClr val="CC0000"/>
          </a:solidFill>
          <a:ln/>
        </p:spPr>
      </p:sp>
      <p:sp>
        <p:nvSpPr>
          <p:cNvPr id="33" name="Text 31"/>
          <p:cNvSpPr/>
          <p:nvPr/>
        </p:nvSpPr>
        <p:spPr>
          <a:xfrm>
            <a:off x="1984248" y="3017520"/>
            <a:ext cx="155448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Days 0-30</a:t>
            </a:r>
          </a:p>
        </p:txBody>
      </p:sp>
      <p:sp>
        <p:nvSpPr>
          <p:cNvPr id="34" name="Shape 32"/>
          <p:cNvSpPr/>
          <p:nvPr/>
        </p:nvSpPr>
        <p:spPr>
          <a:xfrm>
            <a:off x="3355848" y="3044952"/>
            <a:ext cx="1645920" cy="374904"/>
          </a:xfrm>
          <a:prstGeom prst="roundRect">
            <a:avLst>
              <a:gd name="adj" fmla="val 50000"/>
            </a:avLst>
          </a:prstGeom>
          <a:solidFill>
            <a:srgbClr val="8A0F1A">
              <a:alpha val="15600"/>
            </a:srgbClr>
          </a:solidFill>
          <a:ln w="6350">
            <a:solidFill>
              <a:srgbClr val="D9B48A"/>
            </a:solidFill>
            <a:prstDash val="solid"/>
          </a:ln>
        </p:spPr>
      </p:sp>
      <p:sp>
        <p:nvSpPr>
          <p:cNvPr id="35" name="Text 33"/>
          <p:cNvSpPr/>
          <p:nvPr/>
        </p:nvSpPr>
        <p:spPr>
          <a:xfrm>
            <a:off x="3355848" y="3044952"/>
            <a:ext cx="164592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Foundation</a:t>
            </a:r>
          </a:p>
        </p:txBody>
      </p:sp>
      <p:sp>
        <p:nvSpPr>
          <p:cNvPr id="38" name="Shape 36"/>
          <p:cNvSpPr/>
          <p:nvPr/>
        </p:nvSpPr>
        <p:spPr>
          <a:xfrm>
            <a:off x="5248656" y="2926080"/>
            <a:ext cx="3264408" cy="3611880"/>
          </a:xfrm>
          <a:prstGeom prst="roundRect">
            <a:avLst>
              <a:gd name="adj" fmla="val 8650"/>
            </a:avLst>
          </a:prstGeom>
          <a:ln w="6350">
            <a:solidFill>
              <a:srgbClr val="D9B48A"/>
            </a:solidFill>
            <a:prstDash val="solid"/>
          </a:ln>
        </p:spPr>
      </p:sp>
      <p:sp>
        <p:nvSpPr>
          <p:cNvPr id="39" name="Shape 37"/>
          <p:cNvSpPr/>
          <p:nvPr/>
        </p:nvSpPr>
        <p:spPr>
          <a:xfrm rot="19800000">
            <a:off x="6833311" y="2661818"/>
            <a:ext cx="95098" cy="95098"/>
          </a:xfrm>
          <a:prstGeom prst="rect">
            <a:avLst/>
          </a:prstGeom>
          <a:solidFill>
            <a:srgbClr val="CC0000"/>
          </a:solidFill>
          <a:ln/>
        </p:spPr>
      </p:sp>
      <p:sp>
        <p:nvSpPr>
          <p:cNvPr id="40" name="Text 38"/>
          <p:cNvSpPr/>
          <p:nvPr/>
        </p:nvSpPr>
        <p:spPr>
          <a:xfrm>
            <a:off x="5358384" y="3017520"/>
            <a:ext cx="155448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Days 31-60</a:t>
            </a:r>
          </a:p>
        </p:txBody>
      </p:sp>
      <p:sp>
        <p:nvSpPr>
          <p:cNvPr id="41" name="Shape 39"/>
          <p:cNvSpPr/>
          <p:nvPr/>
        </p:nvSpPr>
        <p:spPr>
          <a:xfrm>
            <a:off x="6729984" y="3044952"/>
            <a:ext cx="1645920" cy="374904"/>
          </a:xfrm>
          <a:prstGeom prst="roundRect">
            <a:avLst>
              <a:gd name="adj" fmla="val 50000"/>
            </a:avLst>
          </a:prstGeom>
          <a:solidFill>
            <a:srgbClr val="8A0F1A">
              <a:alpha val="15600"/>
            </a:srgbClr>
          </a:solidFill>
          <a:ln w="6350">
            <a:solidFill>
              <a:srgbClr val="D9B48A"/>
            </a:solidFill>
            <a:prstDash val="solid"/>
          </a:ln>
        </p:spPr>
      </p:sp>
      <p:sp>
        <p:nvSpPr>
          <p:cNvPr id="42" name="Text 40"/>
          <p:cNvSpPr/>
          <p:nvPr/>
        </p:nvSpPr>
        <p:spPr>
          <a:xfrm>
            <a:off x="6729984" y="3044952"/>
            <a:ext cx="164592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Lighthouses</a:t>
            </a:r>
          </a:p>
        </p:txBody>
      </p:sp>
      <p:sp>
        <p:nvSpPr>
          <p:cNvPr id="45" name="Shape 43"/>
          <p:cNvSpPr/>
          <p:nvPr/>
        </p:nvSpPr>
        <p:spPr>
          <a:xfrm>
            <a:off x="8622792" y="2926080"/>
            <a:ext cx="3264408" cy="3611880"/>
          </a:xfrm>
          <a:prstGeom prst="roundRect">
            <a:avLst>
              <a:gd name="adj" fmla="val 8650"/>
            </a:avLst>
          </a:prstGeom>
          <a:solidFill>
            <a:srgbClr val="F5B700"/>
          </a:solidFill>
          <a:ln/>
        </p:spPr>
      </p:sp>
      <p:sp>
        <p:nvSpPr>
          <p:cNvPr id="46" name="Shape 44"/>
          <p:cNvSpPr/>
          <p:nvPr/>
        </p:nvSpPr>
        <p:spPr>
          <a:xfrm rot="19800000">
            <a:off x="10207447" y="2661818"/>
            <a:ext cx="95098" cy="95098"/>
          </a:xfrm>
          <a:prstGeom prst="rect">
            <a:avLst/>
          </a:prstGeom>
          <a:solidFill>
            <a:srgbClr val="CC0000"/>
          </a:solidFill>
          <a:ln/>
        </p:spPr>
      </p:sp>
      <p:sp>
        <p:nvSpPr>
          <p:cNvPr id="47" name="Text 45"/>
          <p:cNvSpPr/>
          <p:nvPr/>
        </p:nvSpPr>
        <p:spPr>
          <a:xfrm>
            <a:off x="8732520" y="3017520"/>
            <a:ext cx="1554480" cy="338328"/>
          </a:xfrm>
          <a:prstGeom prst="rect">
            <a:avLst/>
          </a:prstGeom>
          <a:noFill/>
          <a:ln/>
        </p:spPr>
        <p:txBody>
          <a:bodyPr wrap="square" lIns="91440" tIns="45720" rIns="91440" bIns="45720" rtlCol="0" anchor="t">
            <a:spAutoFit/>
          </a:bodyPr>
          <a:lstStyle/>
          <a:p>
            <a:pPr algn="l" indent="0" marL="0">
              <a:buNone/>
            </a:pPr>
            <a:r>
              <a:rPr lang="en-US" sz="1600" dirty="0">
                <a:solidFill>
                  <a:srgbClr val="141010"/>
                </a:solidFill>
                <a:latin typeface="Arial" pitchFamily="34" charset="0"/>
                <a:ea typeface="Arial" pitchFamily="34" charset="-122"/>
                <a:cs typeface="Arial" pitchFamily="34" charset="-120"/>
              </a:rPr>
              <a:t>Days 61-90</a:t>
            </a:r>
          </a:p>
        </p:txBody>
      </p:sp>
      <p:sp>
        <p:nvSpPr>
          <p:cNvPr id="48" name="Shape 46"/>
          <p:cNvSpPr/>
          <p:nvPr/>
        </p:nvSpPr>
        <p:spPr>
          <a:xfrm>
            <a:off x="10104120" y="3044952"/>
            <a:ext cx="1645920" cy="374904"/>
          </a:xfrm>
          <a:prstGeom prst="roundRect">
            <a:avLst>
              <a:gd name="adj" fmla="val 50000"/>
            </a:avLst>
          </a:prstGeom>
          <a:solidFill>
            <a:srgbClr val="FFF1CC">
              </a:srgbClr>
          </a:solidFill>
          <a:ln w="6350">
            <a:solidFill>
              <a:srgbClr val="141010"/>
            </a:solidFill>
            <a:prstDash val="solid"/>
          </a:ln>
        </p:spPr>
      </p:sp>
      <p:sp>
        <p:nvSpPr>
          <p:cNvPr id="49" name="Text 47"/>
          <p:cNvSpPr/>
          <p:nvPr/>
        </p:nvSpPr>
        <p:spPr>
          <a:xfrm>
            <a:off x="10104120" y="3044952"/>
            <a:ext cx="164592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Prove + scale</a:t>
            </a:r>
          </a:p>
        </p:txBody>
      </p:sp>
      <p:sp>
        <p:nvSpPr>
          <p:cNvPr id="98" name="g2 98"/>
          <p:cNvSpPr/>
          <p:nvPr/>
        </p:nvSpPr>
        <p:spPr>
          <a:xfrm>
            <a:off x="6766560" y="1170432"/>
            <a:ext cx="51206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THREE DECISIONS WE NEED FROM LEADERSHIP</a:t>
            </a:r>
          </a:p>
        </p:txBody>
      </p:sp>
      <p:sp>
        <p:nvSpPr>
          <p:cNvPr id="107" name="v2 107"/>
          <p:cNvSpPr/>
          <p:nvPr/>
        </p:nvSpPr>
        <p:spPr>
          <a:xfrm>
            <a:off x="548640" y="352044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5B700"/>
                </a:solidFill>
                <a:latin typeface="Arial"/>
                <a:ea typeface="Arial"/>
                <a:cs typeface="Arial"/>
              </a:rPr>
              <a:t>Lighthouse agents</a:t>
            </a:r>
          </a:p>
        </p:txBody>
      </p:sp>
      <p:sp>
        <p:nvSpPr>
          <p:cNvPr id="108" name="v2 108"/>
          <p:cNvSpPr/>
          <p:nvPr/>
        </p:nvSpPr>
        <p:spPr>
          <a:xfrm>
            <a:off x="1984248" y="352044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F3E6D6"/>
                </a:solidFill>
                <a:latin typeface="Arial"/>
                <a:ea typeface="Arial"/>
                <a:cs typeface="Arial"/>
              </a:rPr>
              <a:t>Pick 2 agents; manifests approved; traces in Galileo with join keys; agent inventory incl. vendor-built (G1)</a:t>
            </a:r>
          </a:p>
        </p:txBody>
      </p:sp>
      <p:sp>
        <p:nvSpPr>
          <p:cNvPr id="109" name="v2 109"/>
          <p:cNvSpPr/>
          <p:nvPr/>
        </p:nvSpPr>
        <p:spPr>
          <a:xfrm>
            <a:off x="5358384" y="352044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Baselines and pass^k recorded; first harness-optimisation run on one agent</a:t>
            </a:r>
          </a:p>
        </p:txBody>
      </p:sp>
      <p:sp>
        <p:nvSpPr>
          <p:cNvPr id="110" name="v2 110"/>
          <p:cNvSpPr/>
          <p:nvPr/>
        </p:nvSpPr>
        <p:spPr>
          <a:xfrm>
            <a:off x="8732520" y="352044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141010"/>
                </a:solidFill>
                <a:latin typeface="Arial"/>
                <a:ea typeface="Arial"/>
                <a:cs typeface="Arial"/>
              </a:rPr>
              <a:t>Both agents through every stage and Live in the registry</a:t>
            </a:r>
          </a:p>
        </p:txBody>
      </p:sp>
      <p:cxnSp>
        <p:nvCxnSpPr>
          <p:cNvPr id="111" name="g1 rule 111"/>
          <p:cNvCxnSpPr/>
          <p:nvPr/>
        </p:nvCxnSpPr>
        <p:spPr>
          <a:xfrm>
            <a:off x="548640" y="4206240"/>
            <a:ext cx="11338560" cy="0"/>
          </a:xfrm>
          <a:prstGeom prst="line">
            <a:avLst/>
          </a:prstGeom>
          <a:ln w="9525">
            <a:solidFill>
              <a:srgbClr val="5A3A2E"/>
            </a:solidFill>
          </a:ln>
        </p:spPr>
      </p:cxnSp>
      <p:sp>
        <p:nvSpPr>
          <p:cNvPr id="112" name="v2 112"/>
          <p:cNvSpPr/>
          <p:nvPr/>
        </p:nvSpPr>
        <p:spPr>
          <a:xfrm>
            <a:off x="548640" y="425196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5B700"/>
                </a:solidFill>
                <a:latin typeface="Arial"/>
                <a:ea typeface="Arial"/>
                <a:cs typeface="Arial"/>
              </a:rPr>
              <a:t>Gap workstreams</a:t>
            </a:r>
          </a:p>
        </p:txBody>
      </p:sp>
      <p:sp>
        <p:nvSpPr>
          <p:cNvPr id="113" name="v2 113"/>
          <p:cNvSpPr/>
          <p:nvPr/>
        </p:nvSpPr>
        <p:spPr>
          <a:xfrm>
            <a:off x="1984248" y="425196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Name owners; red-team tiers and ASR thresholds agreed with security</a:t>
            </a:r>
          </a:p>
        </p:txBody>
      </p:sp>
      <p:sp>
        <p:nvSpPr>
          <p:cNvPr id="114" name="v2 114"/>
          <p:cNvSpPr/>
          <p:nvPr/>
        </p:nvSpPr>
        <p:spPr>
          <a:xfrm>
            <a:off x="5358384" y="425196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F3E6D6"/>
                </a:solidFill>
                <a:latin typeface="Arial"/>
                <a:ea typeface="Arial"/>
                <a:cs typeface="Arial"/>
              </a:rPr>
              <a:t>Red-team pipeline live on EvalHub; Agent Control + MCP gateway on one agent; A2A policy point designed (G3)</a:t>
            </a:r>
          </a:p>
        </p:txBody>
      </p:sp>
      <p:sp>
        <p:nvSpPr>
          <p:cNvPr id="115" name="v2 115"/>
          <p:cNvSpPr/>
          <p:nvPr/>
        </p:nvSpPr>
        <p:spPr>
          <a:xfrm>
            <a:off x="8732520" y="425196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141010"/>
                </a:solidFill>
                <a:latin typeface="Arial"/>
                <a:ea typeface="Arial"/>
                <a:cs typeface="Arial"/>
              </a:rPr>
              <a:t>Kill switch drilled; MAST failure labels in the release gate (G4); Cisco bake-off read-out</a:t>
            </a:r>
          </a:p>
        </p:txBody>
      </p:sp>
      <p:cxnSp>
        <p:nvCxnSpPr>
          <p:cNvPr id="116" name="g1 rule 116"/>
          <p:cNvCxnSpPr/>
          <p:nvPr/>
        </p:nvCxnSpPr>
        <p:spPr>
          <a:xfrm>
            <a:off x="548640" y="4937760"/>
            <a:ext cx="11338560" cy="0"/>
          </a:xfrm>
          <a:prstGeom prst="line">
            <a:avLst/>
          </a:prstGeom>
          <a:ln w="9525">
            <a:solidFill>
              <a:srgbClr val="5A3A2E"/>
            </a:solidFill>
          </a:ln>
        </p:spPr>
      </p:cxnSp>
      <p:sp>
        <p:nvSpPr>
          <p:cNvPr id="117" name="v2 117"/>
          <p:cNvSpPr/>
          <p:nvPr/>
        </p:nvSpPr>
        <p:spPr>
          <a:xfrm>
            <a:off x="548640" y="498348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5B700"/>
                </a:solidFill>
                <a:latin typeface="Arial"/>
                <a:ea typeface="Arial"/>
                <a:cs typeface="Arial"/>
              </a:rPr>
              <a:t>Platform</a:t>
            </a:r>
          </a:p>
        </p:txBody>
      </p:sp>
      <p:sp>
        <p:nvSpPr>
          <p:cNvPr id="118" name="v2 118"/>
          <p:cNvSpPr/>
          <p:nvPr/>
        </p:nvSpPr>
        <p:spPr>
          <a:xfrm>
            <a:off x="1984248" y="498348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Developer Hub onboarding template; OTel dual export to the lake</a:t>
            </a:r>
          </a:p>
        </p:txBody>
      </p:sp>
      <p:sp>
        <p:nvSpPr>
          <p:cNvPr id="119" name="v2 119"/>
          <p:cNvSpPr/>
          <p:nvPr/>
        </p:nvSpPr>
        <p:spPr>
          <a:xfrm>
            <a:off x="5358384" y="498348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F3E6D6"/>
                </a:solidFill>
                <a:latin typeface="Arial"/>
                <a:ea typeface="Arial"/>
                <a:cs typeface="Arial"/>
              </a:rPr>
              <a:t>Registry v1 with autonomy level + retire (G2, G13); Mods Hub v1 with pillar-governance on lighthouse agents</a:t>
            </a:r>
          </a:p>
        </p:txBody>
      </p:sp>
      <p:sp>
        <p:nvSpPr>
          <p:cNvPr id="120" name="v2 120"/>
          <p:cNvSpPr/>
          <p:nvPr/>
        </p:nvSpPr>
        <p:spPr>
          <a:xfrm>
            <a:off x="8732520" y="498348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950" dirty="0">
                <a:solidFill>
                  <a:srgbClr val="141010"/>
                </a:solidFill>
                <a:latin typeface="Arial"/>
                <a:ea typeface="Arial"/>
                <a:cs typeface="Arial"/>
              </a:rPr>
              <a:t>Promotion gates + evidence bundle automated; GRC sync live; vendor evidence contract (G9)</a:t>
            </a:r>
          </a:p>
        </p:txBody>
      </p:sp>
      <p:cxnSp>
        <p:nvCxnSpPr>
          <p:cNvPr id="121" name="g1 rule 121"/>
          <p:cNvCxnSpPr/>
          <p:nvPr/>
        </p:nvCxnSpPr>
        <p:spPr>
          <a:xfrm>
            <a:off x="548640" y="5669280"/>
            <a:ext cx="11338560" cy="0"/>
          </a:xfrm>
          <a:prstGeom prst="line">
            <a:avLst/>
          </a:prstGeom>
          <a:ln w="9525">
            <a:solidFill>
              <a:srgbClr val="5A3A2E"/>
            </a:solidFill>
          </a:ln>
        </p:spPr>
      </p:cxnSp>
      <p:sp>
        <p:nvSpPr>
          <p:cNvPr id="122" name="v2 122"/>
          <p:cNvSpPr/>
          <p:nvPr/>
        </p:nvSpPr>
        <p:spPr>
          <a:xfrm>
            <a:off x="548640" y="5715000"/>
            <a:ext cx="1234440" cy="640080"/>
          </a:xfrm>
          <a:prstGeom prst="rect">
            <a:avLst/>
          </a:prstGeom>
          <a:noFill/>
          <a:ln>
            <a:noFill/>
          </a:ln>
        </p:spPr>
        <p:txBody>
          <a:bodyPr wrap="square" lIns="0" tIns="0" rIns="0" bIns="0" rtlCol="0" anchor="ctr">
            <a:noAutofit/>
          </a:bodyPr>
          <a:lstStyle/>
          <a:p>
            <a:pPr algn="l" marL="0" indent="0">
              <a:buNone/>
            </a:pPr>
            <a:r>
              <a:rPr lang="en-US" sz="1100" b="1" dirty="0">
                <a:solidFill>
                  <a:srgbClr val="FFFFFF"/>
                </a:solidFill>
                <a:latin typeface="Arial"/>
                <a:ea typeface="Arial"/>
                <a:cs typeface="Arial"/>
              </a:rPr>
              <a:t>KPIs</a:t>
            </a:r>
          </a:p>
        </p:txBody>
      </p:sp>
      <p:sp>
        <p:nvSpPr>
          <p:cNvPr id="123" name="v2 123"/>
          <p:cNvSpPr/>
          <p:nvPr/>
        </p:nvSpPr>
        <p:spPr>
          <a:xfrm>
            <a:off x="1984248" y="571500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Agents with a manifest · % traffic carrying join keys</a:t>
            </a:r>
          </a:p>
        </p:txBody>
      </p:sp>
      <p:sp>
        <p:nvSpPr>
          <p:cNvPr id="124" name="v2 124"/>
          <p:cNvSpPr/>
          <p:nvPr/>
        </p:nvSpPr>
        <p:spPr>
          <a:xfrm>
            <a:off x="5358384" y="571500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F3E6D6"/>
                </a:solidFill>
                <a:latin typeface="Arial"/>
                <a:ea typeface="Arial"/>
                <a:cs typeface="Arial"/>
              </a:rPr>
              <a:t>Gated releases · held-out uplift from harness optimisation · % agents with governance mods loaded</a:t>
            </a:r>
          </a:p>
        </p:txBody>
      </p:sp>
      <p:sp>
        <p:nvSpPr>
          <p:cNvPr id="125" name="v2 125"/>
          <p:cNvSpPr/>
          <p:nvPr/>
        </p:nvSpPr>
        <p:spPr>
          <a:xfrm>
            <a:off x="8732520" y="5715000"/>
            <a:ext cx="3044952" cy="640080"/>
          </a:xfrm>
          <a:prstGeom prst="rect">
            <a:avLst/>
          </a:prstGeom>
          <a:noFill/>
          <a:ln>
            <a:noFill/>
          </a:ln>
        </p:spPr>
        <p:txBody>
          <a:bodyPr wrap="square" lIns="0" tIns="0" rIns="0" bIns="0" rtlCol="0" anchor="ctr">
            <a:noAutofit/>
          </a:bodyPr>
          <a:lstStyle/>
          <a:p>
            <a:pPr algn="l" marL="0" indent="0">
              <a:lnSpc>
                <a:spcPct val="105000"/>
              </a:lnSpc>
              <a:buNone/>
            </a:pPr>
            <a:r>
              <a:rPr lang="en-US" sz="1000" dirty="0">
                <a:solidFill>
                  <a:srgbClr val="141010"/>
                </a:solidFill>
                <a:latin typeface="Arial"/>
                <a:ea typeface="Arial"/>
                <a:cs typeface="Arial"/>
              </a:rPr>
              <a:t>Onboarding lead time · ASR trend · evidence bundles auto-built</a:t>
            </a:r>
          </a:p>
        </p:txBody>
      </p:sp>
      <p:sp>
        <p:nvSpPr>
          <p:cNvPr id="126" name="g2 126"/>
          <p:cNvSpPr/>
          <p:nvPr/>
        </p:nvSpPr>
        <p:spPr>
          <a:xfrm>
            <a:off x="548640" y="6556248"/>
            <a:ext cx="11338560" cy="228600"/>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Fine-tuning is not in the 90 days: one Training Hub pilot only if harness optimisation plateaus and a cost case exists. Milestones are our proposal.</a:t>
            </a:r>
          </a:p>
        </p:txBody>
      </p:sp>
      <p:sp>
        <p:nvSpPr>
          <p:cNvPr id="128" name="g2 128"/>
          <p:cNvSpPr/>
          <p:nvPr/>
        </p:nvSpPr>
        <p:spPr>
          <a:xfrm>
            <a:off x="6766560" y="1389888"/>
            <a:ext cx="1627632" cy="11887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00" b="1" dirty="0">
                <a:solidFill>
                  <a:srgbClr val="141010"/>
                </a:solidFill>
                <a:latin typeface="Arial"/>
                <a:ea typeface="Arial"/>
                <a:cs typeface="Arial"/>
              </a:rPr>
              <a:t>01  Endorse one loop</a:t>
            </a:r>
          </a:p>
          <a:p>
            <a:pPr algn="l" marL="0" indent="0">
              <a:lnSpc>
                <a:spcPct val="100000"/>
              </a:lnSpc>
              <a:buNone/>
            </a:pPr>
            <a:r>
              <a:rPr lang="en-US" sz="850" dirty="0">
                <a:solidFill>
                  <a:srgbClr val="141010"/>
                </a:solidFill>
                <a:latin typeface="Arial"/>
                <a:ea typeface="Arial"/>
                <a:cs typeface="Arial"/>
              </a:rPr>
              <a:t>11 steps, one onboarding contract; integrate with what already runs</a:t>
            </a:r>
          </a:p>
        </p:txBody>
      </p:sp>
      <p:sp>
        <p:nvSpPr>
          <p:cNvPr id="129" name="g2 129"/>
          <p:cNvSpPr/>
          <p:nvPr/>
        </p:nvSpPr>
        <p:spPr>
          <a:xfrm>
            <a:off x="8531352" y="1389888"/>
            <a:ext cx="1627632" cy="11887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02  Staff 3 gap workstreams</a:t>
            </a:r>
          </a:p>
          <a:p>
            <a:pPr algn="l" marL="0" indent="0">
              <a:lnSpc>
                <a:spcPct val="100000"/>
              </a:lnSpc>
              <a:buNone/>
            </a:pPr>
            <a:r>
              <a:rPr lang="en-US" sz="850" dirty="0">
                <a:solidFill>
                  <a:srgbClr val="F3E6D6"/>
                </a:solidFill>
                <a:latin typeface="Arial"/>
                <a:ea typeface="Arial"/>
                <a:cs typeface="Arial"/>
              </a:rPr>
              <a:t>red teaming · runtime control incl. A2A policy point · agent governance incl. autonomy level + retire</a:t>
            </a:r>
          </a:p>
        </p:txBody>
      </p:sp>
      <p:sp>
        <p:nvSpPr>
          <p:cNvPr id="130" name="g2 130"/>
          <p:cNvSpPr/>
          <p:nvPr/>
        </p:nvSpPr>
        <p:spPr>
          <a:xfrm>
            <a:off x="10296144" y="1389888"/>
            <a:ext cx="1627632" cy="11887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00" b="1" dirty="0">
                <a:solidFill>
                  <a:srgbClr val="FFFFFF"/>
                </a:solidFill>
                <a:latin typeface="Arial"/>
                <a:ea typeface="Arial"/>
                <a:cs typeface="Arial"/>
              </a:rPr>
              <a:t>03  Mandate the manifest</a:t>
            </a:r>
          </a:p>
          <a:p>
            <a:pPr algn="l" marL="0" indent="0">
              <a:lnSpc>
                <a:spcPct val="100000"/>
              </a:lnSpc>
              <a:buNone/>
            </a:pPr>
            <a:r>
              <a:rPr lang="en-US" sz="850" dirty="0">
                <a:solidFill>
                  <a:srgbClr val="F3E6D6"/>
                </a:solidFill>
                <a:latin typeface="Arial"/>
                <a:ea typeface="Arial"/>
                <a:cs typeface="Arial"/>
              </a:rPr>
              <a:t>no agent in production without one, ours or vendor-built; ≤ 2 weeks for a low tier</a:t>
            </a:r>
          </a:p>
        </p:txBody>
      </p:sp>
      <p:sp>
        <p:nvSpPr>
          <p:cNvPr id="13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36 / 44</a:t>
            </a:r>
          </a:p>
        </p:txBody>
      </p:sp>
      <p:sp>
        <p:nvSpPr>
          <p:cNvPr id="13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3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sp>
      <p:sp>
        <p:nvSpPr>
          <p:cNvPr id="3" name="Shape 1"/>
          <p:cNvSpPr/>
          <p:nvPr/>
        </p:nvSpPr>
        <p:spPr>
          <a:xfrm>
            <a:off x="3846366" y="-6173629"/>
            <a:ext cx="8262633" cy="8262633"/>
          </a:xfrm>
          <a:prstGeom prst="ellipse">
            <a:avLst/>
          </a:prstGeom>
          <a:solidFill>
            <a:srgbClr val="8A0F1A">
              <a:alpha val="4218"/>
            </a:srgbClr>
          </a:solidFill>
          <a:ln/>
        </p:spPr>
      </p:sp>
      <p:sp>
        <p:nvSpPr>
          <p:cNvPr id="4" name="Shape 2"/>
          <p:cNvSpPr/>
          <p:nvPr/>
        </p:nvSpPr>
        <p:spPr>
          <a:xfrm>
            <a:off x="4025989" y="-5994006"/>
            <a:ext cx="7903388" cy="7903388"/>
          </a:xfrm>
          <a:prstGeom prst="ellipse">
            <a:avLst/>
          </a:prstGeom>
          <a:solidFill>
            <a:srgbClr val="8A0F1A">
              <a:alpha val="4138"/>
            </a:srgbClr>
          </a:solidFill>
          <a:ln/>
        </p:spPr>
      </p:sp>
      <p:sp>
        <p:nvSpPr>
          <p:cNvPr id="5" name="Shape 3"/>
          <p:cNvSpPr/>
          <p:nvPr/>
        </p:nvSpPr>
        <p:spPr>
          <a:xfrm>
            <a:off x="4205611" y="-5814384"/>
            <a:ext cx="7544143" cy="7544143"/>
          </a:xfrm>
          <a:prstGeom prst="ellipse">
            <a:avLst/>
          </a:prstGeom>
          <a:solidFill>
            <a:srgbClr val="8A0F1A">
              <a:alpha val="2636"/>
            </a:srgbClr>
          </a:solidFill>
          <a:ln/>
        </p:spPr>
      </p:sp>
      <p:sp>
        <p:nvSpPr>
          <p:cNvPr id="6" name="Shape 4"/>
          <p:cNvSpPr/>
          <p:nvPr/>
        </p:nvSpPr>
        <p:spPr>
          <a:xfrm>
            <a:off x="4385234" y="-5634761"/>
            <a:ext cx="7184898" cy="7184898"/>
          </a:xfrm>
          <a:prstGeom prst="ellipse">
            <a:avLst/>
          </a:prstGeom>
          <a:solidFill>
            <a:srgbClr val="8A0F1A">
              <a:alpha val="2661"/>
            </a:srgbClr>
          </a:solidFill>
          <a:ln/>
        </p:spPr>
      </p:sp>
      <p:sp>
        <p:nvSpPr>
          <p:cNvPr id="7" name="Shape 5"/>
          <p:cNvSpPr/>
          <p:nvPr/>
        </p:nvSpPr>
        <p:spPr>
          <a:xfrm>
            <a:off x="4564856" y="-5455139"/>
            <a:ext cx="6825653" cy="6825653"/>
          </a:xfrm>
          <a:prstGeom prst="ellipse">
            <a:avLst/>
          </a:prstGeom>
          <a:solidFill>
            <a:srgbClr val="8A0F1A">
              <a:alpha val="3304"/>
            </a:srgbClr>
          </a:solidFill>
          <a:ln/>
        </p:spPr>
      </p:sp>
      <p:sp>
        <p:nvSpPr>
          <p:cNvPr id="8" name="Shape 6"/>
          <p:cNvSpPr/>
          <p:nvPr/>
        </p:nvSpPr>
        <p:spPr>
          <a:xfrm>
            <a:off x="4744479" y="-5275516"/>
            <a:ext cx="6466408" cy="6466408"/>
          </a:xfrm>
          <a:prstGeom prst="ellipse">
            <a:avLst/>
          </a:prstGeom>
          <a:solidFill>
            <a:srgbClr val="8A0F1A">
              <a:alpha val="3622"/>
            </a:srgbClr>
          </a:solidFill>
          <a:ln/>
        </p:spPr>
      </p:sp>
      <p:sp>
        <p:nvSpPr>
          <p:cNvPr id="9" name="Shape 7"/>
          <p:cNvSpPr/>
          <p:nvPr/>
        </p:nvSpPr>
        <p:spPr>
          <a:xfrm>
            <a:off x="4924101" y="-5095894"/>
            <a:ext cx="6107163" cy="6107163"/>
          </a:xfrm>
          <a:prstGeom prst="ellipse">
            <a:avLst/>
          </a:prstGeom>
          <a:solidFill>
            <a:srgbClr val="8A0F1A">
              <a:alpha val="3650"/>
            </a:srgbClr>
          </a:solidFill>
          <a:ln/>
        </p:spPr>
      </p:sp>
      <p:sp>
        <p:nvSpPr>
          <p:cNvPr id="10" name="Shape 8"/>
          <p:cNvSpPr/>
          <p:nvPr/>
        </p:nvSpPr>
        <p:spPr>
          <a:xfrm>
            <a:off x="5103724" y="-4916272"/>
            <a:ext cx="5747918" cy="5747918"/>
          </a:xfrm>
          <a:prstGeom prst="ellipse">
            <a:avLst/>
          </a:prstGeom>
          <a:solidFill>
            <a:srgbClr val="8A0F1A">
              <a:alpha val="3631"/>
            </a:srgbClr>
          </a:solidFill>
          <a:ln/>
        </p:spPr>
      </p:sp>
      <p:sp>
        <p:nvSpPr>
          <p:cNvPr id="11" name="Shape 9"/>
          <p:cNvSpPr/>
          <p:nvPr/>
        </p:nvSpPr>
        <p:spPr>
          <a:xfrm>
            <a:off x="5283346" y="-4736649"/>
            <a:ext cx="5388674" cy="5388674"/>
          </a:xfrm>
          <a:prstGeom prst="ellipse">
            <a:avLst/>
          </a:prstGeom>
          <a:solidFill>
            <a:srgbClr val="8A0F1A">
              <a:alpha val="3693"/>
            </a:srgbClr>
          </a:solidFill>
          <a:ln/>
        </p:spPr>
      </p:sp>
      <p:sp>
        <p:nvSpPr>
          <p:cNvPr id="12" name="Shape 10"/>
          <p:cNvSpPr/>
          <p:nvPr/>
        </p:nvSpPr>
        <p:spPr>
          <a:xfrm>
            <a:off x="5462968" y="-4557027"/>
            <a:ext cx="5029429" cy="5029429"/>
          </a:xfrm>
          <a:prstGeom prst="ellipse">
            <a:avLst/>
          </a:prstGeom>
          <a:solidFill>
            <a:srgbClr val="8A0F1A">
              <a:alpha val="4536"/>
            </a:srgbClr>
          </a:solidFill>
          <a:ln/>
        </p:spPr>
      </p:sp>
      <p:sp>
        <p:nvSpPr>
          <p:cNvPr id="13" name="Shape 11"/>
          <p:cNvSpPr/>
          <p:nvPr/>
        </p:nvSpPr>
        <p:spPr>
          <a:xfrm>
            <a:off x="5642591" y="-4377404"/>
            <a:ext cx="4670184" cy="4670184"/>
          </a:xfrm>
          <a:prstGeom prst="ellipse">
            <a:avLst/>
          </a:prstGeom>
          <a:solidFill>
            <a:srgbClr val="8A0F1A">
              <a:alpha val="4737"/>
            </a:srgbClr>
          </a:solidFill>
          <a:ln/>
        </p:spPr>
      </p:sp>
      <p:sp>
        <p:nvSpPr>
          <p:cNvPr id="14" name="Shape 12"/>
          <p:cNvSpPr/>
          <p:nvPr/>
        </p:nvSpPr>
        <p:spPr>
          <a:xfrm>
            <a:off x="5822213" y="-4197782"/>
            <a:ext cx="4310939" cy="4310939"/>
          </a:xfrm>
          <a:prstGeom prst="ellipse">
            <a:avLst/>
          </a:prstGeom>
          <a:solidFill>
            <a:srgbClr val="8A0F1A">
              <a:alpha val="4994"/>
            </a:srgbClr>
          </a:solidFill>
          <a:ln/>
        </p:spPr>
      </p:sp>
      <p:sp>
        <p:nvSpPr>
          <p:cNvPr id="15" name="Shape 13"/>
          <p:cNvSpPr/>
          <p:nvPr/>
        </p:nvSpPr>
        <p:spPr>
          <a:xfrm>
            <a:off x="6001836" y="-4018159"/>
            <a:ext cx="3951694" cy="3951694"/>
          </a:xfrm>
          <a:prstGeom prst="ellipse">
            <a:avLst/>
          </a:prstGeom>
          <a:solidFill>
            <a:srgbClr val="8A0F1A">
              <a:alpha val="5272"/>
            </a:srgbClr>
          </a:solidFill>
          <a:ln/>
        </p:spPr>
      </p:sp>
      <p:sp>
        <p:nvSpPr>
          <p:cNvPr id="16" name="Shape 14"/>
          <p:cNvSpPr/>
          <p:nvPr/>
        </p:nvSpPr>
        <p:spPr>
          <a:xfrm>
            <a:off x="6181458" y="-3838537"/>
            <a:ext cx="3592449" cy="3592449"/>
          </a:xfrm>
          <a:prstGeom prst="ellipse">
            <a:avLst/>
          </a:prstGeom>
          <a:solidFill>
            <a:srgbClr val="8A0F1A">
              <a:alpha val="5521"/>
            </a:srgbClr>
          </a:solidFill>
          <a:ln/>
        </p:spPr>
      </p:sp>
      <p:sp>
        <p:nvSpPr>
          <p:cNvPr id="17" name="Shape 15"/>
          <p:cNvSpPr/>
          <p:nvPr/>
        </p:nvSpPr>
        <p:spPr>
          <a:xfrm>
            <a:off x="6361081" y="-3658914"/>
            <a:ext cx="3233204" cy="3233204"/>
          </a:xfrm>
          <a:prstGeom prst="ellipse">
            <a:avLst/>
          </a:prstGeom>
          <a:solidFill>
            <a:srgbClr val="8A0F1A">
              <a:alpha val="6496"/>
            </a:srgbClr>
          </a:solidFill>
          <a:ln/>
        </p:spPr>
      </p:sp>
      <p:sp>
        <p:nvSpPr>
          <p:cNvPr id="18" name="Shape 16"/>
          <p:cNvSpPr/>
          <p:nvPr/>
        </p:nvSpPr>
        <p:spPr>
          <a:xfrm>
            <a:off x="6540703" y="-3479292"/>
            <a:ext cx="2873959" cy="2873959"/>
          </a:xfrm>
          <a:prstGeom prst="ellipse">
            <a:avLst/>
          </a:prstGeom>
          <a:solidFill>
            <a:srgbClr val="8A0F1A">
              <a:alpha val="6768"/>
            </a:srgbClr>
          </a:solidFill>
          <a:ln/>
        </p:spPr>
      </p:sp>
      <p:sp>
        <p:nvSpPr>
          <p:cNvPr id="19" name="Shape 17"/>
          <p:cNvSpPr/>
          <p:nvPr/>
        </p:nvSpPr>
        <p:spPr>
          <a:xfrm>
            <a:off x="6720326" y="-3299670"/>
            <a:ext cx="2514714" cy="2514714"/>
          </a:xfrm>
          <a:prstGeom prst="ellipse">
            <a:avLst/>
          </a:prstGeom>
          <a:solidFill>
            <a:srgbClr val="8A0F1A">
              <a:alpha val="7123"/>
            </a:srgbClr>
          </a:solidFill>
          <a:ln/>
        </p:spPr>
      </p:sp>
      <p:sp>
        <p:nvSpPr>
          <p:cNvPr id="20" name="Shape 18"/>
          <p:cNvSpPr/>
          <p:nvPr/>
        </p:nvSpPr>
        <p:spPr>
          <a:xfrm>
            <a:off x="6899948" y="-3120047"/>
            <a:ext cx="2155469" cy="2155469"/>
          </a:xfrm>
          <a:prstGeom prst="ellipse">
            <a:avLst/>
          </a:prstGeom>
          <a:solidFill>
            <a:srgbClr val="8A0F1A">
              <a:alpha val="7486"/>
            </a:srgbClr>
          </a:solidFill>
          <a:ln/>
        </p:spPr>
      </p:sp>
      <p:sp>
        <p:nvSpPr>
          <p:cNvPr id="21" name="Shape 19"/>
          <p:cNvSpPr/>
          <p:nvPr/>
        </p:nvSpPr>
        <p:spPr>
          <a:xfrm>
            <a:off x="7079571" y="-2940425"/>
            <a:ext cx="1796225" cy="1796225"/>
          </a:xfrm>
          <a:prstGeom prst="ellipse">
            <a:avLst/>
          </a:prstGeom>
          <a:solidFill>
            <a:srgbClr val="8A0F1A">
              <a:alpha val="8191"/>
            </a:srgbClr>
          </a:solidFill>
          <a:ln/>
        </p:spPr>
      </p:sp>
      <p:sp>
        <p:nvSpPr>
          <p:cNvPr id="22" name="Shape 20"/>
          <p:cNvSpPr/>
          <p:nvPr/>
        </p:nvSpPr>
        <p:spPr>
          <a:xfrm>
            <a:off x="7259193" y="-2760802"/>
            <a:ext cx="1436980" cy="1436980"/>
          </a:xfrm>
          <a:prstGeom prst="ellipse">
            <a:avLst/>
          </a:prstGeom>
          <a:solidFill>
            <a:srgbClr val="8A0F1A">
              <a:alpha val="9466"/>
            </a:srgbClr>
          </a:solidFill>
          <a:ln/>
        </p:spPr>
      </p:sp>
      <p:sp>
        <p:nvSpPr>
          <p:cNvPr id="23" name="Shape 21"/>
          <p:cNvSpPr/>
          <p:nvPr/>
        </p:nvSpPr>
        <p:spPr>
          <a:xfrm>
            <a:off x="7438815" y="-2581180"/>
            <a:ext cx="1077735" cy="1077735"/>
          </a:xfrm>
          <a:prstGeom prst="ellipse">
            <a:avLst/>
          </a:prstGeom>
          <a:solidFill>
            <a:srgbClr val="8A0F1A">
              <a:alpha val="10120"/>
            </a:srgbClr>
          </a:solidFill>
          <a:ln/>
        </p:spPr>
      </p:sp>
      <p:sp>
        <p:nvSpPr>
          <p:cNvPr id="24" name="Shape 22"/>
          <p:cNvSpPr/>
          <p:nvPr/>
        </p:nvSpPr>
        <p:spPr>
          <a:xfrm>
            <a:off x="7618438" y="-2401557"/>
            <a:ext cx="718490" cy="718490"/>
          </a:xfrm>
          <a:prstGeom prst="ellipse">
            <a:avLst/>
          </a:prstGeom>
          <a:solidFill>
            <a:srgbClr val="8A0F1A">
              <a:alpha val="10280"/>
            </a:srgbClr>
          </a:solidFill>
          <a:ln/>
        </p:spPr>
      </p:sp>
      <p:sp>
        <p:nvSpPr>
          <p:cNvPr id="25" name="Shape 23"/>
          <p:cNvSpPr/>
          <p:nvPr/>
        </p:nvSpPr>
        <p:spPr>
          <a:xfrm>
            <a:off x="7798060" y="-2221935"/>
            <a:ext cx="359245" cy="359245"/>
          </a:xfrm>
          <a:prstGeom prst="ellipse">
            <a:avLst/>
          </a:prstGeom>
          <a:solidFill>
            <a:srgbClr val="8A0F1A">
              <a:alpha val="10999"/>
            </a:srgbClr>
          </a:solidFill>
          <a:ln/>
        </p:spPr>
      </p:sp>
      <p:sp>
        <p:nvSpPr>
          <p:cNvPr id="26" name="Shape 24"/>
          <p:cNvSpPr/>
          <p:nvPr/>
        </p:nvSpPr>
        <p:spPr>
          <a:xfrm>
            <a:off x="-3646627" y="4202582"/>
            <a:ext cx="8621878" cy="8621878"/>
          </a:xfrm>
          <a:prstGeom prst="ellipse">
            <a:avLst/>
          </a:prstGeom>
          <a:solidFill>
            <a:srgbClr val="8A0F1A">
              <a:alpha val="2547"/>
            </a:srgbClr>
          </a:solidFill>
          <a:ln/>
        </p:spPr>
      </p:sp>
      <p:sp>
        <p:nvSpPr>
          <p:cNvPr id="27" name="Shape 25"/>
          <p:cNvSpPr/>
          <p:nvPr/>
        </p:nvSpPr>
        <p:spPr>
          <a:xfrm>
            <a:off x="-3467005" y="4382205"/>
            <a:ext cx="8262633" cy="8262633"/>
          </a:xfrm>
          <a:prstGeom prst="ellipse">
            <a:avLst/>
          </a:prstGeom>
          <a:solidFill>
            <a:srgbClr val="8A0F1A">
              <a:alpha val="4218"/>
            </a:srgbClr>
          </a:solidFill>
          <a:ln/>
        </p:spPr>
      </p:sp>
      <p:sp>
        <p:nvSpPr>
          <p:cNvPr id="28" name="Shape 26"/>
          <p:cNvSpPr/>
          <p:nvPr/>
        </p:nvSpPr>
        <p:spPr>
          <a:xfrm>
            <a:off x="-3287382" y="4561827"/>
            <a:ext cx="7903388" cy="7903388"/>
          </a:xfrm>
          <a:prstGeom prst="ellipse">
            <a:avLst/>
          </a:prstGeom>
          <a:solidFill>
            <a:srgbClr val="8A0F1A">
              <a:alpha val="4138"/>
            </a:srgbClr>
          </a:solidFill>
          <a:ln/>
        </p:spPr>
      </p:sp>
      <p:sp>
        <p:nvSpPr>
          <p:cNvPr id="29" name="Shape 27"/>
          <p:cNvSpPr/>
          <p:nvPr/>
        </p:nvSpPr>
        <p:spPr>
          <a:xfrm>
            <a:off x="-3107760" y="4741450"/>
            <a:ext cx="7544143" cy="7544143"/>
          </a:xfrm>
          <a:prstGeom prst="ellipse">
            <a:avLst/>
          </a:prstGeom>
          <a:solidFill>
            <a:srgbClr val="8A0F1A">
              <a:alpha val="2636"/>
            </a:srgbClr>
          </a:solidFill>
          <a:ln/>
        </p:spPr>
      </p:sp>
      <p:sp>
        <p:nvSpPr>
          <p:cNvPr id="30" name="Shape 28"/>
          <p:cNvSpPr/>
          <p:nvPr/>
        </p:nvSpPr>
        <p:spPr>
          <a:xfrm>
            <a:off x="-2928137" y="4921072"/>
            <a:ext cx="7184898" cy="7184898"/>
          </a:xfrm>
          <a:prstGeom prst="ellipse">
            <a:avLst/>
          </a:prstGeom>
          <a:solidFill>
            <a:srgbClr val="8A0F1A">
              <a:alpha val="2661"/>
            </a:srgbClr>
          </a:solidFill>
          <a:ln/>
        </p:spPr>
      </p:sp>
      <p:sp>
        <p:nvSpPr>
          <p:cNvPr id="31" name="Shape 29"/>
          <p:cNvSpPr/>
          <p:nvPr/>
        </p:nvSpPr>
        <p:spPr>
          <a:xfrm>
            <a:off x="-2748515" y="5100695"/>
            <a:ext cx="6825653" cy="6825653"/>
          </a:xfrm>
          <a:prstGeom prst="ellipse">
            <a:avLst/>
          </a:prstGeom>
          <a:solidFill>
            <a:srgbClr val="8A0F1A">
              <a:alpha val="3304"/>
            </a:srgbClr>
          </a:solidFill>
          <a:ln/>
        </p:spPr>
      </p:sp>
      <p:sp>
        <p:nvSpPr>
          <p:cNvPr id="32" name="Shape 30"/>
          <p:cNvSpPr/>
          <p:nvPr/>
        </p:nvSpPr>
        <p:spPr>
          <a:xfrm>
            <a:off x="-2568892" y="5280317"/>
            <a:ext cx="6466408" cy="6466408"/>
          </a:xfrm>
          <a:prstGeom prst="ellipse">
            <a:avLst/>
          </a:prstGeom>
          <a:solidFill>
            <a:srgbClr val="8A0F1A">
              <a:alpha val="3622"/>
            </a:srgbClr>
          </a:solidFill>
          <a:ln/>
        </p:spPr>
      </p:sp>
      <p:sp>
        <p:nvSpPr>
          <p:cNvPr id="33" name="Shape 31"/>
          <p:cNvSpPr/>
          <p:nvPr/>
        </p:nvSpPr>
        <p:spPr>
          <a:xfrm>
            <a:off x="-2389270" y="5459940"/>
            <a:ext cx="6107163" cy="6107163"/>
          </a:xfrm>
          <a:prstGeom prst="ellipse">
            <a:avLst/>
          </a:prstGeom>
          <a:solidFill>
            <a:srgbClr val="8A0F1A">
              <a:alpha val="3650"/>
            </a:srgbClr>
          </a:solidFill>
          <a:ln/>
        </p:spPr>
      </p:sp>
      <p:sp>
        <p:nvSpPr>
          <p:cNvPr id="34" name="Shape 32"/>
          <p:cNvSpPr/>
          <p:nvPr/>
        </p:nvSpPr>
        <p:spPr>
          <a:xfrm>
            <a:off x="-2209648" y="5639562"/>
            <a:ext cx="5747918" cy="5747918"/>
          </a:xfrm>
          <a:prstGeom prst="ellipse">
            <a:avLst/>
          </a:prstGeom>
          <a:solidFill>
            <a:srgbClr val="8A0F1A">
              <a:alpha val="3631"/>
            </a:srgbClr>
          </a:solidFill>
          <a:ln/>
        </p:spPr>
      </p:sp>
      <p:sp>
        <p:nvSpPr>
          <p:cNvPr id="35" name="Shape 33"/>
          <p:cNvSpPr/>
          <p:nvPr/>
        </p:nvSpPr>
        <p:spPr>
          <a:xfrm>
            <a:off x="-2030025" y="5819184"/>
            <a:ext cx="5388674" cy="5388674"/>
          </a:xfrm>
          <a:prstGeom prst="ellipse">
            <a:avLst/>
          </a:prstGeom>
          <a:solidFill>
            <a:srgbClr val="8A0F1A">
              <a:alpha val="3693"/>
            </a:srgbClr>
          </a:solidFill>
          <a:ln/>
        </p:spPr>
      </p:sp>
      <p:sp>
        <p:nvSpPr>
          <p:cNvPr id="36" name="Shape 34"/>
          <p:cNvSpPr/>
          <p:nvPr/>
        </p:nvSpPr>
        <p:spPr>
          <a:xfrm>
            <a:off x="-1850403" y="5998807"/>
            <a:ext cx="5029429" cy="5029429"/>
          </a:xfrm>
          <a:prstGeom prst="ellipse">
            <a:avLst/>
          </a:prstGeom>
          <a:solidFill>
            <a:srgbClr val="8A0F1A">
              <a:alpha val="4536"/>
            </a:srgbClr>
          </a:solidFill>
          <a:ln/>
        </p:spPr>
      </p:sp>
      <p:sp>
        <p:nvSpPr>
          <p:cNvPr id="37" name="Shape 35"/>
          <p:cNvSpPr/>
          <p:nvPr/>
        </p:nvSpPr>
        <p:spPr>
          <a:xfrm>
            <a:off x="-1670780" y="6178429"/>
            <a:ext cx="4670184" cy="4670184"/>
          </a:xfrm>
          <a:prstGeom prst="ellipse">
            <a:avLst/>
          </a:prstGeom>
          <a:solidFill>
            <a:srgbClr val="8A0F1A">
              <a:alpha val="4737"/>
            </a:srgbClr>
          </a:solidFill>
          <a:ln/>
        </p:spPr>
      </p:sp>
      <p:sp>
        <p:nvSpPr>
          <p:cNvPr id="38" name="Shape 36"/>
          <p:cNvSpPr/>
          <p:nvPr/>
        </p:nvSpPr>
        <p:spPr>
          <a:xfrm>
            <a:off x="-1491158" y="6358052"/>
            <a:ext cx="4310939" cy="4310939"/>
          </a:xfrm>
          <a:prstGeom prst="ellipse">
            <a:avLst/>
          </a:prstGeom>
          <a:solidFill>
            <a:srgbClr val="8A0F1A">
              <a:alpha val="4994"/>
            </a:srgbClr>
          </a:solidFill>
          <a:ln/>
        </p:spPr>
      </p:sp>
      <p:sp>
        <p:nvSpPr>
          <p:cNvPr id="39" name="Shape 37"/>
          <p:cNvSpPr/>
          <p:nvPr/>
        </p:nvSpPr>
        <p:spPr>
          <a:xfrm>
            <a:off x="-1311535" y="6537674"/>
            <a:ext cx="3951694" cy="3951694"/>
          </a:xfrm>
          <a:prstGeom prst="ellipse">
            <a:avLst/>
          </a:prstGeom>
          <a:solidFill>
            <a:srgbClr val="8A0F1A">
              <a:alpha val="5272"/>
            </a:srgbClr>
          </a:solidFill>
          <a:ln/>
        </p:spPr>
      </p:sp>
      <p:sp>
        <p:nvSpPr>
          <p:cNvPr id="40" name="Shape 38"/>
          <p:cNvSpPr/>
          <p:nvPr/>
        </p:nvSpPr>
        <p:spPr>
          <a:xfrm>
            <a:off x="-1131913" y="6717297"/>
            <a:ext cx="3592449" cy="3592449"/>
          </a:xfrm>
          <a:prstGeom prst="ellipse">
            <a:avLst/>
          </a:prstGeom>
          <a:solidFill>
            <a:srgbClr val="8A0F1A">
              <a:alpha val="5521"/>
            </a:srgbClr>
          </a:solidFill>
          <a:ln/>
        </p:spPr>
      </p:sp>
      <p:sp>
        <p:nvSpPr>
          <p:cNvPr id="41" name="Shape 39"/>
          <p:cNvSpPr/>
          <p:nvPr/>
        </p:nvSpPr>
        <p:spPr>
          <a:xfrm>
            <a:off x="-952290" y="6896919"/>
            <a:ext cx="3233204" cy="3233204"/>
          </a:xfrm>
          <a:prstGeom prst="ellipse">
            <a:avLst/>
          </a:prstGeom>
          <a:solidFill>
            <a:srgbClr val="8A0F1A">
              <a:alpha val="6496"/>
            </a:srgbClr>
          </a:solidFill>
          <a:ln/>
        </p:spPr>
      </p:sp>
      <p:sp>
        <p:nvSpPr>
          <p:cNvPr id="42" name="Shape 40"/>
          <p:cNvSpPr/>
          <p:nvPr/>
        </p:nvSpPr>
        <p:spPr>
          <a:xfrm>
            <a:off x="-772668" y="7076542"/>
            <a:ext cx="2873959" cy="2873959"/>
          </a:xfrm>
          <a:prstGeom prst="ellipse">
            <a:avLst/>
          </a:prstGeom>
          <a:solidFill>
            <a:srgbClr val="8A0F1A">
              <a:alpha val="6768"/>
            </a:srgbClr>
          </a:solidFill>
          <a:ln/>
        </p:spPr>
      </p:sp>
      <p:sp>
        <p:nvSpPr>
          <p:cNvPr id="43" name="Shape 41"/>
          <p:cNvSpPr/>
          <p:nvPr/>
        </p:nvSpPr>
        <p:spPr>
          <a:xfrm>
            <a:off x="-593046" y="7256164"/>
            <a:ext cx="2514714" cy="2514714"/>
          </a:xfrm>
          <a:prstGeom prst="ellipse">
            <a:avLst/>
          </a:prstGeom>
          <a:solidFill>
            <a:srgbClr val="8A0F1A">
              <a:alpha val="7123"/>
            </a:srgbClr>
          </a:solidFill>
          <a:ln/>
        </p:spPr>
      </p:sp>
      <p:sp>
        <p:nvSpPr>
          <p:cNvPr id="44" name="Shape 42"/>
          <p:cNvSpPr/>
          <p:nvPr/>
        </p:nvSpPr>
        <p:spPr>
          <a:xfrm>
            <a:off x="-413423" y="7435787"/>
            <a:ext cx="2155469" cy="2155469"/>
          </a:xfrm>
          <a:prstGeom prst="ellipse">
            <a:avLst/>
          </a:prstGeom>
          <a:solidFill>
            <a:srgbClr val="8A0F1A">
              <a:alpha val="7486"/>
            </a:srgbClr>
          </a:solidFill>
          <a:ln/>
        </p:spPr>
      </p:sp>
      <p:sp>
        <p:nvSpPr>
          <p:cNvPr id="45" name="Shape 43"/>
          <p:cNvSpPr/>
          <p:nvPr/>
        </p:nvSpPr>
        <p:spPr>
          <a:xfrm>
            <a:off x="-233801" y="7615409"/>
            <a:ext cx="1796225" cy="1796225"/>
          </a:xfrm>
          <a:prstGeom prst="ellipse">
            <a:avLst/>
          </a:prstGeom>
          <a:solidFill>
            <a:srgbClr val="8A0F1A">
              <a:alpha val="8191"/>
            </a:srgbClr>
          </a:solidFill>
          <a:ln/>
        </p:spPr>
      </p:sp>
      <p:sp>
        <p:nvSpPr>
          <p:cNvPr id="46" name="Shape 44"/>
          <p:cNvSpPr/>
          <p:nvPr/>
        </p:nvSpPr>
        <p:spPr>
          <a:xfrm>
            <a:off x="-54178" y="7795031"/>
            <a:ext cx="1436980" cy="1436980"/>
          </a:xfrm>
          <a:prstGeom prst="ellipse">
            <a:avLst/>
          </a:prstGeom>
          <a:solidFill>
            <a:srgbClr val="8A0F1A">
              <a:alpha val="9466"/>
            </a:srgbClr>
          </a:solidFill>
          <a:ln/>
        </p:spPr>
      </p:sp>
      <p:sp>
        <p:nvSpPr>
          <p:cNvPr id="47" name="Shape 45"/>
          <p:cNvSpPr/>
          <p:nvPr/>
        </p:nvSpPr>
        <p:spPr>
          <a:xfrm>
            <a:off x="125444" y="7974654"/>
            <a:ext cx="1077735" cy="1077735"/>
          </a:xfrm>
          <a:prstGeom prst="ellipse">
            <a:avLst/>
          </a:prstGeom>
          <a:solidFill>
            <a:srgbClr val="8A0F1A">
              <a:alpha val="10120"/>
            </a:srgbClr>
          </a:solidFill>
          <a:ln/>
        </p:spPr>
      </p:sp>
      <p:sp>
        <p:nvSpPr>
          <p:cNvPr id="48" name="Shape 46"/>
          <p:cNvSpPr/>
          <p:nvPr/>
        </p:nvSpPr>
        <p:spPr>
          <a:xfrm>
            <a:off x="305067" y="8154276"/>
            <a:ext cx="718490" cy="718490"/>
          </a:xfrm>
          <a:prstGeom prst="ellipse">
            <a:avLst/>
          </a:prstGeom>
          <a:solidFill>
            <a:srgbClr val="8A0F1A">
              <a:alpha val="10280"/>
            </a:srgbClr>
          </a:solidFill>
          <a:ln/>
        </p:spPr>
      </p:sp>
      <p:sp>
        <p:nvSpPr>
          <p:cNvPr id="49" name="Shape 47"/>
          <p:cNvSpPr/>
          <p:nvPr/>
        </p:nvSpPr>
        <p:spPr>
          <a:xfrm>
            <a:off x="484689" y="8333899"/>
            <a:ext cx="359245" cy="359245"/>
          </a:xfrm>
          <a:prstGeom prst="ellipse">
            <a:avLst/>
          </a:prstGeom>
          <a:solidFill>
            <a:srgbClr val="8A0F1A">
              <a:alpha val="10999"/>
            </a:srgbClr>
          </a:solidFill>
          <a:ln/>
        </p:spPr>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Pillar Mods Hub</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The pillar,</a:t>
            </a:r>
          </a:p>
        </p:txBody>
      </p:sp>
      <p:sp>
        <p:nvSpPr>
          <p:cNvPr id="53" name="Text 51"/>
          <p:cNvSpPr/>
          <p:nvPr/>
        </p:nvSpPr>
        <p:spPr>
          <a:xfrm>
            <a:off x="1351483" y="2268626"/>
            <a:ext cx="23774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one hub</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5" name="Text 53"/>
          <p:cNvSpPr/>
          <p:nvPr/>
        </p:nvSpPr>
        <p:spPr>
          <a:xfrm>
            <a:off x="689458" y="306324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Pillar capabilities ship as Claude Code plugins: published once through CI gates, pushed by managed settings, improved from every session. Skills + MCP + OTel keep the core portable to Codex, Cursor and Kairos SDK.</a:t>
            </a:r>
          </a:p>
        </p:txBody>
      </p:sp>
      <p:sp>
        <p:nvSpPr>
          <p:cNvPr id="56" name="Text 54"/>
          <p:cNvSpPr/>
          <p:nvPr/>
        </p:nvSpPr>
        <p:spPr>
          <a:xfrm>
            <a:off x="689458" y="466344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Trust tiers</a:t>
            </a:r>
          </a:p>
          <a:p>
            <a:pPr indent="0" marL="0">
              <a:lnSpc>
                <a:spcPct val="150000"/>
              </a:lnSpc>
              <a:buNone/>
            </a:pPr>
            <a:r>
              <a:rPr lang="en-US" sz="1100" dirty="0">
                <a:solidFill>
                  <a:srgbClr val="F5B700"/>
                </a:solidFill>
                <a:latin typeface="Arial" pitchFamily="34" charset="0"/>
                <a:ea typeface="Arial" pitchFamily="34" charset="-122"/>
                <a:cs typeface="Arial" pitchFamily="34" charset="-120"/>
              </a:rPr>
              <a:t>T0 core · T1 reviewed team mods</a:t>
            </a:r>
          </a:p>
          <a:p>
            <a:pPr indent="0" marL="0">
              <a:lnSpc>
                <a:spcPct val="150000"/>
              </a:lnSpc>
              <a:buNone/>
            </a:pPr>
            <a:r>
              <a:rPr lang="en-US" sz="1100" dirty="0">
                <a:solidFill>
                  <a:srgbClr val="F5B700"/>
                </a:solidFill>
                <a:latin typeface="Arial" pitchFamily="34" charset="0"/>
                <a:ea typeface="Arial" pitchFamily="34" charset="-122"/>
                <a:cs typeface="Arial" pitchFamily="34" charset="-120"/>
              </a:rPr>
              <a:t>T2 external plugins, mirrored, no process.*</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Partner / OSS</a:t>
            </a:r>
          </a:p>
        </p:txBody>
      </p:sp>
      <p:sp>
        <p:nvSpPr>
          <p:cNvPr id="59" name="Shape 57"/>
          <p:cNvSpPr/>
          <p:nvPr/>
        </p:nvSpPr>
        <p:spPr>
          <a:xfrm>
            <a:off x="6245352" y="5516575"/>
            <a:ext cx="1600200" cy="374904"/>
          </a:xfrm>
          <a:prstGeom prst="roundRect">
            <a:avLst>
              <a:gd name="adj" fmla="val 50000"/>
            </a:avLst>
          </a:prstGeom>
          <a:solidFill>
            <a:srgbClr val="F5B700"/>
          </a:solidFill>
          <a:ln/>
        </p:spPr>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Build (thin)</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Existing (reuse)</a:t>
            </a:r>
          </a:p>
        </p:txBody>
      </p:sp>
      <p:sp>
        <p:nvSpPr>
          <p:cNvPr id="601" name="g4 601"/>
          <p:cNvSpPr/>
          <p:nvPr/>
        </p:nvSpPr>
        <p:spPr>
          <a:xfrm>
            <a:off x="3703320" y="1371600"/>
            <a:ext cx="1188720" cy="731520"/>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1 Author</a:t>
            </a:r>
          </a:p>
          <a:p>
            <a:pPr algn="l" marL="0" indent="0">
              <a:lnSpc>
                <a:spcPct val="100000"/>
              </a:lnSpc>
              <a:buNone/>
            </a:pPr>
            <a:r>
              <a:rPr lang="en-US" sz="750" dirty="0">
                <a:solidFill>
                  <a:srgbClr val="141010"/>
                </a:solidFill>
                <a:latin typeface="Arial"/>
                <a:ea typeface="Arial"/>
                <a:cs typeface="Arial"/>
              </a:rPr>
              <a:t>plugin template + uploader skill</a:t>
            </a:r>
          </a:p>
        </p:txBody>
      </p:sp>
      <p:cxnSp>
        <p:nvCxnSpPr>
          <p:cNvPr id="602" name="g4 602"/>
          <p:cNvCxnSpPr/>
          <p:nvPr/>
        </p:nvCxnSpPr>
        <p:spPr>
          <a:xfrm>
            <a:off x="4892040" y="1737360"/>
            <a:ext cx="219456" cy="0"/>
          </a:xfrm>
          <a:prstGeom prst="line">
            <a:avLst/>
          </a:prstGeom>
          <a:ln w="12700">
            <a:solidFill>
              <a:srgbClr val="EE0000"/>
            </a:solidFill>
            <a:tailEnd type="triangle" w="med" len="med"/>
          </a:ln>
        </p:spPr>
      </p:cxnSp>
      <p:sp>
        <p:nvSpPr>
          <p:cNvPr id="603" name="g4 603"/>
          <p:cNvSpPr/>
          <p:nvPr/>
        </p:nvSpPr>
        <p:spPr>
          <a:xfrm>
            <a:off x="5111496" y="1371600"/>
            <a:ext cx="1188720" cy="731520"/>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2 Publishing CI</a:t>
            </a:r>
          </a:p>
          <a:p>
            <a:pPr algn="l" marL="0" indent="0">
              <a:lnSpc>
                <a:spcPct val="100000"/>
              </a:lnSpc>
              <a:buNone/>
            </a:pPr>
            <a:r>
              <a:rPr lang="en-US" sz="750" dirty="0">
                <a:solidFill>
                  <a:srgbClr val="141010"/>
                </a:solidFill>
                <a:latin typeface="Arial"/>
                <a:ea typeface="Arial"/>
                <a:cs typeface="Arial"/>
              </a:rPr>
              <a:t>validate · eval Δ · SAST / secrets · sign</a:t>
            </a:r>
          </a:p>
        </p:txBody>
      </p:sp>
      <p:cxnSp>
        <p:nvCxnSpPr>
          <p:cNvPr id="604" name="g4 604"/>
          <p:cNvCxnSpPr/>
          <p:nvPr/>
        </p:nvCxnSpPr>
        <p:spPr>
          <a:xfrm>
            <a:off x="6300216" y="1737360"/>
            <a:ext cx="219456" cy="0"/>
          </a:xfrm>
          <a:prstGeom prst="line">
            <a:avLst/>
          </a:prstGeom>
          <a:ln w="12700">
            <a:solidFill>
              <a:srgbClr val="EE0000"/>
            </a:solidFill>
            <a:tailEnd type="triangle" w="med" len="med"/>
          </a:ln>
        </p:spPr>
      </p:cxnSp>
      <p:sp>
        <p:nvSpPr>
          <p:cNvPr id="605" name="g4 605"/>
          <p:cNvSpPr/>
          <p:nvPr/>
        </p:nvSpPr>
        <p:spPr>
          <a:xfrm>
            <a:off x="6519672" y="1371600"/>
            <a:ext cx="1188720" cy="731520"/>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3 Hub registry</a:t>
            </a:r>
          </a:p>
          <a:p>
            <a:pPr algn="l" marL="0" indent="0">
              <a:lnSpc>
                <a:spcPct val="100000"/>
              </a:lnSpc>
              <a:buNone/>
            </a:pPr>
            <a:r>
              <a:rPr lang="en-US" sz="750" dirty="0">
                <a:solidFill>
                  <a:srgbClr val="141010"/>
                </a:solidFill>
                <a:latin typeface="Arial"/>
                <a:ea typeface="Arial"/>
                <a:cs typeface="Arial"/>
              </a:rPr>
              <a:t>catalog · versions · trust tier · eval scores</a:t>
            </a:r>
          </a:p>
        </p:txBody>
      </p:sp>
      <p:cxnSp>
        <p:nvCxnSpPr>
          <p:cNvPr id="606" name="g4 606"/>
          <p:cNvCxnSpPr/>
          <p:nvPr/>
        </p:nvCxnSpPr>
        <p:spPr>
          <a:xfrm>
            <a:off x="7708392" y="1737360"/>
            <a:ext cx="219456" cy="0"/>
          </a:xfrm>
          <a:prstGeom prst="line">
            <a:avLst/>
          </a:prstGeom>
          <a:ln w="12700">
            <a:solidFill>
              <a:srgbClr val="EE0000"/>
            </a:solidFill>
            <a:tailEnd type="triangle" w="med" len="med"/>
          </a:ln>
        </p:spPr>
      </p:cxnSp>
      <p:sp>
        <p:nvSpPr>
          <p:cNvPr id="607" name="g4 607"/>
          <p:cNvSpPr/>
          <p:nvPr/>
        </p:nvSpPr>
        <p:spPr>
          <a:xfrm>
            <a:off x="7927848" y="1371600"/>
            <a:ext cx="1188720" cy="731520"/>
          </a:xfrm>
          <a:prstGeom prst="roundRect">
            <a:avLst>
              <a:gd name="adj" fmla="val 12000"/>
            </a:avLst>
          </a:prstGeom>
          <a:solidFill>
            <a:srgbClr val="2A1A16"/>
          </a:solidFill>
          <a:ln w="9525">
            <a:solidFill>
              <a:srgbClr val="D9B48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4 Marketplaces</a:t>
            </a:r>
          </a:p>
          <a:p>
            <a:pPr algn="l" marL="0" indent="0">
              <a:lnSpc>
                <a:spcPct val="100000"/>
              </a:lnSpc>
              <a:buNone/>
            </a:pPr>
            <a:r>
              <a:rPr lang="en-US" sz="750" dirty="0">
                <a:solidFill>
                  <a:srgbClr val="F3E6D6"/>
                </a:solidFill>
                <a:latin typeface="Arial"/>
                <a:ea typeface="Arial"/>
                <a:cs typeface="Arial"/>
              </a:rPr>
              <a:t>vz-core admin-only · vz-hub stable / early</a:t>
            </a:r>
          </a:p>
        </p:txBody>
      </p:sp>
      <p:cxnSp>
        <p:nvCxnSpPr>
          <p:cNvPr id="608" name="g4 608"/>
          <p:cNvCxnSpPr/>
          <p:nvPr/>
        </p:nvCxnSpPr>
        <p:spPr>
          <a:xfrm>
            <a:off x="9116568" y="1737360"/>
            <a:ext cx="219456" cy="0"/>
          </a:xfrm>
          <a:prstGeom prst="line">
            <a:avLst/>
          </a:prstGeom>
          <a:ln w="12700">
            <a:solidFill>
              <a:srgbClr val="EE0000"/>
            </a:solidFill>
            <a:tailEnd type="triangle" w="med" len="med"/>
          </a:ln>
        </p:spPr>
      </p:cxnSp>
      <p:sp>
        <p:nvSpPr>
          <p:cNvPr id="609" name="g4 609"/>
          <p:cNvSpPr/>
          <p:nvPr/>
        </p:nvSpPr>
        <p:spPr>
          <a:xfrm>
            <a:off x="9336024" y="1371600"/>
            <a:ext cx="1188720" cy="731520"/>
          </a:xfrm>
          <a:prstGeom prst="roundRect">
            <a:avLst>
              <a:gd name="adj" fmla="val 12000"/>
            </a:avLst>
          </a:prstGeom>
          <a:solidFill>
            <a:srgbClr val="2A1A16"/>
          </a:solidFill>
          <a:ln w="9525">
            <a:solidFill>
              <a:srgbClr val="D9B48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5 Policy push</a:t>
            </a:r>
          </a:p>
          <a:p>
            <a:pPr algn="l" marL="0" indent="0">
              <a:lnSpc>
                <a:spcPct val="100000"/>
              </a:lnSpc>
              <a:buNone/>
            </a:pPr>
            <a:r>
              <a:rPr lang="en-US" sz="750" dirty="0">
                <a:solidFill>
                  <a:srgbClr val="F3E6D6"/>
                </a:solidFill>
                <a:latin typeface="Arial"/>
                <a:ea typeface="Arial"/>
                <a:cs typeface="Arial"/>
              </a:rPr>
              <a:t>managed settings via MDM or apps gateway</a:t>
            </a:r>
          </a:p>
        </p:txBody>
      </p:sp>
      <p:cxnSp>
        <p:nvCxnSpPr>
          <p:cNvPr id="610" name="g4 610"/>
          <p:cNvCxnSpPr/>
          <p:nvPr/>
        </p:nvCxnSpPr>
        <p:spPr>
          <a:xfrm>
            <a:off x="10524744" y="1737360"/>
            <a:ext cx="219456" cy="0"/>
          </a:xfrm>
          <a:prstGeom prst="line">
            <a:avLst/>
          </a:prstGeom>
          <a:ln w="12700">
            <a:solidFill>
              <a:srgbClr val="EE0000"/>
            </a:solidFill>
            <a:tailEnd type="triangle" w="med" len="med"/>
          </a:ln>
        </p:spPr>
      </p:cxnSp>
      <p:sp>
        <p:nvSpPr>
          <p:cNvPr id="611" name="g4 611"/>
          <p:cNvSpPr/>
          <p:nvPr/>
        </p:nvSpPr>
        <p:spPr>
          <a:xfrm>
            <a:off x="10744200" y="1371600"/>
            <a:ext cx="1188720" cy="731520"/>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6 Sessions</a:t>
            </a:r>
          </a:p>
          <a:p>
            <a:pPr algn="l" marL="0" indent="0">
              <a:lnSpc>
                <a:spcPct val="100000"/>
              </a:lnSpc>
              <a:buNone/>
            </a:pPr>
            <a:r>
              <a:rPr lang="en-US" sz="750" dirty="0">
                <a:solidFill>
                  <a:srgbClr val="F3E6D6"/>
                </a:solidFill>
                <a:latin typeface="Arial"/>
                <a:ea typeface="Arial"/>
                <a:cs typeface="Arial"/>
              </a:rPr>
              <a:t>Claude Code · Agent SDK · Kairos SDK</a:t>
            </a:r>
          </a:p>
        </p:txBody>
      </p:sp>
      <p:cxnSp>
        <p:nvCxnSpPr>
          <p:cNvPr id="613" name="g4 613"/>
          <p:cNvCxnSpPr/>
          <p:nvPr/>
        </p:nvCxnSpPr>
        <p:spPr>
          <a:xfrm>
            <a:off x="11338560" y="2103120"/>
            <a:ext cx="0" cy="228600"/>
          </a:xfrm>
          <a:prstGeom prst="line">
            <a:avLst/>
          </a:prstGeom>
          <a:ln w="12700">
            <a:solidFill>
              <a:srgbClr val="EE0000"/>
            </a:solidFill>
          </a:ln>
        </p:spPr>
      </p:cxnSp>
      <p:cxnSp>
        <p:nvCxnSpPr>
          <p:cNvPr id="614" name="g4 614"/>
          <p:cNvCxnSpPr/>
          <p:nvPr/>
        </p:nvCxnSpPr>
        <p:spPr>
          <a:xfrm flipH="1">
            <a:off x="8522208" y="2331720"/>
            <a:ext cx="2816352" cy="0"/>
          </a:xfrm>
          <a:prstGeom prst="line">
            <a:avLst/>
          </a:prstGeom>
          <a:ln w="12700">
            <a:solidFill>
              <a:srgbClr val="EE0000"/>
            </a:solidFill>
          </a:ln>
        </p:spPr>
      </p:cxnSp>
      <p:cxnSp>
        <p:nvCxnSpPr>
          <p:cNvPr id="615" name="g4 615"/>
          <p:cNvCxnSpPr/>
          <p:nvPr/>
        </p:nvCxnSpPr>
        <p:spPr>
          <a:xfrm>
            <a:off x="11338560" y="2331720"/>
            <a:ext cx="0" cy="228600"/>
          </a:xfrm>
          <a:prstGeom prst="line">
            <a:avLst/>
          </a:prstGeom>
          <a:ln w="12700">
            <a:solidFill>
              <a:srgbClr val="EE0000"/>
            </a:solidFill>
            <a:tailEnd type="triangle" w="med" len="med"/>
          </a:ln>
        </p:spPr>
      </p:cxnSp>
      <p:cxnSp>
        <p:nvCxnSpPr>
          <p:cNvPr id="616" name="g4 616"/>
          <p:cNvCxnSpPr/>
          <p:nvPr/>
        </p:nvCxnSpPr>
        <p:spPr>
          <a:xfrm>
            <a:off x="9930384" y="2331720"/>
            <a:ext cx="0" cy="228600"/>
          </a:xfrm>
          <a:prstGeom prst="line">
            <a:avLst/>
          </a:prstGeom>
          <a:ln w="12700">
            <a:solidFill>
              <a:srgbClr val="EE0000"/>
            </a:solidFill>
            <a:tailEnd type="triangle" w="med" len="med"/>
          </a:ln>
        </p:spPr>
      </p:cxnSp>
      <p:cxnSp>
        <p:nvCxnSpPr>
          <p:cNvPr id="617" name="g4 617"/>
          <p:cNvCxnSpPr/>
          <p:nvPr/>
        </p:nvCxnSpPr>
        <p:spPr>
          <a:xfrm>
            <a:off x="8522208" y="2331720"/>
            <a:ext cx="0" cy="228600"/>
          </a:xfrm>
          <a:prstGeom prst="line">
            <a:avLst/>
          </a:prstGeom>
          <a:ln w="12700">
            <a:solidFill>
              <a:srgbClr val="EE0000"/>
            </a:solidFill>
            <a:tailEnd type="triangle" w="med" len="med"/>
          </a:ln>
        </p:spPr>
      </p:cxnSp>
      <p:sp>
        <p:nvSpPr>
          <p:cNvPr id="618" name="g4 618"/>
          <p:cNvSpPr/>
          <p:nvPr/>
        </p:nvSpPr>
        <p:spPr>
          <a:xfrm>
            <a:off x="10744200" y="2560320"/>
            <a:ext cx="1188720" cy="566928"/>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Kairos gateway</a:t>
            </a:r>
          </a:p>
          <a:p>
            <a:pPr algn="l" marL="0" indent="0">
              <a:lnSpc>
                <a:spcPct val="100000"/>
              </a:lnSpc>
              <a:buNone/>
            </a:pPr>
            <a:r>
              <a:rPr lang="en-US" sz="750" dirty="0">
                <a:solidFill>
                  <a:srgbClr val="F3E6D6"/>
                </a:solidFill>
                <a:latin typeface="Arial"/>
                <a:ea typeface="Arial"/>
                <a:cs typeface="Arial"/>
              </a:rPr>
              <a:t>model traffic + agent_id headers</a:t>
            </a:r>
          </a:p>
        </p:txBody>
      </p:sp>
      <p:sp>
        <p:nvSpPr>
          <p:cNvPr id="619" name="g4 619"/>
          <p:cNvSpPr/>
          <p:nvPr/>
        </p:nvSpPr>
        <p:spPr>
          <a:xfrm>
            <a:off x="9336024" y="2560320"/>
            <a:ext cx="1188720" cy="566928"/>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MCP gateway</a:t>
            </a:r>
          </a:p>
          <a:p>
            <a:pPr algn="l" marL="0" indent="0">
              <a:lnSpc>
                <a:spcPct val="100000"/>
              </a:lnSpc>
              <a:buNone/>
            </a:pPr>
            <a:r>
              <a:rPr lang="en-US" sz="750" dirty="0">
                <a:solidFill>
                  <a:srgbClr val="F3E6D6"/>
                </a:solidFill>
                <a:latin typeface="Arial"/>
                <a:ea typeface="Arial"/>
                <a:cs typeface="Arial"/>
              </a:rPr>
              <a:t>tool traffic · Connectivity Link</a:t>
            </a:r>
          </a:p>
        </p:txBody>
      </p:sp>
      <p:sp>
        <p:nvSpPr>
          <p:cNvPr id="620" name="g4 620"/>
          <p:cNvSpPr/>
          <p:nvPr/>
        </p:nvSpPr>
        <p:spPr>
          <a:xfrm>
            <a:off x="7927848" y="2560320"/>
            <a:ext cx="1188720" cy="566928"/>
          </a:xfrm>
          <a:prstGeom prst="roundRect">
            <a:avLst>
              <a:gd name="adj" fmla="val 12000"/>
            </a:avLst>
          </a:prstGeom>
          <a:solidFill>
            <a:srgbClr val="2A1A16"/>
          </a:solidFill>
          <a:ln w="9525">
            <a:solidFill>
              <a:srgbClr val="D9B48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OTel Collector</a:t>
            </a:r>
          </a:p>
          <a:p>
            <a:pPr algn="l" marL="0" indent="0">
              <a:lnSpc>
                <a:spcPct val="100000"/>
              </a:lnSpc>
              <a:buNone/>
            </a:pPr>
            <a:r>
              <a:rPr lang="en-US" sz="750" dirty="0">
                <a:solidFill>
                  <a:srgbClr val="F3E6D6"/>
                </a:solidFill>
                <a:latin typeface="Arial"/>
                <a:ea typeface="Arial"/>
                <a:cs typeface="Arial"/>
              </a:rPr>
              <a:t>spans + events → lake / SIEM</a:t>
            </a:r>
          </a:p>
        </p:txBody>
      </p:sp>
      <p:sp>
        <p:nvSpPr>
          <p:cNvPr id="621" name="g4 621"/>
          <p:cNvSpPr/>
          <p:nvPr/>
        </p:nvSpPr>
        <p:spPr>
          <a:xfrm>
            <a:off x="6519672" y="2560320"/>
            <a:ext cx="1188720" cy="566928"/>
          </a:xfrm>
          <a:prstGeom prst="roundRect">
            <a:avLst>
              <a:gd name="adj" fmla="val 12000"/>
            </a:avLst>
          </a:prstGeom>
          <a:solidFill>
            <a:srgbClr val="2A1A16"/>
          </a:solidFill>
          <a:ln w="9525">
            <a:solidFill>
              <a:srgbClr val="A0704A"/>
            </a:solidFill>
          </a:ln>
        </p:spPr>
        <p:txBody>
          <a:bodyPr wrap="square" lIns="64008" tIns="27432" rIns="64008" bIns="27432" rtlCol="0" anchor="ctr">
            <a:noAutofit/>
          </a:bodyPr>
          <a:lstStyle/>
          <a:p>
            <a:pPr algn="l" marL="0" indent="0">
              <a:lnSpc>
                <a:spcPct val="100000"/>
              </a:lnSpc>
              <a:buNone/>
            </a:pPr>
            <a:r>
              <a:rPr lang="en-US" sz="900" b="1" dirty="0">
                <a:solidFill>
                  <a:srgbClr val="FFFFFF"/>
                </a:solidFill>
                <a:latin typeface="Arial"/>
                <a:ea typeface="Arial"/>
                <a:cs typeface="Arial"/>
              </a:rPr>
              <a:t>Galileo / Splunk AO</a:t>
            </a:r>
          </a:p>
          <a:p>
            <a:pPr algn="l" marL="0" indent="0">
              <a:lnSpc>
                <a:spcPct val="100000"/>
              </a:lnSpc>
              <a:buNone/>
            </a:pPr>
            <a:r>
              <a:rPr lang="en-US" sz="750" dirty="0">
                <a:solidFill>
                  <a:srgbClr val="F3E6D6"/>
                </a:solidFill>
                <a:latin typeface="Arial"/>
                <a:ea typeface="Arial"/>
                <a:cs typeface="Arial"/>
              </a:rPr>
              <a:t>system of record · Arize exploring</a:t>
            </a:r>
          </a:p>
        </p:txBody>
      </p:sp>
      <p:cxnSp>
        <p:nvCxnSpPr>
          <p:cNvPr id="622" name="g4 622"/>
          <p:cNvCxnSpPr/>
          <p:nvPr/>
        </p:nvCxnSpPr>
        <p:spPr>
          <a:xfrm flipH="1">
            <a:off x="7708392" y="2843784"/>
            <a:ext cx="219456" cy="0"/>
          </a:xfrm>
          <a:prstGeom prst="line">
            <a:avLst/>
          </a:prstGeom>
          <a:ln w="12700">
            <a:solidFill>
              <a:srgbClr val="EE0000"/>
            </a:solidFill>
            <a:tailEnd type="triangle" w="med" len="med"/>
          </a:ln>
        </p:spPr>
      </p:cxnSp>
      <p:cxnSp>
        <p:nvCxnSpPr>
          <p:cNvPr id="623" name="g4 623"/>
          <p:cNvCxnSpPr/>
          <p:nvPr/>
        </p:nvCxnSpPr>
        <p:spPr>
          <a:xfrm flipV="1">
            <a:off x="7114032" y="2103120"/>
            <a:ext cx="0" cy="457200"/>
          </a:xfrm>
          <a:prstGeom prst="line">
            <a:avLst/>
          </a:prstGeom>
          <a:ln w="12700">
            <a:solidFill>
              <a:srgbClr val="EE0000"/>
            </a:solidFill>
            <a:tailEnd type="triangle" w="med" len="med"/>
          </a:ln>
        </p:spPr>
      </p:cxnSp>
      <p:sp>
        <p:nvSpPr>
          <p:cNvPr id="624" name="g4 624"/>
          <p:cNvSpPr/>
          <p:nvPr/>
        </p:nvSpPr>
        <p:spPr>
          <a:xfrm>
            <a:off x="7168896" y="2221992"/>
            <a:ext cx="1097280" cy="182880"/>
          </a:xfrm>
          <a:prstGeom prst="rect">
            <a:avLst/>
          </a:prstGeom>
          <a:noFill/>
          <a:ln>
            <a:noFill/>
          </a:ln>
        </p:spPr>
        <p:txBody>
          <a:bodyPr wrap="square" lIns="0" tIns="0" rIns="0" bIns="0" rtlCol="0" anchor="ctr">
            <a:noAutofit/>
          </a:bodyPr>
          <a:lstStyle/>
          <a:p>
            <a:pPr algn="l" marL="0" indent="0">
              <a:buNone/>
            </a:pPr>
            <a:r>
              <a:rPr lang="en-US" sz="700" dirty="0">
                <a:solidFill>
                  <a:srgbClr val="F5B700"/>
                </a:solidFill>
                <a:latin typeface="Arial"/>
                <a:ea typeface="Arial"/>
                <a:cs typeface="Arial"/>
              </a:rPr>
              <a:t>eval Δ · usage · cost</a:t>
            </a:r>
          </a:p>
        </p:txBody>
      </p:sp>
      <p:sp>
        <p:nvSpPr>
          <p:cNvPr id="625" name="g4 625"/>
          <p:cNvSpPr/>
          <p:nvPr/>
        </p:nvSpPr>
        <p:spPr>
          <a:xfrm>
            <a:off x="3703320" y="2560320"/>
            <a:ext cx="2596896" cy="566928"/>
          </a:xfrm>
          <a:prstGeom prst="roundRect">
            <a:avLst>
              <a:gd name="adj" fmla="val 12000"/>
            </a:avLst>
          </a:prstGeom>
          <a:solidFill>
            <a:srgbClr val="F5B700"/>
          </a:solidFill>
          <a:ln>
            <a:noFill/>
          </a:ln>
        </p:spPr>
        <p:txBody>
          <a:bodyPr wrap="square" lIns="64008" tIns="27432" rIns="64008" bIns="27432" rtlCol="0" anchor="ctr">
            <a:noAutofit/>
          </a:bodyPr>
          <a:lstStyle/>
          <a:p>
            <a:pPr algn="l" marL="0" indent="0">
              <a:lnSpc>
                <a:spcPct val="100000"/>
              </a:lnSpc>
              <a:buNone/>
            </a:pPr>
            <a:r>
              <a:rPr lang="en-US" sz="900" b="1" dirty="0">
                <a:solidFill>
                  <a:srgbClr val="141010"/>
                </a:solidFill>
                <a:latin typeface="Arial"/>
                <a:ea typeface="Arial"/>
                <a:cs typeface="Arial"/>
              </a:rPr>
              <a:t>Feedback loop</a:t>
            </a:r>
          </a:p>
          <a:p>
            <a:pPr algn="l" marL="0" indent="0">
              <a:lnSpc>
                <a:spcPct val="100000"/>
              </a:lnSpc>
              <a:buNone/>
            </a:pPr>
            <a:r>
              <a:rPr lang="en-US" sz="750" dirty="0">
                <a:solidFill>
                  <a:srgbClr val="141010"/>
                </a:solidFill>
                <a:latin typeface="Arial"/>
                <a:ea typeface="Arial"/>
                <a:cs typeface="Arial"/>
              </a:rPr>
              <a:t>SessionEnd gap classifier → hub issues → new or updated skills</a:t>
            </a:r>
          </a:p>
        </p:txBody>
      </p:sp>
      <p:cxnSp>
        <p:nvCxnSpPr>
          <p:cNvPr id="626" name="g4 626"/>
          <p:cNvCxnSpPr/>
          <p:nvPr/>
        </p:nvCxnSpPr>
        <p:spPr>
          <a:xfrm flipH="1">
            <a:off x="6300216" y="2843784"/>
            <a:ext cx="219456" cy="0"/>
          </a:xfrm>
          <a:prstGeom prst="line">
            <a:avLst/>
          </a:prstGeom>
          <a:ln w="12700">
            <a:solidFill>
              <a:srgbClr val="EE0000"/>
            </a:solidFill>
            <a:tailEnd type="triangle" w="med" len="med"/>
          </a:ln>
        </p:spPr>
      </p:cxnSp>
      <p:cxnSp>
        <p:nvCxnSpPr>
          <p:cNvPr id="627" name="g4 627"/>
          <p:cNvCxnSpPr/>
          <p:nvPr/>
        </p:nvCxnSpPr>
        <p:spPr>
          <a:xfrm flipV="1">
            <a:off x="4297680" y="2103120"/>
            <a:ext cx="0" cy="457200"/>
          </a:xfrm>
          <a:prstGeom prst="line">
            <a:avLst/>
          </a:prstGeom>
          <a:ln w="12700">
            <a:solidFill>
              <a:srgbClr val="EE0000"/>
            </a:solidFill>
            <a:tailEnd type="triangle" w="med" len="med"/>
          </a:ln>
        </p:spPr>
      </p:cxnSp>
      <p:sp>
        <p:nvSpPr>
          <p:cNvPr id="628" name="g4 628"/>
          <p:cNvSpPr/>
          <p:nvPr/>
        </p:nvSpPr>
        <p:spPr>
          <a:xfrm>
            <a:off x="4352544" y="2221992"/>
            <a:ext cx="548640" cy="182880"/>
          </a:xfrm>
          <a:prstGeom prst="rect">
            <a:avLst/>
          </a:prstGeom>
          <a:noFill/>
          <a:ln>
            <a:noFill/>
          </a:ln>
        </p:spPr>
        <p:txBody>
          <a:bodyPr wrap="square" lIns="0" tIns="0" rIns="0" bIns="0" rtlCol="0" anchor="ctr">
            <a:noAutofit/>
          </a:bodyPr>
          <a:lstStyle/>
          <a:p>
            <a:pPr algn="l" marL="0" indent="0">
              <a:buNone/>
            </a:pPr>
            <a:r>
              <a:rPr lang="en-US" sz="700" dirty="0">
                <a:solidFill>
                  <a:srgbClr val="F5B700"/>
                </a:solidFill>
                <a:latin typeface="Arial"/>
                <a:ea typeface="Arial"/>
                <a:cs typeface="Arial"/>
              </a:rPr>
              <a:t>gaps</a:t>
            </a:r>
          </a:p>
        </p:txBody>
      </p:sp>
      <p:sp>
        <p:nvSpPr>
          <p:cNvPr id="629" name="g4 629"/>
          <p:cNvSpPr/>
          <p:nvPr/>
        </p:nvSpPr>
        <p:spPr>
          <a:xfrm>
            <a:off x="3703320" y="3255264"/>
            <a:ext cx="5486400" cy="182880"/>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STARTER CATALOGUE  ·  /plugin install &lt;name&gt;@vz-hub</a:t>
            </a:r>
          </a:p>
        </p:txBody>
      </p:sp>
      <p:sp>
        <p:nvSpPr>
          <p:cNvPr id="630" name="g4 630"/>
          <p:cNvSpPr/>
          <p:nvPr/>
        </p:nvSpPr>
        <p:spPr>
          <a:xfrm>
            <a:off x="3703320"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LLMOps tracing</a:t>
            </a:r>
          </a:p>
          <a:p>
            <a:pPr algn="l" marL="0" indent="0">
              <a:lnSpc>
                <a:spcPct val="100000"/>
              </a:lnSpc>
              <a:buNone/>
            </a:pPr>
            <a:r>
              <a:rPr lang="en-US" sz="700" dirty="0">
                <a:solidFill>
                  <a:srgbClr val="141010"/>
                </a:solidFill>
                <a:latin typeface="Arial"/>
                <a:ea typeface="Arial"/>
                <a:cs typeface="Arial"/>
              </a:rPr>
              <a:t>Arize tracing plugin; Galileo via OTel</a:t>
            </a:r>
          </a:p>
        </p:txBody>
      </p:sp>
      <p:sp>
        <p:nvSpPr>
          <p:cNvPr id="631" name="g4 631"/>
          <p:cNvSpPr/>
          <p:nvPr/>
        </p:nvSpPr>
        <p:spPr>
          <a:xfrm>
            <a:off x="4895959"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Harness opt.</a:t>
            </a:r>
          </a:p>
          <a:p>
            <a:pPr algn="l" marL="0" indent="0">
              <a:lnSpc>
                <a:spcPct val="100000"/>
              </a:lnSpc>
              <a:buNone/>
            </a:pPr>
            <a:r>
              <a:rPr lang="en-US" sz="700" dirty="0">
                <a:solidFill>
                  <a:srgbClr val="141010"/>
                </a:solidFill>
                <a:latin typeface="Arial"/>
                <a:ea typeface="Arial"/>
                <a:cs typeface="Arial"/>
              </a:rPr>
              <a:t>GEPA gskill · Lucidic (exploring) · Strands SOPs</a:t>
            </a:r>
          </a:p>
        </p:txBody>
      </p:sp>
      <p:sp>
        <p:nvSpPr>
          <p:cNvPr id="632" name="g4 632"/>
          <p:cNvSpPr/>
          <p:nvPr/>
        </p:nvSpPr>
        <p:spPr>
          <a:xfrm>
            <a:off x="6088598"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Simulation</a:t>
            </a:r>
          </a:p>
          <a:p>
            <a:pPr algn="l" marL="0" indent="0">
              <a:lnSpc>
                <a:spcPct val="100000"/>
              </a:lnSpc>
              <a:buNone/>
            </a:pPr>
            <a:r>
              <a:rPr lang="en-US" sz="700" dirty="0">
                <a:solidFill>
                  <a:srgbClr val="141010"/>
                </a:solidFill>
                <a:latin typeface="Arial"/>
                <a:ea typeface="Arial"/>
                <a:cs typeface="Arial"/>
              </a:rPr>
              <a:t>SDG Hub tool-use flows · τ³-bench</a:t>
            </a:r>
          </a:p>
        </p:txBody>
      </p:sp>
      <p:sp>
        <p:nvSpPr>
          <p:cNvPr id="633" name="g4 633"/>
          <p:cNvSpPr/>
          <p:nvPr/>
        </p:nvSpPr>
        <p:spPr>
          <a:xfrm>
            <a:off x="7281237"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Training</a:t>
            </a:r>
          </a:p>
          <a:p>
            <a:pPr algn="l" marL="0" indent="0">
              <a:lnSpc>
                <a:spcPct val="100000"/>
              </a:lnSpc>
              <a:buNone/>
            </a:pPr>
            <a:r>
              <a:rPr lang="en-US" sz="700" dirty="0">
                <a:solidFill>
                  <a:srgbClr val="141010"/>
                </a:solidFill>
                <a:latin typeface="Arial"/>
                <a:ea typeface="Arial"/>
                <a:cs typeface="Arial"/>
              </a:rPr>
              <a:t>Training Hub, gated on a harness plateau</a:t>
            </a:r>
          </a:p>
        </p:txBody>
      </p:sp>
      <p:sp>
        <p:nvSpPr>
          <p:cNvPr id="634" name="g4 634"/>
          <p:cNvSpPr/>
          <p:nvPr/>
        </p:nvSpPr>
        <p:spPr>
          <a:xfrm>
            <a:off x="8473875"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Red team</a:t>
            </a:r>
          </a:p>
          <a:p>
            <a:pPr algn="l" marL="0" indent="0">
              <a:lnSpc>
                <a:spcPct val="100000"/>
              </a:lnSpc>
              <a:buNone/>
            </a:pPr>
            <a:r>
              <a:rPr lang="en-US" sz="700" dirty="0">
                <a:solidFill>
                  <a:srgbClr val="141010"/>
                </a:solidFill>
                <a:latin typeface="Arial"/>
                <a:ea typeface="Arial"/>
                <a:cs typeface="Arial"/>
              </a:rPr>
              <a:t>EvalHub: garak / PyRIT / DeepTeam</a:t>
            </a:r>
          </a:p>
        </p:txBody>
      </p:sp>
      <p:sp>
        <p:nvSpPr>
          <p:cNvPr id="635" name="g4 635"/>
          <p:cNvSpPr/>
          <p:nvPr/>
        </p:nvSpPr>
        <p:spPr>
          <a:xfrm>
            <a:off x="9666514"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Governance</a:t>
            </a:r>
          </a:p>
          <a:p>
            <a:pPr algn="l" marL="0" indent="0">
              <a:lnSpc>
                <a:spcPct val="100000"/>
              </a:lnSpc>
              <a:buNone/>
            </a:pPr>
            <a:r>
              <a:rPr lang="en-US" sz="700" dirty="0">
                <a:solidFill>
                  <a:srgbClr val="141010"/>
                </a:solidFill>
                <a:latin typeface="Arial"/>
                <a:ea typeface="Arial"/>
                <a:cs typeface="Arial"/>
              </a:rPr>
              <a:t>pillar-governance core bundle</a:t>
            </a:r>
          </a:p>
        </p:txBody>
      </p:sp>
      <p:sp>
        <p:nvSpPr>
          <p:cNvPr id="636" name="g4 636"/>
          <p:cNvSpPr/>
          <p:nvPr/>
        </p:nvSpPr>
        <p:spPr>
          <a:xfrm>
            <a:off x="10859153" y="3456432"/>
            <a:ext cx="1073767" cy="731520"/>
          </a:xfrm>
          <a:prstGeom prst="roundRect">
            <a:avLst>
              <a:gd name="adj" fmla="val 12000"/>
            </a:avLst>
          </a:prstGeom>
          <a:solidFill>
            <a:srgbClr val="F5B700"/>
          </a:solidFill>
          <a:ln>
            <a:noFill/>
          </a:ln>
        </p:spPr>
        <p:txBody>
          <a:bodyPr wrap="square" lIns="54864" tIns="27432" rIns="54864" bIns="27432" rtlCol="0" anchor="ctr">
            <a:noAutofit/>
          </a:bodyPr>
          <a:lstStyle/>
          <a:p>
            <a:pPr algn="l" marL="0" indent="0">
              <a:lnSpc>
                <a:spcPct val="100000"/>
              </a:lnSpc>
              <a:buNone/>
            </a:pPr>
            <a:r>
              <a:rPr lang="en-US" sz="850" b="1" dirty="0">
                <a:solidFill>
                  <a:srgbClr val="141010"/>
                </a:solidFill>
                <a:latin typeface="Arial"/>
                <a:ea typeface="Arial"/>
                <a:cs typeface="Arial"/>
              </a:rPr>
              <a:t>Policy author</a:t>
            </a:r>
          </a:p>
          <a:p>
            <a:pPr algn="l" marL="0" indent="0">
              <a:lnSpc>
                <a:spcPct val="100000"/>
              </a:lnSpc>
              <a:buNone/>
            </a:pPr>
            <a:r>
              <a:rPr lang="en-US" sz="700" dirty="0">
                <a:solidFill>
                  <a:srgbClr val="141010"/>
                </a:solidFill>
                <a:latin typeface="Arial"/>
                <a:ea typeface="Arial"/>
                <a:cs typeface="Arial"/>
              </a:rPr>
              <a:t>requirement docs → YAML / Rego</a:t>
            </a:r>
          </a:p>
        </p:txBody>
      </p:sp>
      <p:sp>
        <p:nvSpPr>
          <p:cNvPr id="637" name="g4 637"/>
          <p:cNvSpPr/>
          <p:nvPr/>
        </p:nvSpPr>
        <p:spPr>
          <a:xfrm>
            <a:off x="3703320" y="4315968"/>
            <a:ext cx="5486400" cy="182880"/>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PROOF  ·  public examples of internal plugin distribution</a:t>
            </a:r>
          </a:p>
        </p:txBody>
      </p:sp>
      <p:sp>
        <p:nvSpPr>
          <p:cNvPr id="638" name="g4 638"/>
          <p:cNvSpPr/>
          <p:nvPr/>
        </p:nvSpPr>
        <p:spPr>
          <a:xfrm>
            <a:off x="370332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Intercom</a:t>
            </a:r>
          </a:p>
          <a:p>
            <a:pPr algn="l" marL="0" indent="0">
              <a:lnSpc>
                <a:spcPct val="100000"/>
              </a:lnSpc>
              <a:buNone/>
            </a:pPr>
            <a:r>
              <a:rPr lang="en-US" sz="750" dirty="0">
                <a:solidFill>
                  <a:srgbClr val="F3E6D6"/>
                </a:solidFill>
                <a:latin typeface="Arial"/>
                <a:ea typeface="Arial"/>
                <a:cs typeface="Arial"/>
              </a:rPr>
              <a:t>13 plugins, 100+ skills via MDM; gaps auto-filed as issues</a:t>
            </a:r>
          </a:p>
        </p:txBody>
      </p:sp>
      <p:sp>
        <p:nvSpPr>
          <p:cNvPr id="639" name="g4 639"/>
          <p:cNvSpPr/>
          <p:nvPr/>
        </p:nvSpPr>
        <p:spPr>
          <a:xfrm>
            <a:off x="580644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KDDI</a:t>
            </a:r>
          </a:p>
          <a:p>
            <a:pPr algn="l" marL="0" indent="0">
              <a:lnSpc>
                <a:spcPct val="100000"/>
              </a:lnSpc>
              <a:buNone/>
            </a:pPr>
            <a:r>
              <a:rPr lang="en-US" sz="750" dirty="0">
                <a:solidFill>
                  <a:srgbClr val="F3E6D6"/>
                </a:solidFill>
                <a:latin typeface="Arial"/>
                <a:ea typeface="Arial"/>
                <a:cs typeface="Arial"/>
              </a:rPr>
              <a:t>GHE marketplace; a plugin-uploader makes publishing self-service</a:t>
            </a:r>
          </a:p>
        </p:txBody>
      </p:sp>
      <p:sp>
        <p:nvSpPr>
          <p:cNvPr id="640" name="g4 640"/>
          <p:cNvSpPr/>
          <p:nvPr/>
        </p:nvSpPr>
        <p:spPr>
          <a:xfrm>
            <a:off x="790956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Uber</a:t>
            </a:r>
          </a:p>
          <a:p>
            <a:pPr algn="l" marL="0" indent="0">
              <a:lnSpc>
                <a:spcPct val="100000"/>
              </a:lnSpc>
              <a:buNone/>
            </a:pPr>
            <a:r>
              <a:rPr lang="en-US" sz="750" dirty="0">
                <a:solidFill>
                  <a:srgbClr val="F3E6D6"/>
                </a:solidFill>
                <a:latin typeface="Arial"/>
                <a:ea typeface="Arial"/>
                <a:cs typeface="Arial"/>
              </a:rPr>
              <a:t>MCP Gateway + Registry; Skills Registry with A/B-tested versions next</a:t>
            </a:r>
          </a:p>
        </p:txBody>
      </p:sp>
      <p:sp>
        <p:nvSpPr>
          <p:cNvPr id="641" name="g4 641"/>
          <p:cNvSpPr/>
          <p:nvPr/>
        </p:nvSpPr>
        <p:spPr>
          <a:xfrm>
            <a:off x="10012680" y="4517136"/>
            <a:ext cx="1920240" cy="658368"/>
          </a:xfrm>
          <a:prstGeom prst="roundRect">
            <a:avLst>
              <a:gd name="adj" fmla="val 12000"/>
            </a:avLst>
          </a:prstGeom>
          <a:noFill/>
          <a:ln w="9525">
            <a:solidFill>
              <a:srgbClr val="5A3A2E"/>
            </a:solidFill>
          </a:ln>
        </p:spPr>
        <p:txBody>
          <a:bodyPr wrap="square" lIns="64008" tIns="27432" rIns="64008" bIns="27432" rtlCol="0" anchor="ctr">
            <a:noAutofit/>
          </a:bodyPr>
          <a:lstStyle/>
          <a:p>
            <a:pPr algn="l" marL="0" indent="0">
              <a:lnSpc>
                <a:spcPct val="100000"/>
              </a:lnSpc>
              <a:buNone/>
            </a:pPr>
            <a:r>
              <a:rPr lang="en-US" sz="900" b="1" dirty="0">
                <a:solidFill>
                  <a:srgbClr val="F5B700"/>
                </a:solidFill>
                <a:latin typeface="Arial"/>
                <a:ea typeface="Arial"/>
                <a:cs typeface="Arial"/>
              </a:rPr>
              <a:t>Stripe</a:t>
            </a:r>
          </a:p>
          <a:p>
            <a:pPr algn="l" marL="0" indent="0">
              <a:lnSpc>
                <a:spcPct val="100000"/>
              </a:lnSpc>
              <a:buNone/>
            </a:pPr>
            <a:r>
              <a:rPr lang="en-US" sz="750" dirty="0">
                <a:solidFill>
                  <a:srgbClr val="F3E6D6"/>
                </a:solidFill>
                <a:latin typeface="Arial"/>
                <a:ea typeface="Arial"/>
                <a:cs typeface="Arial"/>
              </a:rPr>
              <a:t>signed binary, pre-configured for 1,370 engineers</a:t>
            </a:r>
          </a:p>
        </p:txBody>
      </p:sp>
      <p:sp>
        <p:nvSpPr>
          <p:cNvPr id="63" name="Shape 61"/>
          <p:cNvSpPr/>
          <p:nvPr/>
        </p:nvSpPr>
        <p:spPr>
          <a:xfrm rot="19800000">
            <a:off x="3895344" y="5657393"/>
            <a:ext cx="95098" cy="95098"/>
          </a:xfrm>
          <a:prstGeom prst="rect">
            <a:avLst/>
          </a:prstGeom>
          <a:solidFill>
            <a:srgbClr val="CC0000"/>
          </a:solidFill>
          <a:ln/>
        </p:spPr>
      </p:sp>
      <p:sp>
        <p:nvSpPr>
          <p:cNvPr id="642"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28 / 44</a:t>
            </a:r>
          </a:p>
        </p:txBody>
      </p:sp>
      <p:sp>
        <p:nvSpPr>
          <p:cNvPr id="643"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644"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4">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2988259" y="-5184648"/>
            <a:ext cx="8621878" cy="8621878"/>
          </a:xfrm>
          <a:prstGeom prst="ellipse">
            <a:avLst/>
          </a:prstGeom>
          <a:solidFill>
            <a:srgbClr val="8A0F1A">
              <a:alpha val="2547"/>
            </a:srgbClr>
          </a:solidFill>
          <a:ln/>
        </p:spPr>
      </p:sp>
      <p:sp>
        <p:nvSpPr>
          <p:cNvPr id="3" name="Shape 1"/>
          <p:cNvSpPr/>
          <p:nvPr/>
        </p:nvSpPr>
        <p:spPr>
          <a:xfrm>
            <a:off x="3167882" y="-5005026"/>
            <a:ext cx="8262633" cy="8262633"/>
          </a:xfrm>
          <a:prstGeom prst="ellipse">
            <a:avLst/>
          </a:prstGeom>
          <a:solidFill>
            <a:srgbClr val="8A0F1A">
              <a:alpha val="4218"/>
            </a:srgbClr>
          </a:solidFill>
          <a:ln/>
        </p:spPr>
      </p:sp>
      <p:sp>
        <p:nvSpPr>
          <p:cNvPr id="4" name="Shape 2"/>
          <p:cNvSpPr/>
          <p:nvPr/>
        </p:nvSpPr>
        <p:spPr>
          <a:xfrm>
            <a:off x="3347504" y="-4825403"/>
            <a:ext cx="7903388" cy="7903388"/>
          </a:xfrm>
          <a:prstGeom prst="ellipse">
            <a:avLst/>
          </a:prstGeom>
          <a:solidFill>
            <a:srgbClr val="8A0F1A">
              <a:alpha val="4138"/>
            </a:srgbClr>
          </a:solidFill>
          <a:ln/>
        </p:spPr>
      </p:sp>
      <p:sp>
        <p:nvSpPr>
          <p:cNvPr id="5" name="Shape 3"/>
          <p:cNvSpPr/>
          <p:nvPr/>
        </p:nvSpPr>
        <p:spPr>
          <a:xfrm>
            <a:off x="3527127" y="-4645781"/>
            <a:ext cx="7544143" cy="7544143"/>
          </a:xfrm>
          <a:prstGeom prst="ellipse">
            <a:avLst/>
          </a:prstGeom>
          <a:solidFill>
            <a:srgbClr val="8A0F1A">
              <a:alpha val="2636"/>
            </a:srgbClr>
          </a:solidFill>
          <a:ln/>
        </p:spPr>
      </p:sp>
      <p:sp>
        <p:nvSpPr>
          <p:cNvPr id="6" name="Shape 4"/>
          <p:cNvSpPr/>
          <p:nvPr/>
        </p:nvSpPr>
        <p:spPr>
          <a:xfrm>
            <a:off x="3706749" y="-4466158"/>
            <a:ext cx="7184898" cy="7184898"/>
          </a:xfrm>
          <a:prstGeom prst="ellipse">
            <a:avLst/>
          </a:prstGeom>
          <a:solidFill>
            <a:srgbClr val="8A0F1A">
              <a:alpha val="2661"/>
            </a:srgbClr>
          </a:solidFill>
          <a:ln/>
        </p:spPr>
      </p:sp>
      <p:sp>
        <p:nvSpPr>
          <p:cNvPr id="7" name="Shape 5"/>
          <p:cNvSpPr/>
          <p:nvPr/>
        </p:nvSpPr>
        <p:spPr>
          <a:xfrm>
            <a:off x="3886371" y="-4286536"/>
            <a:ext cx="6825653" cy="6825653"/>
          </a:xfrm>
          <a:prstGeom prst="ellipse">
            <a:avLst/>
          </a:prstGeom>
          <a:solidFill>
            <a:srgbClr val="8A0F1A">
              <a:alpha val="3304"/>
            </a:srgbClr>
          </a:solidFill>
          <a:ln/>
        </p:spPr>
      </p:sp>
      <p:sp>
        <p:nvSpPr>
          <p:cNvPr id="8" name="Shape 6"/>
          <p:cNvSpPr/>
          <p:nvPr/>
        </p:nvSpPr>
        <p:spPr>
          <a:xfrm>
            <a:off x="4065994" y="-4106913"/>
            <a:ext cx="6466408" cy="6466408"/>
          </a:xfrm>
          <a:prstGeom prst="ellipse">
            <a:avLst/>
          </a:prstGeom>
          <a:solidFill>
            <a:srgbClr val="8A0F1A">
              <a:alpha val="3622"/>
            </a:srgbClr>
          </a:solidFill>
          <a:ln/>
        </p:spPr>
      </p:sp>
      <p:sp>
        <p:nvSpPr>
          <p:cNvPr id="9" name="Shape 7"/>
          <p:cNvSpPr/>
          <p:nvPr/>
        </p:nvSpPr>
        <p:spPr>
          <a:xfrm>
            <a:off x="4245616" y="-3927291"/>
            <a:ext cx="6107163" cy="6107163"/>
          </a:xfrm>
          <a:prstGeom prst="ellipse">
            <a:avLst/>
          </a:prstGeom>
          <a:solidFill>
            <a:srgbClr val="8A0F1A">
              <a:alpha val="3650"/>
            </a:srgbClr>
          </a:solidFill>
          <a:ln/>
        </p:spPr>
      </p:sp>
      <p:sp>
        <p:nvSpPr>
          <p:cNvPr id="10" name="Shape 8"/>
          <p:cNvSpPr/>
          <p:nvPr/>
        </p:nvSpPr>
        <p:spPr>
          <a:xfrm>
            <a:off x="4425239" y="-3747668"/>
            <a:ext cx="5747918" cy="5747918"/>
          </a:xfrm>
          <a:prstGeom prst="ellipse">
            <a:avLst/>
          </a:prstGeom>
          <a:solidFill>
            <a:srgbClr val="8A0F1A">
              <a:alpha val="3631"/>
            </a:srgbClr>
          </a:solidFill>
          <a:ln/>
        </p:spPr>
      </p:sp>
      <p:sp>
        <p:nvSpPr>
          <p:cNvPr id="11" name="Shape 9"/>
          <p:cNvSpPr/>
          <p:nvPr/>
        </p:nvSpPr>
        <p:spPr>
          <a:xfrm>
            <a:off x="4604861" y="-3568046"/>
            <a:ext cx="5388674" cy="5388674"/>
          </a:xfrm>
          <a:prstGeom prst="ellipse">
            <a:avLst/>
          </a:prstGeom>
          <a:solidFill>
            <a:srgbClr val="8A0F1A">
              <a:alpha val="3693"/>
            </a:srgbClr>
          </a:solidFill>
          <a:ln/>
        </p:spPr>
      </p:sp>
      <p:sp>
        <p:nvSpPr>
          <p:cNvPr id="12" name="Shape 10"/>
          <p:cNvSpPr/>
          <p:nvPr/>
        </p:nvSpPr>
        <p:spPr>
          <a:xfrm>
            <a:off x="4784484" y="-3388423"/>
            <a:ext cx="5029429" cy="5029429"/>
          </a:xfrm>
          <a:prstGeom prst="ellipse">
            <a:avLst/>
          </a:prstGeom>
          <a:solidFill>
            <a:srgbClr val="8A0F1A">
              <a:alpha val="4536"/>
            </a:srgbClr>
          </a:solidFill>
          <a:ln/>
        </p:spPr>
      </p:sp>
      <p:sp>
        <p:nvSpPr>
          <p:cNvPr id="13" name="Shape 11"/>
          <p:cNvSpPr/>
          <p:nvPr/>
        </p:nvSpPr>
        <p:spPr>
          <a:xfrm>
            <a:off x="4964106" y="-3208801"/>
            <a:ext cx="4670184" cy="4670184"/>
          </a:xfrm>
          <a:prstGeom prst="ellipse">
            <a:avLst/>
          </a:prstGeom>
          <a:solidFill>
            <a:srgbClr val="8A0F1A">
              <a:alpha val="4737"/>
            </a:srgbClr>
          </a:solidFill>
          <a:ln/>
        </p:spPr>
      </p:sp>
      <p:sp>
        <p:nvSpPr>
          <p:cNvPr id="14" name="Shape 12"/>
          <p:cNvSpPr/>
          <p:nvPr/>
        </p:nvSpPr>
        <p:spPr>
          <a:xfrm>
            <a:off x="5143729" y="-3029179"/>
            <a:ext cx="4310939" cy="4310939"/>
          </a:xfrm>
          <a:prstGeom prst="ellipse">
            <a:avLst/>
          </a:prstGeom>
          <a:solidFill>
            <a:srgbClr val="8A0F1A">
              <a:alpha val="4994"/>
            </a:srgbClr>
          </a:solidFill>
          <a:ln/>
        </p:spPr>
      </p:sp>
      <p:sp>
        <p:nvSpPr>
          <p:cNvPr id="15" name="Shape 13"/>
          <p:cNvSpPr/>
          <p:nvPr/>
        </p:nvSpPr>
        <p:spPr>
          <a:xfrm>
            <a:off x="5323351" y="-2849556"/>
            <a:ext cx="3951694" cy="3951694"/>
          </a:xfrm>
          <a:prstGeom prst="ellipse">
            <a:avLst/>
          </a:prstGeom>
          <a:solidFill>
            <a:srgbClr val="8A0F1A">
              <a:alpha val="5272"/>
            </a:srgbClr>
          </a:solidFill>
          <a:ln/>
        </p:spPr>
      </p:sp>
      <p:sp>
        <p:nvSpPr>
          <p:cNvPr id="16" name="Shape 14"/>
          <p:cNvSpPr/>
          <p:nvPr/>
        </p:nvSpPr>
        <p:spPr>
          <a:xfrm>
            <a:off x="5502974" y="-2669934"/>
            <a:ext cx="3592449" cy="3592449"/>
          </a:xfrm>
          <a:prstGeom prst="ellipse">
            <a:avLst/>
          </a:prstGeom>
          <a:solidFill>
            <a:srgbClr val="8A0F1A">
              <a:alpha val="5521"/>
            </a:srgbClr>
          </a:solidFill>
          <a:ln/>
        </p:spPr>
      </p:sp>
      <p:sp>
        <p:nvSpPr>
          <p:cNvPr id="17" name="Shape 15"/>
          <p:cNvSpPr/>
          <p:nvPr/>
        </p:nvSpPr>
        <p:spPr>
          <a:xfrm>
            <a:off x="5682596" y="-2490311"/>
            <a:ext cx="3233204" cy="3233204"/>
          </a:xfrm>
          <a:prstGeom prst="ellipse">
            <a:avLst/>
          </a:prstGeom>
          <a:solidFill>
            <a:srgbClr val="8A0F1A">
              <a:alpha val="6496"/>
            </a:srgbClr>
          </a:solidFill>
          <a:ln/>
        </p:spPr>
      </p:sp>
      <p:sp>
        <p:nvSpPr>
          <p:cNvPr id="18" name="Shape 16"/>
          <p:cNvSpPr/>
          <p:nvPr/>
        </p:nvSpPr>
        <p:spPr>
          <a:xfrm>
            <a:off x="5862218" y="-2310689"/>
            <a:ext cx="2873959" cy="2873959"/>
          </a:xfrm>
          <a:prstGeom prst="ellipse">
            <a:avLst/>
          </a:prstGeom>
          <a:solidFill>
            <a:srgbClr val="8A0F1A">
              <a:alpha val="6768"/>
            </a:srgbClr>
          </a:solidFill>
          <a:ln/>
        </p:spPr>
      </p:sp>
      <p:sp>
        <p:nvSpPr>
          <p:cNvPr id="19" name="Shape 17"/>
          <p:cNvSpPr/>
          <p:nvPr/>
        </p:nvSpPr>
        <p:spPr>
          <a:xfrm>
            <a:off x="6041841" y="-2131066"/>
            <a:ext cx="2514714" cy="2514714"/>
          </a:xfrm>
          <a:prstGeom prst="ellipse">
            <a:avLst/>
          </a:prstGeom>
          <a:solidFill>
            <a:srgbClr val="8A0F1A">
              <a:alpha val="7123"/>
            </a:srgbClr>
          </a:solidFill>
          <a:ln/>
        </p:spPr>
      </p:sp>
      <p:sp>
        <p:nvSpPr>
          <p:cNvPr id="20" name="Shape 18"/>
          <p:cNvSpPr/>
          <p:nvPr/>
        </p:nvSpPr>
        <p:spPr>
          <a:xfrm>
            <a:off x="6221463" y="-1951444"/>
            <a:ext cx="2155469" cy="2155469"/>
          </a:xfrm>
          <a:prstGeom prst="ellipse">
            <a:avLst/>
          </a:prstGeom>
          <a:solidFill>
            <a:srgbClr val="8A0F1A">
              <a:alpha val="7486"/>
            </a:srgbClr>
          </a:solidFill>
          <a:ln/>
        </p:spPr>
      </p:sp>
      <p:sp>
        <p:nvSpPr>
          <p:cNvPr id="21" name="Shape 19"/>
          <p:cNvSpPr/>
          <p:nvPr/>
        </p:nvSpPr>
        <p:spPr>
          <a:xfrm>
            <a:off x="6401086" y="-1771821"/>
            <a:ext cx="1796225" cy="1796225"/>
          </a:xfrm>
          <a:prstGeom prst="ellipse">
            <a:avLst/>
          </a:prstGeom>
          <a:solidFill>
            <a:srgbClr val="8A0F1A">
              <a:alpha val="8191"/>
            </a:srgbClr>
          </a:solidFill>
          <a:ln/>
        </p:spPr>
      </p:sp>
      <p:sp>
        <p:nvSpPr>
          <p:cNvPr id="22" name="Shape 20"/>
          <p:cNvSpPr/>
          <p:nvPr/>
        </p:nvSpPr>
        <p:spPr>
          <a:xfrm>
            <a:off x="6580708" y="-1592199"/>
            <a:ext cx="1436980" cy="1436980"/>
          </a:xfrm>
          <a:prstGeom prst="ellipse">
            <a:avLst/>
          </a:prstGeom>
          <a:solidFill>
            <a:srgbClr val="8A0F1A">
              <a:alpha val="9466"/>
            </a:srgbClr>
          </a:solidFill>
          <a:ln/>
        </p:spPr>
      </p:sp>
      <p:sp>
        <p:nvSpPr>
          <p:cNvPr id="23" name="Shape 21"/>
          <p:cNvSpPr/>
          <p:nvPr/>
        </p:nvSpPr>
        <p:spPr>
          <a:xfrm>
            <a:off x="6760331" y="-1412577"/>
            <a:ext cx="1077735" cy="1077735"/>
          </a:xfrm>
          <a:prstGeom prst="ellipse">
            <a:avLst/>
          </a:prstGeom>
          <a:solidFill>
            <a:srgbClr val="8A0F1A">
              <a:alpha val="10120"/>
            </a:srgbClr>
          </a:solidFill>
          <a:ln/>
        </p:spPr>
      </p:sp>
      <p:sp>
        <p:nvSpPr>
          <p:cNvPr id="24" name="Shape 22"/>
          <p:cNvSpPr/>
          <p:nvPr/>
        </p:nvSpPr>
        <p:spPr>
          <a:xfrm>
            <a:off x="6939953" y="-1232954"/>
            <a:ext cx="718490" cy="718490"/>
          </a:xfrm>
          <a:prstGeom prst="ellipse">
            <a:avLst/>
          </a:prstGeom>
          <a:solidFill>
            <a:srgbClr val="8A0F1A">
              <a:alpha val="10280"/>
            </a:srgbClr>
          </a:solidFill>
          <a:ln/>
        </p:spPr>
      </p:sp>
      <p:sp>
        <p:nvSpPr>
          <p:cNvPr id="25" name="Shape 23"/>
          <p:cNvSpPr/>
          <p:nvPr/>
        </p:nvSpPr>
        <p:spPr>
          <a:xfrm>
            <a:off x="7119576" y="-1053332"/>
            <a:ext cx="359245" cy="359245"/>
          </a:xfrm>
          <a:prstGeom prst="ellipse">
            <a:avLst/>
          </a:prstGeom>
          <a:solidFill>
            <a:srgbClr val="8A0F1A">
              <a:alpha val="10999"/>
            </a:srgbClr>
          </a:solidFill>
          <a:ln/>
        </p:spPr>
      </p:sp>
      <p:sp>
        <p:nvSpPr>
          <p:cNvPr id="26" name="Text 24"/>
          <p:cNvSpPr/>
          <p:nvPr/>
        </p:nvSpPr>
        <p:spPr>
          <a:xfrm>
            <a:off x="819302" y="1220724"/>
            <a:ext cx="365760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P2 User-facing conversational / voice</a:t>
            </a:r>
          </a:p>
        </p:txBody>
      </p:sp>
      <p:sp>
        <p:nvSpPr>
          <p:cNvPr id="27" name="Text 25"/>
          <p:cNvSpPr/>
          <p:nvPr/>
        </p:nvSpPr>
        <p:spPr>
          <a:xfrm>
            <a:off x="818388" y="1449324"/>
            <a:ext cx="342900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Guard inline,</a:t>
            </a:r>
          </a:p>
        </p:txBody>
      </p:sp>
      <p:sp>
        <p:nvSpPr>
          <p:cNvPr id="28" name="Text 26"/>
          <p:cNvSpPr/>
          <p:nvPr/>
        </p:nvSpPr>
        <p:spPr>
          <a:xfrm>
            <a:off x="3794760" y="1449324"/>
            <a:ext cx="32918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judge async</a:t>
            </a:r>
          </a:p>
        </p:txBody>
      </p:sp>
      <p:sp>
        <p:nvSpPr>
          <p:cNvPr id="29" name="Shape 27"/>
          <p:cNvSpPr/>
          <p:nvPr/>
        </p:nvSpPr>
        <p:spPr>
          <a:xfrm rot="16200000">
            <a:off x="3401568" y="1582826"/>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30" name="Shape 28"/>
          <p:cNvSpPr/>
          <p:nvPr/>
        </p:nvSpPr>
        <p:spPr>
          <a:xfrm>
            <a:off x="0" y="2709367"/>
            <a:ext cx="12191695" cy="0"/>
          </a:xfrm>
          <a:prstGeom prst="line">
            <a:avLst/>
          </a:prstGeom>
          <a:noFill/>
          <a:ln w="12700">
            <a:solidFill>
              <a:srgbClr val="D9B48A"/>
            </a:solidFill>
            <a:prstDash val="solid"/>
            <a:tailEnd type="triangle"/>
          </a:ln>
        </p:spPr>
      </p:sp>
      <p:sp>
        <p:nvSpPr>
          <p:cNvPr id="31" name="Shape 29"/>
          <p:cNvSpPr/>
          <p:nvPr/>
        </p:nvSpPr>
        <p:spPr>
          <a:xfrm>
            <a:off x="1874520" y="2926080"/>
            <a:ext cx="3264408" cy="3611880"/>
          </a:xfrm>
          <a:prstGeom prst="roundRect">
            <a:avLst>
              <a:gd name="adj" fmla="val 8650"/>
            </a:avLst>
          </a:prstGeom>
          <a:ln w="6350">
            <a:solidFill>
              <a:srgbClr val="D9B48A"/>
            </a:solidFill>
            <a:prstDash val="solid"/>
          </a:ln>
        </p:spPr>
      </p:sp>
      <p:sp>
        <p:nvSpPr>
          <p:cNvPr id="32" name="Shape 30"/>
          <p:cNvSpPr/>
          <p:nvPr/>
        </p:nvSpPr>
        <p:spPr>
          <a:xfrm rot="19800000">
            <a:off x="3459175" y="2661818"/>
            <a:ext cx="95098" cy="95098"/>
          </a:xfrm>
          <a:prstGeom prst="rect">
            <a:avLst/>
          </a:prstGeom>
          <a:solidFill>
            <a:srgbClr val="CC0000"/>
          </a:solidFill>
          <a:ln/>
        </p:spPr>
      </p:sp>
      <p:sp>
        <p:nvSpPr>
          <p:cNvPr id="33" name="Text 31"/>
          <p:cNvSpPr/>
          <p:nvPr/>
        </p:nvSpPr>
        <p:spPr>
          <a:xfrm>
            <a:off x="1984248" y="3017520"/>
            <a:ext cx="137160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First-party</a:t>
            </a:r>
          </a:p>
        </p:txBody>
      </p:sp>
      <p:sp>
        <p:nvSpPr>
          <p:cNvPr id="34" name="Shape 32"/>
          <p:cNvSpPr/>
          <p:nvPr/>
        </p:nvSpPr>
        <p:spPr>
          <a:xfrm>
            <a:off x="3246120" y="3044952"/>
            <a:ext cx="1737360" cy="374904"/>
          </a:xfrm>
          <a:prstGeom prst="roundRect">
            <a:avLst>
              <a:gd name="adj" fmla="val 50000"/>
            </a:avLst>
          </a:prstGeom>
          <a:solidFill>
            <a:srgbClr val="8A0F1A">
              <a:alpha val="15600"/>
            </a:srgbClr>
          </a:solidFill>
          <a:ln w="6350">
            <a:solidFill>
              <a:srgbClr val="D9B48A"/>
            </a:solidFill>
            <a:prstDash val="solid"/>
          </a:ln>
        </p:spPr>
      </p:sp>
      <p:sp>
        <p:nvSpPr>
          <p:cNvPr id="35" name="Text 33"/>
          <p:cNvSpPr/>
          <p:nvPr/>
        </p:nvSpPr>
        <p:spPr>
          <a:xfrm>
            <a:off x="3246120" y="3044952"/>
            <a:ext cx="1737360" cy="318211"/>
          </a:xfrm>
          <a:prstGeom prst="rect">
            <a:avLst/>
          </a:prstGeom>
          <a:noFill/>
          <a:ln/>
        </p:spPr>
        <p:txBody>
          <a:bodyPr wrap="square" lIns="91440" tIns="45720" rIns="91440" bIns="45720" rtlCol="0" anchor="t">
            <a:spAutoFit/>
          </a:bodyPr>
          <a:lstStyle/>
          <a:p>
            <a:pPr algn="ctr" indent="0" marL="0">
              <a:lnSpc>
                <a:spcPct val="150000"/>
              </a:lnSpc>
              <a:buNone/>
            </a:pPr>
            <a:r>
              <a:rPr lang="en-US" sz="1000" dirty="0">
                <a:solidFill>
                  <a:srgbClr val="FFFFFF"/>
                </a:solidFill>
                <a:latin typeface="Arial" pitchFamily="34" charset="0"/>
                <a:ea typeface="Arial" pitchFamily="34" charset="-122"/>
                <a:cs typeface="Arial" pitchFamily="34" charset="-120"/>
              </a:rPr>
              <a:t>we build it</a:t>
            </a:r>
          </a:p>
        </p:txBody>
      </p:sp>
      <p:sp>
        <p:nvSpPr>
          <p:cNvPr id="38" name="Shape 36"/>
          <p:cNvSpPr/>
          <p:nvPr/>
        </p:nvSpPr>
        <p:spPr>
          <a:xfrm>
            <a:off x="5248656" y="2926080"/>
            <a:ext cx="3264408" cy="3611880"/>
          </a:xfrm>
          <a:prstGeom prst="roundRect">
            <a:avLst>
              <a:gd name="adj" fmla="val 8650"/>
            </a:avLst>
          </a:prstGeom>
          <a:ln w="6350">
            <a:solidFill>
              <a:srgbClr val="D9B48A"/>
            </a:solidFill>
            <a:prstDash val="solid"/>
          </a:ln>
        </p:spPr>
      </p:sp>
      <p:sp>
        <p:nvSpPr>
          <p:cNvPr id="39" name="Shape 37"/>
          <p:cNvSpPr/>
          <p:nvPr/>
        </p:nvSpPr>
        <p:spPr>
          <a:xfrm rot="19800000">
            <a:off x="6833311" y="2661818"/>
            <a:ext cx="95098" cy="95098"/>
          </a:xfrm>
          <a:prstGeom prst="rect">
            <a:avLst/>
          </a:prstGeom>
          <a:solidFill>
            <a:srgbClr val="CC0000"/>
          </a:solidFill>
          <a:ln/>
        </p:spPr>
      </p:sp>
      <p:sp>
        <p:nvSpPr>
          <p:cNvPr id="40" name="Text 38"/>
          <p:cNvSpPr/>
          <p:nvPr/>
        </p:nvSpPr>
        <p:spPr>
          <a:xfrm>
            <a:off x="5358384" y="3017520"/>
            <a:ext cx="1371600" cy="338328"/>
          </a:xfrm>
          <a:prstGeom prst="rect">
            <a:avLst/>
          </a:prstGeom>
          <a:noFill/>
          <a:ln/>
        </p:spPr>
        <p:txBody>
          <a:bodyPr wrap="square" lIns="91440" tIns="45720" rIns="91440" bIns="45720" rtlCol="0" anchor="t">
            <a:spAutoFit/>
          </a:bodyPr>
          <a:lstStyle/>
          <a:p>
            <a:pPr algn="l" indent="0" marL="0">
              <a:buNone/>
            </a:pPr>
            <a:r>
              <a:rPr lang="en-US" sz="1600" dirty="0">
                <a:solidFill>
                  <a:srgbClr val="F5B700"/>
                </a:solidFill>
                <a:latin typeface="Arial" pitchFamily="34" charset="0"/>
                <a:ea typeface="Arial" pitchFamily="34" charset="-122"/>
                <a:cs typeface="Arial" pitchFamily="34" charset="-120"/>
              </a:rPr>
              <a:t>Third-party</a:t>
            </a:r>
          </a:p>
        </p:txBody>
      </p:sp>
      <p:sp>
        <p:nvSpPr>
          <p:cNvPr id="41" name="Shape 39"/>
          <p:cNvSpPr/>
          <p:nvPr/>
        </p:nvSpPr>
        <p:spPr>
          <a:xfrm>
            <a:off x="6583680" y="3044952"/>
            <a:ext cx="1828800" cy="374904"/>
          </a:xfrm>
          <a:prstGeom prst="roundRect">
            <a:avLst>
              <a:gd name="adj" fmla="val 50000"/>
            </a:avLst>
          </a:prstGeom>
          <a:solidFill>
            <a:srgbClr val="8A0F1A">
              <a:alpha val="15600"/>
            </a:srgbClr>
          </a:solidFill>
          <a:ln w="6350">
            <a:solidFill>
              <a:srgbClr val="D9B48A"/>
            </a:solidFill>
            <a:prstDash val="solid"/>
          </a:ln>
        </p:spPr>
      </p:sp>
      <p:sp>
        <p:nvSpPr>
          <p:cNvPr id="42" name="Text 40"/>
          <p:cNvSpPr/>
          <p:nvPr/>
        </p:nvSpPr>
        <p:spPr>
          <a:xfrm>
            <a:off x="6583680" y="3044952"/>
            <a:ext cx="1828800" cy="318211"/>
          </a:xfrm>
          <a:prstGeom prst="rect">
            <a:avLst/>
          </a:prstGeom>
          <a:noFill/>
          <a:ln/>
        </p:spPr>
        <p:txBody>
          <a:bodyPr wrap="square" lIns="91440" tIns="45720" rIns="91440" bIns="45720" rtlCol="0" anchor="t">
            <a:spAutoFit/>
          </a:bodyPr>
          <a:lstStyle/>
          <a:p>
            <a:pPr algn="ctr" indent="0" marL="0">
              <a:lnSpc>
                <a:spcPct val="150000"/>
              </a:lnSpc>
              <a:buNone/>
            </a:pPr>
            <a:r>
              <a:rPr lang="en-US" sz="950" dirty="0">
                <a:solidFill>
                  <a:srgbClr val="FFFFFF"/>
                </a:solidFill>
                <a:latin typeface="Arial" pitchFamily="34" charset="0"/>
                <a:ea typeface="Arial" pitchFamily="34" charset="-122"/>
                <a:cs typeface="Arial" pitchFamily="34" charset="-120"/>
              </a:rPr>
              <a:t>CES · Google · CRA</a:t>
            </a:r>
          </a:p>
        </p:txBody>
      </p:sp>
      <p:sp>
        <p:nvSpPr>
          <p:cNvPr id="45" name="Shape 43"/>
          <p:cNvSpPr/>
          <p:nvPr/>
        </p:nvSpPr>
        <p:spPr>
          <a:xfrm>
            <a:off x="8622792" y="2926080"/>
            <a:ext cx="3264408" cy="3611880"/>
          </a:xfrm>
          <a:prstGeom prst="roundRect">
            <a:avLst>
              <a:gd name="adj" fmla="val 8650"/>
            </a:avLst>
          </a:prstGeom>
          <a:solidFill>
            <a:srgbClr val="F5B700"/>
          </a:solidFill>
          <a:ln/>
        </p:spPr>
      </p:sp>
      <p:sp>
        <p:nvSpPr>
          <p:cNvPr id="46" name="Shape 44"/>
          <p:cNvSpPr/>
          <p:nvPr/>
        </p:nvSpPr>
        <p:spPr>
          <a:xfrm rot="19800000">
            <a:off x="10207447" y="2661818"/>
            <a:ext cx="95098" cy="95098"/>
          </a:xfrm>
          <a:prstGeom prst="rect">
            <a:avLst/>
          </a:prstGeom>
          <a:solidFill>
            <a:srgbClr val="CC0000"/>
          </a:solidFill>
          <a:ln/>
        </p:spPr>
      </p:sp>
      <p:sp>
        <p:nvSpPr>
          <p:cNvPr id="47" name="Text 45"/>
          <p:cNvSpPr/>
          <p:nvPr/>
        </p:nvSpPr>
        <p:spPr>
          <a:xfrm>
            <a:off x="8732520" y="3017520"/>
            <a:ext cx="1371600" cy="338328"/>
          </a:xfrm>
          <a:prstGeom prst="rect">
            <a:avLst/>
          </a:prstGeom>
          <a:noFill/>
          <a:ln/>
        </p:spPr>
        <p:txBody>
          <a:bodyPr wrap="square" lIns="91440" tIns="45720" rIns="91440" bIns="45720" rtlCol="0" anchor="t">
            <a:spAutoFit/>
          </a:bodyPr>
          <a:lstStyle/>
          <a:p>
            <a:pPr algn="l" indent="0" marL="0">
              <a:buNone/>
            </a:pPr>
            <a:r>
              <a:rPr lang="en-US" sz="1600" dirty="0">
                <a:solidFill>
                  <a:srgbClr val="141010"/>
                </a:solidFill>
                <a:latin typeface="Arial" pitchFamily="34" charset="0"/>
                <a:ea typeface="Arial" pitchFamily="34" charset="-122"/>
                <a:cs typeface="Arial" pitchFamily="34" charset="-120"/>
              </a:rPr>
              <a:t>Gap</a:t>
            </a:r>
          </a:p>
        </p:txBody>
      </p:sp>
      <p:sp>
        <p:nvSpPr>
          <p:cNvPr id="48" name="Shape 46"/>
          <p:cNvSpPr/>
          <p:nvPr/>
        </p:nvSpPr>
        <p:spPr>
          <a:xfrm>
            <a:off x="9299448" y="3044952"/>
            <a:ext cx="2468880" cy="374904"/>
          </a:xfrm>
          <a:prstGeom prst="roundRect">
            <a:avLst>
              <a:gd name="adj" fmla="val 50000"/>
            </a:avLst>
          </a:prstGeom>
          <a:solidFill>
            <a:srgbClr val="FFF1CC">
              </a:srgbClr>
          </a:solidFill>
          <a:ln w="6350">
            <a:solidFill>
              <a:srgbClr val="141010"/>
            </a:solidFill>
            <a:prstDash val="solid"/>
          </a:ln>
        </p:spPr>
      </p:sp>
      <p:sp>
        <p:nvSpPr>
          <p:cNvPr id="49" name="Text 47"/>
          <p:cNvSpPr/>
          <p:nvPr/>
        </p:nvSpPr>
        <p:spPr>
          <a:xfrm>
            <a:off x="9299448" y="3044952"/>
            <a:ext cx="2468880" cy="318211"/>
          </a:xfrm>
          <a:prstGeom prst="rect">
            <a:avLst/>
          </a:prstGeom>
          <a:noFill/>
          <a:ln/>
        </p:spPr>
        <p:txBody>
          <a:bodyPr wrap="square" lIns="91440" tIns="45720" rIns="91440" bIns="45720" rtlCol="0" anchor="t">
            <a:spAutoFit/>
          </a:bodyPr>
          <a:lstStyle/>
          <a:p>
            <a:pPr algn="ctr" indent="0" marL="0">
              <a:lnSpc>
                <a:spcPct val="150000"/>
              </a:lnSpc>
              <a:buNone/>
            </a:pPr>
            <a:r>
              <a:rPr lang="en-US" sz="1000" dirty="0">
                <a:solidFill>
                  <a:srgbClr val="141010"/>
                </a:solidFill>
                <a:latin typeface="Arial" pitchFamily="34" charset="0"/>
                <a:ea typeface="Arial" pitchFamily="34" charset="-122"/>
                <a:cs typeface="Arial" pitchFamily="34" charset="-120"/>
              </a:rPr>
              <a:t>required · missing · why</a:t>
            </a:r>
          </a:p>
        </p:txBody>
      </p:sp>
      <p:sp>
        <p:nvSpPr>
          <p:cNvPr id="98" name="v2 98"/>
          <p:cNvSpPr/>
          <p:nvPr/>
        </p:nvSpPr>
        <p:spPr>
          <a:xfrm>
            <a:off x="8732520" y="1481328"/>
            <a:ext cx="3154680" cy="548640"/>
          </a:xfrm>
          <a:prstGeom prst="rect">
            <a:avLst/>
          </a:prstGeom>
          <a:noFill/>
          <a:ln>
            <a:noFill/>
          </a:ln>
        </p:spPr>
        <p:txBody>
          <a:bodyPr wrap="square" lIns="0" tIns="0" rIns="0" bIns="0" rtlCol="0" anchor="t">
            <a:noAutofit/>
          </a:bodyPr>
          <a:lstStyle/>
          <a:p>
            <a:pPr algn="l" marL="0" indent="0">
              <a:buNone/>
            </a:pPr>
            <a:r>
              <a:rPr lang="en-US" sz="1000" dirty="0">
                <a:solidFill>
                  <a:srgbClr val="F3E6D6"/>
                </a:solidFill>
                <a:latin typeface="Arial"/>
                <a:ea typeface="Arial"/>
                <a:cs typeface="Arial"/>
              </a:rPr>
              <a:t>Voice target from a SECONDARY practitioner source [34]; Tier 1 / Tier 2 timings and vendor BYO-model are UNVERIFIED.</a:t>
            </a:r>
          </a:p>
        </p:txBody>
      </p:sp>
      <p:sp>
        <p:nvSpPr>
          <p:cNvPr id="99" name="v2 99"/>
          <p:cNvSpPr/>
          <p:nvPr/>
        </p:nvSpPr>
        <p:spPr>
          <a:xfrm>
            <a:off x="548640" y="3474720"/>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Simulate + red team</a:t>
            </a:r>
          </a:p>
        </p:txBody>
      </p:sp>
      <p:sp>
        <p:nvSpPr>
          <p:cNvPr id="100" name="v2 100"/>
          <p:cNvSpPr/>
          <p:nvPr/>
        </p:nvSpPr>
        <p:spPr>
          <a:xfrm>
            <a:off x="1984248" y="3474720"/>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Sim gate  </a:t>
            </a:r>
            <a:r>
              <a:rPr lang="en-US" sz="1050" dirty="0">
                <a:solidFill>
                  <a:srgbClr val="F3E6D6"/>
                </a:solidFill>
                <a:latin typeface="Arial"/>
                <a:ea typeface="Arial"/>
                <a:cs typeface="Arial"/>
              </a:rPr>
              <a:t>Persona + voice sims (τ³-style) scored on Galileo session metrics before release.</a:t>
            </a:r>
          </a:p>
        </p:txBody>
      </p:sp>
      <p:sp>
        <p:nvSpPr>
          <p:cNvPr id="101" name="v2 101"/>
          <p:cNvSpPr/>
          <p:nvPr/>
        </p:nvSpPr>
        <p:spPr>
          <a:xfrm>
            <a:off x="5358384" y="3474720"/>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Vendor-built  </a:t>
            </a:r>
            <a:r>
              <a:rPr lang="en-US" sz="1050" dirty="0">
                <a:solidFill>
                  <a:srgbClr val="F3E6D6"/>
                </a:solidFill>
                <a:latin typeface="Arial"/>
                <a:ea typeface="Arial"/>
                <a:cs typeface="Arial"/>
              </a:rPr>
              <a:t>e.g. CES, Google, CRA: sims via the vendor channel API; vendor test centres.</a:t>
            </a:r>
          </a:p>
        </p:txBody>
      </p:sp>
      <p:sp>
        <p:nvSpPr>
          <p:cNvPr id="102" name="v2 102"/>
          <p:cNvSpPr/>
          <p:nvPr/>
        </p:nvSpPr>
        <p:spPr>
          <a:xfrm>
            <a:off x="8732520" y="3474720"/>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Voice harness  </a:t>
            </a:r>
            <a:r>
              <a:rPr lang="en-US" sz="1050" dirty="0">
                <a:solidFill>
                  <a:srgbClr val="141010"/>
                </a:solidFill>
                <a:latin typeface="Arial"/>
                <a:ea typeface="Arial"/>
                <a:cs typeface="Arial"/>
              </a:rPr>
              <a:t>Voice sim + voice red team not chosen (Coval or a LiveKit build were options).</a:t>
            </a:r>
          </a:p>
        </p:txBody>
      </p:sp>
      <p:cxnSp>
        <p:nvCxnSpPr>
          <p:cNvPr id="103" name="g1 rule 103"/>
          <p:cNvCxnSpPr/>
          <p:nvPr/>
        </p:nvCxnSpPr>
        <p:spPr>
          <a:xfrm>
            <a:off x="548640" y="4192524"/>
            <a:ext cx="11338560" cy="0"/>
          </a:xfrm>
          <a:prstGeom prst="line">
            <a:avLst/>
          </a:prstGeom>
          <a:ln w="9525">
            <a:solidFill>
              <a:srgbClr val="5A3A2E"/>
            </a:solidFill>
          </a:ln>
        </p:spPr>
      </p:cxnSp>
      <p:sp>
        <p:nvSpPr>
          <p:cNvPr id="104" name="v2 104"/>
          <p:cNvSpPr/>
          <p:nvPr/>
        </p:nvSpPr>
        <p:spPr>
          <a:xfrm>
            <a:off x="548640" y="4224528"/>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Inline guard</a:t>
            </a:r>
          </a:p>
        </p:txBody>
      </p:sp>
      <p:sp>
        <p:nvSpPr>
          <p:cNvPr id="105" name="v2 105"/>
          <p:cNvSpPr/>
          <p:nvPr/>
        </p:nvSpPr>
        <p:spPr>
          <a:xfrm>
            <a:off x="1984248" y="4224528"/>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Tier 1 + 2  </a:t>
            </a:r>
            <a:r>
              <a:rPr lang="en-US" sz="1050" dirty="0">
                <a:solidFill>
                  <a:srgbClr val="F3E6D6"/>
                </a:solidFill>
                <a:latin typeface="Arial"/>
                <a:ea typeface="Arial"/>
                <a:cs typeface="Arial"/>
              </a:rPr>
              <a:t>Inline inside the latency budget (tiers: slide 25).</a:t>
            </a:r>
          </a:p>
        </p:txBody>
      </p:sp>
      <p:sp>
        <p:nvSpPr>
          <p:cNvPr id="106" name="v2 106"/>
          <p:cNvSpPr/>
          <p:nvPr/>
        </p:nvSpPr>
        <p:spPr>
          <a:xfrm>
            <a:off x="5358384" y="4224528"/>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No inline  </a:t>
            </a:r>
            <a:r>
              <a:rPr lang="en-US" sz="1050" dirty="0">
                <a:solidFill>
                  <a:srgbClr val="F3E6D6"/>
                </a:solidFill>
                <a:latin typeface="Arial"/>
                <a:ea typeface="Arial"/>
                <a:cs typeface="Arial"/>
              </a:rPr>
              <a:t>No inline guardrails or prompt changes unless the vendor routes model calls via the Kairos gateway.</a:t>
            </a:r>
          </a:p>
        </p:txBody>
      </p:sp>
      <p:sp>
        <p:nvSpPr>
          <p:cNvPr id="107" name="v2 107"/>
          <p:cNvSpPr/>
          <p:nvPr/>
        </p:nvSpPr>
        <p:spPr>
          <a:xfrm>
            <a:off x="8732520" y="4224528"/>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Latency tier  </a:t>
            </a:r>
            <a:r>
              <a:rPr lang="en-US" sz="1050" dirty="0">
                <a:solidFill>
                  <a:srgbClr val="141010"/>
                </a:solidFill>
                <a:latin typeface="Arial"/>
                <a:ea typeface="Arial"/>
                <a:cs typeface="Arial"/>
              </a:rPr>
              <a:t>A guardrail tier aware of latency SLOs; the targets are still UNVERIFIED.</a:t>
            </a:r>
          </a:p>
        </p:txBody>
      </p:sp>
      <p:cxnSp>
        <p:nvCxnSpPr>
          <p:cNvPr id="108" name="g1 rule 108"/>
          <p:cNvCxnSpPr/>
          <p:nvPr/>
        </p:nvCxnSpPr>
        <p:spPr>
          <a:xfrm>
            <a:off x="548640" y="4942332"/>
            <a:ext cx="11338560" cy="0"/>
          </a:xfrm>
          <a:prstGeom prst="line">
            <a:avLst/>
          </a:prstGeom>
          <a:ln w="9525">
            <a:solidFill>
              <a:srgbClr val="5A3A2E"/>
            </a:solidFill>
          </a:ln>
        </p:spPr>
      </p:cxnSp>
      <p:sp>
        <p:nvSpPr>
          <p:cNvPr id="109" name="v2 109"/>
          <p:cNvSpPr/>
          <p:nvPr/>
        </p:nvSpPr>
        <p:spPr>
          <a:xfrm>
            <a:off x="548640" y="4974336"/>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Score + observe</a:t>
            </a:r>
          </a:p>
        </p:txBody>
      </p:sp>
      <p:sp>
        <p:nvSpPr>
          <p:cNvPr id="110" name="v2 110"/>
          <p:cNvSpPr/>
          <p:nvPr/>
        </p:nvSpPr>
        <p:spPr>
          <a:xfrm>
            <a:off x="1984248" y="4974336"/>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Tier 3  </a:t>
            </a:r>
            <a:r>
              <a:rPr lang="en-US" sz="1050" dirty="0">
                <a:solidFill>
                  <a:srgbClr val="F3E6D6"/>
                </a:solidFill>
                <a:latin typeface="Arial"/>
                <a:ea typeface="Arial"/>
                <a:cs typeface="Arial"/>
              </a:rPr>
              <a:t>LLM judges run async on the trace stream and steer the next turn.</a:t>
            </a:r>
          </a:p>
        </p:txBody>
      </p:sp>
      <p:sp>
        <p:nvSpPr>
          <p:cNvPr id="111" name="v2 111"/>
          <p:cNvSpPr/>
          <p:nvPr/>
        </p:nvSpPr>
        <p:spPr>
          <a:xfrm>
            <a:off x="5358384" y="4974336"/>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Traces in  </a:t>
            </a:r>
            <a:r>
              <a:rPr lang="en-US" sz="1050" dirty="0">
                <a:solidFill>
                  <a:srgbClr val="F3E6D6"/>
                </a:solidFill>
                <a:latin typeface="Arial"/>
                <a:ea typeface="Arial"/>
                <a:cs typeface="Arial"/>
              </a:rPr>
              <a:t>Agentforce OTel session traces [32]; Copilot Studio / Agent 365 OTel [31].</a:t>
            </a:r>
          </a:p>
        </p:txBody>
      </p:sp>
      <p:sp>
        <p:nvSpPr>
          <p:cNvPr id="112" name="v2 112"/>
          <p:cNvSpPr/>
          <p:nvPr/>
        </p:nvSpPr>
        <p:spPr>
          <a:xfrm>
            <a:off x="8732520" y="4974336"/>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Cross-vendor  </a:t>
            </a:r>
            <a:r>
              <a:rPr lang="en-US" sz="1050" dirty="0">
                <a:solidFill>
                  <a:srgbClr val="141010"/>
                </a:solidFill>
                <a:latin typeface="Arial"/>
                <a:ea typeface="Arial"/>
                <a:cs typeface="Arial"/>
              </a:rPr>
              <a:t>Session scoring of vendor bots on our metrics; vendor traces often lack content.</a:t>
            </a:r>
          </a:p>
        </p:txBody>
      </p:sp>
      <p:cxnSp>
        <p:nvCxnSpPr>
          <p:cNvPr id="113" name="g1 rule 113"/>
          <p:cNvCxnSpPr/>
          <p:nvPr/>
        </p:nvCxnSpPr>
        <p:spPr>
          <a:xfrm>
            <a:off x="548640" y="5692140"/>
            <a:ext cx="11338560" cy="0"/>
          </a:xfrm>
          <a:prstGeom prst="line">
            <a:avLst/>
          </a:prstGeom>
          <a:ln w="9525">
            <a:solidFill>
              <a:srgbClr val="5A3A2E"/>
            </a:solidFill>
          </a:ln>
        </p:spPr>
      </p:cxnSp>
      <p:sp>
        <p:nvSpPr>
          <p:cNvPr id="114" name="g1 114"/>
          <p:cNvSpPr/>
          <p:nvPr/>
        </p:nvSpPr>
        <p:spPr>
          <a:xfrm>
            <a:off x="548640" y="5724144"/>
            <a:ext cx="1234440" cy="713232"/>
          </a:xfrm>
          <a:prstGeom prst="rect">
            <a:avLst/>
          </a:prstGeom>
          <a:noFill/>
          <a:ln>
            <a:noFill/>
          </a:ln>
        </p:spPr>
        <p:txBody>
          <a:bodyPr wrap="square" lIns="0" tIns="0" rIns="0" bIns="0" rtlCol="0" anchor="ctr">
            <a:noAutofit/>
          </a:bodyPr>
          <a:lstStyle/>
          <a:p>
            <a:pPr algn="l" marL="0" indent="0">
              <a:buNone/>
            </a:pPr>
            <a:r>
              <a:rPr lang="en-US" sz="1150" b="1" dirty="0">
                <a:solidFill>
                  <a:srgbClr val="F5B700"/>
                </a:solidFill>
                <a:latin typeface="Arial"/>
                <a:ea typeface="Arial"/>
                <a:cs typeface="Arial"/>
              </a:rPr>
              <a:t>Control / why</a:t>
            </a:r>
          </a:p>
        </p:txBody>
      </p:sp>
      <p:sp>
        <p:nvSpPr>
          <p:cNvPr id="115" name="g1 115"/>
          <p:cNvSpPr/>
          <p:nvPr/>
        </p:nvSpPr>
        <p:spPr>
          <a:xfrm>
            <a:off x="1984248" y="5724144"/>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Handoff  </a:t>
            </a:r>
            <a:r>
              <a:rPr lang="en-US" sz="1050" dirty="0">
                <a:solidFill>
                  <a:srgbClr val="F3E6D6"/>
                </a:solidFill>
                <a:latin typeface="Arial"/>
                <a:ea typeface="Arial"/>
                <a:cs typeface="Arial"/>
              </a:rPr>
              <a:t>Human-handoff tool and AI disclosure; knowledge and tools through the MCP gateway.</a:t>
            </a:r>
          </a:p>
        </p:txBody>
      </p:sp>
      <p:sp>
        <p:nvSpPr>
          <p:cNvPr id="116" name="g1 116"/>
          <p:cNvSpPr/>
          <p:nvPr/>
        </p:nvSpPr>
        <p:spPr>
          <a:xfrm>
            <a:off x="5358384" y="5724144"/>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FFFFFF"/>
                </a:solidFill>
                <a:latin typeface="Arial"/>
                <a:ea typeface="Arial"/>
                <a:cs typeface="Arial"/>
              </a:rPr>
              <a:t>Scopes  </a:t>
            </a:r>
            <a:r>
              <a:rPr lang="en-US" sz="1050" dirty="0">
                <a:solidFill>
                  <a:srgbClr val="F3E6D6"/>
                </a:solidFill>
                <a:latin typeface="Arial"/>
                <a:ea typeface="Arial"/>
                <a:cs typeface="Arial"/>
              </a:rPr>
              <a:t>We control the knowledge, MCP tools and customer-data scopes we expose.</a:t>
            </a:r>
          </a:p>
        </p:txBody>
      </p:sp>
      <p:sp>
        <p:nvSpPr>
          <p:cNvPr id="117" name="g1 117"/>
          <p:cNvSpPr/>
          <p:nvPr/>
        </p:nvSpPr>
        <p:spPr>
          <a:xfrm>
            <a:off x="8732520" y="5724144"/>
            <a:ext cx="3044952" cy="713232"/>
          </a:xfrm>
          <a:prstGeom prst="rect">
            <a:avLst/>
          </a:prstGeom>
          <a:noFill/>
          <a:ln>
            <a:noFill/>
          </a:ln>
        </p:spPr>
        <p:txBody>
          <a:bodyPr wrap="square" lIns="0" tIns="0" rIns="0" bIns="0" rtlCol="0" anchor="ctr">
            <a:noAutofit/>
          </a:bodyPr>
          <a:lstStyle/>
          <a:p>
            <a:pPr algn="l" marL="0" indent="0">
              <a:lnSpc>
                <a:spcPct val="105000"/>
              </a:lnSpc>
              <a:buNone/>
            </a:pPr>
            <a:r>
              <a:rPr lang="en-US" sz="1150" b="1" dirty="0">
                <a:solidFill>
                  <a:srgbClr val="141010"/>
                </a:solidFill>
                <a:latin typeface="Arial"/>
                <a:ea typeface="Arial"/>
                <a:cs typeface="Arial"/>
              </a:rPr>
              <a:t>Why  </a:t>
            </a:r>
            <a:r>
              <a:rPr lang="en-US" sz="1050" dirty="0">
                <a:solidFill>
                  <a:srgbClr val="141010"/>
                </a:solidFill>
                <a:latin typeface="Arial"/>
                <a:ea typeface="Arial"/>
                <a:cs typeface="Arial"/>
              </a:rPr>
              <a:t>Gartner: 60% of brands use agentic AI one-to-one by 2028 [11b]; observability is “fragmented” [1].</a:t>
            </a:r>
          </a:p>
        </p:txBody>
      </p:sp>
      <p:sp>
        <p:nvSpPr>
          <p:cNvPr id="119" name="g2 119"/>
          <p:cNvSpPr/>
          <p:nvPr/>
        </p:nvSpPr>
        <p:spPr>
          <a:xfrm>
            <a:off x="548640" y="2194560"/>
            <a:ext cx="173736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Caller</a:t>
            </a:r>
          </a:p>
          <a:p>
            <a:pPr algn="l" marL="0" indent="0">
              <a:lnSpc>
                <a:spcPct val="100000"/>
              </a:lnSpc>
              <a:buNone/>
            </a:pPr>
            <a:r>
              <a:rPr lang="en-US" sz="800" dirty="0">
                <a:solidFill>
                  <a:srgbClr val="F3E6D6"/>
                </a:solidFill>
                <a:latin typeface="Arial"/>
                <a:ea typeface="Arial"/>
                <a:cs typeface="Arial"/>
              </a:rPr>
              <a:t>chat · IVR · SIP</a:t>
            </a:r>
          </a:p>
        </p:txBody>
      </p:sp>
      <p:sp>
        <p:nvSpPr>
          <p:cNvPr id="120" name="g2 120"/>
          <p:cNvSpPr/>
          <p:nvPr/>
        </p:nvSpPr>
        <p:spPr>
          <a:xfrm>
            <a:off x="2606040" y="2194560"/>
            <a:ext cx="173736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Agent on Kairos SDK</a:t>
            </a:r>
          </a:p>
          <a:p>
            <a:pPr algn="l" marL="0" indent="0">
              <a:lnSpc>
                <a:spcPct val="100000"/>
              </a:lnSpc>
              <a:buNone/>
            </a:pPr>
            <a:r>
              <a:rPr lang="en-US" sz="800" dirty="0">
                <a:solidFill>
                  <a:srgbClr val="F3E6D6"/>
                </a:solidFill>
                <a:latin typeface="Arial"/>
                <a:ea typeface="Arial"/>
                <a:cs typeface="Arial"/>
              </a:rPr>
              <a:t>human-handoff tool</a:t>
            </a:r>
          </a:p>
        </p:txBody>
      </p:sp>
      <p:sp>
        <p:nvSpPr>
          <p:cNvPr id="121" name="g2 121"/>
          <p:cNvSpPr/>
          <p:nvPr/>
        </p:nvSpPr>
        <p:spPr>
          <a:xfrm>
            <a:off x="4663440" y="2194560"/>
            <a:ext cx="2377440" cy="43891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Kairos gateway inline: Tier 1 + 2</a:t>
            </a:r>
          </a:p>
          <a:p>
            <a:pPr algn="l" marL="0" indent="0">
              <a:lnSpc>
                <a:spcPct val="100000"/>
              </a:lnSpc>
              <a:buNone/>
            </a:pPr>
            <a:r>
              <a:rPr lang="en-US" sz="800" dirty="0">
                <a:solidFill>
                  <a:srgbClr val="141010"/>
                </a:solidFill>
                <a:latin typeface="Arial"/>
                <a:ea typeface="Arial"/>
                <a:cs typeface="Arial"/>
              </a:rPr>
              <a:t>regex · schema · PII + NeMo / Luna</a:t>
            </a:r>
          </a:p>
        </p:txBody>
      </p:sp>
      <p:sp>
        <p:nvSpPr>
          <p:cNvPr id="122" name="g2 122"/>
          <p:cNvSpPr/>
          <p:nvPr/>
        </p:nvSpPr>
        <p:spPr>
          <a:xfrm>
            <a:off x="7360920" y="2194560"/>
            <a:ext cx="173736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First audio</a:t>
            </a:r>
          </a:p>
          <a:p>
            <a:pPr algn="l" marL="0" indent="0">
              <a:lnSpc>
                <a:spcPct val="100000"/>
              </a:lnSpc>
              <a:buNone/>
            </a:pPr>
            <a:r>
              <a:rPr lang="en-US" sz="800" dirty="0">
                <a:solidFill>
                  <a:srgbClr val="F3E6D6"/>
                </a:solidFill>
                <a:latin typeface="Arial"/>
                <a:ea typeface="Arial"/>
                <a:cs typeface="Arial"/>
              </a:rPr>
              <a:t>&lt; 800 ms; p95 &lt; 1.5 s [34]</a:t>
            </a:r>
          </a:p>
        </p:txBody>
      </p:sp>
      <p:sp>
        <p:nvSpPr>
          <p:cNvPr id="123" name="g2 123"/>
          <p:cNvSpPr/>
          <p:nvPr/>
        </p:nvSpPr>
        <p:spPr>
          <a:xfrm>
            <a:off x="9418320" y="2194560"/>
            <a:ext cx="246888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Tier 3 async LLM judges</a:t>
            </a:r>
          </a:p>
          <a:p>
            <a:pPr algn="l" marL="0" indent="0">
              <a:lnSpc>
                <a:spcPct val="100000"/>
              </a:lnSpc>
              <a:buNone/>
            </a:pPr>
            <a:r>
              <a:rPr lang="en-US" sz="800" dirty="0">
                <a:solidFill>
                  <a:srgbClr val="F3E6D6"/>
                </a:solidFill>
                <a:latin typeface="Arial"/>
                <a:ea typeface="Arial"/>
                <a:cs typeface="Arial"/>
              </a:rPr>
              <a:t>on the trace stream; steer the next turn</a:t>
            </a:r>
          </a:p>
        </p:txBody>
      </p:sp>
      <p:cxnSp>
        <p:nvCxnSpPr>
          <p:cNvPr id="124" name="g2 flow 124"/>
          <p:cNvCxnSpPr/>
          <p:nvPr/>
        </p:nvCxnSpPr>
        <p:spPr>
          <a:xfrm>
            <a:off x="2286000" y="2414016"/>
            <a:ext cx="320040" cy="0"/>
          </a:xfrm>
          <a:prstGeom prst="line">
            <a:avLst/>
          </a:prstGeom>
          <a:ln w="12700">
            <a:solidFill>
              <a:srgbClr val="EE0000"/>
            </a:solidFill>
            <a:tailEnd type="triangle" w="med" len="med"/>
          </a:ln>
        </p:spPr>
      </p:cxnSp>
      <p:cxnSp>
        <p:nvCxnSpPr>
          <p:cNvPr id="125" name="g2 flow 125"/>
          <p:cNvCxnSpPr/>
          <p:nvPr/>
        </p:nvCxnSpPr>
        <p:spPr>
          <a:xfrm>
            <a:off x="4343400" y="2414016"/>
            <a:ext cx="320040" cy="0"/>
          </a:xfrm>
          <a:prstGeom prst="line">
            <a:avLst/>
          </a:prstGeom>
          <a:ln w="12700">
            <a:solidFill>
              <a:srgbClr val="EE0000"/>
            </a:solidFill>
            <a:tailEnd type="triangle" w="med" len="med"/>
          </a:ln>
        </p:spPr>
      </p:cxnSp>
      <p:cxnSp>
        <p:nvCxnSpPr>
          <p:cNvPr id="126" name="g2 flow 126"/>
          <p:cNvCxnSpPr/>
          <p:nvPr/>
        </p:nvCxnSpPr>
        <p:spPr>
          <a:xfrm>
            <a:off x="7040880" y="2414016"/>
            <a:ext cx="320040" cy="0"/>
          </a:xfrm>
          <a:prstGeom prst="line">
            <a:avLst/>
          </a:prstGeom>
          <a:ln w="12700">
            <a:solidFill>
              <a:srgbClr val="EE0000"/>
            </a:solidFill>
            <a:tailEnd type="triangle" w="med" len="med"/>
          </a:ln>
        </p:spPr>
      </p:cxnSp>
      <p:cxnSp>
        <p:nvCxnSpPr>
          <p:cNvPr id="127" name="g2 flow 127"/>
          <p:cNvCxnSpPr/>
          <p:nvPr/>
        </p:nvCxnSpPr>
        <p:spPr>
          <a:xfrm>
            <a:off x="9098280" y="2414016"/>
            <a:ext cx="320040" cy="0"/>
          </a:xfrm>
          <a:prstGeom prst="line">
            <a:avLst/>
          </a:prstGeom>
          <a:ln w="12700">
            <a:solidFill>
              <a:srgbClr val="EE0000"/>
            </a:solidFill>
            <a:prstDash val="dash"/>
            <a:tailEnd type="triangle" w="med" len="med"/>
          </a:ln>
        </p:spPr>
      </p:cxnSp>
      <p:sp>
        <p:nvSpPr>
          <p:cNvPr id="12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30 / 44</a:t>
            </a:r>
          </a:p>
        </p:txBody>
      </p:sp>
      <p:sp>
        <p:nvSpPr>
          <p:cNvPr id="12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30"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50" name="Text 48"/>
          <p:cNvSpPr/>
          <p:nvPr/>
        </p:nvSpPr>
        <p:spPr>
          <a:xfrm>
            <a:off x="678485" y="1548079"/>
            <a:ext cx="365760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Why now</a:t>
            </a:r>
          </a:p>
        </p:txBody>
      </p:sp>
      <p:sp>
        <p:nvSpPr>
          <p:cNvPr id="51" name="Text 49"/>
          <p:cNvSpPr/>
          <p:nvPr/>
        </p:nvSpPr>
        <p:spPr>
          <a:xfrm>
            <a:off x="678485" y="1776679"/>
            <a:ext cx="40233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Control before</a:t>
            </a:r>
          </a:p>
        </p:txBody>
      </p:sp>
      <p:sp>
        <p:nvSpPr>
          <p:cNvPr id="52" name="Text 50"/>
          <p:cNvSpPr/>
          <p:nvPr/>
        </p:nvSpPr>
        <p:spPr>
          <a:xfrm>
            <a:off x="1351483" y="2268626"/>
            <a:ext cx="310896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capability</a:t>
            </a:r>
          </a:p>
        </p:txBody>
      </p:sp>
      <p:sp>
        <p:nvSpPr>
          <p:cNvPr id="53" name="Shape 51"/>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Text 52"/>
          <p:cNvSpPr/>
          <p:nvPr/>
        </p:nvSpPr>
        <p:spPr>
          <a:xfrm>
            <a:off x="718718" y="2971800"/>
            <a:ext cx="3840480" cy="825703"/>
          </a:xfrm>
          <a:prstGeom prst="rect">
            <a:avLst/>
          </a:prstGeom>
          <a:noFill/>
          <a:ln/>
        </p:spPr>
        <p:txBody>
          <a:bodyPr wrap="square" lIns="91440" tIns="45720" rIns="91440" bIns="45720" rtlCol="0" anchor="t">
            <a:spAutoFit/>
          </a:bodyPr>
          <a:lstStyle/>
          <a:p>
            <a:pPr indent="0" marL="0">
              <a:lnSpc>
                <a:spcPct val="150000"/>
              </a:lnSpc>
              <a:buNone/>
            </a:pPr>
            <a:r>
              <a:rPr lang="en-US" sz="1150" dirty="0">
                <a:solidFill>
                  <a:srgbClr val="F3E6D6"/>
                </a:solidFill>
                <a:latin typeface="Arial" pitchFamily="34" charset="0"/>
                <a:ea typeface="Arial" pitchFamily="34" charset="-122"/>
                <a:cs typeface="Arial" pitchFamily="34" charset="-120"/>
              </a:rPr>
              <a:t>Gartner's 2026 AI Hype Cycle asks whether an enterprise “can account for what its AI is doing and what it costs”. For us that answer has to be per agent, ours or vendor-built, not per model.</a:t>
            </a:r>
          </a:p>
        </p:txBody>
      </p:sp>
      <p:sp>
        <p:nvSpPr>
          <p:cNvPr id="55" name="Text 53"/>
          <p:cNvSpPr/>
          <p:nvPr/>
        </p:nvSpPr>
        <p:spPr>
          <a:xfrm>
            <a:off x="705917" y="4334256"/>
            <a:ext cx="3840480" cy="369418"/>
          </a:xfrm>
          <a:prstGeom prst="rect">
            <a:avLst/>
          </a:prstGeom>
          <a:noFill/>
          <a:ln/>
        </p:spPr>
        <p:txBody>
          <a:bodyPr wrap="none" lIns="91440" tIns="45720" rIns="91440" bIns="45720" rtlCol="0" anchor="t">
            <a:spAutoFit/>
          </a:bodyPr>
          <a:lstStyle/>
          <a:p>
            <a:pPr indent="0" marL="0">
              <a:buNone/>
            </a:pPr>
            <a:r>
              <a:rPr lang="en-US" sz="1800" dirty="0">
                <a:solidFill>
                  <a:srgbClr val="FFFFFF"/>
                </a:solidFill>
                <a:latin typeface="Arial" pitchFamily="34" charset="0"/>
                <a:ea typeface="Arial" pitchFamily="34" charset="-122"/>
                <a:cs typeface="Arial" pitchFamily="34" charset="-120"/>
              </a:rPr>
              <a:t>Gartner asks · leaders do</a:t>
            </a:r>
          </a:p>
        </p:txBody>
      </p:sp>
      <p:sp>
        <p:nvSpPr>
          <p:cNvPr id="56" name="Text 54"/>
          <p:cNvSpPr/>
          <p:nvPr/>
        </p:nvSpPr>
        <p:spPr>
          <a:xfrm>
            <a:off x="718718" y="6089904"/>
            <a:ext cx="3886200" cy="457200"/>
          </a:xfrm>
          <a:prstGeom prst="rect">
            <a:avLst/>
          </a:prstGeom>
          <a:noFill/>
          <a:ln/>
        </p:spPr>
        <p:txBody>
          <a:bodyPr wrap="square" lIns="91440" tIns="45720" rIns="91440" bIns="45720" rtlCol="0" anchor="t">
            <a:spAutoFit/>
          </a:bodyPr>
          <a:lstStyle/>
          <a:p>
            <a:pPr indent="0" marL="0">
              <a:lnSpc>
                <a:spcPct val="120000"/>
              </a:lnSpc>
              <a:buNone/>
            </a:pPr>
            <a:r>
              <a:rPr lang="en-US" sz="900" dirty="0">
                <a:solidFill>
                  <a:srgbClr val="F3E6D6"/>
                </a:solidFill>
                <a:latin typeface="Arial" pitchFamily="34" charset="0"/>
                <a:ea typeface="Arial" pitchFamily="34" charset="-122"/>
                <a:cs typeface="Arial" pitchFamily="34" charset="-120"/>
              </a:rPr>
              <a:t>Filled: Gartner prerequisite or “most consequential” [1]  ·  Outline: what peers already run (public sources [38]–[40])</a:t>
            </a:r>
          </a:p>
        </p:txBody>
      </p:sp>
      <p:sp>
        <p:nvSpPr>
          <p:cNvPr id="57" name="Shape 55"/>
          <p:cNvSpPr/>
          <p:nvPr/>
        </p:nvSpPr>
        <p:spPr>
          <a:xfrm>
            <a:off x="4732934" y="0"/>
            <a:ext cx="0" cy="6386170"/>
          </a:xfrm>
          <a:prstGeom prst="line">
            <a:avLst/>
          </a:prstGeom>
          <a:noFill/>
          <a:ln w="12700">
            <a:solidFill>
              <a:srgbClr val="D9B48A"/>
            </a:solidFill>
            <a:prstDash val="solid"/>
            <a:tailEnd type="triangle"/>
          </a:ln>
        </p:spPr>
      </p:sp>
      <p:sp>
        <p:nvSpPr>
          <p:cNvPr id="58" name="Shape 56"/>
          <p:cNvSpPr/>
          <p:nvPr/>
        </p:nvSpPr>
        <p:spPr>
          <a:xfrm rot="3600000">
            <a:off x="4685386" y="2098548"/>
            <a:ext cx="95098" cy="95098"/>
          </a:xfrm>
          <a:prstGeom prst="rect">
            <a:avLst/>
          </a:prstGeom>
          <a:solidFill>
            <a:srgbClr val="CC0000"/>
          </a:solidFill>
          <a:ln/>
        </p:spPr>
      </p:sp>
      <p:sp>
        <p:nvSpPr>
          <p:cNvPr id="59" name="Shape 57"/>
          <p:cNvSpPr/>
          <p:nvPr/>
        </p:nvSpPr>
        <p:spPr>
          <a:xfrm>
            <a:off x="5135270" y="1446581"/>
            <a:ext cx="6462979" cy="1384402"/>
          </a:xfrm>
          <a:prstGeom prst="roundRect">
            <a:avLst>
              <a:gd name="adj" fmla="val 15852"/>
            </a:avLst>
          </a:prstGeom>
          <a:solidFill>
            <a:srgbClr val="F5B700"/>
          </a:solidFill>
          <a:ln/>
        </p:spPr>
      </p:sp>
      <p:sp>
        <p:nvSpPr>
          <p:cNvPr id="60" name="Shape 58"/>
          <p:cNvSpPr/>
          <p:nvPr/>
        </p:nvSpPr>
        <p:spPr>
          <a:xfrm>
            <a:off x="7882128" y="1446581"/>
            <a:ext cx="0" cy="1384402"/>
          </a:xfrm>
          <a:prstGeom prst="line">
            <a:avLst/>
          </a:prstGeom>
          <a:noFill/>
          <a:ln w="12700">
            <a:solidFill>
              <a:srgbClr val="141010"/>
            </a:solidFill>
            <a:prstDash val="solid"/>
          </a:ln>
        </p:spPr>
      </p:sp>
      <p:sp>
        <p:nvSpPr>
          <p:cNvPr id="61" name="Shape 59"/>
          <p:cNvSpPr/>
          <p:nvPr/>
        </p:nvSpPr>
        <p:spPr>
          <a:xfrm>
            <a:off x="5316322" y="1638605"/>
            <a:ext cx="1143000" cy="374904"/>
          </a:xfrm>
          <a:prstGeom prst="roundRect">
            <a:avLst>
              <a:gd name="adj" fmla="val 50000"/>
            </a:avLst>
          </a:prstGeom>
          <a:solidFill>
            <a:srgbClr val="FFF1CC">
              </a:srgbClr>
          </a:solidFill>
          <a:ln w="6350">
            <a:solidFill>
              <a:srgbClr val="141010"/>
            </a:solidFill>
            <a:prstDash val="solid"/>
          </a:ln>
        </p:spPr>
      </p:sp>
      <p:sp>
        <p:nvSpPr>
          <p:cNvPr id="62" name="Text 60"/>
          <p:cNvSpPr/>
          <p:nvPr/>
        </p:nvSpPr>
        <p:spPr>
          <a:xfrm>
            <a:off x="5316322" y="1638605"/>
            <a:ext cx="114300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Adoption</a:t>
            </a:r>
          </a:p>
        </p:txBody>
      </p:sp>
      <p:sp>
        <p:nvSpPr>
          <p:cNvPr id="63" name="Text 61"/>
          <p:cNvSpPr/>
          <p:nvPr/>
        </p:nvSpPr>
        <p:spPr>
          <a:xfrm>
            <a:off x="5364785" y="2011680"/>
            <a:ext cx="2514600" cy="338328"/>
          </a:xfrm>
          <a:prstGeom prst="rect">
            <a:avLst/>
          </a:prstGeom>
          <a:noFill/>
          <a:ln/>
        </p:spPr>
        <p:txBody>
          <a:bodyPr wrap="square" lIns="91440" tIns="45720" rIns="91440" bIns="45720" rtlCol="0" anchor="t">
            <a:spAutoFit/>
          </a:bodyPr>
          <a:lstStyle/>
          <a:p>
            <a:pPr indent="0" marL="0">
              <a:buNone/>
            </a:pPr>
            <a:r>
              <a:rPr lang="en-US" sz="2200" dirty="0" b="1">
                <a:solidFill>
                  <a:srgbClr val="141010"/>
                </a:solidFill>
                <a:latin typeface="Arial" pitchFamily="34" charset="0"/>
                <a:ea typeface="Arial" pitchFamily="34" charset="-122"/>
                <a:cs typeface="Arial" pitchFamily="34" charset="-120"/>
              </a:rPr>
              <a:t>17% deployed</a:t>
            </a:r>
          </a:p>
        </p:txBody>
      </p:sp>
      <p:sp>
        <p:nvSpPr>
          <p:cNvPr id="64" name="Text 62"/>
          <p:cNvSpPr/>
          <p:nvPr/>
        </p:nvSpPr>
        <p:spPr>
          <a:xfrm>
            <a:off x="5398618" y="2432304"/>
            <a:ext cx="2468880" cy="318211"/>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141010"/>
                </a:solidFill>
                <a:latin typeface="Arial" pitchFamily="34" charset="0"/>
                <a:ea typeface="Arial" pitchFamily="34" charset="-122"/>
                <a:cs typeface="Arial" pitchFamily="34" charset="-120"/>
              </a:rPr>
              <a:t>&gt;60% expect to within 2 years</a:t>
            </a:r>
          </a:p>
        </p:txBody>
      </p:sp>
      <p:sp>
        <p:nvSpPr>
          <p:cNvPr id="65" name="Text 63"/>
          <p:cNvSpPr/>
          <p:nvPr/>
        </p:nvSpPr>
        <p:spPr>
          <a:xfrm>
            <a:off x="7973568" y="1519733"/>
            <a:ext cx="3584448" cy="1243584"/>
          </a:xfrm>
          <a:prstGeom prst="rect">
            <a:avLst/>
          </a:prstGeom>
          <a:noFill/>
          <a:ln/>
        </p:spPr>
        <p:txBody>
          <a:bodyPr wrap="square" lIns="91440" tIns="45720" rIns="91440" bIns="45720" rtlCol="0" anchor="ctr">
            <a:noAutofit/>
          </a:bodyPr>
          <a:lstStyle/>
          <a:p>
            <a:pPr indent="0" marL="0">
              <a:lnSpc>
                <a:spcPct val="125000"/>
              </a:lnSpc>
              <a:buNone/>
            </a:pPr>
            <a:r>
              <a:rPr lang="en-US" sz="1150" dirty="0">
                <a:solidFill>
                  <a:srgbClr val="141010"/>
                </a:solidFill>
                <a:latin typeface="Arial" pitchFamily="34" charset="0"/>
                <a:ea typeface="Arial" pitchFamily="34" charset="-122"/>
                <a:cs typeface="Arial" pitchFamily="34" charset="-120"/>
              </a:rPr>
              <a:t>Only 17% of organisations have deployed AI agents; more than 60% expect to within two years. Agents are arriving faster than our controls. [1][2]</a:t>
            </a:r>
          </a:p>
        </p:txBody>
      </p:sp>
      <p:sp>
        <p:nvSpPr>
          <p:cNvPr id="66" name="Shape 64"/>
          <p:cNvSpPr/>
          <p:nvPr/>
        </p:nvSpPr>
        <p:spPr>
          <a:xfrm rot="3600000">
            <a:off x="4685386" y="3756355"/>
            <a:ext cx="95098" cy="95098"/>
          </a:xfrm>
          <a:prstGeom prst="rect">
            <a:avLst/>
          </a:prstGeom>
          <a:solidFill>
            <a:srgbClr val="CC0000"/>
          </a:solidFill>
          <a:ln/>
        </p:spPr>
      </p:sp>
      <p:sp>
        <p:nvSpPr>
          <p:cNvPr id="67" name="Shape 65"/>
          <p:cNvSpPr/>
          <p:nvPr/>
        </p:nvSpPr>
        <p:spPr>
          <a:xfrm>
            <a:off x="5135270" y="3072384"/>
            <a:ext cx="6462979" cy="1384402"/>
          </a:xfrm>
          <a:prstGeom prst="roundRect">
            <a:avLst>
              <a:gd name="adj" fmla="val 15852"/>
            </a:avLst>
          </a:prstGeom>
          <a:ln w="9525">
            <a:solidFill>
              <a:srgbClr val="D9B48A"/>
            </a:solidFill>
            <a:prstDash val="solid"/>
          </a:ln>
        </p:spPr>
      </p:sp>
      <p:sp>
        <p:nvSpPr>
          <p:cNvPr id="68" name="Shape 66"/>
          <p:cNvSpPr/>
          <p:nvPr/>
        </p:nvSpPr>
        <p:spPr>
          <a:xfrm>
            <a:off x="7882128" y="3072384"/>
            <a:ext cx="0" cy="1384402"/>
          </a:xfrm>
          <a:prstGeom prst="line">
            <a:avLst/>
          </a:prstGeom>
          <a:noFill/>
          <a:ln w="12700">
            <a:solidFill>
              <a:srgbClr val="D9B48A"/>
            </a:solidFill>
            <a:prstDash val="solid"/>
          </a:ln>
        </p:spPr>
      </p:sp>
      <p:sp>
        <p:nvSpPr>
          <p:cNvPr id="69" name="Shape 67"/>
          <p:cNvSpPr/>
          <p:nvPr/>
        </p:nvSpPr>
        <p:spPr>
          <a:xfrm>
            <a:off x="5316322" y="3264408"/>
            <a:ext cx="1143000" cy="374904"/>
          </a:xfrm>
          <a:prstGeom prst="roundRect">
            <a:avLst>
              <a:gd name="adj" fmla="val 50000"/>
            </a:avLst>
          </a:prstGeom>
          <a:solidFill>
            <a:srgbClr val="8A0F1A">
              <a:alpha val="15600"/>
            </a:srgbClr>
          </a:solidFill>
          <a:ln w="6350">
            <a:solidFill>
              <a:srgbClr val="D9B48A"/>
            </a:solidFill>
            <a:prstDash val="solid"/>
          </a:ln>
        </p:spPr>
      </p:sp>
      <p:sp>
        <p:nvSpPr>
          <p:cNvPr id="70" name="Text 68"/>
          <p:cNvSpPr/>
          <p:nvPr/>
        </p:nvSpPr>
        <p:spPr>
          <a:xfrm>
            <a:off x="5316322" y="3264408"/>
            <a:ext cx="114300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Attrition</a:t>
            </a:r>
          </a:p>
        </p:txBody>
      </p:sp>
      <p:sp>
        <p:nvSpPr>
          <p:cNvPr id="71" name="Text 69"/>
          <p:cNvSpPr/>
          <p:nvPr/>
        </p:nvSpPr>
        <p:spPr>
          <a:xfrm>
            <a:off x="5364785" y="3639312"/>
            <a:ext cx="2514600" cy="338328"/>
          </a:xfrm>
          <a:prstGeom prst="rect">
            <a:avLst/>
          </a:prstGeom>
          <a:noFill/>
          <a:ln/>
        </p:spPr>
        <p:txBody>
          <a:bodyPr wrap="square" lIns="91440" tIns="45720" rIns="91440" bIns="45720" rtlCol="0" anchor="t">
            <a:spAutoFit/>
          </a:bodyPr>
          <a:lstStyle/>
          <a:p>
            <a:pPr indent="0" marL="0">
              <a:buNone/>
            </a:pPr>
            <a:r>
              <a:rPr lang="en-US" sz="2200" dirty="0" b="1">
                <a:solidFill>
                  <a:srgbClr val="FFFFFF"/>
                </a:solidFill>
                <a:latin typeface="Arial" pitchFamily="34" charset="0"/>
                <a:ea typeface="Arial" pitchFamily="34" charset="-122"/>
                <a:cs typeface="Arial" pitchFamily="34" charset="-120"/>
              </a:rPr>
              <a:t>&gt;40% cancelled</a:t>
            </a:r>
          </a:p>
        </p:txBody>
      </p:sp>
      <p:sp>
        <p:nvSpPr>
          <p:cNvPr id="72" name="Text 70"/>
          <p:cNvSpPr/>
          <p:nvPr/>
        </p:nvSpPr>
        <p:spPr>
          <a:xfrm>
            <a:off x="5398618" y="4059936"/>
            <a:ext cx="2468880" cy="318211"/>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5B700"/>
                </a:solidFill>
                <a:latin typeface="Arial" pitchFamily="34" charset="0"/>
                <a:ea typeface="Arial" pitchFamily="34" charset="-122"/>
                <a:cs typeface="Arial" pitchFamily="34" charset="-120"/>
              </a:rPr>
              <a:t>agentic AI projects by end-2027</a:t>
            </a:r>
          </a:p>
        </p:txBody>
      </p:sp>
      <p:sp>
        <p:nvSpPr>
          <p:cNvPr id="73" name="Text 71"/>
          <p:cNvSpPr/>
          <p:nvPr/>
        </p:nvSpPr>
        <p:spPr>
          <a:xfrm>
            <a:off x="7973568" y="3145536"/>
            <a:ext cx="3584448" cy="1243584"/>
          </a:xfrm>
          <a:prstGeom prst="rect">
            <a:avLst/>
          </a:prstGeom>
          <a:noFill/>
          <a:ln/>
        </p:spPr>
        <p:txBody>
          <a:bodyPr wrap="square" lIns="91440" tIns="45720" rIns="91440" bIns="45720" rtlCol="0" anchor="ctr">
            <a:noAutofit/>
          </a:bodyPr>
          <a:lstStyle/>
          <a:p>
            <a:pPr indent="0" marL="0">
              <a:lnSpc>
                <a:spcPct val="125000"/>
              </a:lnSpc>
              <a:buNone/>
            </a:pPr>
            <a:r>
              <a:rPr lang="en-US" sz="1150" dirty="0">
                <a:solidFill>
                  <a:srgbClr val="F3E6D6"/>
                </a:solidFill>
                <a:latin typeface="Arial" pitchFamily="34" charset="0"/>
                <a:ea typeface="Arial" pitchFamily="34" charset="-122"/>
                <a:cs typeface="Arial" pitchFamily="34" charset="-120"/>
              </a:rPr>
              <a:t>Gartner still expects more than 40% of agentic AI projects to be cancelled by end-2027. It calls governance and identity “prerequisite investments”. [1][3]</a:t>
            </a:r>
          </a:p>
        </p:txBody>
      </p:sp>
      <p:sp>
        <p:nvSpPr>
          <p:cNvPr id="74" name="Shape 72"/>
          <p:cNvSpPr/>
          <p:nvPr/>
        </p:nvSpPr>
        <p:spPr>
          <a:xfrm rot="3600000">
            <a:off x="4685386" y="5415991"/>
            <a:ext cx="95098" cy="95098"/>
          </a:xfrm>
          <a:prstGeom prst="rect">
            <a:avLst/>
          </a:prstGeom>
          <a:solidFill>
            <a:srgbClr val="CC0000"/>
          </a:solidFill>
          <a:ln/>
        </p:spPr>
      </p:sp>
      <p:sp>
        <p:nvSpPr>
          <p:cNvPr id="75" name="Shape 73"/>
          <p:cNvSpPr/>
          <p:nvPr/>
        </p:nvSpPr>
        <p:spPr>
          <a:xfrm>
            <a:off x="5135270" y="4739335"/>
            <a:ext cx="6462979" cy="1384402"/>
          </a:xfrm>
          <a:prstGeom prst="roundRect">
            <a:avLst>
              <a:gd name="adj" fmla="val 15852"/>
            </a:avLst>
          </a:prstGeom>
          <a:ln w="9525">
            <a:solidFill>
              <a:srgbClr val="D9B48A"/>
            </a:solidFill>
            <a:prstDash val="solid"/>
          </a:ln>
        </p:spPr>
      </p:sp>
      <p:sp>
        <p:nvSpPr>
          <p:cNvPr id="76" name="Shape 74"/>
          <p:cNvSpPr/>
          <p:nvPr/>
        </p:nvSpPr>
        <p:spPr>
          <a:xfrm>
            <a:off x="7882128" y="4739335"/>
            <a:ext cx="0" cy="1384402"/>
          </a:xfrm>
          <a:prstGeom prst="line">
            <a:avLst/>
          </a:prstGeom>
          <a:noFill/>
          <a:ln w="12700">
            <a:solidFill>
              <a:srgbClr val="D9B48A"/>
            </a:solidFill>
            <a:prstDash val="solid"/>
          </a:ln>
        </p:spPr>
      </p:sp>
      <p:sp>
        <p:nvSpPr>
          <p:cNvPr id="77" name="Shape 75"/>
          <p:cNvSpPr/>
          <p:nvPr/>
        </p:nvSpPr>
        <p:spPr>
          <a:xfrm>
            <a:off x="5316322" y="4931359"/>
            <a:ext cx="1143000" cy="374904"/>
          </a:xfrm>
          <a:prstGeom prst="roundRect">
            <a:avLst>
              <a:gd name="adj" fmla="val 50000"/>
            </a:avLst>
          </a:prstGeom>
          <a:solidFill>
            <a:srgbClr val="8A0F1A">
              <a:alpha val="15600"/>
            </a:srgbClr>
          </a:solidFill>
          <a:ln w="6350">
            <a:solidFill>
              <a:srgbClr val="D9B48A"/>
            </a:solidFill>
            <a:prstDash val="solid"/>
          </a:ln>
        </p:spPr>
      </p:sp>
      <p:sp>
        <p:nvSpPr>
          <p:cNvPr id="78" name="Text 76"/>
          <p:cNvSpPr/>
          <p:nvPr/>
        </p:nvSpPr>
        <p:spPr>
          <a:xfrm>
            <a:off x="5316322" y="4931359"/>
            <a:ext cx="114300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Demotion</a:t>
            </a:r>
          </a:p>
        </p:txBody>
      </p:sp>
      <p:sp>
        <p:nvSpPr>
          <p:cNvPr id="79" name="Text 77"/>
          <p:cNvSpPr/>
          <p:nvPr/>
        </p:nvSpPr>
        <p:spPr>
          <a:xfrm>
            <a:off x="5364785" y="5303520"/>
            <a:ext cx="2514600" cy="338328"/>
          </a:xfrm>
          <a:prstGeom prst="rect">
            <a:avLst/>
          </a:prstGeom>
          <a:noFill/>
          <a:ln/>
        </p:spPr>
        <p:txBody>
          <a:bodyPr wrap="square" lIns="91440" tIns="45720" rIns="91440" bIns="45720" rtlCol="0" anchor="t">
            <a:spAutoFit/>
          </a:bodyPr>
          <a:lstStyle/>
          <a:p>
            <a:pPr indent="0" marL="0">
              <a:buNone/>
            </a:pPr>
            <a:r>
              <a:rPr lang="en-US" sz="2200" dirty="0" b="1">
                <a:solidFill>
                  <a:srgbClr val="FFFFFF"/>
                </a:solidFill>
                <a:latin typeface="Arial" pitchFamily="34" charset="0"/>
                <a:ea typeface="Arial" pitchFamily="34" charset="-122"/>
                <a:cs typeface="Arial" pitchFamily="34" charset="-120"/>
              </a:rPr>
              <a:t>40% demote</a:t>
            </a:r>
          </a:p>
        </p:txBody>
      </p:sp>
      <p:sp>
        <p:nvSpPr>
          <p:cNvPr id="80" name="Text 78"/>
          <p:cNvSpPr/>
          <p:nvPr/>
        </p:nvSpPr>
        <p:spPr>
          <a:xfrm>
            <a:off x="5398618" y="5724144"/>
            <a:ext cx="2468880" cy="318211"/>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5B700"/>
                </a:solidFill>
                <a:latin typeface="Arial" pitchFamily="34" charset="0"/>
                <a:ea typeface="Arial" pitchFamily="34" charset="-122"/>
                <a:cs typeface="Arial" pitchFamily="34" charset="-120"/>
              </a:rPr>
              <a:t>autonomous agents by 2027</a:t>
            </a:r>
          </a:p>
        </p:txBody>
      </p:sp>
      <p:sp>
        <p:nvSpPr>
          <p:cNvPr id="81" name="Text 79"/>
          <p:cNvSpPr/>
          <p:nvPr/>
        </p:nvSpPr>
        <p:spPr>
          <a:xfrm>
            <a:off x="7973568" y="4812487"/>
            <a:ext cx="3584448" cy="1243584"/>
          </a:xfrm>
          <a:prstGeom prst="rect">
            <a:avLst/>
          </a:prstGeom>
          <a:noFill/>
          <a:ln/>
        </p:spPr>
        <p:txBody>
          <a:bodyPr wrap="square" lIns="91440" tIns="45720" rIns="91440" bIns="45720" rtlCol="0" anchor="ctr">
            <a:noAutofit/>
          </a:bodyPr>
          <a:lstStyle/>
          <a:p>
            <a:pPr indent="0" marL="0">
              <a:lnSpc>
                <a:spcPct val="125000"/>
              </a:lnSpc>
              <a:buNone/>
            </a:pPr>
            <a:r>
              <a:rPr lang="en-US" sz="1150" dirty="0">
                <a:solidFill>
                  <a:srgbClr val="F3E6D6"/>
                </a:solidFill>
                <a:latin typeface="Arial" pitchFamily="34" charset="0"/>
                <a:ea typeface="Arial" pitchFamily="34" charset="-122"/>
                <a:cs typeface="Arial" pitchFamily="34" charset="-120"/>
              </a:rPr>
              <a:t>Uniform governance fails: 40% of enterprises will demote or decommission autonomous agents by 2027 after incidents. Only 13% think their agent governance is right. [6][7]</a:t>
            </a:r>
          </a:p>
        </p:txBody>
      </p:sp>
      <p:sp>
        <p:nvSpPr>
          <p:cNvPr id="111" name="g2 111"/>
          <p:cNvSpPr/>
          <p:nvPr/>
        </p:nvSpPr>
        <p:spPr>
          <a:xfrm>
            <a:off x="718718" y="4800600"/>
            <a:ext cx="1216152" cy="53035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50" b="1" dirty="0">
                <a:solidFill>
                  <a:srgbClr val="141010"/>
                </a:solidFill>
                <a:latin typeface="Arial"/>
                <a:ea typeface="Arial"/>
                <a:cs typeface="Arial"/>
              </a:rPr>
              <a:t>Governance</a:t>
            </a:r>
          </a:p>
          <a:p>
            <a:pPr algn="l" marL="0" indent="0">
              <a:lnSpc>
                <a:spcPct val="100000"/>
              </a:lnSpc>
              <a:buNone/>
            </a:pPr>
            <a:r>
              <a:rPr lang="en-US" sz="850" dirty="0">
                <a:solidFill>
                  <a:srgbClr val="141010"/>
                </a:solidFill>
                <a:latin typeface="Arial"/>
                <a:ea typeface="Arial"/>
                <a:cs typeface="Arial"/>
              </a:rPr>
              <a:t>Prerequisite investment</a:t>
            </a:r>
          </a:p>
        </p:txBody>
      </p:sp>
      <p:sp>
        <p:nvSpPr>
          <p:cNvPr id="112" name="g2 112"/>
          <p:cNvSpPr/>
          <p:nvPr/>
        </p:nvSpPr>
        <p:spPr>
          <a:xfrm>
            <a:off x="2030882" y="4800600"/>
            <a:ext cx="1216152" cy="53035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50" b="1" dirty="0">
                <a:solidFill>
                  <a:srgbClr val="141010"/>
                </a:solidFill>
                <a:latin typeface="Arial"/>
                <a:ea typeface="Arial"/>
                <a:cs typeface="Arial"/>
              </a:rPr>
              <a:t>Identity</a:t>
            </a:r>
          </a:p>
          <a:p>
            <a:pPr algn="l" marL="0" indent="0">
              <a:lnSpc>
                <a:spcPct val="100000"/>
              </a:lnSpc>
              <a:buNone/>
            </a:pPr>
            <a:r>
              <a:rPr lang="en-US" sz="850" dirty="0">
                <a:solidFill>
                  <a:srgbClr val="141010"/>
                </a:solidFill>
                <a:latin typeface="Arial"/>
                <a:ea typeface="Arial"/>
                <a:cs typeface="Arial"/>
              </a:rPr>
              <a:t>Prerequisite investment</a:t>
            </a:r>
          </a:p>
        </p:txBody>
      </p:sp>
      <p:sp>
        <p:nvSpPr>
          <p:cNvPr id="113" name="g2 113"/>
          <p:cNvSpPr/>
          <p:nvPr/>
        </p:nvSpPr>
        <p:spPr>
          <a:xfrm>
            <a:off x="3343046" y="4800600"/>
            <a:ext cx="1216152" cy="530352"/>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1050" b="1" dirty="0">
                <a:solidFill>
                  <a:srgbClr val="141010"/>
                </a:solidFill>
                <a:latin typeface="Arial"/>
                <a:ea typeface="Arial"/>
                <a:cs typeface="Arial"/>
              </a:rPr>
              <a:t>AI observability</a:t>
            </a:r>
          </a:p>
          <a:p>
            <a:pPr algn="l" marL="0" indent="0">
              <a:lnSpc>
                <a:spcPct val="100000"/>
              </a:lnSpc>
              <a:buNone/>
            </a:pPr>
            <a:r>
              <a:rPr lang="en-US" sz="850" dirty="0">
                <a:solidFill>
                  <a:srgbClr val="141010"/>
                </a:solidFill>
                <a:latin typeface="Arial"/>
                <a:ea typeface="Arial"/>
                <a:cs typeface="Arial"/>
              </a:rPr>
              <a:t>“Most consequential”</a:t>
            </a:r>
          </a:p>
        </p:txBody>
      </p:sp>
      <p:sp>
        <p:nvSpPr>
          <p:cNvPr id="114" name="g2 114"/>
          <p:cNvSpPr/>
          <p:nvPr/>
        </p:nvSpPr>
        <p:spPr>
          <a:xfrm>
            <a:off x="718718" y="5440680"/>
            <a:ext cx="1216152" cy="53035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50" b="1" dirty="0">
                <a:solidFill>
                  <a:srgbClr val="FFFFFF"/>
                </a:solidFill>
                <a:latin typeface="Arial"/>
                <a:ea typeface="Arial"/>
                <a:cs typeface="Arial"/>
              </a:rPr>
              <a:t>Verizon</a:t>
            </a:r>
          </a:p>
          <a:p>
            <a:pPr algn="l" marL="0" indent="0">
              <a:lnSpc>
                <a:spcPct val="100000"/>
              </a:lnSpc>
              <a:buNone/>
            </a:pPr>
            <a:r>
              <a:rPr lang="en-US" sz="850" dirty="0">
                <a:solidFill>
                  <a:srgbClr val="F3E6D6"/>
                </a:solidFill>
                <a:latin typeface="Arial"/>
                <a:ea typeface="Arial"/>
                <a:cs typeface="Arial"/>
              </a:rPr>
              <a:t>Agent Registry + Gateway</a:t>
            </a:r>
          </a:p>
        </p:txBody>
      </p:sp>
      <p:sp>
        <p:nvSpPr>
          <p:cNvPr id="115" name="g2 115"/>
          <p:cNvSpPr/>
          <p:nvPr/>
        </p:nvSpPr>
        <p:spPr>
          <a:xfrm>
            <a:off x="2030882" y="5440680"/>
            <a:ext cx="1216152" cy="53035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1050" b="1" dirty="0">
                <a:solidFill>
                  <a:srgbClr val="FFFFFF"/>
                </a:solidFill>
                <a:latin typeface="Arial"/>
                <a:ea typeface="Arial"/>
                <a:cs typeface="Arial"/>
              </a:rPr>
              <a:t>JPMorgan</a:t>
            </a:r>
          </a:p>
          <a:p>
            <a:pPr algn="l" marL="0" indent="0">
              <a:lnSpc>
                <a:spcPct val="100000"/>
              </a:lnSpc>
              <a:buNone/>
            </a:pPr>
            <a:r>
              <a:rPr lang="en-US" sz="850" dirty="0">
                <a:solidFill>
                  <a:srgbClr val="F3E6D6"/>
                </a:solidFill>
                <a:latin typeface="Arial"/>
                <a:ea typeface="Arial"/>
                <a:cs typeface="Arial"/>
              </a:rPr>
              <a:t>Runtime enforcement</a:t>
            </a:r>
          </a:p>
        </p:txBody>
      </p:sp>
      <p:sp>
        <p:nvSpPr>
          <p:cNvPr id="116" name="g2 116"/>
          <p:cNvSpPr/>
          <p:nvPr/>
        </p:nvSpPr>
        <p:spPr>
          <a:xfrm>
            <a:off x="3343046" y="5440680"/>
            <a:ext cx="1216152" cy="530352"/>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1050" b="1" dirty="0">
                <a:solidFill>
                  <a:srgbClr val="FFFFFF"/>
                </a:solidFill>
                <a:latin typeface="Arial"/>
                <a:ea typeface="Arial"/>
                <a:cs typeface="Arial"/>
              </a:rPr>
              <a:t>Microsoft</a:t>
            </a:r>
          </a:p>
          <a:p>
            <a:pPr algn="l" marL="0" indent="0">
              <a:lnSpc>
                <a:spcPct val="100000"/>
              </a:lnSpc>
              <a:buNone/>
            </a:pPr>
            <a:r>
              <a:rPr lang="en-US" sz="850" dirty="0">
                <a:solidFill>
                  <a:srgbClr val="F3E6D6"/>
                </a:solidFill>
                <a:latin typeface="Arial"/>
                <a:ea typeface="Arial"/>
                <a:cs typeface="Arial"/>
              </a:rPr>
              <a:t>Agent 365 + Entra ID</a:t>
            </a:r>
          </a:p>
        </p:txBody>
      </p:sp>
      <p:sp>
        <p:nvSpPr>
          <p:cNvPr id="117" name="v2 117"/>
          <p:cNvSpPr/>
          <p:nvPr/>
        </p:nvSpPr>
        <p:spPr>
          <a:xfrm>
            <a:off x="5135270" y="6217920"/>
            <a:ext cx="6464808" cy="365760"/>
          </a:xfrm>
          <a:prstGeom prst="rect">
            <a:avLst/>
          </a:prstGeom>
          <a:noFill/>
          <a:ln>
            <a:noFill/>
          </a:ln>
        </p:spPr>
        <p:txBody>
          <a:bodyPr wrap="square" lIns="0" tIns="0" rIns="0" bIns="0" rtlCol="0" anchor="t">
            <a:noAutofit/>
          </a:bodyPr>
          <a:lstStyle/>
          <a:p>
            <a:pPr algn="l" marL="0" indent="0">
              <a:buNone/>
            </a:pPr>
            <a:r>
              <a:rPr lang="en-US" sz="1000" dirty="0">
                <a:solidFill>
                  <a:srgbClr val="F5B700"/>
                </a:solidFill>
                <a:latin typeface="Arial"/>
                <a:ea typeface="Arial"/>
                <a:cs typeface="Arial"/>
              </a:rPr>
              <a:t>Agent sprawl: an average global Fortune 500 company will run more than 150,000 agents by 2028, up from fewer than 15 in 2025 [6]. All figures Gartner.</a:t>
            </a:r>
          </a:p>
        </p:txBody>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01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7">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Text 0"/>
          <p:cNvSpPr/>
          <p:nvPr/>
        </p:nvSpPr>
        <p:spPr>
          <a:xfrm>
            <a:off x="685800" y="987552"/>
            <a:ext cx="5486400" cy="338328"/>
          </a:xfrm>
          <a:prstGeom prst="rect">
            <a:avLst/>
          </a:prstGeom>
          <a:noFill/>
          <a:ln/>
        </p:spPr>
        <p:txBody>
          <a:bodyPr wrap="square" lIns="91440" tIns="45720" rIns="91440" bIns="45720" rtlCol="0" anchor="t">
            <a:spAutoFit/>
          </a:bodyPr>
          <a:lstStyle/>
          <a:p>
            <a:pPr algn="l" indent="0" marL="0">
              <a:buNone/>
            </a:pPr>
            <a:r>
              <a:rPr lang="en-US" sz="1600" dirty="0">
                <a:solidFill>
                  <a:srgbClr val="FFFFFF"/>
                </a:solidFill>
                <a:latin typeface="Arial" pitchFamily="34" charset="0"/>
                <a:ea typeface="Arial" pitchFamily="34" charset="-122"/>
                <a:cs typeface="Arial" pitchFamily="34" charset="-120"/>
              </a:rPr>
              <a:t>P1 Multi-agent / A2A</a:t>
            </a:r>
          </a:p>
        </p:txBody>
      </p:sp>
      <p:sp>
        <p:nvSpPr>
          <p:cNvPr id="3" name="Text 1"/>
          <p:cNvSpPr/>
          <p:nvPr/>
        </p:nvSpPr>
        <p:spPr>
          <a:xfrm>
            <a:off x="685800" y="1216152"/>
            <a:ext cx="393192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Score the system,</a:t>
            </a:r>
          </a:p>
        </p:txBody>
      </p:sp>
      <p:sp>
        <p:nvSpPr>
          <p:cNvPr id="4" name="Shape 2"/>
          <p:cNvSpPr/>
          <p:nvPr/>
        </p:nvSpPr>
        <p:spPr>
          <a:xfrm rot="16200000">
            <a:off x="3950208" y="1344168"/>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 name="Text 3"/>
          <p:cNvSpPr/>
          <p:nvPr/>
        </p:nvSpPr>
        <p:spPr>
          <a:xfrm>
            <a:off x="4343400" y="1216152"/>
            <a:ext cx="3291840" cy="646481"/>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not the agent</a:t>
            </a:r>
          </a:p>
        </p:txBody>
      </p:sp>
      <p:sp>
        <p:nvSpPr>
          <p:cNvPr id="6" name="Shape 4"/>
          <p:cNvSpPr/>
          <p:nvPr/>
        </p:nvSpPr>
        <p:spPr>
          <a:xfrm>
            <a:off x="8302752" y="1325880"/>
            <a:ext cx="3299155" cy="1280160"/>
          </a:xfrm>
          <a:prstGeom prst="roundRect">
            <a:avLst>
              <a:gd name="adj" fmla="val 15847"/>
            </a:avLst>
          </a:prstGeom>
          <a:solidFill>
            <a:srgbClr val="F5B700"/>
          </a:solidFill>
          <a:ln/>
        </p:spPr>
      </p:sp>
      <p:sp>
        <p:nvSpPr>
          <p:cNvPr id="7" name="Shape 5"/>
          <p:cNvSpPr/>
          <p:nvPr/>
        </p:nvSpPr>
        <p:spPr>
          <a:xfrm>
            <a:off x="8482889" y="1481328"/>
            <a:ext cx="1005840" cy="374904"/>
          </a:xfrm>
          <a:prstGeom prst="roundRect">
            <a:avLst>
              <a:gd name="adj" fmla="val 50000"/>
            </a:avLst>
          </a:prstGeom>
          <a:solidFill>
            <a:srgbClr val="FFF1CC">
              </a:srgbClr>
          </a:solidFill>
          <a:ln w="6350">
            <a:solidFill>
              <a:srgbClr val="141010"/>
            </a:solidFill>
            <a:prstDash val="solid"/>
          </a:ln>
        </p:spPr>
      </p:sp>
      <p:sp>
        <p:nvSpPr>
          <p:cNvPr id="8" name="Text 6"/>
          <p:cNvSpPr/>
          <p:nvPr/>
        </p:nvSpPr>
        <p:spPr>
          <a:xfrm>
            <a:off x="8482889" y="148132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Ours</a:t>
            </a:r>
          </a:p>
        </p:txBody>
      </p:sp>
      <p:sp>
        <p:nvSpPr>
          <p:cNvPr id="9" name="Text 7"/>
          <p:cNvSpPr/>
          <p:nvPr/>
        </p:nvSpPr>
        <p:spPr>
          <a:xfrm>
            <a:off x="8532266" y="1828800"/>
            <a:ext cx="3124505" cy="338328"/>
          </a:xfrm>
          <a:prstGeom prst="rect">
            <a:avLst/>
          </a:prstGeom>
          <a:noFill/>
          <a:ln/>
        </p:spPr>
        <p:txBody>
          <a:bodyPr wrap="square" lIns="91440" tIns="45720" rIns="91440" bIns="45720" rtlCol="0" anchor="t">
            <a:spAutoFit/>
          </a:bodyPr>
          <a:lstStyle/>
          <a:p>
            <a:pPr indent="0" marL="0">
              <a:buNone/>
            </a:pPr>
            <a:r>
              <a:rPr lang="en-US" sz="1500" dirty="0">
                <a:solidFill>
                  <a:srgbClr val="141010"/>
                </a:solidFill>
                <a:latin typeface="Arial" pitchFamily="34" charset="0"/>
                <a:ea typeface="Arial" pitchFamily="34" charset="-122"/>
                <a:cs typeface="Arial" pitchFamily="34" charset="-120"/>
              </a:rPr>
              <a:t>A2A policy point</a:t>
            </a:r>
          </a:p>
        </p:txBody>
      </p:sp>
      <p:sp>
        <p:nvSpPr>
          <p:cNvPr id="11" name="Shape 9"/>
          <p:cNvSpPr/>
          <p:nvPr/>
        </p:nvSpPr>
        <p:spPr>
          <a:xfrm>
            <a:off x="8302752" y="2743200"/>
            <a:ext cx="3299155" cy="1280160"/>
          </a:xfrm>
          <a:prstGeom prst="roundRect">
            <a:avLst>
              <a:gd name="adj" fmla="val 15847"/>
            </a:avLst>
          </a:prstGeom>
          <a:ln w="9525">
            <a:solidFill>
              <a:srgbClr val="D9B48A"/>
            </a:solidFill>
            <a:prstDash val="solid"/>
          </a:ln>
        </p:spPr>
      </p:sp>
      <p:sp>
        <p:nvSpPr>
          <p:cNvPr id="12" name="Shape 10"/>
          <p:cNvSpPr/>
          <p:nvPr/>
        </p:nvSpPr>
        <p:spPr>
          <a:xfrm>
            <a:off x="8482889" y="2898648"/>
            <a:ext cx="1005840" cy="374904"/>
          </a:xfrm>
          <a:prstGeom prst="roundRect">
            <a:avLst>
              <a:gd name="adj" fmla="val 50000"/>
            </a:avLst>
          </a:prstGeom>
          <a:solidFill>
            <a:srgbClr val="8A0F1A">
              <a:alpha val="15600"/>
            </a:srgbClr>
          </a:solidFill>
          <a:ln w="6350">
            <a:solidFill>
              <a:srgbClr val="D9B48A"/>
            </a:solidFill>
            <a:prstDash val="solid"/>
          </a:ln>
        </p:spPr>
      </p:sp>
      <p:sp>
        <p:nvSpPr>
          <p:cNvPr id="13" name="Text 11"/>
          <p:cNvSpPr/>
          <p:nvPr/>
        </p:nvSpPr>
        <p:spPr>
          <a:xfrm>
            <a:off x="8482889" y="289864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Industry</a:t>
            </a:r>
          </a:p>
        </p:txBody>
      </p:sp>
      <p:sp>
        <p:nvSpPr>
          <p:cNvPr id="14" name="Text 12"/>
          <p:cNvSpPr/>
          <p:nvPr/>
        </p:nvSpPr>
        <p:spPr>
          <a:xfrm>
            <a:off x="8532266" y="3246120"/>
            <a:ext cx="2670048" cy="338328"/>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Vendor-neutral A2A</a:t>
            </a:r>
          </a:p>
        </p:txBody>
      </p:sp>
      <p:sp>
        <p:nvSpPr>
          <p:cNvPr id="16" name="Shape 14"/>
          <p:cNvSpPr/>
          <p:nvPr/>
        </p:nvSpPr>
        <p:spPr>
          <a:xfrm>
            <a:off x="8302752" y="4160520"/>
            <a:ext cx="3299155" cy="1280160"/>
          </a:xfrm>
          <a:prstGeom prst="roundRect">
            <a:avLst>
              <a:gd name="adj" fmla="val 15847"/>
            </a:avLst>
          </a:prstGeom>
          <a:ln w="9525">
            <a:solidFill>
              <a:srgbClr val="D9B48A"/>
            </a:solidFill>
            <a:prstDash val="solid"/>
          </a:ln>
        </p:spPr>
      </p:sp>
      <p:sp>
        <p:nvSpPr>
          <p:cNvPr id="17" name="Shape 15"/>
          <p:cNvSpPr/>
          <p:nvPr/>
        </p:nvSpPr>
        <p:spPr>
          <a:xfrm>
            <a:off x="8482889" y="4315968"/>
            <a:ext cx="1005840" cy="374904"/>
          </a:xfrm>
          <a:prstGeom prst="roundRect">
            <a:avLst>
              <a:gd name="adj" fmla="val 50000"/>
            </a:avLst>
          </a:prstGeom>
          <a:solidFill>
            <a:srgbClr val="8A0F1A">
              <a:alpha val="15600"/>
            </a:srgbClr>
          </a:solidFill>
          <a:ln w="6350">
            <a:solidFill>
              <a:srgbClr val="D9B48A"/>
            </a:solidFill>
            <a:prstDash val="solid"/>
          </a:ln>
        </p:spPr>
      </p:sp>
      <p:sp>
        <p:nvSpPr>
          <p:cNvPr id="18" name="Text 16"/>
          <p:cNvSpPr/>
          <p:nvPr/>
        </p:nvSpPr>
        <p:spPr>
          <a:xfrm>
            <a:off x="8482889" y="4315968"/>
            <a:ext cx="1005840"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Gartner</a:t>
            </a:r>
          </a:p>
        </p:txBody>
      </p:sp>
      <p:sp>
        <p:nvSpPr>
          <p:cNvPr id="19" name="Text 17"/>
          <p:cNvSpPr/>
          <p:nvPr/>
        </p:nvSpPr>
        <p:spPr>
          <a:xfrm>
            <a:off x="8532266" y="4663440"/>
            <a:ext cx="2670048" cy="338328"/>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70% multi-agent by 2028</a:t>
            </a:r>
          </a:p>
        </p:txBody>
      </p:sp>
      <p:sp>
        <p:nvSpPr>
          <p:cNvPr id="21" name="Shape 19"/>
          <p:cNvSpPr/>
          <p:nvPr/>
        </p:nvSpPr>
        <p:spPr>
          <a:xfrm>
            <a:off x="8411566" y="5897880"/>
            <a:ext cx="3190342" cy="0"/>
          </a:xfrm>
          <a:prstGeom prst="line">
            <a:avLst/>
          </a:prstGeom>
          <a:noFill/>
          <a:ln w="12700">
            <a:solidFill>
              <a:srgbClr val="D9B48A"/>
            </a:solidFill>
            <a:prstDash val="solid"/>
            <a:tailEnd type="triangle"/>
          </a:ln>
        </p:spPr>
      </p:sp>
      <p:sp>
        <p:nvSpPr>
          <p:cNvPr id="212" name="g2 212"/>
          <p:cNvSpPr/>
          <p:nvPr/>
        </p:nvSpPr>
        <p:spPr>
          <a:xfrm>
            <a:off x="548640" y="2103120"/>
            <a:ext cx="402336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built on the Kairos platform (gateway + SDK)</a:t>
            </a:r>
          </a:p>
        </p:txBody>
      </p:sp>
      <p:sp>
        <p:nvSpPr>
          <p:cNvPr id="213" name="g2 213"/>
          <p:cNvSpPr/>
          <p:nvPr/>
        </p:nvSpPr>
        <p:spPr>
          <a:xfrm>
            <a:off x="1417320" y="2395728"/>
            <a:ext cx="228600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Orchestrator agent</a:t>
            </a:r>
          </a:p>
          <a:p>
            <a:pPr algn="l" marL="0" indent="0">
              <a:lnSpc>
                <a:spcPct val="100000"/>
              </a:lnSpc>
              <a:buNone/>
            </a:pPr>
            <a:r>
              <a:rPr lang="en-US" sz="800" dirty="0">
                <a:solidFill>
                  <a:srgbClr val="F3E6D6"/>
                </a:solidFill>
                <a:latin typeface="Arial"/>
                <a:ea typeface="Arial"/>
                <a:cs typeface="Arial"/>
              </a:rPr>
              <a:t>Kairos SDK · own agent_id + manifest</a:t>
            </a:r>
          </a:p>
        </p:txBody>
      </p:sp>
      <p:cxnSp>
        <p:nvCxnSpPr>
          <p:cNvPr id="214" name="g2 flow 214"/>
          <p:cNvCxnSpPr/>
          <p:nvPr/>
        </p:nvCxnSpPr>
        <p:spPr>
          <a:xfrm>
            <a:off x="2560320" y="2898648"/>
            <a:ext cx="0" cy="210312"/>
          </a:xfrm>
          <a:prstGeom prst="line">
            <a:avLst/>
          </a:prstGeom>
          <a:ln w="12700">
            <a:solidFill>
              <a:srgbClr val="EE0000"/>
            </a:solidFill>
          </a:ln>
        </p:spPr>
      </p:cxnSp>
      <p:cxnSp>
        <p:nvCxnSpPr>
          <p:cNvPr id="215" name="g2 flow 215"/>
          <p:cNvCxnSpPr/>
          <p:nvPr/>
        </p:nvCxnSpPr>
        <p:spPr>
          <a:xfrm>
            <a:off x="1165860" y="3108960"/>
            <a:ext cx="2788920" cy="0"/>
          </a:xfrm>
          <a:prstGeom prst="line">
            <a:avLst/>
          </a:prstGeom>
          <a:ln w="12700">
            <a:solidFill>
              <a:srgbClr val="EE0000"/>
            </a:solidFill>
          </a:ln>
        </p:spPr>
      </p:cxnSp>
      <p:cxnSp>
        <p:nvCxnSpPr>
          <p:cNvPr id="216" name="g2 flow 216"/>
          <p:cNvCxnSpPr/>
          <p:nvPr/>
        </p:nvCxnSpPr>
        <p:spPr>
          <a:xfrm>
            <a:off x="1165860" y="3108960"/>
            <a:ext cx="0" cy="201168"/>
          </a:xfrm>
          <a:prstGeom prst="line">
            <a:avLst/>
          </a:prstGeom>
          <a:ln w="12700">
            <a:solidFill>
              <a:srgbClr val="EE0000"/>
            </a:solidFill>
            <a:tailEnd type="triangle" w="med" len="med"/>
          </a:ln>
        </p:spPr>
      </p:cxnSp>
      <p:cxnSp>
        <p:nvCxnSpPr>
          <p:cNvPr id="217" name="g2 flow 217"/>
          <p:cNvCxnSpPr/>
          <p:nvPr/>
        </p:nvCxnSpPr>
        <p:spPr>
          <a:xfrm>
            <a:off x="2560320" y="3108960"/>
            <a:ext cx="0" cy="201168"/>
          </a:xfrm>
          <a:prstGeom prst="line">
            <a:avLst/>
          </a:prstGeom>
          <a:ln w="12700">
            <a:solidFill>
              <a:srgbClr val="EE0000"/>
            </a:solidFill>
            <a:tailEnd type="triangle" w="med" len="med"/>
          </a:ln>
        </p:spPr>
      </p:cxnSp>
      <p:cxnSp>
        <p:nvCxnSpPr>
          <p:cNvPr id="218" name="g2 flow 218"/>
          <p:cNvCxnSpPr/>
          <p:nvPr/>
        </p:nvCxnSpPr>
        <p:spPr>
          <a:xfrm>
            <a:off x="3954780" y="3108960"/>
            <a:ext cx="0" cy="201168"/>
          </a:xfrm>
          <a:prstGeom prst="line">
            <a:avLst/>
          </a:prstGeom>
          <a:ln w="12700">
            <a:solidFill>
              <a:srgbClr val="EE0000"/>
            </a:solidFill>
            <a:tailEnd type="triangle" w="med" len="med"/>
          </a:ln>
        </p:spPr>
      </p:cxnSp>
      <p:sp>
        <p:nvSpPr>
          <p:cNvPr id="219" name="g2 219"/>
          <p:cNvSpPr/>
          <p:nvPr/>
        </p:nvSpPr>
        <p:spPr>
          <a:xfrm>
            <a:off x="2633472" y="2907792"/>
            <a:ext cx="173736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A2A · signed Agent Cards</a:t>
            </a:r>
          </a:p>
        </p:txBody>
      </p:sp>
      <p:sp>
        <p:nvSpPr>
          <p:cNvPr id="220" name="g2 220"/>
          <p:cNvSpPr/>
          <p:nvPr/>
        </p:nvSpPr>
        <p:spPr>
          <a:xfrm>
            <a:off x="548640" y="3310128"/>
            <a:ext cx="12344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Inventory agent</a:t>
            </a:r>
          </a:p>
          <a:p>
            <a:pPr algn="l" marL="0" indent="0">
              <a:lnSpc>
                <a:spcPct val="100000"/>
              </a:lnSpc>
              <a:buNone/>
            </a:pPr>
            <a:r>
              <a:rPr lang="en-US" sz="800" dirty="0">
                <a:solidFill>
                  <a:srgbClr val="F3E6D6"/>
                </a:solidFill>
                <a:latin typeface="Arial"/>
                <a:ea typeface="Arial"/>
                <a:cs typeface="Arial"/>
              </a:rPr>
              <a:t>own identity</a:t>
            </a:r>
          </a:p>
        </p:txBody>
      </p:sp>
      <p:cxnSp>
        <p:nvCxnSpPr>
          <p:cNvPr id="221" name="g2 flow 221"/>
          <p:cNvCxnSpPr/>
          <p:nvPr/>
        </p:nvCxnSpPr>
        <p:spPr>
          <a:xfrm>
            <a:off x="1165860" y="3767328"/>
            <a:ext cx="0" cy="256032"/>
          </a:xfrm>
          <a:prstGeom prst="line">
            <a:avLst/>
          </a:prstGeom>
          <a:ln w="12700">
            <a:solidFill>
              <a:srgbClr val="EE0000"/>
            </a:solidFill>
            <a:tailEnd type="triangle" w="med" len="med"/>
          </a:ln>
        </p:spPr>
      </p:cxnSp>
      <p:sp>
        <p:nvSpPr>
          <p:cNvPr id="222" name="g2 222"/>
          <p:cNvSpPr/>
          <p:nvPr/>
        </p:nvSpPr>
        <p:spPr>
          <a:xfrm>
            <a:off x="1943100" y="3310128"/>
            <a:ext cx="12344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Ticketing agent</a:t>
            </a:r>
          </a:p>
          <a:p>
            <a:pPr algn="l" marL="0" indent="0">
              <a:lnSpc>
                <a:spcPct val="100000"/>
              </a:lnSpc>
              <a:buNone/>
            </a:pPr>
            <a:r>
              <a:rPr lang="en-US" sz="800" dirty="0">
                <a:solidFill>
                  <a:srgbClr val="F3E6D6"/>
                </a:solidFill>
                <a:latin typeface="Arial"/>
                <a:ea typeface="Arial"/>
                <a:cs typeface="Arial"/>
              </a:rPr>
              <a:t>own identity</a:t>
            </a:r>
          </a:p>
        </p:txBody>
      </p:sp>
      <p:cxnSp>
        <p:nvCxnSpPr>
          <p:cNvPr id="223" name="g2 flow 223"/>
          <p:cNvCxnSpPr/>
          <p:nvPr/>
        </p:nvCxnSpPr>
        <p:spPr>
          <a:xfrm>
            <a:off x="2560320" y="3767328"/>
            <a:ext cx="0" cy="256032"/>
          </a:xfrm>
          <a:prstGeom prst="line">
            <a:avLst/>
          </a:prstGeom>
          <a:ln w="12700">
            <a:solidFill>
              <a:srgbClr val="EE0000"/>
            </a:solidFill>
            <a:tailEnd type="triangle" w="med" len="med"/>
          </a:ln>
        </p:spPr>
      </p:cxnSp>
      <p:sp>
        <p:nvSpPr>
          <p:cNvPr id="224" name="g2 224"/>
          <p:cNvSpPr/>
          <p:nvPr/>
        </p:nvSpPr>
        <p:spPr>
          <a:xfrm>
            <a:off x="3337560" y="3310128"/>
            <a:ext cx="12344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Diagnosis agent</a:t>
            </a:r>
          </a:p>
          <a:p>
            <a:pPr algn="l" marL="0" indent="0">
              <a:lnSpc>
                <a:spcPct val="100000"/>
              </a:lnSpc>
              <a:buNone/>
            </a:pPr>
            <a:r>
              <a:rPr lang="en-US" sz="800" dirty="0">
                <a:solidFill>
                  <a:srgbClr val="F3E6D6"/>
                </a:solidFill>
                <a:latin typeface="Arial"/>
                <a:ea typeface="Arial"/>
                <a:cs typeface="Arial"/>
              </a:rPr>
              <a:t>own identity</a:t>
            </a:r>
          </a:p>
        </p:txBody>
      </p:sp>
      <p:cxnSp>
        <p:nvCxnSpPr>
          <p:cNvPr id="225" name="g2 flow 225"/>
          <p:cNvCxnSpPr/>
          <p:nvPr/>
        </p:nvCxnSpPr>
        <p:spPr>
          <a:xfrm>
            <a:off x="3954780" y="3767328"/>
            <a:ext cx="0" cy="256032"/>
          </a:xfrm>
          <a:prstGeom prst="line">
            <a:avLst/>
          </a:prstGeom>
          <a:ln w="12700">
            <a:solidFill>
              <a:srgbClr val="EE0000"/>
            </a:solidFill>
            <a:tailEnd type="triangle" w="med" len="med"/>
          </a:ln>
        </p:spPr>
      </p:cxnSp>
      <p:sp>
        <p:nvSpPr>
          <p:cNvPr id="226" name="g2 226"/>
          <p:cNvSpPr/>
          <p:nvPr/>
        </p:nvSpPr>
        <p:spPr>
          <a:xfrm>
            <a:off x="548640" y="4023360"/>
            <a:ext cx="4023360" cy="36576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Agent Control on every step</a:t>
            </a:r>
          </a:p>
          <a:p>
            <a:pPr algn="l" marL="0" indent="0">
              <a:lnSpc>
                <a:spcPct val="100000"/>
              </a:lnSpc>
              <a:buNone/>
            </a:pPr>
            <a:r>
              <a:rPr lang="en-US" sz="800" dirty="0">
                <a:solidFill>
                  <a:srgbClr val="141010"/>
                </a:solidFill>
                <a:latin typeface="Arial"/>
                <a:ea typeface="Arial"/>
                <a:cs typeface="Arial"/>
              </a:rPr>
              <a:t>no self-asserted roles · fan-out, depth and budget limits per trace</a:t>
            </a:r>
          </a:p>
        </p:txBody>
      </p:sp>
      <p:sp>
        <p:nvSpPr>
          <p:cNvPr id="227" name="g2 227"/>
          <p:cNvSpPr/>
          <p:nvPr/>
        </p:nvSpPr>
        <p:spPr>
          <a:xfrm>
            <a:off x="548640" y="4617720"/>
            <a:ext cx="192024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Kairos gateway</a:t>
            </a:r>
          </a:p>
          <a:p>
            <a:pPr algn="l" marL="0" indent="0">
              <a:lnSpc>
                <a:spcPct val="100000"/>
              </a:lnSpc>
              <a:buNone/>
            </a:pPr>
            <a:r>
              <a:rPr lang="en-US" sz="800" dirty="0">
                <a:solidFill>
                  <a:srgbClr val="F3E6D6"/>
                </a:solidFill>
                <a:latin typeface="Arial"/>
                <a:ea typeface="Arial"/>
                <a:cs typeface="Arial"/>
              </a:rPr>
              <a:t>every model call</a:t>
            </a:r>
          </a:p>
        </p:txBody>
      </p:sp>
      <p:sp>
        <p:nvSpPr>
          <p:cNvPr id="228" name="g2 228"/>
          <p:cNvSpPr/>
          <p:nvPr/>
        </p:nvSpPr>
        <p:spPr>
          <a:xfrm>
            <a:off x="2651760" y="4617720"/>
            <a:ext cx="1920240" cy="438912"/>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MCP gateway</a:t>
            </a:r>
          </a:p>
          <a:p>
            <a:pPr algn="l" marL="0" indent="0">
              <a:lnSpc>
                <a:spcPct val="100000"/>
              </a:lnSpc>
              <a:buNone/>
            </a:pPr>
            <a:r>
              <a:rPr lang="en-US" sz="800" dirty="0">
                <a:solidFill>
                  <a:srgbClr val="F3E6D6"/>
                </a:solidFill>
                <a:latin typeface="Arial"/>
                <a:ea typeface="Arial"/>
                <a:cs typeface="Arial"/>
              </a:rPr>
              <a:t>every tool call, scoped</a:t>
            </a:r>
          </a:p>
        </p:txBody>
      </p:sp>
      <p:cxnSp>
        <p:nvCxnSpPr>
          <p:cNvPr id="229" name="g2 flow 229"/>
          <p:cNvCxnSpPr/>
          <p:nvPr/>
        </p:nvCxnSpPr>
        <p:spPr>
          <a:xfrm>
            <a:off x="1508760" y="4389120"/>
            <a:ext cx="0" cy="228600"/>
          </a:xfrm>
          <a:prstGeom prst="line">
            <a:avLst/>
          </a:prstGeom>
          <a:ln w="12700">
            <a:solidFill>
              <a:srgbClr val="EE0000"/>
            </a:solidFill>
            <a:tailEnd type="triangle" w="med" len="med"/>
          </a:ln>
        </p:spPr>
      </p:cxnSp>
      <p:cxnSp>
        <p:nvCxnSpPr>
          <p:cNvPr id="230" name="g2 flow 230"/>
          <p:cNvCxnSpPr/>
          <p:nvPr/>
        </p:nvCxnSpPr>
        <p:spPr>
          <a:xfrm>
            <a:off x="3611880" y="4389120"/>
            <a:ext cx="0" cy="228600"/>
          </a:xfrm>
          <a:prstGeom prst="line">
            <a:avLst/>
          </a:prstGeom>
          <a:ln w="12700">
            <a:solidFill>
              <a:srgbClr val="EE0000"/>
            </a:solidFill>
            <a:tailEnd type="triangle" w="med" len="med"/>
          </a:ln>
        </p:spPr>
      </p:cxnSp>
      <p:sp>
        <p:nvSpPr>
          <p:cNvPr id="231" name="g2 231"/>
          <p:cNvSpPr/>
          <p:nvPr/>
        </p:nvSpPr>
        <p:spPr>
          <a:xfrm>
            <a:off x="548640" y="5303520"/>
            <a:ext cx="402336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Galileo / Splunk AO + MAST annotator</a:t>
            </a:r>
          </a:p>
          <a:p>
            <a:pPr algn="l" marL="0" indent="0">
              <a:lnSpc>
                <a:spcPct val="100000"/>
              </a:lnSpc>
              <a:buNone/>
            </a:pPr>
            <a:r>
              <a:rPr lang="en-US" sz="800" dirty="0">
                <a:solidFill>
                  <a:srgbClr val="F3E6D6"/>
                </a:solidFill>
                <a:latin typeface="Arial"/>
                <a:ea typeface="Arial"/>
                <a:cs typeface="Arial"/>
              </a:rPr>
              <a:t>trace context across every hop · session scored on 14 failure modes [21]</a:t>
            </a:r>
          </a:p>
        </p:txBody>
      </p:sp>
      <p:cxnSp>
        <p:nvCxnSpPr>
          <p:cNvPr id="232" name="g2 flow 232"/>
          <p:cNvCxnSpPr/>
          <p:nvPr/>
        </p:nvCxnSpPr>
        <p:spPr>
          <a:xfrm>
            <a:off x="1508760" y="5056632"/>
            <a:ext cx="0" cy="246888"/>
          </a:xfrm>
          <a:prstGeom prst="line">
            <a:avLst/>
          </a:prstGeom>
          <a:ln w="12700">
            <a:solidFill>
              <a:srgbClr val="EE0000"/>
            </a:solidFill>
            <a:prstDash val="dash"/>
            <a:tailEnd type="triangle" w="med" len="med"/>
          </a:ln>
        </p:spPr>
      </p:cxnSp>
      <p:cxnSp>
        <p:nvCxnSpPr>
          <p:cNvPr id="233" name="g2 flow 233"/>
          <p:cNvCxnSpPr/>
          <p:nvPr/>
        </p:nvCxnSpPr>
        <p:spPr>
          <a:xfrm>
            <a:off x="3611880" y="5056632"/>
            <a:ext cx="0" cy="246888"/>
          </a:xfrm>
          <a:prstGeom prst="line">
            <a:avLst/>
          </a:prstGeom>
          <a:ln w="12700">
            <a:solidFill>
              <a:srgbClr val="EE0000"/>
            </a:solidFill>
            <a:prstDash val="dash"/>
            <a:tailEnd type="triangle" w="med" len="med"/>
          </a:ln>
        </p:spPr>
      </p:cxnSp>
      <p:sp>
        <p:nvSpPr>
          <p:cNvPr id="234" name="g2 234"/>
          <p:cNvSpPr/>
          <p:nvPr/>
        </p:nvSpPr>
        <p:spPr>
          <a:xfrm>
            <a:off x="548640" y="5897880"/>
            <a:ext cx="4023360" cy="201168"/>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Start from a single-agent baseline: multi-agent uses ~15× chat tokens [22]</a:t>
            </a:r>
          </a:p>
        </p:txBody>
      </p:sp>
      <p:cxnSp>
        <p:nvCxnSpPr>
          <p:cNvPr id="235" name="g1 rule 235"/>
          <p:cNvCxnSpPr/>
          <p:nvPr/>
        </p:nvCxnSpPr>
        <p:spPr>
          <a:xfrm>
            <a:off x="4709160" y="2103120"/>
            <a:ext cx="0" cy="4206240"/>
          </a:xfrm>
          <a:prstGeom prst="line">
            <a:avLst/>
          </a:prstGeom>
          <a:ln w="9525">
            <a:solidFill>
              <a:srgbClr val="5A3A2E"/>
            </a:solidFill>
          </a:ln>
        </p:spPr>
      </p:cxnSp>
      <p:sp>
        <p:nvSpPr>
          <p:cNvPr id="236" name="g2 236"/>
          <p:cNvSpPr/>
          <p:nvPr/>
        </p:nvSpPr>
        <p:spPr>
          <a:xfrm>
            <a:off x="4846320" y="2103120"/>
            <a:ext cx="315468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 agents, over A2A</a:t>
            </a:r>
          </a:p>
        </p:txBody>
      </p:sp>
      <p:sp>
        <p:nvSpPr>
          <p:cNvPr id="237" name="g2 237"/>
          <p:cNvSpPr/>
          <p:nvPr/>
        </p:nvSpPr>
        <p:spPr>
          <a:xfrm>
            <a:off x="4846320" y="2395728"/>
            <a:ext cx="150876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Our orchestrator</a:t>
            </a:r>
          </a:p>
          <a:p>
            <a:pPr algn="l" marL="0" indent="0">
              <a:lnSpc>
                <a:spcPct val="100000"/>
              </a:lnSpc>
              <a:buNone/>
            </a:pPr>
            <a:r>
              <a:rPr lang="en-US" sz="800" dirty="0">
                <a:solidFill>
                  <a:srgbClr val="F3E6D6"/>
                </a:solidFill>
                <a:latin typeface="Arial"/>
                <a:ea typeface="Arial"/>
                <a:cs typeface="Arial"/>
              </a:rPr>
              <a:t>delegates a task</a:t>
            </a:r>
          </a:p>
        </p:txBody>
      </p:sp>
      <p:sp>
        <p:nvSpPr>
          <p:cNvPr id="238" name="g2 238"/>
          <p:cNvSpPr/>
          <p:nvPr/>
        </p:nvSpPr>
        <p:spPr>
          <a:xfrm>
            <a:off x="6492240" y="2395728"/>
            <a:ext cx="150876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 orchestrator</a:t>
            </a:r>
          </a:p>
          <a:p>
            <a:pPr algn="l" marL="0" indent="0">
              <a:lnSpc>
                <a:spcPct val="100000"/>
              </a:lnSpc>
              <a:buNone/>
            </a:pPr>
            <a:r>
              <a:rPr lang="en-US" sz="800" dirty="0">
                <a:solidFill>
                  <a:srgbClr val="F3E6D6"/>
                </a:solidFill>
                <a:latin typeface="Arial"/>
                <a:ea typeface="Arial"/>
                <a:cs typeface="Arial"/>
              </a:rPr>
              <a:t>calls our agents</a:t>
            </a:r>
          </a:p>
        </p:txBody>
      </p:sp>
      <p:cxnSp>
        <p:nvCxnSpPr>
          <p:cNvPr id="239" name="g2 flow 239"/>
          <p:cNvCxnSpPr/>
          <p:nvPr/>
        </p:nvCxnSpPr>
        <p:spPr>
          <a:xfrm>
            <a:off x="5600700" y="2898648"/>
            <a:ext cx="0" cy="347472"/>
          </a:xfrm>
          <a:prstGeom prst="line">
            <a:avLst/>
          </a:prstGeom>
          <a:ln w="12700">
            <a:solidFill>
              <a:srgbClr val="EE0000"/>
            </a:solidFill>
            <a:tailEnd type="triangle" w="med" len="med"/>
          </a:ln>
        </p:spPr>
      </p:cxnSp>
      <p:cxnSp>
        <p:nvCxnSpPr>
          <p:cNvPr id="240" name="g2 flow 240"/>
          <p:cNvCxnSpPr/>
          <p:nvPr/>
        </p:nvCxnSpPr>
        <p:spPr>
          <a:xfrm>
            <a:off x="7246620" y="2898648"/>
            <a:ext cx="0" cy="347472"/>
          </a:xfrm>
          <a:prstGeom prst="line">
            <a:avLst/>
          </a:prstGeom>
          <a:ln w="12700">
            <a:solidFill>
              <a:srgbClr val="EE0000"/>
            </a:solidFill>
            <a:tailEnd type="triangle" w="med" len="med"/>
          </a:ln>
        </p:spPr>
      </p:cxnSp>
      <p:sp>
        <p:nvSpPr>
          <p:cNvPr id="241" name="g2 241"/>
          <p:cNvSpPr/>
          <p:nvPr/>
        </p:nvSpPr>
        <p:spPr>
          <a:xfrm>
            <a:off x="4846320" y="3246120"/>
            <a:ext cx="3154680" cy="6400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A2A edge we control</a:t>
            </a:r>
          </a:p>
          <a:p>
            <a:pPr algn="l" marL="0" indent="0">
              <a:lnSpc>
                <a:spcPct val="100000"/>
              </a:lnSpc>
              <a:buNone/>
            </a:pPr>
            <a:r>
              <a:rPr lang="en-US" sz="800" dirty="0">
                <a:solidFill>
                  <a:srgbClr val="141010"/>
                </a:solidFill>
                <a:latin typeface="Arial"/>
                <a:ea typeface="Arial"/>
                <a:cs typeface="Arial"/>
              </a:rPr>
              <a:t>authN · allowed skills · task states (AUTH_REQUIRED) · artifact schema · budgets + timeouts</a:t>
            </a:r>
          </a:p>
        </p:txBody>
      </p:sp>
      <p:cxnSp>
        <p:nvCxnSpPr>
          <p:cNvPr id="242" name="g2 flow 242"/>
          <p:cNvCxnSpPr/>
          <p:nvPr/>
        </p:nvCxnSpPr>
        <p:spPr>
          <a:xfrm>
            <a:off x="6400800" y="3886200"/>
            <a:ext cx="0" cy="320040"/>
          </a:xfrm>
          <a:prstGeom prst="line">
            <a:avLst/>
          </a:prstGeom>
          <a:ln w="12700">
            <a:solidFill>
              <a:srgbClr val="EE0000"/>
            </a:solidFill>
            <a:tailEnd type="triangle" w="med" len="med"/>
          </a:ln>
        </p:spPr>
      </p:cxnSp>
      <p:sp>
        <p:nvSpPr>
          <p:cNvPr id="243" name="g2 243"/>
          <p:cNvSpPr/>
          <p:nvPr/>
        </p:nvSpPr>
        <p:spPr>
          <a:xfrm>
            <a:off x="4846320" y="4206240"/>
            <a:ext cx="3154680" cy="5486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Vendor-built subagent (e.g. CES, Google, CRA)</a:t>
            </a:r>
          </a:p>
          <a:p>
            <a:pPr algn="l" marL="0" indent="0">
              <a:lnSpc>
                <a:spcPct val="100000"/>
              </a:lnSpc>
              <a:buNone/>
            </a:pPr>
            <a:r>
              <a:rPr lang="en-US" sz="800" dirty="0">
                <a:solidFill>
                  <a:srgbClr val="F3E6D6"/>
                </a:solidFill>
                <a:latin typeface="Arial"/>
                <a:ea typeface="Arial"/>
                <a:cs typeface="Arial"/>
              </a:rPr>
              <a:t>black box: reasoning and tools not visible to us</a:t>
            </a:r>
          </a:p>
        </p:txBody>
      </p:sp>
      <p:cxnSp>
        <p:nvCxnSpPr>
          <p:cNvPr id="244" name="g2 flow 244"/>
          <p:cNvCxnSpPr/>
          <p:nvPr/>
        </p:nvCxnSpPr>
        <p:spPr>
          <a:xfrm>
            <a:off x="6400800" y="4754880"/>
            <a:ext cx="0" cy="274320"/>
          </a:xfrm>
          <a:prstGeom prst="line">
            <a:avLst/>
          </a:prstGeom>
          <a:ln w="12700">
            <a:solidFill>
              <a:srgbClr val="EE0000"/>
            </a:solidFill>
            <a:prstDash val="dash"/>
            <a:tailEnd type="triangle" w="med" len="med"/>
          </a:ln>
        </p:spPr>
      </p:cxnSp>
      <p:sp>
        <p:nvSpPr>
          <p:cNvPr id="245" name="g2 245"/>
          <p:cNvSpPr/>
          <p:nvPr/>
        </p:nvSpPr>
        <p:spPr>
          <a:xfrm>
            <a:off x="4846320" y="5029200"/>
            <a:ext cx="3154680" cy="4114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Shared conversation ID</a:t>
            </a:r>
          </a:p>
          <a:p>
            <a:pPr algn="l" marL="0" indent="0">
              <a:lnSpc>
                <a:spcPct val="100000"/>
              </a:lnSpc>
              <a:buNone/>
            </a:pPr>
            <a:r>
              <a:rPr lang="en-US" sz="800" dirty="0">
                <a:solidFill>
                  <a:srgbClr val="F3E6D6"/>
                </a:solidFill>
                <a:latin typeface="Arial"/>
                <a:ea typeface="Arial"/>
                <a:cs typeface="Arial"/>
              </a:rPr>
              <a:t>vendor spans joined to ours</a:t>
            </a:r>
          </a:p>
        </p:txBody>
      </p:sp>
      <p:cxnSp>
        <p:nvCxnSpPr>
          <p:cNvPr id="246" name="g2 flow 246"/>
          <p:cNvCxnSpPr/>
          <p:nvPr/>
        </p:nvCxnSpPr>
        <p:spPr>
          <a:xfrm flipH="1">
            <a:off x="4572000" y="5394960"/>
            <a:ext cx="274320" cy="0"/>
          </a:xfrm>
          <a:prstGeom prst="line">
            <a:avLst/>
          </a:prstGeom>
          <a:ln w="12700">
            <a:solidFill>
              <a:srgbClr val="EE0000"/>
            </a:solidFill>
            <a:prstDash val="dash"/>
            <a:tailEnd type="triangle" w="med" len="med"/>
          </a:ln>
        </p:spPr>
      </p:cxnSp>
      <p:cxnSp>
        <p:nvCxnSpPr>
          <p:cNvPr id="247" name="g2 flow 247"/>
          <p:cNvCxnSpPr/>
          <p:nvPr/>
        </p:nvCxnSpPr>
        <p:spPr>
          <a:xfrm>
            <a:off x="4572000" y="3538728"/>
            <a:ext cx="274320" cy="0"/>
          </a:xfrm>
          <a:prstGeom prst="line">
            <a:avLst/>
          </a:prstGeom>
          <a:ln w="12700">
            <a:solidFill>
              <a:srgbClr val="EE0000"/>
            </a:solidFill>
            <a:prstDash val="dash"/>
            <a:tailEnd type="triangle" w="med" len="med"/>
          </a:ln>
        </p:spPr>
      </p:cxnSp>
      <p:sp>
        <p:nvSpPr>
          <p:cNvPr id="248" name="g2 248"/>
          <p:cNvSpPr/>
          <p:nvPr/>
        </p:nvSpPr>
        <p:spPr>
          <a:xfrm>
            <a:off x="4846320" y="5559552"/>
            <a:ext cx="3154680" cy="36576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ServiceNow’s AI Gateway governs MCP only, not A2A [33]: A2A governance falls to us.</a:t>
            </a:r>
          </a:p>
        </p:txBody>
      </p:sp>
      <p:sp>
        <p:nvSpPr>
          <p:cNvPr id="249" name="g2 249"/>
          <p:cNvSpPr/>
          <p:nvPr/>
        </p:nvSpPr>
        <p:spPr>
          <a:xfrm>
            <a:off x="8302752" y="1024128"/>
            <a:ext cx="32918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  ·  required, missing, why</a:t>
            </a:r>
          </a:p>
        </p:txBody>
      </p:sp>
      <p:sp>
        <p:nvSpPr>
          <p:cNvPr id="250" name="g2 250"/>
          <p:cNvSpPr/>
          <p:nvPr/>
        </p:nvSpPr>
        <p:spPr>
          <a:xfrm>
            <a:off x="8531352" y="2148840"/>
            <a:ext cx="2971800" cy="548640"/>
          </a:xfrm>
          <a:prstGeom prst="rect">
            <a:avLst/>
          </a:prstGeom>
          <a:noFill/>
          <a:ln>
            <a:noFill/>
          </a:ln>
        </p:spPr>
        <p:txBody>
          <a:bodyPr wrap="square" lIns="0" tIns="0" rIns="0" bIns="0" rtlCol="0" anchor="t">
            <a:noAutofit/>
          </a:bodyPr>
          <a:lstStyle/>
          <a:p>
            <a:pPr algn="l" marL="0" indent="0">
              <a:lnSpc>
                <a:spcPct val="100000"/>
              </a:lnSpc>
              <a:buNone/>
            </a:pPr>
            <a:r>
              <a:rPr lang="en-US" sz="850" dirty="0">
                <a:solidFill>
                  <a:srgbClr val="141010"/>
                </a:solidFill>
                <a:latin typeface="Arial"/>
                <a:ea typeface="Arial"/>
                <a:cs typeface="Arial"/>
              </a:rPr>
              <a:t>Missing: A2A enforcement point (MCP gateway covers tools only), Agent Card signing, MAST in the gate, cross-agent budget breaker.</a:t>
            </a:r>
          </a:p>
        </p:txBody>
      </p:sp>
      <p:sp>
        <p:nvSpPr>
          <p:cNvPr id="251" name="g2 251"/>
          <p:cNvSpPr/>
          <p:nvPr/>
        </p:nvSpPr>
        <p:spPr>
          <a:xfrm>
            <a:off x="8531352" y="3566160"/>
            <a:ext cx="2971800" cy="548640"/>
          </a:xfrm>
          <a:prstGeom prst="rect">
            <a:avLst/>
          </a:prstGeom>
          <a:noFill/>
          <a:ln>
            <a:noFill/>
          </a:ln>
        </p:spPr>
        <p:txBody>
          <a:bodyPr wrap="square" lIns="0" tIns="0" rIns="0" bIns="0" rtlCol="0" anchor="t">
            <a:noAutofit/>
          </a:bodyPr>
          <a:lstStyle/>
          <a:p>
            <a:pPr algn="l" marL="0" indent="0">
              <a:lnSpc>
                <a:spcPct val="100000"/>
              </a:lnSpc>
              <a:buNone/>
            </a:pPr>
            <a:r>
              <a:rPr lang="en-US" sz="850" dirty="0">
                <a:solidFill>
                  <a:srgbClr val="F3E6D6"/>
                </a:solidFill>
                <a:latin typeface="Arial"/>
                <a:ea typeface="Arial"/>
                <a:cs typeface="Arial"/>
              </a:rPr>
              <a:t>ServiceNow excludes A2A from its AI Gateway [33]. Forrester: standards for portable identity and policy are immature [16].</a:t>
            </a:r>
          </a:p>
        </p:txBody>
      </p:sp>
      <p:sp>
        <p:nvSpPr>
          <p:cNvPr id="252" name="g2 252"/>
          <p:cNvSpPr/>
          <p:nvPr/>
        </p:nvSpPr>
        <p:spPr>
          <a:xfrm>
            <a:off x="8531352" y="4983480"/>
            <a:ext cx="2971800" cy="548640"/>
          </a:xfrm>
          <a:prstGeom prst="rect">
            <a:avLst/>
          </a:prstGeom>
          <a:noFill/>
          <a:ln>
            <a:noFill/>
          </a:ln>
        </p:spPr>
        <p:txBody>
          <a:bodyPr wrap="square" lIns="0" tIns="0" rIns="0" bIns="0" rtlCol="0" anchor="t">
            <a:noAutofit/>
          </a:bodyPr>
          <a:lstStyle/>
          <a:p>
            <a:pPr algn="l" marL="0" indent="0">
              <a:lnSpc>
                <a:spcPct val="100000"/>
              </a:lnSpc>
              <a:buNone/>
            </a:pPr>
            <a:r>
              <a:rPr lang="en-US" sz="850" dirty="0">
                <a:solidFill>
                  <a:srgbClr val="F3E6D6"/>
                </a:solidFill>
                <a:latin typeface="Arial"/>
                <a:ea typeface="Arial"/>
                <a:cs typeface="Arial"/>
              </a:rPr>
              <a:t>70% of AI apps on multi-agent systems by 2028 [4]; by 2030, 50% of deployment failures tie to runtime enforcement and interoperability [8].</a:t>
            </a:r>
          </a:p>
        </p:txBody>
      </p:sp>
      <p:sp>
        <p:nvSpPr>
          <p:cNvPr id="253" name="g2 253"/>
          <p:cNvSpPr/>
          <p:nvPr/>
        </p:nvSpPr>
        <p:spPr>
          <a:xfrm>
            <a:off x="8412480" y="5486400"/>
            <a:ext cx="3191256" cy="292608"/>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MAST: 41–86.7% failure on open-source MAS; design fixes gave +9.4% and +15.6% [21]</a:t>
            </a:r>
          </a:p>
        </p:txBody>
      </p:sp>
      <p:sp>
        <p:nvSpPr>
          <p:cNvPr id="254" name="g2 254"/>
          <p:cNvSpPr/>
          <p:nvPr/>
        </p:nvSpPr>
        <p:spPr>
          <a:xfrm>
            <a:off x="8412480" y="5989320"/>
            <a:ext cx="3191256" cy="274320"/>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Inter-agent trust escalation is a top red-team class [20]</a:t>
            </a:r>
          </a:p>
        </p:txBody>
      </p:sp>
      <p:sp>
        <p:nvSpPr>
          <p:cNvPr id="255"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29 / 44</a:t>
            </a:r>
          </a:p>
        </p:txBody>
      </p:sp>
      <p:sp>
        <p:nvSpPr>
          <p:cNvPr id="256"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257"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sp>
      <p:sp>
        <p:nvSpPr>
          <p:cNvPr id="3" name="Shape 1"/>
          <p:cNvSpPr/>
          <p:nvPr/>
        </p:nvSpPr>
        <p:spPr>
          <a:xfrm>
            <a:off x="3846366" y="-6173629"/>
            <a:ext cx="8262633" cy="8262633"/>
          </a:xfrm>
          <a:prstGeom prst="ellipse">
            <a:avLst/>
          </a:prstGeom>
          <a:solidFill>
            <a:srgbClr val="8A0F1A">
              <a:alpha val="4218"/>
            </a:srgbClr>
          </a:solidFill>
          <a:ln/>
        </p:spPr>
      </p:sp>
      <p:sp>
        <p:nvSpPr>
          <p:cNvPr id="4" name="Shape 2"/>
          <p:cNvSpPr/>
          <p:nvPr/>
        </p:nvSpPr>
        <p:spPr>
          <a:xfrm>
            <a:off x="4025989" y="-5994006"/>
            <a:ext cx="7903388" cy="7903388"/>
          </a:xfrm>
          <a:prstGeom prst="ellipse">
            <a:avLst/>
          </a:prstGeom>
          <a:solidFill>
            <a:srgbClr val="8A0F1A">
              <a:alpha val="4138"/>
            </a:srgbClr>
          </a:solidFill>
          <a:ln/>
        </p:spPr>
      </p:sp>
      <p:sp>
        <p:nvSpPr>
          <p:cNvPr id="5" name="Shape 3"/>
          <p:cNvSpPr/>
          <p:nvPr/>
        </p:nvSpPr>
        <p:spPr>
          <a:xfrm>
            <a:off x="4205611" y="-5814384"/>
            <a:ext cx="7544143" cy="7544143"/>
          </a:xfrm>
          <a:prstGeom prst="ellipse">
            <a:avLst/>
          </a:prstGeom>
          <a:solidFill>
            <a:srgbClr val="8A0F1A">
              <a:alpha val="2636"/>
            </a:srgbClr>
          </a:solidFill>
          <a:ln/>
        </p:spPr>
      </p:sp>
      <p:sp>
        <p:nvSpPr>
          <p:cNvPr id="6" name="Shape 4"/>
          <p:cNvSpPr/>
          <p:nvPr/>
        </p:nvSpPr>
        <p:spPr>
          <a:xfrm>
            <a:off x="4385234" y="-5634761"/>
            <a:ext cx="7184898" cy="7184898"/>
          </a:xfrm>
          <a:prstGeom prst="ellipse">
            <a:avLst/>
          </a:prstGeom>
          <a:solidFill>
            <a:srgbClr val="8A0F1A">
              <a:alpha val="2661"/>
            </a:srgbClr>
          </a:solidFill>
          <a:ln/>
        </p:spPr>
      </p:sp>
      <p:sp>
        <p:nvSpPr>
          <p:cNvPr id="7" name="Shape 5"/>
          <p:cNvSpPr/>
          <p:nvPr/>
        </p:nvSpPr>
        <p:spPr>
          <a:xfrm>
            <a:off x="4564856" y="-5455139"/>
            <a:ext cx="6825653" cy="6825653"/>
          </a:xfrm>
          <a:prstGeom prst="ellipse">
            <a:avLst/>
          </a:prstGeom>
          <a:solidFill>
            <a:srgbClr val="8A0F1A">
              <a:alpha val="3304"/>
            </a:srgbClr>
          </a:solidFill>
          <a:ln/>
        </p:spPr>
      </p:sp>
      <p:sp>
        <p:nvSpPr>
          <p:cNvPr id="8" name="Shape 6"/>
          <p:cNvSpPr/>
          <p:nvPr/>
        </p:nvSpPr>
        <p:spPr>
          <a:xfrm>
            <a:off x="4744479" y="-5275516"/>
            <a:ext cx="6466408" cy="6466408"/>
          </a:xfrm>
          <a:prstGeom prst="ellipse">
            <a:avLst/>
          </a:prstGeom>
          <a:solidFill>
            <a:srgbClr val="8A0F1A">
              <a:alpha val="3622"/>
            </a:srgbClr>
          </a:solidFill>
          <a:ln/>
        </p:spPr>
      </p:sp>
      <p:sp>
        <p:nvSpPr>
          <p:cNvPr id="9" name="Shape 7"/>
          <p:cNvSpPr/>
          <p:nvPr/>
        </p:nvSpPr>
        <p:spPr>
          <a:xfrm>
            <a:off x="4924101" y="-5095894"/>
            <a:ext cx="6107163" cy="6107163"/>
          </a:xfrm>
          <a:prstGeom prst="ellipse">
            <a:avLst/>
          </a:prstGeom>
          <a:solidFill>
            <a:srgbClr val="8A0F1A">
              <a:alpha val="3650"/>
            </a:srgbClr>
          </a:solidFill>
          <a:ln/>
        </p:spPr>
      </p:sp>
      <p:sp>
        <p:nvSpPr>
          <p:cNvPr id="10" name="Shape 8"/>
          <p:cNvSpPr/>
          <p:nvPr/>
        </p:nvSpPr>
        <p:spPr>
          <a:xfrm>
            <a:off x="5103724" y="-4916272"/>
            <a:ext cx="5747918" cy="5747918"/>
          </a:xfrm>
          <a:prstGeom prst="ellipse">
            <a:avLst/>
          </a:prstGeom>
          <a:solidFill>
            <a:srgbClr val="8A0F1A">
              <a:alpha val="3631"/>
            </a:srgbClr>
          </a:solidFill>
          <a:ln/>
        </p:spPr>
      </p:sp>
      <p:sp>
        <p:nvSpPr>
          <p:cNvPr id="11" name="Shape 9"/>
          <p:cNvSpPr/>
          <p:nvPr/>
        </p:nvSpPr>
        <p:spPr>
          <a:xfrm>
            <a:off x="5283346" y="-4736649"/>
            <a:ext cx="5388674" cy="5388674"/>
          </a:xfrm>
          <a:prstGeom prst="ellipse">
            <a:avLst/>
          </a:prstGeom>
          <a:solidFill>
            <a:srgbClr val="8A0F1A">
              <a:alpha val="3693"/>
            </a:srgbClr>
          </a:solidFill>
          <a:ln/>
        </p:spPr>
      </p:sp>
      <p:sp>
        <p:nvSpPr>
          <p:cNvPr id="12" name="Shape 10"/>
          <p:cNvSpPr/>
          <p:nvPr/>
        </p:nvSpPr>
        <p:spPr>
          <a:xfrm>
            <a:off x="5462968" y="-4557027"/>
            <a:ext cx="5029429" cy="5029429"/>
          </a:xfrm>
          <a:prstGeom prst="ellipse">
            <a:avLst/>
          </a:prstGeom>
          <a:solidFill>
            <a:srgbClr val="8A0F1A">
              <a:alpha val="4536"/>
            </a:srgbClr>
          </a:solidFill>
          <a:ln/>
        </p:spPr>
      </p:sp>
      <p:sp>
        <p:nvSpPr>
          <p:cNvPr id="13" name="Shape 11"/>
          <p:cNvSpPr/>
          <p:nvPr/>
        </p:nvSpPr>
        <p:spPr>
          <a:xfrm>
            <a:off x="5642591" y="-4377404"/>
            <a:ext cx="4670184" cy="4670184"/>
          </a:xfrm>
          <a:prstGeom prst="ellipse">
            <a:avLst/>
          </a:prstGeom>
          <a:solidFill>
            <a:srgbClr val="8A0F1A">
              <a:alpha val="4737"/>
            </a:srgbClr>
          </a:solidFill>
          <a:ln/>
        </p:spPr>
      </p:sp>
      <p:sp>
        <p:nvSpPr>
          <p:cNvPr id="14" name="Shape 12"/>
          <p:cNvSpPr/>
          <p:nvPr/>
        </p:nvSpPr>
        <p:spPr>
          <a:xfrm>
            <a:off x="5822213" y="-4197782"/>
            <a:ext cx="4310939" cy="4310939"/>
          </a:xfrm>
          <a:prstGeom prst="ellipse">
            <a:avLst/>
          </a:prstGeom>
          <a:solidFill>
            <a:srgbClr val="8A0F1A">
              <a:alpha val="4994"/>
            </a:srgbClr>
          </a:solidFill>
          <a:ln/>
        </p:spPr>
      </p:sp>
      <p:sp>
        <p:nvSpPr>
          <p:cNvPr id="15" name="Shape 13"/>
          <p:cNvSpPr/>
          <p:nvPr/>
        </p:nvSpPr>
        <p:spPr>
          <a:xfrm>
            <a:off x="6001836" y="-4018159"/>
            <a:ext cx="3951694" cy="3951694"/>
          </a:xfrm>
          <a:prstGeom prst="ellipse">
            <a:avLst/>
          </a:prstGeom>
          <a:solidFill>
            <a:srgbClr val="8A0F1A">
              <a:alpha val="5272"/>
            </a:srgbClr>
          </a:solidFill>
          <a:ln/>
        </p:spPr>
      </p:sp>
      <p:sp>
        <p:nvSpPr>
          <p:cNvPr id="16" name="Shape 14"/>
          <p:cNvSpPr/>
          <p:nvPr/>
        </p:nvSpPr>
        <p:spPr>
          <a:xfrm>
            <a:off x="6181458" y="-3838537"/>
            <a:ext cx="3592449" cy="3592449"/>
          </a:xfrm>
          <a:prstGeom prst="ellipse">
            <a:avLst/>
          </a:prstGeom>
          <a:solidFill>
            <a:srgbClr val="8A0F1A">
              <a:alpha val="5521"/>
            </a:srgbClr>
          </a:solidFill>
          <a:ln/>
        </p:spPr>
      </p:sp>
      <p:sp>
        <p:nvSpPr>
          <p:cNvPr id="17" name="Shape 15"/>
          <p:cNvSpPr/>
          <p:nvPr/>
        </p:nvSpPr>
        <p:spPr>
          <a:xfrm>
            <a:off x="6361081" y="-3658914"/>
            <a:ext cx="3233204" cy="3233204"/>
          </a:xfrm>
          <a:prstGeom prst="ellipse">
            <a:avLst/>
          </a:prstGeom>
          <a:solidFill>
            <a:srgbClr val="8A0F1A">
              <a:alpha val="6496"/>
            </a:srgbClr>
          </a:solidFill>
          <a:ln/>
        </p:spPr>
      </p:sp>
      <p:sp>
        <p:nvSpPr>
          <p:cNvPr id="18" name="Shape 16"/>
          <p:cNvSpPr/>
          <p:nvPr/>
        </p:nvSpPr>
        <p:spPr>
          <a:xfrm>
            <a:off x="6540703" y="-3479292"/>
            <a:ext cx="2873959" cy="2873959"/>
          </a:xfrm>
          <a:prstGeom prst="ellipse">
            <a:avLst/>
          </a:prstGeom>
          <a:solidFill>
            <a:srgbClr val="8A0F1A">
              <a:alpha val="6768"/>
            </a:srgbClr>
          </a:solidFill>
          <a:ln/>
        </p:spPr>
      </p:sp>
      <p:sp>
        <p:nvSpPr>
          <p:cNvPr id="19" name="Shape 17"/>
          <p:cNvSpPr/>
          <p:nvPr/>
        </p:nvSpPr>
        <p:spPr>
          <a:xfrm>
            <a:off x="6720326" y="-3299670"/>
            <a:ext cx="2514714" cy="2514714"/>
          </a:xfrm>
          <a:prstGeom prst="ellipse">
            <a:avLst/>
          </a:prstGeom>
          <a:solidFill>
            <a:srgbClr val="8A0F1A">
              <a:alpha val="7123"/>
            </a:srgbClr>
          </a:solidFill>
          <a:ln/>
        </p:spPr>
      </p:sp>
      <p:sp>
        <p:nvSpPr>
          <p:cNvPr id="20" name="Shape 18"/>
          <p:cNvSpPr/>
          <p:nvPr/>
        </p:nvSpPr>
        <p:spPr>
          <a:xfrm>
            <a:off x="6899948" y="-3120047"/>
            <a:ext cx="2155469" cy="2155469"/>
          </a:xfrm>
          <a:prstGeom prst="ellipse">
            <a:avLst/>
          </a:prstGeom>
          <a:solidFill>
            <a:srgbClr val="8A0F1A">
              <a:alpha val="7486"/>
            </a:srgbClr>
          </a:solidFill>
          <a:ln/>
        </p:spPr>
      </p:sp>
      <p:sp>
        <p:nvSpPr>
          <p:cNvPr id="21" name="Shape 19"/>
          <p:cNvSpPr/>
          <p:nvPr/>
        </p:nvSpPr>
        <p:spPr>
          <a:xfrm>
            <a:off x="7079571" y="-2940425"/>
            <a:ext cx="1796225" cy="1796225"/>
          </a:xfrm>
          <a:prstGeom prst="ellipse">
            <a:avLst/>
          </a:prstGeom>
          <a:solidFill>
            <a:srgbClr val="8A0F1A">
              <a:alpha val="8191"/>
            </a:srgbClr>
          </a:solidFill>
          <a:ln/>
        </p:spPr>
      </p:sp>
      <p:sp>
        <p:nvSpPr>
          <p:cNvPr id="22" name="Shape 20"/>
          <p:cNvSpPr/>
          <p:nvPr/>
        </p:nvSpPr>
        <p:spPr>
          <a:xfrm>
            <a:off x="7259193" y="-2760802"/>
            <a:ext cx="1436980" cy="1436980"/>
          </a:xfrm>
          <a:prstGeom prst="ellipse">
            <a:avLst/>
          </a:prstGeom>
          <a:solidFill>
            <a:srgbClr val="8A0F1A">
              <a:alpha val="9466"/>
            </a:srgbClr>
          </a:solidFill>
          <a:ln/>
        </p:spPr>
      </p:sp>
      <p:sp>
        <p:nvSpPr>
          <p:cNvPr id="23" name="Shape 21"/>
          <p:cNvSpPr/>
          <p:nvPr/>
        </p:nvSpPr>
        <p:spPr>
          <a:xfrm>
            <a:off x="7438815" y="-2581180"/>
            <a:ext cx="1077735" cy="1077735"/>
          </a:xfrm>
          <a:prstGeom prst="ellipse">
            <a:avLst/>
          </a:prstGeom>
          <a:solidFill>
            <a:srgbClr val="8A0F1A">
              <a:alpha val="10120"/>
            </a:srgbClr>
          </a:solidFill>
          <a:ln/>
        </p:spPr>
      </p:sp>
      <p:sp>
        <p:nvSpPr>
          <p:cNvPr id="24" name="Shape 22"/>
          <p:cNvSpPr/>
          <p:nvPr/>
        </p:nvSpPr>
        <p:spPr>
          <a:xfrm>
            <a:off x="7618438" y="-2401557"/>
            <a:ext cx="718490" cy="718490"/>
          </a:xfrm>
          <a:prstGeom prst="ellipse">
            <a:avLst/>
          </a:prstGeom>
          <a:solidFill>
            <a:srgbClr val="8A0F1A">
              <a:alpha val="10280"/>
            </a:srgbClr>
          </a:solidFill>
          <a:ln/>
        </p:spPr>
      </p:sp>
      <p:sp>
        <p:nvSpPr>
          <p:cNvPr id="25" name="Shape 23"/>
          <p:cNvSpPr/>
          <p:nvPr/>
        </p:nvSpPr>
        <p:spPr>
          <a:xfrm>
            <a:off x="7798060" y="-2221935"/>
            <a:ext cx="359245" cy="359245"/>
          </a:xfrm>
          <a:prstGeom prst="ellipse">
            <a:avLst/>
          </a:prstGeom>
          <a:solidFill>
            <a:srgbClr val="8A0F1A">
              <a:alpha val="10999"/>
            </a:srgbClr>
          </a:solidFill>
          <a:ln/>
        </p:spPr>
      </p:sp>
      <p:sp>
        <p:nvSpPr>
          <p:cNvPr id="26" name="Shape 24"/>
          <p:cNvSpPr/>
          <p:nvPr/>
        </p:nvSpPr>
        <p:spPr>
          <a:xfrm>
            <a:off x="-3646627" y="4202582"/>
            <a:ext cx="8621878" cy="8621878"/>
          </a:xfrm>
          <a:prstGeom prst="ellipse">
            <a:avLst/>
          </a:prstGeom>
          <a:solidFill>
            <a:srgbClr val="8A0F1A">
              <a:alpha val="2547"/>
            </a:srgbClr>
          </a:solidFill>
          <a:ln/>
        </p:spPr>
      </p:sp>
      <p:sp>
        <p:nvSpPr>
          <p:cNvPr id="27" name="Shape 25"/>
          <p:cNvSpPr/>
          <p:nvPr/>
        </p:nvSpPr>
        <p:spPr>
          <a:xfrm>
            <a:off x="-3467005" y="4382205"/>
            <a:ext cx="8262633" cy="8262633"/>
          </a:xfrm>
          <a:prstGeom prst="ellipse">
            <a:avLst/>
          </a:prstGeom>
          <a:solidFill>
            <a:srgbClr val="8A0F1A">
              <a:alpha val="4218"/>
            </a:srgbClr>
          </a:solidFill>
          <a:ln/>
        </p:spPr>
      </p:sp>
      <p:sp>
        <p:nvSpPr>
          <p:cNvPr id="28" name="Shape 26"/>
          <p:cNvSpPr/>
          <p:nvPr/>
        </p:nvSpPr>
        <p:spPr>
          <a:xfrm>
            <a:off x="-3287382" y="4561827"/>
            <a:ext cx="7903388" cy="7903388"/>
          </a:xfrm>
          <a:prstGeom prst="ellipse">
            <a:avLst/>
          </a:prstGeom>
          <a:solidFill>
            <a:srgbClr val="8A0F1A">
              <a:alpha val="4138"/>
            </a:srgbClr>
          </a:solidFill>
          <a:ln/>
        </p:spPr>
      </p:sp>
      <p:sp>
        <p:nvSpPr>
          <p:cNvPr id="29" name="Shape 27"/>
          <p:cNvSpPr/>
          <p:nvPr/>
        </p:nvSpPr>
        <p:spPr>
          <a:xfrm>
            <a:off x="-3107760" y="4741450"/>
            <a:ext cx="7544143" cy="7544143"/>
          </a:xfrm>
          <a:prstGeom prst="ellipse">
            <a:avLst/>
          </a:prstGeom>
          <a:solidFill>
            <a:srgbClr val="8A0F1A">
              <a:alpha val="2636"/>
            </a:srgbClr>
          </a:solidFill>
          <a:ln/>
        </p:spPr>
      </p:sp>
      <p:sp>
        <p:nvSpPr>
          <p:cNvPr id="30" name="Shape 28"/>
          <p:cNvSpPr/>
          <p:nvPr/>
        </p:nvSpPr>
        <p:spPr>
          <a:xfrm>
            <a:off x="-2928137" y="4921072"/>
            <a:ext cx="7184898" cy="7184898"/>
          </a:xfrm>
          <a:prstGeom prst="ellipse">
            <a:avLst/>
          </a:prstGeom>
          <a:solidFill>
            <a:srgbClr val="8A0F1A">
              <a:alpha val="2661"/>
            </a:srgbClr>
          </a:solidFill>
          <a:ln/>
        </p:spPr>
      </p:sp>
      <p:sp>
        <p:nvSpPr>
          <p:cNvPr id="31" name="Shape 29"/>
          <p:cNvSpPr/>
          <p:nvPr/>
        </p:nvSpPr>
        <p:spPr>
          <a:xfrm>
            <a:off x="-2748515" y="5100695"/>
            <a:ext cx="6825653" cy="6825653"/>
          </a:xfrm>
          <a:prstGeom prst="ellipse">
            <a:avLst/>
          </a:prstGeom>
          <a:solidFill>
            <a:srgbClr val="8A0F1A">
              <a:alpha val="3304"/>
            </a:srgbClr>
          </a:solidFill>
          <a:ln/>
        </p:spPr>
      </p:sp>
      <p:sp>
        <p:nvSpPr>
          <p:cNvPr id="32" name="Shape 30"/>
          <p:cNvSpPr/>
          <p:nvPr/>
        </p:nvSpPr>
        <p:spPr>
          <a:xfrm>
            <a:off x="-2568892" y="5280317"/>
            <a:ext cx="6466408" cy="6466408"/>
          </a:xfrm>
          <a:prstGeom prst="ellipse">
            <a:avLst/>
          </a:prstGeom>
          <a:solidFill>
            <a:srgbClr val="8A0F1A">
              <a:alpha val="3622"/>
            </a:srgbClr>
          </a:solidFill>
          <a:ln/>
        </p:spPr>
      </p:sp>
      <p:sp>
        <p:nvSpPr>
          <p:cNvPr id="33" name="Shape 31"/>
          <p:cNvSpPr/>
          <p:nvPr/>
        </p:nvSpPr>
        <p:spPr>
          <a:xfrm>
            <a:off x="-2389270" y="5459940"/>
            <a:ext cx="6107163" cy="6107163"/>
          </a:xfrm>
          <a:prstGeom prst="ellipse">
            <a:avLst/>
          </a:prstGeom>
          <a:solidFill>
            <a:srgbClr val="8A0F1A">
              <a:alpha val="3650"/>
            </a:srgbClr>
          </a:solidFill>
          <a:ln/>
        </p:spPr>
      </p:sp>
      <p:sp>
        <p:nvSpPr>
          <p:cNvPr id="34" name="Shape 32"/>
          <p:cNvSpPr/>
          <p:nvPr/>
        </p:nvSpPr>
        <p:spPr>
          <a:xfrm>
            <a:off x="-2209648" y="5639562"/>
            <a:ext cx="5747918" cy="5747918"/>
          </a:xfrm>
          <a:prstGeom prst="ellipse">
            <a:avLst/>
          </a:prstGeom>
          <a:solidFill>
            <a:srgbClr val="8A0F1A">
              <a:alpha val="3631"/>
            </a:srgbClr>
          </a:solidFill>
          <a:ln/>
        </p:spPr>
      </p:sp>
      <p:sp>
        <p:nvSpPr>
          <p:cNvPr id="35" name="Shape 33"/>
          <p:cNvSpPr/>
          <p:nvPr/>
        </p:nvSpPr>
        <p:spPr>
          <a:xfrm>
            <a:off x="-2030025" y="5819184"/>
            <a:ext cx="5388674" cy="5388674"/>
          </a:xfrm>
          <a:prstGeom prst="ellipse">
            <a:avLst/>
          </a:prstGeom>
          <a:solidFill>
            <a:srgbClr val="8A0F1A">
              <a:alpha val="3693"/>
            </a:srgbClr>
          </a:solidFill>
          <a:ln/>
        </p:spPr>
      </p:sp>
      <p:sp>
        <p:nvSpPr>
          <p:cNvPr id="36" name="Shape 34"/>
          <p:cNvSpPr/>
          <p:nvPr/>
        </p:nvSpPr>
        <p:spPr>
          <a:xfrm>
            <a:off x="-1850403" y="5998807"/>
            <a:ext cx="5029429" cy="5029429"/>
          </a:xfrm>
          <a:prstGeom prst="ellipse">
            <a:avLst/>
          </a:prstGeom>
          <a:solidFill>
            <a:srgbClr val="8A0F1A">
              <a:alpha val="4536"/>
            </a:srgbClr>
          </a:solidFill>
          <a:ln/>
        </p:spPr>
      </p:sp>
      <p:sp>
        <p:nvSpPr>
          <p:cNvPr id="37" name="Shape 35"/>
          <p:cNvSpPr/>
          <p:nvPr/>
        </p:nvSpPr>
        <p:spPr>
          <a:xfrm>
            <a:off x="-1670780" y="6178429"/>
            <a:ext cx="4670184" cy="4670184"/>
          </a:xfrm>
          <a:prstGeom prst="ellipse">
            <a:avLst/>
          </a:prstGeom>
          <a:solidFill>
            <a:srgbClr val="8A0F1A">
              <a:alpha val="4737"/>
            </a:srgbClr>
          </a:solidFill>
          <a:ln/>
        </p:spPr>
      </p:sp>
      <p:sp>
        <p:nvSpPr>
          <p:cNvPr id="38" name="Shape 36"/>
          <p:cNvSpPr/>
          <p:nvPr/>
        </p:nvSpPr>
        <p:spPr>
          <a:xfrm>
            <a:off x="-1491158" y="6358052"/>
            <a:ext cx="4310939" cy="4310939"/>
          </a:xfrm>
          <a:prstGeom prst="ellipse">
            <a:avLst/>
          </a:prstGeom>
          <a:solidFill>
            <a:srgbClr val="8A0F1A">
              <a:alpha val="4994"/>
            </a:srgbClr>
          </a:solidFill>
          <a:ln/>
        </p:spPr>
      </p:sp>
      <p:sp>
        <p:nvSpPr>
          <p:cNvPr id="39" name="Shape 37"/>
          <p:cNvSpPr/>
          <p:nvPr/>
        </p:nvSpPr>
        <p:spPr>
          <a:xfrm>
            <a:off x="-1311535" y="6537674"/>
            <a:ext cx="3951694" cy="3951694"/>
          </a:xfrm>
          <a:prstGeom prst="ellipse">
            <a:avLst/>
          </a:prstGeom>
          <a:solidFill>
            <a:srgbClr val="8A0F1A">
              <a:alpha val="5272"/>
            </a:srgbClr>
          </a:solidFill>
          <a:ln/>
        </p:spPr>
      </p:sp>
      <p:sp>
        <p:nvSpPr>
          <p:cNvPr id="40" name="Shape 38"/>
          <p:cNvSpPr/>
          <p:nvPr/>
        </p:nvSpPr>
        <p:spPr>
          <a:xfrm>
            <a:off x="-1131913" y="6717297"/>
            <a:ext cx="3592449" cy="3592449"/>
          </a:xfrm>
          <a:prstGeom prst="ellipse">
            <a:avLst/>
          </a:prstGeom>
          <a:solidFill>
            <a:srgbClr val="8A0F1A">
              <a:alpha val="5521"/>
            </a:srgbClr>
          </a:solidFill>
          <a:ln/>
        </p:spPr>
      </p:sp>
      <p:sp>
        <p:nvSpPr>
          <p:cNvPr id="41" name="Shape 39"/>
          <p:cNvSpPr/>
          <p:nvPr/>
        </p:nvSpPr>
        <p:spPr>
          <a:xfrm>
            <a:off x="-952290" y="6896919"/>
            <a:ext cx="3233204" cy="3233204"/>
          </a:xfrm>
          <a:prstGeom prst="ellipse">
            <a:avLst/>
          </a:prstGeom>
          <a:solidFill>
            <a:srgbClr val="8A0F1A">
              <a:alpha val="6496"/>
            </a:srgbClr>
          </a:solidFill>
          <a:ln/>
        </p:spPr>
      </p:sp>
      <p:sp>
        <p:nvSpPr>
          <p:cNvPr id="42" name="Shape 40"/>
          <p:cNvSpPr/>
          <p:nvPr/>
        </p:nvSpPr>
        <p:spPr>
          <a:xfrm>
            <a:off x="-772668" y="7076542"/>
            <a:ext cx="2873959" cy="2873959"/>
          </a:xfrm>
          <a:prstGeom prst="ellipse">
            <a:avLst/>
          </a:prstGeom>
          <a:solidFill>
            <a:srgbClr val="8A0F1A">
              <a:alpha val="6768"/>
            </a:srgbClr>
          </a:solidFill>
          <a:ln/>
        </p:spPr>
      </p:sp>
      <p:sp>
        <p:nvSpPr>
          <p:cNvPr id="43" name="Shape 41"/>
          <p:cNvSpPr/>
          <p:nvPr/>
        </p:nvSpPr>
        <p:spPr>
          <a:xfrm>
            <a:off x="-593046" y="7256164"/>
            <a:ext cx="2514714" cy="2514714"/>
          </a:xfrm>
          <a:prstGeom prst="ellipse">
            <a:avLst/>
          </a:prstGeom>
          <a:solidFill>
            <a:srgbClr val="8A0F1A">
              <a:alpha val="7123"/>
            </a:srgbClr>
          </a:solidFill>
          <a:ln/>
        </p:spPr>
      </p:sp>
      <p:sp>
        <p:nvSpPr>
          <p:cNvPr id="44" name="Shape 42"/>
          <p:cNvSpPr/>
          <p:nvPr/>
        </p:nvSpPr>
        <p:spPr>
          <a:xfrm>
            <a:off x="-413423" y="7435787"/>
            <a:ext cx="2155469" cy="2155469"/>
          </a:xfrm>
          <a:prstGeom prst="ellipse">
            <a:avLst/>
          </a:prstGeom>
          <a:solidFill>
            <a:srgbClr val="8A0F1A">
              <a:alpha val="7486"/>
            </a:srgbClr>
          </a:solidFill>
          <a:ln/>
        </p:spPr>
      </p:sp>
      <p:sp>
        <p:nvSpPr>
          <p:cNvPr id="45" name="Shape 43"/>
          <p:cNvSpPr/>
          <p:nvPr/>
        </p:nvSpPr>
        <p:spPr>
          <a:xfrm>
            <a:off x="-233801" y="7615409"/>
            <a:ext cx="1796225" cy="1796225"/>
          </a:xfrm>
          <a:prstGeom prst="ellipse">
            <a:avLst/>
          </a:prstGeom>
          <a:solidFill>
            <a:srgbClr val="8A0F1A">
              <a:alpha val="8191"/>
            </a:srgbClr>
          </a:solidFill>
          <a:ln/>
        </p:spPr>
      </p:sp>
      <p:sp>
        <p:nvSpPr>
          <p:cNvPr id="46" name="Shape 44"/>
          <p:cNvSpPr/>
          <p:nvPr/>
        </p:nvSpPr>
        <p:spPr>
          <a:xfrm>
            <a:off x="-54178" y="7795031"/>
            <a:ext cx="1436980" cy="1436980"/>
          </a:xfrm>
          <a:prstGeom prst="ellipse">
            <a:avLst/>
          </a:prstGeom>
          <a:solidFill>
            <a:srgbClr val="8A0F1A">
              <a:alpha val="9466"/>
            </a:srgbClr>
          </a:solidFill>
          <a:ln/>
        </p:spPr>
      </p:sp>
      <p:sp>
        <p:nvSpPr>
          <p:cNvPr id="47" name="Shape 45"/>
          <p:cNvSpPr/>
          <p:nvPr/>
        </p:nvSpPr>
        <p:spPr>
          <a:xfrm>
            <a:off x="125444" y="7974654"/>
            <a:ext cx="1077735" cy="1077735"/>
          </a:xfrm>
          <a:prstGeom prst="ellipse">
            <a:avLst/>
          </a:prstGeom>
          <a:solidFill>
            <a:srgbClr val="8A0F1A">
              <a:alpha val="10120"/>
            </a:srgbClr>
          </a:solidFill>
          <a:ln/>
        </p:spPr>
      </p:sp>
      <p:sp>
        <p:nvSpPr>
          <p:cNvPr id="48" name="Shape 46"/>
          <p:cNvSpPr/>
          <p:nvPr/>
        </p:nvSpPr>
        <p:spPr>
          <a:xfrm>
            <a:off x="305067" y="8154276"/>
            <a:ext cx="718490" cy="718490"/>
          </a:xfrm>
          <a:prstGeom prst="ellipse">
            <a:avLst/>
          </a:prstGeom>
          <a:solidFill>
            <a:srgbClr val="8A0F1A">
              <a:alpha val="10280"/>
            </a:srgbClr>
          </a:solidFill>
          <a:ln/>
        </p:spPr>
      </p:sp>
      <p:sp>
        <p:nvSpPr>
          <p:cNvPr id="49" name="Shape 47"/>
          <p:cNvSpPr/>
          <p:nvPr/>
        </p:nvSpPr>
        <p:spPr>
          <a:xfrm>
            <a:off x="484689" y="8333899"/>
            <a:ext cx="359245" cy="359245"/>
          </a:xfrm>
          <a:prstGeom prst="ellipse">
            <a:avLst/>
          </a:prstGeom>
          <a:solidFill>
            <a:srgbClr val="8A0F1A">
              <a:alpha val="10999"/>
            </a:srgbClr>
          </a:solidFill>
          <a:ln/>
        </p:spPr>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P4 Critical real-time</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LLM advises,</a:t>
            </a:r>
          </a:p>
        </p:txBody>
      </p:sp>
      <p:sp>
        <p:nvSpPr>
          <p:cNvPr id="53" name="Text 51"/>
          <p:cNvSpPr/>
          <p:nvPr/>
        </p:nvSpPr>
        <p:spPr>
          <a:xfrm>
            <a:off x="1351483" y="2268626"/>
            <a:ext cx="2103120" cy="646481"/>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guard acts</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5" name="Text 53"/>
          <p:cNvSpPr/>
          <p:nvPr/>
        </p:nvSpPr>
        <p:spPr>
          <a:xfrm>
            <a:off x="689458" y="306324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Keep the LLM advisory. Actuate only through deterministic, pre-approved playbooks with a guard at the actuation API. Fail closed for actions, fail open for advice.</a:t>
            </a:r>
          </a:p>
        </p:txBody>
      </p:sp>
      <p:sp>
        <p:nvSpPr>
          <p:cNvPr id="56" name="Text 54"/>
          <p:cNvSpPr/>
          <p:nvPr/>
        </p:nvSpPr>
        <p:spPr>
          <a:xfrm>
            <a:off x="689458" y="457200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Why (Gartner)</a:t>
            </a:r>
          </a:p>
          <a:p>
            <a:pPr indent="0" marL="0">
              <a:lnSpc>
                <a:spcPct val="150000"/>
              </a:lnSpc>
              <a:buNone/>
            </a:pPr>
            <a:r>
              <a:rPr lang="en-US" sz="1100" dirty="0">
                <a:solidFill>
                  <a:srgbClr val="F5B700"/>
                </a:solidFill>
                <a:latin typeface="Arial" pitchFamily="34" charset="0"/>
                <a:ea typeface="Arial" pitchFamily="34" charset="-122"/>
                <a:cs typeface="Arial" pitchFamily="34" charset="-120"/>
              </a:rPr>
              <a:t>Level 4 needs circuit breakers, rapid rollback and clear ownership [7].</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Ours / partner</a:t>
            </a:r>
          </a:p>
        </p:txBody>
      </p:sp>
      <p:sp>
        <p:nvSpPr>
          <p:cNvPr id="59" name="Shape 57"/>
          <p:cNvSpPr/>
          <p:nvPr/>
        </p:nvSpPr>
        <p:spPr>
          <a:xfrm>
            <a:off x="6245352" y="5516575"/>
            <a:ext cx="1600200" cy="374904"/>
          </a:xfrm>
          <a:prstGeom prst="roundRect">
            <a:avLst>
              <a:gd name="adj" fmla="val 50000"/>
            </a:avLst>
          </a:prstGeom>
          <a:solidFill>
            <a:srgbClr val="F5B700"/>
          </a:solidFill>
          <a:ln/>
        </p:spPr>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Gap: build</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Third-party</a:t>
            </a:r>
          </a:p>
        </p:txBody>
      </p:sp>
      <p:sp>
        <p:nvSpPr>
          <p:cNvPr id="63" name="Shape 61"/>
          <p:cNvSpPr/>
          <p:nvPr/>
        </p:nvSpPr>
        <p:spPr>
          <a:xfrm rot="19800000">
            <a:off x="3895344" y="5657393"/>
            <a:ext cx="95098" cy="95098"/>
          </a:xfrm>
          <a:prstGeom prst="rect">
            <a:avLst/>
          </a:prstGeom>
          <a:solidFill>
            <a:srgbClr val="CC0000"/>
          </a:solidFill>
          <a:ln/>
        </p:spPr>
      </p:sp>
      <p:sp>
        <p:nvSpPr>
          <p:cNvPr id="199" name="g2 199"/>
          <p:cNvSpPr/>
          <p:nvPr/>
        </p:nvSpPr>
        <p:spPr>
          <a:xfrm>
            <a:off x="3703320" y="1261872"/>
            <a:ext cx="402336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guarded actuation path</a:t>
            </a:r>
          </a:p>
        </p:txBody>
      </p:sp>
      <p:sp>
        <p:nvSpPr>
          <p:cNvPr id="200" name="g2 200"/>
          <p:cNvSpPr/>
          <p:nvPr/>
        </p:nvSpPr>
        <p:spPr>
          <a:xfrm>
            <a:off x="8001000" y="1261872"/>
            <a:ext cx="21488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a:t>
            </a:r>
          </a:p>
        </p:txBody>
      </p:sp>
      <p:sp>
        <p:nvSpPr>
          <p:cNvPr id="201" name="g2 201"/>
          <p:cNvSpPr/>
          <p:nvPr/>
        </p:nvSpPr>
        <p:spPr>
          <a:xfrm>
            <a:off x="10195560" y="1261872"/>
            <a:ext cx="173736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a:t>
            </a:r>
          </a:p>
        </p:txBody>
      </p:sp>
      <p:sp>
        <p:nvSpPr>
          <p:cNvPr id="202" name="g2 202"/>
          <p:cNvSpPr/>
          <p:nvPr/>
        </p:nvSpPr>
        <p:spPr>
          <a:xfrm>
            <a:off x="3703320" y="148132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Event stream</a:t>
            </a:r>
          </a:p>
          <a:p>
            <a:pPr algn="l" marL="0" indent="0">
              <a:lnSpc>
                <a:spcPct val="100000"/>
              </a:lnSpc>
              <a:buNone/>
            </a:pPr>
            <a:r>
              <a:rPr lang="en-US" sz="800" dirty="0">
                <a:solidFill>
                  <a:srgbClr val="F3E6D6"/>
                </a:solidFill>
                <a:latin typeface="Arial"/>
                <a:ea typeface="Arial"/>
                <a:cs typeface="Arial"/>
              </a:rPr>
              <a:t>alarms · telemetry · transactions</a:t>
            </a:r>
          </a:p>
        </p:txBody>
      </p:sp>
      <p:sp>
        <p:nvSpPr>
          <p:cNvPr id="203" name="g2 203"/>
          <p:cNvSpPr/>
          <p:nvPr/>
        </p:nvSpPr>
        <p:spPr>
          <a:xfrm>
            <a:off x="3703320" y="212140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Detector</a:t>
            </a:r>
          </a:p>
          <a:p>
            <a:pPr algn="l" marL="0" indent="0">
              <a:lnSpc>
                <a:spcPct val="100000"/>
              </a:lnSpc>
              <a:buNone/>
            </a:pPr>
            <a:r>
              <a:rPr lang="en-US" sz="800" dirty="0">
                <a:solidFill>
                  <a:srgbClr val="F3E6D6"/>
                </a:solidFill>
                <a:latin typeface="Arial"/>
                <a:ea typeface="Arial"/>
                <a:cs typeface="Arial"/>
              </a:rPr>
              <a:t>rules or a small model</a:t>
            </a:r>
          </a:p>
        </p:txBody>
      </p:sp>
      <p:cxnSp>
        <p:nvCxnSpPr>
          <p:cNvPr id="204" name="g2 flow 204"/>
          <p:cNvCxnSpPr/>
          <p:nvPr/>
        </p:nvCxnSpPr>
        <p:spPr>
          <a:xfrm>
            <a:off x="4663440" y="1938528"/>
            <a:ext cx="0" cy="182880"/>
          </a:xfrm>
          <a:prstGeom prst="line">
            <a:avLst/>
          </a:prstGeom>
          <a:ln w="12700">
            <a:solidFill>
              <a:srgbClr val="EE0000"/>
            </a:solidFill>
            <a:tailEnd type="triangle" w="med" len="med"/>
          </a:ln>
        </p:spPr>
      </p:cxnSp>
      <p:sp>
        <p:nvSpPr>
          <p:cNvPr id="205" name="g2 205"/>
          <p:cNvSpPr/>
          <p:nvPr/>
        </p:nvSpPr>
        <p:spPr>
          <a:xfrm>
            <a:off x="3703320" y="276148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LLM agent proposes</a:t>
            </a:r>
          </a:p>
          <a:p>
            <a:pPr algn="l" marL="0" indent="0">
              <a:lnSpc>
                <a:spcPct val="100000"/>
              </a:lnSpc>
              <a:buNone/>
            </a:pPr>
            <a:r>
              <a:rPr lang="en-US" sz="800" dirty="0">
                <a:solidFill>
                  <a:srgbClr val="F3E6D6"/>
                </a:solidFill>
                <a:latin typeface="Arial"/>
                <a:ea typeface="Arial"/>
                <a:cs typeface="Arial"/>
              </a:rPr>
              <a:t>advisory only, never actuates</a:t>
            </a:r>
          </a:p>
        </p:txBody>
      </p:sp>
      <p:cxnSp>
        <p:nvCxnSpPr>
          <p:cNvPr id="206" name="g2 flow 206"/>
          <p:cNvCxnSpPr/>
          <p:nvPr/>
        </p:nvCxnSpPr>
        <p:spPr>
          <a:xfrm>
            <a:off x="4663440" y="2578608"/>
            <a:ext cx="0" cy="182880"/>
          </a:xfrm>
          <a:prstGeom prst="line">
            <a:avLst/>
          </a:prstGeom>
          <a:ln w="12700">
            <a:solidFill>
              <a:srgbClr val="EE0000"/>
            </a:solidFill>
            <a:tailEnd type="triangle" w="med" len="med"/>
          </a:ln>
        </p:spPr>
      </p:cxnSp>
      <p:sp>
        <p:nvSpPr>
          <p:cNvPr id="207" name="g2 207"/>
          <p:cNvSpPr/>
          <p:nvPr/>
        </p:nvSpPr>
        <p:spPr>
          <a:xfrm>
            <a:off x="3703320" y="3401568"/>
            <a:ext cx="1920240" cy="45720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Actuation guard</a:t>
            </a:r>
          </a:p>
          <a:p>
            <a:pPr algn="l" marL="0" indent="0">
              <a:lnSpc>
                <a:spcPct val="100000"/>
              </a:lnSpc>
              <a:buNone/>
            </a:pPr>
            <a:r>
              <a:rPr lang="en-US" sz="800" dirty="0">
                <a:solidFill>
                  <a:srgbClr val="141010"/>
                </a:solidFill>
                <a:latin typeface="Arial"/>
                <a:ea typeface="Arial"/>
                <a:cs typeface="Arial"/>
              </a:rPr>
              <a:t>playbooks · blast radius · two-person rule</a:t>
            </a:r>
          </a:p>
        </p:txBody>
      </p:sp>
      <p:cxnSp>
        <p:nvCxnSpPr>
          <p:cNvPr id="208" name="g2 flow 208"/>
          <p:cNvCxnSpPr/>
          <p:nvPr/>
        </p:nvCxnSpPr>
        <p:spPr>
          <a:xfrm>
            <a:off x="4663440" y="3218688"/>
            <a:ext cx="0" cy="182880"/>
          </a:xfrm>
          <a:prstGeom prst="line">
            <a:avLst/>
          </a:prstGeom>
          <a:ln w="12700">
            <a:solidFill>
              <a:srgbClr val="EE0000"/>
            </a:solidFill>
            <a:tailEnd type="triangle" w="med" len="med"/>
          </a:ln>
        </p:spPr>
      </p:cxnSp>
      <p:sp>
        <p:nvSpPr>
          <p:cNvPr id="209" name="g2 209"/>
          <p:cNvSpPr/>
          <p:nvPr/>
        </p:nvSpPr>
        <p:spPr>
          <a:xfrm>
            <a:off x="3703320" y="404164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Actuate</a:t>
            </a:r>
          </a:p>
          <a:p>
            <a:pPr algn="l" marL="0" indent="0">
              <a:lnSpc>
                <a:spcPct val="100000"/>
              </a:lnSpc>
              <a:buNone/>
            </a:pPr>
            <a:r>
              <a:rPr lang="en-US" sz="800" dirty="0">
                <a:solidFill>
                  <a:srgbClr val="F3E6D6"/>
                </a:solidFill>
                <a:latin typeface="Arial"/>
                <a:ea typeface="Arial"/>
                <a:cs typeface="Arial"/>
              </a:rPr>
              <a:t>network or fraud API, pre-approved action</a:t>
            </a:r>
          </a:p>
        </p:txBody>
      </p:sp>
      <p:cxnSp>
        <p:nvCxnSpPr>
          <p:cNvPr id="210" name="g2 flow 210"/>
          <p:cNvCxnSpPr/>
          <p:nvPr/>
        </p:nvCxnSpPr>
        <p:spPr>
          <a:xfrm>
            <a:off x="4663440" y="3858768"/>
            <a:ext cx="0" cy="182880"/>
          </a:xfrm>
          <a:prstGeom prst="line">
            <a:avLst/>
          </a:prstGeom>
          <a:ln w="12700">
            <a:solidFill>
              <a:srgbClr val="EE0000"/>
            </a:solidFill>
            <a:tailEnd type="triangle" w="med" len="med"/>
          </a:ln>
        </p:spPr>
      </p:cxnSp>
      <p:sp>
        <p:nvSpPr>
          <p:cNvPr id="211" name="g2 211"/>
          <p:cNvSpPr/>
          <p:nvPr/>
        </p:nvSpPr>
        <p:spPr>
          <a:xfrm>
            <a:off x="3703320" y="4681728"/>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Verify outcome</a:t>
            </a:r>
          </a:p>
          <a:p>
            <a:pPr algn="l" marL="0" indent="0">
              <a:lnSpc>
                <a:spcPct val="100000"/>
              </a:lnSpc>
              <a:buNone/>
            </a:pPr>
            <a:r>
              <a:rPr lang="en-US" sz="800" dirty="0">
                <a:solidFill>
                  <a:srgbClr val="F3E6D6"/>
                </a:solidFill>
                <a:latin typeface="Arial"/>
                <a:ea typeface="Arial"/>
                <a:cs typeface="Arial"/>
              </a:rPr>
              <a:t>verifier checks the end state</a:t>
            </a:r>
          </a:p>
        </p:txBody>
      </p:sp>
      <p:cxnSp>
        <p:nvCxnSpPr>
          <p:cNvPr id="212" name="g2 flow 212"/>
          <p:cNvCxnSpPr/>
          <p:nvPr/>
        </p:nvCxnSpPr>
        <p:spPr>
          <a:xfrm>
            <a:off x="4663440" y="4498848"/>
            <a:ext cx="0" cy="182880"/>
          </a:xfrm>
          <a:prstGeom prst="line">
            <a:avLst/>
          </a:prstGeom>
          <a:ln w="12700">
            <a:solidFill>
              <a:srgbClr val="EE0000"/>
            </a:solidFill>
            <a:tailEnd type="triangle" w="med" len="med"/>
          </a:ln>
        </p:spPr>
      </p:cxnSp>
      <p:sp>
        <p:nvSpPr>
          <p:cNvPr id="213" name="g2 213"/>
          <p:cNvSpPr/>
          <p:nvPr/>
        </p:nvSpPr>
        <p:spPr>
          <a:xfrm>
            <a:off x="5897880" y="1481328"/>
            <a:ext cx="182880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Digital-twin replay</a:t>
            </a:r>
          </a:p>
          <a:p>
            <a:pPr algn="l" marL="0" indent="0">
              <a:lnSpc>
                <a:spcPct val="100000"/>
              </a:lnSpc>
              <a:buNone/>
            </a:pPr>
            <a:r>
              <a:rPr lang="en-US" sz="800" dirty="0">
                <a:solidFill>
                  <a:srgbClr val="F3E6D6"/>
                </a:solidFill>
                <a:latin typeface="Arial"/>
                <a:ea typeface="Arial"/>
                <a:cs typeface="Arial"/>
              </a:rPr>
              <a:t>release gate: incident replay, fault injection</a:t>
            </a:r>
          </a:p>
        </p:txBody>
      </p:sp>
      <p:cxnSp>
        <p:nvCxnSpPr>
          <p:cNvPr id="214" name="g2 flow 214"/>
          <p:cNvCxnSpPr/>
          <p:nvPr/>
        </p:nvCxnSpPr>
        <p:spPr>
          <a:xfrm flipH="1">
            <a:off x="5623560" y="1709928"/>
            <a:ext cx="274320" cy="0"/>
          </a:xfrm>
          <a:prstGeom prst="line">
            <a:avLst/>
          </a:prstGeom>
          <a:ln w="12700">
            <a:solidFill>
              <a:srgbClr val="EE0000"/>
            </a:solidFill>
            <a:prstDash val="dash"/>
            <a:tailEnd type="triangle" w="med" len="med"/>
          </a:ln>
        </p:spPr>
      </p:cxnSp>
      <p:sp>
        <p:nvSpPr>
          <p:cNvPr id="215" name="g2 215"/>
          <p:cNvSpPr/>
          <p:nvPr/>
        </p:nvSpPr>
        <p:spPr>
          <a:xfrm>
            <a:off x="5897880" y="2761488"/>
            <a:ext cx="1828800" cy="45720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Circuit breaker</a:t>
            </a:r>
          </a:p>
          <a:p>
            <a:pPr algn="l" marL="0" indent="0">
              <a:lnSpc>
                <a:spcPct val="100000"/>
              </a:lnSpc>
              <a:buNone/>
            </a:pPr>
            <a:r>
              <a:rPr lang="en-US" sz="800" dirty="0">
                <a:solidFill>
                  <a:srgbClr val="141010"/>
                </a:solidFill>
                <a:latin typeface="Arial"/>
                <a:ea typeface="Arial"/>
                <a:cs typeface="Arial"/>
              </a:rPr>
              <a:t>halts the agent; demotes L4 → L3</a:t>
            </a:r>
          </a:p>
        </p:txBody>
      </p:sp>
      <p:cxnSp>
        <p:nvCxnSpPr>
          <p:cNvPr id="216" name="g2 flow 216"/>
          <p:cNvCxnSpPr/>
          <p:nvPr/>
        </p:nvCxnSpPr>
        <p:spPr>
          <a:xfrm flipH="1">
            <a:off x="5623560" y="2990088"/>
            <a:ext cx="274320" cy="0"/>
          </a:xfrm>
          <a:prstGeom prst="line">
            <a:avLst/>
          </a:prstGeom>
          <a:ln w="12700">
            <a:solidFill>
              <a:srgbClr val="EE0000"/>
            </a:solidFill>
            <a:tailEnd type="triangle" w="med" len="med"/>
          </a:ln>
        </p:spPr>
      </p:cxnSp>
      <p:sp>
        <p:nvSpPr>
          <p:cNvPr id="217" name="g2 217"/>
          <p:cNvSpPr/>
          <p:nvPr/>
        </p:nvSpPr>
        <p:spPr>
          <a:xfrm>
            <a:off x="5897880" y="4681728"/>
            <a:ext cx="1828800" cy="45720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Automatic rollback</a:t>
            </a:r>
          </a:p>
          <a:p>
            <a:pPr algn="l" marL="0" indent="0">
              <a:lnSpc>
                <a:spcPct val="100000"/>
              </a:lnSpc>
              <a:buNone/>
            </a:pPr>
            <a:r>
              <a:rPr lang="en-US" sz="800" dirty="0">
                <a:solidFill>
                  <a:srgbClr val="141010"/>
                </a:solidFill>
                <a:latin typeface="Arial"/>
                <a:ea typeface="Arial"/>
                <a:cs typeface="Arial"/>
              </a:rPr>
              <a:t>on breach of the expected state</a:t>
            </a:r>
          </a:p>
        </p:txBody>
      </p:sp>
      <p:cxnSp>
        <p:nvCxnSpPr>
          <p:cNvPr id="218" name="g2 flow 218"/>
          <p:cNvCxnSpPr/>
          <p:nvPr/>
        </p:nvCxnSpPr>
        <p:spPr>
          <a:xfrm>
            <a:off x="5623560" y="5001768"/>
            <a:ext cx="274320" cy="0"/>
          </a:xfrm>
          <a:prstGeom prst="line">
            <a:avLst/>
          </a:prstGeom>
          <a:ln w="12700">
            <a:solidFill>
              <a:srgbClr val="EE0000"/>
            </a:solidFill>
            <a:tailEnd type="triangle" w="med" len="med"/>
          </a:ln>
        </p:spPr>
      </p:cxnSp>
      <p:cxnSp>
        <p:nvCxnSpPr>
          <p:cNvPr id="219" name="g2 flow 219"/>
          <p:cNvCxnSpPr/>
          <p:nvPr/>
        </p:nvCxnSpPr>
        <p:spPr>
          <a:xfrm flipH="1">
            <a:off x="5760720" y="4791456"/>
            <a:ext cx="137160" cy="0"/>
          </a:xfrm>
          <a:prstGeom prst="line">
            <a:avLst/>
          </a:prstGeom>
          <a:ln w="12700">
            <a:solidFill>
              <a:srgbClr val="EE0000"/>
            </a:solidFill>
            <a:prstDash val="dash"/>
          </a:ln>
        </p:spPr>
      </p:cxnSp>
      <p:cxnSp>
        <p:nvCxnSpPr>
          <p:cNvPr id="220" name="g2 flow 220"/>
          <p:cNvCxnSpPr/>
          <p:nvPr/>
        </p:nvCxnSpPr>
        <p:spPr>
          <a:xfrm flipV="1">
            <a:off x="5760720" y="4270248"/>
            <a:ext cx="0" cy="521208"/>
          </a:xfrm>
          <a:prstGeom prst="line">
            <a:avLst/>
          </a:prstGeom>
          <a:ln w="12700">
            <a:solidFill>
              <a:srgbClr val="EE0000"/>
            </a:solidFill>
            <a:prstDash val="dash"/>
          </a:ln>
        </p:spPr>
      </p:cxnSp>
      <p:cxnSp>
        <p:nvCxnSpPr>
          <p:cNvPr id="221" name="g2 flow 221"/>
          <p:cNvCxnSpPr/>
          <p:nvPr/>
        </p:nvCxnSpPr>
        <p:spPr>
          <a:xfrm flipH="1">
            <a:off x="5623560" y="4270248"/>
            <a:ext cx="137160" cy="0"/>
          </a:xfrm>
          <a:prstGeom prst="line">
            <a:avLst/>
          </a:prstGeom>
          <a:ln w="12700">
            <a:solidFill>
              <a:srgbClr val="EE0000"/>
            </a:solidFill>
            <a:prstDash val="dash"/>
            <a:tailEnd type="triangle" w="med" len="med"/>
          </a:ln>
        </p:spPr>
      </p:cxnSp>
      <p:cxnSp>
        <p:nvCxnSpPr>
          <p:cNvPr id="222" name="g2 flow 222"/>
          <p:cNvCxnSpPr/>
          <p:nvPr/>
        </p:nvCxnSpPr>
        <p:spPr>
          <a:xfrm flipV="1">
            <a:off x="6812280" y="3218688"/>
            <a:ext cx="0" cy="1463040"/>
          </a:xfrm>
          <a:prstGeom prst="line">
            <a:avLst/>
          </a:prstGeom>
          <a:ln w="12700">
            <a:solidFill>
              <a:srgbClr val="EE0000"/>
            </a:solidFill>
            <a:tailEnd type="triangle" w="med" len="med"/>
          </a:ln>
        </p:spPr>
      </p:cxnSp>
      <p:sp>
        <p:nvSpPr>
          <p:cNvPr id="223" name="g2 223"/>
          <p:cNvSpPr/>
          <p:nvPr/>
        </p:nvSpPr>
        <p:spPr>
          <a:xfrm>
            <a:off x="6885432" y="3447288"/>
            <a:ext cx="868680" cy="365760"/>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trip on threshold</a:t>
            </a:r>
          </a:p>
        </p:txBody>
      </p:sp>
      <p:sp>
        <p:nvSpPr>
          <p:cNvPr id="224" name="g2 224"/>
          <p:cNvSpPr/>
          <p:nvPr/>
        </p:nvSpPr>
        <p:spPr>
          <a:xfrm>
            <a:off x="5943600" y="4151376"/>
            <a:ext cx="82296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undo</a:t>
            </a:r>
          </a:p>
        </p:txBody>
      </p:sp>
      <p:sp>
        <p:nvSpPr>
          <p:cNvPr id="227" name="g2 227"/>
          <p:cNvSpPr/>
          <p:nvPr/>
        </p:nvSpPr>
        <p:spPr>
          <a:xfrm>
            <a:off x="8001000" y="1481328"/>
            <a:ext cx="1920240" cy="109728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 AIOps / SOC agents</a:t>
            </a:r>
          </a:p>
          <a:p>
            <a:pPr algn="l" marL="0" indent="0">
              <a:lnSpc>
                <a:spcPct val="100000"/>
              </a:lnSpc>
              <a:buNone/>
            </a:pPr>
            <a:r>
              <a:rPr lang="en-US" sz="800" dirty="0">
                <a:solidFill>
                  <a:srgbClr val="F3E6D6"/>
                </a:solidFill>
                <a:latin typeface="Arial"/>
                <a:ea typeface="Arial"/>
                <a:cs typeface="Arial"/>
              </a:rPr>
              <a:t>vendor-built, running in network and security tools for us</a:t>
            </a:r>
          </a:p>
        </p:txBody>
      </p:sp>
      <p:cxnSp>
        <p:nvCxnSpPr>
          <p:cNvPr id="228" name="g2 flow 228"/>
          <p:cNvCxnSpPr/>
          <p:nvPr/>
        </p:nvCxnSpPr>
        <p:spPr>
          <a:xfrm flipH="1">
            <a:off x="5623560" y="2395728"/>
            <a:ext cx="2377440" cy="0"/>
          </a:xfrm>
          <a:prstGeom prst="line">
            <a:avLst/>
          </a:prstGeom>
          <a:ln w="12700">
            <a:solidFill>
              <a:srgbClr val="EE0000"/>
            </a:solidFill>
            <a:prstDash val="dash"/>
            <a:tailEnd type="triangle" w="med" len="med"/>
          </a:ln>
        </p:spPr>
      </p:cxnSp>
      <p:sp>
        <p:nvSpPr>
          <p:cNvPr id="229" name="g2 229"/>
          <p:cNvSpPr/>
          <p:nvPr/>
        </p:nvSpPr>
        <p:spPr>
          <a:xfrm>
            <a:off x="5943600" y="2414016"/>
            <a:ext cx="2011680" cy="182880"/>
          </a:xfrm>
          <a:prstGeom prst="rect">
            <a:avLst/>
          </a:prstGeom>
          <a:noFill/>
          <a:ln>
            <a:noFill/>
          </a:ln>
        </p:spPr>
        <p:txBody>
          <a:bodyPr wrap="square" lIns="0" tIns="0" rIns="0" bIns="0" rtlCol="0" anchor="ctr">
            <a:noAutofit/>
          </a:bodyPr>
          <a:lstStyle/>
          <a:p>
            <a:pPr algn="r" marL="0" indent="0">
              <a:buNone/>
            </a:pPr>
            <a:r>
              <a:rPr lang="en-US" sz="800" dirty="0">
                <a:solidFill>
                  <a:srgbClr val="F5B700"/>
                </a:solidFill>
                <a:latin typeface="Arial"/>
                <a:ea typeface="Arial"/>
                <a:cs typeface="Arial"/>
              </a:rPr>
              <a:t>advisory via A2A / MCP</a:t>
            </a:r>
          </a:p>
        </p:txBody>
      </p:sp>
      <p:cxnSp>
        <p:nvCxnSpPr>
          <p:cNvPr id="230" name="g2 flow 230"/>
          <p:cNvCxnSpPr/>
          <p:nvPr/>
        </p:nvCxnSpPr>
        <p:spPr>
          <a:xfrm>
            <a:off x="8961120" y="2578608"/>
            <a:ext cx="0" cy="274320"/>
          </a:xfrm>
          <a:prstGeom prst="line">
            <a:avLst/>
          </a:prstGeom>
          <a:ln w="12700">
            <a:solidFill>
              <a:srgbClr val="EE0000"/>
            </a:solidFill>
            <a:tailEnd type="triangle" w="med" len="med"/>
          </a:ln>
        </p:spPr>
      </p:cxnSp>
      <p:sp>
        <p:nvSpPr>
          <p:cNvPr id="231" name="g2 231"/>
          <p:cNvSpPr/>
          <p:nvPr/>
        </p:nvSpPr>
        <p:spPr>
          <a:xfrm>
            <a:off x="8001000" y="2852928"/>
            <a:ext cx="1920240" cy="100584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By contract</a:t>
            </a:r>
          </a:p>
          <a:p>
            <a:pPr algn="l" marL="0" indent="0">
              <a:lnSpc>
                <a:spcPct val="100000"/>
              </a:lnSpc>
              <a:buNone/>
            </a:pPr>
            <a:r>
              <a:rPr lang="en-US" sz="800" dirty="0">
                <a:solidFill>
                  <a:srgbClr val="F3E6D6"/>
                </a:solidFill>
                <a:latin typeface="Arial"/>
                <a:ea typeface="Arial"/>
                <a:cs typeface="Arial"/>
              </a:rPr>
              <a:t>replayable decision logs · a pause API · no direct actuation</a:t>
            </a:r>
          </a:p>
        </p:txBody>
      </p:sp>
      <p:sp>
        <p:nvSpPr>
          <p:cNvPr id="232" name="g2 232"/>
          <p:cNvSpPr/>
          <p:nvPr/>
        </p:nvSpPr>
        <p:spPr>
          <a:xfrm>
            <a:off x="8001000" y="4087368"/>
            <a:ext cx="1920240" cy="54864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Our assessment: no third-party agent gets direct actuation in a critical loop.</a:t>
            </a:r>
          </a:p>
        </p:txBody>
      </p:sp>
      <p:sp>
        <p:nvSpPr>
          <p:cNvPr id="233" name="g2 233"/>
          <p:cNvSpPr/>
          <p:nvPr/>
        </p:nvSpPr>
        <p:spPr>
          <a:xfrm>
            <a:off x="10195560" y="148132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Actuation-API guard</a:t>
            </a:r>
          </a:p>
          <a:p>
            <a:pPr algn="l" marL="0" indent="0">
              <a:lnSpc>
                <a:spcPct val="100000"/>
              </a:lnSpc>
              <a:buNone/>
            </a:pPr>
            <a:r>
              <a:rPr lang="en-US" sz="800" dirty="0">
                <a:solidFill>
                  <a:srgbClr val="141010"/>
                </a:solidFill>
                <a:latin typeface="Arial"/>
                <a:ea typeface="Arial"/>
                <a:cs typeface="Arial"/>
              </a:rPr>
              <a:t>playbooks + blast-radius policy service</a:t>
            </a:r>
          </a:p>
        </p:txBody>
      </p:sp>
      <p:cxnSp>
        <p:nvCxnSpPr>
          <p:cNvPr id="234" name="g2 flow 234"/>
          <p:cNvCxnSpPr/>
          <p:nvPr/>
        </p:nvCxnSpPr>
        <p:spPr>
          <a:xfrm>
            <a:off x="9921240" y="1865376"/>
            <a:ext cx="274320" cy="0"/>
          </a:xfrm>
          <a:prstGeom prst="line">
            <a:avLst/>
          </a:prstGeom>
          <a:ln w="12700">
            <a:solidFill>
              <a:srgbClr val="EE0000"/>
            </a:solidFill>
            <a:prstDash val="dash"/>
            <a:tailEnd type="triangle" w="med" len="med"/>
          </a:ln>
        </p:spPr>
      </p:cxnSp>
      <p:sp>
        <p:nvSpPr>
          <p:cNvPr id="235" name="g2 235"/>
          <p:cNvSpPr/>
          <p:nvPr/>
        </p:nvSpPr>
        <p:spPr>
          <a:xfrm>
            <a:off x="10195560" y="244144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Deterministic replay</a:t>
            </a:r>
          </a:p>
          <a:p>
            <a:pPr algn="l" marL="0" indent="0">
              <a:lnSpc>
                <a:spcPct val="100000"/>
              </a:lnSpc>
              <a:buNone/>
            </a:pPr>
            <a:r>
              <a:rPr lang="en-US" sz="800" dirty="0">
                <a:solidFill>
                  <a:srgbClr val="141010"/>
                </a:solidFill>
                <a:latin typeface="Arial"/>
                <a:ea typeface="Arial"/>
                <a:cs typeface="Arial"/>
              </a:rPr>
              <a:t>harness for every release; latency SLO per tier (UNVERIFIED)</a:t>
            </a:r>
          </a:p>
        </p:txBody>
      </p:sp>
      <p:cxnSp>
        <p:nvCxnSpPr>
          <p:cNvPr id="236" name="g2 flow 236"/>
          <p:cNvCxnSpPr/>
          <p:nvPr/>
        </p:nvCxnSpPr>
        <p:spPr>
          <a:xfrm>
            <a:off x="9921240" y="2825496"/>
            <a:ext cx="274320" cy="0"/>
          </a:xfrm>
          <a:prstGeom prst="line">
            <a:avLst/>
          </a:prstGeom>
          <a:ln w="12700">
            <a:solidFill>
              <a:srgbClr val="EE0000"/>
            </a:solidFill>
            <a:prstDash val="dash"/>
            <a:tailEnd type="triangle" w="med" len="med"/>
          </a:ln>
        </p:spPr>
      </p:cxnSp>
      <p:sp>
        <p:nvSpPr>
          <p:cNvPr id="237" name="g2 237"/>
          <p:cNvSpPr/>
          <p:nvPr/>
        </p:nvSpPr>
        <p:spPr>
          <a:xfrm>
            <a:off x="10195560" y="340156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Breaker → registry</a:t>
            </a:r>
          </a:p>
          <a:p>
            <a:pPr algn="l" marL="0" indent="0">
              <a:lnSpc>
                <a:spcPct val="100000"/>
              </a:lnSpc>
              <a:buNone/>
            </a:pPr>
            <a:r>
              <a:rPr lang="en-US" sz="800" dirty="0">
                <a:solidFill>
                  <a:srgbClr val="141010"/>
                </a:solidFill>
                <a:latin typeface="Arial"/>
                <a:ea typeface="Arial"/>
                <a:cs typeface="Arial"/>
              </a:rPr>
              <a:t>circuit breaker and rollback wired to autonomy demotion</a:t>
            </a:r>
          </a:p>
        </p:txBody>
      </p:sp>
      <p:sp>
        <p:nvSpPr>
          <p:cNvPr id="238" name="g2 238"/>
          <p:cNvSpPr/>
          <p:nvPr/>
        </p:nvSpPr>
        <p:spPr>
          <a:xfrm>
            <a:off x="10195560" y="4361688"/>
            <a:ext cx="1737360" cy="7772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Industry today</a:t>
            </a:r>
          </a:p>
          <a:p>
            <a:pPr algn="l" marL="0" indent="0">
              <a:lnSpc>
                <a:spcPct val="100000"/>
              </a:lnSpc>
              <a:buNone/>
            </a:pPr>
            <a:r>
              <a:rPr lang="en-US" sz="800" dirty="0">
                <a:solidFill>
                  <a:srgbClr val="F3E6D6"/>
                </a:solidFill>
                <a:latin typeface="Arial"/>
                <a:ea typeface="Arial"/>
                <a:cs typeface="Arial"/>
              </a:rPr>
              <a:t>agent platforms optimise task completion, not bounded actuation</a:t>
            </a:r>
          </a:p>
        </p:txBody>
      </p:sp>
      <p:sp>
        <p:nvSpPr>
          <p:cNvPr id="239" name="g2 239"/>
          <p:cNvSpPr/>
          <p:nvPr/>
        </p:nvSpPr>
        <p:spPr>
          <a:xfrm>
            <a:off x="9802368" y="5596128"/>
            <a:ext cx="2331720" cy="20116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Solid: action  ·  Dashed: replay, undo, gap</a:t>
            </a:r>
          </a:p>
        </p:txBody>
      </p:sp>
      <p:sp>
        <p:nvSpPr>
          <p:cNvPr id="240"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32 / 44</a:t>
            </a:r>
          </a:p>
        </p:txBody>
      </p:sp>
      <p:sp>
        <p:nvSpPr>
          <p:cNvPr id="241"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242"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3">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1172261" y="-5298948"/>
            <a:ext cx="8621878" cy="8621878"/>
          </a:xfrm>
          <a:prstGeom prst="ellipse">
            <a:avLst/>
          </a:prstGeom>
          <a:solidFill>
            <a:srgbClr val="8A0F1A">
              <a:alpha val="2547"/>
            </a:srgbClr>
          </a:solidFill>
          <a:ln/>
        </p:spPr>
      </p:sp>
      <p:sp>
        <p:nvSpPr>
          <p:cNvPr id="3" name="Shape 1"/>
          <p:cNvSpPr/>
          <p:nvPr/>
        </p:nvSpPr>
        <p:spPr>
          <a:xfrm>
            <a:off x="1351883" y="-5119326"/>
            <a:ext cx="8262633" cy="8262633"/>
          </a:xfrm>
          <a:prstGeom prst="ellipse">
            <a:avLst/>
          </a:prstGeom>
          <a:solidFill>
            <a:srgbClr val="8A0F1A">
              <a:alpha val="4218"/>
            </a:srgbClr>
          </a:solidFill>
          <a:ln/>
        </p:spPr>
      </p:sp>
      <p:sp>
        <p:nvSpPr>
          <p:cNvPr id="4" name="Shape 2"/>
          <p:cNvSpPr/>
          <p:nvPr/>
        </p:nvSpPr>
        <p:spPr>
          <a:xfrm>
            <a:off x="1531506" y="-4939703"/>
            <a:ext cx="7903388" cy="7903388"/>
          </a:xfrm>
          <a:prstGeom prst="ellipse">
            <a:avLst/>
          </a:prstGeom>
          <a:solidFill>
            <a:srgbClr val="8A0F1A">
              <a:alpha val="4138"/>
            </a:srgbClr>
          </a:solidFill>
          <a:ln/>
        </p:spPr>
      </p:sp>
      <p:sp>
        <p:nvSpPr>
          <p:cNvPr id="5" name="Shape 3"/>
          <p:cNvSpPr/>
          <p:nvPr/>
        </p:nvSpPr>
        <p:spPr>
          <a:xfrm>
            <a:off x="1711128" y="-4760081"/>
            <a:ext cx="7544143" cy="7544143"/>
          </a:xfrm>
          <a:prstGeom prst="ellipse">
            <a:avLst/>
          </a:prstGeom>
          <a:solidFill>
            <a:srgbClr val="8A0F1A">
              <a:alpha val="2636"/>
            </a:srgbClr>
          </a:solidFill>
          <a:ln/>
        </p:spPr>
      </p:sp>
      <p:sp>
        <p:nvSpPr>
          <p:cNvPr id="6" name="Shape 4"/>
          <p:cNvSpPr/>
          <p:nvPr/>
        </p:nvSpPr>
        <p:spPr>
          <a:xfrm>
            <a:off x="1890751" y="-4580458"/>
            <a:ext cx="7184898" cy="7184898"/>
          </a:xfrm>
          <a:prstGeom prst="ellipse">
            <a:avLst/>
          </a:prstGeom>
          <a:solidFill>
            <a:srgbClr val="8A0F1A">
              <a:alpha val="2661"/>
            </a:srgbClr>
          </a:solidFill>
          <a:ln/>
        </p:spPr>
      </p:sp>
      <p:sp>
        <p:nvSpPr>
          <p:cNvPr id="7" name="Shape 5"/>
          <p:cNvSpPr/>
          <p:nvPr/>
        </p:nvSpPr>
        <p:spPr>
          <a:xfrm>
            <a:off x="2070373" y="-4400836"/>
            <a:ext cx="6825653" cy="6825653"/>
          </a:xfrm>
          <a:prstGeom prst="ellipse">
            <a:avLst/>
          </a:prstGeom>
          <a:solidFill>
            <a:srgbClr val="8A0F1A">
              <a:alpha val="3304"/>
            </a:srgbClr>
          </a:solidFill>
          <a:ln/>
        </p:spPr>
      </p:sp>
      <p:sp>
        <p:nvSpPr>
          <p:cNvPr id="8" name="Shape 6"/>
          <p:cNvSpPr/>
          <p:nvPr/>
        </p:nvSpPr>
        <p:spPr>
          <a:xfrm>
            <a:off x="2249996" y="-4221213"/>
            <a:ext cx="6466408" cy="6466408"/>
          </a:xfrm>
          <a:prstGeom prst="ellipse">
            <a:avLst/>
          </a:prstGeom>
          <a:solidFill>
            <a:srgbClr val="8A0F1A">
              <a:alpha val="3622"/>
            </a:srgbClr>
          </a:solidFill>
          <a:ln/>
        </p:spPr>
      </p:sp>
      <p:sp>
        <p:nvSpPr>
          <p:cNvPr id="9" name="Shape 7"/>
          <p:cNvSpPr/>
          <p:nvPr/>
        </p:nvSpPr>
        <p:spPr>
          <a:xfrm>
            <a:off x="2429618" y="-4041591"/>
            <a:ext cx="6107163" cy="6107163"/>
          </a:xfrm>
          <a:prstGeom prst="ellipse">
            <a:avLst/>
          </a:prstGeom>
          <a:solidFill>
            <a:srgbClr val="8A0F1A">
              <a:alpha val="3650"/>
            </a:srgbClr>
          </a:solidFill>
          <a:ln/>
        </p:spPr>
      </p:sp>
      <p:sp>
        <p:nvSpPr>
          <p:cNvPr id="10" name="Shape 8"/>
          <p:cNvSpPr/>
          <p:nvPr/>
        </p:nvSpPr>
        <p:spPr>
          <a:xfrm>
            <a:off x="2609240" y="-3861968"/>
            <a:ext cx="5747918" cy="5747918"/>
          </a:xfrm>
          <a:prstGeom prst="ellipse">
            <a:avLst/>
          </a:prstGeom>
          <a:solidFill>
            <a:srgbClr val="8A0F1A">
              <a:alpha val="3631"/>
            </a:srgbClr>
          </a:solidFill>
          <a:ln/>
        </p:spPr>
      </p:sp>
      <p:sp>
        <p:nvSpPr>
          <p:cNvPr id="11" name="Shape 9"/>
          <p:cNvSpPr/>
          <p:nvPr/>
        </p:nvSpPr>
        <p:spPr>
          <a:xfrm>
            <a:off x="2788863" y="-3682346"/>
            <a:ext cx="5388674" cy="5388674"/>
          </a:xfrm>
          <a:prstGeom prst="ellipse">
            <a:avLst/>
          </a:prstGeom>
          <a:solidFill>
            <a:srgbClr val="8A0F1A">
              <a:alpha val="3693"/>
            </a:srgbClr>
          </a:solidFill>
          <a:ln/>
        </p:spPr>
      </p:sp>
      <p:sp>
        <p:nvSpPr>
          <p:cNvPr id="12" name="Shape 10"/>
          <p:cNvSpPr/>
          <p:nvPr/>
        </p:nvSpPr>
        <p:spPr>
          <a:xfrm>
            <a:off x="2968485" y="-3502723"/>
            <a:ext cx="5029429" cy="5029429"/>
          </a:xfrm>
          <a:prstGeom prst="ellipse">
            <a:avLst/>
          </a:prstGeom>
          <a:solidFill>
            <a:srgbClr val="8A0F1A">
              <a:alpha val="4536"/>
            </a:srgbClr>
          </a:solidFill>
          <a:ln/>
        </p:spPr>
      </p:sp>
      <p:sp>
        <p:nvSpPr>
          <p:cNvPr id="13" name="Shape 11"/>
          <p:cNvSpPr/>
          <p:nvPr/>
        </p:nvSpPr>
        <p:spPr>
          <a:xfrm>
            <a:off x="3148108" y="-3323101"/>
            <a:ext cx="4670184" cy="4670184"/>
          </a:xfrm>
          <a:prstGeom prst="ellipse">
            <a:avLst/>
          </a:prstGeom>
          <a:solidFill>
            <a:srgbClr val="8A0F1A">
              <a:alpha val="4737"/>
            </a:srgbClr>
          </a:solidFill>
          <a:ln/>
        </p:spPr>
      </p:sp>
      <p:sp>
        <p:nvSpPr>
          <p:cNvPr id="14" name="Shape 12"/>
          <p:cNvSpPr/>
          <p:nvPr/>
        </p:nvSpPr>
        <p:spPr>
          <a:xfrm>
            <a:off x="3327730" y="-3143479"/>
            <a:ext cx="4310939" cy="4310939"/>
          </a:xfrm>
          <a:prstGeom prst="ellipse">
            <a:avLst/>
          </a:prstGeom>
          <a:solidFill>
            <a:srgbClr val="8A0F1A">
              <a:alpha val="4994"/>
            </a:srgbClr>
          </a:solidFill>
          <a:ln/>
        </p:spPr>
      </p:sp>
      <p:sp>
        <p:nvSpPr>
          <p:cNvPr id="15" name="Shape 13"/>
          <p:cNvSpPr/>
          <p:nvPr/>
        </p:nvSpPr>
        <p:spPr>
          <a:xfrm>
            <a:off x="3507353" y="-2963856"/>
            <a:ext cx="3951694" cy="3951694"/>
          </a:xfrm>
          <a:prstGeom prst="ellipse">
            <a:avLst/>
          </a:prstGeom>
          <a:solidFill>
            <a:srgbClr val="8A0F1A">
              <a:alpha val="5272"/>
            </a:srgbClr>
          </a:solidFill>
          <a:ln/>
        </p:spPr>
      </p:sp>
      <p:sp>
        <p:nvSpPr>
          <p:cNvPr id="16" name="Shape 14"/>
          <p:cNvSpPr/>
          <p:nvPr/>
        </p:nvSpPr>
        <p:spPr>
          <a:xfrm>
            <a:off x="3686975" y="-2784234"/>
            <a:ext cx="3592449" cy="3592449"/>
          </a:xfrm>
          <a:prstGeom prst="ellipse">
            <a:avLst/>
          </a:prstGeom>
          <a:solidFill>
            <a:srgbClr val="8A0F1A">
              <a:alpha val="5521"/>
            </a:srgbClr>
          </a:solidFill>
          <a:ln/>
        </p:spPr>
      </p:sp>
      <p:sp>
        <p:nvSpPr>
          <p:cNvPr id="17" name="Shape 15"/>
          <p:cNvSpPr/>
          <p:nvPr/>
        </p:nvSpPr>
        <p:spPr>
          <a:xfrm>
            <a:off x="3866598" y="-2604611"/>
            <a:ext cx="3233204" cy="3233204"/>
          </a:xfrm>
          <a:prstGeom prst="ellipse">
            <a:avLst/>
          </a:prstGeom>
          <a:solidFill>
            <a:srgbClr val="8A0F1A">
              <a:alpha val="6496"/>
            </a:srgbClr>
          </a:solidFill>
          <a:ln/>
        </p:spPr>
      </p:sp>
      <p:sp>
        <p:nvSpPr>
          <p:cNvPr id="18" name="Shape 16"/>
          <p:cNvSpPr/>
          <p:nvPr/>
        </p:nvSpPr>
        <p:spPr>
          <a:xfrm>
            <a:off x="4046220" y="-2424989"/>
            <a:ext cx="2873959" cy="2873959"/>
          </a:xfrm>
          <a:prstGeom prst="ellipse">
            <a:avLst/>
          </a:prstGeom>
          <a:solidFill>
            <a:srgbClr val="8A0F1A">
              <a:alpha val="6768"/>
            </a:srgbClr>
          </a:solidFill>
          <a:ln/>
        </p:spPr>
      </p:sp>
      <p:sp>
        <p:nvSpPr>
          <p:cNvPr id="19" name="Shape 17"/>
          <p:cNvSpPr/>
          <p:nvPr/>
        </p:nvSpPr>
        <p:spPr>
          <a:xfrm>
            <a:off x="4225842" y="-2245366"/>
            <a:ext cx="2514714" cy="2514714"/>
          </a:xfrm>
          <a:prstGeom prst="ellipse">
            <a:avLst/>
          </a:prstGeom>
          <a:solidFill>
            <a:srgbClr val="8A0F1A">
              <a:alpha val="7123"/>
            </a:srgbClr>
          </a:solidFill>
          <a:ln/>
        </p:spPr>
      </p:sp>
      <p:sp>
        <p:nvSpPr>
          <p:cNvPr id="20" name="Shape 18"/>
          <p:cNvSpPr/>
          <p:nvPr/>
        </p:nvSpPr>
        <p:spPr>
          <a:xfrm>
            <a:off x="4405465" y="-2065744"/>
            <a:ext cx="2155469" cy="2155469"/>
          </a:xfrm>
          <a:prstGeom prst="ellipse">
            <a:avLst/>
          </a:prstGeom>
          <a:solidFill>
            <a:srgbClr val="8A0F1A">
              <a:alpha val="7486"/>
            </a:srgbClr>
          </a:solidFill>
          <a:ln/>
        </p:spPr>
      </p:sp>
      <p:sp>
        <p:nvSpPr>
          <p:cNvPr id="21" name="Shape 19"/>
          <p:cNvSpPr/>
          <p:nvPr/>
        </p:nvSpPr>
        <p:spPr>
          <a:xfrm>
            <a:off x="4585087" y="-1886121"/>
            <a:ext cx="1796225" cy="1796225"/>
          </a:xfrm>
          <a:prstGeom prst="ellipse">
            <a:avLst/>
          </a:prstGeom>
          <a:solidFill>
            <a:srgbClr val="8A0F1A">
              <a:alpha val="8191"/>
            </a:srgbClr>
          </a:solidFill>
          <a:ln/>
        </p:spPr>
      </p:sp>
      <p:sp>
        <p:nvSpPr>
          <p:cNvPr id="22" name="Shape 20"/>
          <p:cNvSpPr/>
          <p:nvPr/>
        </p:nvSpPr>
        <p:spPr>
          <a:xfrm>
            <a:off x="4764710" y="-1706499"/>
            <a:ext cx="1436980" cy="1436980"/>
          </a:xfrm>
          <a:prstGeom prst="ellipse">
            <a:avLst/>
          </a:prstGeom>
          <a:solidFill>
            <a:srgbClr val="8A0F1A">
              <a:alpha val="9466"/>
            </a:srgbClr>
          </a:solidFill>
          <a:ln/>
        </p:spPr>
      </p:sp>
      <p:sp>
        <p:nvSpPr>
          <p:cNvPr id="23" name="Shape 21"/>
          <p:cNvSpPr/>
          <p:nvPr/>
        </p:nvSpPr>
        <p:spPr>
          <a:xfrm>
            <a:off x="4944332" y="-1526877"/>
            <a:ext cx="1077735" cy="1077735"/>
          </a:xfrm>
          <a:prstGeom prst="ellipse">
            <a:avLst/>
          </a:prstGeom>
          <a:solidFill>
            <a:srgbClr val="8A0F1A">
              <a:alpha val="10120"/>
            </a:srgbClr>
          </a:solidFill>
          <a:ln/>
        </p:spPr>
      </p:sp>
      <p:sp>
        <p:nvSpPr>
          <p:cNvPr id="24" name="Shape 22"/>
          <p:cNvSpPr/>
          <p:nvPr/>
        </p:nvSpPr>
        <p:spPr>
          <a:xfrm>
            <a:off x="5123955" y="-1347254"/>
            <a:ext cx="718490" cy="718490"/>
          </a:xfrm>
          <a:prstGeom prst="ellipse">
            <a:avLst/>
          </a:prstGeom>
          <a:solidFill>
            <a:srgbClr val="8A0F1A">
              <a:alpha val="10280"/>
            </a:srgbClr>
          </a:solidFill>
          <a:ln/>
        </p:spPr>
      </p:sp>
      <p:sp>
        <p:nvSpPr>
          <p:cNvPr id="25" name="Shape 23"/>
          <p:cNvSpPr/>
          <p:nvPr/>
        </p:nvSpPr>
        <p:spPr>
          <a:xfrm>
            <a:off x="5303577" y="-1167632"/>
            <a:ext cx="359245" cy="359245"/>
          </a:xfrm>
          <a:prstGeom prst="ellipse">
            <a:avLst/>
          </a:prstGeom>
          <a:solidFill>
            <a:srgbClr val="8A0F1A">
              <a:alpha val="10999"/>
            </a:srgbClr>
          </a:solidFill>
          <a:ln/>
        </p:spPr>
      </p:sp>
      <p:sp>
        <p:nvSpPr>
          <p:cNvPr id="26" name="Shape 24"/>
          <p:cNvSpPr/>
          <p:nvPr/>
        </p:nvSpPr>
        <p:spPr>
          <a:xfrm>
            <a:off x="-4889297" y="3577133"/>
            <a:ext cx="8621878" cy="8621878"/>
          </a:xfrm>
          <a:prstGeom prst="ellipse">
            <a:avLst/>
          </a:prstGeom>
          <a:solidFill>
            <a:srgbClr val="8A0F1A">
              <a:alpha val="2547"/>
            </a:srgbClr>
          </a:solidFill>
          <a:ln/>
        </p:spPr>
      </p:sp>
      <p:sp>
        <p:nvSpPr>
          <p:cNvPr id="27" name="Shape 25"/>
          <p:cNvSpPr/>
          <p:nvPr/>
        </p:nvSpPr>
        <p:spPr>
          <a:xfrm>
            <a:off x="-4709674" y="3756755"/>
            <a:ext cx="8262633" cy="8262633"/>
          </a:xfrm>
          <a:prstGeom prst="ellipse">
            <a:avLst/>
          </a:prstGeom>
          <a:solidFill>
            <a:srgbClr val="8A0F1A">
              <a:alpha val="4218"/>
            </a:srgbClr>
          </a:solidFill>
          <a:ln/>
        </p:spPr>
      </p:sp>
      <p:sp>
        <p:nvSpPr>
          <p:cNvPr id="28" name="Shape 26"/>
          <p:cNvSpPr/>
          <p:nvPr/>
        </p:nvSpPr>
        <p:spPr>
          <a:xfrm>
            <a:off x="-4530052" y="3936378"/>
            <a:ext cx="7903388" cy="7903388"/>
          </a:xfrm>
          <a:prstGeom prst="ellipse">
            <a:avLst/>
          </a:prstGeom>
          <a:solidFill>
            <a:srgbClr val="8A0F1A">
              <a:alpha val="4138"/>
            </a:srgbClr>
          </a:solidFill>
          <a:ln/>
        </p:spPr>
      </p:sp>
      <p:sp>
        <p:nvSpPr>
          <p:cNvPr id="29" name="Shape 27"/>
          <p:cNvSpPr/>
          <p:nvPr/>
        </p:nvSpPr>
        <p:spPr>
          <a:xfrm>
            <a:off x="-4350429" y="4116000"/>
            <a:ext cx="7544143" cy="7544143"/>
          </a:xfrm>
          <a:prstGeom prst="ellipse">
            <a:avLst/>
          </a:prstGeom>
          <a:solidFill>
            <a:srgbClr val="8A0F1A">
              <a:alpha val="2636"/>
            </a:srgbClr>
          </a:solidFill>
          <a:ln/>
        </p:spPr>
      </p:sp>
      <p:sp>
        <p:nvSpPr>
          <p:cNvPr id="30" name="Shape 28"/>
          <p:cNvSpPr/>
          <p:nvPr/>
        </p:nvSpPr>
        <p:spPr>
          <a:xfrm>
            <a:off x="-4170807" y="4295623"/>
            <a:ext cx="7184898" cy="7184898"/>
          </a:xfrm>
          <a:prstGeom prst="ellipse">
            <a:avLst/>
          </a:prstGeom>
          <a:solidFill>
            <a:srgbClr val="8A0F1A">
              <a:alpha val="2661"/>
            </a:srgbClr>
          </a:solidFill>
          <a:ln/>
        </p:spPr>
      </p:sp>
      <p:sp>
        <p:nvSpPr>
          <p:cNvPr id="31" name="Shape 29"/>
          <p:cNvSpPr/>
          <p:nvPr/>
        </p:nvSpPr>
        <p:spPr>
          <a:xfrm>
            <a:off x="-3991185" y="4475245"/>
            <a:ext cx="6825653" cy="6825653"/>
          </a:xfrm>
          <a:prstGeom prst="ellipse">
            <a:avLst/>
          </a:prstGeom>
          <a:solidFill>
            <a:srgbClr val="8A0F1A">
              <a:alpha val="3304"/>
            </a:srgbClr>
          </a:solidFill>
          <a:ln/>
        </p:spPr>
      </p:sp>
      <p:sp>
        <p:nvSpPr>
          <p:cNvPr id="32" name="Shape 30"/>
          <p:cNvSpPr/>
          <p:nvPr/>
        </p:nvSpPr>
        <p:spPr>
          <a:xfrm>
            <a:off x="-3811562" y="4654868"/>
            <a:ext cx="6466408" cy="6466408"/>
          </a:xfrm>
          <a:prstGeom prst="ellipse">
            <a:avLst/>
          </a:prstGeom>
          <a:solidFill>
            <a:srgbClr val="8A0F1A">
              <a:alpha val="3622"/>
            </a:srgbClr>
          </a:solidFill>
          <a:ln/>
        </p:spPr>
      </p:sp>
      <p:sp>
        <p:nvSpPr>
          <p:cNvPr id="33" name="Shape 31"/>
          <p:cNvSpPr/>
          <p:nvPr/>
        </p:nvSpPr>
        <p:spPr>
          <a:xfrm>
            <a:off x="-3631940" y="4834490"/>
            <a:ext cx="6107163" cy="6107163"/>
          </a:xfrm>
          <a:prstGeom prst="ellipse">
            <a:avLst/>
          </a:prstGeom>
          <a:solidFill>
            <a:srgbClr val="8A0F1A">
              <a:alpha val="3650"/>
            </a:srgbClr>
          </a:solidFill>
          <a:ln/>
        </p:spPr>
      </p:sp>
      <p:sp>
        <p:nvSpPr>
          <p:cNvPr id="34" name="Shape 32"/>
          <p:cNvSpPr/>
          <p:nvPr/>
        </p:nvSpPr>
        <p:spPr>
          <a:xfrm>
            <a:off x="-3452317" y="5014112"/>
            <a:ext cx="5747918" cy="5747918"/>
          </a:xfrm>
          <a:prstGeom prst="ellipse">
            <a:avLst/>
          </a:prstGeom>
          <a:solidFill>
            <a:srgbClr val="8A0F1A">
              <a:alpha val="3631"/>
            </a:srgbClr>
          </a:solidFill>
          <a:ln/>
        </p:spPr>
      </p:sp>
      <p:sp>
        <p:nvSpPr>
          <p:cNvPr id="35" name="Shape 33"/>
          <p:cNvSpPr/>
          <p:nvPr/>
        </p:nvSpPr>
        <p:spPr>
          <a:xfrm>
            <a:off x="-3272695" y="5193735"/>
            <a:ext cx="5388674" cy="5388674"/>
          </a:xfrm>
          <a:prstGeom prst="ellipse">
            <a:avLst/>
          </a:prstGeom>
          <a:solidFill>
            <a:srgbClr val="8A0F1A">
              <a:alpha val="3693"/>
            </a:srgbClr>
          </a:solidFill>
          <a:ln/>
        </p:spPr>
      </p:sp>
      <p:sp>
        <p:nvSpPr>
          <p:cNvPr id="36" name="Shape 34"/>
          <p:cNvSpPr/>
          <p:nvPr/>
        </p:nvSpPr>
        <p:spPr>
          <a:xfrm>
            <a:off x="-3093072" y="5373357"/>
            <a:ext cx="5029429" cy="5029429"/>
          </a:xfrm>
          <a:prstGeom prst="ellipse">
            <a:avLst/>
          </a:prstGeom>
          <a:solidFill>
            <a:srgbClr val="8A0F1A">
              <a:alpha val="4536"/>
            </a:srgbClr>
          </a:solidFill>
          <a:ln/>
        </p:spPr>
      </p:sp>
      <p:sp>
        <p:nvSpPr>
          <p:cNvPr id="37" name="Shape 35"/>
          <p:cNvSpPr/>
          <p:nvPr/>
        </p:nvSpPr>
        <p:spPr>
          <a:xfrm>
            <a:off x="-2913450" y="5552980"/>
            <a:ext cx="4670184" cy="4670184"/>
          </a:xfrm>
          <a:prstGeom prst="ellipse">
            <a:avLst/>
          </a:prstGeom>
          <a:solidFill>
            <a:srgbClr val="8A0F1A">
              <a:alpha val="4737"/>
            </a:srgbClr>
          </a:solidFill>
          <a:ln/>
        </p:spPr>
      </p:sp>
      <p:sp>
        <p:nvSpPr>
          <p:cNvPr id="38" name="Shape 36"/>
          <p:cNvSpPr/>
          <p:nvPr/>
        </p:nvSpPr>
        <p:spPr>
          <a:xfrm>
            <a:off x="-2733827" y="5732602"/>
            <a:ext cx="4310939" cy="4310939"/>
          </a:xfrm>
          <a:prstGeom prst="ellipse">
            <a:avLst/>
          </a:prstGeom>
          <a:solidFill>
            <a:srgbClr val="8A0F1A">
              <a:alpha val="4994"/>
            </a:srgbClr>
          </a:solidFill>
          <a:ln/>
        </p:spPr>
      </p:sp>
      <p:sp>
        <p:nvSpPr>
          <p:cNvPr id="39" name="Shape 37"/>
          <p:cNvSpPr/>
          <p:nvPr/>
        </p:nvSpPr>
        <p:spPr>
          <a:xfrm>
            <a:off x="-2554205" y="5912225"/>
            <a:ext cx="3951694" cy="3951694"/>
          </a:xfrm>
          <a:prstGeom prst="ellipse">
            <a:avLst/>
          </a:prstGeom>
          <a:solidFill>
            <a:srgbClr val="8A0F1A">
              <a:alpha val="5272"/>
            </a:srgbClr>
          </a:solidFill>
          <a:ln/>
        </p:spPr>
      </p:sp>
      <p:sp>
        <p:nvSpPr>
          <p:cNvPr id="40" name="Shape 38"/>
          <p:cNvSpPr/>
          <p:nvPr/>
        </p:nvSpPr>
        <p:spPr>
          <a:xfrm>
            <a:off x="-2374583" y="6091847"/>
            <a:ext cx="3592449" cy="3592449"/>
          </a:xfrm>
          <a:prstGeom prst="ellipse">
            <a:avLst/>
          </a:prstGeom>
          <a:solidFill>
            <a:srgbClr val="8A0F1A">
              <a:alpha val="5521"/>
            </a:srgbClr>
          </a:solidFill>
          <a:ln/>
        </p:spPr>
      </p:sp>
      <p:sp>
        <p:nvSpPr>
          <p:cNvPr id="41" name="Shape 39"/>
          <p:cNvSpPr/>
          <p:nvPr/>
        </p:nvSpPr>
        <p:spPr>
          <a:xfrm>
            <a:off x="-2194960" y="6271470"/>
            <a:ext cx="3233204" cy="3233204"/>
          </a:xfrm>
          <a:prstGeom prst="ellipse">
            <a:avLst/>
          </a:prstGeom>
          <a:solidFill>
            <a:srgbClr val="8A0F1A">
              <a:alpha val="6496"/>
            </a:srgbClr>
          </a:solidFill>
          <a:ln/>
        </p:spPr>
      </p:sp>
      <p:sp>
        <p:nvSpPr>
          <p:cNvPr id="42" name="Shape 40"/>
          <p:cNvSpPr/>
          <p:nvPr/>
        </p:nvSpPr>
        <p:spPr>
          <a:xfrm>
            <a:off x="-2015338" y="6451092"/>
            <a:ext cx="2873959" cy="2873959"/>
          </a:xfrm>
          <a:prstGeom prst="ellipse">
            <a:avLst/>
          </a:prstGeom>
          <a:solidFill>
            <a:srgbClr val="8A0F1A">
              <a:alpha val="6768"/>
            </a:srgbClr>
          </a:solidFill>
          <a:ln/>
        </p:spPr>
      </p:sp>
      <p:sp>
        <p:nvSpPr>
          <p:cNvPr id="43" name="Shape 41"/>
          <p:cNvSpPr/>
          <p:nvPr/>
        </p:nvSpPr>
        <p:spPr>
          <a:xfrm>
            <a:off x="-1835715" y="6630714"/>
            <a:ext cx="2514714" cy="2514714"/>
          </a:xfrm>
          <a:prstGeom prst="ellipse">
            <a:avLst/>
          </a:prstGeom>
          <a:solidFill>
            <a:srgbClr val="8A0F1A">
              <a:alpha val="7123"/>
            </a:srgbClr>
          </a:solidFill>
          <a:ln/>
        </p:spPr>
      </p:sp>
      <p:sp>
        <p:nvSpPr>
          <p:cNvPr id="44" name="Shape 42"/>
          <p:cNvSpPr/>
          <p:nvPr/>
        </p:nvSpPr>
        <p:spPr>
          <a:xfrm>
            <a:off x="-1656093" y="6810337"/>
            <a:ext cx="2155469" cy="2155469"/>
          </a:xfrm>
          <a:prstGeom prst="ellipse">
            <a:avLst/>
          </a:prstGeom>
          <a:solidFill>
            <a:srgbClr val="8A0F1A">
              <a:alpha val="7486"/>
            </a:srgbClr>
          </a:solidFill>
          <a:ln/>
        </p:spPr>
      </p:sp>
      <p:sp>
        <p:nvSpPr>
          <p:cNvPr id="45" name="Shape 43"/>
          <p:cNvSpPr/>
          <p:nvPr/>
        </p:nvSpPr>
        <p:spPr>
          <a:xfrm>
            <a:off x="-1476470" y="6989959"/>
            <a:ext cx="1796225" cy="1796225"/>
          </a:xfrm>
          <a:prstGeom prst="ellipse">
            <a:avLst/>
          </a:prstGeom>
          <a:solidFill>
            <a:srgbClr val="8A0F1A">
              <a:alpha val="8191"/>
            </a:srgbClr>
          </a:solidFill>
          <a:ln/>
        </p:spPr>
      </p:sp>
      <p:sp>
        <p:nvSpPr>
          <p:cNvPr id="46" name="Shape 44"/>
          <p:cNvSpPr/>
          <p:nvPr/>
        </p:nvSpPr>
        <p:spPr>
          <a:xfrm>
            <a:off x="-1296848" y="7169582"/>
            <a:ext cx="1436980" cy="1436980"/>
          </a:xfrm>
          <a:prstGeom prst="ellipse">
            <a:avLst/>
          </a:prstGeom>
          <a:solidFill>
            <a:srgbClr val="8A0F1A">
              <a:alpha val="9466"/>
            </a:srgbClr>
          </a:solidFill>
          <a:ln/>
        </p:spPr>
      </p:sp>
      <p:sp>
        <p:nvSpPr>
          <p:cNvPr id="47" name="Shape 45"/>
          <p:cNvSpPr/>
          <p:nvPr/>
        </p:nvSpPr>
        <p:spPr>
          <a:xfrm>
            <a:off x="-1117225" y="7349204"/>
            <a:ext cx="1077735" cy="1077735"/>
          </a:xfrm>
          <a:prstGeom prst="ellipse">
            <a:avLst/>
          </a:prstGeom>
          <a:solidFill>
            <a:srgbClr val="8A0F1A">
              <a:alpha val="10120"/>
            </a:srgbClr>
          </a:solidFill>
          <a:ln/>
        </p:spPr>
      </p:sp>
      <p:sp>
        <p:nvSpPr>
          <p:cNvPr id="48" name="Shape 46"/>
          <p:cNvSpPr/>
          <p:nvPr/>
        </p:nvSpPr>
        <p:spPr>
          <a:xfrm>
            <a:off x="-937603" y="7528827"/>
            <a:ext cx="718490" cy="718490"/>
          </a:xfrm>
          <a:prstGeom prst="ellipse">
            <a:avLst/>
          </a:prstGeom>
          <a:solidFill>
            <a:srgbClr val="8A0F1A">
              <a:alpha val="10280"/>
            </a:srgbClr>
          </a:solidFill>
          <a:ln/>
        </p:spPr>
      </p:sp>
      <p:sp>
        <p:nvSpPr>
          <p:cNvPr id="49" name="Shape 47"/>
          <p:cNvSpPr/>
          <p:nvPr/>
        </p:nvSpPr>
        <p:spPr>
          <a:xfrm>
            <a:off x="-757980" y="7708449"/>
            <a:ext cx="359245" cy="359245"/>
          </a:xfrm>
          <a:prstGeom prst="ellipse">
            <a:avLst/>
          </a:prstGeom>
          <a:solidFill>
            <a:srgbClr val="8A0F1A">
              <a:alpha val="10999"/>
            </a:srgbClr>
          </a:solidFill>
          <a:ln/>
        </p:spPr>
      </p:sp>
      <p:sp>
        <p:nvSpPr>
          <p:cNvPr id="50" name="Text 48"/>
          <p:cNvSpPr/>
          <p:nvPr/>
        </p:nvSpPr>
        <p:spPr>
          <a:xfrm>
            <a:off x="830275" y="1394460"/>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First-party vs third-party (vendor-built)</a:t>
            </a:r>
          </a:p>
        </p:txBody>
      </p:sp>
      <p:sp>
        <p:nvSpPr>
          <p:cNvPr id="51" name="Text 49"/>
          <p:cNvSpPr/>
          <p:nvPr/>
        </p:nvSpPr>
        <p:spPr>
          <a:xfrm>
            <a:off x="829361" y="1623060"/>
            <a:ext cx="356616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Build, buy,</a:t>
            </a:r>
          </a:p>
        </p:txBody>
      </p:sp>
      <p:sp>
        <p:nvSpPr>
          <p:cNvPr id="52" name="Text 50"/>
          <p:cNvSpPr/>
          <p:nvPr/>
        </p:nvSpPr>
        <p:spPr>
          <a:xfrm>
            <a:off x="1502359" y="2115007"/>
            <a:ext cx="329184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bound the rest</a:t>
            </a:r>
          </a:p>
        </p:txBody>
      </p:sp>
      <p:sp>
        <p:nvSpPr>
          <p:cNvPr id="53" name="Shape 51"/>
          <p:cNvSpPr/>
          <p:nvPr/>
        </p:nvSpPr>
        <p:spPr>
          <a:xfrm rot="16200000">
            <a:off x="1089965" y="224028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Shape 52"/>
          <p:cNvSpPr/>
          <p:nvPr/>
        </p:nvSpPr>
        <p:spPr>
          <a:xfrm>
            <a:off x="869594" y="3094330"/>
            <a:ext cx="2743200" cy="325526"/>
          </a:xfrm>
          <a:prstGeom prst="roundRect">
            <a:avLst>
              <a:gd name="adj" fmla="val 50000"/>
            </a:avLst>
          </a:prstGeom>
          <a:solidFill>
            <a:srgbClr val="8A0F1A">
              <a:alpha val="15600"/>
            </a:srgbClr>
          </a:solidFill>
          <a:ln w="6350">
            <a:solidFill>
              <a:srgbClr val="D9B48A"/>
            </a:solidFill>
            <a:prstDash val="solid"/>
          </a:ln>
        </p:spPr>
      </p:sp>
      <p:sp>
        <p:nvSpPr>
          <p:cNvPr id="55" name="Text 53"/>
          <p:cNvSpPr/>
          <p:nvPr/>
        </p:nvSpPr>
        <p:spPr>
          <a:xfrm>
            <a:off x="1181405" y="3129991"/>
            <a:ext cx="2468880" cy="261518"/>
          </a:xfrm>
          <a:prstGeom prst="rect">
            <a:avLst/>
          </a:prstGeom>
          <a:noFill/>
          <a:ln/>
        </p:spPr>
        <p:txBody>
          <a:bodyPr wrap="none" lIns="91440" tIns="45720" rIns="91440" bIns="45720" rtlCol="0" anchor="t">
            <a:spAutoFit/>
          </a:bodyPr>
          <a:lstStyle/>
          <a:p>
            <a:pPr indent="0" marL="0">
              <a:buNone/>
            </a:pPr>
            <a:r>
              <a:rPr lang="en-US" sz="1100" dirty="0">
                <a:solidFill>
                  <a:srgbClr val="FFFFFF"/>
                </a:solidFill>
                <a:latin typeface="Arial" pitchFamily="34" charset="0"/>
                <a:ea typeface="Arial" pitchFamily="34" charset="-122"/>
                <a:cs typeface="Arial" pitchFamily="34" charset="-120"/>
              </a:rPr>
              <a:t>OTel · MCP · A2A · contract</a:t>
            </a:r>
          </a:p>
        </p:txBody>
      </p:sp>
      <p:sp>
        <p:nvSpPr>
          <p:cNvPr id="56" name="Shape 54"/>
          <p:cNvSpPr/>
          <p:nvPr/>
        </p:nvSpPr>
        <p:spPr>
          <a:xfrm rot="19800000">
            <a:off x="1029614" y="3209544"/>
            <a:ext cx="95098" cy="95098"/>
          </a:xfrm>
          <a:prstGeom prst="rect">
            <a:avLst/>
          </a:prstGeom>
          <a:solidFill>
            <a:srgbClr val="CC0000"/>
          </a:solidFill>
          <a:ln/>
        </p:spPr>
      </p:sp>
      <p:sp>
        <p:nvSpPr>
          <p:cNvPr id="57" name="Text 55"/>
          <p:cNvSpPr/>
          <p:nvPr/>
        </p:nvSpPr>
        <p:spPr>
          <a:xfrm>
            <a:off x="869594" y="3577133"/>
            <a:ext cx="3885286" cy="1079906"/>
          </a:xfrm>
          <a:prstGeom prst="rect">
            <a:avLst/>
          </a:prstGeom>
          <a:noFill/>
          <a:ln/>
        </p:spPr>
        <p:txBody>
          <a:bodyPr wrap="square" lIns="91440" tIns="45720" rIns="91440" bIns="45720" rtlCol="0" anchor="t">
            <a:spAutoFit/>
          </a:bodyPr>
          <a:lstStyle/>
          <a:p>
            <a:pPr indent="0" marL="0">
              <a:lnSpc>
                <a:spcPct val="150000"/>
              </a:lnSpc>
              <a:buNone/>
            </a:pPr>
            <a:r>
              <a:rPr lang="en-US" sz="1050" dirty="0">
                <a:solidFill>
                  <a:srgbClr val="F3E6D6"/>
                </a:solidFill>
                <a:latin typeface="Arial" pitchFamily="34" charset="0"/>
                <a:ea typeface="Arial" pitchFamily="34" charset="-122"/>
                <a:cs typeface="Arial" pitchFamily="34" charset="-120"/>
              </a:rPr>
              <a:t>First-party agents are ours end to end, on the Kairos platform. Third-party agents are built or outsourced by external vendors (e.g. CES, Google, CRA) and run for us: we bound them at our MCP and A2A edges; the contract carries the rest.</a:t>
            </a:r>
          </a:p>
        </p:txBody>
      </p:sp>
      <p:sp>
        <p:nvSpPr>
          <p:cNvPr id="58" name="Text 56"/>
          <p:cNvSpPr/>
          <p:nvPr/>
        </p:nvSpPr>
        <p:spPr>
          <a:xfrm>
            <a:off x="869594" y="4846320"/>
            <a:ext cx="3885286" cy="571500"/>
          </a:xfrm>
          <a:prstGeom prst="rect">
            <a:avLst/>
          </a:prstGeom>
          <a:noFill/>
          <a:ln/>
        </p:spPr>
        <p:txBody>
          <a:bodyPr wrap="square" lIns="91440" tIns="45720" rIns="91440" bIns="45720" rtlCol="0" anchor="t">
            <a:spAutoFit/>
          </a:bodyPr>
          <a:lstStyle/>
          <a:p>
            <a:pPr indent="0" marL="0">
              <a:lnSpc>
                <a:spcPct val="150000"/>
              </a:lnSpc>
              <a:buNone/>
            </a:pPr>
            <a:r>
              <a:rPr lang="en-US" sz="950" dirty="0" b="1">
                <a:solidFill>
                  <a:srgbClr val="F5B700"/>
                </a:solidFill>
                <a:latin typeface="Arial" pitchFamily="34" charset="0"/>
                <a:ea typeface="Arial" pitchFamily="34" charset="-122"/>
                <a:cs typeface="Arial" pitchFamily="34" charset="-120"/>
              </a:rPr>
              <a:t>CONTRACT CLAUSES TO REQUIRE (OUR ASSESSMENT)</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1–2  </a:t>
            </a:r>
            <a:r>
              <a:rPr lang="en-US" sz="900" dirty="0">
                <a:solidFill>
                  <a:srgbClr val="F3E6D6"/>
                </a:solidFill>
                <a:latin typeface="Arial" pitchFamily="34" charset="0"/>
                <a:ea typeface="Arial" pitchFamily="34" charset="-122"/>
                <a:cs typeface="Arial" pitchFamily="34" charset="-120"/>
              </a:rPr>
              <a:t>OTLP traces with our join keys · eval evidence per release</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3–4  </a:t>
            </a:r>
            <a:r>
              <a:rPr lang="en-US" sz="900" dirty="0">
                <a:solidFill>
                  <a:srgbClr val="F3E6D6"/>
                </a:solidFill>
                <a:latin typeface="Arial" pitchFamily="34" charset="0"/>
                <a:ea typeface="Arial" pitchFamily="34" charset="-122"/>
                <a:cs typeface="Arial" pitchFamily="34" charset="-120"/>
              </a:rPr>
              <a:t>right to red-team · pause API + incident SLA</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5–6  </a:t>
            </a:r>
            <a:r>
              <a:rPr lang="en-US" sz="900" dirty="0">
                <a:solidFill>
                  <a:srgbClr val="F3E6D6"/>
                </a:solidFill>
                <a:latin typeface="Arial" pitchFamily="34" charset="0"/>
                <a:ea typeface="Arial" pitchFamily="34" charset="-122"/>
                <a:cs typeface="Arial" pitchFamily="34" charset="-120"/>
              </a:rPr>
              <a:t>data residency, no training on our data · identity + scope docs</a:t>
            </a:r>
          </a:p>
          <a:p>
            <a:pPr indent="0" marL="0">
              <a:lnSpc>
                <a:spcPct val="150000"/>
              </a:lnSpc>
              <a:buNone/>
            </a:pPr>
            <a:r>
              <a:rPr lang="en-US" sz="900" dirty="0" b="1">
                <a:solidFill>
                  <a:srgbClr val="FFFFFF"/>
                </a:solidFill>
                <a:latin typeface="Arial" pitchFamily="34" charset="0"/>
                <a:ea typeface="Arial" pitchFamily="34" charset="-122"/>
                <a:cs typeface="Arial" pitchFamily="34" charset="-120"/>
              </a:rPr>
              <a:t>7–8  </a:t>
            </a:r>
            <a:r>
              <a:rPr lang="en-US" sz="900" dirty="0">
                <a:solidFill>
                  <a:srgbClr val="F3E6D6"/>
                </a:solidFill>
                <a:latin typeface="Arial" pitchFamily="34" charset="0"/>
                <a:ea typeface="Arial" pitchFamily="34" charset="-122"/>
                <a:cs typeface="Arial" pitchFamily="34" charset="-120"/>
              </a:rPr>
              <a:t>A2A / MCP versions + deprecation · exit and IP terms [12]</a:t>
            </a:r>
          </a:p>
        </p:txBody>
      </p:sp>
      <p:sp>
        <p:nvSpPr>
          <p:cNvPr id="59" name="Shape 57"/>
          <p:cNvSpPr/>
          <p:nvPr/>
        </p:nvSpPr>
        <p:spPr>
          <a:xfrm>
            <a:off x="5692140" y="1295705"/>
            <a:ext cx="6048756" cy="1384402"/>
          </a:xfrm>
          <a:prstGeom prst="roundRect">
            <a:avLst>
              <a:gd name="adj" fmla="val 15852"/>
            </a:avLst>
          </a:prstGeom>
          <a:solidFill>
            <a:srgbClr val="F5B700"/>
          </a:solidFill>
          <a:ln/>
        </p:spPr>
      </p:sp>
      <p:sp>
        <p:nvSpPr>
          <p:cNvPr id="60" name="Shape 58"/>
          <p:cNvSpPr/>
          <p:nvPr/>
        </p:nvSpPr>
        <p:spPr>
          <a:xfrm>
            <a:off x="5872277" y="1488643"/>
            <a:ext cx="1189634" cy="374904"/>
          </a:xfrm>
          <a:prstGeom prst="roundRect">
            <a:avLst>
              <a:gd name="adj" fmla="val 50000"/>
            </a:avLst>
          </a:prstGeom>
          <a:solidFill>
            <a:srgbClr val="FFF1CC">
              </a:srgbClr>
          </a:solidFill>
          <a:ln w="6350">
            <a:solidFill>
              <a:srgbClr val="141010"/>
            </a:solidFill>
            <a:prstDash val="solid"/>
          </a:ln>
        </p:spPr>
      </p:sp>
      <p:sp>
        <p:nvSpPr>
          <p:cNvPr id="61" name="Text 59"/>
          <p:cNvSpPr/>
          <p:nvPr/>
        </p:nvSpPr>
        <p:spPr>
          <a:xfrm>
            <a:off x="5800954" y="1488643"/>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141010"/>
                </a:solidFill>
                <a:latin typeface="Arial" pitchFamily="34" charset="0"/>
                <a:ea typeface="Arial" pitchFamily="34" charset="-122"/>
                <a:cs typeface="Arial" pitchFamily="34" charset="-120"/>
              </a:rPr>
              <a:t>Clause 8</a:t>
            </a:r>
          </a:p>
        </p:txBody>
      </p:sp>
      <p:sp>
        <p:nvSpPr>
          <p:cNvPr id="62" name="Text 60"/>
          <p:cNvSpPr/>
          <p:nvPr/>
        </p:nvSpPr>
        <p:spPr>
          <a:xfrm>
            <a:off x="5920740" y="1891894"/>
            <a:ext cx="2011680" cy="585216"/>
          </a:xfrm>
          <a:prstGeom prst="rect">
            <a:avLst/>
          </a:prstGeom>
          <a:noFill/>
          <a:ln/>
        </p:spPr>
        <p:txBody>
          <a:bodyPr wrap="square" lIns="91440" tIns="45720" rIns="91440" bIns="45720" rtlCol="0" anchor="t">
            <a:spAutoFit/>
          </a:bodyPr>
          <a:lstStyle/>
          <a:p>
            <a:pPr indent="0" marL="0">
              <a:buNone/>
            </a:pPr>
            <a:r>
              <a:rPr lang="en-US" sz="1500" dirty="0">
                <a:solidFill>
                  <a:srgbClr val="141010"/>
                </a:solidFill>
                <a:latin typeface="Arial" pitchFamily="34" charset="0"/>
                <a:ea typeface="Arial" pitchFamily="34" charset="-122"/>
                <a:cs typeface="Arial" pitchFamily="34" charset="-120"/>
              </a:rPr>
              <a:t>70% abandon by 2028</a:t>
            </a:r>
          </a:p>
        </p:txBody>
      </p:sp>
      <p:sp>
        <p:nvSpPr>
          <p:cNvPr id="64" name="Shape 62"/>
          <p:cNvSpPr/>
          <p:nvPr/>
        </p:nvSpPr>
        <p:spPr>
          <a:xfrm>
            <a:off x="5692140" y="2914193"/>
            <a:ext cx="6048756" cy="3127248"/>
          </a:xfrm>
          <a:prstGeom prst="roundRect">
            <a:avLst>
              <a:gd name="adj" fmla="val 11386"/>
            </a:avLst>
          </a:prstGeom>
          <a:ln w="9525">
            <a:solidFill>
              <a:srgbClr val="D9B48A"/>
            </a:solidFill>
            <a:prstDash val="solid"/>
          </a:ln>
        </p:spPr>
      </p:sp>
      <p:sp>
        <p:nvSpPr>
          <p:cNvPr id="65" name="Shape 63"/>
          <p:cNvSpPr/>
          <p:nvPr/>
        </p:nvSpPr>
        <p:spPr>
          <a:xfrm>
            <a:off x="5872277" y="3107131"/>
            <a:ext cx="1189634" cy="374904"/>
          </a:xfrm>
          <a:prstGeom prst="roundRect">
            <a:avLst>
              <a:gd name="adj" fmla="val 50000"/>
            </a:avLst>
          </a:prstGeom>
          <a:solidFill>
            <a:srgbClr val="8A0F1A">
              <a:alpha val="15600"/>
            </a:srgbClr>
          </a:solidFill>
          <a:ln w="6350">
            <a:solidFill>
              <a:srgbClr val="D9B48A"/>
            </a:solidFill>
            <a:prstDash val="solid"/>
          </a:ln>
        </p:spPr>
      </p:sp>
      <p:sp>
        <p:nvSpPr>
          <p:cNvPr id="66" name="Text 64"/>
          <p:cNvSpPr/>
          <p:nvPr/>
        </p:nvSpPr>
        <p:spPr>
          <a:xfrm>
            <a:off x="5800954" y="3107131"/>
            <a:ext cx="1332281"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Control</a:t>
            </a:r>
          </a:p>
        </p:txBody>
      </p:sp>
      <p:sp>
        <p:nvSpPr>
          <p:cNvPr id="67" name="Text 65"/>
          <p:cNvSpPr/>
          <p:nvPr/>
        </p:nvSpPr>
        <p:spPr>
          <a:xfrm>
            <a:off x="7269480" y="3072384"/>
            <a:ext cx="4206240" cy="831190"/>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Full, boundary or none</a:t>
            </a:r>
          </a:p>
        </p:txBody>
      </p:sp>
      <p:sp>
        <p:nvSpPr>
          <p:cNvPr id="73" name="Shape 71"/>
          <p:cNvSpPr/>
          <p:nvPr/>
        </p:nvSpPr>
        <p:spPr>
          <a:xfrm>
            <a:off x="731520" y="6098134"/>
            <a:ext cx="10967314" cy="0"/>
          </a:xfrm>
          <a:prstGeom prst="line">
            <a:avLst/>
          </a:prstGeom>
          <a:noFill/>
          <a:ln w="12700">
            <a:solidFill>
              <a:srgbClr val="D9B48A"/>
            </a:solidFill>
            <a:prstDash val="solid"/>
            <a:tailEnd type="triangle"/>
          </a:ln>
        </p:spPr>
      </p:sp>
      <p:sp>
        <p:nvSpPr>
          <p:cNvPr id="110" name="v2 110"/>
          <p:cNvSpPr/>
          <p:nvPr/>
        </p:nvSpPr>
        <p:spPr>
          <a:xfrm>
            <a:off x="8092440" y="1463040"/>
            <a:ext cx="3520440" cy="1097280"/>
          </a:xfrm>
          <a:prstGeom prst="rect">
            <a:avLst/>
          </a:prstGeom>
          <a:noFill/>
          <a:ln>
            <a:noFill/>
          </a:ln>
        </p:spPr>
        <p:txBody>
          <a:bodyPr wrap="square" lIns="0" tIns="0" rIns="0" bIns="0" rtlCol="0" anchor="ctr">
            <a:noAutofit/>
          </a:bodyPr>
          <a:lstStyle/>
          <a:p>
            <a:pPr algn="l" marL="0" indent="0">
              <a:lnSpc>
                <a:spcPct val="105000"/>
              </a:lnSpc>
              <a:buNone/>
            </a:pPr>
            <a:r>
              <a:rPr lang="en-US" sz="1000" b="1" dirty="0">
                <a:solidFill>
                  <a:srgbClr val="141010"/>
                </a:solidFill>
                <a:latin typeface="Arial"/>
                <a:ea typeface="Arial"/>
                <a:cs typeface="Arial"/>
              </a:rPr>
              <a:t>Why exit terms matter (Gartner)</a:t>
            </a:r>
          </a:p>
          <a:p>
            <a:pPr algn="l" marL="0" indent="0">
              <a:lnSpc>
                <a:spcPct val="105000"/>
              </a:lnSpc>
              <a:buNone/>
            </a:pPr>
            <a:r>
              <a:rPr lang="en-US" sz="900" dirty="0">
                <a:solidFill>
                  <a:srgbClr val="141010"/>
                </a:solidFill>
                <a:latin typeface="Arial"/>
                <a:ea typeface="Arial"/>
                <a:cs typeface="Arial"/>
              </a:rPr>
              <a:t>70% of enterprises will abandon agentic AI built by vendor forward-deployed engineering by 2028. Set governance, ownership, knowledge transfer and exit terms from day one [12].</a:t>
            </a:r>
          </a:p>
          <a:p>
            <a:pPr algn="l" marL="0" indent="0">
              <a:lnSpc>
                <a:spcPct val="105000"/>
              </a:lnSpc>
              <a:buNone/>
            </a:pPr>
            <a:r>
              <a:rPr lang="en-US" sz="900" b="1" dirty="0">
                <a:solidFill>
                  <a:srgbClr val="141010"/>
                </a:solidFill>
                <a:latin typeface="Arial"/>
                <a:ea typeface="Arial"/>
                <a:cs typeface="Arial"/>
              </a:rPr>
              <a:t>Third-party integration: OTel export · our MCP gateway · A2A edge · contract</a:t>
            </a:r>
          </a:p>
        </p:txBody>
      </p:sp>
      <p:graphicFrame>
        <p:nvGraphicFramePr>
          <p:cNvPr id="300" name="Risk tier heatmap table"/>
          <p:cNvGraphicFramePr>
            <a:graphicFrameLocks noGrp="1"/>
          </p:cNvGraphicFramePr>
          <p:nvPr/>
        </p:nvGraphicFramePr>
        <p:xfrm>
          <a:off x="5897880" y="3529584"/>
          <a:ext cx="5669280" cy="2491740"/>
        </p:xfrm>
        <a:graphic>
          <a:graphicData uri="http://schemas.openxmlformats.org/drawingml/2006/table">
            <a:tbl>
              <a:tblPr/>
              <a:tblGrid>
                <a:gridCol w="1298448"/>
                <a:gridCol w="868680"/>
                <a:gridCol w="36576"/>
                <a:gridCol w="1188720"/>
                <a:gridCol w="36576"/>
                <a:gridCol w="2240280"/>
              </a:tblGrid>
              <a:tr h="237744">
                <a:tc>
                  <a:txBody>
                    <a:bodyPr/>
                    <a:lstStyle/>
                    <a:p>
                      <a:pPr algn="l" marL="0" indent="0">
                        <a:buNone/>
                      </a:pPr>
                      <a:r>
                        <a:rPr lang="en-US" sz="850" dirty="0">
                          <a:solidFill>
                            <a:srgbClr val="F3E6D6"/>
                          </a:solidFill>
                          <a:latin typeface="Arial"/>
                          <a:ea typeface="Arial"/>
                          <a:cs typeface="Arial"/>
                        </a:rPr>
                        <a:t>Surface</a:t>
                      </a:r>
                    </a:p>
                  </a:txBody>
                  <a:tcPr marL="0" marR="0" marT="0" marB="0" anchor="ctr">
                    <a:lnL w="0">
                      <a:noFill/>
                    </a:lnL>
                    <a:lnR w="0">
                      <a:noFill/>
                    </a:lnR>
                    <a:lnT w="0">
                      <a:noFill/>
                    </a:lnT>
                    <a:lnB w="9525">
                      <a:solidFill>
                        <a:srgbClr val="A0704A"/>
                      </a:solidFill>
                    </a:lnB>
                    <a:noFill/>
                  </a:tcPr>
                </a:tc>
                <a:tc>
                  <a:txBody>
                    <a:bodyPr/>
                    <a:lstStyle/>
                    <a:p>
                      <a:pPr algn="ctr" marL="0" indent="0">
                        <a:buNone/>
                      </a:pPr>
                      <a:r>
                        <a:rPr lang="en-US" sz="850" dirty="0">
                          <a:solidFill>
                            <a:srgbClr val="F3E6D6"/>
                          </a:solidFill>
                          <a:latin typeface="Arial"/>
                          <a:ea typeface="Arial"/>
                          <a:cs typeface="Arial"/>
                        </a:rPr>
                        <a:t>First-party</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50" dirty="0">
                          <a:solidFill>
                            <a:srgbClr val="F3E6D6"/>
                          </a:solidFill>
                          <a:latin typeface="Arial"/>
                          <a:ea typeface="Arial"/>
                          <a:cs typeface="Arial"/>
                        </a:rPr>
                        <a:t>Third-party</a:t>
                      </a:r>
                    </a:p>
                  </a:txBody>
                  <a:tcPr marL="0" marR="0" marT="0" marB="0" anchor="ctr">
                    <a:lnL w="0">
                      <a:noFill/>
                    </a:lnL>
                    <a:lnR w="0">
                      <a:noFill/>
                    </a:lnR>
                    <a:lnT w="0">
                      <a:noFill/>
                    </a:lnT>
                    <a:lnB w="9525">
                      <a:solidFill>
                        <a:srgbClr val="A0704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50" dirty="0">
                          <a:solidFill>
                            <a:srgbClr val="F3E6D6"/>
                          </a:solidFill>
                          <a:latin typeface="Arial"/>
                          <a:ea typeface="Arial"/>
                          <a:cs typeface="Arial"/>
                        </a:rPr>
                        <a:t>How we integrate</a:t>
                      </a:r>
                    </a:p>
                  </a:txBody>
                  <a:tcPr marL="0" marR="0" marT="0" marB="0" anchor="ctr">
                    <a:lnL w="0">
                      <a:noFill/>
                    </a:lnL>
                    <a:lnR w="0">
                      <a:noFill/>
                    </a:lnR>
                    <a:lnT w="0">
                      <a:noFill/>
                    </a:lnT>
                    <a:lnB w="9525">
                      <a:solidFill>
                        <a:srgbClr val="A0704A"/>
                      </a:solidFill>
                    </a:lnB>
                    <a:noFill/>
                  </a:tcPr>
                </a:tc>
              </a:tr>
              <a:tr h="182880">
                <a:tc>
                  <a:txBody>
                    <a:bodyPr/>
                    <a:lstStyle/>
                    <a:p>
                      <a:pPr algn="l" marL="0" indent="0">
                        <a:buNone/>
                      </a:pPr>
                      <a:r>
                        <a:rPr lang="en-US" sz="850" dirty="0">
                          <a:solidFill>
                            <a:srgbClr val="FFFFFF"/>
                          </a:solidFill>
                          <a:latin typeface="Arial"/>
                          <a:ea typeface="Arial"/>
                          <a:cs typeface="Arial"/>
                        </a:rPr>
                        <a:t>Identity</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Partial: OAuth scopes</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IdP federation; scoped OAuth</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Model / prompts / harness</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FFFFF"/>
                          </a:solidFill>
                          <a:latin typeface="Arial"/>
                          <a:ea typeface="Arial"/>
                          <a:cs typeface="Arial"/>
                        </a:rPr>
                        <a:t>None</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contract; BYO-LLM where offered</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Tools / data access</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Yes, for our tools</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MCP gateway AuthPolicy, default off</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Inter-agent calls</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Boundary only</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A2A policy point; signed cards [28]</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Runtime control</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Boundary only</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gateway policy; vendor pause [33]</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Observability</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Partial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OTel export / pull API [31][32]</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Eval / simulation</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Black box</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our persona sims at the endpoint</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Red team</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Black box</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contract right to test</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Harness optimisation</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FFFFF"/>
                          </a:solidFill>
                          <a:latin typeface="Arial"/>
                          <a:ea typeface="Arial"/>
                          <a:cs typeface="Arial"/>
                        </a:rPr>
                        <a:t>None</a:t>
                      </a:r>
                    </a:p>
                  </a:txBody>
                  <a:tcPr marL="0" marR="0" marT="0" marB="0" anchor="ctr">
                    <a:lnL w="9525">
                      <a:solidFill>
                        <a:srgbClr val="A0704A"/>
                      </a:solidFill>
                    </a:lnL>
                    <a:lnR w="9525">
                      <a:solidFill>
                        <a:srgbClr val="A0704A"/>
                      </a:solidFill>
                    </a:lnR>
                    <a:lnT w="9525">
                      <a:solidFill>
                        <a:srgbClr val="A0704A"/>
                      </a:solidFill>
                    </a:lnT>
                    <a:lnB w="9525">
                      <a:solidFill>
                        <a:srgbClr val="A0704A"/>
                      </a:solidFill>
                    </a:lnB>
                    <a:solidFill>
                      <a:srgbClr val="2A1A16"/>
                    </a:solid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findings to the vendor</a:t>
                      </a:r>
                    </a:p>
                  </a:txBody>
                  <a:tcPr marL="0" marR="0" marT="0" marB="0" anchor="ctr">
                    <a:lnL w="0">
                      <a:noFill/>
                    </a:lnL>
                    <a:lnR w="9525">
                      <a:solidFill>
                        <a:srgbClr val="A0704A"/>
                      </a:solidFill>
                    </a:lnR>
                    <a:lnT w="0">
                      <a:noFill/>
                    </a:lnT>
                    <a:lnB w="0">
                      <a:noFill/>
                    </a:lnB>
                    <a:noFill/>
                  </a:tcPr>
                </a:tc>
              </a:tr>
              <a:tr h="32004">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c>
                  <a:txBody>
                    <a:bodyPr/>
                    <a:lstStyle/>
                    <a:p>
                      <a:endParaRPr lang="en-US" sz="100"/>
                    </a:p>
                  </a:txBody>
                  <a:tcPr marL="0" marR="0" marT="0" marB="0" anchor="ctr">
                    <a:lnL w="0">
                      <a:noFill/>
                    </a:lnL>
                    <a:lnR w="0">
                      <a:noFill/>
                    </a:lnR>
                    <a:lnT w="0">
                      <a:noFill/>
                    </a:lnT>
                    <a:lnB w="0">
                      <a:noFill/>
                    </a:lnB>
                    <a:noFill/>
                  </a:tcPr>
                </a:tc>
              </a:tr>
              <a:tr h="182880">
                <a:tc>
                  <a:txBody>
                    <a:bodyPr/>
                    <a:lstStyle/>
                    <a:p>
                      <a:pPr algn="l" marL="0" indent="0">
                        <a:buNone/>
                      </a:pPr>
                      <a:r>
                        <a:rPr lang="en-US" sz="850" dirty="0">
                          <a:solidFill>
                            <a:srgbClr val="FFFFFF"/>
                          </a:solidFill>
                          <a:latin typeface="Arial"/>
                          <a:ea typeface="Arial"/>
                          <a:cs typeface="Arial"/>
                        </a:rPr>
                        <a:t>Governance / retire</a:t>
                      </a:r>
                    </a:p>
                  </a:txBody>
                  <a:tcPr marL="0" marR="0" marT="0" marB="0" anchor="ctr">
                    <a:lnL w="0">
                      <a:noFill/>
                    </a:lnL>
                    <a:lnR w="9525">
                      <a:solidFill>
                        <a:srgbClr val="A0704A"/>
                      </a:solidFill>
                    </a:lnR>
                    <a:lnT w="0">
                      <a:noFill/>
                    </a:lnT>
                    <a:lnB w="0">
                      <a:noFill/>
                    </a:lnB>
                    <a:noFill/>
                  </a:tcPr>
                </a:tc>
                <a:tc>
                  <a:txBody>
                    <a:bodyPr/>
                    <a:lstStyle/>
                    <a:p>
                      <a:pPr algn="ctr" marL="0" indent="0">
                        <a:buNone/>
                      </a:pPr>
                      <a:r>
                        <a:rPr lang="en-US" sz="800" b="1" dirty="0">
                          <a:solidFill>
                            <a:srgbClr val="141010"/>
                          </a:solidFill>
                          <a:latin typeface="Arial"/>
                          <a:ea typeface="Arial"/>
                          <a:cs typeface="Arial"/>
                        </a:rPr>
                        <a:t>Full</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solidFill>
                      <a:srgbClr val="F5B700"/>
                    </a:solidFill>
                  </a:tcPr>
                </a:tc>
                <a:tc>
                  <a:txBody>
                    <a:bodyPr/>
                    <a:lstStyle/>
                    <a:p>
                      <a:endParaRPr lang="en-US" sz="100"/>
                    </a:p>
                  </a:txBody>
                  <a:tcPr marL="0" marR="0" marT="0" marB="0" anchor="ctr">
                    <a:lnL w="0">
                      <a:noFill/>
                    </a:lnL>
                    <a:lnR w="0">
                      <a:noFill/>
                    </a:lnR>
                    <a:lnT w="0">
                      <a:noFill/>
                    </a:lnT>
                    <a:lnB w="0">
                      <a:noFill/>
                    </a:lnB>
                    <a:noFill/>
                  </a:tcPr>
                </a:tc>
                <a:tc>
                  <a:txBody>
                    <a:bodyPr/>
                    <a:lstStyle/>
                    <a:p>
                      <a:pPr algn="ctr" marL="0" indent="0">
                        <a:buNone/>
                      </a:pPr>
                      <a:r>
                        <a:rPr lang="en-US" sz="800" b="1" dirty="0">
                          <a:solidFill>
                            <a:srgbClr val="F3E6D6"/>
                          </a:solidFill>
                          <a:latin typeface="Arial"/>
                          <a:ea typeface="Arial"/>
                          <a:cs typeface="Arial"/>
                        </a:rPr>
                        <a:t>Inventory + revoke</a:t>
                      </a:r>
                    </a:p>
                  </a:txBody>
                  <a:tcPr marL="0" marR="0" marT="0" marB="0" anchor="ctr">
                    <a:lnL w="9525">
                      <a:solidFill>
                        <a:srgbClr val="D9B48A"/>
                      </a:solidFill>
                    </a:lnL>
                    <a:lnR w="9525">
                      <a:solidFill>
                        <a:srgbClr val="D9B48A"/>
                      </a:solidFill>
                    </a:lnR>
                    <a:lnT w="9525">
                      <a:solidFill>
                        <a:srgbClr val="D9B48A"/>
                      </a:solidFill>
                    </a:lnT>
                    <a:lnB w="9525">
                      <a:solidFill>
                        <a:srgbClr val="D9B48A"/>
                      </a:solidFill>
                    </a:lnB>
                    <a:noFill/>
                  </a:tcPr>
                </a:tc>
                <a:tc>
                  <a:txBody>
                    <a:bodyPr/>
                    <a:lstStyle/>
                    <a:p>
                      <a:endParaRPr lang="en-US" sz="100"/>
                    </a:p>
                  </a:txBody>
                  <a:tcPr marL="0" marR="0" marT="0" marB="0" anchor="ctr">
                    <a:lnL w="0">
                      <a:noFill/>
                    </a:lnL>
                    <a:lnR w="0">
                      <a:noFill/>
                    </a:lnR>
                    <a:lnT w="0">
                      <a:noFill/>
                    </a:lnT>
                    <a:lnB w="0">
                      <a:noFill/>
                    </a:lnB>
                    <a:noFill/>
                  </a:tcPr>
                </a:tc>
                <a:tc>
                  <a:txBody>
                    <a:bodyPr/>
                    <a:lstStyle/>
                    <a:p>
                      <a:pPr algn="l" marL="0" indent="0">
                        <a:buNone/>
                      </a:pPr>
                      <a:r>
                        <a:rPr lang="en-US" sz="800" dirty="0">
                          <a:solidFill>
                            <a:srgbClr val="F3E6D6"/>
                          </a:solidFill>
                          <a:latin typeface="Arial"/>
                          <a:ea typeface="Arial"/>
                          <a:cs typeface="Arial"/>
                        </a:rPr>
                        <a:t>registry entry with vendor</a:t>
                      </a:r>
                    </a:p>
                  </a:txBody>
                  <a:tcPr marL="0" marR="0" marT="0" marB="0" anchor="ctr">
                    <a:lnL w="0">
                      <a:noFill/>
                    </a:lnL>
                    <a:lnR w="9525">
                      <a:solidFill>
                        <a:srgbClr val="A0704A"/>
                      </a:solidFill>
                    </a:lnR>
                    <a:lnT w="0">
                      <a:noFill/>
                    </a:lnT>
                    <a:lnB w="0">
                      <a:noFill/>
                    </a:lnB>
                    <a:noFill/>
                  </a:tcPr>
                </a:tc>
              </a:tr>
            </a:tbl>
          </a:graphicData>
        </a:graphic>
      </p:graphicFrame>
      <p:sp>
        <p:nvSpPr>
          <p:cNvPr id="30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34 / 44</a:t>
            </a:r>
          </a:p>
        </p:txBody>
      </p:sp>
      <p:sp>
        <p:nvSpPr>
          <p:cNvPr id="30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30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sp>
      <p:sp>
        <p:nvSpPr>
          <p:cNvPr id="3" name="Shape 1"/>
          <p:cNvSpPr/>
          <p:nvPr/>
        </p:nvSpPr>
        <p:spPr>
          <a:xfrm>
            <a:off x="3846366" y="-6173629"/>
            <a:ext cx="8262633" cy="8262633"/>
          </a:xfrm>
          <a:prstGeom prst="ellipse">
            <a:avLst/>
          </a:prstGeom>
          <a:solidFill>
            <a:srgbClr val="8A0F1A">
              <a:alpha val="4218"/>
            </a:srgbClr>
          </a:solidFill>
          <a:ln/>
        </p:spPr>
      </p:sp>
      <p:sp>
        <p:nvSpPr>
          <p:cNvPr id="4" name="Shape 2"/>
          <p:cNvSpPr/>
          <p:nvPr/>
        </p:nvSpPr>
        <p:spPr>
          <a:xfrm>
            <a:off x="4025989" y="-5994006"/>
            <a:ext cx="7903388" cy="7903388"/>
          </a:xfrm>
          <a:prstGeom prst="ellipse">
            <a:avLst/>
          </a:prstGeom>
          <a:solidFill>
            <a:srgbClr val="8A0F1A">
              <a:alpha val="4138"/>
            </a:srgbClr>
          </a:solidFill>
          <a:ln/>
        </p:spPr>
      </p:sp>
      <p:sp>
        <p:nvSpPr>
          <p:cNvPr id="5" name="Shape 3"/>
          <p:cNvSpPr/>
          <p:nvPr/>
        </p:nvSpPr>
        <p:spPr>
          <a:xfrm>
            <a:off x="4205611" y="-5814384"/>
            <a:ext cx="7544143" cy="7544143"/>
          </a:xfrm>
          <a:prstGeom prst="ellipse">
            <a:avLst/>
          </a:prstGeom>
          <a:solidFill>
            <a:srgbClr val="8A0F1A">
              <a:alpha val="2636"/>
            </a:srgbClr>
          </a:solidFill>
          <a:ln/>
        </p:spPr>
      </p:sp>
      <p:sp>
        <p:nvSpPr>
          <p:cNvPr id="6" name="Shape 4"/>
          <p:cNvSpPr/>
          <p:nvPr/>
        </p:nvSpPr>
        <p:spPr>
          <a:xfrm>
            <a:off x="4385234" y="-5634761"/>
            <a:ext cx="7184898" cy="7184898"/>
          </a:xfrm>
          <a:prstGeom prst="ellipse">
            <a:avLst/>
          </a:prstGeom>
          <a:solidFill>
            <a:srgbClr val="8A0F1A">
              <a:alpha val="2661"/>
            </a:srgbClr>
          </a:solidFill>
          <a:ln/>
        </p:spPr>
      </p:sp>
      <p:sp>
        <p:nvSpPr>
          <p:cNvPr id="7" name="Shape 5"/>
          <p:cNvSpPr/>
          <p:nvPr/>
        </p:nvSpPr>
        <p:spPr>
          <a:xfrm>
            <a:off x="4564856" y="-5455139"/>
            <a:ext cx="6825653" cy="6825653"/>
          </a:xfrm>
          <a:prstGeom prst="ellipse">
            <a:avLst/>
          </a:prstGeom>
          <a:solidFill>
            <a:srgbClr val="8A0F1A">
              <a:alpha val="3304"/>
            </a:srgbClr>
          </a:solidFill>
          <a:ln/>
        </p:spPr>
      </p:sp>
      <p:sp>
        <p:nvSpPr>
          <p:cNvPr id="8" name="Shape 6"/>
          <p:cNvSpPr/>
          <p:nvPr/>
        </p:nvSpPr>
        <p:spPr>
          <a:xfrm>
            <a:off x="4744479" y="-5275516"/>
            <a:ext cx="6466408" cy="6466408"/>
          </a:xfrm>
          <a:prstGeom prst="ellipse">
            <a:avLst/>
          </a:prstGeom>
          <a:solidFill>
            <a:srgbClr val="8A0F1A">
              <a:alpha val="3622"/>
            </a:srgbClr>
          </a:solidFill>
          <a:ln/>
        </p:spPr>
      </p:sp>
      <p:sp>
        <p:nvSpPr>
          <p:cNvPr id="9" name="Shape 7"/>
          <p:cNvSpPr/>
          <p:nvPr/>
        </p:nvSpPr>
        <p:spPr>
          <a:xfrm>
            <a:off x="4924101" y="-5095894"/>
            <a:ext cx="6107163" cy="6107163"/>
          </a:xfrm>
          <a:prstGeom prst="ellipse">
            <a:avLst/>
          </a:prstGeom>
          <a:solidFill>
            <a:srgbClr val="8A0F1A">
              <a:alpha val="3650"/>
            </a:srgbClr>
          </a:solidFill>
          <a:ln/>
        </p:spPr>
      </p:sp>
      <p:sp>
        <p:nvSpPr>
          <p:cNvPr id="10" name="Shape 8"/>
          <p:cNvSpPr/>
          <p:nvPr/>
        </p:nvSpPr>
        <p:spPr>
          <a:xfrm>
            <a:off x="5103724" y="-4916272"/>
            <a:ext cx="5747918" cy="5747918"/>
          </a:xfrm>
          <a:prstGeom prst="ellipse">
            <a:avLst/>
          </a:prstGeom>
          <a:solidFill>
            <a:srgbClr val="8A0F1A">
              <a:alpha val="3631"/>
            </a:srgbClr>
          </a:solidFill>
          <a:ln/>
        </p:spPr>
      </p:sp>
      <p:sp>
        <p:nvSpPr>
          <p:cNvPr id="11" name="Shape 9"/>
          <p:cNvSpPr/>
          <p:nvPr/>
        </p:nvSpPr>
        <p:spPr>
          <a:xfrm>
            <a:off x="5283346" y="-4736649"/>
            <a:ext cx="5388674" cy="5388674"/>
          </a:xfrm>
          <a:prstGeom prst="ellipse">
            <a:avLst/>
          </a:prstGeom>
          <a:solidFill>
            <a:srgbClr val="8A0F1A">
              <a:alpha val="3693"/>
            </a:srgbClr>
          </a:solidFill>
          <a:ln/>
        </p:spPr>
      </p:sp>
      <p:sp>
        <p:nvSpPr>
          <p:cNvPr id="12" name="Shape 10"/>
          <p:cNvSpPr/>
          <p:nvPr/>
        </p:nvSpPr>
        <p:spPr>
          <a:xfrm>
            <a:off x="5462968" y="-4557027"/>
            <a:ext cx="5029429" cy="5029429"/>
          </a:xfrm>
          <a:prstGeom prst="ellipse">
            <a:avLst/>
          </a:prstGeom>
          <a:solidFill>
            <a:srgbClr val="8A0F1A">
              <a:alpha val="4536"/>
            </a:srgbClr>
          </a:solidFill>
          <a:ln/>
        </p:spPr>
      </p:sp>
      <p:sp>
        <p:nvSpPr>
          <p:cNvPr id="13" name="Shape 11"/>
          <p:cNvSpPr/>
          <p:nvPr/>
        </p:nvSpPr>
        <p:spPr>
          <a:xfrm>
            <a:off x="5642591" y="-4377404"/>
            <a:ext cx="4670184" cy="4670184"/>
          </a:xfrm>
          <a:prstGeom prst="ellipse">
            <a:avLst/>
          </a:prstGeom>
          <a:solidFill>
            <a:srgbClr val="8A0F1A">
              <a:alpha val="4737"/>
            </a:srgbClr>
          </a:solidFill>
          <a:ln/>
        </p:spPr>
      </p:sp>
      <p:sp>
        <p:nvSpPr>
          <p:cNvPr id="14" name="Shape 12"/>
          <p:cNvSpPr/>
          <p:nvPr/>
        </p:nvSpPr>
        <p:spPr>
          <a:xfrm>
            <a:off x="5822213" y="-4197782"/>
            <a:ext cx="4310939" cy="4310939"/>
          </a:xfrm>
          <a:prstGeom prst="ellipse">
            <a:avLst/>
          </a:prstGeom>
          <a:solidFill>
            <a:srgbClr val="8A0F1A">
              <a:alpha val="4994"/>
            </a:srgbClr>
          </a:solidFill>
          <a:ln/>
        </p:spPr>
      </p:sp>
      <p:sp>
        <p:nvSpPr>
          <p:cNvPr id="15" name="Shape 13"/>
          <p:cNvSpPr/>
          <p:nvPr/>
        </p:nvSpPr>
        <p:spPr>
          <a:xfrm>
            <a:off x="6001836" y="-4018159"/>
            <a:ext cx="3951694" cy="3951694"/>
          </a:xfrm>
          <a:prstGeom prst="ellipse">
            <a:avLst/>
          </a:prstGeom>
          <a:solidFill>
            <a:srgbClr val="8A0F1A">
              <a:alpha val="5272"/>
            </a:srgbClr>
          </a:solidFill>
          <a:ln/>
        </p:spPr>
      </p:sp>
      <p:sp>
        <p:nvSpPr>
          <p:cNvPr id="16" name="Shape 14"/>
          <p:cNvSpPr/>
          <p:nvPr/>
        </p:nvSpPr>
        <p:spPr>
          <a:xfrm>
            <a:off x="6181458" y="-3838537"/>
            <a:ext cx="3592449" cy="3592449"/>
          </a:xfrm>
          <a:prstGeom prst="ellipse">
            <a:avLst/>
          </a:prstGeom>
          <a:solidFill>
            <a:srgbClr val="8A0F1A">
              <a:alpha val="5521"/>
            </a:srgbClr>
          </a:solidFill>
          <a:ln/>
        </p:spPr>
      </p:sp>
      <p:sp>
        <p:nvSpPr>
          <p:cNvPr id="17" name="Shape 15"/>
          <p:cNvSpPr/>
          <p:nvPr/>
        </p:nvSpPr>
        <p:spPr>
          <a:xfrm>
            <a:off x="6361081" y="-3658914"/>
            <a:ext cx="3233204" cy="3233204"/>
          </a:xfrm>
          <a:prstGeom prst="ellipse">
            <a:avLst/>
          </a:prstGeom>
          <a:solidFill>
            <a:srgbClr val="8A0F1A">
              <a:alpha val="6496"/>
            </a:srgbClr>
          </a:solidFill>
          <a:ln/>
        </p:spPr>
      </p:sp>
      <p:sp>
        <p:nvSpPr>
          <p:cNvPr id="18" name="Shape 16"/>
          <p:cNvSpPr/>
          <p:nvPr/>
        </p:nvSpPr>
        <p:spPr>
          <a:xfrm>
            <a:off x="6540703" y="-3479292"/>
            <a:ext cx="2873959" cy="2873959"/>
          </a:xfrm>
          <a:prstGeom prst="ellipse">
            <a:avLst/>
          </a:prstGeom>
          <a:solidFill>
            <a:srgbClr val="8A0F1A">
              <a:alpha val="6768"/>
            </a:srgbClr>
          </a:solidFill>
          <a:ln/>
        </p:spPr>
      </p:sp>
      <p:sp>
        <p:nvSpPr>
          <p:cNvPr id="19" name="Shape 17"/>
          <p:cNvSpPr/>
          <p:nvPr/>
        </p:nvSpPr>
        <p:spPr>
          <a:xfrm>
            <a:off x="6720326" y="-3299670"/>
            <a:ext cx="2514714" cy="2514714"/>
          </a:xfrm>
          <a:prstGeom prst="ellipse">
            <a:avLst/>
          </a:prstGeom>
          <a:solidFill>
            <a:srgbClr val="8A0F1A">
              <a:alpha val="7123"/>
            </a:srgbClr>
          </a:solidFill>
          <a:ln/>
        </p:spPr>
      </p:sp>
      <p:sp>
        <p:nvSpPr>
          <p:cNvPr id="20" name="Shape 18"/>
          <p:cNvSpPr/>
          <p:nvPr/>
        </p:nvSpPr>
        <p:spPr>
          <a:xfrm>
            <a:off x="6899948" y="-3120047"/>
            <a:ext cx="2155469" cy="2155469"/>
          </a:xfrm>
          <a:prstGeom prst="ellipse">
            <a:avLst/>
          </a:prstGeom>
          <a:solidFill>
            <a:srgbClr val="8A0F1A">
              <a:alpha val="7486"/>
            </a:srgbClr>
          </a:solidFill>
          <a:ln/>
        </p:spPr>
      </p:sp>
      <p:sp>
        <p:nvSpPr>
          <p:cNvPr id="21" name="Shape 19"/>
          <p:cNvSpPr/>
          <p:nvPr/>
        </p:nvSpPr>
        <p:spPr>
          <a:xfrm>
            <a:off x="7079571" y="-2940425"/>
            <a:ext cx="1796225" cy="1796225"/>
          </a:xfrm>
          <a:prstGeom prst="ellipse">
            <a:avLst/>
          </a:prstGeom>
          <a:solidFill>
            <a:srgbClr val="8A0F1A">
              <a:alpha val="8191"/>
            </a:srgbClr>
          </a:solidFill>
          <a:ln/>
        </p:spPr>
      </p:sp>
      <p:sp>
        <p:nvSpPr>
          <p:cNvPr id="22" name="Shape 20"/>
          <p:cNvSpPr/>
          <p:nvPr/>
        </p:nvSpPr>
        <p:spPr>
          <a:xfrm>
            <a:off x="7259193" y="-2760802"/>
            <a:ext cx="1436980" cy="1436980"/>
          </a:xfrm>
          <a:prstGeom prst="ellipse">
            <a:avLst/>
          </a:prstGeom>
          <a:solidFill>
            <a:srgbClr val="8A0F1A">
              <a:alpha val="9466"/>
            </a:srgbClr>
          </a:solidFill>
          <a:ln/>
        </p:spPr>
      </p:sp>
      <p:sp>
        <p:nvSpPr>
          <p:cNvPr id="23" name="Shape 21"/>
          <p:cNvSpPr/>
          <p:nvPr/>
        </p:nvSpPr>
        <p:spPr>
          <a:xfrm>
            <a:off x="7438815" y="-2581180"/>
            <a:ext cx="1077735" cy="1077735"/>
          </a:xfrm>
          <a:prstGeom prst="ellipse">
            <a:avLst/>
          </a:prstGeom>
          <a:solidFill>
            <a:srgbClr val="8A0F1A">
              <a:alpha val="10120"/>
            </a:srgbClr>
          </a:solidFill>
          <a:ln/>
        </p:spPr>
      </p:sp>
      <p:sp>
        <p:nvSpPr>
          <p:cNvPr id="24" name="Shape 22"/>
          <p:cNvSpPr/>
          <p:nvPr/>
        </p:nvSpPr>
        <p:spPr>
          <a:xfrm>
            <a:off x="7618438" y="-2401557"/>
            <a:ext cx="718490" cy="718490"/>
          </a:xfrm>
          <a:prstGeom prst="ellipse">
            <a:avLst/>
          </a:prstGeom>
          <a:solidFill>
            <a:srgbClr val="8A0F1A">
              <a:alpha val="10280"/>
            </a:srgbClr>
          </a:solidFill>
          <a:ln/>
        </p:spPr>
      </p:sp>
      <p:sp>
        <p:nvSpPr>
          <p:cNvPr id="25" name="Shape 23"/>
          <p:cNvSpPr/>
          <p:nvPr/>
        </p:nvSpPr>
        <p:spPr>
          <a:xfrm>
            <a:off x="7798060" y="-2221935"/>
            <a:ext cx="359245" cy="359245"/>
          </a:xfrm>
          <a:prstGeom prst="ellipse">
            <a:avLst/>
          </a:prstGeom>
          <a:solidFill>
            <a:srgbClr val="8A0F1A">
              <a:alpha val="10999"/>
            </a:srgbClr>
          </a:solidFill>
          <a:ln/>
        </p:spPr>
      </p:sp>
      <p:sp>
        <p:nvSpPr>
          <p:cNvPr id="26" name="Shape 24"/>
          <p:cNvSpPr/>
          <p:nvPr/>
        </p:nvSpPr>
        <p:spPr>
          <a:xfrm>
            <a:off x="-3646627" y="4202582"/>
            <a:ext cx="8621878" cy="8621878"/>
          </a:xfrm>
          <a:prstGeom prst="ellipse">
            <a:avLst/>
          </a:prstGeom>
          <a:solidFill>
            <a:srgbClr val="8A0F1A">
              <a:alpha val="2547"/>
            </a:srgbClr>
          </a:solidFill>
          <a:ln/>
        </p:spPr>
      </p:sp>
      <p:sp>
        <p:nvSpPr>
          <p:cNvPr id="27" name="Shape 25"/>
          <p:cNvSpPr/>
          <p:nvPr/>
        </p:nvSpPr>
        <p:spPr>
          <a:xfrm>
            <a:off x="-3467005" y="4382205"/>
            <a:ext cx="8262633" cy="8262633"/>
          </a:xfrm>
          <a:prstGeom prst="ellipse">
            <a:avLst/>
          </a:prstGeom>
          <a:solidFill>
            <a:srgbClr val="8A0F1A">
              <a:alpha val="4218"/>
            </a:srgbClr>
          </a:solidFill>
          <a:ln/>
        </p:spPr>
      </p:sp>
      <p:sp>
        <p:nvSpPr>
          <p:cNvPr id="28" name="Shape 26"/>
          <p:cNvSpPr/>
          <p:nvPr/>
        </p:nvSpPr>
        <p:spPr>
          <a:xfrm>
            <a:off x="-3287382" y="4561827"/>
            <a:ext cx="7903388" cy="7903388"/>
          </a:xfrm>
          <a:prstGeom prst="ellipse">
            <a:avLst/>
          </a:prstGeom>
          <a:solidFill>
            <a:srgbClr val="8A0F1A">
              <a:alpha val="4138"/>
            </a:srgbClr>
          </a:solidFill>
          <a:ln/>
        </p:spPr>
      </p:sp>
      <p:sp>
        <p:nvSpPr>
          <p:cNvPr id="29" name="Shape 27"/>
          <p:cNvSpPr/>
          <p:nvPr/>
        </p:nvSpPr>
        <p:spPr>
          <a:xfrm>
            <a:off x="-3107760" y="4741450"/>
            <a:ext cx="7544143" cy="7544143"/>
          </a:xfrm>
          <a:prstGeom prst="ellipse">
            <a:avLst/>
          </a:prstGeom>
          <a:solidFill>
            <a:srgbClr val="8A0F1A">
              <a:alpha val="2636"/>
            </a:srgbClr>
          </a:solidFill>
          <a:ln/>
        </p:spPr>
      </p:sp>
      <p:sp>
        <p:nvSpPr>
          <p:cNvPr id="30" name="Shape 28"/>
          <p:cNvSpPr/>
          <p:nvPr/>
        </p:nvSpPr>
        <p:spPr>
          <a:xfrm>
            <a:off x="-2928137" y="4921072"/>
            <a:ext cx="7184898" cy="7184898"/>
          </a:xfrm>
          <a:prstGeom prst="ellipse">
            <a:avLst/>
          </a:prstGeom>
          <a:solidFill>
            <a:srgbClr val="8A0F1A">
              <a:alpha val="2661"/>
            </a:srgbClr>
          </a:solidFill>
          <a:ln/>
        </p:spPr>
      </p:sp>
      <p:sp>
        <p:nvSpPr>
          <p:cNvPr id="31" name="Shape 29"/>
          <p:cNvSpPr/>
          <p:nvPr/>
        </p:nvSpPr>
        <p:spPr>
          <a:xfrm>
            <a:off x="-2748515" y="5100695"/>
            <a:ext cx="6825653" cy="6825653"/>
          </a:xfrm>
          <a:prstGeom prst="ellipse">
            <a:avLst/>
          </a:prstGeom>
          <a:solidFill>
            <a:srgbClr val="8A0F1A">
              <a:alpha val="3304"/>
            </a:srgbClr>
          </a:solidFill>
          <a:ln/>
        </p:spPr>
      </p:sp>
      <p:sp>
        <p:nvSpPr>
          <p:cNvPr id="32" name="Shape 30"/>
          <p:cNvSpPr/>
          <p:nvPr/>
        </p:nvSpPr>
        <p:spPr>
          <a:xfrm>
            <a:off x="-2568892" y="5280317"/>
            <a:ext cx="6466408" cy="6466408"/>
          </a:xfrm>
          <a:prstGeom prst="ellipse">
            <a:avLst/>
          </a:prstGeom>
          <a:solidFill>
            <a:srgbClr val="8A0F1A">
              <a:alpha val="3622"/>
            </a:srgbClr>
          </a:solidFill>
          <a:ln/>
        </p:spPr>
      </p:sp>
      <p:sp>
        <p:nvSpPr>
          <p:cNvPr id="33" name="Shape 31"/>
          <p:cNvSpPr/>
          <p:nvPr/>
        </p:nvSpPr>
        <p:spPr>
          <a:xfrm>
            <a:off x="-2389270" y="5459940"/>
            <a:ext cx="6107163" cy="6107163"/>
          </a:xfrm>
          <a:prstGeom prst="ellipse">
            <a:avLst/>
          </a:prstGeom>
          <a:solidFill>
            <a:srgbClr val="8A0F1A">
              <a:alpha val="3650"/>
            </a:srgbClr>
          </a:solidFill>
          <a:ln/>
        </p:spPr>
      </p:sp>
      <p:sp>
        <p:nvSpPr>
          <p:cNvPr id="34" name="Shape 32"/>
          <p:cNvSpPr/>
          <p:nvPr/>
        </p:nvSpPr>
        <p:spPr>
          <a:xfrm>
            <a:off x="-2209648" y="5639562"/>
            <a:ext cx="5747918" cy="5747918"/>
          </a:xfrm>
          <a:prstGeom prst="ellipse">
            <a:avLst/>
          </a:prstGeom>
          <a:solidFill>
            <a:srgbClr val="8A0F1A">
              <a:alpha val="3631"/>
            </a:srgbClr>
          </a:solidFill>
          <a:ln/>
        </p:spPr>
      </p:sp>
      <p:sp>
        <p:nvSpPr>
          <p:cNvPr id="35" name="Shape 33"/>
          <p:cNvSpPr/>
          <p:nvPr/>
        </p:nvSpPr>
        <p:spPr>
          <a:xfrm>
            <a:off x="-2030025" y="5819184"/>
            <a:ext cx="5388674" cy="5388674"/>
          </a:xfrm>
          <a:prstGeom prst="ellipse">
            <a:avLst/>
          </a:prstGeom>
          <a:solidFill>
            <a:srgbClr val="8A0F1A">
              <a:alpha val="3693"/>
            </a:srgbClr>
          </a:solidFill>
          <a:ln/>
        </p:spPr>
      </p:sp>
      <p:sp>
        <p:nvSpPr>
          <p:cNvPr id="36" name="Shape 34"/>
          <p:cNvSpPr/>
          <p:nvPr/>
        </p:nvSpPr>
        <p:spPr>
          <a:xfrm>
            <a:off x="-1850403" y="5998807"/>
            <a:ext cx="5029429" cy="5029429"/>
          </a:xfrm>
          <a:prstGeom prst="ellipse">
            <a:avLst/>
          </a:prstGeom>
          <a:solidFill>
            <a:srgbClr val="8A0F1A">
              <a:alpha val="4536"/>
            </a:srgbClr>
          </a:solidFill>
          <a:ln/>
        </p:spPr>
      </p:sp>
      <p:sp>
        <p:nvSpPr>
          <p:cNvPr id="37" name="Shape 35"/>
          <p:cNvSpPr/>
          <p:nvPr/>
        </p:nvSpPr>
        <p:spPr>
          <a:xfrm>
            <a:off x="-1670780" y="6178429"/>
            <a:ext cx="4670184" cy="4670184"/>
          </a:xfrm>
          <a:prstGeom prst="ellipse">
            <a:avLst/>
          </a:prstGeom>
          <a:solidFill>
            <a:srgbClr val="8A0F1A">
              <a:alpha val="4737"/>
            </a:srgbClr>
          </a:solidFill>
          <a:ln/>
        </p:spPr>
      </p:sp>
      <p:sp>
        <p:nvSpPr>
          <p:cNvPr id="38" name="Shape 36"/>
          <p:cNvSpPr/>
          <p:nvPr/>
        </p:nvSpPr>
        <p:spPr>
          <a:xfrm>
            <a:off x="-1491158" y="6358052"/>
            <a:ext cx="4310939" cy="4310939"/>
          </a:xfrm>
          <a:prstGeom prst="ellipse">
            <a:avLst/>
          </a:prstGeom>
          <a:solidFill>
            <a:srgbClr val="8A0F1A">
              <a:alpha val="4994"/>
            </a:srgbClr>
          </a:solidFill>
          <a:ln/>
        </p:spPr>
      </p:sp>
      <p:sp>
        <p:nvSpPr>
          <p:cNvPr id="39" name="Shape 37"/>
          <p:cNvSpPr/>
          <p:nvPr/>
        </p:nvSpPr>
        <p:spPr>
          <a:xfrm>
            <a:off x="-1311535" y="6537674"/>
            <a:ext cx="3951694" cy="3951694"/>
          </a:xfrm>
          <a:prstGeom prst="ellipse">
            <a:avLst/>
          </a:prstGeom>
          <a:solidFill>
            <a:srgbClr val="8A0F1A">
              <a:alpha val="5272"/>
            </a:srgbClr>
          </a:solidFill>
          <a:ln/>
        </p:spPr>
      </p:sp>
      <p:sp>
        <p:nvSpPr>
          <p:cNvPr id="40" name="Shape 38"/>
          <p:cNvSpPr/>
          <p:nvPr/>
        </p:nvSpPr>
        <p:spPr>
          <a:xfrm>
            <a:off x="-1131913" y="6717297"/>
            <a:ext cx="3592449" cy="3592449"/>
          </a:xfrm>
          <a:prstGeom prst="ellipse">
            <a:avLst/>
          </a:prstGeom>
          <a:solidFill>
            <a:srgbClr val="8A0F1A">
              <a:alpha val="5521"/>
            </a:srgbClr>
          </a:solidFill>
          <a:ln/>
        </p:spPr>
      </p:sp>
      <p:sp>
        <p:nvSpPr>
          <p:cNvPr id="41" name="Shape 39"/>
          <p:cNvSpPr/>
          <p:nvPr/>
        </p:nvSpPr>
        <p:spPr>
          <a:xfrm>
            <a:off x="-952290" y="6896919"/>
            <a:ext cx="3233204" cy="3233204"/>
          </a:xfrm>
          <a:prstGeom prst="ellipse">
            <a:avLst/>
          </a:prstGeom>
          <a:solidFill>
            <a:srgbClr val="8A0F1A">
              <a:alpha val="6496"/>
            </a:srgbClr>
          </a:solidFill>
          <a:ln/>
        </p:spPr>
      </p:sp>
      <p:sp>
        <p:nvSpPr>
          <p:cNvPr id="42" name="Shape 40"/>
          <p:cNvSpPr/>
          <p:nvPr/>
        </p:nvSpPr>
        <p:spPr>
          <a:xfrm>
            <a:off x="-772668" y="7076542"/>
            <a:ext cx="2873959" cy="2873959"/>
          </a:xfrm>
          <a:prstGeom prst="ellipse">
            <a:avLst/>
          </a:prstGeom>
          <a:solidFill>
            <a:srgbClr val="8A0F1A">
              <a:alpha val="6768"/>
            </a:srgbClr>
          </a:solidFill>
          <a:ln/>
        </p:spPr>
      </p:sp>
      <p:sp>
        <p:nvSpPr>
          <p:cNvPr id="43" name="Shape 41"/>
          <p:cNvSpPr/>
          <p:nvPr/>
        </p:nvSpPr>
        <p:spPr>
          <a:xfrm>
            <a:off x="-593046" y="7256164"/>
            <a:ext cx="2514714" cy="2514714"/>
          </a:xfrm>
          <a:prstGeom prst="ellipse">
            <a:avLst/>
          </a:prstGeom>
          <a:solidFill>
            <a:srgbClr val="8A0F1A">
              <a:alpha val="7123"/>
            </a:srgbClr>
          </a:solidFill>
          <a:ln/>
        </p:spPr>
      </p:sp>
      <p:sp>
        <p:nvSpPr>
          <p:cNvPr id="44" name="Shape 42"/>
          <p:cNvSpPr/>
          <p:nvPr/>
        </p:nvSpPr>
        <p:spPr>
          <a:xfrm>
            <a:off x="-413423" y="7435787"/>
            <a:ext cx="2155469" cy="2155469"/>
          </a:xfrm>
          <a:prstGeom prst="ellipse">
            <a:avLst/>
          </a:prstGeom>
          <a:solidFill>
            <a:srgbClr val="8A0F1A">
              <a:alpha val="7486"/>
            </a:srgbClr>
          </a:solidFill>
          <a:ln/>
        </p:spPr>
      </p:sp>
      <p:sp>
        <p:nvSpPr>
          <p:cNvPr id="45" name="Shape 43"/>
          <p:cNvSpPr/>
          <p:nvPr/>
        </p:nvSpPr>
        <p:spPr>
          <a:xfrm>
            <a:off x="-233801" y="7615409"/>
            <a:ext cx="1796225" cy="1796225"/>
          </a:xfrm>
          <a:prstGeom prst="ellipse">
            <a:avLst/>
          </a:prstGeom>
          <a:solidFill>
            <a:srgbClr val="8A0F1A">
              <a:alpha val="8191"/>
            </a:srgbClr>
          </a:solidFill>
          <a:ln/>
        </p:spPr>
      </p:sp>
      <p:sp>
        <p:nvSpPr>
          <p:cNvPr id="46" name="Shape 44"/>
          <p:cNvSpPr/>
          <p:nvPr/>
        </p:nvSpPr>
        <p:spPr>
          <a:xfrm>
            <a:off x="-54178" y="7795031"/>
            <a:ext cx="1436980" cy="1436980"/>
          </a:xfrm>
          <a:prstGeom prst="ellipse">
            <a:avLst/>
          </a:prstGeom>
          <a:solidFill>
            <a:srgbClr val="8A0F1A">
              <a:alpha val="9466"/>
            </a:srgbClr>
          </a:solidFill>
          <a:ln/>
        </p:spPr>
      </p:sp>
      <p:sp>
        <p:nvSpPr>
          <p:cNvPr id="47" name="Shape 45"/>
          <p:cNvSpPr/>
          <p:nvPr/>
        </p:nvSpPr>
        <p:spPr>
          <a:xfrm>
            <a:off x="125444" y="7974654"/>
            <a:ext cx="1077735" cy="1077735"/>
          </a:xfrm>
          <a:prstGeom prst="ellipse">
            <a:avLst/>
          </a:prstGeom>
          <a:solidFill>
            <a:srgbClr val="8A0F1A">
              <a:alpha val="10120"/>
            </a:srgbClr>
          </a:solidFill>
          <a:ln/>
        </p:spPr>
      </p:sp>
      <p:sp>
        <p:nvSpPr>
          <p:cNvPr id="48" name="Shape 46"/>
          <p:cNvSpPr/>
          <p:nvPr/>
        </p:nvSpPr>
        <p:spPr>
          <a:xfrm>
            <a:off x="305067" y="8154276"/>
            <a:ext cx="718490" cy="718490"/>
          </a:xfrm>
          <a:prstGeom prst="ellipse">
            <a:avLst/>
          </a:prstGeom>
          <a:solidFill>
            <a:srgbClr val="8A0F1A">
              <a:alpha val="10280"/>
            </a:srgbClr>
          </a:solidFill>
          <a:ln/>
        </p:spPr>
      </p:sp>
      <p:sp>
        <p:nvSpPr>
          <p:cNvPr id="49" name="Shape 47"/>
          <p:cNvSpPr/>
          <p:nvPr/>
        </p:nvSpPr>
        <p:spPr>
          <a:xfrm>
            <a:off x="484689" y="8333899"/>
            <a:ext cx="359245" cy="359245"/>
          </a:xfrm>
          <a:prstGeom prst="ellipse">
            <a:avLst/>
          </a:prstGeom>
          <a:solidFill>
            <a:srgbClr val="8A0F1A">
              <a:alpha val="10999"/>
            </a:srgbClr>
          </a:solidFill>
          <a:ln/>
        </p:spPr>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P3 Back-office workflow</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Skeleton</a:t>
            </a:r>
          </a:p>
        </p:txBody>
      </p:sp>
      <p:sp>
        <p:nvSpPr>
          <p:cNvPr id="53" name="Text 51"/>
          <p:cNvSpPr/>
          <p:nvPr/>
        </p:nvSpPr>
        <p:spPr>
          <a:xfrm>
            <a:off x="1351483" y="2268626"/>
            <a:ext cx="2103120" cy="646481"/>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first</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5" name="Text 53"/>
          <p:cNvSpPr/>
          <p:nvPr/>
        </p:nvSpPr>
        <p:spPr>
          <a:xfrm>
            <a:off x="689458" y="301752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Where the steps are known, use a workflow, not an open-ended agent [23][25]. Eval checks the final state [22]; the main controls are tool scopes and approvals tiered by reversibility [20].</a:t>
            </a:r>
          </a:p>
        </p:txBody>
      </p:sp>
      <p:sp>
        <p:nvSpPr>
          <p:cNvPr id="56" name="Text 54"/>
          <p:cNvSpPr/>
          <p:nvPr/>
        </p:nvSpPr>
        <p:spPr>
          <a:xfrm>
            <a:off x="689458" y="489204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Vendor-built agents act on our systems only through our MCP tools. Their workflow logic stays theirs.</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Ours / partner</a:t>
            </a:r>
          </a:p>
        </p:txBody>
      </p:sp>
      <p:sp>
        <p:nvSpPr>
          <p:cNvPr id="59" name="Shape 57"/>
          <p:cNvSpPr/>
          <p:nvPr/>
        </p:nvSpPr>
        <p:spPr>
          <a:xfrm>
            <a:off x="6245352" y="5516575"/>
            <a:ext cx="1600200" cy="374904"/>
          </a:xfrm>
          <a:prstGeom prst="roundRect">
            <a:avLst>
              <a:gd name="adj" fmla="val 50000"/>
            </a:avLst>
          </a:prstGeom>
          <a:solidFill>
            <a:srgbClr val="F5B700"/>
          </a:solidFill>
          <a:ln/>
        </p:spPr>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Gap: build</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Third-party</a:t>
            </a:r>
          </a:p>
        </p:txBody>
      </p:sp>
      <p:sp>
        <p:nvSpPr>
          <p:cNvPr id="63" name="Shape 61"/>
          <p:cNvSpPr/>
          <p:nvPr/>
        </p:nvSpPr>
        <p:spPr>
          <a:xfrm rot="19800000">
            <a:off x="3895344" y="5657393"/>
            <a:ext cx="95098" cy="95098"/>
          </a:xfrm>
          <a:prstGeom prst="rect">
            <a:avLst/>
          </a:prstGeom>
          <a:solidFill>
            <a:srgbClr val="CC0000"/>
          </a:solidFill>
          <a:ln/>
        </p:spPr>
      </p:sp>
      <p:sp>
        <p:nvSpPr>
          <p:cNvPr id="167" name="g2 167"/>
          <p:cNvSpPr/>
          <p:nvPr/>
        </p:nvSpPr>
        <p:spPr>
          <a:xfrm>
            <a:off x="3749040" y="1243584"/>
            <a:ext cx="39776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deterministic skeleton, agentic steps</a:t>
            </a:r>
          </a:p>
        </p:txBody>
      </p:sp>
      <p:sp>
        <p:nvSpPr>
          <p:cNvPr id="168" name="g2 168"/>
          <p:cNvSpPr/>
          <p:nvPr/>
        </p:nvSpPr>
        <p:spPr>
          <a:xfrm>
            <a:off x="8001000" y="1243584"/>
            <a:ext cx="214884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a:t>
            </a:r>
          </a:p>
        </p:txBody>
      </p:sp>
      <p:sp>
        <p:nvSpPr>
          <p:cNvPr id="169" name="g2 169"/>
          <p:cNvSpPr/>
          <p:nvPr/>
        </p:nvSpPr>
        <p:spPr>
          <a:xfrm>
            <a:off x="10195560" y="1243584"/>
            <a:ext cx="1737360" cy="201168"/>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a:t>
            </a:r>
          </a:p>
        </p:txBody>
      </p:sp>
      <p:sp>
        <p:nvSpPr>
          <p:cNvPr id="170" name="g2 170"/>
          <p:cNvSpPr/>
          <p:nvPr/>
        </p:nvSpPr>
        <p:spPr>
          <a:xfrm>
            <a:off x="3749040" y="1463040"/>
            <a:ext cx="178308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Workflow skeleton</a:t>
            </a:r>
          </a:p>
          <a:p>
            <a:pPr algn="l" marL="0" indent="0">
              <a:lnSpc>
                <a:spcPct val="100000"/>
              </a:lnSpc>
              <a:buNone/>
            </a:pPr>
            <a:r>
              <a:rPr lang="en-US" sz="800" dirty="0">
                <a:solidFill>
                  <a:srgbClr val="F3E6D6"/>
                </a:solidFill>
                <a:latin typeface="Arial"/>
                <a:ea typeface="Arial"/>
                <a:cs typeface="Arial"/>
              </a:rPr>
              <a:t>Strands / LangGraph graph · case ID on every span</a:t>
            </a:r>
          </a:p>
        </p:txBody>
      </p:sp>
      <p:sp>
        <p:nvSpPr>
          <p:cNvPr id="171" name="g2 171"/>
          <p:cNvSpPr/>
          <p:nvPr/>
        </p:nvSpPr>
        <p:spPr>
          <a:xfrm>
            <a:off x="3749040" y="2514600"/>
            <a:ext cx="178308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Agentic step</a:t>
            </a:r>
          </a:p>
          <a:p>
            <a:pPr algn="l" marL="0" indent="0">
              <a:lnSpc>
                <a:spcPct val="100000"/>
              </a:lnSpc>
              <a:buNone/>
            </a:pPr>
            <a:r>
              <a:rPr lang="en-US" sz="800" dirty="0">
                <a:solidFill>
                  <a:srgbClr val="F3E6D6"/>
                </a:solidFill>
                <a:latin typeface="Arial"/>
                <a:ea typeface="Arial"/>
                <a:cs typeface="Arial"/>
              </a:rPr>
              <a:t>only where needed · GEPA tunes prompts + tool text</a:t>
            </a:r>
          </a:p>
        </p:txBody>
      </p:sp>
      <p:sp>
        <p:nvSpPr>
          <p:cNvPr id="172" name="g2 172"/>
          <p:cNvSpPr/>
          <p:nvPr/>
        </p:nvSpPr>
        <p:spPr>
          <a:xfrm>
            <a:off x="3749040" y="3566160"/>
            <a:ext cx="178308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End-state verifier</a:t>
            </a:r>
          </a:p>
          <a:p>
            <a:pPr algn="l" marL="0" indent="0">
              <a:lnSpc>
                <a:spcPct val="100000"/>
              </a:lnSpc>
              <a:buNone/>
            </a:pPr>
            <a:r>
              <a:rPr lang="en-US" sz="800" dirty="0">
                <a:solidFill>
                  <a:srgbClr val="F3E6D6"/>
                </a:solidFill>
                <a:latin typeface="Arial"/>
                <a:ea typeface="Arial"/>
                <a:cs typeface="Arial"/>
              </a:rPr>
              <a:t>case-level, in simulation and production</a:t>
            </a:r>
          </a:p>
        </p:txBody>
      </p:sp>
      <p:sp>
        <p:nvSpPr>
          <p:cNvPr id="173" name="g2 173"/>
          <p:cNvSpPr/>
          <p:nvPr/>
        </p:nvSpPr>
        <p:spPr>
          <a:xfrm>
            <a:off x="5806440" y="146304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HITL by reversibility</a:t>
            </a:r>
          </a:p>
          <a:p>
            <a:pPr algn="l" marL="0" indent="0">
              <a:lnSpc>
                <a:spcPct val="100000"/>
              </a:lnSpc>
              <a:buNone/>
            </a:pPr>
            <a:r>
              <a:rPr lang="en-US" sz="800" dirty="0">
                <a:solidFill>
                  <a:srgbClr val="F3E6D6"/>
                </a:solidFill>
                <a:latin typeface="Arial"/>
                <a:ea typeface="Arial"/>
                <a:cs typeface="Arial"/>
              </a:rPr>
              <a:t>irreversible actions only; approval summarised from tool calls</a:t>
            </a:r>
          </a:p>
        </p:txBody>
      </p:sp>
      <p:sp>
        <p:nvSpPr>
          <p:cNvPr id="174" name="g2 174"/>
          <p:cNvSpPr/>
          <p:nvPr/>
        </p:nvSpPr>
        <p:spPr>
          <a:xfrm>
            <a:off x="5806440" y="251460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MCP gateway + Cedar / OPA</a:t>
            </a:r>
          </a:p>
          <a:p>
            <a:pPr algn="l" marL="0" indent="0">
              <a:lnSpc>
                <a:spcPct val="100000"/>
              </a:lnSpc>
              <a:buNone/>
            </a:pPr>
            <a:r>
              <a:rPr lang="en-US" sz="800" dirty="0">
                <a:solidFill>
                  <a:srgbClr val="F3E6D6"/>
                </a:solidFill>
                <a:latin typeface="Arial"/>
                <a:ea typeface="Arial"/>
                <a:cs typeface="Arial"/>
              </a:rPr>
              <a:t>scopes per tool · idempotency keys</a:t>
            </a:r>
          </a:p>
        </p:txBody>
      </p:sp>
      <p:sp>
        <p:nvSpPr>
          <p:cNvPr id="175" name="g2 175"/>
          <p:cNvSpPr/>
          <p:nvPr/>
        </p:nvSpPr>
        <p:spPr>
          <a:xfrm>
            <a:off x="5806440" y="356616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Systems of record</a:t>
            </a:r>
          </a:p>
          <a:p>
            <a:pPr algn="l" marL="0" indent="0">
              <a:lnSpc>
                <a:spcPct val="100000"/>
              </a:lnSpc>
              <a:buNone/>
            </a:pPr>
            <a:r>
              <a:rPr lang="en-US" sz="800" dirty="0">
                <a:solidFill>
                  <a:srgbClr val="F3E6D6"/>
                </a:solidFill>
                <a:latin typeface="Arial"/>
                <a:ea typeface="Arial"/>
                <a:cs typeface="Arial"/>
              </a:rPr>
              <a:t>orders · billing · contracts · audit trail to SIEM</a:t>
            </a:r>
          </a:p>
        </p:txBody>
      </p:sp>
      <p:sp>
        <p:nvSpPr>
          <p:cNvPr id="176" name="g2 176"/>
          <p:cNvSpPr/>
          <p:nvPr/>
        </p:nvSpPr>
        <p:spPr>
          <a:xfrm>
            <a:off x="8001000" y="1463040"/>
            <a:ext cx="1920240" cy="7315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Vendor-built workflow agents</a:t>
            </a:r>
          </a:p>
          <a:p>
            <a:pPr algn="l" marL="0" indent="0">
              <a:lnSpc>
                <a:spcPct val="100000"/>
              </a:lnSpc>
              <a:buNone/>
            </a:pPr>
            <a:r>
              <a:rPr lang="en-US" sz="800" dirty="0">
                <a:solidFill>
                  <a:srgbClr val="F3E6D6"/>
                </a:solidFill>
                <a:latin typeface="Arial"/>
                <a:ea typeface="Arial"/>
                <a:cs typeface="Arial"/>
              </a:rPr>
              <a:t>e.g. CES, Google, CRA; their logic, not ours</a:t>
            </a:r>
          </a:p>
        </p:txBody>
      </p:sp>
      <p:sp>
        <p:nvSpPr>
          <p:cNvPr id="177" name="g2 177"/>
          <p:cNvSpPr/>
          <p:nvPr/>
        </p:nvSpPr>
        <p:spPr>
          <a:xfrm>
            <a:off x="8001000" y="2514600"/>
            <a:ext cx="1920240" cy="7315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Our MCP tools they call</a:t>
            </a:r>
          </a:p>
          <a:p>
            <a:pPr algn="l" marL="0" indent="0">
              <a:lnSpc>
                <a:spcPct val="100000"/>
              </a:lnSpc>
              <a:buNone/>
            </a:pPr>
            <a:r>
              <a:rPr lang="en-US" sz="800" dirty="0">
                <a:solidFill>
                  <a:srgbClr val="F3E6D6"/>
                </a:solidFill>
                <a:latin typeface="Arial"/>
                <a:ea typeface="Arial"/>
                <a:cs typeface="Arial"/>
              </a:rPr>
              <a:t>scopes · rate limits · masking · service accounts</a:t>
            </a:r>
          </a:p>
        </p:txBody>
      </p:sp>
      <p:sp>
        <p:nvSpPr>
          <p:cNvPr id="178" name="g2 178"/>
          <p:cNvSpPr/>
          <p:nvPr/>
        </p:nvSpPr>
        <p:spPr>
          <a:xfrm>
            <a:off x="8001000" y="3566160"/>
            <a:ext cx="1920240" cy="7315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50" b="1" dirty="0">
                <a:solidFill>
                  <a:srgbClr val="FFFFFF"/>
                </a:solidFill>
                <a:latin typeface="Arial"/>
                <a:ea typeface="Arial"/>
                <a:cs typeface="Arial"/>
              </a:rPr>
              <a:t>AI Control Tower</a:t>
            </a:r>
          </a:p>
          <a:p>
            <a:pPr algn="l" marL="0" indent="0">
              <a:lnSpc>
                <a:spcPct val="100000"/>
              </a:lnSpc>
              <a:buNone/>
            </a:pPr>
            <a:r>
              <a:rPr lang="en-US" sz="800" dirty="0">
                <a:solidFill>
                  <a:srgbClr val="F3E6D6"/>
                </a:solidFill>
                <a:latin typeface="Arial"/>
                <a:ea typeface="Arial"/>
                <a:cs typeface="Arial"/>
              </a:rPr>
              <a:t>approve, pause, audit MCP [33]; registry syncs, not duplicates</a:t>
            </a:r>
          </a:p>
        </p:txBody>
      </p:sp>
      <p:sp>
        <p:nvSpPr>
          <p:cNvPr id="179" name="g2 179"/>
          <p:cNvSpPr/>
          <p:nvPr/>
        </p:nvSpPr>
        <p:spPr>
          <a:xfrm>
            <a:off x="10195560" y="1463040"/>
            <a:ext cx="1737360" cy="7315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50" b="1" dirty="0">
                <a:solidFill>
                  <a:srgbClr val="141010"/>
                </a:solidFill>
                <a:latin typeface="Arial"/>
                <a:ea typeface="Arial"/>
                <a:cs typeface="Arial"/>
              </a:rPr>
              <a:t>Verifier library</a:t>
            </a:r>
          </a:p>
          <a:p>
            <a:pPr algn="l" marL="0" indent="0">
              <a:lnSpc>
                <a:spcPct val="100000"/>
              </a:lnSpc>
              <a:buNone/>
            </a:pPr>
            <a:r>
              <a:rPr lang="en-US" sz="800" dirty="0">
                <a:solidFill>
                  <a:srgbClr val="141010"/>
                </a:solidFill>
                <a:latin typeface="Arial"/>
                <a:ea typeface="Arial"/>
                <a:cs typeface="Arial"/>
              </a:rPr>
              <a:t>reusable case-level end-state checks</a:t>
            </a:r>
          </a:p>
        </p:txBody>
      </p:sp>
      <p:sp>
        <p:nvSpPr>
          <p:cNvPr id="180" name="g2 180"/>
          <p:cNvSpPr/>
          <p:nvPr/>
        </p:nvSpPr>
        <p:spPr>
          <a:xfrm>
            <a:off x="10195560" y="2514600"/>
            <a:ext cx="1737360" cy="7315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50" b="1" dirty="0">
                <a:solidFill>
                  <a:srgbClr val="141010"/>
                </a:solidFill>
                <a:latin typeface="Arial"/>
                <a:ea typeface="Arial"/>
                <a:cs typeface="Arial"/>
              </a:rPr>
              <a:t>Reversibility metadata</a:t>
            </a:r>
          </a:p>
          <a:p>
            <a:pPr algn="l" marL="0" indent="0">
              <a:lnSpc>
                <a:spcPct val="100000"/>
              </a:lnSpc>
              <a:buNone/>
            </a:pPr>
            <a:r>
              <a:rPr lang="en-US" sz="800" dirty="0">
                <a:solidFill>
                  <a:srgbClr val="141010"/>
                </a:solidFill>
                <a:latin typeface="Arial"/>
                <a:ea typeface="Arial"/>
                <a:cs typeface="Arial"/>
              </a:rPr>
              <a:t>on every tool, to drive tiered HITL</a:t>
            </a:r>
          </a:p>
        </p:txBody>
      </p:sp>
      <p:sp>
        <p:nvSpPr>
          <p:cNvPr id="181" name="g2 181"/>
          <p:cNvSpPr/>
          <p:nvPr/>
        </p:nvSpPr>
        <p:spPr>
          <a:xfrm>
            <a:off x="10195560" y="3566160"/>
            <a:ext cx="1737360" cy="73152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50" b="1" dirty="0">
                <a:solidFill>
                  <a:srgbClr val="141010"/>
                </a:solidFill>
                <a:latin typeface="Arial"/>
                <a:ea typeface="Arial"/>
                <a:cs typeface="Arial"/>
              </a:rPr>
              <a:t>Third-party inventory</a:t>
            </a:r>
          </a:p>
          <a:p>
            <a:pPr algn="l" marL="0" indent="0">
              <a:lnSpc>
                <a:spcPct val="100000"/>
              </a:lnSpc>
              <a:buNone/>
            </a:pPr>
            <a:r>
              <a:rPr lang="en-US" sz="800" dirty="0">
                <a:solidFill>
                  <a:srgbClr val="141010"/>
                </a:solidFill>
                <a:latin typeface="Arial"/>
                <a:ea typeface="Arial"/>
                <a:cs typeface="Arial"/>
              </a:rPr>
              <a:t>ServiceNow / Agentforce / Agent 365 feed into our registry</a:t>
            </a:r>
          </a:p>
        </p:txBody>
      </p:sp>
      <p:cxnSp>
        <p:nvCxnSpPr>
          <p:cNvPr id="182" name="g2 flow 182"/>
          <p:cNvCxnSpPr/>
          <p:nvPr/>
        </p:nvCxnSpPr>
        <p:spPr>
          <a:xfrm>
            <a:off x="4640580" y="2194560"/>
            <a:ext cx="0" cy="320040"/>
          </a:xfrm>
          <a:prstGeom prst="line">
            <a:avLst/>
          </a:prstGeom>
          <a:ln w="12700">
            <a:solidFill>
              <a:srgbClr val="EE0000"/>
            </a:solidFill>
            <a:tailEnd type="triangle" w="med" len="med"/>
          </a:ln>
        </p:spPr>
      </p:cxnSp>
      <p:cxnSp>
        <p:nvCxnSpPr>
          <p:cNvPr id="183" name="g2 flow 183"/>
          <p:cNvCxnSpPr/>
          <p:nvPr/>
        </p:nvCxnSpPr>
        <p:spPr>
          <a:xfrm>
            <a:off x="5532120" y="2990088"/>
            <a:ext cx="274320" cy="0"/>
          </a:xfrm>
          <a:prstGeom prst="line">
            <a:avLst/>
          </a:prstGeom>
          <a:ln w="12700">
            <a:solidFill>
              <a:srgbClr val="EE0000"/>
            </a:solidFill>
            <a:tailEnd type="triangle" w="med" len="med"/>
          </a:ln>
        </p:spPr>
      </p:cxnSp>
      <p:cxnSp>
        <p:nvCxnSpPr>
          <p:cNvPr id="184" name="g2 flow 184"/>
          <p:cNvCxnSpPr/>
          <p:nvPr/>
        </p:nvCxnSpPr>
        <p:spPr>
          <a:xfrm flipV="1">
            <a:off x="5303520" y="2350008"/>
            <a:ext cx="0" cy="164592"/>
          </a:xfrm>
          <a:prstGeom prst="line">
            <a:avLst/>
          </a:prstGeom>
          <a:ln w="12700">
            <a:solidFill>
              <a:srgbClr val="EE0000"/>
            </a:solidFill>
          </a:ln>
        </p:spPr>
      </p:cxnSp>
      <p:cxnSp>
        <p:nvCxnSpPr>
          <p:cNvPr id="185" name="g2 flow 185"/>
          <p:cNvCxnSpPr/>
          <p:nvPr/>
        </p:nvCxnSpPr>
        <p:spPr>
          <a:xfrm>
            <a:off x="5303520" y="2350008"/>
            <a:ext cx="365760" cy="0"/>
          </a:xfrm>
          <a:prstGeom prst="line">
            <a:avLst/>
          </a:prstGeom>
          <a:ln w="12700">
            <a:solidFill>
              <a:srgbClr val="EE0000"/>
            </a:solidFill>
          </a:ln>
        </p:spPr>
      </p:cxnSp>
      <p:cxnSp>
        <p:nvCxnSpPr>
          <p:cNvPr id="186" name="g2 flow 186"/>
          <p:cNvCxnSpPr/>
          <p:nvPr/>
        </p:nvCxnSpPr>
        <p:spPr>
          <a:xfrm flipV="1">
            <a:off x="5669280" y="1828800"/>
            <a:ext cx="0" cy="521208"/>
          </a:xfrm>
          <a:prstGeom prst="line">
            <a:avLst/>
          </a:prstGeom>
          <a:ln w="12700">
            <a:solidFill>
              <a:srgbClr val="EE0000"/>
            </a:solidFill>
          </a:ln>
        </p:spPr>
      </p:cxnSp>
      <p:cxnSp>
        <p:nvCxnSpPr>
          <p:cNvPr id="187" name="g2 flow 187"/>
          <p:cNvCxnSpPr/>
          <p:nvPr/>
        </p:nvCxnSpPr>
        <p:spPr>
          <a:xfrm>
            <a:off x="5669280" y="1828800"/>
            <a:ext cx="137160" cy="0"/>
          </a:xfrm>
          <a:prstGeom prst="line">
            <a:avLst/>
          </a:prstGeom>
          <a:ln w="12700">
            <a:solidFill>
              <a:srgbClr val="EE0000"/>
            </a:solidFill>
            <a:tailEnd type="triangle" w="med" len="med"/>
          </a:ln>
        </p:spPr>
      </p:cxnSp>
      <p:cxnSp>
        <p:nvCxnSpPr>
          <p:cNvPr id="188" name="g2 flow 188"/>
          <p:cNvCxnSpPr/>
          <p:nvPr/>
        </p:nvCxnSpPr>
        <p:spPr>
          <a:xfrm>
            <a:off x="6766560" y="2194560"/>
            <a:ext cx="0" cy="320040"/>
          </a:xfrm>
          <a:prstGeom prst="line">
            <a:avLst/>
          </a:prstGeom>
          <a:ln w="12700">
            <a:solidFill>
              <a:srgbClr val="EE0000"/>
            </a:solidFill>
            <a:tailEnd type="triangle" w="med" len="med"/>
          </a:ln>
        </p:spPr>
      </p:cxnSp>
      <p:cxnSp>
        <p:nvCxnSpPr>
          <p:cNvPr id="189" name="g2 flow 189"/>
          <p:cNvCxnSpPr/>
          <p:nvPr/>
        </p:nvCxnSpPr>
        <p:spPr>
          <a:xfrm>
            <a:off x="6766560" y="3246120"/>
            <a:ext cx="0" cy="320040"/>
          </a:xfrm>
          <a:prstGeom prst="line">
            <a:avLst/>
          </a:prstGeom>
          <a:ln w="12700">
            <a:solidFill>
              <a:srgbClr val="EE0000"/>
            </a:solidFill>
            <a:tailEnd type="triangle" w="med" len="med"/>
          </a:ln>
        </p:spPr>
      </p:cxnSp>
      <p:cxnSp>
        <p:nvCxnSpPr>
          <p:cNvPr id="190" name="g2 flow 190"/>
          <p:cNvCxnSpPr/>
          <p:nvPr/>
        </p:nvCxnSpPr>
        <p:spPr>
          <a:xfrm flipH="1">
            <a:off x="5532120" y="3931920"/>
            <a:ext cx="274320" cy="0"/>
          </a:xfrm>
          <a:prstGeom prst="line">
            <a:avLst/>
          </a:prstGeom>
          <a:ln w="12700">
            <a:solidFill>
              <a:srgbClr val="EE0000"/>
            </a:solidFill>
            <a:tailEnd type="triangle" w="med" len="med"/>
          </a:ln>
        </p:spPr>
      </p:cxnSp>
      <p:cxnSp>
        <p:nvCxnSpPr>
          <p:cNvPr id="191" name="g2 flow 191"/>
          <p:cNvCxnSpPr/>
          <p:nvPr/>
        </p:nvCxnSpPr>
        <p:spPr>
          <a:xfrm>
            <a:off x="8961120" y="2194560"/>
            <a:ext cx="0" cy="320040"/>
          </a:xfrm>
          <a:prstGeom prst="line">
            <a:avLst/>
          </a:prstGeom>
          <a:ln w="12700">
            <a:solidFill>
              <a:srgbClr val="EE0000"/>
            </a:solidFill>
            <a:tailEnd type="triangle" w="med" len="med"/>
          </a:ln>
        </p:spPr>
      </p:cxnSp>
      <p:cxnSp>
        <p:nvCxnSpPr>
          <p:cNvPr id="192" name="g2 flow 192"/>
          <p:cNvCxnSpPr/>
          <p:nvPr/>
        </p:nvCxnSpPr>
        <p:spPr>
          <a:xfrm flipH="1">
            <a:off x="7726680" y="2880360"/>
            <a:ext cx="274320" cy="0"/>
          </a:xfrm>
          <a:prstGeom prst="line">
            <a:avLst/>
          </a:prstGeom>
          <a:ln w="12700">
            <a:solidFill>
              <a:srgbClr val="EE0000"/>
            </a:solidFill>
            <a:tailEnd type="triangle" w="med" len="med"/>
          </a:ln>
        </p:spPr>
      </p:cxnSp>
      <p:cxnSp>
        <p:nvCxnSpPr>
          <p:cNvPr id="193" name="g2 flow 193"/>
          <p:cNvCxnSpPr/>
          <p:nvPr/>
        </p:nvCxnSpPr>
        <p:spPr>
          <a:xfrm flipV="1">
            <a:off x="8961120" y="3246120"/>
            <a:ext cx="0" cy="320040"/>
          </a:xfrm>
          <a:prstGeom prst="line">
            <a:avLst/>
          </a:prstGeom>
          <a:ln w="12700">
            <a:solidFill>
              <a:srgbClr val="EE0000"/>
            </a:solidFill>
            <a:tailEnd type="triangle" w="med" len="med"/>
          </a:ln>
        </p:spPr>
      </p:cxnSp>
      <p:cxnSp>
        <p:nvCxnSpPr>
          <p:cNvPr id="194" name="g2 flow 194"/>
          <p:cNvCxnSpPr/>
          <p:nvPr/>
        </p:nvCxnSpPr>
        <p:spPr>
          <a:xfrm>
            <a:off x="9921240" y="1828800"/>
            <a:ext cx="274320" cy="0"/>
          </a:xfrm>
          <a:prstGeom prst="line">
            <a:avLst/>
          </a:prstGeom>
          <a:ln w="12700">
            <a:solidFill>
              <a:srgbClr val="EE0000"/>
            </a:solidFill>
            <a:prstDash val="dash"/>
            <a:tailEnd type="triangle" w="med" len="med"/>
          </a:ln>
        </p:spPr>
      </p:cxnSp>
      <p:cxnSp>
        <p:nvCxnSpPr>
          <p:cNvPr id="195" name="g2 flow 195"/>
          <p:cNvCxnSpPr/>
          <p:nvPr/>
        </p:nvCxnSpPr>
        <p:spPr>
          <a:xfrm>
            <a:off x="9921240" y="2880360"/>
            <a:ext cx="274320" cy="0"/>
          </a:xfrm>
          <a:prstGeom prst="line">
            <a:avLst/>
          </a:prstGeom>
          <a:ln w="12700">
            <a:solidFill>
              <a:srgbClr val="EE0000"/>
            </a:solidFill>
            <a:prstDash val="dash"/>
            <a:tailEnd type="triangle" w="med" len="med"/>
          </a:ln>
        </p:spPr>
      </p:cxnSp>
      <p:cxnSp>
        <p:nvCxnSpPr>
          <p:cNvPr id="196" name="g2 flow 196"/>
          <p:cNvCxnSpPr/>
          <p:nvPr/>
        </p:nvCxnSpPr>
        <p:spPr>
          <a:xfrm>
            <a:off x="9921240" y="3931920"/>
            <a:ext cx="274320" cy="0"/>
          </a:xfrm>
          <a:prstGeom prst="line">
            <a:avLst/>
          </a:prstGeom>
          <a:ln w="12700">
            <a:solidFill>
              <a:srgbClr val="EE0000"/>
            </a:solidFill>
            <a:prstDash val="dash"/>
            <a:tailEnd type="triangle" w="med" len="med"/>
          </a:ln>
        </p:spPr>
      </p:cxnSp>
      <p:sp>
        <p:nvSpPr>
          <p:cNvPr id="197" name="g2 197"/>
          <p:cNvSpPr/>
          <p:nvPr/>
        </p:nvSpPr>
        <p:spPr>
          <a:xfrm>
            <a:off x="3749040" y="4553712"/>
            <a:ext cx="8183880" cy="502920"/>
          </a:xfrm>
          <a:prstGeom prst="roundRect">
            <a:avLst>
              <a:gd name="adj" fmla="val 12000"/>
            </a:avLst>
          </a:prstGeom>
          <a:solidFill>
            <a:srgbClr val="2A1A16"/>
          </a:solidFill>
          <a:ln w="9525">
            <a:solidFill>
              <a:srgbClr val="A0704A"/>
            </a:solidFill>
          </a:ln>
        </p:spPr>
        <p:txBody>
          <a:bodyPr wrap="square" lIns="91440" tIns="27432" rIns="91440" bIns="27432" rtlCol="0" anchor="ctr">
            <a:noAutofit/>
          </a:bodyPr>
          <a:lstStyle/>
          <a:p>
            <a:pPr algn="l" marL="0" indent="0">
              <a:lnSpc>
                <a:spcPct val="100000"/>
              </a:lnSpc>
              <a:buNone/>
            </a:pPr>
            <a:r>
              <a:rPr lang="en-US" sz="1000" b="1" dirty="0">
                <a:solidFill>
                  <a:srgbClr val="FFFFFF"/>
                </a:solidFill>
                <a:latin typeface="Arial"/>
                <a:ea typeface="Arial"/>
                <a:cs typeface="Arial"/>
              </a:rPr>
              <a:t>Why it matters (Gartner)</a:t>
            </a:r>
          </a:p>
          <a:p>
            <a:pPr algn="l" marL="0" indent="0">
              <a:lnSpc>
                <a:spcPct val="100000"/>
              </a:lnSpc>
              <a:buNone/>
            </a:pPr>
            <a:r>
              <a:rPr lang="en-US" sz="850" dirty="0">
                <a:solidFill>
                  <a:srgbClr val="F3E6D6"/>
                </a:solidFill>
                <a:latin typeface="Arial"/>
                <a:ea typeface="Arial"/>
                <a:cs typeface="Arial"/>
              </a:rPr>
              <a:t>40% of enterprise apps have task-specific agents by end-2026 [11]; sprawl step 2: inventory [6]; platforms must cover third-party AI [9]</a:t>
            </a:r>
          </a:p>
        </p:txBody>
      </p:sp>
      <p:sp>
        <p:nvSpPr>
          <p:cNvPr id="198" name="g2 198"/>
          <p:cNvSpPr/>
          <p:nvPr/>
        </p:nvSpPr>
        <p:spPr>
          <a:xfrm>
            <a:off x="9921240" y="5605272"/>
            <a:ext cx="2194560" cy="20116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Solid: case flow  ·  Dashed: gap</a:t>
            </a:r>
          </a:p>
        </p:txBody>
      </p:sp>
      <p:sp>
        <p:nvSpPr>
          <p:cNvPr id="199"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31 / 44</a:t>
            </a:r>
          </a:p>
        </p:txBody>
      </p:sp>
      <p:sp>
        <p:nvSpPr>
          <p:cNvPr id="200"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201"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6">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998525" y="3636569"/>
            <a:ext cx="8621878" cy="8621878"/>
          </a:xfrm>
          <a:prstGeom prst="ellipse">
            <a:avLst/>
          </a:prstGeom>
          <a:solidFill>
            <a:srgbClr val="8A0F1A">
              <a:alpha val="2547"/>
            </a:srgbClr>
          </a:solidFill>
          <a:ln/>
        </p:spPr>
      </p:sp>
      <p:sp>
        <p:nvSpPr>
          <p:cNvPr id="3" name="Shape 1"/>
          <p:cNvSpPr/>
          <p:nvPr/>
        </p:nvSpPr>
        <p:spPr>
          <a:xfrm>
            <a:off x="-818902" y="3816191"/>
            <a:ext cx="8262633" cy="8262633"/>
          </a:xfrm>
          <a:prstGeom prst="ellipse">
            <a:avLst/>
          </a:prstGeom>
          <a:solidFill>
            <a:srgbClr val="8A0F1A">
              <a:alpha val="4218"/>
            </a:srgbClr>
          </a:solidFill>
          <a:ln/>
        </p:spPr>
      </p:sp>
      <p:sp>
        <p:nvSpPr>
          <p:cNvPr id="4" name="Shape 2"/>
          <p:cNvSpPr/>
          <p:nvPr/>
        </p:nvSpPr>
        <p:spPr>
          <a:xfrm>
            <a:off x="-639280" y="3995814"/>
            <a:ext cx="7903388" cy="7903388"/>
          </a:xfrm>
          <a:prstGeom prst="ellipse">
            <a:avLst/>
          </a:prstGeom>
          <a:solidFill>
            <a:srgbClr val="8A0F1A">
              <a:alpha val="4138"/>
            </a:srgbClr>
          </a:solidFill>
          <a:ln/>
        </p:spPr>
      </p:sp>
      <p:sp>
        <p:nvSpPr>
          <p:cNvPr id="5" name="Shape 3"/>
          <p:cNvSpPr/>
          <p:nvPr/>
        </p:nvSpPr>
        <p:spPr>
          <a:xfrm>
            <a:off x="-459657" y="4175436"/>
            <a:ext cx="7544143" cy="7544143"/>
          </a:xfrm>
          <a:prstGeom prst="ellipse">
            <a:avLst/>
          </a:prstGeom>
          <a:solidFill>
            <a:srgbClr val="8A0F1A">
              <a:alpha val="2636"/>
            </a:srgbClr>
          </a:solidFill>
          <a:ln/>
        </p:spPr>
      </p:sp>
      <p:sp>
        <p:nvSpPr>
          <p:cNvPr id="6" name="Shape 4"/>
          <p:cNvSpPr/>
          <p:nvPr/>
        </p:nvSpPr>
        <p:spPr>
          <a:xfrm>
            <a:off x="-280035" y="4355059"/>
            <a:ext cx="7184898" cy="7184898"/>
          </a:xfrm>
          <a:prstGeom prst="ellipse">
            <a:avLst/>
          </a:prstGeom>
          <a:solidFill>
            <a:srgbClr val="8A0F1A">
              <a:alpha val="2661"/>
            </a:srgbClr>
          </a:solidFill>
          <a:ln/>
        </p:spPr>
      </p:sp>
      <p:sp>
        <p:nvSpPr>
          <p:cNvPr id="7" name="Shape 5"/>
          <p:cNvSpPr/>
          <p:nvPr/>
        </p:nvSpPr>
        <p:spPr>
          <a:xfrm>
            <a:off x="-100413" y="4534681"/>
            <a:ext cx="6825653" cy="6825653"/>
          </a:xfrm>
          <a:prstGeom prst="ellipse">
            <a:avLst/>
          </a:prstGeom>
          <a:solidFill>
            <a:srgbClr val="8A0F1A">
              <a:alpha val="3304"/>
            </a:srgbClr>
          </a:solidFill>
          <a:ln/>
        </p:spPr>
      </p:sp>
      <p:sp>
        <p:nvSpPr>
          <p:cNvPr id="8" name="Shape 6"/>
          <p:cNvSpPr/>
          <p:nvPr/>
        </p:nvSpPr>
        <p:spPr>
          <a:xfrm>
            <a:off x="79210" y="4714304"/>
            <a:ext cx="6466408" cy="6466408"/>
          </a:xfrm>
          <a:prstGeom prst="ellipse">
            <a:avLst/>
          </a:prstGeom>
          <a:solidFill>
            <a:srgbClr val="8A0F1A">
              <a:alpha val="3622"/>
            </a:srgbClr>
          </a:solidFill>
          <a:ln/>
        </p:spPr>
      </p:sp>
      <p:sp>
        <p:nvSpPr>
          <p:cNvPr id="9" name="Shape 7"/>
          <p:cNvSpPr/>
          <p:nvPr/>
        </p:nvSpPr>
        <p:spPr>
          <a:xfrm>
            <a:off x="258832" y="4893926"/>
            <a:ext cx="6107163" cy="6107163"/>
          </a:xfrm>
          <a:prstGeom prst="ellipse">
            <a:avLst/>
          </a:prstGeom>
          <a:solidFill>
            <a:srgbClr val="8A0F1A">
              <a:alpha val="3650"/>
            </a:srgbClr>
          </a:solidFill>
          <a:ln/>
        </p:spPr>
      </p:sp>
      <p:sp>
        <p:nvSpPr>
          <p:cNvPr id="10" name="Shape 8"/>
          <p:cNvSpPr/>
          <p:nvPr/>
        </p:nvSpPr>
        <p:spPr>
          <a:xfrm>
            <a:off x="438455" y="5073548"/>
            <a:ext cx="5747918" cy="5747918"/>
          </a:xfrm>
          <a:prstGeom prst="ellipse">
            <a:avLst/>
          </a:prstGeom>
          <a:solidFill>
            <a:srgbClr val="8A0F1A">
              <a:alpha val="3631"/>
            </a:srgbClr>
          </a:solidFill>
          <a:ln/>
        </p:spPr>
      </p:sp>
      <p:sp>
        <p:nvSpPr>
          <p:cNvPr id="11" name="Shape 9"/>
          <p:cNvSpPr/>
          <p:nvPr/>
        </p:nvSpPr>
        <p:spPr>
          <a:xfrm>
            <a:off x="618077" y="5253171"/>
            <a:ext cx="5388674" cy="5388674"/>
          </a:xfrm>
          <a:prstGeom prst="ellipse">
            <a:avLst/>
          </a:prstGeom>
          <a:solidFill>
            <a:srgbClr val="8A0F1A">
              <a:alpha val="3693"/>
            </a:srgbClr>
          </a:solidFill>
          <a:ln/>
        </p:spPr>
      </p:sp>
      <p:sp>
        <p:nvSpPr>
          <p:cNvPr id="12" name="Shape 10"/>
          <p:cNvSpPr/>
          <p:nvPr/>
        </p:nvSpPr>
        <p:spPr>
          <a:xfrm>
            <a:off x="797700" y="5432793"/>
            <a:ext cx="5029429" cy="5029429"/>
          </a:xfrm>
          <a:prstGeom prst="ellipse">
            <a:avLst/>
          </a:prstGeom>
          <a:solidFill>
            <a:srgbClr val="8A0F1A">
              <a:alpha val="4536"/>
            </a:srgbClr>
          </a:solidFill>
          <a:ln/>
        </p:spPr>
      </p:sp>
      <p:sp>
        <p:nvSpPr>
          <p:cNvPr id="13" name="Shape 11"/>
          <p:cNvSpPr/>
          <p:nvPr/>
        </p:nvSpPr>
        <p:spPr>
          <a:xfrm>
            <a:off x="977322" y="5612416"/>
            <a:ext cx="4670184" cy="4670184"/>
          </a:xfrm>
          <a:prstGeom prst="ellipse">
            <a:avLst/>
          </a:prstGeom>
          <a:solidFill>
            <a:srgbClr val="8A0F1A">
              <a:alpha val="4737"/>
            </a:srgbClr>
          </a:solidFill>
          <a:ln/>
        </p:spPr>
      </p:sp>
      <p:sp>
        <p:nvSpPr>
          <p:cNvPr id="14" name="Shape 12"/>
          <p:cNvSpPr/>
          <p:nvPr/>
        </p:nvSpPr>
        <p:spPr>
          <a:xfrm>
            <a:off x="1156945" y="5792038"/>
            <a:ext cx="4310939" cy="4310939"/>
          </a:xfrm>
          <a:prstGeom prst="ellipse">
            <a:avLst/>
          </a:prstGeom>
          <a:solidFill>
            <a:srgbClr val="8A0F1A">
              <a:alpha val="4994"/>
            </a:srgbClr>
          </a:solidFill>
          <a:ln/>
        </p:spPr>
      </p:sp>
      <p:sp>
        <p:nvSpPr>
          <p:cNvPr id="15" name="Shape 13"/>
          <p:cNvSpPr/>
          <p:nvPr/>
        </p:nvSpPr>
        <p:spPr>
          <a:xfrm>
            <a:off x="1336567" y="5971661"/>
            <a:ext cx="3951694" cy="3951694"/>
          </a:xfrm>
          <a:prstGeom prst="ellipse">
            <a:avLst/>
          </a:prstGeom>
          <a:solidFill>
            <a:srgbClr val="8A0F1A">
              <a:alpha val="5272"/>
            </a:srgbClr>
          </a:solidFill>
          <a:ln/>
        </p:spPr>
      </p:sp>
      <p:sp>
        <p:nvSpPr>
          <p:cNvPr id="16" name="Shape 14"/>
          <p:cNvSpPr/>
          <p:nvPr/>
        </p:nvSpPr>
        <p:spPr>
          <a:xfrm>
            <a:off x="1516189" y="6151283"/>
            <a:ext cx="3592449" cy="3592449"/>
          </a:xfrm>
          <a:prstGeom prst="ellipse">
            <a:avLst/>
          </a:prstGeom>
          <a:solidFill>
            <a:srgbClr val="8A0F1A">
              <a:alpha val="5521"/>
            </a:srgbClr>
          </a:solidFill>
          <a:ln/>
        </p:spPr>
      </p:sp>
      <p:sp>
        <p:nvSpPr>
          <p:cNvPr id="17" name="Shape 15"/>
          <p:cNvSpPr/>
          <p:nvPr/>
        </p:nvSpPr>
        <p:spPr>
          <a:xfrm>
            <a:off x="1695812" y="6330906"/>
            <a:ext cx="3233204" cy="3233204"/>
          </a:xfrm>
          <a:prstGeom prst="ellipse">
            <a:avLst/>
          </a:prstGeom>
          <a:solidFill>
            <a:srgbClr val="8A0F1A">
              <a:alpha val="6496"/>
            </a:srgbClr>
          </a:solidFill>
          <a:ln/>
        </p:spPr>
      </p:sp>
      <p:sp>
        <p:nvSpPr>
          <p:cNvPr id="18" name="Shape 16"/>
          <p:cNvSpPr/>
          <p:nvPr/>
        </p:nvSpPr>
        <p:spPr>
          <a:xfrm>
            <a:off x="1875434" y="6510528"/>
            <a:ext cx="2873959" cy="2873959"/>
          </a:xfrm>
          <a:prstGeom prst="ellipse">
            <a:avLst/>
          </a:prstGeom>
          <a:solidFill>
            <a:srgbClr val="8A0F1A">
              <a:alpha val="6768"/>
            </a:srgbClr>
          </a:solidFill>
          <a:ln/>
        </p:spPr>
      </p:sp>
      <p:sp>
        <p:nvSpPr>
          <p:cNvPr id="19" name="Shape 17"/>
          <p:cNvSpPr/>
          <p:nvPr/>
        </p:nvSpPr>
        <p:spPr>
          <a:xfrm>
            <a:off x="2055057" y="6690150"/>
            <a:ext cx="2514714" cy="2514714"/>
          </a:xfrm>
          <a:prstGeom prst="ellipse">
            <a:avLst/>
          </a:prstGeom>
          <a:solidFill>
            <a:srgbClr val="8A0F1A">
              <a:alpha val="7123"/>
            </a:srgbClr>
          </a:solidFill>
          <a:ln/>
        </p:spPr>
      </p:sp>
      <p:sp>
        <p:nvSpPr>
          <p:cNvPr id="20" name="Shape 18"/>
          <p:cNvSpPr/>
          <p:nvPr/>
        </p:nvSpPr>
        <p:spPr>
          <a:xfrm>
            <a:off x="2234679" y="6869773"/>
            <a:ext cx="2155469" cy="2155469"/>
          </a:xfrm>
          <a:prstGeom prst="ellipse">
            <a:avLst/>
          </a:prstGeom>
          <a:solidFill>
            <a:srgbClr val="8A0F1A">
              <a:alpha val="7486"/>
            </a:srgbClr>
          </a:solidFill>
          <a:ln/>
        </p:spPr>
      </p:sp>
      <p:sp>
        <p:nvSpPr>
          <p:cNvPr id="21" name="Shape 19"/>
          <p:cNvSpPr/>
          <p:nvPr/>
        </p:nvSpPr>
        <p:spPr>
          <a:xfrm>
            <a:off x="2414302" y="7049395"/>
            <a:ext cx="1796225" cy="1796225"/>
          </a:xfrm>
          <a:prstGeom prst="ellipse">
            <a:avLst/>
          </a:prstGeom>
          <a:solidFill>
            <a:srgbClr val="8A0F1A">
              <a:alpha val="8191"/>
            </a:srgbClr>
          </a:solidFill>
          <a:ln/>
        </p:spPr>
      </p:sp>
      <p:sp>
        <p:nvSpPr>
          <p:cNvPr id="22" name="Shape 20"/>
          <p:cNvSpPr/>
          <p:nvPr/>
        </p:nvSpPr>
        <p:spPr>
          <a:xfrm>
            <a:off x="2593924" y="7229018"/>
            <a:ext cx="1436980" cy="1436980"/>
          </a:xfrm>
          <a:prstGeom prst="ellipse">
            <a:avLst/>
          </a:prstGeom>
          <a:solidFill>
            <a:srgbClr val="8A0F1A">
              <a:alpha val="9466"/>
            </a:srgbClr>
          </a:solidFill>
          <a:ln/>
        </p:spPr>
      </p:sp>
      <p:sp>
        <p:nvSpPr>
          <p:cNvPr id="23" name="Shape 21"/>
          <p:cNvSpPr/>
          <p:nvPr/>
        </p:nvSpPr>
        <p:spPr>
          <a:xfrm>
            <a:off x="2773547" y="7408640"/>
            <a:ext cx="1077735" cy="1077735"/>
          </a:xfrm>
          <a:prstGeom prst="ellipse">
            <a:avLst/>
          </a:prstGeom>
          <a:solidFill>
            <a:srgbClr val="8A0F1A">
              <a:alpha val="10120"/>
            </a:srgbClr>
          </a:solidFill>
          <a:ln/>
        </p:spPr>
      </p:sp>
      <p:sp>
        <p:nvSpPr>
          <p:cNvPr id="24" name="Shape 22"/>
          <p:cNvSpPr/>
          <p:nvPr/>
        </p:nvSpPr>
        <p:spPr>
          <a:xfrm>
            <a:off x="2953169" y="7588263"/>
            <a:ext cx="718490" cy="718490"/>
          </a:xfrm>
          <a:prstGeom prst="ellipse">
            <a:avLst/>
          </a:prstGeom>
          <a:solidFill>
            <a:srgbClr val="8A0F1A">
              <a:alpha val="10280"/>
            </a:srgbClr>
          </a:solidFill>
          <a:ln/>
        </p:spPr>
      </p:sp>
      <p:sp>
        <p:nvSpPr>
          <p:cNvPr id="25" name="Shape 23"/>
          <p:cNvSpPr/>
          <p:nvPr/>
        </p:nvSpPr>
        <p:spPr>
          <a:xfrm>
            <a:off x="3132792" y="7767885"/>
            <a:ext cx="359245" cy="359245"/>
          </a:xfrm>
          <a:prstGeom prst="ellipse">
            <a:avLst/>
          </a:prstGeom>
          <a:solidFill>
            <a:srgbClr val="8A0F1A">
              <a:alpha val="10999"/>
            </a:srgbClr>
          </a:solidFill>
          <a:ln/>
        </p:spPr>
      </p:sp>
      <p:sp>
        <p:nvSpPr>
          <p:cNvPr id="26" name="Shape 24"/>
          <p:cNvSpPr/>
          <p:nvPr/>
        </p:nvSpPr>
        <p:spPr>
          <a:xfrm>
            <a:off x="-3478378" y="-5801868"/>
            <a:ext cx="8621878" cy="8621878"/>
          </a:xfrm>
          <a:prstGeom prst="ellipse">
            <a:avLst/>
          </a:prstGeom>
          <a:solidFill>
            <a:srgbClr val="8A0F1A">
              <a:alpha val="2547"/>
            </a:srgbClr>
          </a:solidFill>
          <a:ln/>
        </p:spPr>
      </p:sp>
      <p:sp>
        <p:nvSpPr>
          <p:cNvPr id="27" name="Shape 25"/>
          <p:cNvSpPr/>
          <p:nvPr/>
        </p:nvSpPr>
        <p:spPr>
          <a:xfrm>
            <a:off x="-3298755" y="-5622246"/>
            <a:ext cx="8262633" cy="8262633"/>
          </a:xfrm>
          <a:prstGeom prst="ellipse">
            <a:avLst/>
          </a:prstGeom>
          <a:solidFill>
            <a:srgbClr val="8A0F1A">
              <a:alpha val="4218"/>
            </a:srgbClr>
          </a:solidFill>
          <a:ln/>
        </p:spPr>
      </p:sp>
      <p:sp>
        <p:nvSpPr>
          <p:cNvPr id="28" name="Shape 26"/>
          <p:cNvSpPr/>
          <p:nvPr/>
        </p:nvSpPr>
        <p:spPr>
          <a:xfrm>
            <a:off x="-3119133" y="-5442623"/>
            <a:ext cx="7903388" cy="7903388"/>
          </a:xfrm>
          <a:prstGeom prst="ellipse">
            <a:avLst/>
          </a:prstGeom>
          <a:solidFill>
            <a:srgbClr val="8A0F1A">
              <a:alpha val="4138"/>
            </a:srgbClr>
          </a:solidFill>
          <a:ln/>
        </p:spPr>
      </p:sp>
      <p:sp>
        <p:nvSpPr>
          <p:cNvPr id="29" name="Shape 27"/>
          <p:cNvSpPr/>
          <p:nvPr/>
        </p:nvSpPr>
        <p:spPr>
          <a:xfrm>
            <a:off x="-2939510" y="-5263001"/>
            <a:ext cx="7544143" cy="7544143"/>
          </a:xfrm>
          <a:prstGeom prst="ellipse">
            <a:avLst/>
          </a:prstGeom>
          <a:solidFill>
            <a:srgbClr val="8A0F1A">
              <a:alpha val="2636"/>
            </a:srgbClr>
          </a:solidFill>
          <a:ln/>
        </p:spPr>
      </p:sp>
      <p:sp>
        <p:nvSpPr>
          <p:cNvPr id="30" name="Shape 28"/>
          <p:cNvSpPr/>
          <p:nvPr/>
        </p:nvSpPr>
        <p:spPr>
          <a:xfrm>
            <a:off x="-2759888" y="-5083378"/>
            <a:ext cx="7184898" cy="7184898"/>
          </a:xfrm>
          <a:prstGeom prst="ellipse">
            <a:avLst/>
          </a:prstGeom>
          <a:solidFill>
            <a:srgbClr val="8A0F1A">
              <a:alpha val="2661"/>
            </a:srgbClr>
          </a:solidFill>
          <a:ln/>
        </p:spPr>
      </p:sp>
      <p:sp>
        <p:nvSpPr>
          <p:cNvPr id="31" name="Shape 29"/>
          <p:cNvSpPr/>
          <p:nvPr/>
        </p:nvSpPr>
        <p:spPr>
          <a:xfrm>
            <a:off x="-2580265" y="-4903756"/>
            <a:ext cx="6825653" cy="6825653"/>
          </a:xfrm>
          <a:prstGeom prst="ellipse">
            <a:avLst/>
          </a:prstGeom>
          <a:solidFill>
            <a:srgbClr val="8A0F1A">
              <a:alpha val="3304"/>
            </a:srgbClr>
          </a:solidFill>
          <a:ln/>
        </p:spPr>
      </p:sp>
      <p:sp>
        <p:nvSpPr>
          <p:cNvPr id="32" name="Shape 30"/>
          <p:cNvSpPr/>
          <p:nvPr/>
        </p:nvSpPr>
        <p:spPr>
          <a:xfrm>
            <a:off x="-2400643" y="-4724133"/>
            <a:ext cx="6466408" cy="6466408"/>
          </a:xfrm>
          <a:prstGeom prst="ellipse">
            <a:avLst/>
          </a:prstGeom>
          <a:solidFill>
            <a:srgbClr val="8A0F1A">
              <a:alpha val="3622"/>
            </a:srgbClr>
          </a:solidFill>
          <a:ln/>
        </p:spPr>
      </p:sp>
      <p:sp>
        <p:nvSpPr>
          <p:cNvPr id="33" name="Shape 31"/>
          <p:cNvSpPr/>
          <p:nvPr/>
        </p:nvSpPr>
        <p:spPr>
          <a:xfrm>
            <a:off x="-2221020" y="-4544511"/>
            <a:ext cx="6107163" cy="6107163"/>
          </a:xfrm>
          <a:prstGeom prst="ellipse">
            <a:avLst/>
          </a:prstGeom>
          <a:solidFill>
            <a:srgbClr val="8A0F1A">
              <a:alpha val="3650"/>
            </a:srgbClr>
          </a:solidFill>
          <a:ln/>
        </p:spPr>
      </p:sp>
      <p:sp>
        <p:nvSpPr>
          <p:cNvPr id="34" name="Shape 32"/>
          <p:cNvSpPr/>
          <p:nvPr/>
        </p:nvSpPr>
        <p:spPr>
          <a:xfrm>
            <a:off x="-2041398" y="-4364888"/>
            <a:ext cx="5747918" cy="5747918"/>
          </a:xfrm>
          <a:prstGeom prst="ellipse">
            <a:avLst/>
          </a:prstGeom>
          <a:solidFill>
            <a:srgbClr val="8A0F1A">
              <a:alpha val="3631"/>
            </a:srgbClr>
          </a:solidFill>
          <a:ln/>
        </p:spPr>
      </p:sp>
      <p:sp>
        <p:nvSpPr>
          <p:cNvPr id="35" name="Shape 33"/>
          <p:cNvSpPr/>
          <p:nvPr/>
        </p:nvSpPr>
        <p:spPr>
          <a:xfrm>
            <a:off x="-1861776" y="-4185266"/>
            <a:ext cx="5388674" cy="5388674"/>
          </a:xfrm>
          <a:prstGeom prst="ellipse">
            <a:avLst/>
          </a:prstGeom>
          <a:solidFill>
            <a:srgbClr val="8A0F1A">
              <a:alpha val="3693"/>
            </a:srgbClr>
          </a:solidFill>
          <a:ln/>
        </p:spPr>
      </p:sp>
      <p:sp>
        <p:nvSpPr>
          <p:cNvPr id="36" name="Shape 34"/>
          <p:cNvSpPr/>
          <p:nvPr/>
        </p:nvSpPr>
        <p:spPr>
          <a:xfrm>
            <a:off x="-1682153" y="-4005643"/>
            <a:ext cx="5029429" cy="5029429"/>
          </a:xfrm>
          <a:prstGeom prst="ellipse">
            <a:avLst/>
          </a:prstGeom>
          <a:solidFill>
            <a:srgbClr val="8A0F1A">
              <a:alpha val="4536"/>
            </a:srgbClr>
          </a:solidFill>
          <a:ln/>
        </p:spPr>
      </p:sp>
      <p:sp>
        <p:nvSpPr>
          <p:cNvPr id="37" name="Shape 35"/>
          <p:cNvSpPr/>
          <p:nvPr/>
        </p:nvSpPr>
        <p:spPr>
          <a:xfrm>
            <a:off x="-1502531" y="-3826021"/>
            <a:ext cx="4670184" cy="4670184"/>
          </a:xfrm>
          <a:prstGeom prst="ellipse">
            <a:avLst/>
          </a:prstGeom>
          <a:solidFill>
            <a:srgbClr val="8A0F1A">
              <a:alpha val="4737"/>
            </a:srgbClr>
          </a:solidFill>
          <a:ln/>
        </p:spPr>
      </p:sp>
      <p:sp>
        <p:nvSpPr>
          <p:cNvPr id="38" name="Shape 36"/>
          <p:cNvSpPr/>
          <p:nvPr/>
        </p:nvSpPr>
        <p:spPr>
          <a:xfrm>
            <a:off x="-1322908" y="-3646399"/>
            <a:ext cx="4310939" cy="4310939"/>
          </a:xfrm>
          <a:prstGeom prst="ellipse">
            <a:avLst/>
          </a:prstGeom>
          <a:solidFill>
            <a:srgbClr val="8A0F1A">
              <a:alpha val="4994"/>
            </a:srgbClr>
          </a:solidFill>
          <a:ln/>
        </p:spPr>
      </p:sp>
      <p:sp>
        <p:nvSpPr>
          <p:cNvPr id="39" name="Shape 37"/>
          <p:cNvSpPr/>
          <p:nvPr/>
        </p:nvSpPr>
        <p:spPr>
          <a:xfrm>
            <a:off x="-1143286" y="-3466776"/>
            <a:ext cx="3951694" cy="3951694"/>
          </a:xfrm>
          <a:prstGeom prst="ellipse">
            <a:avLst/>
          </a:prstGeom>
          <a:solidFill>
            <a:srgbClr val="8A0F1A">
              <a:alpha val="5272"/>
            </a:srgbClr>
          </a:solidFill>
          <a:ln/>
        </p:spPr>
      </p:sp>
      <p:sp>
        <p:nvSpPr>
          <p:cNvPr id="40" name="Shape 38"/>
          <p:cNvSpPr/>
          <p:nvPr/>
        </p:nvSpPr>
        <p:spPr>
          <a:xfrm>
            <a:off x="-963663" y="-3287154"/>
            <a:ext cx="3592449" cy="3592449"/>
          </a:xfrm>
          <a:prstGeom prst="ellipse">
            <a:avLst/>
          </a:prstGeom>
          <a:solidFill>
            <a:srgbClr val="8A0F1A">
              <a:alpha val="5521"/>
            </a:srgbClr>
          </a:solidFill>
          <a:ln/>
        </p:spPr>
      </p:sp>
      <p:sp>
        <p:nvSpPr>
          <p:cNvPr id="41" name="Shape 39"/>
          <p:cNvSpPr/>
          <p:nvPr/>
        </p:nvSpPr>
        <p:spPr>
          <a:xfrm>
            <a:off x="-784041" y="-3107531"/>
            <a:ext cx="3233204" cy="3233204"/>
          </a:xfrm>
          <a:prstGeom prst="ellipse">
            <a:avLst/>
          </a:prstGeom>
          <a:solidFill>
            <a:srgbClr val="8A0F1A">
              <a:alpha val="6496"/>
            </a:srgbClr>
          </a:solidFill>
          <a:ln/>
        </p:spPr>
      </p:sp>
      <p:sp>
        <p:nvSpPr>
          <p:cNvPr id="42" name="Shape 40"/>
          <p:cNvSpPr/>
          <p:nvPr/>
        </p:nvSpPr>
        <p:spPr>
          <a:xfrm>
            <a:off x="-604418" y="-2927909"/>
            <a:ext cx="2873959" cy="2873959"/>
          </a:xfrm>
          <a:prstGeom prst="ellipse">
            <a:avLst/>
          </a:prstGeom>
          <a:solidFill>
            <a:srgbClr val="8A0F1A">
              <a:alpha val="6768"/>
            </a:srgbClr>
          </a:solidFill>
          <a:ln/>
        </p:spPr>
      </p:sp>
      <p:sp>
        <p:nvSpPr>
          <p:cNvPr id="43" name="Shape 41"/>
          <p:cNvSpPr/>
          <p:nvPr/>
        </p:nvSpPr>
        <p:spPr>
          <a:xfrm>
            <a:off x="-424796" y="-2748286"/>
            <a:ext cx="2514714" cy="2514714"/>
          </a:xfrm>
          <a:prstGeom prst="ellipse">
            <a:avLst/>
          </a:prstGeom>
          <a:solidFill>
            <a:srgbClr val="8A0F1A">
              <a:alpha val="7123"/>
            </a:srgbClr>
          </a:solidFill>
          <a:ln/>
        </p:spPr>
      </p:sp>
      <p:sp>
        <p:nvSpPr>
          <p:cNvPr id="44" name="Shape 42"/>
          <p:cNvSpPr/>
          <p:nvPr/>
        </p:nvSpPr>
        <p:spPr>
          <a:xfrm>
            <a:off x="-245173" y="-2568664"/>
            <a:ext cx="2155469" cy="2155469"/>
          </a:xfrm>
          <a:prstGeom prst="ellipse">
            <a:avLst/>
          </a:prstGeom>
          <a:solidFill>
            <a:srgbClr val="8A0F1A">
              <a:alpha val="7486"/>
            </a:srgbClr>
          </a:solidFill>
          <a:ln/>
        </p:spPr>
      </p:sp>
      <p:sp>
        <p:nvSpPr>
          <p:cNvPr id="45" name="Shape 43"/>
          <p:cNvSpPr/>
          <p:nvPr/>
        </p:nvSpPr>
        <p:spPr>
          <a:xfrm>
            <a:off x="-65551" y="-2389041"/>
            <a:ext cx="1796225" cy="1796225"/>
          </a:xfrm>
          <a:prstGeom prst="ellipse">
            <a:avLst/>
          </a:prstGeom>
          <a:solidFill>
            <a:srgbClr val="8A0F1A">
              <a:alpha val="8191"/>
            </a:srgbClr>
          </a:solidFill>
          <a:ln/>
        </p:spPr>
      </p:sp>
      <p:sp>
        <p:nvSpPr>
          <p:cNvPr id="46" name="Shape 44"/>
          <p:cNvSpPr/>
          <p:nvPr/>
        </p:nvSpPr>
        <p:spPr>
          <a:xfrm>
            <a:off x="114071" y="-2209419"/>
            <a:ext cx="1436980" cy="1436980"/>
          </a:xfrm>
          <a:prstGeom prst="ellipse">
            <a:avLst/>
          </a:prstGeom>
          <a:solidFill>
            <a:srgbClr val="8A0F1A">
              <a:alpha val="9466"/>
            </a:srgbClr>
          </a:solidFill>
          <a:ln/>
        </p:spPr>
      </p:sp>
      <p:sp>
        <p:nvSpPr>
          <p:cNvPr id="47" name="Shape 45"/>
          <p:cNvSpPr/>
          <p:nvPr/>
        </p:nvSpPr>
        <p:spPr>
          <a:xfrm>
            <a:off x="293694" y="-2029797"/>
            <a:ext cx="1077735" cy="1077735"/>
          </a:xfrm>
          <a:prstGeom prst="ellipse">
            <a:avLst/>
          </a:prstGeom>
          <a:solidFill>
            <a:srgbClr val="8A0F1A">
              <a:alpha val="10120"/>
            </a:srgbClr>
          </a:solidFill>
          <a:ln/>
        </p:spPr>
      </p:sp>
      <p:sp>
        <p:nvSpPr>
          <p:cNvPr id="48" name="Shape 46"/>
          <p:cNvSpPr/>
          <p:nvPr/>
        </p:nvSpPr>
        <p:spPr>
          <a:xfrm>
            <a:off x="473316" y="-1850174"/>
            <a:ext cx="718490" cy="718490"/>
          </a:xfrm>
          <a:prstGeom prst="ellipse">
            <a:avLst/>
          </a:prstGeom>
          <a:solidFill>
            <a:srgbClr val="8A0F1A">
              <a:alpha val="10280"/>
            </a:srgbClr>
          </a:solidFill>
          <a:ln/>
        </p:spPr>
      </p:sp>
      <p:sp>
        <p:nvSpPr>
          <p:cNvPr id="49" name="Shape 47"/>
          <p:cNvSpPr/>
          <p:nvPr/>
        </p:nvSpPr>
        <p:spPr>
          <a:xfrm>
            <a:off x="652939" y="-1670552"/>
            <a:ext cx="359245" cy="359245"/>
          </a:xfrm>
          <a:prstGeom prst="ellipse">
            <a:avLst/>
          </a:prstGeom>
          <a:solidFill>
            <a:srgbClr val="8A0F1A">
              <a:alpha val="10999"/>
            </a:srgbClr>
          </a:solidFill>
          <a:ln/>
        </p:spPr>
      </p:sp>
      <p:sp>
        <p:nvSpPr>
          <p:cNvPr id="50" name="Text 48"/>
          <p:cNvSpPr/>
          <p:nvPr/>
        </p:nvSpPr>
        <p:spPr>
          <a:xfrm>
            <a:off x="616306" y="4871923"/>
            <a:ext cx="384048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One loop for every agent</a:t>
            </a:r>
          </a:p>
        </p:txBody>
      </p:sp>
      <p:sp>
        <p:nvSpPr>
          <p:cNvPr id="51" name="Text 49"/>
          <p:cNvSpPr/>
          <p:nvPr/>
        </p:nvSpPr>
        <p:spPr>
          <a:xfrm>
            <a:off x="615391" y="5100523"/>
            <a:ext cx="2743200" cy="646481"/>
          </a:xfrm>
          <a:prstGeom prst="rect">
            <a:avLst/>
          </a:prstGeom>
          <a:noFill/>
          <a:ln/>
        </p:spPr>
        <p:txBody>
          <a:bodyPr wrap="none" lIns="91440" tIns="45720" rIns="91440" bIns="45720" rtlCol="0" anchor="t">
            <a:spAutoFit/>
          </a:bodyPr>
          <a:lstStyle/>
          <a:p>
            <a:pPr indent="0" marL="0">
              <a:buNone/>
            </a:pPr>
            <a:r>
              <a:rPr lang="en-US" sz="3060" dirty="0" b="1">
                <a:solidFill>
                  <a:srgbClr val="FFFFFF"/>
                </a:solidFill>
                <a:latin typeface="Arial" pitchFamily="34" charset="0"/>
                <a:ea typeface="Arial" pitchFamily="34" charset="-122"/>
                <a:cs typeface="Arial" pitchFamily="34" charset="-120"/>
              </a:rPr>
              <a:t>Design</a:t>
            </a:r>
          </a:p>
        </p:txBody>
      </p:sp>
      <p:sp>
        <p:nvSpPr>
          <p:cNvPr id="52" name="Text 50"/>
          <p:cNvSpPr/>
          <p:nvPr/>
        </p:nvSpPr>
        <p:spPr>
          <a:xfrm>
            <a:off x="1288390" y="5592470"/>
            <a:ext cx="3108960" cy="646481"/>
          </a:xfrm>
          <a:prstGeom prst="rect">
            <a:avLst/>
          </a:prstGeom>
          <a:noFill/>
          <a:ln/>
        </p:spPr>
        <p:txBody>
          <a:bodyPr wrap="none" lIns="91440" tIns="45720" rIns="91440" bIns="45720" rtlCol="0" anchor="t">
            <a:spAutoFit/>
          </a:bodyPr>
          <a:lstStyle/>
          <a:p>
            <a:pPr indent="0" marL="0">
              <a:buNone/>
            </a:pPr>
            <a:r>
              <a:rPr lang="en-US" sz="3060" dirty="0" b="1">
                <a:solidFill>
                  <a:srgbClr val="EE0000"/>
                </a:solidFill>
                <a:latin typeface="Arial" pitchFamily="34" charset="0"/>
                <a:ea typeface="Arial" pitchFamily="34" charset="-122"/>
                <a:cs typeface="Arial" pitchFamily="34" charset="-120"/>
              </a:rPr>
              <a:t>to retire</a:t>
            </a:r>
          </a:p>
        </p:txBody>
      </p:sp>
      <p:sp>
        <p:nvSpPr>
          <p:cNvPr id="53" name="Shape 51"/>
          <p:cNvSpPr/>
          <p:nvPr/>
        </p:nvSpPr>
        <p:spPr>
          <a:xfrm rot="16200000">
            <a:off x="875995" y="5717743"/>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Text 52"/>
          <p:cNvSpPr/>
          <p:nvPr/>
        </p:nvSpPr>
        <p:spPr>
          <a:xfrm>
            <a:off x="4526280" y="5138928"/>
            <a:ext cx="416052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Every agent, ours or vendor-built, moves through one 11-step loop with the same join keys and evidence trail. Production telemetry feeds harness optimisation and recertification, and retirement is an explicit step. New: Build, Deploy via gateway, Retire.</a:t>
            </a:r>
          </a:p>
        </p:txBody>
      </p:sp>
      <p:sp>
        <p:nvSpPr>
          <p:cNvPr id="55" name="Shape 53"/>
          <p:cNvSpPr/>
          <p:nvPr/>
        </p:nvSpPr>
        <p:spPr>
          <a:xfrm>
            <a:off x="8928202" y="4343400"/>
            <a:ext cx="2371039" cy="2103120"/>
          </a:xfrm>
          <a:prstGeom prst="roundRect">
            <a:avLst>
              <a:gd name="adj" fmla="val 8639"/>
            </a:avLst>
          </a:prstGeom>
          <a:solidFill>
            <a:srgbClr val="141010"/>
          </a:solidFill>
          <a:ln w="6350">
            <a:solidFill>
              <a:srgbClr val="D9B48A"/>
            </a:solidFill>
            <a:prstDash val="solid"/>
          </a:ln>
        </p:spPr>
      </p:sp>
      <p:sp>
        <p:nvSpPr>
          <p:cNvPr id="56" name="Shape 54"/>
          <p:cNvSpPr/>
          <p:nvPr/>
        </p:nvSpPr>
        <p:spPr>
          <a:xfrm>
            <a:off x="10333634" y="4526280"/>
            <a:ext cx="801929" cy="374904"/>
          </a:xfrm>
          <a:prstGeom prst="roundRect">
            <a:avLst>
              <a:gd name="adj" fmla="val 50000"/>
            </a:avLst>
          </a:prstGeom>
          <a:solidFill>
            <a:srgbClr val="8A0F1A">
              <a:alpha val="15600"/>
            </a:srgbClr>
          </a:solidFill>
          <a:ln w="6350">
            <a:solidFill>
              <a:srgbClr val="D9B48A"/>
            </a:solidFill>
            <a:prstDash val="solid"/>
          </a:ln>
        </p:spPr>
      </p:sp>
      <p:sp>
        <p:nvSpPr>
          <p:cNvPr id="57" name="Text 55"/>
          <p:cNvSpPr/>
          <p:nvPr/>
        </p:nvSpPr>
        <p:spPr>
          <a:xfrm>
            <a:off x="10333634" y="4526280"/>
            <a:ext cx="801929" cy="318211"/>
          </a:xfrm>
          <a:prstGeom prst="rect">
            <a:avLst/>
          </a:prstGeom>
          <a:noFill/>
          <a:ln/>
        </p:spPr>
        <p:txBody>
          <a:bodyPr wrap="square" lIns="91440" tIns="45720" rIns="91440" bIns="45720" rtlCol="0" anchor="t">
            <a:spAutoFit/>
          </a:bodyPr>
          <a:lstStyle/>
          <a:p>
            <a:pPr algn="ctr" indent="0" marL="0">
              <a:lnSpc>
                <a:spcPct val="150000"/>
              </a:lnSpc>
              <a:buNone/>
            </a:pPr>
            <a:r>
              <a:rPr lang="en-US" sz="1100" dirty="0">
                <a:solidFill>
                  <a:srgbClr val="FFFFFF"/>
                </a:solidFill>
                <a:latin typeface="Arial" pitchFamily="34" charset="0"/>
                <a:ea typeface="Arial" pitchFamily="34" charset="-122"/>
                <a:cs typeface="Arial" pitchFamily="34" charset="-120"/>
              </a:rPr>
              <a:t>Rule</a:t>
            </a:r>
          </a:p>
        </p:txBody>
      </p:sp>
      <p:sp>
        <p:nvSpPr>
          <p:cNvPr id="58" name="Text 56"/>
          <p:cNvSpPr/>
          <p:nvPr/>
        </p:nvSpPr>
        <p:spPr>
          <a:xfrm>
            <a:off x="9133027" y="4937760"/>
            <a:ext cx="2194560" cy="585216"/>
          </a:xfrm>
          <a:prstGeom prst="rect">
            <a:avLst/>
          </a:prstGeom>
          <a:noFill/>
          <a:ln/>
        </p:spPr>
        <p:txBody>
          <a:bodyPr wrap="square" lIns="91440" tIns="45720" rIns="91440" bIns="45720" rtlCol="0" anchor="t">
            <a:spAutoFit/>
          </a:bodyPr>
          <a:lstStyle/>
          <a:p>
            <a:pPr indent="0" marL="0">
              <a:buNone/>
            </a:pPr>
            <a:r>
              <a:rPr lang="en-US" sz="1500" dirty="0">
                <a:solidFill>
                  <a:srgbClr val="FFFFFF"/>
                </a:solidFill>
                <a:latin typeface="Arial" pitchFamily="34" charset="0"/>
                <a:ea typeface="Arial" pitchFamily="34" charset="-122"/>
                <a:cs typeface="Arial" pitchFamily="34" charset="-120"/>
              </a:rPr>
              <a:t>One evaluator, three uses</a:t>
            </a:r>
          </a:p>
        </p:txBody>
      </p:sp>
      <p:sp>
        <p:nvSpPr>
          <p:cNvPr id="59" name="Text 57"/>
          <p:cNvSpPr/>
          <p:nvPr/>
        </p:nvSpPr>
        <p:spPr>
          <a:xfrm>
            <a:off x="9133027" y="5504688"/>
            <a:ext cx="2240280" cy="825703"/>
          </a:xfrm>
          <a:prstGeom prst="rect">
            <a:avLst/>
          </a:prstGeom>
          <a:noFill/>
          <a:ln/>
        </p:spPr>
        <p:txBody>
          <a:bodyPr wrap="square" lIns="91440" tIns="45720" rIns="91440" bIns="45720" rtlCol="0" anchor="t">
            <a:spAutoFit/>
          </a:bodyPr>
          <a:lstStyle/>
          <a:p>
            <a:pPr indent="0" marL="0">
              <a:lnSpc>
                <a:spcPct val="125000"/>
              </a:lnSpc>
              <a:buNone/>
            </a:pPr>
            <a:r>
              <a:rPr lang="en-US" sz="1000" dirty="0">
                <a:solidFill>
                  <a:srgbClr val="F3E6D6"/>
                </a:solidFill>
                <a:latin typeface="Arial" pitchFamily="34" charset="0"/>
                <a:ea typeface="Arial" pitchFamily="34" charset="-122"/>
                <a:cs typeface="Arial" pitchFamily="34" charset="-120"/>
              </a:rPr>
              <a:t>Monitor at 8, objective at 9, gate at 4, 5 and 10. Held-out gate sets never feed optimisation. Every control decision is a span.</a:t>
            </a:r>
          </a:p>
        </p:txBody>
      </p:sp>
      <p:sp>
        <p:nvSpPr>
          <p:cNvPr id="143" name="g1 143"/>
          <p:cNvSpPr/>
          <p:nvPr/>
        </p:nvSpPr>
        <p:spPr>
          <a:xfrm>
            <a:off x="484632"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1  Design / onboard</a:t>
            </a:r>
          </a:p>
          <a:p>
            <a:pPr algn="l" marL="0" indent="0">
              <a:lnSpc>
                <a:spcPct val="100000"/>
              </a:lnSpc>
              <a:buNone/>
            </a:pPr>
            <a:r>
              <a:rPr lang="en-US" sz="800" dirty="0">
                <a:solidFill>
                  <a:srgbClr val="F3E6D6"/>
                </a:solidFill>
                <a:latin typeface="Arial"/>
                <a:ea typeface="Arial"/>
                <a:cs typeface="Arial"/>
              </a:rPr>
              <a:t>Dev Hub template · registry · IdP · ASI threats · ≤ 2 wks low tier</a:t>
            </a:r>
          </a:p>
          <a:p>
            <a:pPr algn="l" marL="0" indent="0">
              <a:lnSpc>
                <a:spcPct val="100000"/>
              </a:lnSpc>
              <a:buNone/>
            </a:pPr>
            <a:r>
              <a:rPr lang="en-US" sz="800" b="1" dirty="0">
                <a:solidFill>
                  <a:srgbClr val="F5B700"/>
                </a:solidFill>
                <a:latin typeface="Arial"/>
                <a:ea typeface="Arial"/>
                <a:cs typeface="Arial"/>
              </a:rPr>
              <a:t>→ agent manifest@v</a:t>
            </a:r>
          </a:p>
        </p:txBody>
      </p:sp>
      <p:sp>
        <p:nvSpPr>
          <p:cNvPr id="144" name="g1 144"/>
          <p:cNvSpPr/>
          <p:nvPr/>
        </p:nvSpPr>
        <p:spPr>
          <a:xfrm>
            <a:off x="2395728" y="457200"/>
            <a:ext cx="1664208" cy="822960"/>
          </a:xfrm>
          <a:prstGeom prst="roundRect">
            <a:avLst>
              <a:gd name="adj" fmla="val 12000"/>
            </a:avLst>
          </a:prstGeom>
          <a:solidFill>
            <a:srgbClr val="F5B700"/>
          </a:solidFill>
          <a:ln>
            <a:noFill/>
          </a:ln>
        </p:spPr>
        <p:txBody>
          <a:bodyPr wrap="square" lIns="73152" tIns="27432" rIns="54864" bIns="27432" rtlCol="0" anchor="ctr">
            <a:noAutofit/>
          </a:bodyPr>
          <a:lstStyle/>
          <a:p>
            <a:pPr algn="l" marL="0" indent="0">
              <a:lnSpc>
                <a:spcPct val="100000"/>
              </a:lnSpc>
              <a:buNone/>
            </a:pPr>
            <a:r>
              <a:rPr lang="en-US" sz="1000" b="1" dirty="0">
                <a:solidFill>
                  <a:srgbClr val="141010"/>
                </a:solidFill>
                <a:latin typeface="Arial"/>
                <a:ea typeface="Arial"/>
                <a:cs typeface="Arial"/>
              </a:rPr>
              <a:t>2  Build</a:t>
            </a:r>
          </a:p>
          <a:p>
            <a:pPr algn="l" marL="0" indent="0">
              <a:lnSpc>
                <a:spcPct val="100000"/>
              </a:lnSpc>
              <a:buNone/>
            </a:pPr>
            <a:r>
              <a:rPr lang="en-US" sz="800" dirty="0">
                <a:solidFill>
                  <a:srgbClr val="141010"/>
                </a:solidFill>
                <a:latin typeface="Arial"/>
                <a:ea typeface="Arial"/>
                <a:cs typeface="Arial"/>
              </a:rPr>
              <a:t>Kairos SDK · Agent Control · Mods Hub · MCP tools</a:t>
            </a:r>
          </a:p>
          <a:p>
            <a:pPr algn="l" marL="0" indent="0">
              <a:lnSpc>
                <a:spcPct val="100000"/>
              </a:lnSpc>
              <a:buNone/>
            </a:pPr>
            <a:r>
              <a:rPr lang="en-US" sz="800" b="1" dirty="0">
                <a:solidFill>
                  <a:srgbClr val="141010"/>
                </a:solidFill>
                <a:latin typeface="Arial"/>
                <a:ea typeface="Arial"/>
                <a:cs typeface="Arial"/>
              </a:rPr>
              <a:t>→ harness bundle + SBOM</a:t>
            </a:r>
          </a:p>
        </p:txBody>
      </p:sp>
      <p:sp>
        <p:nvSpPr>
          <p:cNvPr id="145" name="g1 145"/>
          <p:cNvSpPr/>
          <p:nvPr/>
        </p:nvSpPr>
        <p:spPr>
          <a:xfrm>
            <a:off x="4306824"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3  Simulate</a:t>
            </a:r>
          </a:p>
          <a:p>
            <a:pPr algn="l" marL="0" indent="0">
              <a:lnSpc>
                <a:spcPct val="100000"/>
              </a:lnSpc>
              <a:buNone/>
            </a:pPr>
            <a:r>
              <a:rPr lang="en-US" sz="800" dirty="0">
                <a:solidFill>
                  <a:srgbClr val="F3E6D6"/>
                </a:solidFill>
                <a:latin typeface="Arial"/>
                <a:ea typeface="Arial"/>
                <a:cs typeface="Arial"/>
              </a:rPr>
              <a:t>SDG Hub · Strands / Scenario user sims · reward per task · failure seeds</a:t>
            </a:r>
          </a:p>
          <a:p>
            <a:pPr algn="l" marL="0" indent="0">
              <a:lnSpc>
                <a:spcPct val="100000"/>
              </a:lnSpc>
              <a:buNone/>
            </a:pPr>
            <a:r>
              <a:rPr lang="en-US" sz="800" b="1" dirty="0">
                <a:solidFill>
                  <a:srgbClr val="F5B700"/>
                </a:solidFill>
                <a:latin typeface="Arial"/>
                <a:ea typeface="Arial"/>
                <a:cs typeface="Arial"/>
              </a:rPr>
              <a:t>→ scenario suite + run report</a:t>
            </a:r>
          </a:p>
        </p:txBody>
      </p:sp>
      <p:sp>
        <p:nvSpPr>
          <p:cNvPr id="146" name="g1 146"/>
          <p:cNvSpPr/>
          <p:nvPr/>
        </p:nvSpPr>
        <p:spPr>
          <a:xfrm>
            <a:off x="6217920"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4  Evaluate</a:t>
            </a:r>
          </a:p>
          <a:p>
            <a:pPr algn="l" marL="0" indent="0">
              <a:lnSpc>
                <a:spcPct val="100000"/>
              </a:lnSpc>
              <a:buNone/>
            </a:pPr>
            <a:r>
              <a:rPr lang="en-US" sz="800" dirty="0">
                <a:solidFill>
                  <a:srgbClr val="F3E6D6"/>
                </a:solidFill>
                <a:latin typeface="Arial"/>
                <a:ea typeface="Arial"/>
                <a:cs typeface="Arial"/>
              </a:rPr>
              <a:t>Galileo / Luna · EvalHub · verifiers · MAST (new)</a:t>
            </a:r>
          </a:p>
          <a:p>
            <a:pPr algn="l" marL="0" indent="0">
              <a:lnSpc>
                <a:spcPct val="100000"/>
              </a:lnSpc>
              <a:buNone/>
            </a:pPr>
            <a:r>
              <a:rPr lang="en-US" sz="800" b="1" dirty="0">
                <a:solidFill>
                  <a:srgbClr val="F5B700"/>
                </a:solidFill>
                <a:latin typeface="Arial"/>
                <a:ea typeface="Arial"/>
                <a:cs typeface="Arial"/>
              </a:rPr>
              <a:t>→ eval results + gate receipt</a:t>
            </a:r>
          </a:p>
        </p:txBody>
      </p:sp>
      <p:sp>
        <p:nvSpPr>
          <p:cNvPr id="147" name="g1 147"/>
          <p:cNvSpPr/>
          <p:nvPr/>
        </p:nvSpPr>
        <p:spPr>
          <a:xfrm>
            <a:off x="8129016" y="45720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5  Red team</a:t>
            </a:r>
          </a:p>
          <a:p>
            <a:pPr algn="l" marL="0" indent="0">
              <a:lnSpc>
                <a:spcPct val="100000"/>
              </a:lnSpc>
              <a:buNone/>
            </a:pPr>
            <a:r>
              <a:rPr lang="en-US" sz="800" dirty="0">
                <a:solidFill>
                  <a:srgbClr val="F3E6D6"/>
                </a:solidFill>
                <a:latin typeface="Arial"/>
                <a:ea typeface="Arial"/>
                <a:cs typeface="Arial"/>
              </a:rPr>
              <a:t>EvalHub: garak · PyRIT · DeepTeam · OWASP ASI</a:t>
            </a:r>
          </a:p>
          <a:p>
            <a:pPr algn="l" marL="0" indent="0">
              <a:lnSpc>
                <a:spcPct val="100000"/>
              </a:lnSpc>
              <a:buNone/>
            </a:pPr>
            <a:r>
              <a:rPr lang="en-US" sz="800" b="1" dirty="0">
                <a:solidFill>
                  <a:srgbClr val="F5B700"/>
                </a:solidFill>
                <a:latin typeface="Arial"/>
                <a:ea typeface="Arial"/>
                <a:cs typeface="Arial"/>
              </a:rPr>
              <a:t>→ ASR receipt</a:t>
            </a:r>
          </a:p>
        </p:txBody>
      </p:sp>
      <p:sp>
        <p:nvSpPr>
          <p:cNvPr id="148" name="g1 148"/>
          <p:cNvSpPr/>
          <p:nvPr/>
        </p:nvSpPr>
        <p:spPr>
          <a:xfrm>
            <a:off x="10040112" y="457200"/>
            <a:ext cx="1664208" cy="822960"/>
          </a:xfrm>
          <a:prstGeom prst="roundRect">
            <a:avLst>
              <a:gd name="adj" fmla="val 12000"/>
            </a:avLst>
          </a:prstGeom>
          <a:solidFill>
            <a:srgbClr val="F5B700"/>
          </a:solidFill>
          <a:ln>
            <a:noFill/>
          </a:ln>
        </p:spPr>
        <p:txBody>
          <a:bodyPr wrap="square" lIns="73152" tIns="27432" rIns="54864" bIns="27432" rtlCol="0" anchor="ctr">
            <a:noAutofit/>
          </a:bodyPr>
          <a:lstStyle/>
          <a:p>
            <a:pPr algn="l" marL="0" indent="0">
              <a:lnSpc>
                <a:spcPct val="100000"/>
              </a:lnSpc>
              <a:buNone/>
            </a:pPr>
            <a:r>
              <a:rPr lang="en-US" sz="1000" b="1" dirty="0">
                <a:solidFill>
                  <a:srgbClr val="141010"/>
                </a:solidFill>
                <a:latin typeface="Arial"/>
                <a:ea typeface="Arial"/>
                <a:cs typeface="Arial"/>
              </a:rPr>
              <a:t>6  Deploy via gateway</a:t>
            </a:r>
          </a:p>
          <a:p>
            <a:pPr algn="l" marL="0" indent="0">
              <a:lnSpc>
                <a:spcPct val="100000"/>
              </a:lnSpc>
              <a:buNone/>
            </a:pPr>
            <a:r>
              <a:rPr lang="en-US" sz="800" dirty="0">
                <a:solidFill>
                  <a:srgbClr val="141010"/>
                </a:solidFill>
                <a:latin typeface="Arial"/>
                <a:ea typeface="Arial"/>
                <a:cs typeface="Arial"/>
              </a:rPr>
              <a:t>Kairos canary · MCP scopes · signed A2A Agent Card</a:t>
            </a:r>
          </a:p>
          <a:p>
            <a:pPr algn="l" marL="0" indent="0">
              <a:lnSpc>
                <a:spcPct val="100000"/>
              </a:lnSpc>
              <a:buNone/>
            </a:pPr>
            <a:r>
              <a:rPr lang="en-US" sz="800" b="1" dirty="0">
                <a:solidFill>
                  <a:srgbClr val="141010"/>
                </a:solidFill>
                <a:latin typeface="Arial"/>
                <a:ea typeface="Arial"/>
                <a:cs typeface="Arial"/>
              </a:rPr>
              <a:t>→ deployment record</a:t>
            </a:r>
          </a:p>
        </p:txBody>
      </p:sp>
      <p:sp>
        <p:nvSpPr>
          <p:cNvPr id="149" name="g1 149"/>
          <p:cNvSpPr/>
          <p:nvPr/>
        </p:nvSpPr>
        <p:spPr>
          <a:xfrm>
            <a:off x="10040112"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7  Runtime control</a:t>
            </a:r>
          </a:p>
          <a:p>
            <a:pPr algn="l" marL="0" indent="0">
              <a:lnSpc>
                <a:spcPct val="100000"/>
              </a:lnSpc>
              <a:buNone/>
            </a:pPr>
            <a:r>
              <a:rPr lang="en-US" sz="800" dirty="0">
                <a:solidFill>
                  <a:srgbClr val="F3E6D6"/>
                </a:solidFill>
                <a:latin typeface="Arial"/>
                <a:ea typeface="Arial"/>
                <a:cs typeface="Arial"/>
              </a:rPr>
              <a:t>Agent Control · NeMo / Luna · OPA / Cedar · session budgets</a:t>
            </a:r>
          </a:p>
          <a:p>
            <a:pPr algn="l" marL="0" indent="0">
              <a:lnSpc>
                <a:spcPct val="100000"/>
              </a:lnSpc>
              <a:buNone/>
            </a:pPr>
            <a:r>
              <a:rPr lang="en-US" sz="800" b="1" dirty="0">
                <a:solidFill>
                  <a:srgbClr val="F5B700"/>
                </a:solidFill>
                <a:latin typeface="Arial"/>
                <a:ea typeface="Arial"/>
                <a:cs typeface="Arial"/>
              </a:rPr>
              <a:t>→ decision spans</a:t>
            </a:r>
          </a:p>
        </p:txBody>
      </p:sp>
      <p:sp>
        <p:nvSpPr>
          <p:cNvPr id="150" name="g1 150"/>
          <p:cNvSpPr/>
          <p:nvPr/>
        </p:nvSpPr>
        <p:spPr>
          <a:xfrm>
            <a:off x="8129016"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8  Observe / score</a:t>
            </a:r>
          </a:p>
          <a:p>
            <a:pPr algn="l" marL="0" indent="0">
              <a:lnSpc>
                <a:spcPct val="100000"/>
              </a:lnSpc>
              <a:buNone/>
            </a:pPr>
            <a:r>
              <a:rPr lang="en-US" sz="800" dirty="0">
                <a:solidFill>
                  <a:srgbClr val="F3E6D6"/>
                </a:solidFill>
                <a:latin typeface="Arial"/>
                <a:ea typeface="Arial"/>
                <a:cs typeface="Arial"/>
              </a:rPr>
              <a:t>OTel → Galileo / Splunk AO (+ Arize) · Langfuse · lake</a:t>
            </a:r>
          </a:p>
          <a:p>
            <a:pPr algn="l" marL="0" indent="0">
              <a:lnSpc>
                <a:spcPct val="100000"/>
              </a:lnSpc>
              <a:buNone/>
            </a:pPr>
            <a:r>
              <a:rPr lang="en-US" sz="800" b="1" dirty="0">
                <a:solidFill>
                  <a:srgbClr val="F5B700"/>
                </a:solidFill>
                <a:latin typeface="Arial"/>
                <a:ea typeface="Arial"/>
                <a:cs typeface="Arial"/>
              </a:rPr>
              <a:t>→ failure clusters, cost</a:t>
            </a:r>
          </a:p>
        </p:txBody>
      </p:sp>
      <p:sp>
        <p:nvSpPr>
          <p:cNvPr id="151" name="g1 151"/>
          <p:cNvSpPr/>
          <p:nvPr/>
        </p:nvSpPr>
        <p:spPr>
          <a:xfrm>
            <a:off x="6217920"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9  Optimise harness</a:t>
            </a:r>
          </a:p>
          <a:p>
            <a:pPr algn="l" marL="0" indent="0">
              <a:lnSpc>
                <a:spcPct val="100000"/>
              </a:lnSpc>
              <a:buNone/>
            </a:pPr>
            <a:r>
              <a:rPr lang="en-US" sz="800" dirty="0">
                <a:solidFill>
                  <a:srgbClr val="F3E6D6"/>
                </a:solidFill>
                <a:latin typeface="Arial"/>
                <a:ea typeface="Arial"/>
                <a:cs typeface="Arial"/>
              </a:rPr>
              <a:t>HALO trace report · GEPA · cost · fine-tune last</a:t>
            </a:r>
          </a:p>
          <a:p>
            <a:pPr algn="l" marL="0" indent="0">
              <a:lnSpc>
                <a:spcPct val="100000"/>
              </a:lnSpc>
              <a:buNone/>
            </a:pPr>
            <a:r>
              <a:rPr lang="en-US" sz="800" b="1" dirty="0">
                <a:solidFill>
                  <a:srgbClr val="F5B700"/>
                </a:solidFill>
                <a:latin typeface="Arial"/>
                <a:ea typeface="Arial"/>
                <a:cs typeface="Arial"/>
              </a:rPr>
              <a:t>→ harness@v+1 + insights</a:t>
            </a:r>
          </a:p>
        </p:txBody>
      </p:sp>
      <p:sp>
        <p:nvSpPr>
          <p:cNvPr id="152" name="g1 152"/>
          <p:cNvSpPr/>
          <p:nvPr/>
        </p:nvSpPr>
        <p:spPr>
          <a:xfrm>
            <a:off x="4306824" y="2926080"/>
            <a:ext cx="1664208" cy="822960"/>
          </a:xfrm>
          <a:prstGeom prst="roundRect">
            <a:avLst>
              <a:gd name="adj" fmla="val 12000"/>
            </a:avLst>
          </a:prstGeom>
          <a:solidFill>
            <a:srgbClr val="2A1A16"/>
          </a:solidFill>
          <a:ln w="9525">
            <a:solidFill>
              <a:srgbClr val="D9B48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10  Govern</a:t>
            </a:r>
          </a:p>
          <a:p>
            <a:pPr algn="l" marL="0" indent="0">
              <a:lnSpc>
                <a:spcPct val="100000"/>
              </a:lnSpc>
              <a:buNone/>
            </a:pPr>
            <a:r>
              <a:rPr lang="en-US" sz="800" dirty="0">
                <a:solidFill>
                  <a:srgbClr val="F3E6D6"/>
                </a:solidFill>
                <a:latin typeface="Arial"/>
                <a:ea typeface="Arial"/>
                <a:cs typeface="Arial"/>
              </a:rPr>
              <a:t>Registry · evidence to GRC · recertify · kill switch</a:t>
            </a:r>
          </a:p>
          <a:p>
            <a:pPr algn="l" marL="0" indent="0">
              <a:lnSpc>
                <a:spcPct val="100000"/>
              </a:lnSpc>
              <a:buNone/>
            </a:pPr>
            <a:r>
              <a:rPr lang="en-US" sz="800" b="1" dirty="0">
                <a:solidFill>
                  <a:srgbClr val="F5B700"/>
                </a:solidFill>
                <a:latin typeface="Arial"/>
                <a:ea typeface="Arial"/>
                <a:cs typeface="Arial"/>
              </a:rPr>
              <a:t>→ agent record</a:t>
            </a:r>
          </a:p>
        </p:txBody>
      </p:sp>
      <p:sp>
        <p:nvSpPr>
          <p:cNvPr id="153" name="g1 153"/>
          <p:cNvSpPr/>
          <p:nvPr/>
        </p:nvSpPr>
        <p:spPr>
          <a:xfrm>
            <a:off x="2395728" y="2926080"/>
            <a:ext cx="1664208" cy="822960"/>
          </a:xfrm>
          <a:prstGeom prst="roundRect">
            <a:avLst>
              <a:gd name="adj" fmla="val 12000"/>
            </a:avLst>
          </a:prstGeom>
          <a:solidFill>
            <a:srgbClr val="F5B700"/>
          </a:solidFill>
          <a:ln>
            <a:noFill/>
          </a:ln>
        </p:spPr>
        <p:txBody>
          <a:bodyPr wrap="square" lIns="73152" tIns="27432" rIns="54864" bIns="27432" rtlCol="0" anchor="ctr">
            <a:noAutofit/>
          </a:bodyPr>
          <a:lstStyle/>
          <a:p>
            <a:pPr algn="l" marL="0" indent="0">
              <a:lnSpc>
                <a:spcPct val="100000"/>
              </a:lnSpc>
              <a:buNone/>
            </a:pPr>
            <a:r>
              <a:rPr lang="en-US" sz="1000" b="1" dirty="0">
                <a:solidFill>
                  <a:srgbClr val="141010"/>
                </a:solidFill>
                <a:latin typeface="Arial"/>
                <a:ea typeface="Arial"/>
                <a:cs typeface="Arial"/>
              </a:rPr>
              <a:t>11  Retire</a:t>
            </a:r>
          </a:p>
          <a:p>
            <a:pPr algn="l" marL="0" indent="0">
              <a:lnSpc>
                <a:spcPct val="100000"/>
              </a:lnSpc>
              <a:buNone/>
            </a:pPr>
            <a:r>
              <a:rPr lang="en-US" sz="800" dirty="0">
                <a:solidFill>
                  <a:srgbClr val="141010"/>
                </a:solidFill>
                <a:latin typeface="Arial"/>
                <a:ea typeface="Arial"/>
                <a:cs typeface="Arial"/>
              </a:rPr>
              <a:t>Revoke identity · unpublish card · purge memory · archive</a:t>
            </a:r>
          </a:p>
          <a:p>
            <a:pPr algn="l" marL="0" indent="0">
              <a:lnSpc>
                <a:spcPct val="100000"/>
              </a:lnSpc>
              <a:buNone/>
            </a:pPr>
            <a:r>
              <a:rPr lang="en-US" sz="800" b="1" dirty="0">
                <a:solidFill>
                  <a:srgbClr val="141010"/>
                </a:solidFill>
                <a:latin typeface="Arial"/>
                <a:ea typeface="Arial"/>
                <a:cs typeface="Arial"/>
              </a:rPr>
              <a:t>→ decommission record</a:t>
            </a:r>
          </a:p>
        </p:txBody>
      </p:sp>
      <p:sp>
        <p:nvSpPr>
          <p:cNvPr id="154" name="g1 154"/>
          <p:cNvSpPr/>
          <p:nvPr/>
        </p:nvSpPr>
        <p:spPr>
          <a:xfrm>
            <a:off x="484632" y="2926080"/>
            <a:ext cx="1664208" cy="822960"/>
          </a:xfrm>
          <a:prstGeom prst="roundRect">
            <a:avLst>
              <a:gd name="adj" fmla="val 12000"/>
            </a:avLst>
          </a:prstGeom>
          <a:solidFill>
            <a:srgbClr val="2A1A16"/>
          </a:solidFill>
          <a:ln w="9525">
            <a:solidFill>
              <a:srgbClr val="A0704A"/>
            </a:solidFill>
          </a:ln>
        </p:spPr>
        <p:txBody>
          <a:bodyPr wrap="square" lIns="73152" tIns="27432" rIns="54864" bIns="27432" rtlCol="0" anchor="ctr">
            <a:noAutofit/>
          </a:bodyPr>
          <a:lstStyle/>
          <a:p>
            <a:pPr algn="l" marL="0" indent="0">
              <a:lnSpc>
                <a:spcPct val="100000"/>
              </a:lnSpc>
              <a:buNone/>
            </a:pPr>
            <a:r>
              <a:rPr lang="en-US" sz="1000" b="1" dirty="0">
                <a:solidFill>
                  <a:srgbClr val="FFFFFF"/>
                </a:solidFill>
                <a:latin typeface="Arial"/>
                <a:ea typeface="Arial"/>
                <a:cs typeface="Arial"/>
              </a:rPr>
              <a:t>Done</a:t>
            </a:r>
          </a:p>
          <a:p>
            <a:pPr algn="l" marL="0" indent="0">
              <a:lnSpc>
                <a:spcPct val="100000"/>
              </a:lnSpc>
              <a:buNone/>
            </a:pPr>
            <a:r>
              <a:rPr lang="en-US" sz="800" dirty="0">
                <a:solidFill>
                  <a:srgbClr val="F3E6D6"/>
                </a:solidFill>
                <a:latin typeface="Arial"/>
                <a:ea typeface="Arial"/>
                <a:cs typeface="Arial"/>
              </a:rPr>
              <a:t>Identity revoked, scopes removed; inventory count goes down [6]</a:t>
            </a:r>
          </a:p>
        </p:txBody>
      </p:sp>
      <p:cxnSp>
        <p:nvCxnSpPr>
          <p:cNvPr id="155" name="g2 flow 155"/>
          <p:cNvCxnSpPr/>
          <p:nvPr/>
        </p:nvCxnSpPr>
        <p:spPr>
          <a:xfrm>
            <a:off x="2148840" y="868680"/>
            <a:ext cx="246888" cy="0"/>
          </a:xfrm>
          <a:prstGeom prst="line">
            <a:avLst/>
          </a:prstGeom>
          <a:ln w="12700">
            <a:solidFill>
              <a:srgbClr val="EE0000"/>
            </a:solidFill>
            <a:tailEnd type="triangle" w="med" len="med"/>
          </a:ln>
        </p:spPr>
      </p:cxnSp>
      <p:cxnSp>
        <p:nvCxnSpPr>
          <p:cNvPr id="156" name="g2 flow 156"/>
          <p:cNvCxnSpPr/>
          <p:nvPr/>
        </p:nvCxnSpPr>
        <p:spPr>
          <a:xfrm>
            <a:off x="4059936" y="868680"/>
            <a:ext cx="246888" cy="0"/>
          </a:xfrm>
          <a:prstGeom prst="line">
            <a:avLst/>
          </a:prstGeom>
          <a:ln w="12700">
            <a:solidFill>
              <a:srgbClr val="EE0000"/>
            </a:solidFill>
            <a:tailEnd type="triangle" w="med" len="med"/>
          </a:ln>
        </p:spPr>
      </p:cxnSp>
      <p:cxnSp>
        <p:nvCxnSpPr>
          <p:cNvPr id="157" name="g2 flow 157"/>
          <p:cNvCxnSpPr/>
          <p:nvPr/>
        </p:nvCxnSpPr>
        <p:spPr>
          <a:xfrm>
            <a:off x="5971032" y="868680"/>
            <a:ext cx="246888" cy="0"/>
          </a:xfrm>
          <a:prstGeom prst="line">
            <a:avLst/>
          </a:prstGeom>
          <a:ln w="12700">
            <a:solidFill>
              <a:srgbClr val="EE0000"/>
            </a:solidFill>
            <a:tailEnd type="triangle" w="med" len="med"/>
          </a:ln>
        </p:spPr>
      </p:cxnSp>
      <p:cxnSp>
        <p:nvCxnSpPr>
          <p:cNvPr id="158" name="g2 flow 158"/>
          <p:cNvCxnSpPr/>
          <p:nvPr/>
        </p:nvCxnSpPr>
        <p:spPr>
          <a:xfrm>
            <a:off x="7882128" y="868680"/>
            <a:ext cx="246888" cy="0"/>
          </a:xfrm>
          <a:prstGeom prst="line">
            <a:avLst/>
          </a:prstGeom>
          <a:ln w="12700">
            <a:solidFill>
              <a:srgbClr val="EE0000"/>
            </a:solidFill>
            <a:tailEnd type="triangle" w="med" len="med"/>
          </a:ln>
        </p:spPr>
      </p:cxnSp>
      <p:cxnSp>
        <p:nvCxnSpPr>
          <p:cNvPr id="159" name="g2 flow 159"/>
          <p:cNvCxnSpPr/>
          <p:nvPr/>
        </p:nvCxnSpPr>
        <p:spPr>
          <a:xfrm>
            <a:off x="9793224" y="868680"/>
            <a:ext cx="246888" cy="0"/>
          </a:xfrm>
          <a:prstGeom prst="line">
            <a:avLst/>
          </a:prstGeom>
          <a:ln w="12700">
            <a:solidFill>
              <a:srgbClr val="EE0000"/>
            </a:solidFill>
            <a:tailEnd type="triangle" w="med" len="med"/>
          </a:ln>
        </p:spPr>
      </p:cxnSp>
      <p:cxnSp>
        <p:nvCxnSpPr>
          <p:cNvPr id="160" name="g2 flow 160"/>
          <p:cNvCxnSpPr/>
          <p:nvPr/>
        </p:nvCxnSpPr>
        <p:spPr>
          <a:xfrm flipH="1">
            <a:off x="9793224" y="3337560"/>
            <a:ext cx="246888" cy="0"/>
          </a:xfrm>
          <a:prstGeom prst="line">
            <a:avLst/>
          </a:prstGeom>
          <a:ln w="12700">
            <a:solidFill>
              <a:srgbClr val="EE0000"/>
            </a:solidFill>
            <a:tailEnd type="triangle" w="med" len="med"/>
          </a:ln>
        </p:spPr>
      </p:cxnSp>
      <p:cxnSp>
        <p:nvCxnSpPr>
          <p:cNvPr id="161" name="g2 flow 161"/>
          <p:cNvCxnSpPr/>
          <p:nvPr/>
        </p:nvCxnSpPr>
        <p:spPr>
          <a:xfrm flipH="1">
            <a:off x="7882128" y="3337560"/>
            <a:ext cx="246888" cy="0"/>
          </a:xfrm>
          <a:prstGeom prst="line">
            <a:avLst/>
          </a:prstGeom>
          <a:ln w="12700">
            <a:solidFill>
              <a:srgbClr val="EE0000"/>
            </a:solidFill>
            <a:tailEnd type="triangle" w="med" len="med"/>
          </a:ln>
        </p:spPr>
      </p:cxnSp>
      <p:cxnSp>
        <p:nvCxnSpPr>
          <p:cNvPr id="162" name="g2 flow 162"/>
          <p:cNvCxnSpPr/>
          <p:nvPr/>
        </p:nvCxnSpPr>
        <p:spPr>
          <a:xfrm flipH="1">
            <a:off x="4059936" y="3337560"/>
            <a:ext cx="246888" cy="0"/>
          </a:xfrm>
          <a:prstGeom prst="line">
            <a:avLst/>
          </a:prstGeom>
          <a:ln w="12700">
            <a:solidFill>
              <a:srgbClr val="EE0000"/>
            </a:solidFill>
            <a:tailEnd type="triangle" w="med" len="med"/>
          </a:ln>
        </p:spPr>
      </p:cxnSp>
      <p:cxnSp>
        <p:nvCxnSpPr>
          <p:cNvPr id="163" name="g2 flow 163"/>
          <p:cNvCxnSpPr/>
          <p:nvPr/>
        </p:nvCxnSpPr>
        <p:spPr>
          <a:xfrm flipH="1">
            <a:off x="2148840" y="3337560"/>
            <a:ext cx="246888" cy="0"/>
          </a:xfrm>
          <a:prstGeom prst="line">
            <a:avLst/>
          </a:prstGeom>
          <a:ln w="12700">
            <a:solidFill>
              <a:srgbClr val="EE0000"/>
            </a:solidFill>
            <a:tailEnd type="triangle" w="med" len="med"/>
          </a:ln>
        </p:spPr>
      </p:cxnSp>
      <p:cxnSp>
        <p:nvCxnSpPr>
          <p:cNvPr id="164" name="g2 flow 164"/>
          <p:cNvCxnSpPr/>
          <p:nvPr/>
        </p:nvCxnSpPr>
        <p:spPr>
          <a:xfrm flipH="1">
            <a:off x="7882128" y="3337560"/>
            <a:ext cx="246888" cy="0"/>
          </a:xfrm>
          <a:prstGeom prst="line">
            <a:avLst/>
          </a:prstGeom>
          <a:ln w="12700">
            <a:solidFill>
              <a:srgbClr val="EE0000"/>
            </a:solidFill>
            <a:tailEnd type="triangle" w="med" len="med"/>
          </a:ln>
        </p:spPr>
      </p:cxnSp>
      <p:cxnSp>
        <p:nvCxnSpPr>
          <p:cNvPr id="165" name="g2 flow 165"/>
          <p:cNvCxnSpPr/>
          <p:nvPr/>
        </p:nvCxnSpPr>
        <p:spPr>
          <a:xfrm>
            <a:off x="10872216" y="1280160"/>
            <a:ext cx="0" cy="1645920"/>
          </a:xfrm>
          <a:prstGeom prst="line">
            <a:avLst/>
          </a:prstGeom>
          <a:ln w="12700">
            <a:solidFill>
              <a:srgbClr val="EE0000"/>
            </a:solidFill>
            <a:tailEnd type="triangle" w="med" len="med"/>
          </a:ln>
        </p:spPr>
      </p:cxnSp>
      <p:sp>
        <p:nvSpPr>
          <p:cNvPr id="166" name="g1 166"/>
          <p:cNvSpPr/>
          <p:nvPr/>
        </p:nvSpPr>
        <p:spPr>
          <a:xfrm>
            <a:off x="10927080" y="2103120"/>
            <a:ext cx="786384" cy="365760"/>
          </a:xfrm>
          <a:prstGeom prst="rect">
            <a:avLst/>
          </a:prstGeom>
          <a:noFill/>
          <a:ln>
            <a:noFill/>
          </a:ln>
        </p:spPr>
        <p:txBody>
          <a:bodyPr wrap="square" lIns="0" tIns="0" rIns="0" bIns="0" rtlCol="0" anchor="t">
            <a:noAutofit/>
          </a:bodyPr>
          <a:lstStyle/>
          <a:p>
            <a:pPr algn="l" marL="0" indent="0">
              <a:lnSpc>
                <a:spcPct val="100000"/>
              </a:lnSpc>
              <a:buNone/>
            </a:pPr>
            <a:r>
              <a:rPr lang="en-US" sz="800" dirty="0">
                <a:solidFill>
                  <a:srgbClr val="F5B700"/>
                </a:solidFill>
                <a:latin typeface="Arial"/>
                <a:ea typeface="Arial"/>
                <a:cs typeface="Arial"/>
              </a:rPr>
              <a:t>canary SLOs</a:t>
            </a:r>
          </a:p>
          <a:p>
            <a:pPr algn="l" marL="0" indent="0">
              <a:lnSpc>
                <a:spcPct val="100000"/>
              </a:lnSpc>
              <a:buNone/>
            </a:pPr>
            <a:r>
              <a:rPr lang="en-US" sz="800" dirty="0">
                <a:solidFill>
                  <a:srgbClr val="F5B700"/>
                </a:solidFill>
                <a:latin typeface="Arial"/>
                <a:ea typeface="Arial"/>
                <a:cs typeface="Arial"/>
              </a:rPr>
              <a:t>hold</a:t>
            </a:r>
          </a:p>
        </p:txBody>
      </p:sp>
      <p:cxnSp>
        <p:nvCxnSpPr>
          <p:cNvPr id="167" name="g2 flow 167"/>
          <p:cNvCxnSpPr/>
          <p:nvPr/>
        </p:nvCxnSpPr>
        <p:spPr>
          <a:xfrm>
            <a:off x="9464040" y="1280160"/>
            <a:ext cx="0" cy="548640"/>
          </a:xfrm>
          <a:prstGeom prst="line">
            <a:avLst/>
          </a:prstGeom>
          <a:ln w="12700">
            <a:solidFill>
              <a:srgbClr val="EE0000"/>
            </a:solidFill>
            <a:prstDash val="dash"/>
          </a:ln>
        </p:spPr>
      </p:cxnSp>
      <p:cxnSp>
        <p:nvCxnSpPr>
          <p:cNvPr id="168" name="g2 flow 168"/>
          <p:cNvCxnSpPr/>
          <p:nvPr/>
        </p:nvCxnSpPr>
        <p:spPr>
          <a:xfrm>
            <a:off x="9464040" y="1828800"/>
            <a:ext cx="1005840" cy="0"/>
          </a:xfrm>
          <a:prstGeom prst="line">
            <a:avLst/>
          </a:prstGeom>
          <a:ln w="12700">
            <a:solidFill>
              <a:srgbClr val="EE0000"/>
            </a:solidFill>
            <a:prstDash val="dash"/>
          </a:ln>
        </p:spPr>
      </p:cxnSp>
      <p:cxnSp>
        <p:nvCxnSpPr>
          <p:cNvPr id="169" name="g2 flow 169"/>
          <p:cNvCxnSpPr/>
          <p:nvPr/>
        </p:nvCxnSpPr>
        <p:spPr>
          <a:xfrm>
            <a:off x="10469880" y="1828800"/>
            <a:ext cx="0" cy="1097280"/>
          </a:xfrm>
          <a:prstGeom prst="line">
            <a:avLst/>
          </a:prstGeom>
          <a:ln w="12700">
            <a:solidFill>
              <a:srgbClr val="EE0000"/>
            </a:solidFill>
            <a:prstDash val="dash"/>
            <a:tailEnd type="triangle" w="med" len="med"/>
          </a:ln>
        </p:spPr>
      </p:cxnSp>
      <p:sp>
        <p:nvSpPr>
          <p:cNvPr id="170" name="g1 170"/>
          <p:cNvSpPr/>
          <p:nvPr/>
        </p:nvSpPr>
        <p:spPr>
          <a:xfrm>
            <a:off x="9500616" y="1883664"/>
            <a:ext cx="868680" cy="365760"/>
          </a:xfrm>
          <a:prstGeom prst="rect">
            <a:avLst/>
          </a:prstGeom>
          <a:noFill/>
          <a:ln>
            <a:noFill/>
          </a:ln>
        </p:spPr>
        <p:txBody>
          <a:bodyPr wrap="square" lIns="0" tIns="0" rIns="0" bIns="0" rtlCol="0" anchor="t">
            <a:noAutofit/>
          </a:bodyPr>
          <a:lstStyle/>
          <a:p>
            <a:pPr algn="l" marL="0" indent="0">
              <a:lnSpc>
                <a:spcPct val="100000"/>
              </a:lnSpc>
              <a:buNone/>
            </a:pPr>
            <a:r>
              <a:rPr lang="en-US" sz="800" dirty="0">
                <a:solidFill>
                  <a:srgbClr val="F5B700"/>
                </a:solidFill>
                <a:latin typeface="Arial"/>
                <a:ea typeface="Arial"/>
                <a:cs typeface="Arial"/>
              </a:rPr>
              <a:t>findings →</a:t>
            </a:r>
          </a:p>
          <a:p>
            <a:pPr algn="l" marL="0" indent="0">
              <a:lnSpc>
                <a:spcPct val="100000"/>
              </a:lnSpc>
              <a:buNone/>
            </a:pPr>
            <a:r>
              <a:rPr lang="en-US" sz="800" dirty="0">
                <a:solidFill>
                  <a:srgbClr val="F5B700"/>
                </a:solidFill>
                <a:latin typeface="Arial"/>
                <a:ea typeface="Arial"/>
                <a:cs typeface="Arial"/>
              </a:rPr>
              <a:t>controls</a:t>
            </a:r>
          </a:p>
        </p:txBody>
      </p:sp>
      <p:cxnSp>
        <p:nvCxnSpPr>
          <p:cNvPr id="171" name="g2 flow 171"/>
          <p:cNvCxnSpPr/>
          <p:nvPr/>
        </p:nvCxnSpPr>
        <p:spPr>
          <a:xfrm flipV="1">
            <a:off x="6492240" y="2331720"/>
            <a:ext cx="0" cy="594360"/>
          </a:xfrm>
          <a:prstGeom prst="line">
            <a:avLst/>
          </a:prstGeom>
          <a:ln w="12700">
            <a:solidFill>
              <a:srgbClr val="EE0000"/>
            </a:solidFill>
            <a:prstDash val="dash"/>
          </a:ln>
        </p:spPr>
      </p:cxnSp>
      <p:cxnSp>
        <p:nvCxnSpPr>
          <p:cNvPr id="172" name="g2 flow 172"/>
          <p:cNvCxnSpPr/>
          <p:nvPr/>
        </p:nvCxnSpPr>
        <p:spPr>
          <a:xfrm flipH="1">
            <a:off x="5577840" y="2331720"/>
            <a:ext cx="914400" cy="0"/>
          </a:xfrm>
          <a:prstGeom prst="line">
            <a:avLst/>
          </a:prstGeom>
          <a:ln w="12700">
            <a:solidFill>
              <a:srgbClr val="EE0000"/>
            </a:solidFill>
            <a:prstDash val="dash"/>
          </a:ln>
        </p:spPr>
      </p:cxnSp>
      <p:cxnSp>
        <p:nvCxnSpPr>
          <p:cNvPr id="173" name="g2 flow 173"/>
          <p:cNvCxnSpPr/>
          <p:nvPr/>
        </p:nvCxnSpPr>
        <p:spPr>
          <a:xfrm flipV="1">
            <a:off x="5577840" y="1280160"/>
            <a:ext cx="0" cy="1051560"/>
          </a:xfrm>
          <a:prstGeom prst="line">
            <a:avLst/>
          </a:prstGeom>
          <a:ln w="12700">
            <a:solidFill>
              <a:srgbClr val="EE0000"/>
            </a:solidFill>
            <a:prstDash val="dash"/>
            <a:tailEnd type="triangle" w="med" len="med"/>
          </a:ln>
        </p:spPr>
      </p:cxnSp>
      <p:sp>
        <p:nvSpPr>
          <p:cNvPr id="174" name="g1 174"/>
          <p:cNvSpPr/>
          <p:nvPr/>
        </p:nvSpPr>
        <p:spPr>
          <a:xfrm>
            <a:off x="4398264" y="1481328"/>
            <a:ext cx="1133856" cy="365760"/>
          </a:xfrm>
          <a:prstGeom prst="rect">
            <a:avLst/>
          </a:prstGeom>
          <a:noFill/>
          <a:ln>
            <a:noFill/>
          </a:ln>
        </p:spPr>
        <p:txBody>
          <a:bodyPr wrap="square" lIns="0" tIns="0" rIns="0" bIns="0" rtlCol="0" anchor="t">
            <a:noAutofit/>
          </a:bodyPr>
          <a:lstStyle/>
          <a:p>
            <a:pPr algn="r" marL="0" indent="0">
              <a:lnSpc>
                <a:spcPct val="100000"/>
              </a:lnSpc>
              <a:buNone/>
            </a:pPr>
            <a:r>
              <a:rPr lang="en-US" sz="800" dirty="0">
                <a:solidFill>
                  <a:srgbClr val="F5B700"/>
                </a:solidFill>
                <a:latin typeface="Arial"/>
                <a:ea typeface="Arial"/>
                <a:cs typeface="Arial"/>
              </a:rPr>
              <a:t>harness@v+1:</a:t>
            </a:r>
          </a:p>
          <a:p>
            <a:pPr algn="r" marL="0" indent="0">
              <a:lnSpc>
                <a:spcPct val="100000"/>
              </a:lnSpc>
              <a:buNone/>
            </a:pPr>
            <a:r>
              <a:rPr lang="en-US" sz="800" dirty="0">
                <a:solidFill>
                  <a:srgbClr val="F5B700"/>
                </a:solidFill>
                <a:latin typeface="Arial"/>
                <a:ea typeface="Arial"/>
                <a:cs typeface="Arial"/>
              </a:rPr>
              <a:t>back through sims</a:t>
            </a:r>
          </a:p>
        </p:txBody>
      </p:sp>
      <p:cxnSp>
        <p:nvCxnSpPr>
          <p:cNvPr id="175" name="g2 flow 175"/>
          <p:cNvCxnSpPr/>
          <p:nvPr/>
        </p:nvCxnSpPr>
        <p:spPr>
          <a:xfrm flipV="1">
            <a:off x="5806440" y="1920240"/>
            <a:ext cx="0" cy="1005840"/>
          </a:xfrm>
          <a:prstGeom prst="line">
            <a:avLst/>
          </a:prstGeom>
          <a:ln w="12700">
            <a:solidFill>
              <a:srgbClr val="EE0000"/>
            </a:solidFill>
            <a:prstDash val="dash"/>
          </a:ln>
        </p:spPr>
      </p:cxnSp>
      <p:cxnSp>
        <p:nvCxnSpPr>
          <p:cNvPr id="176" name="g2 flow 176"/>
          <p:cNvCxnSpPr/>
          <p:nvPr/>
        </p:nvCxnSpPr>
        <p:spPr>
          <a:xfrm>
            <a:off x="5806440" y="1920240"/>
            <a:ext cx="1143000" cy="0"/>
          </a:xfrm>
          <a:prstGeom prst="line">
            <a:avLst/>
          </a:prstGeom>
          <a:ln w="12700">
            <a:solidFill>
              <a:srgbClr val="EE0000"/>
            </a:solidFill>
            <a:prstDash val="dash"/>
          </a:ln>
        </p:spPr>
      </p:cxnSp>
      <p:cxnSp>
        <p:nvCxnSpPr>
          <p:cNvPr id="177" name="g2 flow 177"/>
          <p:cNvCxnSpPr/>
          <p:nvPr/>
        </p:nvCxnSpPr>
        <p:spPr>
          <a:xfrm flipV="1">
            <a:off x="6949440" y="1280160"/>
            <a:ext cx="0" cy="640080"/>
          </a:xfrm>
          <a:prstGeom prst="line">
            <a:avLst/>
          </a:prstGeom>
          <a:ln w="12700">
            <a:solidFill>
              <a:srgbClr val="EE0000"/>
            </a:solidFill>
            <a:prstDash val="dash"/>
            <a:tailEnd type="triangle" w="med" len="med"/>
          </a:ln>
        </p:spPr>
      </p:cxnSp>
      <p:sp>
        <p:nvSpPr>
          <p:cNvPr id="178" name="g1 178"/>
          <p:cNvSpPr/>
          <p:nvPr/>
        </p:nvSpPr>
        <p:spPr>
          <a:xfrm>
            <a:off x="7004304" y="1463040"/>
            <a:ext cx="1188720" cy="365760"/>
          </a:xfrm>
          <a:prstGeom prst="rect">
            <a:avLst/>
          </a:prstGeom>
          <a:noFill/>
          <a:ln>
            <a:noFill/>
          </a:ln>
        </p:spPr>
        <p:txBody>
          <a:bodyPr wrap="square" lIns="0" tIns="0" rIns="0" bIns="0" rtlCol="0" anchor="t">
            <a:noAutofit/>
          </a:bodyPr>
          <a:lstStyle/>
          <a:p>
            <a:pPr algn="l" marL="0" indent="0">
              <a:lnSpc>
                <a:spcPct val="100000"/>
              </a:lnSpc>
              <a:buNone/>
            </a:pPr>
            <a:r>
              <a:rPr lang="en-US" sz="800" dirty="0">
                <a:solidFill>
                  <a:srgbClr val="F5B700"/>
                </a:solidFill>
                <a:latin typeface="Arial"/>
                <a:ea typeface="Arial"/>
                <a:cs typeface="Arial"/>
              </a:rPr>
              <a:t>recertify ·</a:t>
            </a:r>
          </a:p>
          <a:p>
            <a:pPr algn="l" marL="0" indent="0">
              <a:lnSpc>
                <a:spcPct val="100000"/>
              </a:lnSpc>
              <a:buNone/>
            </a:pPr>
            <a:r>
              <a:rPr lang="en-US" sz="800" dirty="0">
                <a:solidFill>
                  <a:srgbClr val="F5B700"/>
                </a:solidFill>
                <a:latin typeface="Arial"/>
                <a:ea typeface="Arial"/>
                <a:cs typeface="Arial"/>
              </a:rPr>
              <a:t>demote autonomy</a:t>
            </a:r>
          </a:p>
        </p:txBody>
      </p:sp>
      <p:cxnSp>
        <p:nvCxnSpPr>
          <p:cNvPr id="179" name="g2 flow 179"/>
          <p:cNvCxnSpPr/>
          <p:nvPr/>
        </p:nvCxnSpPr>
        <p:spPr>
          <a:xfrm>
            <a:off x="8494776" y="3749040"/>
            <a:ext cx="0" cy="201168"/>
          </a:xfrm>
          <a:prstGeom prst="line">
            <a:avLst/>
          </a:prstGeom>
          <a:ln w="12700">
            <a:solidFill>
              <a:srgbClr val="EE0000"/>
            </a:solidFill>
          </a:ln>
        </p:spPr>
      </p:cxnSp>
      <p:cxnSp>
        <p:nvCxnSpPr>
          <p:cNvPr id="180" name="g2 flow 180"/>
          <p:cNvCxnSpPr/>
          <p:nvPr/>
        </p:nvCxnSpPr>
        <p:spPr>
          <a:xfrm flipH="1">
            <a:off x="4764024" y="3950208"/>
            <a:ext cx="3730752" cy="0"/>
          </a:xfrm>
          <a:prstGeom prst="line">
            <a:avLst/>
          </a:prstGeom>
          <a:ln w="12700">
            <a:solidFill>
              <a:srgbClr val="EE0000"/>
            </a:solidFill>
          </a:ln>
        </p:spPr>
      </p:cxnSp>
      <p:cxnSp>
        <p:nvCxnSpPr>
          <p:cNvPr id="181" name="g2 flow 181"/>
          <p:cNvCxnSpPr/>
          <p:nvPr/>
        </p:nvCxnSpPr>
        <p:spPr>
          <a:xfrm flipV="1">
            <a:off x="4764024" y="3749040"/>
            <a:ext cx="0" cy="201168"/>
          </a:xfrm>
          <a:prstGeom prst="line">
            <a:avLst/>
          </a:prstGeom>
          <a:ln w="12700">
            <a:solidFill>
              <a:srgbClr val="EE0000"/>
            </a:solidFill>
            <a:tailEnd type="triangle" w="med" len="med"/>
          </a:ln>
        </p:spPr>
      </p:cxnSp>
      <p:sp>
        <p:nvSpPr>
          <p:cNvPr id="182" name="g2 182"/>
          <p:cNvSpPr/>
          <p:nvPr/>
        </p:nvSpPr>
        <p:spPr>
          <a:xfrm>
            <a:off x="4855464" y="3977640"/>
            <a:ext cx="3108960" cy="201168"/>
          </a:xfrm>
          <a:prstGeom prst="rect">
            <a:avLst/>
          </a:prstGeom>
          <a:noFill/>
          <a:ln>
            <a:noFill/>
          </a:ln>
        </p:spPr>
        <p:txBody>
          <a:bodyPr wrap="square" lIns="0" tIns="0" rIns="0" bIns="0" rtlCol="0" anchor="ctr">
            <a:noAutofit/>
          </a:bodyPr>
          <a:lstStyle/>
          <a:p>
            <a:pPr algn="l" marL="0" indent="0">
              <a:buNone/>
            </a:pPr>
            <a:r>
              <a:rPr lang="en-US" sz="800" dirty="0">
                <a:solidFill>
                  <a:srgbClr val="F5B700"/>
                </a:solidFill>
                <a:latin typeface="Arial"/>
                <a:ea typeface="Arial"/>
                <a:cs typeface="Arial"/>
              </a:rPr>
              <a:t>threshold breach or incident → govern</a:t>
            </a:r>
          </a:p>
        </p:txBody>
      </p:sp>
      <p:sp>
        <p:nvSpPr>
          <p:cNvPr id="183" name="g1 183"/>
          <p:cNvSpPr/>
          <p:nvPr/>
        </p:nvSpPr>
        <p:spPr>
          <a:xfrm>
            <a:off x="484632" y="1600200"/>
            <a:ext cx="3575304" cy="1005840"/>
          </a:xfrm>
          <a:prstGeom prst="roundRect">
            <a:avLst>
              <a:gd name="adj" fmla="val 8000"/>
            </a:avLst>
          </a:prstGeom>
          <a:noFill/>
          <a:ln w="9525">
            <a:solidFill>
              <a:srgbClr val="A0704A"/>
            </a:solidFill>
          </a:ln>
        </p:spPr>
        <p:txBody>
          <a:bodyPr wrap="square" lIns="109728" tIns="36576" rIns="91440" bIns="36576" rtlCol="0" anchor="ctr">
            <a:noAutofit/>
          </a:bodyPr>
          <a:lstStyle/>
          <a:p>
            <a:pPr algn="l" marL="0" indent="0">
              <a:lnSpc>
                <a:spcPct val="100000"/>
              </a:lnSpc>
              <a:buNone/>
            </a:pPr>
            <a:r>
              <a:rPr lang="en-US" sz="900" b="1" dirty="0">
                <a:solidFill>
                  <a:srgbClr val="F5B700"/>
                </a:solidFill>
                <a:latin typeface="Arial"/>
                <a:ea typeface="Arial"/>
                <a:cs typeface="Arial"/>
              </a:rPr>
              <a:t>JOIN KEYS ON EVERY ARTEFACT AND SPAN</a:t>
            </a:r>
          </a:p>
          <a:p>
            <a:pPr algn="l" marL="0" indent="0">
              <a:lnSpc>
                <a:spcPct val="100000"/>
              </a:lnSpc>
              <a:buNone/>
            </a:pPr>
            <a:r>
              <a:rPr lang="en-US" sz="800" dirty="0">
                <a:solidFill>
                  <a:srgbClr val="F3E6D6"/>
                </a:solidFill>
                <a:latin typeface="Arial"/>
                <a:ea typeface="Arial"/>
                <a:cs typeface="Arial"/>
              </a:rPr>
              <a:t>agent_id · agent_version · harness_version · use_case_id · tenant · risk_tier · autonomy_level (L1–L4) · trace / session id</a:t>
            </a:r>
          </a:p>
          <a:p>
            <a:pPr algn="l" marL="0" indent="0">
              <a:lnSpc>
                <a:spcPct val="100000"/>
              </a:lnSpc>
              <a:buNone/>
            </a:pPr>
            <a:r>
              <a:rPr lang="en-US" sz="800" b="1" dirty="0">
                <a:solidFill>
                  <a:srgbClr val="FFFFFF"/>
                </a:solidFill>
                <a:latin typeface="Arial"/>
                <a:ea typeface="Arial"/>
                <a:cs typeface="Arial"/>
              </a:rPr>
              <a:t>New: </a:t>
            </a:r>
            <a:r>
              <a:rPr lang="en-US" sz="800" dirty="0">
                <a:solidFill>
                  <a:srgbClr val="F3E6D6"/>
                </a:solidFill>
                <a:latin typeface="Arial"/>
                <a:ea typeface="Arial"/>
                <a:cs typeface="Arial"/>
              </a:rPr>
              <a:t>caller_agent_id for multi-agent; vendor + external_agent_ref for third-party</a:t>
            </a:r>
          </a:p>
        </p:txBody>
      </p:sp>
      <p:cxnSp>
        <p:nvCxnSpPr>
          <p:cNvPr id="184" name="g2 flow 184"/>
          <p:cNvCxnSpPr/>
          <p:nvPr/>
        </p:nvCxnSpPr>
        <p:spPr>
          <a:xfrm>
            <a:off x="1316736" y="1280160"/>
            <a:ext cx="0" cy="320040"/>
          </a:xfrm>
          <a:prstGeom prst="line">
            <a:avLst/>
          </a:prstGeom>
          <a:ln w="12700">
            <a:solidFill>
              <a:srgbClr val="A0704A"/>
            </a:solidFill>
            <a:prstDash val="dash"/>
          </a:ln>
        </p:spPr>
      </p:cxnSp>
      <p:cxnSp>
        <p:nvCxnSpPr>
          <p:cNvPr id="185" name="g2 flow 185"/>
          <p:cNvCxnSpPr/>
          <p:nvPr/>
        </p:nvCxnSpPr>
        <p:spPr>
          <a:xfrm>
            <a:off x="3227832" y="2606040"/>
            <a:ext cx="0" cy="320040"/>
          </a:xfrm>
          <a:prstGeom prst="line">
            <a:avLst/>
          </a:prstGeom>
          <a:ln w="12700">
            <a:solidFill>
              <a:srgbClr val="A0704A"/>
            </a:solidFill>
            <a:prstDash val="dash"/>
          </a:ln>
        </p:spPr>
      </p:cxnSp>
      <p:sp>
        <p:nvSpPr>
          <p:cNvPr id="186" name="g2 186"/>
          <p:cNvSpPr/>
          <p:nvPr/>
        </p:nvSpPr>
        <p:spPr>
          <a:xfrm>
            <a:off x="484632" y="4315968"/>
            <a:ext cx="8412480" cy="201168"/>
          </a:xfrm>
          <a:prstGeom prst="rect">
            <a:avLst/>
          </a:prstGeom>
          <a:noFill/>
          <a:ln>
            <a:noFill/>
          </a:ln>
        </p:spPr>
        <p:txBody>
          <a:bodyPr wrap="square" lIns="0" tIns="0" rIns="0" bIns="0" rtlCol="0" anchor="ctr">
            <a:noAutofit/>
          </a:bodyPr>
          <a:lstStyle/>
          <a:p>
            <a:pPr algn="l" marL="0" indent="0">
              <a:buNone/>
            </a:pPr>
            <a:r>
              <a:rPr lang="en-US" sz="850" dirty="0">
                <a:solidFill>
                  <a:srgbClr val="F3E6D6"/>
                </a:solidFill>
                <a:latin typeface="Arial"/>
                <a:ea typeface="Arial"/>
                <a:cs typeface="Arial"/>
              </a:rPr>
              <a:t>Filled: new step in the agent loop  ·  Outline: existing pillar stage, re-cut per agent  ·  Dashed: feedback</a:t>
            </a:r>
          </a:p>
        </p:txBody>
      </p:sp>
      <p:sp>
        <p:nvSpPr>
          <p:cNvPr id="187"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03 / 44</a:t>
            </a:r>
          </a:p>
        </p:txBody>
      </p:sp>
      <p:sp>
        <p:nvSpPr>
          <p:cNvPr id="188"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89" name="vz rule"/>
          <p:cNvCxnSpPr/>
          <p:nvPr/>
        </p:nvCxnSpPr>
        <p:spPr>
          <a:xfrm>
            <a:off x="10908792" y="457200"/>
            <a:ext cx="731520" cy="0"/>
          </a:xfrm>
          <a:prstGeom prst="line">
            <a:avLst/>
          </a:prstGeom>
          <a:ln w="28575">
            <a:solidFill>
              <a:srgbClr val="EE0000"/>
            </a:solidFill>
          </a:ln>
        </p:spPr>
      </p:cxnSp>
      <p:sp>
        <p:nvSpPr>
          <p:cNvPr id="191" name="gal 191"/>
          <p:cNvSpPr/>
          <p:nvPr/>
        </p:nvSpPr>
        <p:spPr>
          <a:xfrm>
            <a:off x="484632" y="4517136"/>
            <a:ext cx="8321040" cy="301752"/>
          </a:xfrm>
          <a:prstGeom prst="roundRect">
            <a:avLst>
              <a:gd name="adj" fmla="val 10000"/>
            </a:avLst>
          </a:prstGeom>
          <a:solidFill>
            <a:srgbClr val="F5B700"/>
          </a:solidFill>
          <a:ln>
            <a:noFill/>
          </a:ln>
        </p:spPr>
        <p:txBody>
          <a:bodyPr wrap="square" lIns="73152" tIns="18288" rIns="54864" bIns="18288" rtlCol="0" anchor="ctr">
            <a:noAutofit/>
          </a:bodyPr>
          <a:lstStyle/>
          <a:p>
            <a:pPr algn="l" marL="0" indent="0">
              <a:lnSpc>
                <a:spcPct val="90000"/>
              </a:lnSpc>
              <a:buNone/>
            </a:pPr>
            <a:r>
              <a:rPr lang="en-US" sz="800" b="1" dirty="0">
                <a:solidFill>
                  <a:srgbClr val="141010"/>
                </a:solidFill>
                <a:latin typeface="Arial"/>
                <a:ea typeface="Arial"/>
                <a:cs typeface="Arial"/>
              </a:rPr>
              <a:t>NEW (slide 23)  </a:t>
            </a:r>
            <a:r>
              <a:rPr lang="en-US" sz="800" dirty="0">
                <a:solidFill>
                  <a:srgbClr val="141010"/>
                </a:solidFill>
                <a:latin typeface="Arial"/>
                <a:ea typeface="Arial"/>
                <a:cs typeface="Arial"/>
              </a:rPr>
              <a:t>Harness loop: traces → harness + cost optimisation (HALO, GEPA) → simulate + reward → optimise → insights to use-case teams → fine-tune last.  Parallel lane: per-agent Mem0 memory built from OTel, Galileo and gateway traces.</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0">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717036" y="-5362956"/>
            <a:ext cx="8621878" cy="8621878"/>
          </a:xfrm>
          <a:prstGeom prst="ellipse">
            <a:avLst/>
          </a:prstGeom>
          <a:solidFill>
            <a:srgbClr val="8A0F1A">
              <a:alpha val="2547"/>
            </a:srgbClr>
          </a:solidFill>
          <a:ln/>
        </p:spPr>
      </p:sp>
      <p:sp>
        <p:nvSpPr>
          <p:cNvPr id="3" name="Shape 1"/>
          <p:cNvSpPr/>
          <p:nvPr/>
        </p:nvSpPr>
        <p:spPr>
          <a:xfrm>
            <a:off x="-3537414" y="-5183334"/>
            <a:ext cx="8262633" cy="8262633"/>
          </a:xfrm>
          <a:prstGeom prst="ellipse">
            <a:avLst/>
          </a:prstGeom>
          <a:solidFill>
            <a:srgbClr val="8A0F1A">
              <a:alpha val="4218"/>
            </a:srgbClr>
          </a:solidFill>
          <a:ln/>
        </p:spPr>
      </p:sp>
      <p:sp>
        <p:nvSpPr>
          <p:cNvPr id="4" name="Shape 2"/>
          <p:cNvSpPr/>
          <p:nvPr/>
        </p:nvSpPr>
        <p:spPr>
          <a:xfrm>
            <a:off x="-3357791" y="-5003711"/>
            <a:ext cx="7903388" cy="7903388"/>
          </a:xfrm>
          <a:prstGeom prst="ellipse">
            <a:avLst/>
          </a:prstGeom>
          <a:solidFill>
            <a:srgbClr val="8A0F1A">
              <a:alpha val="4138"/>
            </a:srgbClr>
          </a:solidFill>
          <a:ln/>
        </p:spPr>
      </p:sp>
      <p:sp>
        <p:nvSpPr>
          <p:cNvPr id="5" name="Shape 3"/>
          <p:cNvSpPr/>
          <p:nvPr/>
        </p:nvSpPr>
        <p:spPr>
          <a:xfrm>
            <a:off x="-3178169" y="-4824089"/>
            <a:ext cx="7544143" cy="7544143"/>
          </a:xfrm>
          <a:prstGeom prst="ellipse">
            <a:avLst/>
          </a:prstGeom>
          <a:solidFill>
            <a:srgbClr val="8A0F1A">
              <a:alpha val="2636"/>
            </a:srgbClr>
          </a:solidFill>
          <a:ln/>
        </p:spPr>
      </p:sp>
      <p:sp>
        <p:nvSpPr>
          <p:cNvPr id="6" name="Shape 4"/>
          <p:cNvSpPr/>
          <p:nvPr/>
        </p:nvSpPr>
        <p:spPr>
          <a:xfrm>
            <a:off x="-2998546" y="-4644466"/>
            <a:ext cx="7184898" cy="7184898"/>
          </a:xfrm>
          <a:prstGeom prst="ellipse">
            <a:avLst/>
          </a:prstGeom>
          <a:solidFill>
            <a:srgbClr val="8A0F1A">
              <a:alpha val="2661"/>
            </a:srgbClr>
          </a:solidFill>
          <a:ln/>
        </p:spPr>
      </p:sp>
      <p:sp>
        <p:nvSpPr>
          <p:cNvPr id="7" name="Shape 5"/>
          <p:cNvSpPr/>
          <p:nvPr/>
        </p:nvSpPr>
        <p:spPr>
          <a:xfrm>
            <a:off x="-2818924" y="-4464844"/>
            <a:ext cx="6825653" cy="6825653"/>
          </a:xfrm>
          <a:prstGeom prst="ellipse">
            <a:avLst/>
          </a:prstGeom>
          <a:solidFill>
            <a:srgbClr val="8A0F1A">
              <a:alpha val="3304"/>
            </a:srgbClr>
          </a:solidFill>
          <a:ln/>
        </p:spPr>
      </p:sp>
      <p:sp>
        <p:nvSpPr>
          <p:cNvPr id="8" name="Shape 6"/>
          <p:cNvSpPr/>
          <p:nvPr/>
        </p:nvSpPr>
        <p:spPr>
          <a:xfrm>
            <a:off x="-2639301" y="-4285221"/>
            <a:ext cx="6466408" cy="6466408"/>
          </a:xfrm>
          <a:prstGeom prst="ellipse">
            <a:avLst/>
          </a:prstGeom>
          <a:solidFill>
            <a:srgbClr val="8A0F1A">
              <a:alpha val="3622"/>
            </a:srgbClr>
          </a:solidFill>
          <a:ln/>
        </p:spPr>
      </p:sp>
      <p:sp>
        <p:nvSpPr>
          <p:cNvPr id="9" name="Shape 7"/>
          <p:cNvSpPr/>
          <p:nvPr/>
        </p:nvSpPr>
        <p:spPr>
          <a:xfrm>
            <a:off x="-2459679" y="-4105599"/>
            <a:ext cx="6107163" cy="6107163"/>
          </a:xfrm>
          <a:prstGeom prst="ellipse">
            <a:avLst/>
          </a:prstGeom>
          <a:solidFill>
            <a:srgbClr val="8A0F1A">
              <a:alpha val="3650"/>
            </a:srgbClr>
          </a:solidFill>
          <a:ln/>
        </p:spPr>
      </p:sp>
      <p:sp>
        <p:nvSpPr>
          <p:cNvPr id="10" name="Shape 8"/>
          <p:cNvSpPr/>
          <p:nvPr/>
        </p:nvSpPr>
        <p:spPr>
          <a:xfrm>
            <a:off x="-2280056" y="-3925976"/>
            <a:ext cx="5747918" cy="5747918"/>
          </a:xfrm>
          <a:prstGeom prst="ellipse">
            <a:avLst/>
          </a:prstGeom>
          <a:solidFill>
            <a:srgbClr val="8A0F1A">
              <a:alpha val="3631"/>
            </a:srgbClr>
          </a:solidFill>
          <a:ln/>
        </p:spPr>
      </p:sp>
      <p:sp>
        <p:nvSpPr>
          <p:cNvPr id="11" name="Shape 9"/>
          <p:cNvSpPr/>
          <p:nvPr/>
        </p:nvSpPr>
        <p:spPr>
          <a:xfrm>
            <a:off x="-2100434" y="-3746354"/>
            <a:ext cx="5388674" cy="5388674"/>
          </a:xfrm>
          <a:prstGeom prst="ellipse">
            <a:avLst/>
          </a:prstGeom>
          <a:solidFill>
            <a:srgbClr val="8A0F1A">
              <a:alpha val="3693"/>
            </a:srgbClr>
          </a:solidFill>
          <a:ln/>
        </p:spPr>
      </p:sp>
      <p:sp>
        <p:nvSpPr>
          <p:cNvPr id="12" name="Shape 10"/>
          <p:cNvSpPr/>
          <p:nvPr/>
        </p:nvSpPr>
        <p:spPr>
          <a:xfrm>
            <a:off x="-1920812" y="-3566731"/>
            <a:ext cx="5029429" cy="5029429"/>
          </a:xfrm>
          <a:prstGeom prst="ellipse">
            <a:avLst/>
          </a:prstGeom>
          <a:solidFill>
            <a:srgbClr val="8A0F1A">
              <a:alpha val="4536"/>
            </a:srgbClr>
          </a:solidFill>
          <a:ln/>
        </p:spPr>
      </p:sp>
      <p:sp>
        <p:nvSpPr>
          <p:cNvPr id="13" name="Shape 11"/>
          <p:cNvSpPr/>
          <p:nvPr/>
        </p:nvSpPr>
        <p:spPr>
          <a:xfrm>
            <a:off x="-1741189" y="-3387109"/>
            <a:ext cx="4670184" cy="4670184"/>
          </a:xfrm>
          <a:prstGeom prst="ellipse">
            <a:avLst/>
          </a:prstGeom>
          <a:solidFill>
            <a:srgbClr val="8A0F1A">
              <a:alpha val="4737"/>
            </a:srgbClr>
          </a:solidFill>
          <a:ln/>
        </p:spPr>
      </p:sp>
      <p:sp>
        <p:nvSpPr>
          <p:cNvPr id="14" name="Shape 12"/>
          <p:cNvSpPr/>
          <p:nvPr/>
        </p:nvSpPr>
        <p:spPr>
          <a:xfrm>
            <a:off x="-1561567" y="-3207487"/>
            <a:ext cx="4310939" cy="4310939"/>
          </a:xfrm>
          <a:prstGeom prst="ellipse">
            <a:avLst/>
          </a:prstGeom>
          <a:solidFill>
            <a:srgbClr val="8A0F1A">
              <a:alpha val="4994"/>
            </a:srgbClr>
          </a:solidFill>
          <a:ln/>
        </p:spPr>
      </p:sp>
      <p:sp>
        <p:nvSpPr>
          <p:cNvPr id="15" name="Shape 13"/>
          <p:cNvSpPr/>
          <p:nvPr/>
        </p:nvSpPr>
        <p:spPr>
          <a:xfrm>
            <a:off x="-1381944" y="-3027864"/>
            <a:ext cx="3951694" cy="3951694"/>
          </a:xfrm>
          <a:prstGeom prst="ellipse">
            <a:avLst/>
          </a:prstGeom>
          <a:solidFill>
            <a:srgbClr val="8A0F1A">
              <a:alpha val="5272"/>
            </a:srgbClr>
          </a:solidFill>
          <a:ln/>
        </p:spPr>
      </p:sp>
      <p:sp>
        <p:nvSpPr>
          <p:cNvPr id="16" name="Shape 14"/>
          <p:cNvSpPr/>
          <p:nvPr/>
        </p:nvSpPr>
        <p:spPr>
          <a:xfrm>
            <a:off x="-1202322" y="-2848242"/>
            <a:ext cx="3592449" cy="3592449"/>
          </a:xfrm>
          <a:prstGeom prst="ellipse">
            <a:avLst/>
          </a:prstGeom>
          <a:solidFill>
            <a:srgbClr val="8A0F1A">
              <a:alpha val="5521"/>
            </a:srgbClr>
          </a:solidFill>
          <a:ln/>
        </p:spPr>
      </p:sp>
      <p:sp>
        <p:nvSpPr>
          <p:cNvPr id="17" name="Shape 15"/>
          <p:cNvSpPr/>
          <p:nvPr/>
        </p:nvSpPr>
        <p:spPr>
          <a:xfrm>
            <a:off x="-1022699" y="-2668619"/>
            <a:ext cx="3233204" cy="3233204"/>
          </a:xfrm>
          <a:prstGeom prst="ellipse">
            <a:avLst/>
          </a:prstGeom>
          <a:solidFill>
            <a:srgbClr val="8A0F1A">
              <a:alpha val="6496"/>
            </a:srgbClr>
          </a:solidFill>
          <a:ln/>
        </p:spPr>
      </p:sp>
      <p:sp>
        <p:nvSpPr>
          <p:cNvPr id="18" name="Shape 16"/>
          <p:cNvSpPr/>
          <p:nvPr/>
        </p:nvSpPr>
        <p:spPr>
          <a:xfrm>
            <a:off x="-843077" y="-2488997"/>
            <a:ext cx="2873959" cy="2873959"/>
          </a:xfrm>
          <a:prstGeom prst="ellipse">
            <a:avLst/>
          </a:prstGeom>
          <a:solidFill>
            <a:srgbClr val="8A0F1A">
              <a:alpha val="6768"/>
            </a:srgbClr>
          </a:solidFill>
          <a:ln/>
        </p:spPr>
      </p:sp>
      <p:sp>
        <p:nvSpPr>
          <p:cNvPr id="19" name="Shape 17"/>
          <p:cNvSpPr/>
          <p:nvPr/>
        </p:nvSpPr>
        <p:spPr>
          <a:xfrm>
            <a:off x="-663454" y="-2309374"/>
            <a:ext cx="2514714" cy="2514714"/>
          </a:xfrm>
          <a:prstGeom prst="ellipse">
            <a:avLst/>
          </a:prstGeom>
          <a:solidFill>
            <a:srgbClr val="8A0F1A">
              <a:alpha val="7123"/>
            </a:srgbClr>
          </a:solidFill>
          <a:ln/>
        </p:spPr>
      </p:sp>
      <p:sp>
        <p:nvSpPr>
          <p:cNvPr id="20" name="Shape 18"/>
          <p:cNvSpPr/>
          <p:nvPr/>
        </p:nvSpPr>
        <p:spPr>
          <a:xfrm>
            <a:off x="-483832" y="-2129752"/>
            <a:ext cx="2155469" cy="2155469"/>
          </a:xfrm>
          <a:prstGeom prst="ellipse">
            <a:avLst/>
          </a:prstGeom>
          <a:solidFill>
            <a:srgbClr val="8A0F1A">
              <a:alpha val="7486"/>
            </a:srgbClr>
          </a:solidFill>
          <a:ln/>
        </p:spPr>
      </p:sp>
      <p:sp>
        <p:nvSpPr>
          <p:cNvPr id="21" name="Shape 19"/>
          <p:cNvSpPr/>
          <p:nvPr/>
        </p:nvSpPr>
        <p:spPr>
          <a:xfrm>
            <a:off x="-304209" y="-1950129"/>
            <a:ext cx="1796225" cy="1796225"/>
          </a:xfrm>
          <a:prstGeom prst="ellipse">
            <a:avLst/>
          </a:prstGeom>
          <a:solidFill>
            <a:srgbClr val="8A0F1A">
              <a:alpha val="8191"/>
            </a:srgbClr>
          </a:solidFill>
          <a:ln/>
        </p:spPr>
      </p:sp>
      <p:sp>
        <p:nvSpPr>
          <p:cNvPr id="22" name="Shape 20"/>
          <p:cNvSpPr/>
          <p:nvPr/>
        </p:nvSpPr>
        <p:spPr>
          <a:xfrm>
            <a:off x="-124587" y="-1770507"/>
            <a:ext cx="1436980" cy="1436980"/>
          </a:xfrm>
          <a:prstGeom prst="ellipse">
            <a:avLst/>
          </a:prstGeom>
          <a:solidFill>
            <a:srgbClr val="8A0F1A">
              <a:alpha val="9466"/>
            </a:srgbClr>
          </a:solidFill>
          <a:ln/>
        </p:spPr>
      </p:sp>
      <p:sp>
        <p:nvSpPr>
          <p:cNvPr id="23" name="Shape 21"/>
          <p:cNvSpPr/>
          <p:nvPr/>
        </p:nvSpPr>
        <p:spPr>
          <a:xfrm>
            <a:off x="55035" y="-1590885"/>
            <a:ext cx="1077735" cy="1077735"/>
          </a:xfrm>
          <a:prstGeom prst="ellipse">
            <a:avLst/>
          </a:prstGeom>
          <a:solidFill>
            <a:srgbClr val="8A0F1A">
              <a:alpha val="10120"/>
            </a:srgbClr>
          </a:solidFill>
          <a:ln/>
        </p:spPr>
      </p:sp>
      <p:sp>
        <p:nvSpPr>
          <p:cNvPr id="24" name="Shape 22"/>
          <p:cNvSpPr/>
          <p:nvPr/>
        </p:nvSpPr>
        <p:spPr>
          <a:xfrm>
            <a:off x="234658" y="-1411262"/>
            <a:ext cx="718490" cy="718490"/>
          </a:xfrm>
          <a:prstGeom prst="ellipse">
            <a:avLst/>
          </a:prstGeom>
          <a:solidFill>
            <a:srgbClr val="8A0F1A">
              <a:alpha val="10280"/>
            </a:srgbClr>
          </a:solidFill>
          <a:ln/>
        </p:spPr>
      </p:sp>
      <p:sp>
        <p:nvSpPr>
          <p:cNvPr id="25" name="Shape 23"/>
          <p:cNvSpPr/>
          <p:nvPr/>
        </p:nvSpPr>
        <p:spPr>
          <a:xfrm>
            <a:off x="414280" y="-1231640"/>
            <a:ext cx="359245" cy="359245"/>
          </a:xfrm>
          <a:prstGeom prst="ellipse">
            <a:avLst/>
          </a:prstGeom>
          <a:solidFill>
            <a:srgbClr val="8A0F1A">
              <a:alpha val="10999"/>
            </a:srgbClr>
          </a:solidFill>
          <a:ln/>
        </p:spPr>
      </p:sp>
      <p:sp>
        <p:nvSpPr>
          <p:cNvPr id="26" name="Shape 24"/>
          <p:cNvSpPr/>
          <p:nvPr/>
        </p:nvSpPr>
        <p:spPr>
          <a:xfrm>
            <a:off x="895198" y="3602736"/>
            <a:ext cx="8621878" cy="8621878"/>
          </a:xfrm>
          <a:prstGeom prst="ellipse">
            <a:avLst/>
          </a:prstGeom>
          <a:solidFill>
            <a:srgbClr val="8A0F1A">
              <a:alpha val="2547"/>
            </a:srgbClr>
          </a:solidFill>
          <a:ln/>
        </p:spPr>
      </p:sp>
      <p:sp>
        <p:nvSpPr>
          <p:cNvPr id="27" name="Shape 25"/>
          <p:cNvSpPr/>
          <p:nvPr/>
        </p:nvSpPr>
        <p:spPr>
          <a:xfrm>
            <a:off x="1074820" y="3782358"/>
            <a:ext cx="8262633" cy="8262633"/>
          </a:xfrm>
          <a:prstGeom prst="ellipse">
            <a:avLst/>
          </a:prstGeom>
          <a:solidFill>
            <a:srgbClr val="8A0F1A">
              <a:alpha val="4218"/>
            </a:srgbClr>
          </a:solidFill>
          <a:ln/>
        </p:spPr>
      </p:sp>
      <p:sp>
        <p:nvSpPr>
          <p:cNvPr id="28" name="Shape 26"/>
          <p:cNvSpPr/>
          <p:nvPr/>
        </p:nvSpPr>
        <p:spPr>
          <a:xfrm>
            <a:off x="1254443" y="3961981"/>
            <a:ext cx="7903388" cy="7903388"/>
          </a:xfrm>
          <a:prstGeom prst="ellipse">
            <a:avLst/>
          </a:prstGeom>
          <a:solidFill>
            <a:srgbClr val="8A0F1A">
              <a:alpha val="4138"/>
            </a:srgbClr>
          </a:solidFill>
          <a:ln/>
        </p:spPr>
      </p:sp>
      <p:sp>
        <p:nvSpPr>
          <p:cNvPr id="29" name="Shape 27"/>
          <p:cNvSpPr/>
          <p:nvPr/>
        </p:nvSpPr>
        <p:spPr>
          <a:xfrm>
            <a:off x="1434065" y="4141603"/>
            <a:ext cx="7544143" cy="7544143"/>
          </a:xfrm>
          <a:prstGeom prst="ellipse">
            <a:avLst/>
          </a:prstGeom>
          <a:solidFill>
            <a:srgbClr val="8A0F1A">
              <a:alpha val="2636"/>
            </a:srgbClr>
          </a:solidFill>
          <a:ln/>
        </p:spPr>
      </p:sp>
      <p:sp>
        <p:nvSpPr>
          <p:cNvPr id="30" name="Shape 28"/>
          <p:cNvSpPr/>
          <p:nvPr/>
        </p:nvSpPr>
        <p:spPr>
          <a:xfrm>
            <a:off x="1613687" y="4321226"/>
            <a:ext cx="7184898" cy="7184898"/>
          </a:xfrm>
          <a:prstGeom prst="ellipse">
            <a:avLst/>
          </a:prstGeom>
          <a:solidFill>
            <a:srgbClr val="8A0F1A">
              <a:alpha val="2661"/>
            </a:srgbClr>
          </a:solidFill>
          <a:ln/>
        </p:spPr>
      </p:sp>
      <p:sp>
        <p:nvSpPr>
          <p:cNvPr id="31" name="Shape 29"/>
          <p:cNvSpPr/>
          <p:nvPr/>
        </p:nvSpPr>
        <p:spPr>
          <a:xfrm>
            <a:off x="1793310" y="4500848"/>
            <a:ext cx="6825653" cy="6825653"/>
          </a:xfrm>
          <a:prstGeom prst="ellipse">
            <a:avLst/>
          </a:prstGeom>
          <a:solidFill>
            <a:srgbClr val="8A0F1A">
              <a:alpha val="3304"/>
            </a:srgbClr>
          </a:solidFill>
          <a:ln/>
        </p:spPr>
      </p:sp>
      <p:sp>
        <p:nvSpPr>
          <p:cNvPr id="32" name="Shape 30"/>
          <p:cNvSpPr/>
          <p:nvPr/>
        </p:nvSpPr>
        <p:spPr>
          <a:xfrm>
            <a:off x="1972932" y="4680471"/>
            <a:ext cx="6466408" cy="6466408"/>
          </a:xfrm>
          <a:prstGeom prst="ellipse">
            <a:avLst/>
          </a:prstGeom>
          <a:solidFill>
            <a:srgbClr val="8A0F1A">
              <a:alpha val="3622"/>
            </a:srgbClr>
          </a:solidFill>
          <a:ln/>
        </p:spPr>
      </p:sp>
      <p:sp>
        <p:nvSpPr>
          <p:cNvPr id="33" name="Shape 31"/>
          <p:cNvSpPr/>
          <p:nvPr/>
        </p:nvSpPr>
        <p:spPr>
          <a:xfrm>
            <a:off x="2152555" y="4860093"/>
            <a:ext cx="6107163" cy="6107163"/>
          </a:xfrm>
          <a:prstGeom prst="ellipse">
            <a:avLst/>
          </a:prstGeom>
          <a:solidFill>
            <a:srgbClr val="8A0F1A">
              <a:alpha val="3650"/>
            </a:srgbClr>
          </a:solidFill>
          <a:ln/>
        </p:spPr>
      </p:sp>
      <p:sp>
        <p:nvSpPr>
          <p:cNvPr id="34" name="Shape 32"/>
          <p:cNvSpPr/>
          <p:nvPr/>
        </p:nvSpPr>
        <p:spPr>
          <a:xfrm>
            <a:off x="2332177" y="5039716"/>
            <a:ext cx="5747918" cy="5747918"/>
          </a:xfrm>
          <a:prstGeom prst="ellipse">
            <a:avLst/>
          </a:prstGeom>
          <a:solidFill>
            <a:srgbClr val="8A0F1A">
              <a:alpha val="3631"/>
            </a:srgbClr>
          </a:solidFill>
          <a:ln/>
        </p:spPr>
      </p:sp>
      <p:sp>
        <p:nvSpPr>
          <p:cNvPr id="35" name="Shape 33"/>
          <p:cNvSpPr/>
          <p:nvPr/>
        </p:nvSpPr>
        <p:spPr>
          <a:xfrm>
            <a:off x="2511800" y="5219338"/>
            <a:ext cx="5388674" cy="5388674"/>
          </a:xfrm>
          <a:prstGeom prst="ellipse">
            <a:avLst/>
          </a:prstGeom>
          <a:solidFill>
            <a:srgbClr val="8A0F1A">
              <a:alpha val="3693"/>
            </a:srgbClr>
          </a:solidFill>
          <a:ln/>
        </p:spPr>
      </p:sp>
      <p:sp>
        <p:nvSpPr>
          <p:cNvPr id="36" name="Shape 34"/>
          <p:cNvSpPr/>
          <p:nvPr/>
        </p:nvSpPr>
        <p:spPr>
          <a:xfrm>
            <a:off x="2691422" y="5398961"/>
            <a:ext cx="5029429" cy="5029429"/>
          </a:xfrm>
          <a:prstGeom prst="ellipse">
            <a:avLst/>
          </a:prstGeom>
          <a:solidFill>
            <a:srgbClr val="8A0F1A">
              <a:alpha val="4536"/>
            </a:srgbClr>
          </a:solidFill>
          <a:ln/>
        </p:spPr>
      </p:sp>
      <p:sp>
        <p:nvSpPr>
          <p:cNvPr id="37" name="Shape 35"/>
          <p:cNvSpPr/>
          <p:nvPr/>
        </p:nvSpPr>
        <p:spPr>
          <a:xfrm>
            <a:off x="2871045" y="5578583"/>
            <a:ext cx="4670184" cy="4670184"/>
          </a:xfrm>
          <a:prstGeom prst="ellipse">
            <a:avLst/>
          </a:prstGeom>
          <a:solidFill>
            <a:srgbClr val="8A0F1A">
              <a:alpha val="4737"/>
            </a:srgbClr>
          </a:solidFill>
          <a:ln/>
        </p:spPr>
      </p:sp>
      <p:sp>
        <p:nvSpPr>
          <p:cNvPr id="38" name="Shape 36"/>
          <p:cNvSpPr/>
          <p:nvPr/>
        </p:nvSpPr>
        <p:spPr>
          <a:xfrm>
            <a:off x="3050667" y="5758205"/>
            <a:ext cx="4310939" cy="4310939"/>
          </a:xfrm>
          <a:prstGeom prst="ellipse">
            <a:avLst/>
          </a:prstGeom>
          <a:solidFill>
            <a:srgbClr val="8A0F1A">
              <a:alpha val="4994"/>
            </a:srgbClr>
          </a:solidFill>
          <a:ln/>
        </p:spPr>
      </p:sp>
      <p:sp>
        <p:nvSpPr>
          <p:cNvPr id="39" name="Shape 37"/>
          <p:cNvSpPr/>
          <p:nvPr/>
        </p:nvSpPr>
        <p:spPr>
          <a:xfrm>
            <a:off x="3230289" y="5937828"/>
            <a:ext cx="3951694" cy="3951694"/>
          </a:xfrm>
          <a:prstGeom prst="ellipse">
            <a:avLst/>
          </a:prstGeom>
          <a:solidFill>
            <a:srgbClr val="8A0F1A">
              <a:alpha val="5272"/>
            </a:srgbClr>
          </a:solidFill>
          <a:ln/>
        </p:spPr>
      </p:sp>
      <p:sp>
        <p:nvSpPr>
          <p:cNvPr id="40" name="Shape 38"/>
          <p:cNvSpPr/>
          <p:nvPr/>
        </p:nvSpPr>
        <p:spPr>
          <a:xfrm>
            <a:off x="3409912" y="6117450"/>
            <a:ext cx="3592449" cy="3592449"/>
          </a:xfrm>
          <a:prstGeom prst="ellipse">
            <a:avLst/>
          </a:prstGeom>
          <a:solidFill>
            <a:srgbClr val="8A0F1A">
              <a:alpha val="5521"/>
            </a:srgbClr>
          </a:solidFill>
          <a:ln/>
        </p:spPr>
      </p:sp>
      <p:sp>
        <p:nvSpPr>
          <p:cNvPr id="41" name="Shape 39"/>
          <p:cNvSpPr/>
          <p:nvPr/>
        </p:nvSpPr>
        <p:spPr>
          <a:xfrm>
            <a:off x="3589534" y="6297073"/>
            <a:ext cx="3233204" cy="3233204"/>
          </a:xfrm>
          <a:prstGeom prst="ellipse">
            <a:avLst/>
          </a:prstGeom>
          <a:solidFill>
            <a:srgbClr val="8A0F1A">
              <a:alpha val="6496"/>
            </a:srgbClr>
          </a:solidFill>
          <a:ln/>
        </p:spPr>
      </p:sp>
      <p:sp>
        <p:nvSpPr>
          <p:cNvPr id="42" name="Shape 40"/>
          <p:cNvSpPr/>
          <p:nvPr/>
        </p:nvSpPr>
        <p:spPr>
          <a:xfrm>
            <a:off x="3769157" y="6476695"/>
            <a:ext cx="2873959" cy="2873959"/>
          </a:xfrm>
          <a:prstGeom prst="ellipse">
            <a:avLst/>
          </a:prstGeom>
          <a:solidFill>
            <a:srgbClr val="8A0F1A">
              <a:alpha val="6768"/>
            </a:srgbClr>
          </a:solidFill>
          <a:ln/>
        </p:spPr>
      </p:sp>
      <p:sp>
        <p:nvSpPr>
          <p:cNvPr id="43" name="Shape 41"/>
          <p:cNvSpPr/>
          <p:nvPr/>
        </p:nvSpPr>
        <p:spPr>
          <a:xfrm>
            <a:off x="3948779" y="6656318"/>
            <a:ext cx="2514714" cy="2514714"/>
          </a:xfrm>
          <a:prstGeom prst="ellipse">
            <a:avLst/>
          </a:prstGeom>
          <a:solidFill>
            <a:srgbClr val="8A0F1A">
              <a:alpha val="7123"/>
            </a:srgbClr>
          </a:solidFill>
          <a:ln/>
        </p:spPr>
      </p:sp>
      <p:sp>
        <p:nvSpPr>
          <p:cNvPr id="44" name="Shape 42"/>
          <p:cNvSpPr/>
          <p:nvPr/>
        </p:nvSpPr>
        <p:spPr>
          <a:xfrm>
            <a:off x="4128402" y="6835940"/>
            <a:ext cx="2155469" cy="2155469"/>
          </a:xfrm>
          <a:prstGeom prst="ellipse">
            <a:avLst/>
          </a:prstGeom>
          <a:solidFill>
            <a:srgbClr val="8A0F1A">
              <a:alpha val="7486"/>
            </a:srgbClr>
          </a:solidFill>
          <a:ln/>
        </p:spPr>
      </p:sp>
      <p:sp>
        <p:nvSpPr>
          <p:cNvPr id="45" name="Shape 43"/>
          <p:cNvSpPr/>
          <p:nvPr/>
        </p:nvSpPr>
        <p:spPr>
          <a:xfrm>
            <a:off x="4308024" y="7015563"/>
            <a:ext cx="1796225" cy="1796225"/>
          </a:xfrm>
          <a:prstGeom prst="ellipse">
            <a:avLst/>
          </a:prstGeom>
          <a:solidFill>
            <a:srgbClr val="8A0F1A">
              <a:alpha val="8191"/>
            </a:srgbClr>
          </a:solidFill>
          <a:ln/>
        </p:spPr>
      </p:sp>
      <p:sp>
        <p:nvSpPr>
          <p:cNvPr id="46" name="Shape 44"/>
          <p:cNvSpPr/>
          <p:nvPr/>
        </p:nvSpPr>
        <p:spPr>
          <a:xfrm>
            <a:off x="4487647" y="7195185"/>
            <a:ext cx="1436980" cy="1436980"/>
          </a:xfrm>
          <a:prstGeom prst="ellipse">
            <a:avLst/>
          </a:prstGeom>
          <a:solidFill>
            <a:srgbClr val="8A0F1A">
              <a:alpha val="9466"/>
            </a:srgbClr>
          </a:solidFill>
          <a:ln/>
        </p:spPr>
      </p:sp>
      <p:sp>
        <p:nvSpPr>
          <p:cNvPr id="47" name="Shape 45"/>
          <p:cNvSpPr/>
          <p:nvPr/>
        </p:nvSpPr>
        <p:spPr>
          <a:xfrm>
            <a:off x="4667269" y="7374807"/>
            <a:ext cx="1077735" cy="1077735"/>
          </a:xfrm>
          <a:prstGeom prst="ellipse">
            <a:avLst/>
          </a:prstGeom>
          <a:solidFill>
            <a:srgbClr val="8A0F1A">
              <a:alpha val="10120"/>
            </a:srgbClr>
          </a:solidFill>
          <a:ln/>
        </p:spPr>
      </p:sp>
      <p:sp>
        <p:nvSpPr>
          <p:cNvPr id="48" name="Shape 46"/>
          <p:cNvSpPr/>
          <p:nvPr/>
        </p:nvSpPr>
        <p:spPr>
          <a:xfrm>
            <a:off x="4846892" y="7554430"/>
            <a:ext cx="718490" cy="718490"/>
          </a:xfrm>
          <a:prstGeom prst="ellipse">
            <a:avLst/>
          </a:prstGeom>
          <a:solidFill>
            <a:srgbClr val="8A0F1A">
              <a:alpha val="10280"/>
            </a:srgbClr>
          </a:solidFill>
          <a:ln/>
        </p:spPr>
      </p:sp>
      <p:sp>
        <p:nvSpPr>
          <p:cNvPr id="49" name="Shape 47"/>
          <p:cNvSpPr/>
          <p:nvPr/>
        </p:nvSpPr>
        <p:spPr>
          <a:xfrm>
            <a:off x="5026514" y="7734052"/>
            <a:ext cx="359245" cy="359245"/>
          </a:xfrm>
          <a:prstGeom prst="ellipse">
            <a:avLst/>
          </a:prstGeom>
          <a:solidFill>
            <a:srgbClr val="8A0F1A">
              <a:alpha val="10999"/>
            </a:srgbClr>
          </a:solidFill>
          <a:ln/>
        </p:spPr>
      </p:sp>
      <p:sp>
        <p:nvSpPr>
          <p:cNvPr id="50" name="Text 48"/>
          <p:cNvSpPr/>
          <p:nvPr/>
        </p:nvSpPr>
        <p:spPr>
          <a:xfrm>
            <a:off x="678485" y="1051560"/>
            <a:ext cx="301752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Gap register</a:t>
            </a:r>
          </a:p>
        </p:txBody>
      </p:sp>
      <p:sp>
        <p:nvSpPr>
          <p:cNvPr id="51" name="Text 49"/>
          <p:cNvSpPr/>
          <p:nvPr/>
        </p:nvSpPr>
        <p:spPr>
          <a:xfrm>
            <a:off x="678485" y="1280160"/>
            <a:ext cx="3429000" cy="646481"/>
          </a:xfrm>
          <a:prstGeom prst="rect">
            <a:avLst/>
          </a:prstGeom>
          <a:noFill/>
          <a:ln/>
        </p:spPr>
        <p:txBody>
          <a:bodyPr wrap="none" lIns="91440" tIns="45720" rIns="91440" bIns="45720" rtlCol="0" anchor="t">
            <a:spAutoFit/>
          </a:bodyPr>
          <a:lstStyle/>
          <a:p>
            <a:pPr indent="0" marL="0">
              <a:buNone/>
            </a:pPr>
            <a:r>
              <a:rPr lang="en-US" sz="2550" dirty="0" b="1">
                <a:solidFill>
                  <a:srgbClr val="FFFFFF"/>
                </a:solidFill>
                <a:latin typeface="Arial" pitchFamily="34" charset="0"/>
                <a:ea typeface="Arial" pitchFamily="34" charset="-122"/>
                <a:cs typeface="Arial" pitchFamily="34" charset="-120"/>
              </a:rPr>
              <a:t>What the market</a:t>
            </a:r>
          </a:p>
        </p:txBody>
      </p:sp>
      <p:sp>
        <p:nvSpPr>
          <p:cNvPr id="52" name="Text 50"/>
          <p:cNvSpPr/>
          <p:nvPr/>
        </p:nvSpPr>
        <p:spPr>
          <a:xfrm>
            <a:off x="1351483" y="1737360"/>
            <a:ext cx="2788920" cy="646481"/>
          </a:xfrm>
          <a:prstGeom prst="rect">
            <a:avLst/>
          </a:prstGeom>
          <a:noFill/>
          <a:ln/>
        </p:spPr>
        <p:txBody>
          <a:bodyPr wrap="none" lIns="91440" tIns="45720" rIns="91440" bIns="45720" rtlCol="0" anchor="t">
            <a:spAutoFit/>
          </a:bodyPr>
          <a:lstStyle/>
          <a:p>
            <a:pPr indent="0" marL="0">
              <a:buNone/>
            </a:pPr>
            <a:r>
              <a:rPr lang="en-US" sz="2600" dirty="0" b="1">
                <a:solidFill>
                  <a:srgbClr val="EE0000"/>
                </a:solidFill>
                <a:latin typeface="Arial" pitchFamily="34" charset="0"/>
                <a:ea typeface="Arial" pitchFamily="34" charset="-122"/>
                <a:cs typeface="Arial" pitchFamily="34" charset="-120"/>
              </a:rPr>
              <a:t>hasn’t built yet</a:t>
            </a:r>
          </a:p>
        </p:txBody>
      </p:sp>
      <p:sp>
        <p:nvSpPr>
          <p:cNvPr id="53" name="Shape 51"/>
          <p:cNvSpPr/>
          <p:nvPr/>
        </p:nvSpPr>
        <p:spPr>
          <a:xfrm rot="16200000">
            <a:off x="938174" y="1874520"/>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4" name="Text 52"/>
          <p:cNvSpPr/>
          <p:nvPr/>
        </p:nvSpPr>
        <p:spPr>
          <a:xfrm>
            <a:off x="717804" y="2606040"/>
            <a:ext cx="324612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Fourteen components the five patterns need, with our status, the industry status and the analyst rationale. Highlighted rows are the recommended first three moves.</a:t>
            </a:r>
          </a:p>
        </p:txBody>
      </p:sp>
      <p:sp>
        <p:nvSpPr>
          <p:cNvPr id="55" name="Text 53"/>
          <p:cNvSpPr/>
          <p:nvPr/>
        </p:nvSpPr>
        <p:spPr>
          <a:xfrm>
            <a:off x="709574" y="4343400"/>
            <a:ext cx="3108960" cy="585216"/>
          </a:xfrm>
          <a:prstGeom prst="rect">
            <a:avLst/>
          </a:prstGeom>
          <a:noFill/>
          <a:ln/>
        </p:spPr>
        <p:txBody>
          <a:bodyPr wrap="none" lIns="91440" tIns="45720" rIns="91440" bIns="45720" rtlCol="0" anchor="t">
            <a:spAutoFit/>
          </a:bodyPr>
          <a:lstStyle/>
          <a:p>
            <a:pPr indent="0" marL="0">
              <a:buNone/>
            </a:pPr>
            <a:r>
              <a:rPr lang="en-US" sz="2720" dirty="0" b="1">
                <a:solidFill>
                  <a:srgbClr val="EE0000"/>
                </a:solidFill>
                <a:latin typeface="Arial" pitchFamily="34" charset="0"/>
                <a:ea typeface="Arial" pitchFamily="34" charset="-122"/>
                <a:cs typeface="Arial" pitchFamily="34" charset="-120"/>
              </a:rPr>
              <a:t>Top 3 first</a:t>
            </a:r>
          </a:p>
        </p:txBody>
      </p:sp>
      <p:sp>
        <p:nvSpPr>
          <p:cNvPr id="56" name="Text 54"/>
          <p:cNvSpPr/>
          <p:nvPr/>
        </p:nvSpPr>
        <p:spPr>
          <a:xfrm>
            <a:off x="715061" y="4892040"/>
            <a:ext cx="3108960" cy="338328"/>
          </a:xfrm>
          <a:prstGeom prst="rect">
            <a:avLst/>
          </a:prstGeom>
          <a:noFill/>
          <a:ln/>
        </p:spPr>
        <p:txBody>
          <a:bodyPr wrap="square" lIns="91440" tIns="45720" rIns="91440" bIns="45720" rtlCol="0" anchor="t">
            <a:spAutoFit/>
          </a:bodyPr>
          <a:lstStyle/>
          <a:p>
            <a:pPr indent="0" marL="0">
              <a:buNone/>
            </a:pPr>
            <a:r>
              <a:rPr lang="en-US" sz="1200" dirty="0">
                <a:solidFill>
                  <a:srgbClr val="FFFFFF"/>
                </a:solidFill>
                <a:latin typeface="Arial" pitchFamily="34" charset="0"/>
                <a:ea typeface="Arial" pitchFamily="34" charset="-122"/>
                <a:cs typeface="Arial" pitchFamily="34" charset="-120"/>
              </a:rPr>
              <a:t>G3 A2A policy point; G2 + G13 autonomy field with demote and retire; G4 MAST in the eval gate. G1 and G9 go in the next 90-day plan.</a:t>
            </a:r>
          </a:p>
        </p:txBody>
      </p:sp>
      <p:graphicFrame>
        <p:nvGraphicFramePr>
          <p:cNvPr id="300" name="Stack matrix table"/>
          <p:cNvGraphicFramePr>
            <a:graphicFrameLocks noGrp="1"/>
          </p:cNvGraphicFramePr>
          <p:nvPr/>
        </p:nvGraphicFramePr>
        <p:xfrm>
          <a:off x="4160520" y="502920"/>
          <a:ext cx="7726680" cy="4498848"/>
        </p:xfrm>
        <a:graphic>
          <a:graphicData uri="http://schemas.openxmlformats.org/drawingml/2006/table">
            <a:tbl>
              <a:tblPr firstRow="1"/>
              <a:tblGrid>
                <a:gridCol w="384048"/>
                <a:gridCol w="1627632"/>
                <a:gridCol w="658368"/>
                <a:gridCol w="1325880"/>
                <a:gridCol w="1234440"/>
                <a:gridCol w="1737360"/>
                <a:gridCol w="758952"/>
              </a:tblGrid>
              <a:tr h="274320">
                <a:tc>
                  <a:txBody>
                    <a:bodyPr/>
                    <a:lstStyle/>
                    <a:p>
                      <a:pPr algn="l" marL="0" indent="0">
                        <a:buNone/>
                      </a:pPr>
                      <a:r>
                        <a:rPr lang="en-US" sz="850" b="1" dirty="0">
                          <a:solidFill>
                            <a:srgbClr val="F5B700"/>
                          </a:solidFill>
                          <a:latin typeface="Arial"/>
                          <a:ea typeface="Arial"/>
                          <a:cs typeface="Arial"/>
                        </a:rPr>
                        <a:t>#</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Required component</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Patterns</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Our stack today</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Industry today</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Rationale (analyst)</a:t>
                      </a:r>
                    </a:p>
                  </a:txBody>
                  <a:tcPr marL="73152" marR="45720" marT="0" marB="0" anchor="ctr">
                    <a:lnL w="0">
                      <a:noFill/>
                    </a:lnL>
                    <a:lnR w="0">
                      <a:noFill/>
                    </a:lnR>
                    <a:lnT w="0">
                      <a:noFill/>
                    </a:lnT>
                    <a:lnB w="9525">
                      <a:solidFill>
                        <a:srgbClr val="D9B48A"/>
                      </a:solidFill>
                    </a:lnB>
                    <a:noFill/>
                  </a:tcPr>
                </a:tc>
                <a:tc>
                  <a:txBody>
                    <a:bodyPr/>
                    <a:lstStyle/>
                    <a:p>
                      <a:pPr algn="l" marL="0" indent="0">
                        <a:buNone/>
                      </a:pPr>
                      <a:r>
                        <a:rPr lang="en-US" sz="850" b="1" dirty="0">
                          <a:solidFill>
                            <a:srgbClr val="F5B700"/>
                          </a:solidFill>
                          <a:latin typeface="Arial"/>
                          <a:ea typeface="Arial"/>
                          <a:cs typeface="Arial"/>
                        </a:rPr>
                        <a:t>Label</a:t>
                      </a:r>
                    </a:p>
                  </a:txBody>
                  <a:tcPr marL="73152" marR="45720" marT="0" marB="0" anchor="ctr">
                    <a:lnL w="0">
                      <a:noFill/>
                    </a:lnL>
                    <a:lnR w="0">
                      <a:noFill/>
                    </a:lnR>
                    <a:lnT w="0">
                      <a:noFill/>
                    </a:lnT>
                    <a:lnB w="9525">
                      <a:solidFill>
                        <a:srgbClr val="D9B48A"/>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Agent inventory incl. third-party + shadow</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 P3, P5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Thin registry planned; no vendor discovery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Platform-bound inventories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Sprawl step 2 inventory [6]; cover third-party AI [9]</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5B700"/>
                          </a:solidFill>
                          <a:latin typeface="Arial"/>
                          <a:ea typeface="Arial"/>
                          <a:cs typeface="Arial"/>
                        </a:rPr>
                        <a:t>G2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Autonomy level as a live registry field</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All</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Static risk tier</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Binary: locked down vs trusted</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Uniform governance fails [7]</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5B700"/>
                          </a:solidFill>
                          <a:latin typeface="Arial"/>
                          <a:ea typeface="Arial"/>
                          <a:cs typeface="Arial"/>
                        </a:rPr>
                        <a:t>G3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A2A policy point + Agent Card signing</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P1, P3</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Missing: MCP gateway covers tools only</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ServiceNow AI Gateway excludes A2A [33]</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Coordination immature [5][16]; zero-trust inter-agent [20]</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5B700"/>
                          </a:solidFill>
                          <a:latin typeface="Arial"/>
                          <a:ea typeface="Arial"/>
                          <a:cs typeface="Arial"/>
                        </a:rPr>
                        <a:t>G4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Multi-agent eval: MAST, failure attribution</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P1</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Galileo agent flow (partial); no MAST</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Research-grade</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Multi-agent growth [4]; MAST [21]</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FFFFF"/>
                          </a:solidFill>
                          <a:latin typeface="Arial"/>
                          <a:ea typeface="Arial"/>
                          <a:cs typeface="Arial"/>
                        </a:rPr>
                        <a:t>G5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Independent guardian layer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Pieces exist; no cross-vendor layer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Platform-native supervision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Guardian Market Guide [5]; out-of-band plane [15]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Secondary</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G6</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Session budgets + breakers + agent FinOps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 P1, P5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Kairos gateway quotas; no session breaker</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Immature FinOps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Hype Cycle 2026: session budgets + breakers [1][2]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G7</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Session-level behaviour detection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P1, P2, P5</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Not covered</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Most systems lack it [20]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Microsoft v2 red-team findings [20]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G8</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Agent SBOM + tool-description provenance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Plugins signed; no agent SBOM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Rare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MS v2 [20]; ASI04 [19]; digital provenance [14]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G9</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Third-party evidence contract + OTel adapters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 third-party</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None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Vendor export APIs [31][32]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Vendor ecosystems [14]; FDE exit terms [12]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Partly</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Actuation guard + rollback</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Missing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Missing in agent platforms</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L4 controls [7]; AEGIS breakers [17]</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G11</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Voice simulation / red team</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Not chosen (Coval an option)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Startups; τ³ benchmark</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60% of brands one-to-one by 2028 [11b]</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Tools unverified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FFFFF"/>
                          </a:solidFill>
                          <a:latin typeface="Arial"/>
                          <a:ea typeface="Arial"/>
                          <a:cs typeface="Arial"/>
                        </a:rPr>
                        <a:t>G12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Memory governance: scope, purge, quarantine</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P5, P2</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memory-hygiene mod design</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Product-specific</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ASI06 [19]; one injection propagates [20]</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r h="301752">
                <a:tc>
                  <a:txBody>
                    <a:bodyPr/>
                    <a:lstStyle/>
                    <a:p>
                      <a:pPr algn="l" marL="0" indent="0">
                        <a:lnSpc>
                          <a:spcPct val="100000"/>
                        </a:lnSpc>
                        <a:buNone/>
                      </a:pPr>
                      <a:r>
                        <a:rPr lang="en-US" sz="850" b="1" dirty="0">
                          <a:solidFill>
                            <a:srgbClr val="F5B700"/>
                          </a:solidFill>
                          <a:latin typeface="Arial"/>
                          <a:ea typeface="Arial"/>
                          <a:cs typeface="Arial"/>
                        </a:rPr>
                        <a:t>G13</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b="1" dirty="0">
                          <a:solidFill>
                            <a:srgbClr val="F5B700"/>
                          </a:solidFill>
                          <a:latin typeface="Arial"/>
                          <a:ea typeface="Arial"/>
                          <a:cs typeface="Arial"/>
                        </a:rPr>
                        <a:t>Retirement workflow</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All</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Missing</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Rare</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Sprawl step 3: retire redundant agents [6]</a:t>
                      </a:r>
                    </a:p>
                  </a:txBody>
                  <a:tcPr marL="73152" marR="45720" marT="0" marB="0" anchor="ctr">
                    <a:lnL w="0">
                      <a:noFill/>
                    </a:lnL>
                    <a:lnR w="0">
                      <a:noFill/>
                    </a:lnR>
                    <a:lnT w="0">
                      <a:noFill/>
                    </a:lnT>
                    <a:lnB w="9525">
                      <a:solidFill>
                        <a:srgbClr val="5A3A2E"/>
                      </a:solidFill>
                    </a:lnB>
                    <a:solidFill>
                      <a:srgbClr val="2A1A16"/>
                    </a:solidFill>
                  </a:tcPr>
                </a:tc>
                <a:tc>
                  <a:txBody>
                    <a:bodyPr/>
                    <a:lstStyle/>
                    <a:p>
                      <a:pPr algn="l" marL="0" indent="0">
                        <a:lnSpc>
                          <a:spcPct val="100000"/>
                        </a:lnSpc>
                        <a:buNone/>
                      </a:pPr>
                      <a:r>
                        <a:rPr lang="en-US" sz="750" b="1" dirty="0">
                          <a:solidFill>
                            <a:srgbClr val="F5B700"/>
                          </a:solidFill>
                          <a:latin typeface="Arial"/>
                          <a:ea typeface="Arial"/>
                          <a:cs typeface="Arial"/>
                        </a:rPr>
                        <a:t>Verified</a:t>
                      </a:r>
                    </a:p>
                  </a:txBody>
                  <a:tcPr marL="73152" marR="45720" marT="0" marB="0" anchor="ctr">
                    <a:lnL w="0">
                      <a:noFill/>
                    </a:lnL>
                    <a:lnR w="0">
                      <a:noFill/>
                    </a:lnR>
                    <a:lnT w="0">
                      <a:noFill/>
                    </a:lnT>
                    <a:lnB w="9525">
                      <a:solidFill>
                        <a:srgbClr val="5A3A2E"/>
                      </a:solidFill>
                    </a:lnB>
                    <a:solidFill>
                      <a:srgbClr val="2A1A16"/>
                    </a:solidFill>
                  </a:tcPr>
                </a:tc>
              </a:tr>
              <a:tr h="301752">
                <a:tc>
                  <a:txBody>
                    <a:bodyPr/>
                    <a:lstStyle/>
                    <a:p>
                      <a:pPr algn="l" marL="0" indent="0">
                        <a:lnSpc>
                          <a:spcPct val="100000"/>
                        </a:lnSpc>
                        <a:buNone/>
                      </a:pPr>
                      <a:r>
                        <a:rPr lang="en-US" sz="850" b="1" dirty="0">
                          <a:solidFill>
                            <a:srgbClr val="FFFFFF"/>
                          </a:solidFill>
                          <a:latin typeface="Arial"/>
                          <a:ea typeface="Arial"/>
                          <a:cs typeface="Arial"/>
                        </a:rPr>
                        <a:t>G14</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800" b="1" dirty="0">
                          <a:solidFill>
                            <a:srgbClr val="FFFFFF"/>
                          </a:solidFill>
                          <a:latin typeface="Arial"/>
                          <a:ea typeface="Arial"/>
                          <a:cs typeface="Arial"/>
                        </a:rPr>
                        <a:t>Policy translation agent</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All</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policy-author skill proposed</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Emerging</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50% use agents for policy-as-data by 2030 [8]</a:t>
                      </a:r>
                    </a:p>
                  </a:txBody>
                  <a:tcPr marL="73152" marR="45720" marT="0" marB="0" anchor="ctr">
                    <a:lnL w="0">
                      <a:noFill/>
                    </a:lnL>
                    <a:lnR w="0">
                      <a:noFill/>
                    </a:lnR>
                    <a:lnT w="0">
                      <a:noFill/>
                    </a:lnT>
                    <a:lnB w="9525">
                      <a:solidFill>
                        <a:srgbClr val="5A3A2E"/>
                      </a:solidFill>
                    </a:lnB>
                    <a:noFill/>
                  </a:tcPr>
                </a:tc>
                <a:tc>
                  <a:txBody>
                    <a:bodyPr/>
                    <a:lstStyle/>
                    <a:p>
                      <a:pPr algn="l" marL="0" indent="0">
                        <a:lnSpc>
                          <a:spcPct val="100000"/>
                        </a:lnSpc>
                        <a:buNone/>
                      </a:pPr>
                      <a:r>
                        <a:rPr lang="en-US" sz="750" dirty="0">
                          <a:solidFill>
                            <a:srgbClr val="F3E6D6"/>
                          </a:solidFill>
                          <a:latin typeface="Arial"/>
                          <a:ea typeface="Arial"/>
                          <a:cs typeface="Arial"/>
                        </a:rPr>
                        <a:t>Verified</a:t>
                      </a:r>
                    </a:p>
                  </a:txBody>
                  <a:tcPr marL="73152" marR="45720" marT="0" marB="0" anchor="ctr">
                    <a:lnL w="0">
                      <a:noFill/>
                    </a:lnL>
                    <a:lnR w="0">
                      <a:noFill/>
                    </a:lnR>
                    <a:lnT w="0">
                      <a:noFill/>
                    </a:lnT>
                    <a:lnB w="9525">
                      <a:solidFill>
                        <a:srgbClr val="5A3A2E"/>
                      </a:solidFill>
                    </a:lnB>
                    <a:noFill/>
                  </a:tcPr>
                </a:tc>
              </a:tr>
            </a:tbl>
          </a:graphicData>
        </a:graphic>
      </p:graphicFrame>
      <p:sp>
        <p:nvSpPr>
          <p:cNvPr id="225" name="v2 225"/>
          <p:cNvSpPr/>
          <p:nvPr/>
        </p:nvSpPr>
        <p:spPr>
          <a:xfrm>
            <a:off x="4160520" y="5184648"/>
            <a:ext cx="7726680" cy="384048"/>
          </a:xfrm>
          <a:prstGeom prst="rect">
            <a:avLst/>
          </a:prstGeom>
          <a:noFill/>
          <a:ln>
            <a:noFill/>
          </a:ln>
        </p:spPr>
        <p:txBody>
          <a:bodyPr wrap="square" lIns="0" tIns="0" rIns="0" bIns="0" rtlCol="0" anchor="t">
            <a:noAutofit/>
          </a:bodyPr>
          <a:lstStyle/>
          <a:p>
            <a:pPr algn="l" marL="0" indent="0">
              <a:buNone/>
            </a:pPr>
            <a:r>
              <a:rPr lang="en-US" sz="850" dirty="0">
                <a:solidFill>
                  <a:srgbClr val="F3E6D6"/>
                </a:solidFill>
                <a:latin typeface="Arial"/>
                <a:ea typeface="Arial"/>
                <a:cs typeface="Arial"/>
              </a:rPr>
              <a:t>Status columns are our assessment. Label = evidence for the rationale (VERIFIED on 14 Oct 2026 unless marked). Full gap map: research §4.3.</a:t>
            </a:r>
          </a:p>
        </p:txBody>
      </p:sp>
      <p:sp>
        <p:nvSpPr>
          <p:cNvPr id="301"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35 / 44</a:t>
            </a:r>
          </a:p>
        </p:txBody>
      </p:sp>
      <p:sp>
        <p:nvSpPr>
          <p:cNvPr id="302"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303"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3666744" y="-6353251"/>
            <a:ext cx="8621878" cy="8621878"/>
          </a:xfrm>
          <a:prstGeom prst="ellipse">
            <a:avLst/>
          </a:prstGeom>
          <a:solidFill>
            <a:srgbClr val="8A0F1A">
              <a:alpha val="2547"/>
            </a:srgbClr>
          </a:solidFill>
          <a:ln/>
        </p:spPr>
      </p:sp>
      <p:sp>
        <p:nvSpPr>
          <p:cNvPr id="3" name="Shape 1"/>
          <p:cNvSpPr/>
          <p:nvPr/>
        </p:nvSpPr>
        <p:spPr>
          <a:xfrm>
            <a:off x="3846366" y="-6173629"/>
            <a:ext cx="8262633" cy="8262633"/>
          </a:xfrm>
          <a:prstGeom prst="ellipse">
            <a:avLst/>
          </a:prstGeom>
          <a:solidFill>
            <a:srgbClr val="8A0F1A">
              <a:alpha val="4218"/>
            </a:srgbClr>
          </a:solidFill>
          <a:ln/>
        </p:spPr>
      </p:sp>
      <p:sp>
        <p:nvSpPr>
          <p:cNvPr id="4" name="Shape 2"/>
          <p:cNvSpPr/>
          <p:nvPr/>
        </p:nvSpPr>
        <p:spPr>
          <a:xfrm>
            <a:off x="4025989" y="-5994006"/>
            <a:ext cx="7903388" cy="7903388"/>
          </a:xfrm>
          <a:prstGeom prst="ellipse">
            <a:avLst/>
          </a:prstGeom>
          <a:solidFill>
            <a:srgbClr val="8A0F1A">
              <a:alpha val="4138"/>
            </a:srgbClr>
          </a:solidFill>
          <a:ln/>
        </p:spPr>
      </p:sp>
      <p:sp>
        <p:nvSpPr>
          <p:cNvPr id="5" name="Shape 3"/>
          <p:cNvSpPr/>
          <p:nvPr/>
        </p:nvSpPr>
        <p:spPr>
          <a:xfrm>
            <a:off x="4205611" y="-5814384"/>
            <a:ext cx="7544143" cy="7544143"/>
          </a:xfrm>
          <a:prstGeom prst="ellipse">
            <a:avLst/>
          </a:prstGeom>
          <a:solidFill>
            <a:srgbClr val="8A0F1A">
              <a:alpha val="2636"/>
            </a:srgbClr>
          </a:solidFill>
          <a:ln/>
        </p:spPr>
      </p:sp>
      <p:sp>
        <p:nvSpPr>
          <p:cNvPr id="6" name="Shape 4"/>
          <p:cNvSpPr/>
          <p:nvPr/>
        </p:nvSpPr>
        <p:spPr>
          <a:xfrm>
            <a:off x="4385234" y="-5634761"/>
            <a:ext cx="7184898" cy="7184898"/>
          </a:xfrm>
          <a:prstGeom prst="ellipse">
            <a:avLst/>
          </a:prstGeom>
          <a:solidFill>
            <a:srgbClr val="8A0F1A">
              <a:alpha val="2661"/>
            </a:srgbClr>
          </a:solidFill>
          <a:ln/>
        </p:spPr>
      </p:sp>
      <p:sp>
        <p:nvSpPr>
          <p:cNvPr id="7" name="Shape 5"/>
          <p:cNvSpPr/>
          <p:nvPr/>
        </p:nvSpPr>
        <p:spPr>
          <a:xfrm>
            <a:off x="4564856" y="-5455139"/>
            <a:ext cx="6825653" cy="6825653"/>
          </a:xfrm>
          <a:prstGeom prst="ellipse">
            <a:avLst/>
          </a:prstGeom>
          <a:solidFill>
            <a:srgbClr val="8A0F1A">
              <a:alpha val="3304"/>
            </a:srgbClr>
          </a:solidFill>
          <a:ln/>
        </p:spPr>
      </p:sp>
      <p:sp>
        <p:nvSpPr>
          <p:cNvPr id="8" name="Shape 6"/>
          <p:cNvSpPr/>
          <p:nvPr/>
        </p:nvSpPr>
        <p:spPr>
          <a:xfrm>
            <a:off x="4744479" y="-5275516"/>
            <a:ext cx="6466408" cy="6466408"/>
          </a:xfrm>
          <a:prstGeom prst="ellipse">
            <a:avLst/>
          </a:prstGeom>
          <a:solidFill>
            <a:srgbClr val="8A0F1A">
              <a:alpha val="3622"/>
            </a:srgbClr>
          </a:solidFill>
          <a:ln/>
        </p:spPr>
      </p:sp>
      <p:sp>
        <p:nvSpPr>
          <p:cNvPr id="9" name="Shape 7"/>
          <p:cNvSpPr/>
          <p:nvPr/>
        </p:nvSpPr>
        <p:spPr>
          <a:xfrm>
            <a:off x="4924101" y="-5095894"/>
            <a:ext cx="6107163" cy="6107163"/>
          </a:xfrm>
          <a:prstGeom prst="ellipse">
            <a:avLst/>
          </a:prstGeom>
          <a:solidFill>
            <a:srgbClr val="8A0F1A">
              <a:alpha val="3650"/>
            </a:srgbClr>
          </a:solidFill>
          <a:ln/>
        </p:spPr>
      </p:sp>
      <p:sp>
        <p:nvSpPr>
          <p:cNvPr id="10" name="Shape 8"/>
          <p:cNvSpPr/>
          <p:nvPr/>
        </p:nvSpPr>
        <p:spPr>
          <a:xfrm>
            <a:off x="5103724" y="-4916272"/>
            <a:ext cx="5747918" cy="5747918"/>
          </a:xfrm>
          <a:prstGeom prst="ellipse">
            <a:avLst/>
          </a:prstGeom>
          <a:solidFill>
            <a:srgbClr val="8A0F1A">
              <a:alpha val="3631"/>
            </a:srgbClr>
          </a:solidFill>
          <a:ln/>
        </p:spPr>
      </p:sp>
      <p:sp>
        <p:nvSpPr>
          <p:cNvPr id="11" name="Shape 9"/>
          <p:cNvSpPr/>
          <p:nvPr/>
        </p:nvSpPr>
        <p:spPr>
          <a:xfrm>
            <a:off x="5283346" y="-4736649"/>
            <a:ext cx="5388674" cy="5388674"/>
          </a:xfrm>
          <a:prstGeom prst="ellipse">
            <a:avLst/>
          </a:prstGeom>
          <a:solidFill>
            <a:srgbClr val="8A0F1A">
              <a:alpha val="3693"/>
            </a:srgbClr>
          </a:solidFill>
          <a:ln/>
        </p:spPr>
      </p:sp>
      <p:sp>
        <p:nvSpPr>
          <p:cNvPr id="12" name="Shape 10"/>
          <p:cNvSpPr/>
          <p:nvPr/>
        </p:nvSpPr>
        <p:spPr>
          <a:xfrm>
            <a:off x="5462968" y="-4557027"/>
            <a:ext cx="5029429" cy="5029429"/>
          </a:xfrm>
          <a:prstGeom prst="ellipse">
            <a:avLst/>
          </a:prstGeom>
          <a:solidFill>
            <a:srgbClr val="8A0F1A">
              <a:alpha val="4536"/>
            </a:srgbClr>
          </a:solidFill>
          <a:ln/>
        </p:spPr>
      </p:sp>
      <p:sp>
        <p:nvSpPr>
          <p:cNvPr id="13" name="Shape 11"/>
          <p:cNvSpPr/>
          <p:nvPr/>
        </p:nvSpPr>
        <p:spPr>
          <a:xfrm>
            <a:off x="5642591" y="-4377404"/>
            <a:ext cx="4670184" cy="4670184"/>
          </a:xfrm>
          <a:prstGeom prst="ellipse">
            <a:avLst/>
          </a:prstGeom>
          <a:solidFill>
            <a:srgbClr val="8A0F1A">
              <a:alpha val="4737"/>
            </a:srgbClr>
          </a:solidFill>
          <a:ln/>
        </p:spPr>
      </p:sp>
      <p:sp>
        <p:nvSpPr>
          <p:cNvPr id="14" name="Shape 12"/>
          <p:cNvSpPr/>
          <p:nvPr/>
        </p:nvSpPr>
        <p:spPr>
          <a:xfrm>
            <a:off x="5822213" y="-4197782"/>
            <a:ext cx="4310939" cy="4310939"/>
          </a:xfrm>
          <a:prstGeom prst="ellipse">
            <a:avLst/>
          </a:prstGeom>
          <a:solidFill>
            <a:srgbClr val="8A0F1A">
              <a:alpha val="4994"/>
            </a:srgbClr>
          </a:solidFill>
          <a:ln/>
        </p:spPr>
      </p:sp>
      <p:sp>
        <p:nvSpPr>
          <p:cNvPr id="15" name="Shape 13"/>
          <p:cNvSpPr/>
          <p:nvPr/>
        </p:nvSpPr>
        <p:spPr>
          <a:xfrm>
            <a:off x="6001836" y="-4018159"/>
            <a:ext cx="3951694" cy="3951694"/>
          </a:xfrm>
          <a:prstGeom prst="ellipse">
            <a:avLst/>
          </a:prstGeom>
          <a:solidFill>
            <a:srgbClr val="8A0F1A">
              <a:alpha val="5272"/>
            </a:srgbClr>
          </a:solidFill>
          <a:ln/>
        </p:spPr>
      </p:sp>
      <p:sp>
        <p:nvSpPr>
          <p:cNvPr id="16" name="Shape 14"/>
          <p:cNvSpPr/>
          <p:nvPr/>
        </p:nvSpPr>
        <p:spPr>
          <a:xfrm>
            <a:off x="6181458" y="-3838537"/>
            <a:ext cx="3592449" cy="3592449"/>
          </a:xfrm>
          <a:prstGeom prst="ellipse">
            <a:avLst/>
          </a:prstGeom>
          <a:solidFill>
            <a:srgbClr val="8A0F1A">
              <a:alpha val="5521"/>
            </a:srgbClr>
          </a:solidFill>
          <a:ln/>
        </p:spPr>
      </p:sp>
      <p:sp>
        <p:nvSpPr>
          <p:cNvPr id="17" name="Shape 15"/>
          <p:cNvSpPr/>
          <p:nvPr/>
        </p:nvSpPr>
        <p:spPr>
          <a:xfrm>
            <a:off x="6361081" y="-3658914"/>
            <a:ext cx="3233204" cy="3233204"/>
          </a:xfrm>
          <a:prstGeom prst="ellipse">
            <a:avLst/>
          </a:prstGeom>
          <a:solidFill>
            <a:srgbClr val="8A0F1A">
              <a:alpha val="6496"/>
            </a:srgbClr>
          </a:solidFill>
          <a:ln/>
        </p:spPr>
      </p:sp>
      <p:sp>
        <p:nvSpPr>
          <p:cNvPr id="18" name="Shape 16"/>
          <p:cNvSpPr/>
          <p:nvPr/>
        </p:nvSpPr>
        <p:spPr>
          <a:xfrm>
            <a:off x="6540703" y="-3479292"/>
            <a:ext cx="2873959" cy="2873959"/>
          </a:xfrm>
          <a:prstGeom prst="ellipse">
            <a:avLst/>
          </a:prstGeom>
          <a:solidFill>
            <a:srgbClr val="8A0F1A">
              <a:alpha val="6768"/>
            </a:srgbClr>
          </a:solidFill>
          <a:ln/>
        </p:spPr>
      </p:sp>
      <p:sp>
        <p:nvSpPr>
          <p:cNvPr id="19" name="Shape 17"/>
          <p:cNvSpPr/>
          <p:nvPr/>
        </p:nvSpPr>
        <p:spPr>
          <a:xfrm>
            <a:off x="6720326" y="-3299670"/>
            <a:ext cx="2514714" cy="2514714"/>
          </a:xfrm>
          <a:prstGeom prst="ellipse">
            <a:avLst/>
          </a:prstGeom>
          <a:solidFill>
            <a:srgbClr val="8A0F1A">
              <a:alpha val="7123"/>
            </a:srgbClr>
          </a:solidFill>
          <a:ln/>
        </p:spPr>
      </p:sp>
      <p:sp>
        <p:nvSpPr>
          <p:cNvPr id="20" name="Shape 18"/>
          <p:cNvSpPr/>
          <p:nvPr/>
        </p:nvSpPr>
        <p:spPr>
          <a:xfrm>
            <a:off x="6899948" y="-3120047"/>
            <a:ext cx="2155469" cy="2155469"/>
          </a:xfrm>
          <a:prstGeom prst="ellipse">
            <a:avLst/>
          </a:prstGeom>
          <a:solidFill>
            <a:srgbClr val="8A0F1A">
              <a:alpha val="7486"/>
            </a:srgbClr>
          </a:solidFill>
          <a:ln/>
        </p:spPr>
      </p:sp>
      <p:sp>
        <p:nvSpPr>
          <p:cNvPr id="21" name="Shape 19"/>
          <p:cNvSpPr/>
          <p:nvPr/>
        </p:nvSpPr>
        <p:spPr>
          <a:xfrm>
            <a:off x="7079571" y="-2940425"/>
            <a:ext cx="1796225" cy="1796225"/>
          </a:xfrm>
          <a:prstGeom prst="ellipse">
            <a:avLst/>
          </a:prstGeom>
          <a:solidFill>
            <a:srgbClr val="8A0F1A">
              <a:alpha val="8191"/>
            </a:srgbClr>
          </a:solidFill>
          <a:ln/>
        </p:spPr>
      </p:sp>
      <p:sp>
        <p:nvSpPr>
          <p:cNvPr id="22" name="Shape 20"/>
          <p:cNvSpPr/>
          <p:nvPr/>
        </p:nvSpPr>
        <p:spPr>
          <a:xfrm>
            <a:off x="7259193" y="-2760802"/>
            <a:ext cx="1436980" cy="1436980"/>
          </a:xfrm>
          <a:prstGeom prst="ellipse">
            <a:avLst/>
          </a:prstGeom>
          <a:solidFill>
            <a:srgbClr val="8A0F1A">
              <a:alpha val="9466"/>
            </a:srgbClr>
          </a:solidFill>
          <a:ln/>
        </p:spPr>
      </p:sp>
      <p:sp>
        <p:nvSpPr>
          <p:cNvPr id="23" name="Shape 21"/>
          <p:cNvSpPr/>
          <p:nvPr/>
        </p:nvSpPr>
        <p:spPr>
          <a:xfrm>
            <a:off x="7438815" y="-2581180"/>
            <a:ext cx="1077735" cy="1077735"/>
          </a:xfrm>
          <a:prstGeom prst="ellipse">
            <a:avLst/>
          </a:prstGeom>
          <a:solidFill>
            <a:srgbClr val="8A0F1A">
              <a:alpha val="10120"/>
            </a:srgbClr>
          </a:solidFill>
          <a:ln/>
        </p:spPr>
      </p:sp>
      <p:sp>
        <p:nvSpPr>
          <p:cNvPr id="24" name="Shape 22"/>
          <p:cNvSpPr/>
          <p:nvPr/>
        </p:nvSpPr>
        <p:spPr>
          <a:xfrm>
            <a:off x="7618438" y="-2401557"/>
            <a:ext cx="718490" cy="718490"/>
          </a:xfrm>
          <a:prstGeom prst="ellipse">
            <a:avLst/>
          </a:prstGeom>
          <a:solidFill>
            <a:srgbClr val="8A0F1A">
              <a:alpha val="10280"/>
            </a:srgbClr>
          </a:solidFill>
          <a:ln/>
        </p:spPr>
      </p:sp>
      <p:sp>
        <p:nvSpPr>
          <p:cNvPr id="25" name="Shape 23"/>
          <p:cNvSpPr/>
          <p:nvPr/>
        </p:nvSpPr>
        <p:spPr>
          <a:xfrm>
            <a:off x="7798060" y="-2221935"/>
            <a:ext cx="359245" cy="359245"/>
          </a:xfrm>
          <a:prstGeom prst="ellipse">
            <a:avLst/>
          </a:prstGeom>
          <a:solidFill>
            <a:srgbClr val="8A0F1A">
              <a:alpha val="10999"/>
            </a:srgbClr>
          </a:solidFill>
          <a:ln/>
        </p:spPr>
      </p:sp>
      <p:sp>
        <p:nvSpPr>
          <p:cNvPr id="26" name="Shape 24"/>
          <p:cNvSpPr/>
          <p:nvPr/>
        </p:nvSpPr>
        <p:spPr>
          <a:xfrm>
            <a:off x="-3646627" y="4202582"/>
            <a:ext cx="8621878" cy="8621878"/>
          </a:xfrm>
          <a:prstGeom prst="ellipse">
            <a:avLst/>
          </a:prstGeom>
          <a:solidFill>
            <a:srgbClr val="8A0F1A">
              <a:alpha val="2547"/>
            </a:srgbClr>
          </a:solidFill>
          <a:ln/>
        </p:spPr>
      </p:sp>
      <p:sp>
        <p:nvSpPr>
          <p:cNvPr id="27" name="Shape 25"/>
          <p:cNvSpPr/>
          <p:nvPr/>
        </p:nvSpPr>
        <p:spPr>
          <a:xfrm>
            <a:off x="-3467005" y="4382205"/>
            <a:ext cx="8262633" cy="8262633"/>
          </a:xfrm>
          <a:prstGeom prst="ellipse">
            <a:avLst/>
          </a:prstGeom>
          <a:solidFill>
            <a:srgbClr val="8A0F1A">
              <a:alpha val="4218"/>
            </a:srgbClr>
          </a:solidFill>
          <a:ln/>
        </p:spPr>
      </p:sp>
      <p:sp>
        <p:nvSpPr>
          <p:cNvPr id="28" name="Shape 26"/>
          <p:cNvSpPr/>
          <p:nvPr/>
        </p:nvSpPr>
        <p:spPr>
          <a:xfrm>
            <a:off x="-3287382" y="4561827"/>
            <a:ext cx="7903388" cy="7903388"/>
          </a:xfrm>
          <a:prstGeom prst="ellipse">
            <a:avLst/>
          </a:prstGeom>
          <a:solidFill>
            <a:srgbClr val="8A0F1A">
              <a:alpha val="4138"/>
            </a:srgbClr>
          </a:solidFill>
          <a:ln/>
        </p:spPr>
      </p:sp>
      <p:sp>
        <p:nvSpPr>
          <p:cNvPr id="29" name="Shape 27"/>
          <p:cNvSpPr/>
          <p:nvPr/>
        </p:nvSpPr>
        <p:spPr>
          <a:xfrm>
            <a:off x="-3107760" y="4741450"/>
            <a:ext cx="7544143" cy="7544143"/>
          </a:xfrm>
          <a:prstGeom prst="ellipse">
            <a:avLst/>
          </a:prstGeom>
          <a:solidFill>
            <a:srgbClr val="8A0F1A">
              <a:alpha val="2636"/>
            </a:srgbClr>
          </a:solidFill>
          <a:ln/>
        </p:spPr>
      </p:sp>
      <p:sp>
        <p:nvSpPr>
          <p:cNvPr id="30" name="Shape 28"/>
          <p:cNvSpPr/>
          <p:nvPr/>
        </p:nvSpPr>
        <p:spPr>
          <a:xfrm>
            <a:off x="-2928137" y="4921072"/>
            <a:ext cx="7184898" cy="7184898"/>
          </a:xfrm>
          <a:prstGeom prst="ellipse">
            <a:avLst/>
          </a:prstGeom>
          <a:solidFill>
            <a:srgbClr val="8A0F1A">
              <a:alpha val="2661"/>
            </a:srgbClr>
          </a:solidFill>
          <a:ln/>
        </p:spPr>
      </p:sp>
      <p:sp>
        <p:nvSpPr>
          <p:cNvPr id="31" name="Shape 29"/>
          <p:cNvSpPr/>
          <p:nvPr/>
        </p:nvSpPr>
        <p:spPr>
          <a:xfrm>
            <a:off x="-2748515" y="5100695"/>
            <a:ext cx="6825653" cy="6825653"/>
          </a:xfrm>
          <a:prstGeom prst="ellipse">
            <a:avLst/>
          </a:prstGeom>
          <a:solidFill>
            <a:srgbClr val="8A0F1A">
              <a:alpha val="3304"/>
            </a:srgbClr>
          </a:solidFill>
          <a:ln/>
        </p:spPr>
      </p:sp>
      <p:sp>
        <p:nvSpPr>
          <p:cNvPr id="32" name="Shape 30"/>
          <p:cNvSpPr/>
          <p:nvPr/>
        </p:nvSpPr>
        <p:spPr>
          <a:xfrm>
            <a:off x="-2568892" y="5280317"/>
            <a:ext cx="6466408" cy="6466408"/>
          </a:xfrm>
          <a:prstGeom prst="ellipse">
            <a:avLst/>
          </a:prstGeom>
          <a:solidFill>
            <a:srgbClr val="8A0F1A">
              <a:alpha val="3622"/>
            </a:srgbClr>
          </a:solidFill>
          <a:ln/>
        </p:spPr>
      </p:sp>
      <p:sp>
        <p:nvSpPr>
          <p:cNvPr id="33" name="Shape 31"/>
          <p:cNvSpPr/>
          <p:nvPr/>
        </p:nvSpPr>
        <p:spPr>
          <a:xfrm>
            <a:off x="-2389270" y="5459940"/>
            <a:ext cx="6107163" cy="6107163"/>
          </a:xfrm>
          <a:prstGeom prst="ellipse">
            <a:avLst/>
          </a:prstGeom>
          <a:solidFill>
            <a:srgbClr val="8A0F1A">
              <a:alpha val="3650"/>
            </a:srgbClr>
          </a:solidFill>
          <a:ln/>
        </p:spPr>
      </p:sp>
      <p:sp>
        <p:nvSpPr>
          <p:cNvPr id="34" name="Shape 32"/>
          <p:cNvSpPr/>
          <p:nvPr/>
        </p:nvSpPr>
        <p:spPr>
          <a:xfrm>
            <a:off x="-2209648" y="5639562"/>
            <a:ext cx="5747918" cy="5747918"/>
          </a:xfrm>
          <a:prstGeom prst="ellipse">
            <a:avLst/>
          </a:prstGeom>
          <a:solidFill>
            <a:srgbClr val="8A0F1A">
              <a:alpha val="3631"/>
            </a:srgbClr>
          </a:solidFill>
          <a:ln/>
        </p:spPr>
      </p:sp>
      <p:sp>
        <p:nvSpPr>
          <p:cNvPr id="35" name="Shape 33"/>
          <p:cNvSpPr/>
          <p:nvPr/>
        </p:nvSpPr>
        <p:spPr>
          <a:xfrm>
            <a:off x="-2030025" y="5819184"/>
            <a:ext cx="5388674" cy="5388674"/>
          </a:xfrm>
          <a:prstGeom prst="ellipse">
            <a:avLst/>
          </a:prstGeom>
          <a:solidFill>
            <a:srgbClr val="8A0F1A">
              <a:alpha val="3693"/>
            </a:srgbClr>
          </a:solidFill>
          <a:ln/>
        </p:spPr>
      </p:sp>
      <p:sp>
        <p:nvSpPr>
          <p:cNvPr id="36" name="Shape 34"/>
          <p:cNvSpPr/>
          <p:nvPr/>
        </p:nvSpPr>
        <p:spPr>
          <a:xfrm>
            <a:off x="-1850403" y="5998807"/>
            <a:ext cx="5029429" cy="5029429"/>
          </a:xfrm>
          <a:prstGeom prst="ellipse">
            <a:avLst/>
          </a:prstGeom>
          <a:solidFill>
            <a:srgbClr val="8A0F1A">
              <a:alpha val="4536"/>
            </a:srgbClr>
          </a:solidFill>
          <a:ln/>
        </p:spPr>
      </p:sp>
      <p:sp>
        <p:nvSpPr>
          <p:cNvPr id="37" name="Shape 35"/>
          <p:cNvSpPr/>
          <p:nvPr/>
        </p:nvSpPr>
        <p:spPr>
          <a:xfrm>
            <a:off x="-1670780" y="6178429"/>
            <a:ext cx="4670184" cy="4670184"/>
          </a:xfrm>
          <a:prstGeom prst="ellipse">
            <a:avLst/>
          </a:prstGeom>
          <a:solidFill>
            <a:srgbClr val="8A0F1A">
              <a:alpha val="4737"/>
            </a:srgbClr>
          </a:solidFill>
          <a:ln/>
        </p:spPr>
      </p:sp>
      <p:sp>
        <p:nvSpPr>
          <p:cNvPr id="38" name="Shape 36"/>
          <p:cNvSpPr/>
          <p:nvPr/>
        </p:nvSpPr>
        <p:spPr>
          <a:xfrm>
            <a:off x="-1491158" y="6358052"/>
            <a:ext cx="4310939" cy="4310939"/>
          </a:xfrm>
          <a:prstGeom prst="ellipse">
            <a:avLst/>
          </a:prstGeom>
          <a:solidFill>
            <a:srgbClr val="8A0F1A">
              <a:alpha val="4994"/>
            </a:srgbClr>
          </a:solidFill>
          <a:ln/>
        </p:spPr>
      </p:sp>
      <p:sp>
        <p:nvSpPr>
          <p:cNvPr id="39" name="Shape 37"/>
          <p:cNvSpPr/>
          <p:nvPr/>
        </p:nvSpPr>
        <p:spPr>
          <a:xfrm>
            <a:off x="-1311535" y="6537674"/>
            <a:ext cx="3951694" cy="3951694"/>
          </a:xfrm>
          <a:prstGeom prst="ellipse">
            <a:avLst/>
          </a:prstGeom>
          <a:solidFill>
            <a:srgbClr val="8A0F1A">
              <a:alpha val="5272"/>
            </a:srgbClr>
          </a:solidFill>
          <a:ln/>
        </p:spPr>
      </p:sp>
      <p:sp>
        <p:nvSpPr>
          <p:cNvPr id="40" name="Shape 38"/>
          <p:cNvSpPr/>
          <p:nvPr/>
        </p:nvSpPr>
        <p:spPr>
          <a:xfrm>
            <a:off x="-1131913" y="6717297"/>
            <a:ext cx="3592449" cy="3592449"/>
          </a:xfrm>
          <a:prstGeom prst="ellipse">
            <a:avLst/>
          </a:prstGeom>
          <a:solidFill>
            <a:srgbClr val="8A0F1A">
              <a:alpha val="5521"/>
            </a:srgbClr>
          </a:solidFill>
          <a:ln/>
        </p:spPr>
      </p:sp>
      <p:sp>
        <p:nvSpPr>
          <p:cNvPr id="41" name="Shape 39"/>
          <p:cNvSpPr/>
          <p:nvPr/>
        </p:nvSpPr>
        <p:spPr>
          <a:xfrm>
            <a:off x="-952290" y="6896919"/>
            <a:ext cx="3233204" cy="3233204"/>
          </a:xfrm>
          <a:prstGeom prst="ellipse">
            <a:avLst/>
          </a:prstGeom>
          <a:solidFill>
            <a:srgbClr val="8A0F1A">
              <a:alpha val="6496"/>
            </a:srgbClr>
          </a:solidFill>
          <a:ln/>
        </p:spPr>
      </p:sp>
      <p:sp>
        <p:nvSpPr>
          <p:cNvPr id="42" name="Shape 40"/>
          <p:cNvSpPr/>
          <p:nvPr/>
        </p:nvSpPr>
        <p:spPr>
          <a:xfrm>
            <a:off x="-772668" y="7076542"/>
            <a:ext cx="2873959" cy="2873959"/>
          </a:xfrm>
          <a:prstGeom prst="ellipse">
            <a:avLst/>
          </a:prstGeom>
          <a:solidFill>
            <a:srgbClr val="8A0F1A">
              <a:alpha val="6768"/>
            </a:srgbClr>
          </a:solidFill>
          <a:ln/>
        </p:spPr>
      </p:sp>
      <p:sp>
        <p:nvSpPr>
          <p:cNvPr id="43" name="Shape 41"/>
          <p:cNvSpPr/>
          <p:nvPr/>
        </p:nvSpPr>
        <p:spPr>
          <a:xfrm>
            <a:off x="-593046" y="7256164"/>
            <a:ext cx="2514714" cy="2514714"/>
          </a:xfrm>
          <a:prstGeom prst="ellipse">
            <a:avLst/>
          </a:prstGeom>
          <a:solidFill>
            <a:srgbClr val="8A0F1A">
              <a:alpha val="7123"/>
            </a:srgbClr>
          </a:solidFill>
          <a:ln/>
        </p:spPr>
      </p:sp>
      <p:sp>
        <p:nvSpPr>
          <p:cNvPr id="44" name="Shape 42"/>
          <p:cNvSpPr/>
          <p:nvPr/>
        </p:nvSpPr>
        <p:spPr>
          <a:xfrm>
            <a:off x="-413423" y="7435787"/>
            <a:ext cx="2155469" cy="2155469"/>
          </a:xfrm>
          <a:prstGeom prst="ellipse">
            <a:avLst/>
          </a:prstGeom>
          <a:solidFill>
            <a:srgbClr val="8A0F1A">
              <a:alpha val="7486"/>
            </a:srgbClr>
          </a:solidFill>
          <a:ln/>
        </p:spPr>
      </p:sp>
      <p:sp>
        <p:nvSpPr>
          <p:cNvPr id="45" name="Shape 43"/>
          <p:cNvSpPr/>
          <p:nvPr/>
        </p:nvSpPr>
        <p:spPr>
          <a:xfrm>
            <a:off x="-233801" y="7615409"/>
            <a:ext cx="1796225" cy="1796225"/>
          </a:xfrm>
          <a:prstGeom prst="ellipse">
            <a:avLst/>
          </a:prstGeom>
          <a:solidFill>
            <a:srgbClr val="8A0F1A">
              <a:alpha val="8191"/>
            </a:srgbClr>
          </a:solidFill>
          <a:ln/>
        </p:spPr>
      </p:sp>
      <p:sp>
        <p:nvSpPr>
          <p:cNvPr id="46" name="Shape 44"/>
          <p:cNvSpPr/>
          <p:nvPr/>
        </p:nvSpPr>
        <p:spPr>
          <a:xfrm>
            <a:off x="-54178" y="7795031"/>
            <a:ext cx="1436980" cy="1436980"/>
          </a:xfrm>
          <a:prstGeom prst="ellipse">
            <a:avLst/>
          </a:prstGeom>
          <a:solidFill>
            <a:srgbClr val="8A0F1A">
              <a:alpha val="9466"/>
            </a:srgbClr>
          </a:solidFill>
          <a:ln/>
        </p:spPr>
      </p:sp>
      <p:sp>
        <p:nvSpPr>
          <p:cNvPr id="47" name="Shape 45"/>
          <p:cNvSpPr/>
          <p:nvPr/>
        </p:nvSpPr>
        <p:spPr>
          <a:xfrm>
            <a:off x="125444" y="7974654"/>
            <a:ext cx="1077735" cy="1077735"/>
          </a:xfrm>
          <a:prstGeom prst="ellipse">
            <a:avLst/>
          </a:prstGeom>
          <a:solidFill>
            <a:srgbClr val="8A0F1A">
              <a:alpha val="10120"/>
            </a:srgbClr>
          </a:solidFill>
          <a:ln/>
        </p:spPr>
      </p:sp>
      <p:sp>
        <p:nvSpPr>
          <p:cNvPr id="48" name="Shape 46"/>
          <p:cNvSpPr/>
          <p:nvPr/>
        </p:nvSpPr>
        <p:spPr>
          <a:xfrm>
            <a:off x="305067" y="8154276"/>
            <a:ext cx="718490" cy="718490"/>
          </a:xfrm>
          <a:prstGeom prst="ellipse">
            <a:avLst/>
          </a:prstGeom>
          <a:solidFill>
            <a:srgbClr val="8A0F1A">
              <a:alpha val="10280"/>
            </a:srgbClr>
          </a:solidFill>
          <a:ln/>
        </p:spPr>
      </p:sp>
      <p:sp>
        <p:nvSpPr>
          <p:cNvPr id="49" name="Shape 47"/>
          <p:cNvSpPr/>
          <p:nvPr/>
        </p:nvSpPr>
        <p:spPr>
          <a:xfrm>
            <a:off x="484689" y="8333899"/>
            <a:ext cx="359245" cy="359245"/>
          </a:xfrm>
          <a:prstGeom prst="ellipse">
            <a:avLst/>
          </a:prstGeom>
          <a:solidFill>
            <a:srgbClr val="8A0F1A">
              <a:alpha val="10999"/>
            </a:srgbClr>
          </a:solidFill>
          <a:ln/>
        </p:spPr>
      </p:sp>
      <p:sp>
        <p:nvSpPr>
          <p:cNvPr id="50" name="Shape 48"/>
          <p:cNvSpPr/>
          <p:nvPr/>
        </p:nvSpPr>
        <p:spPr>
          <a:xfrm>
            <a:off x="3420770" y="1238098"/>
            <a:ext cx="8866937" cy="4991710"/>
          </a:xfrm>
          <a:custGeom>
            <a:avLst/>
            <a:gdLst/>
            <a:ahLst/>
            <a:cxnLst/>
            <a:rect l="l" t="t" r="r" b="b"/>
            <a:pathLst>
              <a:path w="8866937" h="4991710">
                <a:moveTo>
                  <a:pt x="434480" y="0"/>
                </a:moveTo>
                <a:lnTo>
                  <a:pt x="8866937" y="0"/>
                </a:lnTo>
                <a:lnTo>
                  <a:pt x="8866937" y="4991710"/>
                </a:lnTo>
                <a:lnTo>
                  <a:pt x="434480" y="4991710"/>
                </a:lnTo>
                <a:cubicBezTo>
                  <a:pt x="195073" y="4991710"/>
                  <a:pt x="0" y="4797033"/>
                  <a:pt x="0" y="4562423"/>
                </a:cubicBezTo>
                <a:lnTo>
                  <a:pt x="0" y="429287"/>
                </a:lnTo>
                <a:cubicBezTo>
                  <a:pt x="0" y="194677"/>
                  <a:pt x="195073" y="0"/>
                  <a:pt x="434480" y="0"/>
                </a:cubicBezTo>
                <a:close/>
              </a:path>
            </a:pathLst>
          </a:custGeom>
          <a:ln w="6350">
            <a:solidFill>
              <a:srgbClr val="D9B48A"/>
            </a:solidFill>
            <a:prstDash val="solid"/>
          </a:ln>
        </p:spPr>
      </p:sp>
      <p:sp>
        <p:nvSpPr>
          <p:cNvPr id="51" name="Text 49"/>
          <p:cNvSpPr/>
          <p:nvPr/>
        </p:nvSpPr>
        <p:spPr>
          <a:xfrm>
            <a:off x="678485" y="1548079"/>
            <a:ext cx="2651760" cy="338328"/>
          </a:xfrm>
          <a:prstGeom prst="rect">
            <a:avLst/>
          </a:prstGeom>
          <a:noFill/>
          <a:ln/>
        </p:spPr>
        <p:txBody>
          <a:bodyPr wrap="square" lIns="91440" tIns="45720" rIns="91440" bIns="45720" rtlCol="0" anchor="t">
            <a:spAutoFit/>
          </a:bodyPr>
          <a:lstStyle/>
          <a:p>
            <a:pPr indent="0" marL="0">
              <a:buNone/>
            </a:pPr>
            <a:r>
              <a:rPr lang="en-US" sz="1600" dirty="0">
                <a:solidFill>
                  <a:srgbClr val="FFFFFF"/>
                </a:solidFill>
                <a:latin typeface="Arial" pitchFamily="34" charset="0"/>
                <a:ea typeface="Arial" pitchFamily="34" charset="-122"/>
                <a:cs typeface="Arial" pitchFamily="34" charset="-120"/>
              </a:rPr>
              <a:t>P5 Always-on background</a:t>
            </a:r>
          </a:p>
        </p:txBody>
      </p:sp>
      <p:sp>
        <p:nvSpPr>
          <p:cNvPr id="52" name="Text 50"/>
          <p:cNvSpPr/>
          <p:nvPr/>
        </p:nvSpPr>
        <p:spPr>
          <a:xfrm>
            <a:off x="678485" y="1776679"/>
            <a:ext cx="2651760" cy="646481"/>
          </a:xfrm>
          <a:prstGeom prst="rect">
            <a:avLst/>
          </a:prstGeom>
          <a:noFill/>
          <a:ln/>
        </p:spPr>
        <p:txBody>
          <a:bodyPr wrap="none" lIns="91440" tIns="45720" rIns="91440" bIns="45720" rtlCol="0" anchor="t">
            <a:spAutoFit/>
          </a:bodyPr>
          <a:lstStyle/>
          <a:p>
            <a:pPr indent="0" marL="0">
              <a:buNone/>
            </a:pPr>
            <a:r>
              <a:rPr lang="en-US" sz="2720" dirty="0" b="1">
                <a:solidFill>
                  <a:srgbClr val="FFFFFF"/>
                </a:solidFill>
                <a:latin typeface="Arial" pitchFamily="34" charset="0"/>
                <a:ea typeface="Arial" pitchFamily="34" charset="-122"/>
                <a:cs typeface="Arial" pitchFamily="34" charset="-120"/>
              </a:rPr>
              <a:t>Always on,</a:t>
            </a:r>
          </a:p>
        </p:txBody>
      </p:sp>
      <p:sp>
        <p:nvSpPr>
          <p:cNvPr id="53" name="Text 51"/>
          <p:cNvSpPr/>
          <p:nvPr/>
        </p:nvSpPr>
        <p:spPr>
          <a:xfrm>
            <a:off x="1351483" y="2268626"/>
            <a:ext cx="2377440" cy="646481"/>
          </a:xfrm>
          <a:prstGeom prst="rect">
            <a:avLst/>
          </a:prstGeom>
          <a:noFill/>
          <a:ln/>
        </p:spPr>
        <p:txBody>
          <a:bodyPr wrap="none" lIns="91440" tIns="45720" rIns="91440" bIns="45720" rtlCol="0" anchor="t">
            <a:spAutoFit/>
          </a:bodyPr>
          <a:lstStyle/>
          <a:p>
            <a:pPr indent="0" marL="0">
              <a:buNone/>
            </a:pPr>
            <a:r>
              <a:rPr lang="en-US" sz="2550" dirty="0" b="1">
                <a:solidFill>
                  <a:srgbClr val="EE0000"/>
                </a:solidFill>
                <a:latin typeface="Arial" pitchFamily="34" charset="0"/>
                <a:ea typeface="Arial" pitchFamily="34" charset="-122"/>
                <a:cs typeface="Arial" pitchFamily="34" charset="-120"/>
              </a:rPr>
              <a:t>and owned</a:t>
            </a:r>
          </a:p>
        </p:txBody>
      </p:sp>
      <p:sp>
        <p:nvSpPr>
          <p:cNvPr id="54" name="Shape 52"/>
          <p:cNvSpPr/>
          <p:nvPr/>
        </p:nvSpPr>
        <p:spPr>
          <a:xfrm rot="16200000">
            <a:off x="938174" y="2393899"/>
            <a:ext cx="301752" cy="388620"/>
          </a:xfrm>
          <a:custGeom>
            <a:avLst/>
            <a:gdLst/>
            <a:ahLst/>
            <a:cxnLst/>
            <a:rect l="l" t="t" r="r" b="b"/>
            <a:pathLst>
              <a:path w="301752" h="388620">
                <a:moveTo>
                  <a:pt x="174111" y="301569"/>
                </a:moveTo>
                <a:lnTo>
                  <a:pt x="214847" y="301569"/>
                </a:lnTo>
                <a:lnTo>
                  <a:pt x="214847" y="259987"/>
                </a:lnTo>
                <a:lnTo>
                  <a:pt x="217563" y="257266"/>
                </a:lnTo>
                <a:lnTo>
                  <a:pt x="257394" y="257266"/>
                </a:lnTo>
                <a:lnTo>
                  <a:pt x="257394" y="214518"/>
                </a:lnTo>
                <a:lnTo>
                  <a:pt x="260110" y="214518"/>
                </a:lnTo>
                <a:lnTo>
                  <a:pt x="301752" y="214518"/>
                </a:lnTo>
                <a:lnTo>
                  <a:pt x="301752" y="261153"/>
                </a:lnTo>
                <a:lnTo>
                  <a:pt x="259205" y="261153"/>
                </a:lnTo>
                <a:lnTo>
                  <a:pt x="259205" y="303512"/>
                </a:lnTo>
                <a:lnTo>
                  <a:pt x="216658" y="303512"/>
                </a:lnTo>
                <a:lnTo>
                  <a:pt x="216658" y="346260"/>
                </a:lnTo>
                <a:lnTo>
                  <a:pt x="174111" y="346260"/>
                </a:lnTo>
                <a:lnTo>
                  <a:pt x="174111" y="388620"/>
                </a:lnTo>
                <a:lnTo>
                  <a:pt x="127641" y="388620"/>
                </a:lnTo>
                <a:lnTo>
                  <a:pt x="127641" y="346260"/>
                </a:lnTo>
                <a:lnTo>
                  <a:pt x="85094" y="346260"/>
                </a:lnTo>
                <a:lnTo>
                  <a:pt x="85094" y="303512"/>
                </a:lnTo>
                <a:lnTo>
                  <a:pt x="42547" y="303512"/>
                </a:lnTo>
                <a:lnTo>
                  <a:pt x="42547" y="261153"/>
                </a:lnTo>
                <a:lnTo>
                  <a:pt x="0" y="261153"/>
                </a:lnTo>
                <a:lnTo>
                  <a:pt x="0" y="214518"/>
                </a:lnTo>
                <a:lnTo>
                  <a:pt x="44358" y="214518"/>
                </a:lnTo>
                <a:lnTo>
                  <a:pt x="44358" y="257266"/>
                </a:lnTo>
                <a:lnTo>
                  <a:pt x="86905" y="257266"/>
                </a:lnTo>
                <a:lnTo>
                  <a:pt x="86905" y="301569"/>
                </a:lnTo>
                <a:lnTo>
                  <a:pt x="127641" y="301569"/>
                </a:lnTo>
                <a:lnTo>
                  <a:pt x="127641" y="0"/>
                </a:lnTo>
                <a:lnTo>
                  <a:pt x="174111" y="0"/>
                </a:lnTo>
                <a:close/>
              </a:path>
            </a:pathLst>
          </a:custGeom>
          <a:solidFill>
            <a:srgbClr val="EE0000"/>
          </a:solidFill>
          <a:ln/>
        </p:spPr>
      </p:sp>
      <p:sp>
        <p:nvSpPr>
          <p:cNvPr id="55" name="Text 53"/>
          <p:cNvSpPr/>
          <p:nvPr/>
        </p:nvSpPr>
        <p:spPr>
          <a:xfrm>
            <a:off x="689458" y="3017520"/>
            <a:ext cx="2606040" cy="1079906"/>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3E6D6"/>
                </a:solidFill>
                <a:latin typeface="Arial" pitchFamily="34" charset="0"/>
                <a:ea typeface="Arial" pitchFamily="34" charset="-122"/>
                <a:cs typeface="Arial" pitchFamily="34" charset="-120"/>
              </a:rPr>
              <a:t>Always-on agents wake on triggers, act unattended, accumulate grants, write their own memory and spend with no session end: five risks (1–5) one-shot sessions do not have [20].</a:t>
            </a:r>
          </a:p>
        </p:txBody>
      </p:sp>
      <p:sp>
        <p:nvSpPr>
          <p:cNvPr id="56" name="Text 54"/>
          <p:cNvSpPr/>
          <p:nvPr/>
        </p:nvSpPr>
        <p:spPr>
          <a:xfrm>
            <a:off x="689458" y="4709160"/>
            <a:ext cx="2606040" cy="825703"/>
          </a:xfrm>
          <a:prstGeom prst="rect">
            <a:avLst/>
          </a:prstGeom>
          <a:noFill/>
          <a:ln/>
        </p:spPr>
        <p:txBody>
          <a:bodyPr wrap="square" lIns="91440" tIns="45720" rIns="91440" bIns="45720" rtlCol="0" anchor="t">
            <a:spAutoFit/>
          </a:bodyPr>
          <a:lstStyle/>
          <a:p>
            <a:pPr indent="0" marL="0">
              <a:lnSpc>
                <a:spcPct val="150000"/>
              </a:lnSpc>
              <a:buNone/>
            </a:pPr>
            <a:r>
              <a:rPr lang="en-US" sz="1100" dirty="0">
                <a:solidFill>
                  <a:srgbClr val="FFFFFF"/>
                </a:solidFill>
                <a:latin typeface="Arial" pitchFamily="34" charset="0"/>
                <a:ea typeface="Arial" pitchFamily="34" charset="-122"/>
                <a:cs typeface="Arial" pitchFamily="34" charset="-120"/>
              </a:rPr>
              <a:t>Why (Gartner): L4 by definition, so clear ownership and shorter recertification [7]; sprawl steps 2–3 are inventory and life cycle [6].</a:t>
            </a:r>
          </a:p>
        </p:txBody>
      </p:sp>
      <p:sp>
        <p:nvSpPr>
          <p:cNvPr id="57" name="Shape 55"/>
          <p:cNvSpPr/>
          <p:nvPr/>
        </p:nvSpPr>
        <p:spPr>
          <a:xfrm>
            <a:off x="4190695" y="5516575"/>
            <a:ext cx="1874520" cy="374904"/>
          </a:xfrm>
          <a:prstGeom prst="roundRect">
            <a:avLst>
              <a:gd name="adj" fmla="val 50000"/>
            </a:avLst>
          </a:prstGeom>
          <a:solidFill>
            <a:srgbClr val="8A0F1A">
              <a:alpha val="15600"/>
            </a:srgbClr>
          </a:solidFill>
          <a:ln w="6350">
            <a:solidFill>
              <a:srgbClr val="D9B48A"/>
            </a:solidFill>
            <a:prstDash val="solid"/>
          </a:ln>
        </p:spPr>
      </p:sp>
      <p:sp>
        <p:nvSpPr>
          <p:cNvPr id="58" name="Text 56"/>
          <p:cNvSpPr/>
          <p:nvPr/>
        </p:nvSpPr>
        <p:spPr>
          <a:xfrm>
            <a:off x="4327855" y="5538521"/>
            <a:ext cx="169164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Ours / partner</a:t>
            </a:r>
          </a:p>
        </p:txBody>
      </p:sp>
      <p:sp>
        <p:nvSpPr>
          <p:cNvPr id="59" name="Shape 57"/>
          <p:cNvSpPr/>
          <p:nvPr/>
        </p:nvSpPr>
        <p:spPr>
          <a:xfrm>
            <a:off x="6245352" y="5516575"/>
            <a:ext cx="1600200" cy="374904"/>
          </a:xfrm>
          <a:prstGeom prst="roundRect">
            <a:avLst>
              <a:gd name="adj" fmla="val 50000"/>
            </a:avLst>
          </a:prstGeom>
          <a:solidFill>
            <a:srgbClr val="F5B700"/>
          </a:solidFill>
          <a:ln/>
        </p:spPr>
      </p:sp>
      <p:sp>
        <p:nvSpPr>
          <p:cNvPr id="60" name="Text 58"/>
          <p:cNvSpPr/>
          <p:nvPr/>
        </p:nvSpPr>
        <p:spPr>
          <a:xfrm>
            <a:off x="6382512" y="5538521"/>
            <a:ext cx="1417320" cy="338328"/>
          </a:xfrm>
          <a:prstGeom prst="rect">
            <a:avLst/>
          </a:prstGeom>
          <a:noFill/>
          <a:ln/>
        </p:spPr>
        <p:txBody>
          <a:bodyPr wrap="none" lIns="91440" tIns="45720" rIns="91440" bIns="45720" rtlCol="0" anchor="t">
            <a:spAutoFit/>
          </a:bodyPr>
          <a:lstStyle/>
          <a:p>
            <a:pPr indent="0" marL="0">
              <a:buNone/>
            </a:pPr>
            <a:r>
              <a:rPr lang="en-US" sz="1300" dirty="0">
                <a:solidFill>
                  <a:srgbClr val="141010"/>
                </a:solidFill>
                <a:latin typeface="Arial" pitchFamily="34" charset="0"/>
                <a:ea typeface="Arial" pitchFamily="34" charset="-122"/>
                <a:cs typeface="Arial" pitchFamily="34" charset="-120"/>
              </a:rPr>
              <a:t>Gap: build</a:t>
            </a:r>
          </a:p>
        </p:txBody>
      </p:sp>
      <p:sp>
        <p:nvSpPr>
          <p:cNvPr id="61" name="Shape 59"/>
          <p:cNvSpPr/>
          <p:nvPr/>
        </p:nvSpPr>
        <p:spPr>
          <a:xfrm>
            <a:off x="8028432" y="5516575"/>
            <a:ext cx="1691640" cy="374904"/>
          </a:xfrm>
          <a:prstGeom prst="roundRect">
            <a:avLst>
              <a:gd name="adj" fmla="val 50000"/>
            </a:avLst>
          </a:prstGeom>
          <a:solidFill>
            <a:srgbClr val="8A0F1A">
              <a:alpha val="15600"/>
            </a:srgbClr>
          </a:solidFill>
          <a:ln w="6350">
            <a:solidFill>
              <a:srgbClr val="A0704A"/>
            </a:solidFill>
            <a:prstDash val="solid"/>
          </a:ln>
        </p:spPr>
      </p:sp>
      <p:sp>
        <p:nvSpPr>
          <p:cNvPr id="62" name="Text 60"/>
          <p:cNvSpPr/>
          <p:nvPr/>
        </p:nvSpPr>
        <p:spPr>
          <a:xfrm>
            <a:off x="8165592" y="5538521"/>
            <a:ext cx="1508760" cy="338328"/>
          </a:xfrm>
          <a:prstGeom prst="rect">
            <a:avLst/>
          </a:prstGeom>
          <a:noFill/>
          <a:ln/>
        </p:spPr>
        <p:txBody>
          <a:bodyPr wrap="none" lIns="91440" tIns="45720" rIns="91440" bIns="45720" rtlCol="0" anchor="t">
            <a:spAutoFit/>
          </a:bodyPr>
          <a:lstStyle/>
          <a:p>
            <a:pPr indent="0" marL="0">
              <a:buNone/>
            </a:pPr>
            <a:r>
              <a:rPr lang="en-US" sz="1300" dirty="0">
                <a:solidFill>
                  <a:srgbClr val="FFFFFF"/>
                </a:solidFill>
                <a:latin typeface="Arial" pitchFamily="34" charset="0"/>
                <a:ea typeface="Arial" pitchFamily="34" charset="-122"/>
                <a:cs typeface="Arial" pitchFamily="34" charset="-120"/>
              </a:rPr>
              <a:t>Third-party</a:t>
            </a:r>
          </a:p>
        </p:txBody>
      </p:sp>
      <p:sp>
        <p:nvSpPr>
          <p:cNvPr id="63" name="Shape 61"/>
          <p:cNvSpPr/>
          <p:nvPr/>
        </p:nvSpPr>
        <p:spPr>
          <a:xfrm rot="19800000">
            <a:off x="3895344" y="5657393"/>
            <a:ext cx="95098" cy="95098"/>
          </a:xfrm>
          <a:prstGeom prst="rect">
            <a:avLst/>
          </a:prstGeom>
          <a:solidFill>
            <a:srgbClr val="CC0000"/>
          </a:solidFill>
          <a:ln/>
        </p:spPr>
      </p:sp>
      <p:sp>
        <p:nvSpPr>
          <p:cNvPr id="523" name="g2 523"/>
          <p:cNvSpPr/>
          <p:nvPr/>
        </p:nvSpPr>
        <p:spPr>
          <a:xfrm>
            <a:off x="3749040" y="1261872"/>
            <a:ext cx="39776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(a) FIRST-PARTY  ·  governed layer stack</a:t>
            </a:r>
          </a:p>
        </p:txBody>
      </p:sp>
      <p:sp>
        <p:nvSpPr>
          <p:cNvPr id="524" name="g2 524"/>
          <p:cNvSpPr/>
          <p:nvPr/>
        </p:nvSpPr>
        <p:spPr>
          <a:xfrm>
            <a:off x="8001000" y="1261872"/>
            <a:ext cx="214884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(b) THIRD-PARTY · VENDOR-BUILT</a:t>
            </a:r>
          </a:p>
        </p:txBody>
      </p:sp>
      <p:sp>
        <p:nvSpPr>
          <p:cNvPr id="525" name="g2 525"/>
          <p:cNvSpPr/>
          <p:nvPr/>
        </p:nvSpPr>
        <p:spPr>
          <a:xfrm>
            <a:off x="10195560" y="1261872"/>
            <a:ext cx="1737360" cy="182880"/>
          </a:xfrm>
          <a:prstGeom prst="rect">
            <a:avLst/>
          </a:prstGeom>
          <a:noFill/>
          <a:ln>
            <a:noFill/>
          </a:ln>
        </p:spPr>
        <p:txBody>
          <a:bodyPr wrap="square" lIns="0" tIns="0" rIns="0" bIns="0" rtlCol="0" anchor="ctr">
            <a:noAutofit/>
          </a:bodyPr>
          <a:lstStyle/>
          <a:p>
            <a:pPr algn="l" marL="0" indent="0">
              <a:buNone/>
            </a:pPr>
            <a:r>
              <a:rPr lang="en-US" sz="850" dirty="0">
                <a:solidFill>
                  <a:srgbClr val="F5B700"/>
                </a:solidFill>
                <a:latin typeface="Arial"/>
                <a:ea typeface="Arial"/>
                <a:cs typeface="Arial"/>
              </a:rPr>
              <a:t>(c) GAP</a:t>
            </a:r>
          </a:p>
        </p:txBody>
      </p:sp>
      <p:sp>
        <p:nvSpPr>
          <p:cNvPr id="526" name="g2 526"/>
          <p:cNvSpPr/>
          <p:nvPr/>
        </p:nvSpPr>
        <p:spPr>
          <a:xfrm>
            <a:off x="3749040" y="1481328"/>
            <a:ext cx="1371600" cy="50292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1 Triggers</a:t>
            </a:r>
          </a:p>
          <a:p>
            <a:pPr algn="l" marL="0" indent="0">
              <a:lnSpc>
                <a:spcPct val="100000"/>
              </a:lnSpc>
              <a:buNone/>
            </a:pPr>
            <a:r>
              <a:rPr lang="en-US" sz="800" dirty="0">
                <a:solidFill>
                  <a:srgbClr val="F3E6D6"/>
                </a:solidFill>
                <a:latin typeface="Arial"/>
                <a:ea typeface="Arial"/>
                <a:cs typeface="Arial"/>
              </a:rPr>
              <a:t>schedules · webhooks · channels</a:t>
            </a:r>
          </a:p>
        </p:txBody>
      </p:sp>
      <p:sp>
        <p:nvSpPr>
          <p:cNvPr id="527" name="g2 527"/>
          <p:cNvSpPr/>
          <p:nvPr/>
        </p:nvSpPr>
        <p:spPr>
          <a:xfrm>
            <a:off x="5394960" y="1481328"/>
            <a:ext cx="233172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Always-on agent</a:t>
            </a:r>
          </a:p>
          <a:p>
            <a:pPr algn="l" marL="0" indent="0">
              <a:lnSpc>
                <a:spcPct val="100000"/>
              </a:lnSpc>
              <a:buNone/>
            </a:pPr>
            <a:r>
              <a:rPr lang="en-US" sz="800" dirty="0">
                <a:solidFill>
                  <a:srgbClr val="F3E6D6"/>
                </a:solidFill>
                <a:latin typeface="Arial"/>
                <a:ea typeface="Arial"/>
                <a:cs typeface="Arial"/>
              </a:rPr>
              <a:t>Claude Code Routines, /loop · Agent SDK · Kairos SDK</a:t>
            </a:r>
          </a:p>
        </p:txBody>
      </p:sp>
      <p:cxnSp>
        <p:nvCxnSpPr>
          <p:cNvPr id="528" name="g2 flow 528"/>
          <p:cNvCxnSpPr/>
          <p:nvPr/>
        </p:nvCxnSpPr>
        <p:spPr>
          <a:xfrm>
            <a:off x="5120640" y="1732788"/>
            <a:ext cx="274320" cy="0"/>
          </a:xfrm>
          <a:prstGeom prst="line">
            <a:avLst/>
          </a:prstGeom>
          <a:ln w="12700">
            <a:solidFill>
              <a:srgbClr val="EE0000"/>
            </a:solidFill>
            <a:tailEnd type="triangle" w="med" len="med"/>
          </a:ln>
        </p:spPr>
      </p:cxnSp>
      <p:sp>
        <p:nvSpPr>
          <p:cNvPr id="529" name="g2 529"/>
          <p:cNvSpPr/>
          <p:nvPr/>
        </p:nvSpPr>
        <p:spPr>
          <a:xfrm>
            <a:off x="3749040" y="2240280"/>
            <a:ext cx="3977640" cy="59436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2 pillar-governance bundle (managed hooks)</a:t>
            </a:r>
          </a:p>
          <a:p>
            <a:pPr algn="l" marL="0" indent="0">
              <a:lnSpc>
                <a:spcPct val="100000"/>
              </a:lnSpc>
              <a:buNone/>
            </a:pPr>
            <a:r>
              <a:rPr lang="en-US" sz="800" dirty="0">
                <a:solidFill>
                  <a:srgbClr val="F3E6D6"/>
                </a:solidFill>
                <a:latin typeface="Arial"/>
                <a:ea typeface="Arial"/>
                <a:cs typeface="Arial"/>
              </a:rPr>
              <a:t>gov-guard · autonomy-guard · memory-hygiene · kill-switch · spend / turn caps · quiet hours</a:t>
            </a:r>
          </a:p>
        </p:txBody>
      </p:sp>
      <p:cxnSp>
        <p:nvCxnSpPr>
          <p:cNvPr id="530" name="g2 flow 530"/>
          <p:cNvCxnSpPr/>
          <p:nvPr/>
        </p:nvCxnSpPr>
        <p:spPr>
          <a:xfrm>
            <a:off x="6560820" y="1984248"/>
            <a:ext cx="0" cy="256032"/>
          </a:xfrm>
          <a:prstGeom prst="line">
            <a:avLst/>
          </a:prstGeom>
          <a:ln w="12700">
            <a:solidFill>
              <a:srgbClr val="EE0000"/>
            </a:solidFill>
            <a:tailEnd type="triangle" w="med" len="med"/>
          </a:ln>
        </p:spPr>
      </p:cxnSp>
      <p:sp>
        <p:nvSpPr>
          <p:cNvPr id="531" name="g2 531"/>
          <p:cNvSpPr/>
          <p:nvPr/>
        </p:nvSpPr>
        <p:spPr>
          <a:xfrm>
            <a:off x="3749040" y="310896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5 Kairos gateway spend limits</a:t>
            </a:r>
          </a:p>
          <a:p>
            <a:pPr algn="l" marL="0" indent="0">
              <a:lnSpc>
                <a:spcPct val="100000"/>
              </a:lnSpc>
              <a:buNone/>
            </a:pPr>
            <a:r>
              <a:rPr lang="en-US" sz="800" dirty="0">
                <a:solidFill>
                  <a:srgbClr val="F3E6D6"/>
                </a:solidFill>
                <a:latin typeface="Arial"/>
                <a:ea typeface="Arial"/>
                <a:cs typeface="Arial"/>
              </a:rPr>
              <a:t>every model call, per agent</a:t>
            </a:r>
          </a:p>
        </p:txBody>
      </p:sp>
      <p:sp>
        <p:nvSpPr>
          <p:cNvPr id="532" name="g2 532"/>
          <p:cNvSpPr/>
          <p:nvPr/>
        </p:nvSpPr>
        <p:spPr>
          <a:xfrm>
            <a:off x="5806440" y="310896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MCP gateway scopes</a:t>
            </a:r>
          </a:p>
          <a:p>
            <a:pPr algn="l" marL="0" indent="0">
              <a:lnSpc>
                <a:spcPct val="100000"/>
              </a:lnSpc>
              <a:buNone/>
            </a:pPr>
            <a:r>
              <a:rPr lang="en-US" sz="800" dirty="0">
                <a:solidFill>
                  <a:srgbClr val="F3E6D6"/>
                </a:solidFill>
                <a:latin typeface="Arial"/>
                <a:ea typeface="Arial"/>
                <a:cs typeface="Arial"/>
              </a:rPr>
              <a:t>tools and tokens per manifest</a:t>
            </a:r>
          </a:p>
        </p:txBody>
      </p:sp>
      <p:cxnSp>
        <p:nvCxnSpPr>
          <p:cNvPr id="533" name="g2 flow 533"/>
          <p:cNvCxnSpPr/>
          <p:nvPr/>
        </p:nvCxnSpPr>
        <p:spPr>
          <a:xfrm>
            <a:off x="4709160" y="2834640"/>
            <a:ext cx="0" cy="274320"/>
          </a:xfrm>
          <a:prstGeom prst="line">
            <a:avLst/>
          </a:prstGeom>
          <a:ln w="12700">
            <a:solidFill>
              <a:srgbClr val="EE0000"/>
            </a:solidFill>
            <a:tailEnd type="triangle" w="med" len="med"/>
          </a:ln>
        </p:spPr>
      </p:cxnSp>
      <p:cxnSp>
        <p:nvCxnSpPr>
          <p:cNvPr id="534" name="g2 flow 534"/>
          <p:cNvCxnSpPr/>
          <p:nvPr/>
        </p:nvCxnSpPr>
        <p:spPr>
          <a:xfrm>
            <a:off x="6766560" y="2834640"/>
            <a:ext cx="0" cy="274320"/>
          </a:xfrm>
          <a:prstGeom prst="line">
            <a:avLst/>
          </a:prstGeom>
          <a:ln w="12700">
            <a:solidFill>
              <a:srgbClr val="EE0000"/>
            </a:solidFill>
            <a:tailEnd type="triangle" w="med" len="med"/>
          </a:ln>
        </p:spPr>
      </p:cxnSp>
      <p:sp>
        <p:nvSpPr>
          <p:cNvPr id="535" name="g2 535"/>
          <p:cNvSpPr/>
          <p:nvPr/>
        </p:nvSpPr>
        <p:spPr>
          <a:xfrm>
            <a:off x="3749040" y="384048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4 Memory-scope policy</a:t>
            </a:r>
          </a:p>
          <a:p>
            <a:pPr algn="l" marL="0" indent="0">
              <a:lnSpc>
                <a:spcPct val="100000"/>
              </a:lnSpc>
              <a:buNone/>
            </a:pPr>
            <a:r>
              <a:rPr lang="en-US" sz="800" dirty="0">
                <a:solidFill>
                  <a:srgbClr val="F3E6D6"/>
                </a:solidFill>
                <a:latin typeface="Arial"/>
                <a:ea typeface="Arial"/>
                <a:cs typeface="Arial"/>
              </a:rPr>
              <a:t>scope · purge · quarantine</a:t>
            </a:r>
          </a:p>
        </p:txBody>
      </p:sp>
      <p:sp>
        <p:nvSpPr>
          <p:cNvPr id="536" name="g2 536"/>
          <p:cNvSpPr/>
          <p:nvPr/>
        </p:nvSpPr>
        <p:spPr>
          <a:xfrm>
            <a:off x="5806440" y="3840480"/>
            <a:ext cx="1920240" cy="45720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3 Permission re-check</a:t>
            </a:r>
          </a:p>
          <a:p>
            <a:pPr algn="l" marL="0" indent="0">
              <a:lnSpc>
                <a:spcPct val="100000"/>
              </a:lnSpc>
              <a:buNone/>
            </a:pPr>
            <a:r>
              <a:rPr lang="en-US" sz="800" dirty="0">
                <a:solidFill>
                  <a:srgbClr val="F3E6D6"/>
                </a:solidFill>
                <a:latin typeface="Arial"/>
                <a:ea typeface="Arial"/>
                <a:cs typeface="Arial"/>
              </a:rPr>
              <a:t>periodic, against the manifest</a:t>
            </a:r>
          </a:p>
        </p:txBody>
      </p:sp>
      <p:cxnSp>
        <p:nvCxnSpPr>
          <p:cNvPr id="537" name="g2 flow 537"/>
          <p:cNvCxnSpPr/>
          <p:nvPr/>
        </p:nvCxnSpPr>
        <p:spPr>
          <a:xfrm>
            <a:off x="4709160" y="3566160"/>
            <a:ext cx="0" cy="274320"/>
          </a:xfrm>
          <a:prstGeom prst="line">
            <a:avLst/>
          </a:prstGeom>
          <a:ln w="12700">
            <a:solidFill>
              <a:srgbClr val="EE0000"/>
            </a:solidFill>
            <a:tailEnd type="triangle" w="med" len="med"/>
          </a:ln>
        </p:spPr>
      </p:cxnSp>
      <p:cxnSp>
        <p:nvCxnSpPr>
          <p:cNvPr id="538" name="g2 flow 538"/>
          <p:cNvCxnSpPr/>
          <p:nvPr/>
        </p:nvCxnSpPr>
        <p:spPr>
          <a:xfrm>
            <a:off x="6766560" y="3566160"/>
            <a:ext cx="0" cy="274320"/>
          </a:xfrm>
          <a:prstGeom prst="line">
            <a:avLst/>
          </a:prstGeom>
          <a:ln w="12700">
            <a:solidFill>
              <a:srgbClr val="EE0000"/>
            </a:solidFill>
            <a:tailEnd type="triangle" w="med" len="med"/>
          </a:ln>
        </p:spPr>
      </p:cxnSp>
      <p:sp>
        <p:nvSpPr>
          <p:cNvPr id="539" name="g2 539"/>
          <p:cNvSpPr/>
          <p:nvPr/>
        </p:nvSpPr>
        <p:spPr>
          <a:xfrm>
            <a:off x="3749040" y="4572000"/>
            <a:ext cx="3977640" cy="50292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OTel ticks → Galileo / Splunk AO</a:t>
            </a:r>
          </a:p>
          <a:p>
            <a:pPr algn="l" marL="0" indent="0">
              <a:lnSpc>
                <a:spcPct val="100000"/>
              </a:lnSpc>
              <a:buNone/>
            </a:pPr>
            <a:r>
              <a:rPr lang="en-US" sz="800" dirty="0">
                <a:solidFill>
                  <a:srgbClr val="F3E6D6"/>
                </a:solidFill>
                <a:latin typeface="Arial"/>
                <a:ea typeface="Arial"/>
                <a:cs typeface="Arial"/>
              </a:rPr>
              <a:t>heartbeat spans · daily summaries · spend dashboards</a:t>
            </a:r>
          </a:p>
        </p:txBody>
      </p:sp>
      <p:cxnSp>
        <p:nvCxnSpPr>
          <p:cNvPr id="540" name="g2 flow 540"/>
          <p:cNvCxnSpPr/>
          <p:nvPr/>
        </p:nvCxnSpPr>
        <p:spPr>
          <a:xfrm>
            <a:off x="4709160" y="4297680"/>
            <a:ext cx="0" cy="274320"/>
          </a:xfrm>
          <a:prstGeom prst="line">
            <a:avLst/>
          </a:prstGeom>
          <a:ln w="12700">
            <a:solidFill>
              <a:srgbClr val="EE0000"/>
            </a:solidFill>
            <a:prstDash val="dash"/>
            <a:tailEnd type="triangle" w="med" len="med"/>
          </a:ln>
        </p:spPr>
      </p:cxnSp>
      <p:cxnSp>
        <p:nvCxnSpPr>
          <p:cNvPr id="541" name="g2 flow 541"/>
          <p:cNvCxnSpPr/>
          <p:nvPr/>
        </p:nvCxnSpPr>
        <p:spPr>
          <a:xfrm>
            <a:off x="6766560" y="4297680"/>
            <a:ext cx="0" cy="274320"/>
          </a:xfrm>
          <a:prstGeom prst="line">
            <a:avLst/>
          </a:prstGeom>
          <a:ln w="12700">
            <a:solidFill>
              <a:srgbClr val="EE0000"/>
            </a:solidFill>
            <a:prstDash val="dash"/>
            <a:tailEnd type="triangle" w="med" len="med"/>
          </a:ln>
        </p:spPr>
      </p:cxnSp>
      <p:sp>
        <p:nvSpPr>
          <p:cNvPr id="542" name="g2 542"/>
          <p:cNvSpPr/>
          <p:nvPr/>
        </p:nvSpPr>
        <p:spPr>
          <a:xfrm>
            <a:off x="8001000" y="1481328"/>
            <a:ext cx="1920240" cy="7772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Vendor background agents</a:t>
            </a:r>
          </a:p>
          <a:p>
            <a:pPr algn="l" marL="0" indent="0">
              <a:lnSpc>
                <a:spcPct val="100000"/>
              </a:lnSpc>
              <a:buNone/>
            </a:pPr>
            <a:r>
              <a:rPr lang="en-US" sz="800" dirty="0">
                <a:solidFill>
                  <a:srgbClr val="F3E6D6"/>
                </a:solidFill>
                <a:latin typeface="Arial"/>
                <a:ea typeface="Arial"/>
                <a:cs typeface="Arial"/>
              </a:rPr>
              <a:t>vendor-built agents on schedules for us (e.g. CES, Google, CRA)</a:t>
            </a:r>
          </a:p>
        </p:txBody>
      </p:sp>
      <p:sp>
        <p:nvSpPr>
          <p:cNvPr id="543" name="g2 543"/>
          <p:cNvSpPr/>
          <p:nvPr/>
        </p:nvSpPr>
        <p:spPr>
          <a:xfrm>
            <a:off x="8001000" y="2514600"/>
            <a:ext cx="1920240" cy="868680"/>
          </a:xfrm>
          <a:prstGeom prst="roundRect">
            <a:avLst>
              <a:gd name="adj" fmla="val 12000"/>
            </a:avLst>
          </a:prstGeom>
          <a:solidFill>
            <a:srgbClr val="2A1A16"/>
          </a:solidFill>
          <a:ln w="9525">
            <a:solidFill>
              <a:srgbClr val="D9B48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What we control</a:t>
            </a:r>
          </a:p>
          <a:p>
            <a:pPr algn="l" marL="0" indent="0">
              <a:lnSpc>
                <a:spcPct val="100000"/>
              </a:lnSpc>
              <a:buNone/>
            </a:pPr>
            <a:r>
              <a:rPr lang="en-US" sz="800" dirty="0">
                <a:solidFill>
                  <a:srgbClr val="F3E6D6"/>
                </a:solidFill>
                <a:latin typeface="Arial"/>
                <a:ea typeface="Arial"/>
                <a:cs typeface="Arial"/>
              </a:rPr>
              <a:t>managed settings where supported (Claude Code) · MCP tools + tokens we grant</a:t>
            </a:r>
          </a:p>
        </p:txBody>
      </p:sp>
      <p:sp>
        <p:nvSpPr>
          <p:cNvPr id="544" name="g2 544"/>
          <p:cNvSpPr/>
          <p:nvPr/>
        </p:nvSpPr>
        <p:spPr>
          <a:xfrm>
            <a:off x="8001000" y="3657600"/>
            <a:ext cx="1920240" cy="777240"/>
          </a:xfrm>
          <a:prstGeom prst="roundRect">
            <a:avLst>
              <a:gd name="adj" fmla="val 12000"/>
            </a:avLst>
          </a:prstGeom>
          <a:solidFill>
            <a:srgbClr val="2A1A16"/>
          </a:solidFill>
          <a:ln w="9525">
            <a:solidFill>
              <a:srgbClr val="A0704A"/>
            </a:solidFill>
          </a:ln>
        </p:spPr>
        <p:txBody>
          <a:bodyPr wrap="square" lIns="73152" tIns="27432" rIns="73152" bIns="27432" rtlCol="0" anchor="ctr">
            <a:noAutofit/>
          </a:bodyPr>
          <a:lstStyle/>
          <a:p>
            <a:pPr algn="l" marL="0" indent="0">
              <a:lnSpc>
                <a:spcPct val="100000"/>
              </a:lnSpc>
              <a:buNone/>
            </a:pPr>
            <a:r>
              <a:rPr lang="en-US" sz="900" b="1" dirty="0">
                <a:solidFill>
                  <a:srgbClr val="FFFFFF"/>
                </a:solidFill>
                <a:latin typeface="Arial"/>
                <a:ea typeface="Arial"/>
                <a:cs typeface="Arial"/>
              </a:rPr>
              <a:t>Agent 365 registry</a:t>
            </a:r>
          </a:p>
          <a:p>
            <a:pPr algn="l" marL="0" indent="0">
              <a:lnSpc>
                <a:spcPct val="100000"/>
              </a:lnSpc>
              <a:buNone/>
            </a:pPr>
            <a:r>
              <a:rPr lang="en-US" sz="800" dirty="0">
                <a:solidFill>
                  <a:srgbClr val="F3E6D6"/>
                </a:solidFill>
                <a:latin typeface="Arial"/>
                <a:ea typeface="Arial"/>
                <a:cs typeface="Arial"/>
              </a:rPr>
              <a:t>Microsoft control plane for tenant agents; we can revoke</a:t>
            </a:r>
          </a:p>
        </p:txBody>
      </p:sp>
      <p:cxnSp>
        <p:nvCxnSpPr>
          <p:cNvPr id="545" name="g2 flow 545"/>
          <p:cNvCxnSpPr/>
          <p:nvPr/>
        </p:nvCxnSpPr>
        <p:spPr>
          <a:xfrm>
            <a:off x="8961120" y="2258568"/>
            <a:ext cx="0" cy="256032"/>
          </a:xfrm>
          <a:prstGeom prst="line">
            <a:avLst/>
          </a:prstGeom>
          <a:ln w="12700">
            <a:solidFill>
              <a:srgbClr val="EE0000"/>
            </a:solidFill>
            <a:tailEnd type="triangle" w="med" len="med"/>
          </a:ln>
        </p:spPr>
      </p:cxnSp>
      <p:cxnSp>
        <p:nvCxnSpPr>
          <p:cNvPr id="546" name="g2 flow 546"/>
          <p:cNvCxnSpPr/>
          <p:nvPr/>
        </p:nvCxnSpPr>
        <p:spPr>
          <a:xfrm flipV="1">
            <a:off x="8961120" y="3383280"/>
            <a:ext cx="0" cy="274320"/>
          </a:xfrm>
          <a:prstGeom prst="line">
            <a:avLst/>
          </a:prstGeom>
          <a:ln w="12700">
            <a:solidFill>
              <a:srgbClr val="EE0000"/>
            </a:solidFill>
            <a:tailEnd type="triangle" w="med" len="med"/>
          </a:ln>
        </p:spPr>
      </p:cxnSp>
      <p:cxnSp>
        <p:nvCxnSpPr>
          <p:cNvPr id="547" name="g2 flow 547"/>
          <p:cNvCxnSpPr/>
          <p:nvPr/>
        </p:nvCxnSpPr>
        <p:spPr>
          <a:xfrm flipH="1">
            <a:off x="7726680" y="3291840"/>
            <a:ext cx="274320" cy="0"/>
          </a:xfrm>
          <a:prstGeom prst="line">
            <a:avLst/>
          </a:prstGeom>
          <a:ln w="12700">
            <a:solidFill>
              <a:srgbClr val="EE0000"/>
            </a:solidFill>
            <a:tailEnd type="triangle" w="med" len="med"/>
          </a:ln>
        </p:spPr>
      </p:cxnSp>
      <p:sp>
        <p:nvSpPr>
          <p:cNvPr id="548" name="g2 548"/>
          <p:cNvSpPr/>
          <p:nvPr/>
        </p:nvSpPr>
        <p:spPr>
          <a:xfrm>
            <a:off x="8001000" y="4617720"/>
            <a:ext cx="1920240" cy="4114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Little visibility into their scheduling and memory.</a:t>
            </a:r>
          </a:p>
        </p:txBody>
      </p:sp>
      <p:sp>
        <p:nvSpPr>
          <p:cNvPr id="549" name="g2 549"/>
          <p:cNvSpPr/>
          <p:nvPr/>
        </p:nvSpPr>
        <p:spPr>
          <a:xfrm>
            <a:off x="10195560" y="1481328"/>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Shadow agent discovery</a:t>
            </a:r>
          </a:p>
          <a:p>
            <a:pPr algn="l" marL="0" indent="0">
              <a:lnSpc>
                <a:spcPct val="100000"/>
              </a:lnSpc>
              <a:buNone/>
            </a:pPr>
            <a:r>
              <a:rPr lang="en-US" sz="800" dirty="0">
                <a:solidFill>
                  <a:srgbClr val="141010"/>
                </a:solidFill>
                <a:latin typeface="Arial"/>
                <a:ea typeface="Arial"/>
                <a:cs typeface="Arial"/>
              </a:rPr>
              <a:t>we only see agents that onboard</a:t>
            </a:r>
          </a:p>
        </p:txBody>
      </p:sp>
      <p:cxnSp>
        <p:nvCxnSpPr>
          <p:cNvPr id="550" name="g2 flow 550"/>
          <p:cNvCxnSpPr/>
          <p:nvPr/>
        </p:nvCxnSpPr>
        <p:spPr>
          <a:xfrm>
            <a:off x="9921240" y="1869948"/>
            <a:ext cx="274320" cy="0"/>
          </a:xfrm>
          <a:prstGeom prst="line">
            <a:avLst/>
          </a:prstGeom>
          <a:ln w="12700">
            <a:solidFill>
              <a:srgbClr val="EE0000"/>
            </a:solidFill>
            <a:prstDash val="dash"/>
            <a:tailEnd type="triangle" w="med" len="med"/>
          </a:ln>
        </p:spPr>
      </p:cxnSp>
      <p:sp>
        <p:nvSpPr>
          <p:cNvPr id="551" name="g2 551"/>
          <p:cNvSpPr/>
          <p:nvPr/>
        </p:nvSpPr>
        <p:spPr>
          <a:xfrm>
            <a:off x="10195560" y="2514600"/>
            <a:ext cx="1737360" cy="86868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Cross-vendor memory governance</a:t>
            </a:r>
          </a:p>
          <a:p>
            <a:pPr algn="l" marL="0" indent="0">
              <a:lnSpc>
                <a:spcPct val="100000"/>
              </a:lnSpc>
              <a:buNone/>
            </a:pPr>
            <a:r>
              <a:rPr lang="en-US" sz="800" dirty="0">
                <a:solidFill>
                  <a:srgbClr val="141010"/>
                </a:solidFill>
                <a:latin typeface="Arial"/>
                <a:ea typeface="Arial"/>
                <a:cs typeface="Arial"/>
              </a:rPr>
              <a:t>scope, purge and quarantine beyond one product</a:t>
            </a:r>
          </a:p>
        </p:txBody>
      </p:sp>
      <p:cxnSp>
        <p:nvCxnSpPr>
          <p:cNvPr id="552" name="g2 flow 552"/>
          <p:cNvCxnSpPr/>
          <p:nvPr/>
        </p:nvCxnSpPr>
        <p:spPr>
          <a:xfrm>
            <a:off x="9921240" y="2948940"/>
            <a:ext cx="274320" cy="0"/>
          </a:xfrm>
          <a:prstGeom prst="line">
            <a:avLst/>
          </a:prstGeom>
          <a:ln w="12700">
            <a:solidFill>
              <a:srgbClr val="EE0000"/>
            </a:solidFill>
            <a:prstDash val="dash"/>
            <a:tailEnd type="triangle" w="med" len="med"/>
          </a:ln>
        </p:spPr>
      </p:cxnSp>
      <p:sp>
        <p:nvSpPr>
          <p:cNvPr id="553" name="g2 553"/>
          <p:cNvSpPr/>
          <p:nvPr/>
        </p:nvSpPr>
        <p:spPr>
          <a:xfrm>
            <a:off x="10195560" y="3657600"/>
            <a:ext cx="1737360" cy="777240"/>
          </a:xfrm>
          <a:prstGeom prst="roundRect">
            <a:avLst>
              <a:gd name="adj" fmla="val 12000"/>
            </a:avLst>
          </a:prstGeom>
          <a:solidFill>
            <a:srgbClr val="F5B700"/>
          </a:solidFill>
          <a:ln>
            <a:noFill/>
          </a:ln>
        </p:spPr>
        <p:txBody>
          <a:bodyPr wrap="square" lIns="73152" tIns="27432" rIns="73152" bIns="27432" rtlCol="0" anchor="ctr">
            <a:noAutofit/>
          </a:bodyPr>
          <a:lstStyle/>
          <a:p>
            <a:pPr algn="l" marL="0" indent="0">
              <a:lnSpc>
                <a:spcPct val="100000"/>
              </a:lnSpc>
              <a:buNone/>
            </a:pPr>
            <a:r>
              <a:rPr lang="en-US" sz="900" b="1" dirty="0">
                <a:solidFill>
                  <a:srgbClr val="141010"/>
                </a:solidFill>
                <a:latin typeface="Arial"/>
                <a:ea typeface="Arial"/>
                <a:cs typeface="Arial"/>
              </a:rPr>
              <a:t>Permission recertification</a:t>
            </a:r>
          </a:p>
          <a:p>
            <a:pPr algn="l" marL="0" indent="0">
              <a:lnSpc>
                <a:spcPct val="100000"/>
              </a:lnSpc>
              <a:buNone/>
            </a:pPr>
            <a:r>
              <a:rPr lang="en-US" sz="800" dirty="0">
                <a:solidFill>
                  <a:srgbClr val="141010"/>
                </a:solidFill>
                <a:latin typeface="Arial"/>
                <a:ea typeface="Arial"/>
                <a:cs typeface="Arial"/>
              </a:rPr>
              <a:t>automated, by tier, for every agent</a:t>
            </a:r>
          </a:p>
        </p:txBody>
      </p:sp>
      <p:cxnSp>
        <p:nvCxnSpPr>
          <p:cNvPr id="554" name="g2 flow 554"/>
          <p:cNvCxnSpPr/>
          <p:nvPr/>
        </p:nvCxnSpPr>
        <p:spPr>
          <a:xfrm>
            <a:off x="9921240" y="4046220"/>
            <a:ext cx="274320" cy="0"/>
          </a:xfrm>
          <a:prstGeom prst="line">
            <a:avLst/>
          </a:prstGeom>
          <a:ln w="12700">
            <a:solidFill>
              <a:srgbClr val="EE0000"/>
            </a:solidFill>
            <a:prstDash val="dash"/>
            <a:tailEnd type="triangle" w="med" len="med"/>
          </a:ln>
        </p:spPr>
      </p:cxnSp>
      <p:sp>
        <p:nvSpPr>
          <p:cNvPr id="555" name="g2 555"/>
          <p:cNvSpPr/>
          <p:nvPr/>
        </p:nvSpPr>
        <p:spPr>
          <a:xfrm>
            <a:off x="10195560" y="4617720"/>
            <a:ext cx="1737360" cy="4114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Industry: memory and trigger controls are product-specific.</a:t>
            </a:r>
          </a:p>
        </p:txBody>
      </p:sp>
      <p:sp>
        <p:nvSpPr>
          <p:cNvPr id="556" name="g2 556"/>
          <p:cNvSpPr/>
          <p:nvPr/>
        </p:nvSpPr>
        <p:spPr>
          <a:xfrm>
            <a:off x="9921240" y="5596128"/>
            <a:ext cx="2194560" cy="201168"/>
          </a:xfrm>
          <a:prstGeom prst="rect">
            <a:avLst/>
          </a:prstGeom>
          <a:noFill/>
          <a:ln>
            <a:noFill/>
          </a:ln>
        </p:spPr>
        <p:txBody>
          <a:bodyPr wrap="square" lIns="0" tIns="0" rIns="0" bIns="0" rtlCol="0" anchor="ctr">
            <a:noAutofit/>
          </a:bodyPr>
          <a:lstStyle/>
          <a:p>
            <a:pPr algn="l" marL="0" indent="0">
              <a:buNone/>
            </a:pPr>
            <a:r>
              <a:rPr lang="en-US" sz="900" dirty="0">
                <a:solidFill>
                  <a:srgbClr val="F3E6D6"/>
                </a:solidFill>
                <a:latin typeface="Arial"/>
                <a:ea typeface="Arial"/>
                <a:cs typeface="Arial"/>
              </a:rPr>
              <a:t>Solid: calls  ·  Dashed: telemetry, gaps</a:t>
            </a:r>
          </a:p>
        </p:txBody>
      </p:sp>
      <p:sp>
        <p:nvSpPr>
          <p:cNvPr id="557" name="g2 557"/>
          <p:cNvSpPr/>
          <p:nvPr/>
        </p:nvSpPr>
        <p:spPr>
          <a:xfrm>
            <a:off x="3749040" y="6236208"/>
            <a:ext cx="8183880" cy="384048"/>
          </a:xfrm>
          <a:prstGeom prst="rect">
            <a:avLst/>
          </a:prstGeom>
          <a:noFill/>
          <a:ln>
            <a:noFill/>
          </a:ln>
        </p:spPr>
        <p:txBody>
          <a:bodyPr wrap="square" lIns="0" tIns="0" rIns="0" bIns="0" rtlCol="0" anchor="t">
            <a:noAutofit/>
          </a:bodyPr>
          <a:lstStyle/>
          <a:p>
            <a:pPr algn="l" marL="0" indent="0">
              <a:buNone/>
            </a:pPr>
            <a:r>
              <a:rPr lang="en-US" sz="850" dirty="0">
                <a:solidFill>
                  <a:srgbClr val="F3E6D6"/>
                </a:solidFill>
                <a:latin typeface="Arial"/>
                <a:ea typeface="Arial"/>
                <a:cs typeface="Arial"/>
              </a:rPr>
              <a:t>Risks: 1 external triggers · 2 unattended action · 3 grants pile up · 4 self-written memory · 5 unbounded spend. Hard layer under the mods: managed settings, managed PreToolUse hook, deny rules, gateways; --safe-mode keeps managed hooks and permissions.</a:t>
            </a:r>
          </a:p>
        </p:txBody>
      </p:sp>
      <p:sp>
        <p:nvSpPr>
          <p:cNvPr id="55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33 / 44</a:t>
            </a:r>
          </a:p>
        </p:txBody>
      </p:sp>
      <p:sp>
        <p:nvSpPr>
          <p:cNvPr id="55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560" name="vz rule"/>
          <p:cNvCxnSpPr/>
          <p:nvPr/>
        </p:nvCxnSpPr>
        <p:spPr>
          <a:xfrm>
            <a:off x="10908792" y="457200"/>
            <a:ext cx="731520" cy="0"/>
          </a:xfrm>
          <a:prstGeom prst="line">
            <a:avLst/>
          </a:prstGeom>
          <a:ln w="28575">
            <a:solidFill>
              <a:srgbClr val="EE0000"/>
            </a:solidFill>
          </a:ln>
        </p:spPr>
      </p:cxn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02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22" name="yc 122"/>
          <p:cNvSpPr/>
          <p:nvPr/>
        </p:nvSpPr>
        <p:spPr>
          <a:xfrm>
            <a:off x="548640" y="566928"/>
            <a:ext cx="54864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Market context</a:t>
            </a:r>
          </a:p>
        </p:txBody>
      </p:sp>
      <p:sp>
        <p:nvSpPr>
          <p:cNvPr id="123" name="yc 123"/>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YC’s last 4 batches:</a:t>
            </a:r>
          </a:p>
        </p:txBody>
      </p:sp>
      <p:sp>
        <p:nvSpPr>
          <p:cNvPr id="124" name="yc 124"/>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the agent stack is moving from apps to control</a:t>
            </a:r>
          </a:p>
        </p:txBody>
      </p:sp>
      <p:cxnSp>
        <p:nvCxnSpPr>
          <p:cNvPr id="125" name="g1 rule 125"/>
          <p:cNvCxnSpPr/>
          <p:nvPr/>
        </p:nvCxnSpPr>
        <p:spPr>
          <a:xfrm>
            <a:off x="548640" y="1874520"/>
            <a:ext cx="731520" cy="0"/>
          </a:xfrm>
          <a:prstGeom prst="line">
            <a:avLst/>
          </a:prstGeom>
          <a:ln w="28575">
            <a:solidFill>
              <a:srgbClr val="EE0000"/>
            </a:solidFill>
          </a:ln>
        </p:spPr>
      </p:cxnSp>
      <p:sp>
        <p:nvSpPr>
          <p:cNvPr id="126" name="yc 126"/>
          <p:cNvSpPr/>
          <p:nvPr/>
        </p:nvSpPr>
        <p:spPr>
          <a:xfrm>
            <a:off x="548640" y="2029968"/>
            <a:ext cx="5394960" cy="713232"/>
          </a:xfrm>
          <a:prstGeom prst="roundRect">
            <a:avLst>
              <a:gd name="adj" fmla="val 14000"/>
            </a:avLst>
          </a:prstGeom>
          <a:solidFill>
            <a:srgbClr val="F5B700"/>
          </a:solidFill>
          <a:ln>
            <a:noFill/>
          </a:ln>
        </p:spPr>
        <p:txBody>
          <a:bodyPr wrap="square" lIns="137160" tIns="36576" rIns="109728" bIns="36576" rtlCol="0" anchor="ctr">
            <a:noAutofit/>
          </a:bodyPr>
          <a:lstStyle/>
          <a:p>
            <a:pPr algn="l" marL="0" indent="0">
              <a:buNone/>
            </a:pPr>
            <a:r>
              <a:rPr lang="en-US" sz="2400" b="1" dirty="0">
                <a:solidFill>
                  <a:srgbClr val="141010"/>
                </a:solidFill>
                <a:latin typeface="Arial"/>
                <a:ea typeface="Arial"/>
                <a:cs typeface="Arial"/>
              </a:rPr>
              <a:t>60%</a:t>
            </a:r>
            <a:r>
              <a:rPr lang="en-US" sz="1100" b="1" dirty="0">
                <a:solidFill>
                  <a:srgbClr val="141010"/>
                </a:solidFill>
                <a:latin typeface="Arial"/>
                <a:ea typeface="Arial"/>
                <a:cs typeface="Arial"/>
              </a:rPr>
              <a:t>   of Spring 2026 (P26) one-liners mention AI or agents</a:t>
            </a:r>
          </a:p>
          <a:p>
            <a:pPr algn="l" marL="0" indent="0">
              <a:buNone/>
            </a:pPr>
            <a:r>
              <a:rPr lang="en-US" sz="900" dirty="0">
                <a:solidFill>
                  <a:srgbClr val="141010"/>
                </a:solidFill>
                <a:latin typeface="Arial"/>
                <a:ea typeface="Arial"/>
                <a:cs typeface="Arial"/>
              </a:rPr>
              <a:t>Ollie Forsyth, New Economies [35]</a:t>
            </a:r>
          </a:p>
        </p:txBody>
      </p:sp>
      <p:sp>
        <p:nvSpPr>
          <p:cNvPr id="127" name="yc 127"/>
          <p:cNvSpPr/>
          <p:nvPr/>
        </p:nvSpPr>
        <p:spPr>
          <a:xfrm>
            <a:off x="6080760" y="2029968"/>
            <a:ext cx="5559552" cy="713232"/>
          </a:xfrm>
          <a:prstGeom prst="roundRect">
            <a:avLst>
              <a:gd name="adj" fmla="val 14000"/>
            </a:avLst>
          </a:prstGeom>
          <a:solidFill>
            <a:srgbClr val="2A1A16"/>
          </a:solidFill>
          <a:ln w="12700">
            <a:solidFill>
              <a:srgbClr val="D9B48A"/>
            </a:solidFill>
          </a:ln>
        </p:spPr>
        <p:txBody>
          <a:bodyPr wrap="square" lIns="137160" tIns="36576" rIns="109728" bIns="36576" rtlCol="0" anchor="ctr">
            <a:noAutofit/>
          </a:bodyPr>
          <a:lstStyle/>
          <a:p>
            <a:pPr algn="l" marL="0" indent="0">
              <a:buNone/>
            </a:pPr>
            <a:r>
              <a:rPr lang="en-US" sz="2000" b="1" dirty="0">
                <a:solidFill>
                  <a:srgbClr val="FFFFFF"/>
                </a:solidFill>
                <a:latin typeface="Arial"/>
                <a:ea typeface="Arial"/>
                <a:cs typeface="Arial"/>
              </a:rPr>
              <a:t>55% → 39%</a:t>
            </a:r>
            <a:r>
              <a:rPr lang="en-US" sz="1050" dirty="0">
                <a:solidFill>
                  <a:srgbClr val="F3E6D6"/>
                </a:solidFill>
                <a:latin typeface="Arial"/>
                <a:ea typeface="Arial"/>
                <a:cs typeface="Arial"/>
              </a:rPr>
              <a:t>  app-layer share, Summer 2026 (S26)  ·  </a:t>
            </a:r>
            <a:r>
              <a:rPr lang="en-US" sz="1200" b="1" dirty="0">
                <a:solidFill>
                  <a:srgbClr val="F5B700"/>
                </a:solidFill>
                <a:latin typeface="Arial"/>
                <a:ea typeface="Arial"/>
                <a:cs typeface="Arial"/>
              </a:rPr>
              <a:t>RL-env cos 1 → 7</a:t>
            </a:r>
          </a:p>
          <a:p>
            <a:pPr algn="l" marL="0" indent="0">
              <a:buNone/>
            </a:pPr>
            <a:r>
              <a:rPr lang="en-US" sz="850" b="1" dirty="0">
                <a:solidFill>
                  <a:srgbClr val="F5B700"/>
                </a:solidFill>
                <a:latin typeface="Arial"/>
                <a:ea typeface="Arial"/>
                <a:cs typeface="Arial"/>
              </a:rPr>
              <a:t>THIRD-PARTY ANALYSIS</a:t>
            </a:r>
            <a:r>
              <a:rPr lang="en-US" sz="900" dirty="0">
                <a:solidFill>
                  <a:srgbClr val="F3E6D6"/>
                </a:solidFill>
                <a:latin typeface="Arial"/>
                <a:ea typeface="Arial"/>
                <a:cs typeface="Arial"/>
              </a:rPr>
              <a:t>  ·  elsewhere.news [36], not YC data</a:t>
            </a:r>
          </a:p>
        </p:txBody>
      </p:sp>
      <p:sp>
        <p:nvSpPr>
          <p:cNvPr id="128" name="yc 128"/>
          <p:cNvSpPr/>
          <p:nvPr/>
        </p:nvSpPr>
        <p:spPr>
          <a:xfrm>
            <a:off x="54864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Simulation &amp; training gyms</a:t>
            </a:r>
          </a:p>
          <a:p>
            <a:pPr algn="l" marL="0" indent="0">
              <a:lnSpc>
                <a:spcPct val="95000"/>
              </a:lnSpc>
              <a:buNone/>
            </a:pPr>
            <a:r>
              <a:rPr lang="en-US" sz="850" dirty="0">
                <a:solidFill>
                  <a:srgbClr val="F3E6D6"/>
                </a:solidFill>
                <a:latin typeface="Arial"/>
                <a:ea typeface="Arial"/>
                <a:cs typeface="Arial"/>
              </a:rPr>
              <a:t>loop step 3 · Simulate</a:t>
            </a:r>
          </a:p>
        </p:txBody>
      </p:sp>
      <p:cxnSp>
        <p:nvCxnSpPr>
          <p:cNvPr id="129" name="g1 rule 129"/>
          <p:cNvCxnSpPr/>
          <p:nvPr/>
        </p:nvCxnSpPr>
        <p:spPr>
          <a:xfrm>
            <a:off x="1613916" y="3511296"/>
            <a:ext cx="0" cy="109728"/>
          </a:xfrm>
          <a:prstGeom prst="line">
            <a:avLst/>
          </a:prstGeom>
          <a:ln w="12700">
            <a:solidFill>
              <a:srgbClr val="EE0000"/>
            </a:solidFill>
          </a:ln>
        </p:spPr>
      </p:cxnSp>
      <p:sp>
        <p:nvSpPr>
          <p:cNvPr id="130" name="yc 130"/>
          <p:cNvSpPr/>
          <p:nvPr/>
        </p:nvSpPr>
        <p:spPr>
          <a:xfrm>
            <a:off x="54864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Polymath</a:t>
            </a:r>
            <a:r>
              <a:rPr lang="en-US" sz="900" b="1" dirty="0">
                <a:solidFill>
                  <a:srgbClr val="F5B700"/>
                </a:solidFill>
                <a:latin typeface="Arial"/>
                <a:ea typeface="Arial"/>
                <a:cs typeface="Arial"/>
              </a:rPr>
              <a:t>   W26</a:t>
            </a:r>
          </a:p>
          <a:p>
            <a:pPr algn="l" marL="0" indent="0">
              <a:lnSpc>
                <a:spcPct val="95000"/>
              </a:lnSpc>
              <a:buNone/>
            </a:pPr>
            <a:r>
              <a:rPr lang="en-US" sz="800" dirty="0">
                <a:solidFill>
                  <a:srgbClr val="F3E6D6"/>
                </a:solidFill>
                <a:latin typeface="Arial"/>
                <a:ea typeface="Arial"/>
                <a:cs typeface="Arial"/>
              </a:rPr>
              <a:t>long-horizon agent sim environments</a:t>
            </a:r>
          </a:p>
        </p:txBody>
      </p:sp>
      <p:sp>
        <p:nvSpPr>
          <p:cNvPr id="131" name="yc 131"/>
          <p:cNvSpPr/>
          <p:nvPr/>
        </p:nvSpPr>
        <p:spPr>
          <a:xfrm>
            <a:off x="54864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Arga Labs</a:t>
            </a:r>
            <a:r>
              <a:rPr lang="en-US" sz="900" b="1" dirty="0">
                <a:solidFill>
                  <a:srgbClr val="F5B700"/>
                </a:solidFill>
                <a:latin typeface="Arial"/>
                <a:ea typeface="Arial"/>
                <a:cs typeface="Arial"/>
              </a:rPr>
              <a:t>   P26</a:t>
            </a:r>
          </a:p>
          <a:p>
            <a:pPr algn="l" marL="0" indent="0">
              <a:lnSpc>
                <a:spcPct val="95000"/>
              </a:lnSpc>
              <a:buNone/>
            </a:pPr>
            <a:r>
              <a:rPr lang="en-US" sz="800" dirty="0">
                <a:solidFill>
                  <a:srgbClr val="F3E6D6"/>
                </a:solidFill>
                <a:latin typeface="Arial"/>
                <a:ea typeface="Arial"/>
                <a:cs typeface="Arial"/>
              </a:rPr>
              <a:t>real-world sandboxes to test + train agents</a:t>
            </a:r>
          </a:p>
        </p:txBody>
      </p:sp>
      <p:sp>
        <p:nvSpPr>
          <p:cNvPr id="132" name="yc 132"/>
          <p:cNvSpPr/>
          <p:nvPr/>
        </p:nvSpPr>
        <p:spPr>
          <a:xfrm>
            <a:off x="548640" y="4736592"/>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Archal</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API sandboxes built for agents</a:t>
            </a:r>
          </a:p>
        </p:txBody>
      </p:sp>
      <p:sp>
        <p:nvSpPr>
          <p:cNvPr id="133" name="yc 133"/>
          <p:cNvSpPr/>
          <p:nvPr/>
        </p:nvSpPr>
        <p:spPr>
          <a:xfrm>
            <a:off x="548640" y="5303520"/>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Olam Labs</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simulations for frontier-lab training</a:t>
            </a:r>
          </a:p>
        </p:txBody>
      </p:sp>
      <p:sp>
        <p:nvSpPr>
          <p:cNvPr id="134" name="yc 134"/>
          <p:cNvSpPr/>
          <p:nvPr/>
        </p:nvSpPr>
        <p:spPr>
          <a:xfrm>
            <a:off x="278892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Evals &amp; failure mining</a:t>
            </a:r>
          </a:p>
          <a:p>
            <a:pPr algn="l" marL="0" indent="0">
              <a:lnSpc>
                <a:spcPct val="95000"/>
              </a:lnSpc>
              <a:buNone/>
            </a:pPr>
            <a:r>
              <a:rPr lang="en-US" sz="850" dirty="0">
                <a:solidFill>
                  <a:srgbClr val="F3E6D6"/>
                </a:solidFill>
                <a:latin typeface="Arial"/>
                <a:ea typeface="Arial"/>
                <a:cs typeface="Arial"/>
              </a:rPr>
              <a:t>steps 4 + 8 · Evaluate, Observe</a:t>
            </a:r>
          </a:p>
        </p:txBody>
      </p:sp>
      <p:cxnSp>
        <p:nvCxnSpPr>
          <p:cNvPr id="135" name="g1 rule 135"/>
          <p:cNvCxnSpPr/>
          <p:nvPr/>
        </p:nvCxnSpPr>
        <p:spPr>
          <a:xfrm>
            <a:off x="3854196" y="3511296"/>
            <a:ext cx="0" cy="109728"/>
          </a:xfrm>
          <a:prstGeom prst="line">
            <a:avLst/>
          </a:prstGeom>
          <a:ln w="12700">
            <a:solidFill>
              <a:srgbClr val="EE0000"/>
            </a:solidFill>
          </a:ln>
        </p:spPr>
      </p:cxnSp>
      <p:sp>
        <p:nvSpPr>
          <p:cNvPr id="136" name="yc 136"/>
          <p:cNvSpPr/>
          <p:nvPr/>
        </p:nvSpPr>
        <p:spPr>
          <a:xfrm>
            <a:off x="278892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Agnost AI</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finds where agents fail, trains better models</a:t>
            </a:r>
          </a:p>
        </p:txBody>
      </p:sp>
      <p:sp>
        <p:nvSpPr>
          <p:cNvPr id="137" name="yc 137"/>
          <p:cNvSpPr/>
          <p:nvPr/>
        </p:nvSpPr>
        <p:spPr>
          <a:xfrm>
            <a:off x="278892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CoArena</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crowdsourced computer-use benchmark</a:t>
            </a:r>
          </a:p>
        </p:txBody>
      </p:sp>
      <p:sp>
        <p:nvSpPr>
          <p:cNvPr id="138" name="yc 138"/>
          <p:cNvSpPr/>
          <p:nvPr/>
        </p:nvSpPr>
        <p:spPr>
          <a:xfrm>
            <a:off x="502920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Runtime guardrails &amp; action approval</a:t>
            </a:r>
          </a:p>
          <a:p>
            <a:pPr algn="l" marL="0" indent="0">
              <a:lnSpc>
                <a:spcPct val="95000"/>
              </a:lnSpc>
              <a:buNone/>
            </a:pPr>
            <a:r>
              <a:rPr lang="en-US" sz="850" dirty="0">
                <a:solidFill>
                  <a:srgbClr val="F3E6D6"/>
                </a:solidFill>
                <a:latin typeface="Arial"/>
                <a:ea typeface="Arial"/>
                <a:cs typeface="Arial"/>
              </a:rPr>
              <a:t>step 7 · Runtime control</a:t>
            </a:r>
          </a:p>
        </p:txBody>
      </p:sp>
      <p:cxnSp>
        <p:nvCxnSpPr>
          <p:cNvPr id="139" name="g1 rule 139"/>
          <p:cNvCxnSpPr/>
          <p:nvPr/>
        </p:nvCxnSpPr>
        <p:spPr>
          <a:xfrm>
            <a:off x="6094476" y="3511296"/>
            <a:ext cx="0" cy="109728"/>
          </a:xfrm>
          <a:prstGeom prst="line">
            <a:avLst/>
          </a:prstGeom>
          <a:ln w="12700">
            <a:solidFill>
              <a:srgbClr val="EE0000"/>
            </a:solidFill>
          </a:ln>
        </p:spPr>
      </p:cxnSp>
      <p:sp>
        <p:nvSpPr>
          <p:cNvPr id="140" name="yc 140"/>
          <p:cNvSpPr/>
          <p:nvPr/>
        </p:nvSpPr>
        <p:spPr>
          <a:xfrm>
            <a:off x="502920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Salus</a:t>
            </a:r>
            <a:r>
              <a:rPr lang="en-US" sz="900" b="1" dirty="0">
                <a:solidFill>
                  <a:srgbClr val="F5B700"/>
                </a:solidFill>
                <a:latin typeface="Arial"/>
                <a:ea typeface="Arial"/>
                <a:cs typeface="Arial"/>
              </a:rPr>
              <a:t>   W26</a:t>
            </a:r>
          </a:p>
          <a:p>
            <a:pPr algn="l" marL="0" indent="0">
              <a:lnSpc>
                <a:spcPct val="95000"/>
              </a:lnSpc>
              <a:buNone/>
            </a:pPr>
            <a:r>
              <a:rPr lang="en-US" sz="800" dirty="0">
                <a:solidFill>
                  <a:srgbClr val="F3E6D6"/>
                </a:solidFill>
                <a:latin typeface="Arial"/>
                <a:ea typeface="Arial"/>
                <a:cs typeface="Arial"/>
              </a:rPr>
              <a:t>validates agent actions before they run</a:t>
            </a:r>
          </a:p>
        </p:txBody>
      </p:sp>
      <p:sp>
        <p:nvSpPr>
          <p:cNvPr id="141" name="yc 141"/>
          <p:cNvSpPr/>
          <p:nvPr/>
        </p:nvSpPr>
        <p:spPr>
          <a:xfrm>
            <a:off x="502920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Decawork</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company-specific models approve AI actions</a:t>
            </a:r>
          </a:p>
        </p:txBody>
      </p:sp>
      <p:sp>
        <p:nvSpPr>
          <p:cNvPr id="142" name="yc 142"/>
          <p:cNvSpPr/>
          <p:nvPr/>
        </p:nvSpPr>
        <p:spPr>
          <a:xfrm>
            <a:off x="5029200" y="4736592"/>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Silmaril</a:t>
            </a:r>
            <a:r>
              <a:rPr lang="en-US" sz="900" b="1" dirty="0">
                <a:solidFill>
                  <a:srgbClr val="F5B700"/>
                </a:solidFill>
                <a:latin typeface="Arial"/>
                <a:ea typeface="Arial"/>
                <a:cs typeface="Arial"/>
              </a:rPr>
              <a:t>   P26</a:t>
            </a:r>
          </a:p>
          <a:p>
            <a:pPr algn="l" marL="0" indent="0">
              <a:lnSpc>
                <a:spcPct val="95000"/>
              </a:lnSpc>
              <a:buNone/>
            </a:pPr>
            <a:r>
              <a:rPr lang="en-US" sz="800" dirty="0">
                <a:solidFill>
                  <a:srgbClr val="F3E6D6"/>
                </a:solidFill>
                <a:latin typeface="Arial"/>
                <a:ea typeface="Arial"/>
                <a:cs typeface="Arial"/>
              </a:rPr>
              <a:t>self-improving security for agents</a:t>
            </a:r>
          </a:p>
        </p:txBody>
      </p:sp>
      <p:sp>
        <p:nvSpPr>
          <p:cNvPr id="143" name="yc 143"/>
          <p:cNvSpPr/>
          <p:nvPr/>
        </p:nvSpPr>
        <p:spPr>
          <a:xfrm>
            <a:off x="726948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Agent identity &amp; authorisation</a:t>
            </a:r>
          </a:p>
          <a:p>
            <a:pPr algn="l" marL="0" indent="0">
              <a:lnSpc>
                <a:spcPct val="95000"/>
              </a:lnSpc>
              <a:buNone/>
            </a:pPr>
            <a:r>
              <a:rPr lang="en-US" sz="850" dirty="0">
                <a:solidFill>
                  <a:srgbClr val="F3E6D6"/>
                </a:solidFill>
                <a:latin typeface="Arial"/>
                <a:ea typeface="Arial"/>
                <a:cs typeface="Arial"/>
              </a:rPr>
              <a:t>steps 1 + 10 · Onboard, Govern</a:t>
            </a:r>
          </a:p>
        </p:txBody>
      </p:sp>
      <p:cxnSp>
        <p:nvCxnSpPr>
          <p:cNvPr id="144" name="g1 rule 144"/>
          <p:cNvCxnSpPr/>
          <p:nvPr/>
        </p:nvCxnSpPr>
        <p:spPr>
          <a:xfrm>
            <a:off x="8334756" y="3511296"/>
            <a:ext cx="0" cy="109728"/>
          </a:xfrm>
          <a:prstGeom prst="line">
            <a:avLst/>
          </a:prstGeom>
          <a:ln w="12700">
            <a:solidFill>
              <a:srgbClr val="EE0000"/>
            </a:solidFill>
          </a:ln>
        </p:spPr>
      </p:cxnSp>
      <p:sp>
        <p:nvSpPr>
          <p:cNvPr id="145" name="yc 145"/>
          <p:cNvSpPr/>
          <p:nvPr/>
        </p:nvSpPr>
        <p:spPr>
          <a:xfrm>
            <a:off x="726948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Inkbox</a:t>
            </a:r>
            <a:r>
              <a:rPr lang="en-US" sz="900" b="1" dirty="0">
                <a:solidFill>
                  <a:srgbClr val="F5B700"/>
                </a:solidFill>
                <a:latin typeface="Arial"/>
                <a:ea typeface="Arial"/>
                <a:cs typeface="Arial"/>
              </a:rPr>
              <a:t>   S26</a:t>
            </a:r>
          </a:p>
          <a:p>
            <a:pPr algn="l" marL="0" indent="0">
              <a:lnSpc>
                <a:spcPct val="95000"/>
              </a:lnSpc>
              <a:buNone/>
            </a:pPr>
            <a:r>
              <a:rPr lang="en-US" sz="800" dirty="0">
                <a:solidFill>
                  <a:srgbClr val="F3E6D6"/>
                </a:solidFill>
                <a:latin typeface="Arial"/>
                <a:ea typeface="Arial"/>
                <a:cs typeface="Arial"/>
              </a:rPr>
              <a:t>identity + communication layer for agents</a:t>
            </a:r>
          </a:p>
        </p:txBody>
      </p:sp>
      <p:sp>
        <p:nvSpPr>
          <p:cNvPr id="146" name="yc 146"/>
          <p:cNvSpPr/>
          <p:nvPr/>
        </p:nvSpPr>
        <p:spPr>
          <a:xfrm>
            <a:off x="726948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Clawvisor</a:t>
            </a:r>
            <a:r>
              <a:rPr lang="en-US" sz="900" b="1" dirty="0">
                <a:solidFill>
                  <a:srgbClr val="F5B700"/>
                </a:solidFill>
                <a:latin typeface="Arial"/>
                <a:ea typeface="Arial"/>
                <a:cs typeface="Arial"/>
              </a:rPr>
              <a:t>   P26</a:t>
            </a:r>
          </a:p>
          <a:p>
            <a:pPr algn="l" marL="0" indent="0">
              <a:lnSpc>
                <a:spcPct val="95000"/>
              </a:lnSpc>
              <a:buNone/>
            </a:pPr>
            <a:r>
              <a:rPr lang="en-US" sz="800" dirty="0">
                <a:solidFill>
                  <a:srgbClr val="F3E6D6"/>
                </a:solidFill>
                <a:latin typeface="Arial"/>
                <a:ea typeface="Arial"/>
                <a:cs typeface="Arial"/>
              </a:rPr>
              <a:t>the authorisation layer for AI agents</a:t>
            </a:r>
          </a:p>
        </p:txBody>
      </p:sp>
      <p:sp>
        <p:nvSpPr>
          <p:cNvPr id="147" name="yc 147"/>
          <p:cNvSpPr/>
          <p:nvPr/>
        </p:nvSpPr>
        <p:spPr>
          <a:xfrm>
            <a:off x="9509760" y="2907792"/>
            <a:ext cx="2130552" cy="603504"/>
          </a:xfrm>
          <a:prstGeom prst="roundRect">
            <a:avLst>
              <a:gd name="adj" fmla="val 12000"/>
            </a:avLst>
          </a:prstGeom>
          <a:solidFill>
            <a:srgbClr val="2A1A16"/>
          </a:solidFill>
          <a:ln w="9525">
            <a:solidFill>
              <a:srgbClr val="D9B48A"/>
            </a:solidFill>
          </a:ln>
        </p:spPr>
        <p:txBody>
          <a:bodyPr wrap="square" lIns="91440" tIns="27432" rIns="73152" bIns="27432" rtlCol="0" anchor="ctr">
            <a:noAutofit/>
          </a:bodyPr>
          <a:lstStyle/>
          <a:p>
            <a:pPr algn="l" marL="0" indent="0">
              <a:lnSpc>
                <a:spcPct val="95000"/>
              </a:lnSpc>
              <a:buNone/>
            </a:pPr>
            <a:r>
              <a:rPr lang="en-US" sz="1050" b="1" dirty="0">
                <a:solidFill>
                  <a:srgbClr val="F5B700"/>
                </a:solidFill>
                <a:latin typeface="Arial"/>
                <a:ea typeface="Arial"/>
                <a:cs typeface="Arial"/>
              </a:rPr>
              <a:t>Hosting &amp; running agent fleets</a:t>
            </a:r>
          </a:p>
          <a:p>
            <a:pPr algn="l" marL="0" indent="0">
              <a:lnSpc>
                <a:spcPct val="95000"/>
              </a:lnSpc>
              <a:buNone/>
            </a:pPr>
            <a:r>
              <a:rPr lang="en-US" sz="850" dirty="0">
                <a:solidFill>
                  <a:srgbClr val="F3E6D6"/>
                </a:solidFill>
                <a:latin typeface="Arial"/>
                <a:ea typeface="Arial"/>
                <a:cs typeface="Arial"/>
              </a:rPr>
              <a:t>steps 6 + 7 · Deploy, Run</a:t>
            </a:r>
          </a:p>
        </p:txBody>
      </p:sp>
      <p:cxnSp>
        <p:nvCxnSpPr>
          <p:cNvPr id="148" name="g1 rule 148"/>
          <p:cNvCxnSpPr/>
          <p:nvPr/>
        </p:nvCxnSpPr>
        <p:spPr>
          <a:xfrm>
            <a:off x="10575036" y="3511296"/>
            <a:ext cx="0" cy="109728"/>
          </a:xfrm>
          <a:prstGeom prst="line">
            <a:avLst/>
          </a:prstGeom>
          <a:ln w="12700">
            <a:solidFill>
              <a:srgbClr val="EE0000"/>
            </a:solidFill>
          </a:ln>
        </p:spPr>
      </p:cxnSp>
      <p:sp>
        <p:nvSpPr>
          <p:cNvPr id="149" name="yc 149"/>
          <p:cNvSpPr/>
          <p:nvPr/>
        </p:nvSpPr>
        <p:spPr>
          <a:xfrm>
            <a:off x="9509760" y="3602736"/>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Maritime</a:t>
            </a:r>
            <a:r>
              <a:rPr lang="en-US" sz="900" b="1" dirty="0">
                <a:solidFill>
                  <a:srgbClr val="F5B700"/>
                </a:solidFill>
                <a:latin typeface="Arial"/>
                <a:ea typeface="Arial"/>
                <a:cs typeface="Arial"/>
              </a:rPr>
              <a:t>   F26</a:t>
            </a:r>
          </a:p>
          <a:p>
            <a:pPr algn="l" marL="0" indent="0">
              <a:lnSpc>
                <a:spcPct val="95000"/>
              </a:lnSpc>
              <a:buNone/>
            </a:pPr>
            <a:r>
              <a:rPr lang="en-US" sz="800" dirty="0">
                <a:solidFill>
                  <a:srgbClr val="F3E6D6"/>
                </a:solidFill>
                <a:latin typeface="Arial"/>
                <a:ea typeface="Arial"/>
                <a:cs typeface="Arial"/>
              </a:rPr>
              <a:t>isolated, persistent VM per agent</a:t>
            </a:r>
          </a:p>
        </p:txBody>
      </p:sp>
      <p:sp>
        <p:nvSpPr>
          <p:cNvPr id="150" name="yc 150"/>
          <p:cNvSpPr/>
          <p:nvPr/>
        </p:nvSpPr>
        <p:spPr>
          <a:xfrm>
            <a:off x="9509760" y="4169664"/>
            <a:ext cx="2130552" cy="493776"/>
          </a:xfrm>
          <a:prstGeom prst="roundRect">
            <a:avLst>
              <a:gd name="adj" fmla="val 14000"/>
            </a:avLst>
          </a:prstGeom>
          <a:solidFill>
            <a:srgbClr val="1E1412"/>
          </a:solidFill>
          <a:ln w="9525">
            <a:solidFill>
              <a:srgbClr val="5A3A2E"/>
            </a:solidFill>
          </a:ln>
        </p:spPr>
        <p:txBody>
          <a:bodyPr wrap="square" lIns="91440" tIns="18288" rIns="73152" bIns="18288" rtlCol="0" anchor="ctr">
            <a:noAutofit/>
          </a:bodyPr>
          <a:lstStyle/>
          <a:p>
            <a:pPr algn="l" marL="0" indent="0">
              <a:lnSpc>
                <a:spcPct val="95000"/>
              </a:lnSpc>
              <a:buNone/>
            </a:pPr>
            <a:r>
              <a:rPr lang="en-US" sz="1050" b="1" dirty="0">
                <a:solidFill>
                  <a:srgbClr val="FFFFFF"/>
                </a:solidFill>
                <a:latin typeface="Arial"/>
                <a:ea typeface="Arial"/>
                <a:cs typeface="Arial"/>
              </a:rPr>
              <a:t>Agent Relay</a:t>
            </a:r>
            <a:r>
              <a:rPr lang="en-US" sz="900" b="1" dirty="0">
                <a:solidFill>
                  <a:srgbClr val="F5B700"/>
                </a:solidFill>
                <a:latin typeface="Arial"/>
                <a:ea typeface="Arial"/>
                <a:cs typeface="Arial"/>
              </a:rPr>
              <a:t>   F26</a:t>
            </a:r>
          </a:p>
          <a:p>
            <a:pPr algn="l" marL="0" indent="0">
              <a:lnSpc>
                <a:spcPct val="95000"/>
              </a:lnSpc>
              <a:buNone/>
            </a:pPr>
            <a:r>
              <a:rPr lang="en-US" sz="800" dirty="0">
                <a:solidFill>
                  <a:srgbClr val="F3E6D6"/>
                </a:solidFill>
                <a:latin typeface="Arial"/>
                <a:ea typeface="Arial"/>
                <a:cs typeface="Arial"/>
              </a:rPr>
              <a:t>runs teams of coding agents, human approvals</a:t>
            </a:r>
          </a:p>
        </p:txBody>
      </p:sp>
      <p:sp>
        <p:nvSpPr>
          <p:cNvPr id="151" name="yc 151"/>
          <p:cNvSpPr/>
          <p:nvPr/>
        </p:nvSpPr>
        <p:spPr>
          <a:xfrm>
            <a:off x="548640" y="5925312"/>
            <a:ext cx="11091672" cy="512064"/>
          </a:xfrm>
          <a:prstGeom prst="roundRect">
            <a:avLst>
              <a:gd name="adj" fmla="val 14000"/>
            </a:avLst>
          </a:prstGeom>
          <a:solidFill>
            <a:srgbClr val="F5B700"/>
          </a:solidFill>
          <a:ln>
            <a:noFill/>
          </a:ln>
        </p:spPr>
        <p:txBody>
          <a:bodyPr wrap="square" lIns="137160" tIns="27432" rIns="109728" bIns="27432" rtlCol="0" anchor="ctr">
            <a:noAutofit/>
          </a:bodyPr>
          <a:lstStyle/>
          <a:p>
            <a:pPr algn="l" marL="0" indent="0">
              <a:buNone/>
            </a:pPr>
            <a:r>
              <a:rPr lang="en-US" sz="1100" b="1" dirty="0">
                <a:solidFill>
                  <a:srgbClr val="141010"/>
                </a:solidFill>
                <a:latin typeface="Arial"/>
                <a:ea typeface="Arial"/>
                <a:cs typeface="Arial"/>
              </a:rPr>
              <a:t>Takeaway  </a:t>
            </a:r>
            <a:r>
              <a:rPr lang="en-US" sz="1100" dirty="0">
                <a:solidFill>
                  <a:srgbClr val="141010"/>
                </a:solidFill>
                <a:latin typeface="Arial"/>
                <a:ea typeface="Arial"/>
                <a:cs typeface="Arial"/>
              </a:rPr>
              <a:t>Build the control layer (identity, policy, eval) in-house on the Kairos platform (gateway + SDK); pilot 1–2 sandbox / guardrail startups as thin, swappable add-ons.</a:t>
            </a:r>
          </a:p>
        </p:txBody>
      </p:sp>
      <p:sp>
        <p:nvSpPr>
          <p:cNvPr id="152" name="yc 152"/>
          <p:cNvSpPr/>
          <p:nvPr/>
        </p:nvSpPr>
        <p:spPr>
          <a:xfrm>
            <a:off x="548640" y="6492240"/>
            <a:ext cx="11091672" cy="201168"/>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Early-stage companies (often 2–3 people): a watchlist and pilot pool, not enterprise-ready vendors. Batch = as shown on each YC company page, fetched 14 Oct 2026 [37]. Step mapping is our assessment.</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37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ref 154"/>
          <p:cNvSpPr/>
          <p:nvPr/>
        </p:nvSpPr>
        <p:spPr>
          <a:xfrm>
            <a:off x="548640" y="566928"/>
            <a:ext cx="54864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ref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1–4 (1 of 8):</a:t>
            </a:r>
          </a:p>
        </p:txBody>
      </p:sp>
      <p:sp>
        <p:nvSpPr>
          <p:cNvPr id="156" name="ref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315968"/>
          </a:xfrm>
          <a:prstGeom prst="roundRect">
            <a:avLst>
              <a:gd name="adj" fmla="val 4000"/>
            </a:avLst>
          </a:prstGeom>
          <a:solidFill>
            <a:srgbClr val="2A1A16"/>
          </a:solidFill>
          <a:ln w="9525">
            <a:solidFill>
              <a:srgbClr val="D9B48A"/>
            </a:solidFill>
          </a:ln>
        </p:spPr>
        <p:txBody>
          <a:bodyPr wrap="square" lIns="146304" tIns="109728" rIns="128016" bIns="73152" rtlCol="0" anchor="t">
            <a:noAutofit/>
          </a:bodyPr>
          <a:lstStyle/>
          <a:p>
            <a:pPr algn="l" marL="0" indent="0">
              <a:lnSpc>
                <a:spcPct val="100000"/>
              </a:lnSpc>
              <a:buNone/>
            </a:pPr>
            <a:r>
              <a:rPr lang="en-US" sz="1050" b="1" dirty="0">
                <a:solidFill>
                  <a:srgbClr val="F5B700"/>
                </a:solidFill>
                <a:latin typeface="Arial"/>
                <a:ea typeface="Arial"/>
                <a:cs typeface="Arial"/>
              </a:rPr>
              <a:t>Gartner  ·  Why now (slide 1), One loop (slide 3)</a:t>
            </a:r>
          </a:p>
          <a:p>
            <a:pPr algn="l" marL="0" indent="0">
              <a:lnSpc>
                <a:spcPct val="100000"/>
              </a:lnSpc>
              <a:buNone/>
            </a:pPr>
            <a:r>
              <a:rPr lang="en-US" sz="1000" b="1" dirty="0">
                <a:solidFill>
                  <a:srgbClr val="F5B700"/>
                </a:solidFill>
                <a:latin typeface="Arial"/>
                <a:ea typeface="Arial"/>
                <a:cs typeface="Arial"/>
              </a:rPr>
              <a:t>[1]  </a:t>
            </a:r>
            <a:r>
              <a:rPr lang="en-US" sz="1000" b="1" dirty="0" u="sng">
                <a:solidFill>
                  <a:srgbClr val="FFFFFF"/>
                </a:solidFill>
                <a:latin typeface="Arial"/>
                <a:ea typeface="Arial"/>
                <a:cs typeface="Arial"/>
                <a:hlinkClick r:id="rIdL1"/>
              </a:rPr>
              <a:t>Hype Cycle for AI 2026: control ahead of capability</a:t>
            </a:r>
            <a:r>
              <a:rPr lang="en-US" sz="900" dirty="0">
                <a:solidFill>
                  <a:srgbClr val="D9B48A"/>
                </a:solidFill>
                <a:latin typeface="Arial"/>
                <a:ea typeface="Arial"/>
                <a:cs typeface="Arial"/>
              </a:rPr>
              <a:t> (1 Oct 2026)</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
              </a:rPr>
              <a:t>gartner.com/en/articles/hype-cycle-for-artificial-intelligence</a:t>
            </a:r>
          </a:p>
          <a:p>
            <a:pPr algn="l" marL="0" indent="0">
              <a:lnSpc>
                <a:spcPct val="100000"/>
              </a:lnSpc>
              <a:buNone/>
            </a:pPr>
            <a:r>
              <a:rPr lang="en-US" sz="1000" b="1" dirty="0">
                <a:solidFill>
                  <a:srgbClr val="F5B700"/>
                </a:solidFill>
                <a:latin typeface="Arial"/>
                <a:ea typeface="Arial"/>
                <a:cs typeface="Arial"/>
              </a:rPr>
              <a:t>[2]  </a:t>
            </a:r>
            <a:r>
              <a:rPr lang="en-US" sz="1000" b="1" dirty="0" u="sng">
                <a:solidFill>
                  <a:srgbClr val="FFFFFF"/>
                </a:solidFill>
                <a:latin typeface="Arial"/>
                <a:ea typeface="Arial"/>
                <a:cs typeface="Arial"/>
                <a:hlinkClick r:id="rIdL3"/>
              </a:rPr>
              <a:t>What the 2026 Hype Cycle for Agentic AI reveals</a:t>
            </a:r>
            <a:r>
              <a:rPr lang="en-US" sz="900" dirty="0">
                <a:solidFill>
                  <a:srgbClr val="D9B48A"/>
                </a:solidFill>
                <a:latin typeface="Arial"/>
                <a:ea typeface="Arial"/>
                <a:cs typeface="Arial"/>
              </a:rPr>
              <a:t> (15 Apr 2026)</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4"/>
              </a:rPr>
              <a:t>gartner.com/en/articles/hype-cycle-for-agentic-ai</a:t>
            </a:r>
          </a:p>
          <a:p>
            <a:pPr algn="l" marL="0" indent="0">
              <a:lnSpc>
                <a:spcPct val="100000"/>
              </a:lnSpc>
              <a:buNone/>
            </a:pPr>
            <a:r>
              <a:rPr lang="en-US" sz="1000" b="1" dirty="0">
                <a:solidFill>
                  <a:srgbClr val="F5B700"/>
                </a:solidFill>
                <a:latin typeface="Arial"/>
                <a:ea typeface="Arial"/>
                <a:cs typeface="Arial"/>
              </a:rPr>
              <a:t>[3]  </a:t>
            </a:r>
            <a:r>
              <a:rPr lang="en-US" sz="1000" b="1" dirty="0" u="sng">
                <a:solidFill>
                  <a:srgbClr val="FFFFFF"/>
                </a:solidFill>
                <a:latin typeface="Arial"/>
                <a:ea typeface="Arial"/>
                <a:cs typeface="Arial"/>
                <a:hlinkClick r:id="rIdL5"/>
              </a:rPr>
              <a:t>&gt;40% of agentic AI projects cancelled by end-2027</a:t>
            </a:r>
            <a:r>
              <a:rPr lang="en-US" sz="900" dirty="0">
                <a:solidFill>
                  <a:srgbClr val="D9B48A"/>
                </a:solidFill>
                <a:latin typeface="Arial"/>
                <a:ea typeface="Arial"/>
                <a:cs typeface="Arial"/>
              </a:rPr>
              <a:t> (25 Jun 2025)</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6"/>
              </a:rPr>
              <a:t>gartner.com/en/newsroom/press-releases/2025-06-25-gartner-p…</a:t>
            </a:r>
          </a:p>
          <a:p>
            <a:pPr algn="l" marL="0" indent="0">
              <a:lnSpc>
                <a:spcPct val="100000"/>
              </a:lnSpc>
              <a:buNone/>
            </a:pPr>
            <a:r>
              <a:rPr lang="en-US" sz="1000" b="1" dirty="0">
                <a:solidFill>
                  <a:srgbClr val="F5B700"/>
                </a:solidFill>
                <a:latin typeface="Arial"/>
                <a:ea typeface="Arial"/>
                <a:cs typeface="Arial"/>
              </a:rPr>
              <a:t>[6]  </a:t>
            </a:r>
            <a:r>
              <a:rPr lang="en-US" sz="1000" b="1" dirty="0" u="sng">
                <a:solidFill>
                  <a:srgbClr val="FFFFFF"/>
                </a:solidFill>
                <a:latin typeface="Arial"/>
                <a:ea typeface="Arial"/>
                <a:cs typeface="Arial"/>
                <a:hlinkClick r:id="rIdL7"/>
              </a:rPr>
              <a:t>Six steps to manage AI agent sprawl</a:t>
            </a:r>
            <a:r>
              <a:rPr lang="en-US" sz="900" dirty="0">
                <a:solidFill>
                  <a:srgbClr val="D9B48A"/>
                </a:solidFill>
                <a:latin typeface="Arial"/>
                <a:ea typeface="Arial"/>
                <a:cs typeface="Arial"/>
              </a:rPr>
              <a:t> (28 Apr 2026)</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8"/>
              </a:rPr>
              <a:t>gartner.com/en/newsroom/press-releases/2026-04-28-gartner-i…</a:t>
            </a:r>
          </a:p>
          <a:p>
            <a:pPr algn="l" marL="0" indent="0">
              <a:lnSpc>
                <a:spcPct val="100000"/>
              </a:lnSpc>
              <a:buNone/>
            </a:pPr>
            <a:r>
              <a:rPr lang="en-US" sz="1000" b="1" dirty="0">
                <a:solidFill>
                  <a:srgbClr val="F5B700"/>
                </a:solidFill>
                <a:latin typeface="Arial"/>
                <a:ea typeface="Arial"/>
                <a:cs typeface="Arial"/>
              </a:rPr>
              <a:t>[7]  </a:t>
            </a:r>
            <a:r>
              <a:rPr lang="en-US" sz="1000" b="1" dirty="0" u="sng">
                <a:solidFill>
                  <a:srgbClr val="FFFFFF"/>
                </a:solidFill>
                <a:latin typeface="Arial"/>
                <a:ea typeface="Arial"/>
                <a:cs typeface="Arial"/>
                <a:hlinkClick r:id="rIdL9"/>
              </a:rPr>
              <a:t>Uniform governance across AI agents leads to failure</a:t>
            </a:r>
            <a:r>
              <a:rPr lang="en-US" sz="900" dirty="0">
                <a:solidFill>
                  <a:srgbClr val="D9B48A"/>
                </a:solidFill>
                <a:latin typeface="Arial"/>
                <a:ea typeface="Arial"/>
                <a:cs typeface="Arial"/>
              </a:rPr>
              <a:t> (26 May 2026)</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0"/>
              </a:rPr>
              <a:t>gartner.com/en/newsroom/press-releases/2026-05-26-gartner-s…</a:t>
            </a:r>
          </a:p>
          <a:p>
            <a:pPr algn="l" marL="0" indent="0">
              <a:lnSpc>
                <a:spcPct val="100000"/>
              </a:lnSpc>
              <a:buNone/>
            </a:pPr>
            <a:r>
              <a:rPr lang="en-US" sz="500" dirty="0">
                <a:solidFill>
                  <a:srgbClr val="FFFFFF"/>
                </a:solidFill>
                <a:latin typeface="Arial"/>
                <a:ea typeface="Arial"/>
                <a:cs typeface="Arial"/>
              </a:rPr>
              <a:t> </a:t>
            </a:r>
          </a:p>
          <a:p>
            <a:pPr algn="l" marL="0" indent="0">
              <a:lnSpc>
                <a:spcPct val="100000"/>
              </a:lnSpc>
              <a:buNone/>
            </a:pPr>
            <a:r>
              <a:rPr lang="en-US" sz="1050" b="1" dirty="0">
                <a:solidFill>
                  <a:srgbClr val="F5B700"/>
                </a:solidFill>
                <a:latin typeface="Arial"/>
                <a:ea typeface="Arial"/>
                <a:cs typeface="Arial"/>
              </a:rPr>
              <a:t>Peer proof chips  ·  Why now (slide 1)</a:t>
            </a:r>
          </a:p>
          <a:p>
            <a:pPr algn="l" marL="0" indent="0">
              <a:lnSpc>
                <a:spcPct val="100000"/>
              </a:lnSpc>
              <a:buNone/>
            </a:pPr>
            <a:r>
              <a:rPr lang="en-US" sz="1000" b="1" dirty="0">
                <a:solidFill>
                  <a:srgbClr val="F5B700"/>
                </a:solidFill>
                <a:latin typeface="Arial"/>
                <a:ea typeface="Arial"/>
                <a:cs typeface="Arial"/>
              </a:rPr>
              <a:t>[38]  </a:t>
            </a:r>
            <a:r>
              <a:rPr lang="en-US" sz="1000" b="1" dirty="0" u="sng">
                <a:solidFill>
                  <a:srgbClr val="FFFFFF"/>
                </a:solidFill>
                <a:latin typeface="Arial"/>
                <a:ea typeface="Arial"/>
                <a:cs typeface="Arial"/>
                <a:hlinkClick r:id="rIdL11"/>
              </a:rPr>
              <a:t>Verizon: Responsible AI program</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2"/>
              </a:rPr>
              <a:t>verizon.com/about/investors/responsible-ai-program</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3"/>
              </a:rPr>
              <a:t>AI/ML job posting</a:t>
            </a:r>
            <a:r>
              <a:rPr lang="en-US" sz="900" dirty="0">
                <a:solidFill>
                  <a:srgbClr val="D9B48A"/>
                </a:solidFill>
                <a:latin typeface="Arial"/>
                <a:ea typeface="Arial"/>
                <a:cs typeface="Arial"/>
              </a:rPr>
              <a:t> (404, expired)</a:t>
            </a:r>
          </a:p>
          <a:p>
            <a:pPr algn="l" marL="0" indent="0">
              <a:lnSpc>
                <a:spcPct val="100000"/>
              </a:lnSpc>
              <a:buNone/>
            </a:pPr>
            <a:r>
              <a:rPr lang="en-US" sz="1000" b="1" dirty="0">
                <a:solidFill>
                  <a:srgbClr val="F5B700"/>
                </a:solidFill>
                <a:latin typeface="Arial"/>
                <a:ea typeface="Arial"/>
                <a:cs typeface="Arial"/>
              </a:rPr>
              <a:t>[39]  </a:t>
            </a:r>
            <a:r>
              <a:rPr lang="en-US" sz="1000" b="1" dirty="0" u="sng">
                <a:solidFill>
                  <a:srgbClr val="FFFFFF"/>
                </a:solidFill>
                <a:latin typeface="Arial"/>
                <a:ea typeface="Arial"/>
                <a:cs typeface="Arial"/>
                <a:hlinkClick r:id="rIdL14"/>
              </a:rPr>
              <a:t>JPMorgan Chase: FSB submission (PDF)</a:t>
            </a:r>
            <a:r>
              <a:rPr lang="en-US" sz="900" dirty="0">
                <a:solidFill>
                  <a:srgbClr val="D9B48A"/>
                </a:solidFill>
                <a:latin typeface="Arial"/>
                <a:ea typeface="Arial"/>
                <a:cs typeface="Arial"/>
              </a:rPr>
              <a:t>   ·   </a:t>
            </a:r>
            <a:r>
              <a:rPr lang="en-US" sz="1000" b="1" dirty="0" u="sng">
                <a:solidFill>
                  <a:srgbClr val="FFFFFF"/>
                </a:solidFill>
                <a:latin typeface="Arial"/>
                <a:ea typeface="Arial"/>
                <a:cs typeface="Arial"/>
                <a:hlinkClick r:id="rIdL15"/>
              </a:rPr>
              <a:t>FENCE framework</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6"/>
              </a:rPr>
              <a:t>fsb.org/uploads/JPMorgan-Chase.pdf</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7"/>
              </a:rPr>
              <a:t>jpmorganchase.com/…/blog/fence-framework</a:t>
            </a:r>
          </a:p>
          <a:p>
            <a:pPr algn="l" marL="0" indent="0">
              <a:lnSpc>
                <a:spcPct val="100000"/>
              </a:lnSpc>
              <a:buNone/>
            </a:pPr>
            <a:r>
              <a:rPr lang="en-US" sz="1000" b="1" dirty="0">
                <a:solidFill>
                  <a:srgbClr val="F5B700"/>
                </a:solidFill>
                <a:latin typeface="Arial"/>
                <a:ea typeface="Arial"/>
                <a:cs typeface="Arial"/>
              </a:rPr>
              <a:t>[40]  </a:t>
            </a:r>
            <a:r>
              <a:rPr lang="en-US" sz="1000" b="1" dirty="0" u="sng">
                <a:solidFill>
                  <a:srgbClr val="FFFFFF"/>
                </a:solidFill>
                <a:latin typeface="Arial"/>
                <a:ea typeface="Arial"/>
                <a:cs typeface="Arial"/>
                <a:hlinkClick r:id="rIdL18"/>
              </a:rPr>
              <a:t>Microsoft Agent 365 GA</a:t>
            </a:r>
            <a:r>
              <a:rPr lang="en-US" sz="900" dirty="0">
                <a:solidFill>
                  <a:srgbClr val="D9B48A"/>
                </a:solidFill>
                <a:latin typeface="Arial"/>
                <a:ea typeface="Arial"/>
                <a:cs typeface="Arial"/>
              </a:rPr>
              <a:t>   ·   </a:t>
            </a:r>
            <a:r>
              <a:rPr lang="en-US" sz="1000" b="1" dirty="0" u="sng">
                <a:solidFill>
                  <a:srgbClr val="FFFFFF"/>
                </a:solidFill>
                <a:latin typeface="Arial"/>
                <a:ea typeface="Arial"/>
                <a:cs typeface="Arial"/>
                <a:hlinkClick r:id="rIdL19"/>
              </a:rPr>
              <a:t>Entra Agent ID</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0"/>
              </a:rPr>
              <a:t>microsoft.com/…/agent-365-now-generally-available</a:t>
            </a:r>
          </a:p>
          <a:p>
            <a:pPr algn="l" marL="0" indent="0">
              <a:lnSpc>
                <a:spcPct val="100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1"/>
              </a:rPr>
              <a:t>learn.microsoft.com/entra/agent-id</a:t>
            </a:r>
          </a:p>
        </p:txBody>
      </p:sp>
      <p:sp>
        <p:nvSpPr>
          <p:cNvPr id="159" name="ref 159"/>
          <p:cNvSpPr/>
          <p:nvPr/>
        </p:nvSpPr>
        <p:spPr>
          <a:xfrm>
            <a:off x="6172200" y="2057400"/>
            <a:ext cx="5468112" cy="4315968"/>
          </a:xfrm>
          <a:prstGeom prst="roundRect">
            <a:avLst>
              <a:gd name="adj" fmla="val 4000"/>
            </a:avLst>
          </a:prstGeom>
          <a:solidFill>
            <a:srgbClr val="2A1A16"/>
          </a:solidFill>
          <a:ln w="9525">
            <a:solidFill>
              <a:srgbClr val="D9B48A"/>
            </a:solidFill>
          </a:ln>
        </p:spPr>
        <p:txBody>
          <a:bodyPr wrap="square" lIns="146304" tIns="109728" rIns="128016" bIns="73152" rtlCol="0" anchor="t">
            <a:noAutofit/>
          </a:bodyPr>
          <a:lstStyle/>
          <a:p>
            <a:pPr algn="l" marL="0" indent="0">
              <a:lnSpc>
                <a:spcPct val="112000"/>
              </a:lnSpc>
              <a:buNone/>
            </a:pPr>
            <a:r>
              <a:rPr lang="en-US" sz="1050" b="1" dirty="0">
                <a:solidFill>
                  <a:srgbClr val="F5B700"/>
                </a:solidFill>
                <a:latin typeface="Arial"/>
                <a:ea typeface="Arial"/>
                <a:cs typeface="Arial"/>
              </a:rPr>
              <a:t>YC market context  ·  slide 2</a:t>
            </a:r>
          </a:p>
          <a:p>
            <a:pPr algn="l" marL="0" indent="0">
              <a:lnSpc>
                <a:spcPct val="112000"/>
              </a:lnSpc>
              <a:buNone/>
            </a:pPr>
            <a:r>
              <a:rPr lang="en-US" sz="1000" b="1" dirty="0">
                <a:solidFill>
                  <a:srgbClr val="F5B700"/>
                </a:solidFill>
                <a:latin typeface="Arial"/>
                <a:ea typeface="Arial"/>
                <a:cs typeface="Arial"/>
              </a:rPr>
              <a:t>[35]  </a:t>
            </a:r>
            <a:r>
              <a:rPr lang="en-US" sz="1000" b="1" dirty="0" u="sng">
                <a:solidFill>
                  <a:srgbClr val="FFFFFF"/>
                </a:solidFill>
                <a:latin typeface="Arial"/>
                <a:ea typeface="Arial"/>
                <a:cs typeface="Arial"/>
                <a:hlinkClick r:id="rIdL22"/>
              </a:rPr>
              <a:t>New Economies (Ollie Forsyth): YC Spring 2026 batch</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3"/>
              </a:rPr>
              <a:t>neweconomies.co/p/y-combinator-spring-2026-batch</a:t>
            </a:r>
          </a:p>
          <a:p>
            <a:pPr algn="l" marL="0" indent="0">
              <a:lnSpc>
                <a:spcPct val="112000"/>
              </a:lnSpc>
              <a:buNone/>
            </a:pPr>
            <a:r>
              <a:rPr lang="en-US" sz="1000" b="1" dirty="0">
                <a:solidFill>
                  <a:srgbClr val="F5B700"/>
                </a:solidFill>
                <a:latin typeface="Arial"/>
                <a:ea typeface="Arial"/>
                <a:cs typeface="Arial"/>
              </a:rPr>
              <a:t>[36]  </a:t>
            </a:r>
            <a:r>
              <a:rPr lang="en-US" sz="1000" b="1" dirty="0" u="sng">
                <a:solidFill>
                  <a:srgbClr val="FFFFFF"/>
                </a:solidFill>
                <a:latin typeface="Arial"/>
                <a:ea typeface="Arial"/>
                <a:cs typeface="Arial"/>
                <a:hlinkClick r:id="rIdL24"/>
              </a:rPr>
              <a:t>elsewhere.news: YC S26 analysis</a:t>
            </a:r>
            <a:r>
              <a:rPr lang="en-US" sz="900" dirty="0">
                <a:solidFill>
                  <a:srgbClr val="D9B48A"/>
                </a:solidFill>
                <a:latin typeface="Arial"/>
                <a:ea typeface="Arial"/>
                <a:cs typeface="Arial"/>
              </a:rPr>
              <a:t> (third-party)</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5"/>
              </a:rPr>
              <a:t>elsewhere.news/en/crossing/yc-236</a:t>
            </a:r>
          </a:p>
          <a:p>
            <a:pPr algn="l" marL="0" indent="0">
              <a:lnSpc>
                <a:spcPct val="112000"/>
              </a:lnSpc>
              <a:buNone/>
            </a:pPr>
            <a:r>
              <a:rPr lang="en-US" sz="1000" b="1" dirty="0">
                <a:solidFill>
                  <a:srgbClr val="F5B700"/>
                </a:solidFill>
                <a:latin typeface="Arial"/>
                <a:ea typeface="Arial"/>
                <a:cs typeface="Arial"/>
              </a:rPr>
              <a:t>[37]  </a:t>
            </a:r>
            <a:r>
              <a:rPr lang="en-US" sz="1000" b="1" dirty="0">
                <a:solidFill>
                  <a:srgbClr val="FFFFFF"/>
                </a:solidFill>
                <a:latin typeface="Arial"/>
                <a:ea typeface="Arial"/>
                <a:cs typeface="Arial"/>
              </a:rPr>
              <a:t>YC company pages (batch labels, fetched 14 Oct 2026)</a:t>
            </a:r>
          </a:p>
          <a:p>
            <a:pPr algn="l" marL="0" indent="0">
              <a:lnSpc>
                <a:spcPct val="112000"/>
              </a:lnSpc>
              <a:buNone/>
            </a:pPr>
            <a:r>
              <a:rPr lang="en-US" sz="950" b="1" dirty="0">
                <a:solidFill>
                  <a:srgbClr val="F3E6D6"/>
                </a:solidFill>
                <a:latin typeface="Arial"/>
                <a:ea typeface="Arial"/>
                <a:cs typeface="Arial"/>
              </a:rPr>
              <a:t>        </a:t>
            </a:r>
            <a:r>
              <a:rPr lang="en-US" sz="950" dirty="0" u="sng">
                <a:solidFill>
                  <a:srgbClr val="F5B700"/>
                </a:solidFill>
                <a:latin typeface="Arial"/>
                <a:ea typeface="Arial"/>
                <a:cs typeface="Arial"/>
                <a:hlinkClick r:id="rIdL26"/>
              </a:rPr>
              <a:t>Polymath</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7"/>
              </a:rPr>
              <a:t>Arga Labs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8"/>
              </a:rPr>
              <a:t>Archal</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9"/>
              </a:rPr>
              <a:t>Olam Labs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0"/>
              </a:rPr>
              <a:t>Agnost AI</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31"/>
              </a:rPr>
              <a:t>CoArena</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2"/>
              </a:rPr>
              <a:t>Salus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3"/>
              </a:rPr>
              <a:t>Decawork</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4"/>
              </a:rPr>
              <a:t>Silmaril</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5"/>
              </a:rPr>
              <a:t>Inkbox</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6"/>
              </a:rPr>
              <a:t>Clawvisor</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37"/>
              </a:rPr>
              <a:t>Maritime</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38"/>
              </a:rPr>
              <a:t>Agent Relay</a:t>
            </a:r>
          </a:p>
          <a:p>
            <a:pPr algn="l" marL="0" indent="0">
              <a:lnSpc>
                <a:spcPct val="112000"/>
              </a:lnSpc>
              <a:buNone/>
            </a:pPr>
            <a:r>
              <a:rPr lang="en-US" sz="500" dirty="0">
                <a:solidFill>
                  <a:srgbClr val="FFFFFF"/>
                </a:solidFill>
                <a:latin typeface="Arial"/>
                <a:ea typeface="Arial"/>
                <a:cs typeface="Arial"/>
              </a:rPr>
              <a:t> </a:t>
            </a:r>
          </a:p>
          <a:p>
            <a:pPr algn="l" marL="0" indent="0">
              <a:lnSpc>
                <a:spcPct val="112000"/>
              </a:lnSpc>
              <a:buNone/>
            </a:pPr>
            <a:r>
              <a:rPr lang="en-US" sz="1050" b="1" dirty="0">
                <a:solidFill>
                  <a:srgbClr val="F5B700"/>
                </a:solidFill>
                <a:latin typeface="Arial"/>
                <a:ea typeface="Arial"/>
                <a:cs typeface="Arial"/>
              </a:rPr>
              <a:t>Our stack  ·  slide 4</a:t>
            </a:r>
          </a:p>
          <a:p>
            <a:pPr algn="l" marL="0" indent="0">
              <a:lnSpc>
                <a:spcPct val="112000"/>
              </a:lnSpc>
              <a:buNone/>
            </a:pPr>
            <a:r>
              <a:rPr lang="en-US" sz="1000" b="1" dirty="0">
                <a:solidFill>
                  <a:srgbClr val="F5B700"/>
                </a:solidFill>
                <a:latin typeface="Arial"/>
                <a:ea typeface="Arial"/>
                <a:cs typeface="Arial"/>
              </a:rPr>
              <a:t>[41]  </a:t>
            </a:r>
            <a:r>
              <a:rPr lang="en-US" sz="1000" b="1" dirty="0">
                <a:solidFill>
                  <a:srgbClr val="FFFFFF"/>
                </a:solidFill>
                <a:latin typeface="Arial"/>
                <a:ea typeface="Arial"/>
                <a:cs typeface="Arial"/>
              </a:rPr>
              <a:t>One source per pick in the stack table</a:t>
            </a:r>
          </a:p>
          <a:p>
            <a:pPr algn="l" marL="0" indent="0">
              <a:lnSpc>
                <a:spcPct val="112000"/>
              </a:lnSpc>
              <a:buNone/>
            </a:pPr>
            <a:r>
              <a:rPr lang="en-US" sz="950" b="1" dirty="0">
                <a:solidFill>
                  <a:srgbClr val="F3E6D6"/>
                </a:solidFill>
                <a:latin typeface="Arial"/>
                <a:ea typeface="Arial"/>
                <a:cs typeface="Arial"/>
              </a:rPr>
              <a:t>Observe / score:  </a:t>
            </a:r>
            <a:r>
              <a:rPr lang="en-US" sz="950" dirty="0" u="sng">
                <a:solidFill>
                  <a:srgbClr val="F5B700"/>
                </a:solidFill>
                <a:latin typeface="Arial"/>
                <a:ea typeface="Arial"/>
                <a:cs typeface="Arial"/>
                <a:hlinkClick r:id="rIdL39"/>
              </a:rPr>
              <a:t>Galileo release notes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0"/>
              </a:rPr>
              <a:t>Splunk AO OTel ingest</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41"/>
              </a:rPr>
              <a:t>Cisco–Galileo</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2"/>
              </a:rPr>
              <a:t>Arize Phoenix</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3"/>
              </a:rPr>
              <a:t>Arize AX</a:t>
            </a:r>
          </a:p>
          <a:p>
            <a:pPr algn="l" marL="0" indent="0">
              <a:lnSpc>
                <a:spcPct val="112000"/>
              </a:lnSpc>
              <a:buNone/>
            </a:pPr>
            <a:r>
              <a:rPr lang="en-US" sz="950" b="1" dirty="0">
                <a:solidFill>
                  <a:srgbClr val="F3E6D6"/>
                </a:solidFill>
                <a:latin typeface="Arial"/>
                <a:ea typeface="Arial"/>
                <a:cs typeface="Arial"/>
              </a:rPr>
              <a:t>Red Hat:  </a:t>
            </a:r>
            <a:r>
              <a:rPr lang="en-US" sz="950" dirty="0" u="sng">
                <a:solidFill>
                  <a:srgbClr val="F5B700"/>
                </a:solidFill>
                <a:latin typeface="Arial"/>
                <a:ea typeface="Arial"/>
                <a:cs typeface="Arial"/>
                <a:hlinkClick r:id="rIdL44"/>
              </a:rPr>
              <a:t>Developer Hub MCP</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5"/>
              </a:rPr>
              <a:t>SDG Hub</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6"/>
              </a:rPr>
              <a:t>EvalHub</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47"/>
              </a:rPr>
              <a:t>Training Hub</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48"/>
              </a:rPr>
              <a:t>NeMo Guardrails</a:t>
            </a:r>
          </a:p>
          <a:p>
            <a:pPr algn="l" marL="0" indent="0">
              <a:lnSpc>
                <a:spcPct val="112000"/>
              </a:lnSpc>
              <a:buNone/>
            </a:pPr>
            <a:r>
              <a:rPr lang="en-US" sz="950" b="1" dirty="0">
                <a:solidFill>
                  <a:srgbClr val="F3E6D6"/>
                </a:solidFill>
                <a:latin typeface="Arial"/>
                <a:ea typeface="Arial"/>
                <a:cs typeface="Arial"/>
              </a:rPr>
              <a:t>Harness opt.:  </a:t>
            </a:r>
            <a:r>
              <a:rPr lang="en-US" sz="950" dirty="0" u="sng">
                <a:solidFill>
                  <a:srgbClr val="F5B700"/>
                </a:solidFill>
                <a:latin typeface="Arial"/>
                <a:ea typeface="Arial"/>
                <a:cs typeface="Arial"/>
                <a:hlinkClick r:id="rIdL49"/>
              </a:rPr>
              <a:t>GEPA</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0"/>
              </a:rPr>
              <a:t>MLflow</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1"/>
              </a:rPr>
              <a:t>Meta-Harness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2"/>
              </a:rPr>
              <a:t>Databricks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3"/>
              </a:rPr>
              <a:t>Zenbase</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54"/>
              </a:rPr>
              <a:t>Lucidic AI</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5"/>
              </a:rPr>
              <a:t>Strands Agents</a:t>
            </a:r>
          </a:p>
          <a:p>
            <a:pPr algn="l" marL="0" indent="0">
              <a:lnSpc>
                <a:spcPct val="112000"/>
              </a:lnSpc>
              <a:buNone/>
            </a:pPr>
            <a:r>
              <a:rPr lang="en-US" sz="950" b="1" dirty="0">
                <a:solidFill>
                  <a:srgbClr val="F3E6D6"/>
                </a:solidFill>
                <a:latin typeface="Arial"/>
                <a:ea typeface="Arial"/>
                <a:cs typeface="Arial"/>
              </a:rPr>
              <a:t>Red teaming:  </a:t>
            </a:r>
            <a:r>
              <a:rPr lang="en-US" sz="950" dirty="0" u="sng">
                <a:solidFill>
                  <a:srgbClr val="F5B700"/>
                </a:solidFill>
                <a:latin typeface="Arial"/>
                <a:ea typeface="Arial"/>
                <a:cs typeface="Arial"/>
                <a:hlinkClick r:id="rIdL56"/>
              </a:rPr>
              <a:t>garak</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7"/>
              </a:rPr>
              <a:t>DeepTeam</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8"/>
              </a:rPr>
              <a:t>General Analysis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59"/>
              </a:rPr>
              <a:t>Cisco AI Defense</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60"/>
              </a:rPr>
              <a:t>OWASP Agentic Top 10</a:t>
            </a:r>
          </a:p>
          <a:p>
            <a:pPr algn="l" marL="0" indent="0">
              <a:lnSpc>
                <a:spcPct val="112000"/>
              </a:lnSpc>
              <a:buNone/>
            </a:pPr>
            <a:r>
              <a:rPr lang="en-US" sz="950" b="1" dirty="0">
                <a:solidFill>
                  <a:srgbClr val="F3E6D6"/>
                </a:solidFill>
                <a:latin typeface="Arial"/>
                <a:ea typeface="Arial"/>
                <a:cs typeface="Arial"/>
              </a:rPr>
              <a:t>Runtime control:  </a:t>
            </a:r>
            <a:r>
              <a:rPr lang="en-US" sz="950" dirty="0" u="sng">
                <a:solidFill>
                  <a:srgbClr val="F5B700"/>
                </a:solidFill>
                <a:latin typeface="Arial"/>
                <a:ea typeface="Arial"/>
                <a:cs typeface="Arial"/>
                <a:hlinkClick r:id="rIdL61"/>
              </a:rPr>
              <a:t>Agent Control</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62"/>
              </a:rPr>
              <a:t>Golf</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63"/>
              </a:rPr>
              <a:t>AgentCore Policy</a:t>
            </a:r>
          </a:p>
          <a:p>
            <a:pPr algn="l" marL="0" indent="0">
              <a:lnSpc>
                <a:spcPct val="112000"/>
              </a:lnSpc>
              <a:buNone/>
            </a:pPr>
            <a:r>
              <a:rPr lang="en-US" sz="950" b="1" dirty="0">
                <a:solidFill>
                  <a:srgbClr val="F3E6D6"/>
                </a:solidFill>
                <a:latin typeface="Arial"/>
                <a:ea typeface="Arial"/>
                <a:cs typeface="Arial"/>
              </a:rPr>
              <a:t>Governance:  </a:t>
            </a:r>
            <a:r>
              <a:rPr lang="en-US" sz="950" dirty="0" u="sng">
                <a:solidFill>
                  <a:srgbClr val="F5B700"/>
                </a:solidFill>
                <a:latin typeface="Arial"/>
                <a:ea typeface="Arial"/>
                <a:cs typeface="Arial"/>
                <a:hlinkClick r:id="rIdL64"/>
              </a:rPr>
              <a:t>Kagenti</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65"/>
              </a:rPr>
              <a:t>CycloneDX ML-BOM</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66"/>
              </a:rPr>
              <a:t>Credal</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67"/>
              </a:rPr>
              <a:t>watsonx catalog</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68"/>
              </a:rPr>
              <a:t>ServiceNow AI Control Tower</a:t>
            </a:r>
          </a:p>
          <a:p>
            <a:pPr algn="l" marL="0" indent="0">
              <a:lnSpc>
                <a:spcPct val="112000"/>
              </a:lnSpc>
              <a:buNone/>
            </a:pPr>
            <a:r>
              <a:rPr lang="en-US" sz="950" b="1" dirty="0">
                <a:solidFill>
                  <a:srgbClr val="F3E6D6"/>
                </a:solidFill>
                <a:latin typeface="Arial"/>
                <a:ea typeface="Arial"/>
                <a:cs typeface="Arial"/>
              </a:rPr>
              <a:t>Other:  </a:t>
            </a:r>
            <a:r>
              <a:rPr lang="en-US" sz="950" dirty="0" u="sng">
                <a:solidFill>
                  <a:srgbClr val="F5B700"/>
                </a:solidFill>
                <a:latin typeface="Arial"/>
                <a:ea typeface="Arial"/>
                <a:cs typeface="Arial"/>
                <a:hlinkClick r:id="rIdL69"/>
              </a:rPr>
              <a:t>Laminar</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70"/>
              </a:rPr>
              <a:t>Confident AI</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71"/>
              </a:rPr>
              <a:t>Coval</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72"/>
              </a:rPr>
              <a:t>Gemini simulated eval</a:t>
            </a:r>
          </a:p>
          <a:p>
            <a:pPr algn="l" marL="0" indent="0">
              <a:lnSpc>
                <a:spcPct val="112000"/>
              </a:lnSpc>
              <a:buNone/>
            </a:pPr>
            <a:r>
              <a:rPr lang="en-US" sz="950" dirty="0">
                <a:solidFill>
                  <a:srgbClr val="FFFFFF"/>
                </a:solidFill>
                <a:latin typeface="Arial"/>
                <a:ea typeface="Arial"/>
                <a:cs typeface="Arial"/>
              </a:rPr>
              <a:t>        </a:t>
            </a:r>
            <a:r>
              <a:rPr lang="en-US" sz="950" dirty="0" u="sng">
                <a:solidFill>
                  <a:srgbClr val="F5B700"/>
                </a:solidFill>
                <a:latin typeface="Arial"/>
                <a:ea typeface="Arial"/>
                <a:cs typeface="Arial"/>
                <a:hlinkClick r:id="rIdL73"/>
              </a:rPr>
              <a:t>Agent Skills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74"/>
              </a:rPr>
              <a:t>Claude Code plugins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75"/>
              </a:rPr>
              <a:t>managed settings</a:t>
            </a:r>
          </a:p>
        </p:txBody>
      </p:sp>
      <p:sp>
        <p:nvSpPr>
          <p:cNvPr id="160" name="ref 160"/>
          <p:cNvSpPr/>
          <p:nvPr/>
        </p:nvSpPr>
        <p:spPr>
          <a:xfrm>
            <a:off x="548640" y="6473952"/>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Links checked 14 Oct 2026: all resolve except the expired Verizon job posting (404). Gartner, Red Hat Developer and IBM pages block scripted fetches but open in a browser.</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05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how a use case plugs in</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Three ways in,</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one sampled trace pipeline into Galileo</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5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5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5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3200400"/>
            <a:ext cx="1417320" cy="960120"/>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50" b="1" dirty="0">
                <a:solidFill>
                  <a:srgbClr val="FFFFFF"/>
                </a:solidFill>
                <a:latin typeface="Arial"/>
                <a:ea typeface="Arial"/>
                <a:cs typeface="Arial"/>
              </a:rPr>
              <a:t>App / use case</a:t>
            </a:r>
          </a:p>
          <a:p>
            <a:pPr algn="l" marL="0" indent="0">
              <a:lnSpc>
                <a:spcPct val="95000"/>
              </a:lnSpc>
              <a:buNone/>
            </a:pPr>
            <a:r>
              <a:rPr lang="en-US" sz="850" dirty="0">
                <a:solidFill>
                  <a:srgbClr val="F3E6D6"/>
                </a:solidFill>
                <a:latin typeface="Arial"/>
                <a:ea typeface="Arial"/>
                <a:cs typeface="Arial"/>
              </a:rPr>
              <a:t>ours or vendor-built; agentic or not</a:t>
            </a:r>
          </a:p>
        </p:txBody>
      </p:sp>
      <p:sp>
        <p:nvSpPr>
          <p:cNvPr id="162" name="gal 162"/>
          <p:cNvSpPr/>
          <p:nvPr/>
        </p:nvSpPr>
        <p:spPr>
          <a:xfrm>
            <a:off x="548640" y="4343400"/>
            <a:ext cx="1417320" cy="1005840"/>
          </a:xfrm>
          <a:prstGeom prst="roundRect">
            <a:avLst>
              <a:gd name="adj" fmla="val 10000"/>
            </a:avLst>
          </a:prstGeom>
          <a:solidFill>
            <a:srgbClr val="1E1412"/>
          </a:solidFill>
          <a:ln w="12700">
            <a:solidFill>
              <a:srgbClr val="D9B48A"/>
            </a:solidFill>
            <a:prstDash val="dash"/>
          </a:ln>
        </p:spPr>
        <p:txBody>
          <a:bodyPr wrap="square" lIns="91440" tIns="36576" rIns="73152" bIns="36576" rtlCol="0" anchor="ctr">
            <a:noAutofit/>
          </a:bodyPr>
          <a:lstStyle/>
          <a:p>
            <a:pPr algn="l" marL="0" indent="0">
              <a:lnSpc>
                <a:spcPct val="92000"/>
              </a:lnSpc>
              <a:buNone/>
            </a:pPr>
            <a:r>
              <a:rPr lang="en-US" sz="750" b="1" dirty="0">
                <a:solidFill>
                  <a:srgbClr val="D9B48A"/>
                </a:solidFill>
                <a:latin typeface="Arial"/>
                <a:ea typeface="Arial"/>
                <a:cs typeface="Arial"/>
              </a:rPr>
              <a:t>PROPOSED</a:t>
            </a:r>
          </a:p>
          <a:p>
            <a:pPr algn="l" marL="0" indent="0">
              <a:lnSpc>
                <a:spcPct val="92000"/>
              </a:lnSpc>
              <a:buNone/>
            </a:pPr>
            <a:r>
              <a:rPr lang="en-US" sz="850" dirty="0">
                <a:solidFill>
                  <a:srgbClr val="F3E6D6"/>
                </a:solidFill>
                <a:latin typeface="Arial"/>
                <a:ea typeface="Arial"/>
                <a:cs typeface="Arial"/>
              </a:rPr>
              <a:t>Segment tags on every span: use_case_id · agent_version · risk_tier · 1P / 3P</a:t>
            </a:r>
          </a:p>
        </p:txBody>
      </p:sp>
      <p:sp>
        <p:nvSpPr>
          <p:cNvPr id="163" name="gal 163"/>
          <p:cNvSpPr/>
          <p:nvPr/>
        </p:nvSpPr>
        <p:spPr>
          <a:xfrm>
            <a:off x="2331720" y="2331720"/>
            <a:ext cx="3108960" cy="621792"/>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00" b="1" dirty="0">
                <a:solidFill>
                  <a:srgbClr val="FFFFFF"/>
                </a:solidFill>
                <a:latin typeface="Arial"/>
                <a:ea typeface="Arial"/>
                <a:cs typeface="Arial"/>
              </a:rPr>
              <a:t>P1  Default metrics · Kairos gateway</a:t>
            </a:r>
          </a:p>
          <a:p>
            <a:pPr algn="l" marL="0" indent="0">
              <a:lnSpc>
                <a:spcPct val="95000"/>
              </a:lnSpc>
              <a:buNone/>
            </a:pPr>
            <a:r>
              <a:rPr lang="en-US" sz="850" dirty="0">
                <a:solidFill>
                  <a:srgbClr val="F3E6D6"/>
                </a:solidFill>
                <a:latin typeface="Arial"/>
                <a:ea typeface="Arial"/>
                <a:cs typeface="Arial"/>
              </a:rPr>
              <a:t>Call the Kairos endpoint, pass the bucket parameter; templated metrics computed automatically</a:t>
            </a:r>
          </a:p>
        </p:txBody>
      </p:sp>
      <p:sp>
        <p:nvSpPr>
          <p:cNvPr id="164" name="gal 164"/>
          <p:cNvSpPr/>
          <p:nvPr/>
        </p:nvSpPr>
        <p:spPr>
          <a:xfrm>
            <a:off x="2331720" y="3044952"/>
            <a:ext cx="3108960" cy="621792"/>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00" b="1" dirty="0">
                <a:solidFill>
                  <a:srgbClr val="FFFFFF"/>
                </a:solidFill>
                <a:latin typeface="Arial"/>
                <a:ea typeface="Arial"/>
                <a:cs typeface="Arial"/>
              </a:rPr>
              <a:t>P2  Agentic metrics · Kairos SDK (VZAISDK)</a:t>
            </a:r>
          </a:p>
          <a:p>
            <a:pPr algn="l" marL="0" indent="0">
              <a:lnSpc>
                <a:spcPct val="95000"/>
              </a:lnSpc>
              <a:buNone/>
            </a:pPr>
            <a:r>
              <a:rPr lang="en-US" sz="850" dirty="0">
                <a:solidFill>
                  <a:srgbClr val="F3E6D6"/>
                </a:solidFill>
                <a:latin typeface="Arial"/>
                <a:ea typeface="Arial"/>
                <a:cs typeface="Arial"/>
              </a:rPr>
              <a:t>Zero config: Galileo callback handler logs LLM + tool spans</a:t>
            </a:r>
          </a:p>
        </p:txBody>
      </p:sp>
      <p:sp>
        <p:nvSpPr>
          <p:cNvPr id="165" name="gal 165"/>
          <p:cNvSpPr/>
          <p:nvPr/>
        </p:nvSpPr>
        <p:spPr>
          <a:xfrm>
            <a:off x="2331720" y="3758184"/>
            <a:ext cx="3108960" cy="621792"/>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00" b="1" dirty="0">
                <a:solidFill>
                  <a:srgbClr val="FFFFFF"/>
                </a:solidFill>
                <a:latin typeface="Arial"/>
                <a:ea typeface="Arial"/>
                <a:cs typeface="Arial"/>
              </a:rPr>
              <a:t>P3  Customised flow · own OTel via Kairos</a:t>
            </a:r>
          </a:p>
          <a:p>
            <a:pPr algn="l" marL="0" indent="0">
              <a:lnSpc>
                <a:spcPct val="95000"/>
              </a:lnSpc>
              <a:buNone/>
            </a:pPr>
            <a:r>
              <a:rPr lang="en-US" sz="850" dirty="0">
                <a:solidFill>
                  <a:srgbClr val="F3E6D6"/>
                </a:solidFill>
                <a:latin typeface="Arial"/>
                <a:ea typeface="Arial"/>
                <a:cs typeface="Arial"/>
              </a:rPr>
              <a:t>OTLP exporter → KAIROS_OTLP_ENDPOINT; OpenInference instrumentor</a:t>
            </a:r>
          </a:p>
        </p:txBody>
      </p:sp>
      <p:sp>
        <p:nvSpPr>
          <p:cNvPr id="166" name="gal 166"/>
          <p:cNvSpPr/>
          <p:nvPr/>
        </p:nvSpPr>
        <p:spPr>
          <a:xfrm>
            <a:off x="2331720" y="4471416"/>
            <a:ext cx="3108960" cy="621792"/>
          </a:xfrm>
          <a:prstGeom prst="roundRect">
            <a:avLst>
              <a:gd name="adj" fmla="val 10000"/>
            </a:avLst>
          </a:prstGeom>
          <a:solidFill>
            <a:srgbClr val="F5B700"/>
          </a:solidFill>
          <a:ln>
            <a:noFill/>
          </a:ln>
        </p:spPr>
        <p:txBody>
          <a:bodyPr wrap="square" lIns="91440" tIns="36576" rIns="73152" bIns="36576" rtlCol="0" anchor="ctr">
            <a:noAutofit/>
          </a:bodyPr>
          <a:lstStyle/>
          <a:p>
            <a:pPr algn="l" marL="0" indent="0">
              <a:lnSpc>
                <a:spcPct val="95000"/>
              </a:lnSpc>
              <a:buNone/>
            </a:pPr>
            <a:r>
              <a:rPr lang="en-US" sz="1000" b="1" dirty="0">
                <a:solidFill>
                  <a:srgbClr val="141010"/>
                </a:solidFill>
                <a:latin typeface="Arial"/>
                <a:ea typeface="Arial"/>
                <a:cs typeface="Arial"/>
              </a:rPr>
              <a:t>Third-party (CES · Google · CRA)  ·  G9</a:t>
            </a:r>
          </a:p>
          <a:p>
            <a:pPr algn="l" marL="0" indent="0">
              <a:lnSpc>
                <a:spcPct val="95000"/>
              </a:lnSpc>
              <a:buNone/>
            </a:pPr>
            <a:r>
              <a:rPr lang="en-US" sz="850" dirty="0">
                <a:solidFill>
                  <a:srgbClr val="141010"/>
                </a:solidFill>
                <a:latin typeface="Arial"/>
                <a:ea typeface="Arial"/>
                <a:cs typeface="Arial"/>
              </a:rPr>
              <a:t>Vendor trace export / OTel adapter into P3 + evidence contract</a:t>
            </a:r>
          </a:p>
        </p:txBody>
      </p:sp>
      <p:cxnSp>
        <p:nvCxnSpPr>
          <p:cNvPr id="167" name="g2 flow 167"/>
          <p:cNvCxnSpPr/>
          <p:nvPr/>
        </p:nvCxnSpPr>
        <p:spPr>
          <a:xfrm>
            <a:off x="1965960" y="3675888"/>
            <a:ext cx="192024" cy="0"/>
          </a:xfrm>
          <a:prstGeom prst="line">
            <a:avLst/>
          </a:prstGeom>
          <a:ln w="15875">
            <a:solidFill>
              <a:srgbClr val="EE0000"/>
            </a:solidFill>
          </a:ln>
        </p:spPr>
      </p:cxnSp>
      <p:cxnSp>
        <p:nvCxnSpPr>
          <p:cNvPr id="168" name="g2 flow 168"/>
          <p:cNvCxnSpPr/>
          <p:nvPr/>
        </p:nvCxnSpPr>
        <p:spPr>
          <a:xfrm>
            <a:off x="2157984" y="2642616"/>
            <a:ext cx="0" cy="2139696"/>
          </a:xfrm>
          <a:prstGeom prst="line">
            <a:avLst/>
          </a:prstGeom>
          <a:ln w="15875">
            <a:solidFill>
              <a:srgbClr val="EE0000"/>
            </a:solidFill>
          </a:ln>
        </p:spPr>
      </p:cxnSp>
      <p:cxnSp>
        <p:nvCxnSpPr>
          <p:cNvPr id="169" name="g2 flow 169"/>
          <p:cNvCxnSpPr/>
          <p:nvPr/>
        </p:nvCxnSpPr>
        <p:spPr>
          <a:xfrm>
            <a:off x="2157984" y="2642616"/>
            <a:ext cx="173736" cy="0"/>
          </a:xfrm>
          <a:prstGeom prst="line">
            <a:avLst/>
          </a:prstGeom>
          <a:ln w="15875">
            <a:solidFill>
              <a:srgbClr val="EE0000"/>
            </a:solidFill>
            <a:tailEnd type="triangle" w="med" len="med"/>
          </a:ln>
        </p:spPr>
      </p:cxnSp>
      <p:cxnSp>
        <p:nvCxnSpPr>
          <p:cNvPr id="170" name="g2 flow 170"/>
          <p:cNvCxnSpPr/>
          <p:nvPr/>
        </p:nvCxnSpPr>
        <p:spPr>
          <a:xfrm>
            <a:off x="2157984" y="3355848"/>
            <a:ext cx="173736" cy="0"/>
          </a:xfrm>
          <a:prstGeom prst="line">
            <a:avLst/>
          </a:prstGeom>
          <a:ln w="15875">
            <a:solidFill>
              <a:srgbClr val="EE0000"/>
            </a:solidFill>
            <a:tailEnd type="triangle" w="med" len="med"/>
          </a:ln>
        </p:spPr>
      </p:cxnSp>
      <p:cxnSp>
        <p:nvCxnSpPr>
          <p:cNvPr id="171" name="g2 flow 171"/>
          <p:cNvCxnSpPr/>
          <p:nvPr/>
        </p:nvCxnSpPr>
        <p:spPr>
          <a:xfrm>
            <a:off x="2157984" y="4069080"/>
            <a:ext cx="173736" cy="0"/>
          </a:xfrm>
          <a:prstGeom prst="line">
            <a:avLst/>
          </a:prstGeom>
          <a:ln w="15875">
            <a:solidFill>
              <a:srgbClr val="EE0000"/>
            </a:solidFill>
            <a:tailEnd type="triangle" w="med" len="med"/>
          </a:ln>
        </p:spPr>
      </p:cxnSp>
      <p:cxnSp>
        <p:nvCxnSpPr>
          <p:cNvPr id="172" name="g2 flow 172"/>
          <p:cNvCxnSpPr/>
          <p:nvPr/>
        </p:nvCxnSpPr>
        <p:spPr>
          <a:xfrm>
            <a:off x="2157984" y="4782312"/>
            <a:ext cx="173736" cy="0"/>
          </a:xfrm>
          <a:prstGeom prst="line">
            <a:avLst/>
          </a:prstGeom>
          <a:ln w="15875">
            <a:solidFill>
              <a:srgbClr val="EE0000"/>
            </a:solidFill>
            <a:prstDash val="dash"/>
            <a:tailEnd type="triangle" w="med" len="med"/>
          </a:ln>
        </p:spPr>
      </p:cxnSp>
      <p:sp>
        <p:nvSpPr>
          <p:cNvPr id="173" name="gal 173"/>
          <p:cNvSpPr/>
          <p:nvPr/>
        </p:nvSpPr>
        <p:spPr>
          <a:xfrm>
            <a:off x="5806440" y="3200400"/>
            <a:ext cx="1463040" cy="960120"/>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50" b="1" dirty="0">
                <a:solidFill>
                  <a:srgbClr val="FFFFFF"/>
                </a:solidFill>
                <a:latin typeface="Arial"/>
                <a:ea typeface="Arial"/>
                <a:cs typeface="Arial"/>
              </a:rPr>
              <a:t>Common Logging Service</a:t>
            </a:r>
          </a:p>
          <a:p>
            <a:pPr algn="l" marL="0" indent="0">
              <a:lnSpc>
                <a:spcPct val="95000"/>
              </a:lnSpc>
              <a:buNone/>
            </a:pPr>
            <a:r>
              <a:rPr lang="en-US" sz="850" dirty="0">
                <a:solidFill>
                  <a:srgbClr val="F3E6D6"/>
                </a:solidFill>
                <a:latin typeface="Arial"/>
                <a:ea typeface="Arial"/>
                <a:cs typeface="Arial"/>
              </a:rPr>
              <a:t>all patterns land here</a:t>
            </a:r>
          </a:p>
        </p:txBody>
      </p:sp>
      <p:cxnSp>
        <p:nvCxnSpPr>
          <p:cNvPr id="174" name="g2 flow 174"/>
          <p:cNvCxnSpPr/>
          <p:nvPr/>
        </p:nvCxnSpPr>
        <p:spPr>
          <a:xfrm>
            <a:off x="5440680" y="2642616"/>
            <a:ext cx="182880" cy="0"/>
          </a:xfrm>
          <a:prstGeom prst="line">
            <a:avLst/>
          </a:prstGeom>
          <a:ln w="15875">
            <a:solidFill>
              <a:srgbClr val="EE0000"/>
            </a:solidFill>
          </a:ln>
        </p:spPr>
      </p:cxnSp>
      <p:cxnSp>
        <p:nvCxnSpPr>
          <p:cNvPr id="175" name="g2 flow 175"/>
          <p:cNvCxnSpPr/>
          <p:nvPr/>
        </p:nvCxnSpPr>
        <p:spPr>
          <a:xfrm>
            <a:off x="5440680" y="3355848"/>
            <a:ext cx="182880" cy="0"/>
          </a:xfrm>
          <a:prstGeom prst="line">
            <a:avLst/>
          </a:prstGeom>
          <a:ln w="15875">
            <a:solidFill>
              <a:srgbClr val="EE0000"/>
            </a:solidFill>
          </a:ln>
        </p:spPr>
      </p:cxnSp>
      <p:cxnSp>
        <p:nvCxnSpPr>
          <p:cNvPr id="176" name="g2 flow 176"/>
          <p:cNvCxnSpPr/>
          <p:nvPr/>
        </p:nvCxnSpPr>
        <p:spPr>
          <a:xfrm>
            <a:off x="5440680" y="4069080"/>
            <a:ext cx="182880" cy="0"/>
          </a:xfrm>
          <a:prstGeom prst="line">
            <a:avLst/>
          </a:prstGeom>
          <a:ln w="15875">
            <a:solidFill>
              <a:srgbClr val="EE0000"/>
            </a:solidFill>
          </a:ln>
        </p:spPr>
      </p:cxnSp>
      <p:cxnSp>
        <p:nvCxnSpPr>
          <p:cNvPr id="177" name="g2 flow 177"/>
          <p:cNvCxnSpPr/>
          <p:nvPr/>
        </p:nvCxnSpPr>
        <p:spPr>
          <a:xfrm>
            <a:off x="5440680" y="4782312"/>
            <a:ext cx="182880" cy="0"/>
          </a:xfrm>
          <a:prstGeom prst="line">
            <a:avLst/>
          </a:prstGeom>
          <a:ln w="15875">
            <a:solidFill>
              <a:srgbClr val="EE0000"/>
            </a:solidFill>
            <a:prstDash val="dash"/>
          </a:ln>
        </p:spPr>
      </p:cxnSp>
      <p:cxnSp>
        <p:nvCxnSpPr>
          <p:cNvPr id="178" name="g2 flow 178"/>
          <p:cNvCxnSpPr/>
          <p:nvPr/>
        </p:nvCxnSpPr>
        <p:spPr>
          <a:xfrm>
            <a:off x="5623560" y="2642616"/>
            <a:ext cx="0" cy="2139696"/>
          </a:xfrm>
          <a:prstGeom prst="line">
            <a:avLst/>
          </a:prstGeom>
          <a:ln w="15875">
            <a:solidFill>
              <a:srgbClr val="EE0000"/>
            </a:solidFill>
          </a:ln>
        </p:spPr>
      </p:cxnSp>
      <p:cxnSp>
        <p:nvCxnSpPr>
          <p:cNvPr id="179" name="g2 flow 179"/>
          <p:cNvCxnSpPr/>
          <p:nvPr/>
        </p:nvCxnSpPr>
        <p:spPr>
          <a:xfrm>
            <a:off x="5623560" y="3675888"/>
            <a:ext cx="182880" cy="0"/>
          </a:xfrm>
          <a:prstGeom prst="line">
            <a:avLst/>
          </a:prstGeom>
          <a:ln w="15875">
            <a:solidFill>
              <a:srgbClr val="EE0000"/>
            </a:solidFill>
            <a:tailEnd type="triangle" w="med" len="med"/>
          </a:ln>
        </p:spPr>
      </p:cxnSp>
      <p:sp>
        <p:nvSpPr>
          <p:cNvPr id="180" name="gal 180"/>
          <p:cNvSpPr/>
          <p:nvPr/>
        </p:nvSpPr>
        <p:spPr>
          <a:xfrm>
            <a:off x="7543800" y="2331720"/>
            <a:ext cx="1965960" cy="2103120"/>
          </a:xfrm>
          <a:prstGeom prst="roundRect">
            <a:avLst>
              <a:gd name="adj" fmla="val 10000"/>
            </a:avLst>
          </a:prstGeom>
          <a:solidFill>
            <a:srgbClr val="2A1A16"/>
          </a:solidFill>
          <a:ln w="12700">
            <a:solidFill>
              <a:srgbClr val="D9B48A"/>
            </a:solidFill>
          </a:ln>
        </p:spPr>
        <p:txBody>
          <a:bodyPr wrap="square" lIns="109728" tIns="91440" rIns="91440" bIns="54864" rtlCol="0" anchor="t">
            <a:noAutofit/>
          </a:bodyPr>
          <a:lstStyle/>
          <a:p>
            <a:pPr algn="l" marL="0" indent="0">
              <a:lnSpc>
                <a:spcPct val="100000"/>
              </a:lnSpc>
              <a:buNone/>
            </a:pPr>
            <a:r>
              <a:rPr lang="en-US" sz="1050" b="1" dirty="0">
                <a:solidFill>
                  <a:srgbClr val="FFFFFF"/>
                </a:solidFill>
                <a:latin typeface="Arial"/>
                <a:ea typeface="Arial"/>
                <a:cs typeface="Arial"/>
              </a:rPr>
              <a:t>Trace sampling</a:t>
            </a:r>
          </a:p>
          <a:p>
            <a:pPr algn="l" marL="0" indent="0">
              <a:lnSpc>
                <a:spcPct val="100000"/>
              </a:lnSpc>
              <a:buNone/>
            </a:pPr>
            <a:r>
              <a:rPr lang="en-US" sz="850" dirty="0">
                <a:solidFill>
                  <a:srgbClr val="F3E6D6"/>
                </a:solidFill>
                <a:latin typeface="Arial"/>
                <a:ea typeface="Arial"/>
                <a:cs typeface="Arial"/>
              </a:rPr>
              <a:t>Platform applies a global default rate (rate-limited, e.g. 1% of 1M)</a:t>
            </a:r>
          </a:p>
          <a:p>
            <a:pPr algn="l" marL="0" indent="0">
              <a:lnSpc>
                <a:spcPct val="100000"/>
              </a:lnSpc>
              <a:buNone/>
            </a:pPr>
            <a:r>
              <a:rPr lang="en-US" sz="850" dirty="0">
                <a:solidFill>
                  <a:srgbClr val="F3E6D6"/>
                </a:solidFill>
                <a:latin typeface="Arial"/>
                <a:ea typeface="Arial"/>
                <a:cs typeface="Arial"/>
              </a:rPr>
              <a:t>Each team sets its own rate per use case in the Galileo dashboard</a:t>
            </a:r>
          </a:p>
          <a:p>
            <a:pPr algn="l" marL="0" indent="0">
              <a:lnSpc>
                <a:spcPct val="100000"/>
              </a:lnSpc>
              <a:buNone/>
            </a:pPr>
            <a:r>
              <a:rPr lang="en-US" sz="850" b="1" dirty="0">
                <a:solidFill>
                  <a:srgbClr val="F5B700"/>
                </a:solidFill>
                <a:latin typeface="Arial"/>
                <a:ea typeface="Arial"/>
                <a:cs typeface="Arial"/>
              </a:rPr>
              <a:t>Flagship critical, high-volume (voice, flagship products): pre-RTB, 100% can be enabled</a:t>
            </a:r>
          </a:p>
        </p:txBody>
      </p:sp>
      <p:cxnSp>
        <p:nvCxnSpPr>
          <p:cNvPr id="181" name="g2 flow 181"/>
          <p:cNvCxnSpPr/>
          <p:nvPr/>
        </p:nvCxnSpPr>
        <p:spPr>
          <a:xfrm>
            <a:off x="7269480" y="3675888"/>
            <a:ext cx="274320" cy="0"/>
          </a:xfrm>
          <a:prstGeom prst="line">
            <a:avLst/>
          </a:prstGeom>
          <a:ln w="15875">
            <a:solidFill>
              <a:srgbClr val="EE0000"/>
            </a:solidFill>
            <a:tailEnd type="triangle" w="med" len="med"/>
          </a:ln>
        </p:spPr>
      </p:cxnSp>
      <p:sp>
        <p:nvSpPr>
          <p:cNvPr id="182" name="gal 182"/>
          <p:cNvSpPr/>
          <p:nvPr/>
        </p:nvSpPr>
        <p:spPr>
          <a:xfrm>
            <a:off x="7543800" y="4590288"/>
            <a:ext cx="1965960" cy="758952"/>
          </a:xfrm>
          <a:prstGeom prst="roundRect">
            <a:avLst>
              <a:gd name="adj" fmla="val 10000"/>
            </a:avLst>
          </a:prstGeom>
          <a:solidFill>
            <a:srgbClr val="1E1412"/>
          </a:solidFill>
          <a:ln w="12700">
            <a:solidFill>
              <a:srgbClr val="D9B48A"/>
            </a:solidFill>
            <a:prstDash val="dash"/>
          </a:ln>
        </p:spPr>
        <p:txBody>
          <a:bodyPr wrap="square" lIns="91440" tIns="36576" rIns="73152" bIns="36576" rtlCol="0" anchor="ctr">
            <a:noAutofit/>
          </a:bodyPr>
          <a:lstStyle/>
          <a:p>
            <a:pPr algn="l" marL="0" indent="0">
              <a:lnSpc>
                <a:spcPct val="92000"/>
              </a:lnSpc>
              <a:buNone/>
            </a:pPr>
            <a:r>
              <a:rPr lang="en-US" sz="750" b="1" dirty="0">
                <a:solidFill>
                  <a:srgbClr val="D9B48A"/>
                </a:solidFill>
                <a:latin typeface="Arial"/>
                <a:ea typeface="Arial"/>
                <a:cs typeface="Arial"/>
              </a:rPr>
              <a:t>PROPOSED</a:t>
            </a:r>
          </a:p>
          <a:p>
            <a:pPr algn="l" marL="0" indent="0">
              <a:lnSpc>
                <a:spcPct val="92000"/>
              </a:lnSpc>
              <a:buNone/>
            </a:pPr>
            <a:r>
              <a:rPr lang="en-US" sz="850" dirty="0">
                <a:solidFill>
                  <a:srgbClr val="F3E6D6"/>
                </a:solidFill>
                <a:latin typeface="Arial"/>
                <a:ea typeface="Arial"/>
                <a:cs typeface="Arial"/>
              </a:rPr>
              <a:t>Tail keep on error / latency; whole-session keep (G7); priority lane for critical</a:t>
            </a:r>
          </a:p>
        </p:txBody>
      </p:sp>
      <p:sp>
        <p:nvSpPr>
          <p:cNvPr id="183" name="gal 183"/>
          <p:cNvSpPr/>
          <p:nvPr/>
        </p:nvSpPr>
        <p:spPr>
          <a:xfrm>
            <a:off x="9784080" y="2331720"/>
            <a:ext cx="1856232" cy="731520"/>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50" b="1" dirty="0">
                <a:solidFill>
                  <a:srgbClr val="FFFFFF"/>
                </a:solidFill>
                <a:latin typeface="Arial"/>
                <a:ea typeface="Arial"/>
                <a:cs typeface="Arial"/>
              </a:rPr>
              <a:t>Galileo Service</a:t>
            </a:r>
          </a:p>
          <a:p>
            <a:pPr algn="l" marL="0" indent="0">
              <a:lnSpc>
                <a:spcPct val="95000"/>
              </a:lnSpc>
              <a:buNone/>
            </a:pPr>
            <a:r>
              <a:rPr lang="en-US" sz="850" dirty="0">
                <a:solidFill>
                  <a:srgbClr val="F3E6D6"/>
                </a:solidFill>
                <a:latin typeface="Arial"/>
                <a:ea typeface="Arial"/>
                <a:cs typeface="Arial"/>
              </a:rPr>
              <a:t>receives sampled traces</a:t>
            </a:r>
          </a:p>
        </p:txBody>
      </p:sp>
      <p:sp>
        <p:nvSpPr>
          <p:cNvPr id="184" name="gal 184"/>
          <p:cNvSpPr/>
          <p:nvPr/>
        </p:nvSpPr>
        <p:spPr>
          <a:xfrm>
            <a:off x="9784080" y="3429000"/>
            <a:ext cx="1856232" cy="1234440"/>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1050" b="1" dirty="0">
                <a:solidFill>
                  <a:srgbClr val="FFFFFF"/>
                </a:solidFill>
                <a:latin typeface="Arial"/>
                <a:ea typeface="Arial"/>
                <a:cs typeface="Arial"/>
              </a:rPr>
              <a:t>Galileo Observe</a:t>
            </a:r>
          </a:p>
          <a:p>
            <a:pPr algn="l" marL="0" indent="0">
              <a:lnSpc>
                <a:spcPct val="95000"/>
              </a:lnSpc>
              <a:buNone/>
            </a:pPr>
            <a:r>
              <a:rPr lang="en-US" sz="850" dirty="0">
                <a:solidFill>
                  <a:srgbClr val="F3E6D6"/>
                </a:solidFill>
                <a:latin typeface="Arial"/>
                <a:ea typeface="Arial"/>
                <a:cs typeface="Arial"/>
              </a:rPr>
              <a:t>bucket-templated metrics, traces, LLM + tool spans per use case</a:t>
            </a:r>
          </a:p>
        </p:txBody>
      </p:sp>
      <p:cxnSp>
        <p:nvCxnSpPr>
          <p:cNvPr id="185" name="g2 flow 185"/>
          <p:cNvCxnSpPr/>
          <p:nvPr/>
        </p:nvCxnSpPr>
        <p:spPr>
          <a:xfrm>
            <a:off x="9509760" y="2697480"/>
            <a:ext cx="274320" cy="0"/>
          </a:xfrm>
          <a:prstGeom prst="line">
            <a:avLst/>
          </a:prstGeom>
          <a:ln w="15875">
            <a:solidFill>
              <a:srgbClr val="EE0000"/>
            </a:solidFill>
            <a:tailEnd type="triangle" w="med" len="med"/>
          </a:ln>
        </p:spPr>
      </p:cxnSp>
      <p:cxnSp>
        <p:nvCxnSpPr>
          <p:cNvPr id="186" name="g2 flow 186"/>
          <p:cNvCxnSpPr/>
          <p:nvPr/>
        </p:nvCxnSpPr>
        <p:spPr>
          <a:xfrm>
            <a:off x="10712196" y="3063240"/>
            <a:ext cx="0" cy="365760"/>
          </a:xfrm>
          <a:prstGeom prst="line">
            <a:avLst/>
          </a:prstGeom>
          <a:ln w="15875">
            <a:solidFill>
              <a:srgbClr val="EE0000"/>
            </a:solidFill>
            <a:tailEnd type="triangle" w="med" len="med"/>
          </a:ln>
        </p:spPr>
      </p:cxnSp>
      <p:sp>
        <p:nvSpPr>
          <p:cNvPr id="187" name="gal 187"/>
          <p:cNvSpPr/>
          <p:nvPr/>
        </p:nvSpPr>
        <p:spPr>
          <a:xfrm>
            <a:off x="9784080" y="4864608"/>
            <a:ext cx="1856232" cy="484632"/>
          </a:xfrm>
          <a:prstGeom prst="roundRect">
            <a:avLst>
              <a:gd name="adj" fmla="val 10000"/>
            </a:avLst>
          </a:prstGeom>
          <a:solidFill>
            <a:srgbClr val="1E1412"/>
          </a:solidFill>
          <a:ln w="12700">
            <a:solidFill>
              <a:srgbClr val="D9B48A"/>
            </a:solidFill>
            <a:prstDash val="dash"/>
          </a:ln>
        </p:spPr>
        <p:txBody>
          <a:bodyPr wrap="square" lIns="91440" tIns="36576" rIns="73152" bIns="36576" rtlCol="0" anchor="ctr">
            <a:noAutofit/>
          </a:bodyPr>
          <a:lstStyle/>
          <a:p>
            <a:pPr algn="l" marL="0" indent="0">
              <a:lnSpc>
                <a:spcPct val="92000"/>
              </a:lnSpc>
              <a:buNone/>
            </a:pPr>
            <a:r>
              <a:rPr lang="en-US" sz="750" b="1" dirty="0">
                <a:solidFill>
                  <a:srgbClr val="D9B48A"/>
                </a:solidFill>
                <a:latin typeface="Arial"/>
                <a:ea typeface="Arial"/>
                <a:cs typeface="Arial"/>
              </a:rPr>
              <a:t>PROPOSED</a:t>
            </a:r>
          </a:p>
          <a:p>
            <a:pPr algn="l" marL="0" indent="0">
              <a:lnSpc>
                <a:spcPct val="92000"/>
              </a:lnSpc>
              <a:buNone/>
            </a:pPr>
            <a:r>
              <a:rPr lang="en-US" sz="850" dirty="0">
                <a:solidFill>
                  <a:srgbClr val="F3E6D6"/>
                </a:solidFill>
                <a:latin typeface="Arial"/>
                <a:ea typeface="Arial"/>
                <a:cs typeface="Arial"/>
              </a:rPr>
              <a:t>Alert routing to on-call; agent id from registry (G1)</a:t>
            </a:r>
          </a:p>
        </p:txBody>
      </p:sp>
      <p:sp>
        <p:nvSpPr>
          <p:cNvPr id="188" name="gal 188"/>
          <p:cNvSpPr/>
          <p:nvPr/>
        </p:nvSpPr>
        <p:spPr>
          <a:xfrm>
            <a:off x="548640" y="5486400"/>
            <a:ext cx="1463040" cy="749808"/>
          </a:xfrm>
          <a:prstGeom prst="rect">
            <a:avLst/>
          </a:prstGeom>
          <a:noFill/>
          <a:ln>
            <a:noFill/>
          </a:ln>
        </p:spPr>
        <p:txBody>
          <a:bodyPr wrap="square" lIns="0" tIns="0" rIns="0" bIns="0" rtlCol="0" anchor="ctr">
            <a:noAutofit/>
          </a:bodyPr>
          <a:lstStyle/>
          <a:p>
            <a:pPr algn="l" marL="0" indent="0">
              <a:buNone/>
            </a:pPr>
            <a:r>
              <a:rPr lang="en-US" sz="1000" b="1" dirty="0">
                <a:solidFill>
                  <a:srgbClr val="F5B700"/>
                </a:solidFill>
                <a:latin typeface="Arial"/>
                <a:ea typeface="Arial"/>
                <a:cs typeface="Arial"/>
              </a:rPr>
              <a:t>Onboarding doc</a:t>
            </a:r>
          </a:p>
          <a:p>
            <a:pPr algn="l" marL="0" indent="0">
              <a:buNone/>
            </a:pPr>
            <a:r>
              <a:rPr lang="en-US" sz="850" dirty="0">
                <a:solidFill>
                  <a:srgbClr val="F3E6D6"/>
                </a:solidFill>
                <a:latin typeface="Arial"/>
                <a:ea typeface="Arial"/>
                <a:cs typeface="Arial"/>
              </a:rPr>
              <a:t>fixes (manual OTel path)</a:t>
            </a:r>
          </a:p>
        </p:txBody>
      </p:sp>
      <p:sp>
        <p:nvSpPr>
          <p:cNvPr id="189" name="gal 189"/>
          <p:cNvSpPr/>
          <p:nvPr/>
        </p:nvSpPr>
        <p:spPr>
          <a:xfrm>
            <a:off x="2103120" y="5486400"/>
            <a:ext cx="2302002" cy="749808"/>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850" b="1" dirty="0">
                <a:solidFill>
                  <a:srgbClr val="F5B700"/>
                </a:solidFill>
                <a:latin typeface="Arial"/>
                <a:ea typeface="Arial"/>
                <a:cs typeface="Arial"/>
              </a:rPr>
              <a:t>headers=vegas_headers</a:t>
            </a:r>
          </a:p>
          <a:p>
            <a:pPr algn="l" marL="0" indent="0">
              <a:lnSpc>
                <a:spcPct val="95000"/>
              </a:lnSpc>
              <a:buNone/>
            </a:pPr>
            <a:r>
              <a:rPr lang="en-US" sz="850" dirty="0">
                <a:solidFill>
                  <a:srgbClr val="F3E6D6"/>
                </a:solidFill>
                <a:latin typeface="Arial"/>
                <a:ea typeface="Arial"/>
                <a:cs typeface="Arial"/>
              </a:rPr>
              <a:t>→ Kairos headers (rename only)</a:t>
            </a:r>
          </a:p>
        </p:txBody>
      </p:sp>
      <p:sp>
        <p:nvSpPr>
          <p:cNvPr id="190" name="gal 190"/>
          <p:cNvSpPr/>
          <p:nvPr/>
        </p:nvSpPr>
        <p:spPr>
          <a:xfrm>
            <a:off x="4514850" y="5486400"/>
            <a:ext cx="2302002" cy="749808"/>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850" b="1" dirty="0">
                <a:solidFill>
                  <a:srgbClr val="F5B700"/>
                </a:solidFill>
                <a:latin typeface="Arial"/>
                <a:ea typeface="Arial"/>
                <a:cs typeface="Arial"/>
              </a:rPr>
              <a:t>schedule_delay_millis=300_000</a:t>
            </a:r>
          </a:p>
          <a:p>
            <a:pPr algn="l" marL="0" indent="0">
              <a:lnSpc>
                <a:spcPct val="95000"/>
              </a:lnSpc>
              <a:buNone/>
            </a:pPr>
            <a:r>
              <a:rPr lang="en-US" sz="850" dirty="0">
                <a:solidFill>
                  <a:srgbClr val="F3E6D6"/>
                </a:solidFill>
                <a:latin typeface="Arial"/>
                <a:ea typeface="Arial"/>
                <a:cs typeface="Arial"/>
              </a:rPr>
              <a:t>5-min batch delay: too slow for critical; shorten</a:t>
            </a:r>
          </a:p>
        </p:txBody>
      </p:sp>
      <p:sp>
        <p:nvSpPr>
          <p:cNvPr id="191" name="gal 191"/>
          <p:cNvSpPr/>
          <p:nvPr/>
        </p:nvSpPr>
        <p:spPr>
          <a:xfrm>
            <a:off x="6926580" y="5486400"/>
            <a:ext cx="2302002" cy="749808"/>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850" b="1" dirty="0">
                <a:solidFill>
                  <a:srgbClr val="F5B700"/>
                </a:solidFill>
                <a:latin typeface="Arial"/>
                <a:ea typeface="Arial"/>
                <a:cs typeface="Arial"/>
              </a:rPr>
              <a:t>SESSION_ID printed, not sent</a:t>
            </a:r>
          </a:p>
          <a:p>
            <a:pPr algn="l" marL="0" indent="0">
              <a:lnSpc>
                <a:spcPct val="95000"/>
              </a:lnSpc>
              <a:buNone/>
            </a:pPr>
            <a:r>
              <a:rPr lang="en-US" sz="850" dirty="0">
                <a:solidFill>
                  <a:srgbClr val="F3E6D6"/>
                </a:solidFill>
                <a:latin typeface="Arial"/>
                <a:ea typeface="Arial"/>
                <a:cs typeface="Arial"/>
              </a:rPr>
              <a:t>→ set session.id on every span [43]</a:t>
            </a:r>
          </a:p>
        </p:txBody>
      </p:sp>
      <p:sp>
        <p:nvSpPr>
          <p:cNvPr id="192" name="gal 192"/>
          <p:cNvSpPr/>
          <p:nvPr/>
        </p:nvSpPr>
        <p:spPr>
          <a:xfrm>
            <a:off x="9338310" y="5486400"/>
            <a:ext cx="2302002" cy="749808"/>
          </a:xfrm>
          <a:prstGeom prst="roundRect">
            <a:avLst>
              <a:gd name="adj" fmla="val 10000"/>
            </a:avLst>
          </a:prstGeom>
          <a:solidFill>
            <a:srgbClr val="2A1A16"/>
          </a:solidFill>
          <a:ln w="12700">
            <a:solidFill>
              <a:srgbClr val="D9B48A"/>
            </a:solidFill>
          </a:ln>
        </p:spPr>
        <p:txBody>
          <a:bodyPr wrap="square" lIns="91440" tIns="36576" rIns="73152" bIns="36576" rtlCol="0" anchor="ctr">
            <a:noAutofit/>
          </a:bodyPr>
          <a:lstStyle/>
          <a:p>
            <a:pPr algn="l" marL="0" indent="0">
              <a:lnSpc>
                <a:spcPct val="95000"/>
              </a:lnSpc>
              <a:buNone/>
            </a:pPr>
            <a:r>
              <a:rPr lang="en-US" sz="850" b="1" dirty="0">
                <a:solidFill>
                  <a:srgbClr val="F5B700"/>
                </a:solidFill>
                <a:latin typeface="Arial"/>
                <a:ea typeface="Arial"/>
                <a:cs typeface="Arial"/>
              </a:rPr>
              <a:t>gen_ai.agent.id = "your-agent-id"</a:t>
            </a:r>
          </a:p>
          <a:p>
            <a:pPr algn="l" marL="0" indent="0">
              <a:lnSpc>
                <a:spcPct val="95000"/>
              </a:lnSpc>
              <a:buNone/>
            </a:pPr>
            <a:r>
              <a:rPr lang="en-US" sz="850" dirty="0">
                <a:solidFill>
                  <a:srgbClr val="F3E6D6"/>
                </a:solidFill>
                <a:latin typeface="Arial"/>
                <a:ea typeface="Arial"/>
                <a:cs typeface="Arial"/>
              </a:rPr>
              <a:t>→ issue from the agent registry (G1) [42]</a:t>
            </a:r>
          </a:p>
        </p:txBody>
      </p:sp>
      <p:sp>
        <p:nvSpPr>
          <p:cNvPr id="193" name="gal 193"/>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as described by the platform team and the onboarding doc (14 Oct 2026); VZAISDK = Kairos SDK. Storage and PII masking are handled in the backend and not shown. PROPOSED and Gn are our design; Gn = gap register, slide 35.</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06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metrics enablement</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Metrics enablement:</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one parameter picks the pack; custom metrics optional</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715768"/>
            <a:ext cx="1234440" cy="91440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Use case</a:t>
            </a:r>
          </a:p>
          <a:p>
            <a:pPr algn="l" marL="0" indent="0">
              <a:lnSpc>
                <a:spcPct val="93000"/>
              </a:lnSpc>
              <a:buNone/>
            </a:pPr>
            <a:r>
              <a:rPr lang="en-US" sz="850" dirty="0">
                <a:solidFill>
                  <a:srgbClr val="F3E6D6"/>
                </a:solidFill>
                <a:latin typeface="Arial"/>
                <a:ea typeface="Arial"/>
                <a:cs typeface="Arial"/>
              </a:rPr>
              <a:t>P1 · P2 · P3</a:t>
            </a:r>
          </a:p>
        </p:txBody>
      </p:sp>
      <p:sp>
        <p:nvSpPr>
          <p:cNvPr id="162" name="gal 162"/>
          <p:cNvSpPr/>
          <p:nvPr/>
        </p:nvSpPr>
        <p:spPr>
          <a:xfrm>
            <a:off x="2011680" y="2578608"/>
            <a:ext cx="17373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Bucket parameter</a:t>
            </a:r>
          </a:p>
          <a:p>
            <a:pPr algn="l" marL="0" indent="0">
              <a:lnSpc>
                <a:spcPct val="93000"/>
              </a:lnSpc>
              <a:buNone/>
            </a:pPr>
            <a:r>
              <a:rPr lang="en-US" sz="850" b="1" dirty="0">
                <a:solidFill>
                  <a:srgbClr val="F5B700"/>
                </a:solidFill>
                <a:latin typeface="Arial"/>
                <a:ea typeface="Arial"/>
                <a:cs typeface="Arial"/>
              </a:rPr>
              <a:t>user-facing · agentic · non-agent GenAI</a:t>
            </a:r>
          </a:p>
          <a:p>
            <a:pPr algn="l" marL="0" indent="0">
              <a:lnSpc>
                <a:spcPct val="93000"/>
              </a:lnSpc>
              <a:buNone/>
            </a:pPr>
            <a:r>
              <a:rPr lang="en-US" sz="850" dirty="0">
                <a:solidFill>
                  <a:srgbClr val="F3E6D6"/>
                </a:solidFill>
                <a:latin typeface="Arial"/>
                <a:ea typeface="Arial"/>
                <a:cs typeface="Arial"/>
              </a:rPr>
              <a:t>passed by the team with its traffic</a:t>
            </a:r>
          </a:p>
        </p:txBody>
      </p:sp>
      <p:sp>
        <p:nvSpPr>
          <p:cNvPr id="163" name="gal 163"/>
          <p:cNvSpPr/>
          <p:nvPr/>
        </p:nvSpPr>
        <p:spPr>
          <a:xfrm>
            <a:off x="3977640" y="2578608"/>
            <a:ext cx="141732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Common Logging Service</a:t>
            </a:r>
          </a:p>
          <a:p>
            <a:pPr algn="l" marL="0" indent="0">
              <a:lnSpc>
                <a:spcPct val="93000"/>
              </a:lnSpc>
              <a:buNone/>
            </a:pPr>
            <a:r>
              <a:rPr lang="en-US" sz="850" dirty="0">
                <a:solidFill>
                  <a:srgbClr val="F3E6D6"/>
                </a:solidFill>
                <a:latin typeface="Arial"/>
                <a:ea typeface="Arial"/>
                <a:cs typeface="Arial"/>
              </a:rPr>
              <a:t>then sampling: default or dashboard rate</a:t>
            </a:r>
          </a:p>
        </p:txBody>
      </p:sp>
      <p:sp>
        <p:nvSpPr>
          <p:cNvPr id="164" name="gal 164"/>
          <p:cNvSpPr/>
          <p:nvPr/>
        </p:nvSpPr>
        <p:spPr>
          <a:xfrm>
            <a:off x="5623560" y="2578608"/>
            <a:ext cx="15087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Service</a:t>
            </a:r>
          </a:p>
          <a:p>
            <a:pPr algn="l" marL="0" indent="0">
              <a:lnSpc>
                <a:spcPct val="93000"/>
              </a:lnSpc>
              <a:buNone/>
            </a:pPr>
            <a:r>
              <a:rPr lang="en-US" sz="850" dirty="0">
                <a:solidFill>
                  <a:srgbClr val="F3E6D6"/>
                </a:solidFill>
                <a:latin typeface="Arial"/>
                <a:ea typeface="Arial"/>
                <a:cs typeface="Arial"/>
              </a:rPr>
              <a:t>computes the bucket’s metric pack on sampled traces</a:t>
            </a:r>
          </a:p>
        </p:txBody>
      </p:sp>
      <p:sp>
        <p:nvSpPr>
          <p:cNvPr id="165" name="gal 165"/>
          <p:cNvSpPr/>
          <p:nvPr/>
        </p:nvSpPr>
        <p:spPr>
          <a:xfrm>
            <a:off x="5623560" y="3822192"/>
            <a:ext cx="1508760" cy="384048"/>
          </a:xfrm>
          <a:prstGeom prst="rect">
            <a:avLst/>
          </a:prstGeom>
          <a:noFill/>
          <a:ln>
            <a:noFill/>
          </a:ln>
        </p:spPr>
        <p:txBody>
          <a:bodyPr wrap="square" lIns="0" tIns="0" rIns="0" bIns="0" rtlCol="0" anchor="t">
            <a:noAutofit/>
          </a:bodyPr>
          <a:lstStyle/>
          <a:p>
            <a:pPr algn="l" marL="0" indent="0">
              <a:lnSpc>
                <a:spcPct val="92000"/>
              </a:lnSpc>
              <a:buNone/>
            </a:pPr>
            <a:r>
              <a:rPr lang="en-US" sz="800" dirty="0">
                <a:solidFill>
                  <a:srgbClr val="D9B48A"/>
                </a:solidFill>
                <a:latin typeface="Arial"/>
                <a:ea typeface="Arial"/>
                <a:cs typeface="Arial"/>
              </a:rPr>
              <a:t>LLM-based metrics need an LLM integration or Luna-2 [44]</a:t>
            </a:r>
          </a:p>
        </p:txBody>
      </p:sp>
      <p:cxnSp>
        <p:nvCxnSpPr>
          <p:cNvPr id="166" name="g2 flow 166"/>
          <p:cNvCxnSpPr/>
          <p:nvPr/>
        </p:nvCxnSpPr>
        <p:spPr>
          <a:xfrm>
            <a:off x="1783080" y="3172968"/>
            <a:ext cx="228600" cy="0"/>
          </a:xfrm>
          <a:prstGeom prst="line">
            <a:avLst/>
          </a:prstGeom>
          <a:ln w="15875">
            <a:solidFill>
              <a:srgbClr val="EE0000"/>
            </a:solidFill>
            <a:tailEnd type="triangle" w="med" len="med"/>
          </a:ln>
        </p:spPr>
      </p:cxnSp>
      <p:cxnSp>
        <p:nvCxnSpPr>
          <p:cNvPr id="167" name="g2 flow 167"/>
          <p:cNvCxnSpPr/>
          <p:nvPr/>
        </p:nvCxnSpPr>
        <p:spPr>
          <a:xfrm>
            <a:off x="3749040" y="3172968"/>
            <a:ext cx="228600" cy="0"/>
          </a:xfrm>
          <a:prstGeom prst="line">
            <a:avLst/>
          </a:prstGeom>
          <a:ln w="15875">
            <a:solidFill>
              <a:srgbClr val="EE0000"/>
            </a:solidFill>
            <a:tailEnd type="triangle" w="med" len="med"/>
          </a:ln>
        </p:spPr>
      </p:cxnSp>
      <p:cxnSp>
        <p:nvCxnSpPr>
          <p:cNvPr id="168" name="g2 flow 168"/>
          <p:cNvCxnSpPr/>
          <p:nvPr/>
        </p:nvCxnSpPr>
        <p:spPr>
          <a:xfrm>
            <a:off x="5394960" y="3172968"/>
            <a:ext cx="228600" cy="0"/>
          </a:xfrm>
          <a:prstGeom prst="line">
            <a:avLst/>
          </a:prstGeom>
          <a:ln w="15875">
            <a:solidFill>
              <a:srgbClr val="EE0000"/>
            </a:solidFill>
            <a:tailEnd type="triangle" w="med" len="med"/>
          </a:ln>
        </p:spPr>
      </p:cxnSp>
      <p:sp>
        <p:nvSpPr>
          <p:cNvPr id="169" name="gal 169"/>
          <p:cNvSpPr/>
          <p:nvPr/>
        </p:nvSpPr>
        <p:spPr>
          <a:xfrm>
            <a:off x="7406640" y="2286000"/>
            <a:ext cx="2743200" cy="512064"/>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950" b="1" dirty="0">
                <a:solidFill>
                  <a:srgbClr val="F5B700"/>
                </a:solidFill>
                <a:latin typeface="Arial"/>
                <a:ea typeface="Arial"/>
                <a:cs typeface="Arial"/>
              </a:rPr>
              <a:t>User-facing pack</a:t>
            </a:r>
          </a:p>
          <a:p>
            <a:pPr algn="l" marL="0" indent="0">
              <a:lnSpc>
                <a:spcPct val="90000"/>
              </a:lnSpc>
              <a:buNone/>
            </a:pPr>
            <a:r>
              <a:rPr lang="en-US" sz="800" dirty="0">
                <a:solidFill>
                  <a:srgbClr val="F3E6D6"/>
                </a:solidFill>
                <a:latin typeface="Arial"/>
                <a:ea typeface="Arial"/>
                <a:cs typeface="Arial"/>
              </a:rPr>
              <a:t>Conversation Quality · Tone · Toxicity · Prompt Injection · PII</a:t>
            </a:r>
          </a:p>
        </p:txBody>
      </p:sp>
      <p:cxnSp>
        <p:nvCxnSpPr>
          <p:cNvPr id="170" name="g2 flow 170"/>
          <p:cNvCxnSpPr/>
          <p:nvPr/>
        </p:nvCxnSpPr>
        <p:spPr>
          <a:xfrm>
            <a:off x="7269480" y="2542032"/>
            <a:ext cx="137160" cy="0"/>
          </a:xfrm>
          <a:prstGeom prst="line">
            <a:avLst/>
          </a:prstGeom>
          <a:ln w="15875">
            <a:solidFill>
              <a:srgbClr val="EE0000"/>
            </a:solidFill>
            <a:tailEnd type="triangle" w="med" len="med"/>
          </a:ln>
        </p:spPr>
      </p:cxnSp>
      <p:sp>
        <p:nvSpPr>
          <p:cNvPr id="171" name="gal 171"/>
          <p:cNvSpPr/>
          <p:nvPr/>
        </p:nvSpPr>
        <p:spPr>
          <a:xfrm>
            <a:off x="7406640" y="2852928"/>
            <a:ext cx="2743200" cy="512064"/>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950" b="1" dirty="0">
                <a:solidFill>
                  <a:srgbClr val="F5B700"/>
                </a:solidFill>
                <a:latin typeface="Arial"/>
                <a:ea typeface="Arial"/>
                <a:cs typeface="Arial"/>
              </a:rPr>
              <a:t>Agentic pack</a:t>
            </a:r>
          </a:p>
          <a:p>
            <a:pPr algn="l" marL="0" indent="0">
              <a:lnSpc>
                <a:spcPct val="90000"/>
              </a:lnSpc>
              <a:buNone/>
            </a:pPr>
            <a:r>
              <a:rPr lang="en-US" sz="800" dirty="0">
                <a:solidFill>
                  <a:srgbClr val="F3E6D6"/>
                </a:solidFill>
                <a:latin typeface="Arial"/>
                <a:ea typeface="Arial"/>
                <a:cs typeface="Arial"/>
              </a:rPr>
              <a:t>Action Completion · Action Advancement · Tool Selection Quality · Tool Error · Agent Flow · Agent Efficiency</a:t>
            </a:r>
          </a:p>
        </p:txBody>
      </p:sp>
      <p:cxnSp>
        <p:nvCxnSpPr>
          <p:cNvPr id="172" name="g2 flow 172"/>
          <p:cNvCxnSpPr/>
          <p:nvPr/>
        </p:nvCxnSpPr>
        <p:spPr>
          <a:xfrm>
            <a:off x="7269480" y="3108960"/>
            <a:ext cx="137160" cy="0"/>
          </a:xfrm>
          <a:prstGeom prst="line">
            <a:avLst/>
          </a:prstGeom>
          <a:ln w="15875">
            <a:solidFill>
              <a:srgbClr val="EE0000"/>
            </a:solidFill>
            <a:tailEnd type="triangle" w="med" len="med"/>
          </a:ln>
        </p:spPr>
      </p:cxnSp>
      <p:sp>
        <p:nvSpPr>
          <p:cNvPr id="173" name="gal 173"/>
          <p:cNvSpPr/>
          <p:nvPr/>
        </p:nvSpPr>
        <p:spPr>
          <a:xfrm>
            <a:off x="7406640" y="3419856"/>
            <a:ext cx="2743200" cy="512064"/>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950" b="1" dirty="0">
                <a:solidFill>
                  <a:srgbClr val="F5B700"/>
                </a:solidFill>
                <a:latin typeface="Arial"/>
                <a:ea typeface="Arial"/>
                <a:cs typeface="Arial"/>
              </a:rPr>
              <a:t>Non-agent GenAI pack</a:t>
            </a:r>
          </a:p>
          <a:p>
            <a:pPr algn="l" marL="0" indent="0">
              <a:lnSpc>
                <a:spcPct val="90000"/>
              </a:lnSpc>
              <a:buNone/>
            </a:pPr>
            <a:r>
              <a:rPr lang="en-US" sz="800" dirty="0">
                <a:solidFill>
                  <a:srgbClr val="F3E6D6"/>
                </a:solidFill>
                <a:latin typeface="Arial"/>
                <a:ea typeface="Arial"/>
                <a:cs typeface="Arial"/>
              </a:rPr>
              <a:t>Correctness · Instruction Adherence · Context Adherence · Completeness</a:t>
            </a:r>
          </a:p>
        </p:txBody>
      </p:sp>
      <p:cxnSp>
        <p:nvCxnSpPr>
          <p:cNvPr id="174" name="g2 flow 174"/>
          <p:cNvCxnSpPr/>
          <p:nvPr/>
        </p:nvCxnSpPr>
        <p:spPr>
          <a:xfrm>
            <a:off x="7269480" y="3675888"/>
            <a:ext cx="137160" cy="0"/>
          </a:xfrm>
          <a:prstGeom prst="line">
            <a:avLst/>
          </a:prstGeom>
          <a:ln w="15875">
            <a:solidFill>
              <a:srgbClr val="EE0000"/>
            </a:solidFill>
            <a:tailEnd type="triangle" w="med" len="med"/>
          </a:ln>
        </p:spPr>
      </p:cxnSp>
      <p:cxnSp>
        <p:nvCxnSpPr>
          <p:cNvPr id="175" name="g2 flow 175"/>
          <p:cNvCxnSpPr/>
          <p:nvPr/>
        </p:nvCxnSpPr>
        <p:spPr>
          <a:xfrm>
            <a:off x="7132320" y="3172968"/>
            <a:ext cx="137160" cy="0"/>
          </a:xfrm>
          <a:prstGeom prst="line">
            <a:avLst/>
          </a:prstGeom>
          <a:ln w="15875">
            <a:solidFill>
              <a:srgbClr val="EE0000"/>
            </a:solidFill>
          </a:ln>
        </p:spPr>
      </p:cxnSp>
      <p:cxnSp>
        <p:nvCxnSpPr>
          <p:cNvPr id="176" name="g2 flow 176"/>
          <p:cNvCxnSpPr/>
          <p:nvPr/>
        </p:nvCxnSpPr>
        <p:spPr>
          <a:xfrm>
            <a:off x="7269480" y="2542032"/>
            <a:ext cx="0" cy="1133856"/>
          </a:xfrm>
          <a:prstGeom prst="line">
            <a:avLst/>
          </a:prstGeom>
          <a:ln w="15875">
            <a:solidFill>
              <a:srgbClr val="EE0000"/>
            </a:solidFill>
          </a:ln>
        </p:spPr>
      </p:cxnSp>
      <p:sp>
        <p:nvSpPr>
          <p:cNvPr id="177" name="gal 177"/>
          <p:cNvSpPr/>
          <p:nvPr/>
        </p:nvSpPr>
        <p:spPr>
          <a:xfrm>
            <a:off x="7406640" y="4005072"/>
            <a:ext cx="2743200" cy="329184"/>
          </a:xfrm>
          <a:prstGeom prst="rect">
            <a:avLst/>
          </a:prstGeom>
          <a:noFill/>
          <a:ln>
            <a:noFill/>
          </a:ln>
        </p:spPr>
        <p:txBody>
          <a:bodyPr wrap="square" lIns="0" tIns="0" rIns="0" bIns="0" rtlCol="0" anchor="t">
            <a:noAutofit/>
          </a:bodyPr>
          <a:lstStyle/>
          <a:p>
            <a:pPr algn="l" marL="0" indent="0">
              <a:lnSpc>
                <a:spcPct val="92000"/>
              </a:lnSpc>
              <a:buNone/>
            </a:pPr>
            <a:r>
              <a:rPr lang="en-US" sz="800" dirty="0">
                <a:solidFill>
                  <a:srgbClr val="D9B48A"/>
                </a:solidFill>
                <a:latin typeface="Arial"/>
                <a:ea typeface="Arial"/>
                <a:cs typeface="Arial"/>
              </a:rPr>
              <a:t>Pack = template set by the platform team; names shown are representative Galileo out-of-the-box metrics [45]</a:t>
            </a:r>
          </a:p>
        </p:txBody>
      </p:sp>
      <p:sp>
        <p:nvSpPr>
          <p:cNvPr id="178" name="gal 178"/>
          <p:cNvSpPr/>
          <p:nvPr/>
        </p:nvSpPr>
        <p:spPr>
          <a:xfrm>
            <a:off x="10424160" y="2441448"/>
            <a:ext cx="1216152" cy="146304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Observe</a:t>
            </a:r>
          </a:p>
          <a:p>
            <a:pPr algn="l" marL="0" indent="0">
              <a:lnSpc>
                <a:spcPct val="93000"/>
              </a:lnSpc>
              <a:buNone/>
            </a:pPr>
            <a:r>
              <a:rPr lang="en-US" sz="850" dirty="0">
                <a:solidFill>
                  <a:srgbClr val="F3E6D6"/>
                </a:solidFill>
                <a:latin typeface="Arial"/>
                <a:ea typeface="Arial"/>
                <a:cs typeface="Arial"/>
              </a:rPr>
              <a:t>pack scores per trace, span or session, by use case</a:t>
            </a:r>
          </a:p>
        </p:txBody>
      </p:sp>
      <p:cxnSp>
        <p:nvCxnSpPr>
          <p:cNvPr id="179" name="g2 flow 179"/>
          <p:cNvCxnSpPr/>
          <p:nvPr/>
        </p:nvCxnSpPr>
        <p:spPr>
          <a:xfrm>
            <a:off x="10149840" y="2542032"/>
            <a:ext cx="274320" cy="0"/>
          </a:xfrm>
          <a:prstGeom prst="line">
            <a:avLst/>
          </a:prstGeom>
          <a:ln w="15875">
            <a:solidFill>
              <a:srgbClr val="EE0000"/>
            </a:solidFill>
            <a:tailEnd type="triangle" w="med" len="med"/>
          </a:ln>
        </p:spPr>
      </p:cxnSp>
      <p:cxnSp>
        <p:nvCxnSpPr>
          <p:cNvPr id="180" name="g2 flow 180"/>
          <p:cNvCxnSpPr/>
          <p:nvPr/>
        </p:nvCxnSpPr>
        <p:spPr>
          <a:xfrm>
            <a:off x="10149840" y="3108960"/>
            <a:ext cx="274320" cy="0"/>
          </a:xfrm>
          <a:prstGeom prst="line">
            <a:avLst/>
          </a:prstGeom>
          <a:ln w="15875">
            <a:solidFill>
              <a:srgbClr val="EE0000"/>
            </a:solidFill>
            <a:tailEnd type="triangle" w="med" len="med"/>
          </a:ln>
        </p:spPr>
      </p:cxnSp>
      <p:cxnSp>
        <p:nvCxnSpPr>
          <p:cNvPr id="181" name="g2 flow 181"/>
          <p:cNvCxnSpPr/>
          <p:nvPr/>
        </p:nvCxnSpPr>
        <p:spPr>
          <a:xfrm>
            <a:off x="10149840" y="3675888"/>
            <a:ext cx="274320" cy="0"/>
          </a:xfrm>
          <a:prstGeom prst="line">
            <a:avLst/>
          </a:prstGeom>
          <a:ln w="15875">
            <a:solidFill>
              <a:srgbClr val="EE0000"/>
            </a:solidFill>
            <a:tailEnd type="triangle" w="med" len="med"/>
          </a:ln>
        </p:spPr>
      </p:cxnSp>
      <p:sp>
        <p:nvSpPr>
          <p:cNvPr id="182" name="gal 182"/>
          <p:cNvSpPr/>
          <p:nvPr/>
        </p:nvSpPr>
        <p:spPr>
          <a:xfrm>
            <a:off x="548640" y="4041648"/>
            <a:ext cx="5486400" cy="182880"/>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OPTION  ·  use-case-specific metrics (Galileo supports this [46][47]; our onboarding process is a proposal)</a:t>
            </a:r>
          </a:p>
        </p:txBody>
      </p:sp>
      <p:sp>
        <p:nvSpPr>
          <p:cNvPr id="183" name="gal 183"/>
          <p:cNvSpPr/>
          <p:nvPr/>
        </p:nvSpPr>
        <p:spPr>
          <a:xfrm>
            <a:off x="548640" y="4315968"/>
            <a:ext cx="146304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Pack not enough?</a:t>
            </a:r>
          </a:p>
          <a:p>
            <a:pPr algn="l" marL="0" indent="0">
              <a:lnSpc>
                <a:spcPct val="93000"/>
              </a:lnSpc>
              <a:buNone/>
            </a:pPr>
            <a:r>
              <a:rPr lang="en-US" sz="850" dirty="0">
                <a:solidFill>
                  <a:srgbClr val="F3E6D6"/>
                </a:solidFill>
                <a:latin typeface="Arial"/>
                <a:ea typeface="Arial"/>
                <a:cs typeface="Arial"/>
              </a:rPr>
              <a:t>domain rule, policy or KPI the pack misses</a:t>
            </a:r>
          </a:p>
        </p:txBody>
      </p:sp>
      <p:sp>
        <p:nvSpPr>
          <p:cNvPr id="184" name="gal 184"/>
          <p:cNvSpPr/>
          <p:nvPr/>
        </p:nvSpPr>
        <p:spPr>
          <a:xfrm>
            <a:off x="2240280" y="4270248"/>
            <a:ext cx="2240280" cy="47548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900" b="1" dirty="0">
                <a:solidFill>
                  <a:srgbClr val="FFFFFF"/>
                </a:solidFill>
                <a:latin typeface="Arial"/>
                <a:ea typeface="Arial"/>
                <a:cs typeface="Arial"/>
              </a:rPr>
              <a:t>Custom LLM-as-a-judge [46]</a:t>
            </a:r>
          </a:p>
          <a:p>
            <a:pPr algn="l" marL="0" indent="0">
              <a:lnSpc>
                <a:spcPct val="90000"/>
              </a:lnSpc>
              <a:buNone/>
            </a:pPr>
            <a:r>
              <a:rPr lang="en-US" sz="850" dirty="0">
                <a:solidFill>
                  <a:srgbClr val="F3E6D6"/>
                </a:solidFill>
                <a:latin typeface="Arial"/>
                <a:ea typeface="Arial"/>
                <a:cs typeface="Arial"/>
              </a:rPr>
              <a:t>prompt + rubric; boolean, category, count, score, %</a:t>
            </a:r>
          </a:p>
        </p:txBody>
      </p:sp>
      <p:sp>
        <p:nvSpPr>
          <p:cNvPr id="185" name="gal 185"/>
          <p:cNvSpPr/>
          <p:nvPr/>
        </p:nvSpPr>
        <p:spPr>
          <a:xfrm>
            <a:off x="2240280" y="4818888"/>
            <a:ext cx="2240280" cy="47548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900" b="1" dirty="0">
                <a:solidFill>
                  <a:srgbClr val="FFFFFF"/>
                </a:solidFill>
                <a:latin typeface="Arial"/>
                <a:ea typeface="Arial"/>
                <a:cs typeface="Arial"/>
              </a:rPr>
              <a:t>Custom code-based metric [47]</a:t>
            </a:r>
          </a:p>
          <a:p>
            <a:pPr algn="l" marL="0" indent="0">
              <a:lnSpc>
                <a:spcPct val="90000"/>
              </a:lnSpc>
              <a:buNone/>
            </a:pPr>
            <a:r>
              <a:rPr lang="en-US" sz="850" dirty="0">
                <a:solidFill>
                  <a:srgbClr val="F3E6D6"/>
                </a:solidFill>
                <a:latin typeface="Arial"/>
                <a:ea typeface="Arial"/>
                <a:cs typeface="Arial"/>
              </a:rPr>
              <a:t>Python scorer, registered in Galileo</a:t>
            </a:r>
          </a:p>
        </p:txBody>
      </p:sp>
      <p:sp>
        <p:nvSpPr>
          <p:cNvPr id="186" name="gal 186"/>
          <p:cNvSpPr/>
          <p:nvPr/>
        </p:nvSpPr>
        <p:spPr>
          <a:xfrm>
            <a:off x="4709160" y="4315968"/>
            <a:ext cx="192024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Metrics hub</a:t>
            </a:r>
          </a:p>
          <a:p>
            <a:pPr algn="l" marL="0" indent="0">
              <a:lnSpc>
                <a:spcPct val="93000"/>
              </a:lnSpc>
              <a:buNone/>
            </a:pPr>
            <a:r>
              <a:rPr lang="en-US" sz="850" dirty="0">
                <a:solidFill>
                  <a:srgbClr val="F3E6D6"/>
                </a:solidFill>
                <a:latin typeface="Arial"/>
                <a:ea typeface="Arial"/>
                <a:cs typeface="Arial"/>
              </a:rPr>
              <a:t>create, test on logs or a labelled set, version</a:t>
            </a:r>
          </a:p>
        </p:txBody>
      </p:sp>
      <p:sp>
        <p:nvSpPr>
          <p:cNvPr id="187" name="gal 187"/>
          <p:cNvSpPr/>
          <p:nvPr/>
        </p:nvSpPr>
        <p:spPr>
          <a:xfrm>
            <a:off x="6858000" y="4315968"/>
            <a:ext cx="214884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Enable on the use case’s Log Stream</a:t>
            </a:r>
          </a:p>
          <a:p>
            <a:pPr algn="l" marL="0" indent="0">
              <a:lnSpc>
                <a:spcPct val="93000"/>
              </a:lnSpc>
              <a:buNone/>
            </a:pPr>
            <a:r>
              <a:rPr lang="en-US" sz="850" dirty="0">
                <a:solidFill>
                  <a:srgbClr val="F3E6D6"/>
                </a:solidFill>
                <a:latin typeface="Arial"/>
                <a:ea typeface="Arial"/>
                <a:cs typeface="Arial"/>
              </a:rPr>
              <a:t>scoped per use case; pin a version or follow default</a:t>
            </a:r>
          </a:p>
        </p:txBody>
      </p:sp>
      <p:sp>
        <p:nvSpPr>
          <p:cNvPr id="188" name="gal 188"/>
          <p:cNvSpPr/>
          <p:nvPr/>
        </p:nvSpPr>
        <p:spPr>
          <a:xfrm>
            <a:off x="9235440" y="4315968"/>
            <a:ext cx="105156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Applies to</a:t>
            </a:r>
          </a:p>
          <a:p>
            <a:pPr algn="l" marL="0" indent="0">
              <a:lnSpc>
                <a:spcPct val="93000"/>
              </a:lnSpc>
              <a:buNone/>
            </a:pPr>
            <a:r>
              <a:rPr lang="en-US" sz="850" dirty="0">
                <a:solidFill>
                  <a:srgbClr val="F3E6D6"/>
                </a:solidFill>
                <a:latin typeface="Arial"/>
                <a:ea typeface="Arial"/>
                <a:cs typeface="Arial"/>
              </a:rPr>
              <a:t>session · trace · LLM / tool span</a:t>
            </a:r>
          </a:p>
        </p:txBody>
      </p:sp>
      <p:cxnSp>
        <p:nvCxnSpPr>
          <p:cNvPr id="189" name="g2 flow 189"/>
          <p:cNvCxnSpPr/>
          <p:nvPr/>
        </p:nvCxnSpPr>
        <p:spPr>
          <a:xfrm>
            <a:off x="2011680" y="4773168"/>
            <a:ext cx="109728" cy="0"/>
          </a:xfrm>
          <a:prstGeom prst="line">
            <a:avLst/>
          </a:prstGeom>
          <a:ln w="15875">
            <a:solidFill>
              <a:srgbClr val="EE0000"/>
            </a:solidFill>
          </a:ln>
        </p:spPr>
      </p:cxnSp>
      <p:cxnSp>
        <p:nvCxnSpPr>
          <p:cNvPr id="190" name="g2 flow 190"/>
          <p:cNvCxnSpPr/>
          <p:nvPr/>
        </p:nvCxnSpPr>
        <p:spPr>
          <a:xfrm>
            <a:off x="2121408" y="4507992"/>
            <a:ext cx="0" cy="548640"/>
          </a:xfrm>
          <a:prstGeom prst="line">
            <a:avLst/>
          </a:prstGeom>
          <a:ln w="15875">
            <a:solidFill>
              <a:srgbClr val="EE0000"/>
            </a:solidFill>
          </a:ln>
        </p:spPr>
      </p:cxnSp>
      <p:cxnSp>
        <p:nvCxnSpPr>
          <p:cNvPr id="191" name="g2 flow 191"/>
          <p:cNvCxnSpPr/>
          <p:nvPr/>
        </p:nvCxnSpPr>
        <p:spPr>
          <a:xfrm>
            <a:off x="2121408" y="4507992"/>
            <a:ext cx="118872" cy="0"/>
          </a:xfrm>
          <a:prstGeom prst="line">
            <a:avLst/>
          </a:prstGeom>
          <a:ln w="15875">
            <a:solidFill>
              <a:srgbClr val="EE0000"/>
            </a:solidFill>
            <a:tailEnd type="triangle" w="med" len="med"/>
          </a:ln>
        </p:spPr>
      </p:cxnSp>
      <p:cxnSp>
        <p:nvCxnSpPr>
          <p:cNvPr id="192" name="g2 flow 192"/>
          <p:cNvCxnSpPr/>
          <p:nvPr/>
        </p:nvCxnSpPr>
        <p:spPr>
          <a:xfrm>
            <a:off x="2121408" y="5056632"/>
            <a:ext cx="118872" cy="0"/>
          </a:xfrm>
          <a:prstGeom prst="line">
            <a:avLst/>
          </a:prstGeom>
          <a:ln w="15875">
            <a:solidFill>
              <a:srgbClr val="EE0000"/>
            </a:solidFill>
            <a:tailEnd type="triangle" w="med" len="med"/>
          </a:ln>
        </p:spPr>
      </p:cxnSp>
      <p:cxnSp>
        <p:nvCxnSpPr>
          <p:cNvPr id="193" name="g2 flow 193"/>
          <p:cNvCxnSpPr/>
          <p:nvPr/>
        </p:nvCxnSpPr>
        <p:spPr>
          <a:xfrm>
            <a:off x="4480560" y="4507992"/>
            <a:ext cx="109728" cy="0"/>
          </a:xfrm>
          <a:prstGeom prst="line">
            <a:avLst/>
          </a:prstGeom>
          <a:ln w="15875">
            <a:solidFill>
              <a:srgbClr val="EE0000"/>
            </a:solidFill>
          </a:ln>
        </p:spPr>
      </p:cxnSp>
      <p:cxnSp>
        <p:nvCxnSpPr>
          <p:cNvPr id="194" name="g2 flow 194"/>
          <p:cNvCxnSpPr/>
          <p:nvPr/>
        </p:nvCxnSpPr>
        <p:spPr>
          <a:xfrm>
            <a:off x="4480560" y="5056632"/>
            <a:ext cx="109728" cy="0"/>
          </a:xfrm>
          <a:prstGeom prst="line">
            <a:avLst/>
          </a:prstGeom>
          <a:ln w="15875">
            <a:solidFill>
              <a:srgbClr val="EE0000"/>
            </a:solidFill>
          </a:ln>
        </p:spPr>
      </p:cxnSp>
      <p:cxnSp>
        <p:nvCxnSpPr>
          <p:cNvPr id="195" name="g2 flow 195"/>
          <p:cNvCxnSpPr/>
          <p:nvPr/>
        </p:nvCxnSpPr>
        <p:spPr>
          <a:xfrm>
            <a:off x="4590288" y="4507992"/>
            <a:ext cx="0" cy="548640"/>
          </a:xfrm>
          <a:prstGeom prst="line">
            <a:avLst/>
          </a:prstGeom>
          <a:ln w="15875">
            <a:solidFill>
              <a:srgbClr val="EE0000"/>
            </a:solidFill>
          </a:ln>
        </p:spPr>
      </p:cxnSp>
      <p:cxnSp>
        <p:nvCxnSpPr>
          <p:cNvPr id="196" name="g2 flow 196"/>
          <p:cNvCxnSpPr/>
          <p:nvPr/>
        </p:nvCxnSpPr>
        <p:spPr>
          <a:xfrm>
            <a:off x="4590288" y="4773168"/>
            <a:ext cx="118872" cy="0"/>
          </a:xfrm>
          <a:prstGeom prst="line">
            <a:avLst/>
          </a:prstGeom>
          <a:ln w="15875">
            <a:solidFill>
              <a:srgbClr val="EE0000"/>
            </a:solidFill>
            <a:tailEnd type="triangle" w="med" len="med"/>
          </a:ln>
        </p:spPr>
      </p:cxnSp>
      <p:cxnSp>
        <p:nvCxnSpPr>
          <p:cNvPr id="197" name="g2 flow 197"/>
          <p:cNvCxnSpPr/>
          <p:nvPr/>
        </p:nvCxnSpPr>
        <p:spPr>
          <a:xfrm>
            <a:off x="6629400" y="4773168"/>
            <a:ext cx="228600" cy="0"/>
          </a:xfrm>
          <a:prstGeom prst="line">
            <a:avLst/>
          </a:prstGeom>
          <a:ln w="15875">
            <a:solidFill>
              <a:srgbClr val="EE0000"/>
            </a:solidFill>
            <a:tailEnd type="triangle" w="med" len="med"/>
          </a:ln>
        </p:spPr>
      </p:cxnSp>
      <p:cxnSp>
        <p:nvCxnSpPr>
          <p:cNvPr id="198" name="g2 flow 198"/>
          <p:cNvCxnSpPr/>
          <p:nvPr/>
        </p:nvCxnSpPr>
        <p:spPr>
          <a:xfrm>
            <a:off x="9006840" y="4773168"/>
            <a:ext cx="228600" cy="0"/>
          </a:xfrm>
          <a:prstGeom prst="line">
            <a:avLst/>
          </a:prstGeom>
          <a:ln w="15875">
            <a:solidFill>
              <a:srgbClr val="EE0000"/>
            </a:solidFill>
            <a:tailEnd type="triangle" w="med" len="med"/>
          </a:ln>
        </p:spPr>
      </p:cxnSp>
      <p:cxnSp>
        <p:nvCxnSpPr>
          <p:cNvPr id="199" name="g2 flow 199"/>
          <p:cNvCxnSpPr/>
          <p:nvPr/>
        </p:nvCxnSpPr>
        <p:spPr>
          <a:xfrm>
            <a:off x="10287000" y="4773168"/>
            <a:ext cx="740664" cy="0"/>
          </a:xfrm>
          <a:prstGeom prst="line">
            <a:avLst/>
          </a:prstGeom>
          <a:ln w="15875">
            <a:solidFill>
              <a:srgbClr val="EE0000"/>
            </a:solidFill>
            <a:prstDash val="dash"/>
          </a:ln>
        </p:spPr>
      </p:cxnSp>
      <p:cxnSp>
        <p:nvCxnSpPr>
          <p:cNvPr id="200" name="g2 flow 200"/>
          <p:cNvCxnSpPr/>
          <p:nvPr/>
        </p:nvCxnSpPr>
        <p:spPr>
          <a:xfrm flipV="1">
            <a:off x="11027664" y="3904488"/>
            <a:ext cx="0" cy="868680"/>
          </a:xfrm>
          <a:prstGeom prst="line">
            <a:avLst/>
          </a:prstGeom>
          <a:ln w="15875">
            <a:solidFill>
              <a:srgbClr val="EE0000"/>
            </a:solidFill>
            <a:prstDash val="dash"/>
            <a:tailEnd type="triangle" w="med" len="med"/>
          </a:ln>
        </p:spPr>
      </p:cxnSp>
      <p:sp>
        <p:nvSpPr>
          <p:cNvPr id="201" name="gal 201"/>
          <p:cNvSpPr/>
          <p:nvPr/>
        </p:nvSpPr>
        <p:spPr>
          <a:xfrm>
            <a:off x="548640"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1  Register</a:t>
            </a:r>
          </a:p>
          <a:p>
            <a:pPr algn="l" marL="0" indent="0">
              <a:lnSpc>
                <a:spcPct val="90000"/>
              </a:lnSpc>
              <a:buNone/>
            </a:pPr>
            <a:r>
              <a:rPr lang="en-US" sz="800" dirty="0">
                <a:solidFill>
                  <a:srgbClr val="F3E6D6"/>
                </a:solidFill>
                <a:latin typeface="Arial"/>
                <a:ea typeface="Arial"/>
                <a:cs typeface="Arial"/>
              </a:rPr>
              <a:t>use case + owner; agent id from registry (G1)</a:t>
            </a:r>
          </a:p>
        </p:txBody>
      </p:sp>
      <p:cxnSp>
        <p:nvCxnSpPr>
          <p:cNvPr id="202" name="g2 flow 202"/>
          <p:cNvCxnSpPr/>
          <p:nvPr/>
        </p:nvCxnSpPr>
        <p:spPr>
          <a:xfrm>
            <a:off x="2054787" y="5861304"/>
            <a:ext cx="91440" cy="0"/>
          </a:xfrm>
          <a:prstGeom prst="line">
            <a:avLst/>
          </a:prstGeom>
          <a:ln w="15875">
            <a:solidFill>
              <a:srgbClr val="EE0000"/>
            </a:solidFill>
            <a:tailEnd type="triangle" w="med" len="med"/>
          </a:ln>
        </p:spPr>
      </p:cxnSp>
      <p:sp>
        <p:nvSpPr>
          <p:cNvPr id="203" name="gal 203"/>
          <p:cNvSpPr/>
          <p:nvPr/>
        </p:nvSpPr>
        <p:spPr>
          <a:xfrm>
            <a:off x="2146227"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2  Pick a segment</a:t>
            </a:r>
          </a:p>
          <a:p>
            <a:pPr algn="l" marL="0" indent="0">
              <a:lnSpc>
                <a:spcPct val="90000"/>
              </a:lnSpc>
              <a:buNone/>
            </a:pPr>
            <a:r>
              <a:rPr lang="en-US" sz="800" dirty="0">
                <a:solidFill>
                  <a:srgbClr val="F3E6D6"/>
                </a:solidFill>
                <a:latin typeface="Arial"/>
                <a:ea typeface="Arial"/>
                <a:cs typeface="Arial"/>
              </a:rPr>
              <a:t>slides 7–10</a:t>
            </a:r>
          </a:p>
        </p:txBody>
      </p:sp>
      <p:cxnSp>
        <p:nvCxnSpPr>
          <p:cNvPr id="204" name="g2 flow 204"/>
          <p:cNvCxnSpPr/>
          <p:nvPr/>
        </p:nvCxnSpPr>
        <p:spPr>
          <a:xfrm>
            <a:off x="3652375" y="5861304"/>
            <a:ext cx="91440" cy="0"/>
          </a:xfrm>
          <a:prstGeom prst="line">
            <a:avLst/>
          </a:prstGeom>
          <a:ln w="15875">
            <a:solidFill>
              <a:srgbClr val="EE0000"/>
            </a:solidFill>
            <a:tailEnd type="triangle" w="med" len="med"/>
          </a:ln>
        </p:spPr>
      </p:cxnSp>
      <p:sp>
        <p:nvSpPr>
          <p:cNvPr id="205" name="gal 205"/>
          <p:cNvSpPr/>
          <p:nvPr/>
        </p:nvSpPr>
        <p:spPr>
          <a:xfrm>
            <a:off x="3743815"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3  Pick P1 / P2 / P3</a:t>
            </a:r>
          </a:p>
          <a:p>
            <a:pPr algn="l" marL="0" indent="0">
              <a:lnSpc>
                <a:spcPct val="90000"/>
              </a:lnSpc>
              <a:buNone/>
            </a:pPr>
            <a:r>
              <a:rPr lang="en-US" sz="800" dirty="0">
                <a:solidFill>
                  <a:srgbClr val="F3E6D6"/>
                </a:solidFill>
                <a:latin typeface="Arial"/>
                <a:ea typeface="Arial"/>
                <a:cs typeface="Arial"/>
              </a:rPr>
              <a:t>SDK if agentic; OTel if custom</a:t>
            </a:r>
          </a:p>
        </p:txBody>
      </p:sp>
      <p:cxnSp>
        <p:nvCxnSpPr>
          <p:cNvPr id="206" name="g2 flow 206"/>
          <p:cNvCxnSpPr/>
          <p:nvPr/>
        </p:nvCxnSpPr>
        <p:spPr>
          <a:xfrm>
            <a:off x="5249962" y="5861304"/>
            <a:ext cx="91440" cy="0"/>
          </a:xfrm>
          <a:prstGeom prst="line">
            <a:avLst/>
          </a:prstGeom>
          <a:ln w="15875">
            <a:solidFill>
              <a:srgbClr val="EE0000"/>
            </a:solidFill>
            <a:tailEnd type="triangle" w="med" len="med"/>
          </a:ln>
        </p:spPr>
      </p:cxnSp>
      <p:sp>
        <p:nvSpPr>
          <p:cNvPr id="207" name="gal 207"/>
          <p:cNvSpPr/>
          <p:nvPr/>
        </p:nvSpPr>
        <p:spPr>
          <a:xfrm>
            <a:off x="5341402"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4  Pass bucket</a:t>
            </a:r>
          </a:p>
          <a:p>
            <a:pPr algn="l" marL="0" indent="0">
              <a:lnSpc>
                <a:spcPct val="90000"/>
              </a:lnSpc>
              <a:buNone/>
            </a:pPr>
            <a:r>
              <a:rPr lang="en-US" sz="800" dirty="0">
                <a:solidFill>
                  <a:srgbClr val="F3E6D6"/>
                </a:solidFill>
                <a:latin typeface="Arial"/>
                <a:ea typeface="Arial"/>
                <a:cs typeface="Arial"/>
              </a:rPr>
              <a:t>+ segment tags (proposed)</a:t>
            </a:r>
          </a:p>
        </p:txBody>
      </p:sp>
      <p:cxnSp>
        <p:nvCxnSpPr>
          <p:cNvPr id="208" name="g2 flow 208"/>
          <p:cNvCxnSpPr/>
          <p:nvPr/>
        </p:nvCxnSpPr>
        <p:spPr>
          <a:xfrm>
            <a:off x="6847550" y="5861304"/>
            <a:ext cx="91440" cy="0"/>
          </a:xfrm>
          <a:prstGeom prst="line">
            <a:avLst/>
          </a:prstGeom>
          <a:ln w="15875">
            <a:solidFill>
              <a:srgbClr val="EE0000"/>
            </a:solidFill>
            <a:tailEnd type="triangle" w="med" len="med"/>
          </a:ln>
        </p:spPr>
      </p:cxnSp>
      <p:sp>
        <p:nvSpPr>
          <p:cNvPr id="209" name="gal 209"/>
          <p:cNvSpPr/>
          <p:nvPr/>
        </p:nvSpPr>
        <p:spPr>
          <a:xfrm>
            <a:off x="6938990"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5  Set sampling</a:t>
            </a:r>
          </a:p>
          <a:p>
            <a:pPr algn="l" marL="0" indent="0">
              <a:lnSpc>
                <a:spcPct val="90000"/>
              </a:lnSpc>
              <a:buNone/>
            </a:pPr>
            <a:r>
              <a:rPr lang="en-US" sz="800" dirty="0">
                <a:solidFill>
                  <a:srgbClr val="F3E6D6"/>
                </a:solidFill>
                <a:latin typeface="Arial"/>
                <a:ea typeface="Arial"/>
                <a:cs typeface="Arial"/>
              </a:rPr>
              <a:t>rate in the Galileo dashboard</a:t>
            </a:r>
          </a:p>
        </p:txBody>
      </p:sp>
      <p:cxnSp>
        <p:nvCxnSpPr>
          <p:cNvPr id="210" name="g2 flow 210"/>
          <p:cNvCxnSpPr/>
          <p:nvPr/>
        </p:nvCxnSpPr>
        <p:spPr>
          <a:xfrm>
            <a:off x="8445137" y="5861304"/>
            <a:ext cx="91440" cy="0"/>
          </a:xfrm>
          <a:prstGeom prst="line">
            <a:avLst/>
          </a:prstGeom>
          <a:ln w="15875">
            <a:solidFill>
              <a:srgbClr val="EE0000"/>
            </a:solidFill>
            <a:tailEnd type="triangle" w="med" len="med"/>
          </a:ln>
        </p:spPr>
      </p:cxnSp>
      <p:sp>
        <p:nvSpPr>
          <p:cNvPr id="211" name="gal 211"/>
          <p:cNvSpPr/>
          <p:nvPr/>
        </p:nvSpPr>
        <p:spPr>
          <a:xfrm>
            <a:off x="8536577" y="5577840"/>
            <a:ext cx="1506147" cy="566928"/>
          </a:xfrm>
          <a:prstGeom prst="roundRect">
            <a:avLst>
              <a:gd name="adj" fmla="val 10000"/>
            </a:avLst>
          </a:prstGeom>
          <a:solidFill>
            <a:srgbClr val="2A1A16"/>
          </a:solidFill>
          <a:ln w="12700">
            <a:solidFill>
              <a:srgbClr val="D9B48A"/>
            </a:solidFill>
          </a:ln>
        </p:spPr>
        <p:txBody>
          <a:bodyPr wrap="square" lIns="73152" tIns="18288" rIns="54864" bIns="18288" rtlCol="0" anchor="ctr">
            <a:noAutofit/>
          </a:bodyPr>
          <a:lstStyle/>
          <a:p>
            <a:pPr algn="l" marL="0" indent="0">
              <a:lnSpc>
                <a:spcPct val="90000"/>
              </a:lnSpc>
              <a:buNone/>
            </a:pPr>
            <a:r>
              <a:rPr lang="en-US" sz="950" b="1" dirty="0">
                <a:solidFill>
                  <a:srgbClr val="F5B700"/>
                </a:solidFill>
                <a:latin typeface="Arial"/>
                <a:ea typeface="Arial"/>
                <a:cs typeface="Arial"/>
              </a:rPr>
              <a:t>6  Verify</a:t>
            </a:r>
          </a:p>
          <a:p>
            <a:pPr algn="l" marL="0" indent="0">
              <a:lnSpc>
                <a:spcPct val="90000"/>
              </a:lnSpc>
              <a:buNone/>
            </a:pPr>
            <a:r>
              <a:rPr lang="en-US" sz="800" dirty="0">
                <a:solidFill>
                  <a:srgbClr val="F3E6D6"/>
                </a:solidFill>
                <a:latin typeface="Arial"/>
                <a:ea typeface="Arial"/>
                <a:cs typeface="Arial"/>
              </a:rPr>
              <a:t>pack scores in Galileo Observe</a:t>
            </a:r>
          </a:p>
        </p:txBody>
      </p:sp>
      <p:cxnSp>
        <p:nvCxnSpPr>
          <p:cNvPr id="212" name="g2 flow 212"/>
          <p:cNvCxnSpPr/>
          <p:nvPr/>
        </p:nvCxnSpPr>
        <p:spPr>
          <a:xfrm>
            <a:off x="10042725" y="5861304"/>
            <a:ext cx="91440" cy="0"/>
          </a:xfrm>
          <a:prstGeom prst="line">
            <a:avLst/>
          </a:prstGeom>
          <a:ln w="15875">
            <a:solidFill>
              <a:srgbClr val="EE0000"/>
            </a:solidFill>
            <a:tailEnd type="triangle" w="med" len="med"/>
          </a:ln>
        </p:spPr>
      </p:cxnSp>
      <p:sp>
        <p:nvSpPr>
          <p:cNvPr id="213" name="gal 213"/>
          <p:cNvSpPr/>
          <p:nvPr/>
        </p:nvSpPr>
        <p:spPr>
          <a:xfrm>
            <a:off x="10134165" y="5577840"/>
            <a:ext cx="1506147" cy="566928"/>
          </a:xfrm>
          <a:prstGeom prst="roundRect">
            <a:avLst>
              <a:gd name="adj" fmla="val 10000"/>
            </a:avLst>
          </a:prstGeom>
          <a:solidFill>
            <a:srgbClr val="1E1412"/>
          </a:solidFill>
          <a:ln w="12700">
            <a:solidFill>
              <a:srgbClr val="D9B48A"/>
            </a:solidFill>
            <a:prstDash val="dash"/>
          </a:ln>
        </p:spPr>
        <p:txBody>
          <a:bodyPr wrap="square" lIns="73152" tIns="18288" rIns="54864" bIns="18288" rtlCol="0" anchor="ctr">
            <a:noAutofit/>
          </a:bodyPr>
          <a:lstStyle/>
          <a:p>
            <a:pPr algn="l" marL="0" indent="0">
              <a:lnSpc>
                <a:spcPct val="90000"/>
              </a:lnSpc>
              <a:buNone/>
            </a:pPr>
            <a:r>
              <a:rPr lang="en-US" sz="950" b="1" dirty="0">
                <a:solidFill>
                  <a:srgbClr val="D9B48A"/>
                </a:solidFill>
                <a:latin typeface="Arial"/>
                <a:ea typeface="Arial"/>
                <a:cs typeface="Arial"/>
              </a:rPr>
              <a:t>7  Wire alerts</a:t>
            </a:r>
          </a:p>
          <a:p>
            <a:pPr algn="l" marL="0" indent="0">
              <a:lnSpc>
                <a:spcPct val="90000"/>
              </a:lnSpc>
              <a:buNone/>
            </a:pPr>
            <a:r>
              <a:rPr lang="en-US" sz="800" dirty="0">
                <a:solidFill>
                  <a:srgbClr val="F3E6D6"/>
                </a:solidFill>
                <a:latin typeface="Arial"/>
                <a:ea typeface="Arial"/>
                <a:cs typeface="Arial"/>
              </a:rPr>
              <a:t>route to on-call (proposed)</a:t>
            </a:r>
          </a:p>
        </p:txBody>
      </p:sp>
      <p:sp>
        <p:nvSpPr>
          <p:cNvPr id="214" name="gal 214"/>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bucket-templated metrics as described by the platform team. Metric names verified on docs.galileo.ai, 14 Oct 2026; the exact metrics in each pack are the platform team’s choice. Storage and PII masking are handled in the backend.</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07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segment A of 4</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Critical 1P · flagship, high volume:</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100% of traffic, pre-RTB</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761488"/>
            <a:ext cx="1417320" cy="109728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Critical first-party</a:t>
            </a:r>
          </a:p>
          <a:p>
            <a:pPr algn="l" marL="0" indent="0">
              <a:lnSpc>
                <a:spcPct val="93000"/>
              </a:lnSpc>
              <a:buNone/>
            </a:pPr>
            <a:r>
              <a:rPr lang="en-US" sz="850" dirty="0">
                <a:solidFill>
                  <a:srgbClr val="F3E6D6"/>
                </a:solidFill>
                <a:latin typeface="Arial"/>
                <a:ea typeface="Arial"/>
                <a:cs typeface="Arial"/>
              </a:rPr>
              <a:t>voice agents, Verizon flagship products</a:t>
            </a:r>
          </a:p>
        </p:txBody>
      </p:sp>
      <p:sp>
        <p:nvSpPr>
          <p:cNvPr id="162" name="gal 162"/>
          <p:cNvSpPr/>
          <p:nvPr/>
        </p:nvSpPr>
        <p:spPr>
          <a:xfrm>
            <a:off x="548640" y="4041648"/>
            <a:ext cx="1417320" cy="74980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750" b="1" dirty="0">
                <a:solidFill>
                  <a:srgbClr val="D9B48A"/>
                </a:solidFill>
                <a:latin typeface="Arial"/>
                <a:ea typeface="Arial"/>
                <a:cs typeface="Arial"/>
              </a:rPr>
              <a:t>PROPOSED</a:t>
            </a:r>
          </a:p>
          <a:p>
            <a:pPr algn="l" marL="0" indent="0">
              <a:lnSpc>
                <a:spcPct val="93000"/>
              </a:lnSpc>
              <a:buNone/>
            </a:pPr>
            <a:r>
              <a:rPr lang="en-US" sz="850" dirty="0">
                <a:solidFill>
                  <a:srgbClr val="F3E6D6"/>
                </a:solidFill>
                <a:latin typeface="Arial"/>
                <a:ea typeface="Arial"/>
                <a:cs typeface="Arial"/>
              </a:rPr>
              <a:t>registry entry: agent id, owner, risk tier</a:t>
            </a:r>
          </a:p>
        </p:txBody>
      </p:sp>
      <p:sp>
        <p:nvSpPr>
          <p:cNvPr id="163" name="gal 163"/>
          <p:cNvSpPr/>
          <p:nvPr/>
        </p:nvSpPr>
        <p:spPr>
          <a:xfrm>
            <a:off x="1536192" y="395020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G1</a:t>
            </a:r>
          </a:p>
        </p:txBody>
      </p:sp>
      <p:sp>
        <p:nvSpPr>
          <p:cNvPr id="164" name="gal 164"/>
          <p:cNvSpPr/>
          <p:nvPr/>
        </p:nvSpPr>
        <p:spPr>
          <a:xfrm>
            <a:off x="2103120" y="2807208"/>
            <a:ext cx="1188720" cy="1005840"/>
          </a:xfrm>
          <a:prstGeom prst="diamond">
            <a:avLst/>
          </a:prstGeom>
          <a:solidFill>
            <a:srgbClr val="2A1A16"/>
          </a:solidFill>
          <a:ln w="15875">
            <a:solidFill>
              <a:srgbClr val="F5B700"/>
            </a:solidFill>
          </a:ln>
        </p:spPr>
        <p:txBody>
          <a:bodyPr wrap="square" lIns="45720" tIns="0" rIns="45720" bIns="0" rtlCol="0" anchor="ctr">
            <a:noAutofit/>
          </a:bodyPr>
          <a:lstStyle/>
          <a:p>
            <a:pPr algn="ctr" marL="0" indent="0">
              <a:lnSpc>
                <a:spcPct val="90000"/>
              </a:lnSpc>
              <a:buNone/>
            </a:pPr>
            <a:r>
              <a:rPr lang="en-US" sz="800" b="1" dirty="0">
                <a:solidFill>
                  <a:srgbClr val="FFFFFF"/>
                </a:solidFill>
                <a:latin typeface="Arial"/>
                <a:ea typeface="Arial"/>
                <a:cs typeface="Arial"/>
              </a:rPr>
              <a:t>Agentic?</a:t>
            </a:r>
          </a:p>
        </p:txBody>
      </p:sp>
      <p:cxnSp>
        <p:nvCxnSpPr>
          <p:cNvPr id="165" name="g2 flow 165"/>
          <p:cNvCxnSpPr/>
          <p:nvPr/>
        </p:nvCxnSpPr>
        <p:spPr>
          <a:xfrm>
            <a:off x="1965960" y="3310128"/>
            <a:ext cx="137160" cy="0"/>
          </a:xfrm>
          <a:prstGeom prst="line">
            <a:avLst/>
          </a:prstGeom>
          <a:ln w="15875">
            <a:solidFill>
              <a:srgbClr val="EE0000"/>
            </a:solidFill>
            <a:tailEnd type="triangle" w="med" len="med"/>
          </a:ln>
        </p:spPr>
      </p:cxnSp>
      <p:sp>
        <p:nvSpPr>
          <p:cNvPr id="166" name="gal 166"/>
          <p:cNvSpPr/>
          <p:nvPr/>
        </p:nvSpPr>
        <p:spPr>
          <a:xfrm>
            <a:off x="3520440" y="2304288"/>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AGENTIC</a:t>
            </a:r>
          </a:p>
          <a:p>
            <a:pPr algn="l" marL="0" indent="0">
              <a:lnSpc>
                <a:spcPct val="90000"/>
              </a:lnSpc>
              <a:buNone/>
            </a:pPr>
            <a:r>
              <a:rPr lang="en-US" sz="900" b="1" dirty="0">
                <a:solidFill>
                  <a:srgbClr val="FFFFFF"/>
                </a:solidFill>
                <a:latin typeface="Arial"/>
                <a:ea typeface="Arial"/>
                <a:cs typeface="Arial"/>
              </a:rPr>
              <a:t>P2  Kairos SDK (VZAISDK)</a:t>
            </a:r>
          </a:p>
          <a:p>
            <a:pPr algn="l" marL="0" indent="0">
              <a:lnSpc>
                <a:spcPct val="90000"/>
              </a:lnSpc>
              <a:buNone/>
            </a:pPr>
            <a:r>
              <a:rPr lang="en-US" sz="800" dirty="0">
                <a:solidFill>
                  <a:srgbClr val="F3E6D6"/>
                </a:solidFill>
                <a:latin typeface="Arial"/>
                <a:ea typeface="Arial"/>
                <a:cs typeface="Arial"/>
              </a:rPr>
              <a:t>+ Galileo callback: LLM + tool spans</a:t>
            </a:r>
          </a:p>
        </p:txBody>
      </p:sp>
      <p:sp>
        <p:nvSpPr>
          <p:cNvPr id="167" name="gal 167"/>
          <p:cNvSpPr/>
          <p:nvPr/>
        </p:nvSpPr>
        <p:spPr>
          <a:xfrm>
            <a:off x="3520440" y="2999232"/>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NON-AGENTIC</a:t>
            </a:r>
          </a:p>
          <a:p>
            <a:pPr algn="l" marL="0" indent="0">
              <a:lnSpc>
                <a:spcPct val="90000"/>
              </a:lnSpc>
              <a:buNone/>
            </a:pPr>
            <a:r>
              <a:rPr lang="en-US" sz="900" b="1" dirty="0">
                <a:solidFill>
                  <a:srgbClr val="FFFFFF"/>
                </a:solidFill>
                <a:latin typeface="Arial"/>
                <a:ea typeface="Arial"/>
                <a:cs typeface="Arial"/>
              </a:rPr>
              <a:t>P1  Kairos gateway</a:t>
            </a:r>
          </a:p>
          <a:p>
            <a:pPr algn="l" marL="0" indent="0">
              <a:lnSpc>
                <a:spcPct val="90000"/>
              </a:lnSpc>
              <a:buNone/>
            </a:pPr>
            <a:r>
              <a:rPr lang="en-US" sz="800" dirty="0">
                <a:solidFill>
                  <a:srgbClr val="F3E6D6"/>
                </a:solidFill>
                <a:latin typeface="Arial"/>
                <a:ea typeface="Arial"/>
                <a:cs typeface="Arial"/>
              </a:rPr>
              <a:t>common logging; templated metrics</a:t>
            </a:r>
          </a:p>
        </p:txBody>
      </p:sp>
      <p:sp>
        <p:nvSpPr>
          <p:cNvPr id="168" name="gal 168"/>
          <p:cNvSpPr/>
          <p:nvPr/>
        </p:nvSpPr>
        <p:spPr>
          <a:xfrm>
            <a:off x="3520440" y="3694176"/>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CUSTOM STACK</a:t>
            </a:r>
          </a:p>
          <a:p>
            <a:pPr algn="l" marL="0" indent="0">
              <a:lnSpc>
                <a:spcPct val="90000"/>
              </a:lnSpc>
              <a:buNone/>
            </a:pPr>
            <a:r>
              <a:rPr lang="en-US" sz="900" b="1" dirty="0">
                <a:solidFill>
                  <a:srgbClr val="FFFFFF"/>
                </a:solidFill>
                <a:latin typeface="Arial"/>
                <a:ea typeface="Arial"/>
                <a:cs typeface="Arial"/>
              </a:rPr>
              <a:t>P3  own OTel via Kairos</a:t>
            </a:r>
          </a:p>
          <a:p>
            <a:pPr algn="l" marL="0" indent="0">
              <a:lnSpc>
                <a:spcPct val="90000"/>
              </a:lnSpc>
              <a:buNone/>
            </a:pPr>
            <a:r>
              <a:rPr lang="en-US" sz="800" dirty="0">
                <a:solidFill>
                  <a:srgbClr val="F3E6D6"/>
                </a:solidFill>
                <a:latin typeface="Arial"/>
                <a:ea typeface="Arial"/>
                <a:cs typeface="Arial"/>
              </a:rPr>
              <a:t>OTLP → KAIROS_OTLP_ENDPOINT</a:t>
            </a:r>
          </a:p>
        </p:txBody>
      </p:sp>
      <p:cxnSp>
        <p:nvCxnSpPr>
          <p:cNvPr id="169" name="g2 flow 169"/>
          <p:cNvCxnSpPr/>
          <p:nvPr/>
        </p:nvCxnSpPr>
        <p:spPr>
          <a:xfrm flipV="1">
            <a:off x="2702052" y="2615184"/>
            <a:ext cx="0" cy="192024"/>
          </a:xfrm>
          <a:prstGeom prst="line">
            <a:avLst/>
          </a:prstGeom>
          <a:ln w="15875">
            <a:solidFill>
              <a:srgbClr val="EE0000"/>
            </a:solidFill>
          </a:ln>
        </p:spPr>
      </p:cxnSp>
      <p:cxnSp>
        <p:nvCxnSpPr>
          <p:cNvPr id="170" name="g2 flow 170"/>
          <p:cNvCxnSpPr/>
          <p:nvPr/>
        </p:nvCxnSpPr>
        <p:spPr>
          <a:xfrm>
            <a:off x="2702052" y="2615184"/>
            <a:ext cx="818388" cy="0"/>
          </a:xfrm>
          <a:prstGeom prst="line">
            <a:avLst/>
          </a:prstGeom>
          <a:ln w="15875">
            <a:solidFill>
              <a:srgbClr val="EE0000"/>
            </a:solidFill>
            <a:tailEnd type="triangle" w="med" len="med"/>
          </a:ln>
        </p:spPr>
      </p:cxnSp>
      <p:cxnSp>
        <p:nvCxnSpPr>
          <p:cNvPr id="171" name="g2 flow 171"/>
          <p:cNvCxnSpPr/>
          <p:nvPr/>
        </p:nvCxnSpPr>
        <p:spPr>
          <a:xfrm>
            <a:off x="3291840" y="3310128"/>
            <a:ext cx="82296" cy="0"/>
          </a:xfrm>
          <a:prstGeom prst="line">
            <a:avLst/>
          </a:prstGeom>
          <a:ln w="15875">
            <a:solidFill>
              <a:srgbClr val="EE0000"/>
            </a:solidFill>
          </a:ln>
        </p:spPr>
      </p:cxnSp>
      <p:cxnSp>
        <p:nvCxnSpPr>
          <p:cNvPr id="172" name="g2 flow 172"/>
          <p:cNvCxnSpPr/>
          <p:nvPr/>
        </p:nvCxnSpPr>
        <p:spPr>
          <a:xfrm>
            <a:off x="3374136" y="3310128"/>
            <a:ext cx="0" cy="0"/>
          </a:xfrm>
          <a:prstGeom prst="line">
            <a:avLst/>
          </a:prstGeom>
          <a:ln w="15875">
            <a:solidFill>
              <a:srgbClr val="EE0000"/>
            </a:solidFill>
          </a:ln>
        </p:spPr>
      </p:cxnSp>
      <p:cxnSp>
        <p:nvCxnSpPr>
          <p:cNvPr id="173" name="g2 flow 173"/>
          <p:cNvCxnSpPr/>
          <p:nvPr/>
        </p:nvCxnSpPr>
        <p:spPr>
          <a:xfrm>
            <a:off x="3374136" y="3310128"/>
            <a:ext cx="146304" cy="0"/>
          </a:xfrm>
          <a:prstGeom prst="line">
            <a:avLst/>
          </a:prstGeom>
          <a:ln w="15875">
            <a:solidFill>
              <a:srgbClr val="EE0000"/>
            </a:solidFill>
            <a:tailEnd type="triangle" w="med" len="med"/>
          </a:ln>
        </p:spPr>
      </p:cxnSp>
      <p:cxnSp>
        <p:nvCxnSpPr>
          <p:cNvPr id="174" name="g2 flow 174"/>
          <p:cNvCxnSpPr/>
          <p:nvPr/>
        </p:nvCxnSpPr>
        <p:spPr>
          <a:xfrm>
            <a:off x="2702052" y="3813048"/>
            <a:ext cx="0" cy="192024"/>
          </a:xfrm>
          <a:prstGeom prst="line">
            <a:avLst/>
          </a:prstGeom>
          <a:ln w="15875">
            <a:solidFill>
              <a:srgbClr val="EE0000"/>
            </a:solidFill>
          </a:ln>
        </p:spPr>
      </p:cxnSp>
      <p:cxnSp>
        <p:nvCxnSpPr>
          <p:cNvPr id="175" name="g2 flow 175"/>
          <p:cNvCxnSpPr/>
          <p:nvPr/>
        </p:nvCxnSpPr>
        <p:spPr>
          <a:xfrm>
            <a:off x="2702052" y="4005072"/>
            <a:ext cx="818388" cy="0"/>
          </a:xfrm>
          <a:prstGeom prst="line">
            <a:avLst/>
          </a:prstGeom>
          <a:ln w="15875">
            <a:solidFill>
              <a:srgbClr val="EE0000"/>
            </a:solidFill>
            <a:tailEnd type="triangle" w="med" len="med"/>
          </a:ln>
        </p:spPr>
      </p:cxnSp>
      <p:cxnSp>
        <p:nvCxnSpPr>
          <p:cNvPr id="176" name="g2 flow 176"/>
          <p:cNvCxnSpPr/>
          <p:nvPr/>
        </p:nvCxnSpPr>
        <p:spPr>
          <a:xfrm>
            <a:off x="5349240" y="2615184"/>
            <a:ext cx="155448" cy="0"/>
          </a:xfrm>
          <a:prstGeom prst="line">
            <a:avLst/>
          </a:prstGeom>
          <a:ln w="15875">
            <a:solidFill>
              <a:srgbClr val="EE0000"/>
            </a:solidFill>
          </a:ln>
        </p:spPr>
      </p:cxnSp>
      <p:cxnSp>
        <p:nvCxnSpPr>
          <p:cNvPr id="177" name="g2 flow 177"/>
          <p:cNvCxnSpPr/>
          <p:nvPr/>
        </p:nvCxnSpPr>
        <p:spPr>
          <a:xfrm>
            <a:off x="5349240" y="3310128"/>
            <a:ext cx="155448" cy="0"/>
          </a:xfrm>
          <a:prstGeom prst="line">
            <a:avLst/>
          </a:prstGeom>
          <a:ln w="15875">
            <a:solidFill>
              <a:srgbClr val="EE0000"/>
            </a:solidFill>
          </a:ln>
        </p:spPr>
      </p:cxnSp>
      <p:cxnSp>
        <p:nvCxnSpPr>
          <p:cNvPr id="178" name="g2 flow 178"/>
          <p:cNvCxnSpPr/>
          <p:nvPr/>
        </p:nvCxnSpPr>
        <p:spPr>
          <a:xfrm>
            <a:off x="5349240" y="4005072"/>
            <a:ext cx="155448" cy="0"/>
          </a:xfrm>
          <a:prstGeom prst="line">
            <a:avLst/>
          </a:prstGeom>
          <a:ln w="15875">
            <a:solidFill>
              <a:srgbClr val="EE0000"/>
            </a:solidFill>
          </a:ln>
        </p:spPr>
      </p:cxnSp>
      <p:cxnSp>
        <p:nvCxnSpPr>
          <p:cNvPr id="179" name="g2 flow 179"/>
          <p:cNvCxnSpPr/>
          <p:nvPr/>
        </p:nvCxnSpPr>
        <p:spPr>
          <a:xfrm>
            <a:off x="5504688" y="2615184"/>
            <a:ext cx="0" cy="1389888"/>
          </a:xfrm>
          <a:prstGeom prst="line">
            <a:avLst/>
          </a:prstGeom>
          <a:ln w="15875">
            <a:solidFill>
              <a:srgbClr val="EE0000"/>
            </a:solidFill>
          </a:ln>
        </p:spPr>
      </p:cxnSp>
      <p:cxnSp>
        <p:nvCxnSpPr>
          <p:cNvPr id="180" name="g2 flow 180"/>
          <p:cNvCxnSpPr/>
          <p:nvPr/>
        </p:nvCxnSpPr>
        <p:spPr>
          <a:xfrm>
            <a:off x="5504688" y="3310128"/>
            <a:ext cx="118872" cy="0"/>
          </a:xfrm>
          <a:prstGeom prst="line">
            <a:avLst/>
          </a:prstGeom>
          <a:ln w="15875">
            <a:solidFill>
              <a:srgbClr val="EE0000"/>
            </a:solidFill>
            <a:tailEnd type="triangle" w="med" len="med"/>
          </a:ln>
        </p:spPr>
      </p:cxnSp>
      <p:sp>
        <p:nvSpPr>
          <p:cNvPr id="181" name="gal 181"/>
          <p:cNvSpPr/>
          <p:nvPr/>
        </p:nvSpPr>
        <p:spPr>
          <a:xfrm>
            <a:off x="5623560" y="2715768"/>
            <a:ext cx="123444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Common Logging Service</a:t>
            </a:r>
          </a:p>
          <a:p>
            <a:pPr algn="l" marL="0" indent="0">
              <a:lnSpc>
                <a:spcPct val="93000"/>
              </a:lnSpc>
              <a:buNone/>
            </a:pPr>
            <a:r>
              <a:rPr lang="en-US" sz="850" dirty="0">
                <a:solidFill>
                  <a:srgbClr val="F3E6D6"/>
                </a:solidFill>
                <a:latin typeface="Arial"/>
                <a:ea typeface="Arial"/>
                <a:cs typeface="Arial"/>
              </a:rPr>
              <a:t>all patterns</a:t>
            </a:r>
          </a:p>
        </p:txBody>
      </p:sp>
      <p:sp>
        <p:nvSpPr>
          <p:cNvPr id="182" name="gal 182"/>
          <p:cNvSpPr/>
          <p:nvPr/>
        </p:nvSpPr>
        <p:spPr>
          <a:xfrm>
            <a:off x="5623560" y="2103120"/>
            <a:ext cx="1234440" cy="5029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BUCKET</a:t>
            </a:r>
          </a:p>
          <a:p>
            <a:pPr algn="l" marL="0" indent="0">
              <a:lnSpc>
                <a:spcPct val="90000"/>
              </a:lnSpc>
              <a:buNone/>
            </a:pPr>
            <a:r>
              <a:rPr lang="en-US" sz="800" dirty="0">
                <a:solidFill>
                  <a:srgbClr val="F3E6D6"/>
                </a:solidFill>
                <a:latin typeface="Arial"/>
                <a:ea typeface="Arial"/>
                <a:cs typeface="Arial"/>
              </a:rPr>
              <a:t>voice → user-facing; tool use → agentic</a:t>
            </a:r>
          </a:p>
        </p:txBody>
      </p:sp>
      <p:cxnSp>
        <p:nvCxnSpPr>
          <p:cNvPr id="183" name="g2 flow 183"/>
          <p:cNvCxnSpPr/>
          <p:nvPr/>
        </p:nvCxnSpPr>
        <p:spPr>
          <a:xfrm>
            <a:off x="6240780" y="2606040"/>
            <a:ext cx="0" cy="109728"/>
          </a:xfrm>
          <a:prstGeom prst="line">
            <a:avLst/>
          </a:prstGeom>
          <a:ln w="15875">
            <a:solidFill>
              <a:srgbClr val="EE0000"/>
            </a:solidFill>
            <a:tailEnd type="triangle" w="med" len="med"/>
          </a:ln>
        </p:spPr>
      </p:cxnSp>
      <p:cxnSp>
        <p:nvCxnSpPr>
          <p:cNvPr id="184" name="g2 flow 184"/>
          <p:cNvCxnSpPr/>
          <p:nvPr/>
        </p:nvCxnSpPr>
        <p:spPr>
          <a:xfrm>
            <a:off x="6858000" y="3310128"/>
            <a:ext cx="256032" cy="0"/>
          </a:xfrm>
          <a:prstGeom prst="line">
            <a:avLst/>
          </a:prstGeom>
          <a:ln w="15875">
            <a:solidFill>
              <a:srgbClr val="EE0000"/>
            </a:solidFill>
            <a:tailEnd type="triangle" w="med" len="med"/>
          </a:ln>
        </p:spPr>
      </p:cxnSp>
      <p:sp>
        <p:nvSpPr>
          <p:cNvPr id="185" name="gal 185"/>
          <p:cNvSpPr/>
          <p:nvPr/>
        </p:nvSpPr>
        <p:spPr>
          <a:xfrm>
            <a:off x="7114032" y="2395728"/>
            <a:ext cx="1600200" cy="1828800"/>
          </a:xfrm>
          <a:prstGeom prst="roundRect">
            <a:avLst>
              <a:gd name="adj" fmla="val 10000"/>
            </a:avLst>
          </a:prstGeom>
          <a:solidFill>
            <a:srgbClr val="2A1A16"/>
          </a:solidFill>
          <a:ln w="12700">
            <a:solidFill>
              <a:srgbClr val="D9B48A"/>
            </a:solidFill>
          </a:ln>
        </p:spPr>
        <p:txBody>
          <a:bodyPr wrap="square" lIns="91440" tIns="73152" rIns="73152" bIns="45720" rtlCol="0" anchor="t">
            <a:noAutofit/>
          </a:bodyPr>
          <a:lstStyle/>
          <a:p>
            <a:pPr algn="l" marL="0" indent="0">
              <a:lnSpc>
                <a:spcPct val="95000"/>
              </a:lnSpc>
              <a:buNone/>
            </a:pPr>
            <a:r>
              <a:rPr lang="en-US" sz="1000" b="1" dirty="0">
                <a:solidFill>
                  <a:srgbClr val="FFFFFF"/>
                </a:solidFill>
                <a:latin typeface="Arial"/>
                <a:ea typeface="Arial"/>
                <a:cs typeface="Arial"/>
              </a:rPr>
              <a:t>Trace sampling</a:t>
            </a:r>
          </a:p>
          <a:p>
            <a:pPr algn="l" marL="0" indent="0">
              <a:lnSpc>
                <a:spcPct val="95000"/>
              </a:lnSpc>
              <a:buNone/>
            </a:pPr>
            <a:r>
              <a:rPr lang="en-US" sz="850" b="1" dirty="0">
                <a:solidFill>
                  <a:srgbClr val="F5B700"/>
                </a:solidFill>
                <a:latin typeface="Arial"/>
                <a:ea typeface="Arial"/>
                <a:cs typeface="Arial"/>
              </a:rPr>
              <a:t>100% enabled</a:t>
            </a:r>
          </a:p>
          <a:p>
            <a:pPr algn="l" marL="0" indent="0">
              <a:lnSpc>
                <a:spcPct val="95000"/>
              </a:lnSpc>
              <a:buNone/>
            </a:pPr>
            <a:r>
              <a:rPr lang="en-US" sz="850" dirty="0">
                <a:solidFill>
                  <a:srgbClr val="F3E6D6"/>
                </a:solidFill>
                <a:latin typeface="Arial"/>
                <a:ea typeface="Arial"/>
                <a:cs typeface="Arial"/>
              </a:rPr>
              <a:t>pre-RTB high volume: team sets 100% in the Galileo dashboard</a:t>
            </a:r>
          </a:p>
          <a:p>
            <a:pPr algn="l" marL="0" indent="0">
              <a:lnSpc>
                <a:spcPct val="95000"/>
              </a:lnSpc>
              <a:buNone/>
            </a:pPr>
            <a:r>
              <a:rPr lang="en-US" sz="850" dirty="0">
                <a:solidFill>
                  <a:srgbClr val="F3E6D6"/>
                </a:solidFill>
                <a:latin typeface="Arial"/>
                <a:ea typeface="Arial"/>
                <a:cs typeface="Arial"/>
              </a:rPr>
              <a:t>(platform default applies until then)</a:t>
            </a:r>
          </a:p>
        </p:txBody>
      </p:sp>
      <p:sp>
        <p:nvSpPr>
          <p:cNvPr id="186" name="gal 186"/>
          <p:cNvSpPr/>
          <p:nvPr/>
        </p:nvSpPr>
        <p:spPr>
          <a:xfrm>
            <a:off x="7114032" y="4361688"/>
            <a:ext cx="160020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add-on</a:t>
            </a:r>
          </a:p>
          <a:p>
            <a:pPr algn="l" marL="0" indent="0">
              <a:lnSpc>
                <a:spcPct val="90000"/>
              </a:lnSpc>
              <a:buNone/>
            </a:pPr>
            <a:r>
              <a:rPr lang="en-US" sz="850" dirty="0">
                <a:solidFill>
                  <a:srgbClr val="F3E6D6"/>
                </a:solidFill>
                <a:latin typeface="Arial"/>
                <a:ea typeface="Arial"/>
                <a:cs typeface="Arial"/>
              </a:rPr>
              <a:t>priority lane: critical traces never rate-limited</a:t>
            </a:r>
          </a:p>
        </p:txBody>
      </p:sp>
      <p:cxnSp>
        <p:nvCxnSpPr>
          <p:cNvPr id="187" name="g2 flow 187"/>
          <p:cNvCxnSpPr/>
          <p:nvPr/>
        </p:nvCxnSpPr>
        <p:spPr>
          <a:xfrm>
            <a:off x="8714232" y="3310128"/>
            <a:ext cx="246888" cy="0"/>
          </a:xfrm>
          <a:prstGeom prst="line">
            <a:avLst/>
          </a:prstGeom>
          <a:ln w="15875">
            <a:solidFill>
              <a:srgbClr val="EE0000"/>
            </a:solidFill>
            <a:tailEnd type="triangle" w="med" len="med"/>
          </a:ln>
        </p:spPr>
      </p:cxnSp>
      <p:sp>
        <p:nvSpPr>
          <p:cNvPr id="188" name="gal 188"/>
          <p:cNvSpPr/>
          <p:nvPr/>
        </p:nvSpPr>
        <p:spPr>
          <a:xfrm>
            <a:off x="8961120" y="2715768"/>
            <a:ext cx="12801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Service</a:t>
            </a:r>
          </a:p>
          <a:p>
            <a:pPr algn="l" marL="0" indent="0">
              <a:lnSpc>
                <a:spcPct val="93000"/>
              </a:lnSpc>
              <a:buNone/>
            </a:pPr>
            <a:r>
              <a:rPr lang="en-US" sz="850" dirty="0">
                <a:solidFill>
                  <a:srgbClr val="F3E6D6"/>
                </a:solidFill>
                <a:latin typeface="Arial"/>
                <a:ea typeface="Arial"/>
                <a:cs typeface="Arial"/>
              </a:rPr>
              <a:t>computes the bucket pack on sampled traces</a:t>
            </a:r>
          </a:p>
        </p:txBody>
      </p:sp>
      <p:sp>
        <p:nvSpPr>
          <p:cNvPr id="189" name="gal 189"/>
          <p:cNvSpPr/>
          <p:nvPr/>
        </p:nvSpPr>
        <p:spPr>
          <a:xfrm>
            <a:off x="8961120" y="4361688"/>
            <a:ext cx="128016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eval mode</a:t>
            </a:r>
          </a:p>
          <a:p>
            <a:pPr algn="l" marL="0" indent="0">
              <a:lnSpc>
                <a:spcPct val="90000"/>
              </a:lnSpc>
              <a:buNone/>
            </a:pPr>
            <a:r>
              <a:rPr lang="en-US" sz="850" dirty="0">
                <a:solidFill>
                  <a:srgbClr val="F3E6D6"/>
                </a:solidFill>
                <a:latin typeface="Arial"/>
                <a:ea typeface="Arial"/>
                <a:cs typeface="Arial"/>
              </a:rPr>
              <a:t>online guardrail metrics on live traffic; async LLM judge; offline regression set before release</a:t>
            </a:r>
          </a:p>
        </p:txBody>
      </p:sp>
      <p:cxnSp>
        <p:nvCxnSpPr>
          <p:cNvPr id="190" name="g2 flow 190"/>
          <p:cNvCxnSpPr/>
          <p:nvPr/>
        </p:nvCxnSpPr>
        <p:spPr>
          <a:xfrm>
            <a:off x="9601200" y="3904488"/>
            <a:ext cx="0" cy="457200"/>
          </a:xfrm>
          <a:prstGeom prst="line">
            <a:avLst/>
          </a:prstGeom>
          <a:ln w="15875">
            <a:solidFill>
              <a:srgbClr val="EE0000"/>
            </a:solidFill>
            <a:prstDash val="dash"/>
            <a:tailEnd type="triangle" w="med" len="med"/>
          </a:ln>
        </p:spPr>
      </p:cxnSp>
      <p:cxnSp>
        <p:nvCxnSpPr>
          <p:cNvPr id="191" name="g2 flow 191"/>
          <p:cNvCxnSpPr/>
          <p:nvPr/>
        </p:nvCxnSpPr>
        <p:spPr>
          <a:xfrm>
            <a:off x="10241280" y="3310128"/>
            <a:ext cx="228600" cy="0"/>
          </a:xfrm>
          <a:prstGeom prst="line">
            <a:avLst/>
          </a:prstGeom>
          <a:ln w="15875">
            <a:solidFill>
              <a:srgbClr val="EE0000"/>
            </a:solidFill>
            <a:tailEnd type="triangle" w="med" len="med"/>
          </a:ln>
        </p:spPr>
      </p:cxnSp>
      <p:sp>
        <p:nvSpPr>
          <p:cNvPr id="192" name="gal 192"/>
          <p:cNvSpPr/>
          <p:nvPr/>
        </p:nvSpPr>
        <p:spPr>
          <a:xfrm>
            <a:off x="10469880" y="2395728"/>
            <a:ext cx="1170432" cy="1828800"/>
          </a:xfrm>
          <a:prstGeom prst="roundRect">
            <a:avLst>
              <a:gd name="adj" fmla="val 10000"/>
            </a:avLst>
          </a:prstGeom>
          <a:solidFill>
            <a:srgbClr val="2A1A16"/>
          </a:solidFill>
          <a:ln w="12700">
            <a:solidFill>
              <a:srgbClr val="D9B48A"/>
            </a:solidFill>
          </a:ln>
        </p:spPr>
        <p:txBody>
          <a:bodyPr wrap="square" lIns="82296" tIns="73152" rIns="64008" bIns="45720" rtlCol="0" anchor="t">
            <a:noAutofit/>
          </a:bodyPr>
          <a:lstStyle/>
          <a:p>
            <a:pPr algn="l" marL="0" indent="0">
              <a:lnSpc>
                <a:spcPct val="93000"/>
              </a:lnSpc>
              <a:buNone/>
            </a:pPr>
            <a:r>
              <a:rPr lang="en-US" sz="1000" b="1" dirty="0">
                <a:solidFill>
                  <a:srgbClr val="FFFFFF"/>
                </a:solidFill>
                <a:latin typeface="Arial"/>
                <a:ea typeface="Arial"/>
                <a:cs typeface="Arial"/>
              </a:rPr>
              <a:t>Galileo Observe</a:t>
            </a:r>
          </a:p>
          <a:p>
            <a:pPr algn="l" marL="0" indent="0">
              <a:lnSpc>
                <a:spcPct val="93000"/>
              </a:lnSpc>
              <a:buNone/>
            </a:pPr>
            <a:r>
              <a:rPr lang="en-US" sz="850" dirty="0">
                <a:solidFill>
                  <a:srgbClr val="F3E6D6"/>
                </a:solidFill>
                <a:latin typeface="Arial"/>
                <a:ea typeface="Arial"/>
                <a:cs typeface="Arial"/>
              </a:rPr>
              <a:t>use-case view: pack scores, every trace, LLM + tool spans</a:t>
            </a:r>
          </a:p>
          <a:p>
            <a:pPr algn="l" marL="0" indent="0">
              <a:lnSpc>
                <a:spcPct val="93000"/>
              </a:lnSpc>
              <a:buNone/>
            </a:pPr>
            <a:r>
              <a:rPr lang="en-US" sz="750" b="1" dirty="0">
                <a:solidFill>
                  <a:srgbClr val="D9B48A"/>
                </a:solidFill>
                <a:latin typeface="Arial"/>
                <a:ea typeface="Arial"/>
                <a:cs typeface="Arial"/>
              </a:rPr>
              <a:t>PROPOSED: session view once session.id is on spans</a:t>
            </a:r>
          </a:p>
        </p:txBody>
      </p:sp>
      <p:sp>
        <p:nvSpPr>
          <p:cNvPr id="193" name="gal 193"/>
          <p:cNvSpPr/>
          <p:nvPr/>
        </p:nvSpPr>
        <p:spPr>
          <a:xfrm>
            <a:off x="10469880" y="4361688"/>
            <a:ext cx="1170432"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alerts</a:t>
            </a:r>
          </a:p>
          <a:p>
            <a:pPr algn="l" marL="0" indent="0">
              <a:lnSpc>
                <a:spcPct val="90000"/>
              </a:lnSpc>
              <a:buNone/>
            </a:pPr>
            <a:r>
              <a:rPr lang="en-US" sz="850" dirty="0">
                <a:solidFill>
                  <a:srgbClr val="F3E6D6"/>
                </a:solidFill>
                <a:latin typeface="Arial"/>
                <a:ea typeface="Arial"/>
                <a:cs typeface="Arial"/>
              </a:rPr>
              <a:t>page on-call on breach; seconds, not 5-min batches</a:t>
            </a:r>
          </a:p>
        </p:txBody>
      </p:sp>
      <p:cxnSp>
        <p:nvCxnSpPr>
          <p:cNvPr id="194" name="g2 flow 194"/>
          <p:cNvCxnSpPr/>
          <p:nvPr/>
        </p:nvCxnSpPr>
        <p:spPr>
          <a:xfrm>
            <a:off x="11055096" y="4224528"/>
            <a:ext cx="0" cy="137160"/>
          </a:xfrm>
          <a:prstGeom prst="line">
            <a:avLst/>
          </a:prstGeom>
          <a:ln w="15875">
            <a:solidFill>
              <a:srgbClr val="EE0000"/>
            </a:solidFill>
            <a:prstDash val="dash"/>
            <a:tailEnd type="triangle" w="med" len="med"/>
          </a:ln>
        </p:spPr>
      </p:cxnSp>
      <p:sp>
        <p:nvSpPr>
          <p:cNvPr id="195" name="gal 195"/>
          <p:cNvSpPr/>
          <p:nvPr/>
        </p:nvSpPr>
        <p:spPr>
          <a:xfrm>
            <a:off x="548640" y="5596128"/>
            <a:ext cx="5486400" cy="658368"/>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750" b="1" dirty="0">
                <a:solidFill>
                  <a:srgbClr val="F5B700"/>
                </a:solidFill>
                <a:latin typeface="Arial"/>
                <a:ea typeface="Arial"/>
                <a:cs typeface="Arial"/>
              </a:rPr>
              <a:t>RUNS TODAY</a:t>
            </a:r>
          </a:p>
          <a:p>
            <a:pPr algn="l" marL="0" indent="0">
              <a:lnSpc>
                <a:spcPct val="92000"/>
              </a:lnSpc>
              <a:buNone/>
            </a:pPr>
            <a:r>
              <a:rPr lang="en-US" sz="850" dirty="0">
                <a:solidFill>
                  <a:srgbClr val="F3E6D6"/>
                </a:solidFill>
                <a:latin typeface="Arial"/>
                <a:ea typeface="Arial"/>
                <a:cs typeface="Arial"/>
              </a:rPr>
              <a:t>P1 / P2 / P3 entry, bucket packs, 100% sampling via the dashboard, Galileo Observe view.</a:t>
            </a:r>
          </a:p>
        </p:txBody>
      </p:sp>
      <p:sp>
        <p:nvSpPr>
          <p:cNvPr id="196" name="gal 196"/>
          <p:cNvSpPr/>
          <p:nvPr/>
        </p:nvSpPr>
        <p:spPr>
          <a:xfrm>
            <a:off x="6153912" y="5596128"/>
            <a:ext cx="5486400" cy="65836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750" b="1" dirty="0">
                <a:solidFill>
                  <a:srgbClr val="141010"/>
                </a:solidFill>
                <a:latin typeface="Arial"/>
                <a:ea typeface="Arial"/>
                <a:cs typeface="Arial"/>
              </a:rPr>
              <a:t>GAPS / PROPOSALS</a:t>
            </a:r>
          </a:p>
          <a:p>
            <a:pPr algn="l" marL="0" indent="0">
              <a:lnSpc>
                <a:spcPct val="92000"/>
              </a:lnSpc>
              <a:buNone/>
            </a:pPr>
            <a:r>
              <a:rPr lang="en-US" sz="850" dirty="0">
                <a:solidFill>
                  <a:srgbClr val="141010"/>
                </a:solidFill>
                <a:latin typeface="Arial"/>
                <a:ea typeface="Arial"/>
                <a:cs typeface="Arial"/>
              </a:rPr>
              <a:t>Priority lane and alert routing (not yet in the register); session view needs session.id (G7); registry agent id (G1).</a:t>
            </a:r>
          </a:p>
        </p:txBody>
      </p:sp>
      <p:sp>
        <p:nvSpPr>
          <p:cNvPr id="197" name="gal 197"/>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as described by the platform team (14 Oct 2026); VZAISDK = Kairos SDK. Storage and PII masking are handled in the backend. Gn = gap register, slide 35. Metric packs: slide 6.</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08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segment B of 4</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Critical 1P · other:</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sample to requirement, keep every failure</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761488"/>
            <a:ext cx="1417320" cy="109728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Critical first-party</a:t>
            </a:r>
          </a:p>
          <a:p>
            <a:pPr algn="l" marL="0" indent="0">
              <a:lnSpc>
                <a:spcPct val="93000"/>
              </a:lnSpc>
              <a:buNone/>
            </a:pPr>
            <a:r>
              <a:rPr lang="en-US" sz="850" dirty="0">
                <a:solidFill>
                  <a:srgbClr val="F3E6D6"/>
                </a:solidFill>
                <a:latin typeface="Arial"/>
                <a:ea typeface="Arial"/>
                <a:cs typeface="Arial"/>
              </a:rPr>
              <a:t>customer- or ops-critical, normal volume</a:t>
            </a:r>
          </a:p>
        </p:txBody>
      </p:sp>
      <p:sp>
        <p:nvSpPr>
          <p:cNvPr id="162" name="gal 162"/>
          <p:cNvSpPr/>
          <p:nvPr/>
        </p:nvSpPr>
        <p:spPr>
          <a:xfrm>
            <a:off x="548640" y="4041648"/>
            <a:ext cx="1417320" cy="74980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750" b="1" dirty="0">
                <a:solidFill>
                  <a:srgbClr val="D9B48A"/>
                </a:solidFill>
                <a:latin typeface="Arial"/>
                <a:ea typeface="Arial"/>
                <a:cs typeface="Arial"/>
              </a:rPr>
              <a:t>PROPOSED</a:t>
            </a:r>
          </a:p>
          <a:p>
            <a:pPr algn="l" marL="0" indent="0">
              <a:lnSpc>
                <a:spcPct val="93000"/>
              </a:lnSpc>
              <a:buNone/>
            </a:pPr>
            <a:r>
              <a:rPr lang="en-US" sz="850" dirty="0">
                <a:solidFill>
                  <a:srgbClr val="F3E6D6"/>
                </a:solidFill>
                <a:latin typeface="Arial"/>
                <a:ea typeface="Arial"/>
                <a:cs typeface="Arial"/>
              </a:rPr>
              <a:t>registry entry: agent id, owner, risk tier</a:t>
            </a:r>
          </a:p>
        </p:txBody>
      </p:sp>
      <p:sp>
        <p:nvSpPr>
          <p:cNvPr id="163" name="gal 163"/>
          <p:cNvSpPr/>
          <p:nvPr/>
        </p:nvSpPr>
        <p:spPr>
          <a:xfrm>
            <a:off x="1536192" y="395020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G1</a:t>
            </a:r>
          </a:p>
        </p:txBody>
      </p:sp>
      <p:sp>
        <p:nvSpPr>
          <p:cNvPr id="164" name="gal 164"/>
          <p:cNvSpPr/>
          <p:nvPr/>
        </p:nvSpPr>
        <p:spPr>
          <a:xfrm>
            <a:off x="2103120" y="2807208"/>
            <a:ext cx="1188720" cy="1005840"/>
          </a:xfrm>
          <a:prstGeom prst="diamond">
            <a:avLst/>
          </a:prstGeom>
          <a:solidFill>
            <a:srgbClr val="2A1A16"/>
          </a:solidFill>
          <a:ln w="15875">
            <a:solidFill>
              <a:srgbClr val="F5B700"/>
            </a:solidFill>
          </a:ln>
        </p:spPr>
        <p:txBody>
          <a:bodyPr wrap="square" lIns="45720" tIns="0" rIns="45720" bIns="0" rtlCol="0" anchor="ctr">
            <a:noAutofit/>
          </a:bodyPr>
          <a:lstStyle/>
          <a:p>
            <a:pPr algn="ctr" marL="0" indent="0">
              <a:lnSpc>
                <a:spcPct val="90000"/>
              </a:lnSpc>
              <a:buNone/>
            </a:pPr>
            <a:r>
              <a:rPr lang="en-US" sz="800" b="1" dirty="0">
                <a:solidFill>
                  <a:srgbClr val="FFFFFF"/>
                </a:solidFill>
                <a:latin typeface="Arial"/>
                <a:ea typeface="Arial"/>
                <a:cs typeface="Arial"/>
              </a:rPr>
              <a:t>Agentic?</a:t>
            </a:r>
          </a:p>
        </p:txBody>
      </p:sp>
      <p:cxnSp>
        <p:nvCxnSpPr>
          <p:cNvPr id="165" name="g2 flow 165"/>
          <p:cNvCxnSpPr/>
          <p:nvPr/>
        </p:nvCxnSpPr>
        <p:spPr>
          <a:xfrm>
            <a:off x="1965960" y="3310128"/>
            <a:ext cx="137160" cy="0"/>
          </a:xfrm>
          <a:prstGeom prst="line">
            <a:avLst/>
          </a:prstGeom>
          <a:ln w="15875">
            <a:solidFill>
              <a:srgbClr val="EE0000"/>
            </a:solidFill>
            <a:tailEnd type="triangle" w="med" len="med"/>
          </a:ln>
        </p:spPr>
      </p:cxnSp>
      <p:sp>
        <p:nvSpPr>
          <p:cNvPr id="166" name="gal 166"/>
          <p:cNvSpPr/>
          <p:nvPr/>
        </p:nvSpPr>
        <p:spPr>
          <a:xfrm>
            <a:off x="3520440" y="2304288"/>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AGENTIC</a:t>
            </a:r>
          </a:p>
          <a:p>
            <a:pPr algn="l" marL="0" indent="0">
              <a:lnSpc>
                <a:spcPct val="90000"/>
              </a:lnSpc>
              <a:buNone/>
            </a:pPr>
            <a:r>
              <a:rPr lang="en-US" sz="900" b="1" dirty="0">
                <a:solidFill>
                  <a:srgbClr val="FFFFFF"/>
                </a:solidFill>
                <a:latin typeface="Arial"/>
                <a:ea typeface="Arial"/>
                <a:cs typeface="Arial"/>
              </a:rPr>
              <a:t>P2  Kairos SDK (VZAISDK)</a:t>
            </a:r>
          </a:p>
          <a:p>
            <a:pPr algn="l" marL="0" indent="0">
              <a:lnSpc>
                <a:spcPct val="90000"/>
              </a:lnSpc>
              <a:buNone/>
            </a:pPr>
            <a:r>
              <a:rPr lang="en-US" sz="800" dirty="0">
                <a:solidFill>
                  <a:srgbClr val="F3E6D6"/>
                </a:solidFill>
                <a:latin typeface="Arial"/>
                <a:ea typeface="Arial"/>
                <a:cs typeface="Arial"/>
              </a:rPr>
              <a:t>+ Galileo callback: LLM + tool spans</a:t>
            </a:r>
          </a:p>
        </p:txBody>
      </p:sp>
      <p:sp>
        <p:nvSpPr>
          <p:cNvPr id="167" name="gal 167"/>
          <p:cNvSpPr/>
          <p:nvPr/>
        </p:nvSpPr>
        <p:spPr>
          <a:xfrm>
            <a:off x="3520440" y="2999232"/>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NON-AGENTIC</a:t>
            </a:r>
          </a:p>
          <a:p>
            <a:pPr algn="l" marL="0" indent="0">
              <a:lnSpc>
                <a:spcPct val="90000"/>
              </a:lnSpc>
              <a:buNone/>
            </a:pPr>
            <a:r>
              <a:rPr lang="en-US" sz="900" b="1" dirty="0">
                <a:solidFill>
                  <a:srgbClr val="FFFFFF"/>
                </a:solidFill>
                <a:latin typeface="Arial"/>
                <a:ea typeface="Arial"/>
                <a:cs typeface="Arial"/>
              </a:rPr>
              <a:t>P1  Kairos gateway</a:t>
            </a:r>
          </a:p>
          <a:p>
            <a:pPr algn="l" marL="0" indent="0">
              <a:lnSpc>
                <a:spcPct val="90000"/>
              </a:lnSpc>
              <a:buNone/>
            </a:pPr>
            <a:r>
              <a:rPr lang="en-US" sz="800" dirty="0">
                <a:solidFill>
                  <a:srgbClr val="F3E6D6"/>
                </a:solidFill>
                <a:latin typeface="Arial"/>
                <a:ea typeface="Arial"/>
                <a:cs typeface="Arial"/>
              </a:rPr>
              <a:t>common logging; templated metrics</a:t>
            </a:r>
          </a:p>
        </p:txBody>
      </p:sp>
      <p:sp>
        <p:nvSpPr>
          <p:cNvPr id="168" name="gal 168"/>
          <p:cNvSpPr/>
          <p:nvPr/>
        </p:nvSpPr>
        <p:spPr>
          <a:xfrm>
            <a:off x="3520440" y="3694176"/>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CUSTOM STACK</a:t>
            </a:r>
          </a:p>
          <a:p>
            <a:pPr algn="l" marL="0" indent="0">
              <a:lnSpc>
                <a:spcPct val="90000"/>
              </a:lnSpc>
              <a:buNone/>
            </a:pPr>
            <a:r>
              <a:rPr lang="en-US" sz="900" b="1" dirty="0">
                <a:solidFill>
                  <a:srgbClr val="FFFFFF"/>
                </a:solidFill>
                <a:latin typeface="Arial"/>
                <a:ea typeface="Arial"/>
                <a:cs typeface="Arial"/>
              </a:rPr>
              <a:t>P3  own OTel via Kairos</a:t>
            </a:r>
          </a:p>
          <a:p>
            <a:pPr algn="l" marL="0" indent="0">
              <a:lnSpc>
                <a:spcPct val="90000"/>
              </a:lnSpc>
              <a:buNone/>
            </a:pPr>
            <a:r>
              <a:rPr lang="en-US" sz="800" dirty="0">
                <a:solidFill>
                  <a:srgbClr val="F3E6D6"/>
                </a:solidFill>
                <a:latin typeface="Arial"/>
                <a:ea typeface="Arial"/>
                <a:cs typeface="Arial"/>
              </a:rPr>
              <a:t>OTLP → KAIROS_OTLP_ENDPOINT</a:t>
            </a:r>
          </a:p>
        </p:txBody>
      </p:sp>
      <p:cxnSp>
        <p:nvCxnSpPr>
          <p:cNvPr id="169" name="g2 flow 169"/>
          <p:cNvCxnSpPr/>
          <p:nvPr/>
        </p:nvCxnSpPr>
        <p:spPr>
          <a:xfrm flipV="1">
            <a:off x="2702052" y="2615184"/>
            <a:ext cx="0" cy="192024"/>
          </a:xfrm>
          <a:prstGeom prst="line">
            <a:avLst/>
          </a:prstGeom>
          <a:ln w="15875">
            <a:solidFill>
              <a:srgbClr val="EE0000"/>
            </a:solidFill>
          </a:ln>
        </p:spPr>
      </p:cxnSp>
      <p:cxnSp>
        <p:nvCxnSpPr>
          <p:cNvPr id="170" name="g2 flow 170"/>
          <p:cNvCxnSpPr/>
          <p:nvPr/>
        </p:nvCxnSpPr>
        <p:spPr>
          <a:xfrm>
            <a:off x="2702052" y="2615184"/>
            <a:ext cx="818388" cy="0"/>
          </a:xfrm>
          <a:prstGeom prst="line">
            <a:avLst/>
          </a:prstGeom>
          <a:ln w="15875">
            <a:solidFill>
              <a:srgbClr val="EE0000"/>
            </a:solidFill>
            <a:tailEnd type="triangle" w="med" len="med"/>
          </a:ln>
        </p:spPr>
      </p:cxnSp>
      <p:cxnSp>
        <p:nvCxnSpPr>
          <p:cNvPr id="171" name="g2 flow 171"/>
          <p:cNvCxnSpPr/>
          <p:nvPr/>
        </p:nvCxnSpPr>
        <p:spPr>
          <a:xfrm>
            <a:off x="3291840" y="3310128"/>
            <a:ext cx="82296" cy="0"/>
          </a:xfrm>
          <a:prstGeom prst="line">
            <a:avLst/>
          </a:prstGeom>
          <a:ln w="15875">
            <a:solidFill>
              <a:srgbClr val="EE0000"/>
            </a:solidFill>
          </a:ln>
        </p:spPr>
      </p:cxnSp>
      <p:cxnSp>
        <p:nvCxnSpPr>
          <p:cNvPr id="172" name="g2 flow 172"/>
          <p:cNvCxnSpPr/>
          <p:nvPr/>
        </p:nvCxnSpPr>
        <p:spPr>
          <a:xfrm>
            <a:off x="3374136" y="3310128"/>
            <a:ext cx="0" cy="0"/>
          </a:xfrm>
          <a:prstGeom prst="line">
            <a:avLst/>
          </a:prstGeom>
          <a:ln w="15875">
            <a:solidFill>
              <a:srgbClr val="EE0000"/>
            </a:solidFill>
          </a:ln>
        </p:spPr>
      </p:cxnSp>
      <p:cxnSp>
        <p:nvCxnSpPr>
          <p:cNvPr id="173" name="g2 flow 173"/>
          <p:cNvCxnSpPr/>
          <p:nvPr/>
        </p:nvCxnSpPr>
        <p:spPr>
          <a:xfrm>
            <a:off x="3374136" y="3310128"/>
            <a:ext cx="146304" cy="0"/>
          </a:xfrm>
          <a:prstGeom prst="line">
            <a:avLst/>
          </a:prstGeom>
          <a:ln w="15875">
            <a:solidFill>
              <a:srgbClr val="EE0000"/>
            </a:solidFill>
            <a:tailEnd type="triangle" w="med" len="med"/>
          </a:ln>
        </p:spPr>
      </p:cxnSp>
      <p:cxnSp>
        <p:nvCxnSpPr>
          <p:cNvPr id="174" name="g2 flow 174"/>
          <p:cNvCxnSpPr/>
          <p:nvPr/>
        </p:nvCxnSpPr>
        <p:spPr>
          <a:xfrm>
            <a:off x="2702052" y="3813048"/>
            <a:ext cx="0" cy="192024"/>
          </a:xfrm>
          <a:prstGeom prst="line">
            <a:avLst/>
          </a:prstGeom>
          <a:ln w="15875">
            <a:solidFill>
              <a:srgbClr val="EE0000"/>
            </a:solidFill>
          </a:ln>
        </p:spPr>
      </p:cxnSp>
      <p:cxnSp>
        <p:nvCxnSpPr>
          <p:cNvPr id="175" name="g2 flow 175"/>
          <p:cNvCxnSpPr/>
          <p:nvPr/>
        </p:nvCxnSpPr>
        <p:spPr>
          <a:xfrm>
            <a:off x="2702052" y="4005072"/>
            <a:ext cx="818388" cy="0"/>
          </a:xfrm>
          <a:prstGeom prst="line">
            <a:avLst/>
          </a:prstGeom>
          <a:ln w="15875">
            <a:solidFill>
              <a:srgbClr val="EE0000"/>
            </a:solidFill>
            <a:tailEnd type="triangle" w="med" len="med"/>
          </a:ln>
        </p:spPr>
      </p:cxnSp>
      <p:cxnSp>
        <p:nvCxnSpPr>
          <p:cNvPr id="176" name="g2 flow 176"/>
          <p:cNvCxnSpPr/>
          <p:nvPr/>
        </p:nvCxnSpPr>
        <p:spPr>
          <a:xfrm>
            <a:off x="5349240" y="2615184"/>
            <a:ext cx="155448" cy="0"/>
          </a:xfrm>
          <a:prstGeom prst="line">
            <a:avLst/>
          </a:prstGeom>
          <a:ln w="15875">
            <a:solidFill>
              <a:srgbClr val="EE0000"/>
            </a:solidFill>
          </a:ln>
        </p:spPr>
      </p:cxnSp>
      <p:cxnSp>
        <p:nvCxnSpPr>
          <p:cNvPr id="177" name="g2 flow 177"/>
          <p:cNvCxnSpPr/>
          <p:nvPr/>
        </p:nvCxnSpPr>
        <p:spPr>
          <a:xfrm>
            <a:off x="5349240" y="3310128"/>
            <a:ext cx="155448" cy="0"/>
          </a:xfrm>
          <a:prstGeom prst="line">
            <a:avLst/>
          </a:prstGeom>
          <a:ln w="15875">
            <a:solidFill>
              <a:srgbClr val="EE0000"/>
            </a:solidFill>
          </a:ln>
        </p:spPr>
      </p:cxnSp>
      <p:cxnSp>
        <p:nvCxnSpPr>
          <p:cNvPr id="178" name="g2 flow 178"/>
          <p:cNvCxnSpPr/>
          <p:nvPr/>
        </p:nvCxnSpPr>
        <p:spPr>
          <a:xfrm>
            <a:off x="5349240" y="4005072"/>
            <a:ext cx="155448" cy="0"/>
          </a:xfrm>
          <a:prstGeom prst="line">
            <a:avLst/>
          </a:prstGeom>
          <a:ln w="15875">
            <a:solidFill>
              <a:srgbClr val="EE0000"/>
            </a:solidFill>
          </a:ln>
        </p:spPr>
      </p:cxnSp>
      <p:cxnSp>
        <p:nvCxnSpPr>
          <p:cNvPr id="179" name="g2 flow 179"/>
          <p:cNvCxnSpPr/>
          <p:nvPr/>
        </p:nvCxnSpPr>
        <p:spPr>
          <a:xfrm>
            <a:off x="5504688" y="2615184"/>
            <a:ext cx="0" cy="1389888"/>
          </a:xfrm>
          <a:prstGeom prst="line">
            <a:avLst/>
          </a:prstGeom>
          <a:ln w="15875">
            <a:solidFill>
              <a:srgbClr val="EE0000"/>
            </a:solidFill>
          </a:ln>
        </p:spPr>
      </p:cxnSp>
      <p:cxnSp>
        <p:nvCxnSpPr>
          <p:cNvPr id="180" name="g2 flow 180"/>
          <p:cNvCxnSpPr/>
          <p:nvPr/>
        </p:nvCxnSpPr>
        <p:spPr>
          <a:xfrm>
            <a:off x="5504688" y="3310128"/>
            <a:ext cx="118872" cy="0"/>
          </a:xfrm>
          <a:prstGeom prst="line">
            <a:avLst/>
          </a:prstGeom>
          <a:ln w="15875">
            <a:solidFill>
              <a:srgbClr val="EE0000"/>
            </a:solidFill>
            <a:tailEnd type="triangle" w="med" len="med"/>
          </a:ln>
        </p:spPr>
      </p:cxnSp>
      <p:sp>
        <p:nvSpPr>
          <p:cNvPr id="181" name="gal 181"/>
          <p:cNvSpPr/>
          <p:nvPr/>
        </p:nvSpPr>
        <p:spPr>
          <a:xfrm>
            <a:off x="5623560" y="2715768"/>
            <a:ext cx="123444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Common Logging Service</a:t>
            </a:r>
          </a:p>
          <a:p>
            <a:pPr algn="l" marL="0" indent="0">
              <a:lnSpc>
                <a:spcPct val="93000"/>
              </a:lnSpc>
              <a:buNone/>
            </a:pPr>
            <a:r>
              <a:rPr lang="en-US" sz="850" dirty="0">
                <a:solidFill>
                  <a:srgbClr val="F3E6D6"/>
                </a:solidFill>
                <a:latin typeface="Arial"/>
                <a:ea typeface="Arial"/>
                <a:cs typeface="Arial"/>
              </a:rPr>
              <a:t>all patterns</a:t>
            </a:r>
          </a:p>
        </p:txBody>
      </p:sp>
      <p:sp>
        <p:nvSpPr>
          <p:cNvPr id="182" name="gal 182"/>
          <p:cNvSpPr/>
          <p:nvPr/>
        </p:nvSpPr>
        <p:spPr>
          <a:xfrm>
            <a:off x="5623560" y="2103120"/>
            <a:ext cx="1234440" cy="5029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BUCKET</a:t>
            </a:r>
          </a:p>
          <a:p>
            <a:pPr algn="l" marL="0" indent="0">
              <a:lnSpc>
                <a:spcPct val="90000"/>
              </a:lnSpc>
              <a:buNone/>
            </a:pPr>
            <a:r>
              <a:rPr lang="en-US" sz="800" dirty="0">
                <a:solidFill>
                  <a:srgbClr val="F3E6D6"/>
                </a:solidFill>
                <a:latin typeface="Arial"/>
                <a:ea typeface="Arial"/>
                <a:cs typeface="Arial"/>
              </a:rPr>
              <a:t>by type: user-facing, agentic or non-agent</a:t>
            </a:r>
          </a:p>
        </p:txBody>
      </p:sp>
      <p:cxnSp>
        <p:nvCxnSpPr>
          <p:cNvPr id="183" name="g2 flow 183"/>
          <p:cNvCxnSpPr/>
          <p:nvPr/>
        </p:nvCxnSpPr>
        <p:spPr>
          <a:xfrm>
            <a:off x="6240780" y="2606040"/>
            <a:ext cx="0" cy="109728"/>
          </a:xfrm>
          <a:prstGeom prst="line">
            <a:avLst/>
          </a:prstGeom>
          <a:ln w="15875">
            <a:solidFill>
              <a:srgbClr val="EE0000"/>
            </a:solidFill>
            <a:tailEnd type="triangle" w="med" len="med"/>
          </a:ln>
        </p:spPr>
      </p:cxnSp>
      <p:cxnSp>
        <p:nvCxnSpPr>
          <p:cNvPr id="184" name="g2 flow 184"/>
          <p:cNvCxnSpPr/>
          <p:nvPr/>
        </p:nvCxnSpPr>
        <p:spPr>
          <a:xfrm>
            <a:off x="6858000" y="3310128"/>
            <a:ext cx="256032" cy="0"/>
          </a:xfrm>
          <a:prstGeom prst="line">
            <a:avLst/>
          </a:prstGeom>
          <a:ln w="15875">
            <a:solidFill>
              <a:srgbClr val="EE0000"/>
            </a:solidFill>
            <a:tailEnd type="triangle" w="med" len="med"/>
          </a:ln>
        </p:spPr>
      </p:cxnSp>
      <p:sp>
        <p:nvSpPr>
          <p:cNvPr id="185" name="gal 185"/>
          <p:cNvSpPr/>
          <p:nvPr/>
        </p:nvSpPr>
        <p:spPr>
          <a:xfrm>
            <a:off x="7114032" y="2395728"/>
            <a:ext cx="1600200" cy="1828800"/>
          </a:xfrm>
          <a:prstGeom prst="roundRect">
            <a:avLst>
              <a:gd name="adj" fmla="val 10000"/>
            </a:avLst>
          </a:prstGeom>
          <a:solidFill>
            <a:srgbClr val="2A1A16"/>
          </a:solidFill>
          <a:ln w="12700">
            <a:solidFill>
              <a:srgbClr val="D9B48A"/>
            </a:solidFill>
          </a:ln>
        </p:spPr>
        <p:txBody>
          <a:bodyPr wrap="square" lIns="91440" tIns="73152" rIns="73152" bIns="45720" rtlCol="0" anchor="t">
            <a:noAutofit/>
          </a:bodyPr>
          <a:lstStyle/>
          <a:p>
            <a:pPr algn="l" marL="0" indent="0">
              <a:lnSpc>
                <a:spcPct val="95000"/>
              </a:lnSpc>
              <a:buNone/>
            </a:pPr>
            <a:r>
              <a:rPr lang="en-US" sz="1000" b="1" dirty="0">
                <a:solidFill>
                  <a:srgbClr val="FFFFFF"/>
                </a:solidFill>
                <a:latin typeface="Arial"/>
                <a:ea typeface="Arial"/>
                <a:cs typeface="Arial"/>
              </a:rPr>
              <a:t>Trace sampling</a:t>
            </a:r>
          </a:p>
          <a:p>
            <a:pPr algn="l" marL="0" indent="0">
              <a:lnSpc>
                <a:spcPct val="95000"/>
              </a:lnSpc>
              <a:buNone/>
            </a:pPr>
            <a:r>
              <a:rPr lang="en-US" sz="850" b="1" dirty="0">
                <a:solidFill>
                  <a:srgbClr val="F5B700"/>
                </a:solidFill>
                <a:latin typeface="Arial"/>
                <a:ea typeface="Arial"/>
                <a:cs typeface="Arial"/>
              </a:rPr>
              <a:t>set per requirement</a:t>
            </a:r>
          </a:p>
          <a:p>
            <a:pPr algn="l" marL="0" indent="0">
              <a:lnSpc>
                <a:spcPct val="95000"/>
              </a:lnSpc>
              <a:buNone/>
            </a:pPr>
            <a:r>
              <a:rPr lang="en-US" sz="850" dirty="0">
                <a:solidFill>
                  <a:srgbClr val="F3E6D6"/>
                </a:solidFill>
                <a:latin typeface="Arial"/>
                <a:ea typeface="Arial"/>
                <a:cs typeface="Arial"/>
              </a:rPr>
              <a:t>team raises its rate above the global default in the Galileo dashboard</a:t>
            </a:r>
          </a:p>
        </p:txBody>
      </p:sp>
      <p:sp>
        <p:nvSpPr>
          <p:cNvPr id="186" name="gal 186"/>
          <p:cNvSpPr/>
          <p:nvPr/>
        </p:nvSpPr>
        <p:spPr>
          <a:xfrm>
            <a:off x="7114032" y="4361688"/>
            <a:ext cx="160020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add-on</a:t>
            </a:r>
          </a:p>
          <a:p>
            <a:pPr algn="l" marL="0" indent="0">
              <a:lnSpc>
                <a:spcPct val="90000"/>
              </a:lnSpc>
              <a:buNone/>
            </a:pPr>
            <a:r>
              <a:rPr lang="en-US" sz="850" dirty="0">
                <a:solidFill>
                  <a:srgbClr val="F3E6D6"/>
                </a:solidFill>
                <a:latin typeface="Arial"/>
                <a:ea typeface="Arial"/>
                <a:cs typeface="Arial"/>
              </a:rPr>
              <a:t>tail keep on error / latency; keep whole sessions</a:t>
            </a:r>
          </a:p>
        </p:txBody>
      </p:sp>
      <p:sp>
        <p:nvSpPr>
          <p:cNvPr id="187" name="gal 187"/>
          <p:cNvSpPr/>
          <p:nvPr/>
        </p:nvSpPr>
        <p:spPr>
          <a:xfrm>
            <a:off x="8257032" y="427024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G7</a:t>
            </a:r>
          </a:p>
        </p:txBody>
      </p:sp>
      <p:cxnSp>
        <p:nvCxnSpPr>
          <p:cNvPr id="188" name="g2 flow 188"/>
          <p:cNvCxnSpPr/>
          <p:nvPr/>
        </p:nvCxnSpPr>
        <p:spPr>
          <a:xfrm>
            <a:off x="8714232" y="3310128"/>
            <a:ext cx="246888" cy="0"/>
          </a:xfrm>
          <a:prstGeom prst="line">
            <a:avLst/>
          </a:prstGeom>
          <a:ln w="15875">
            <a:solidFill>
              <a:srgbClr val="EE0000"/>
            </a:solidFill>
            <a:tailEnd type="triangle" w="med" len="med"/>
          </a:ln>
        </p:spPr>
      </p:cxnSp>
      <p:sp>
        <p:nvSpPr>
          <p:cNvPr id="189" name="gal 189"/>
          <p:cNvSpPr/>
          <p:nvPr/>
        </p:nvSpPr>
        <p:spPr>
          <a:xfrm>
            <a:off x="8961120" y="2715768"/>
            <a:ext cx="12801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Service</a:t>
            </a:r>
          </a:p>
          <a:p>
            <a:pPr algn="l" marL="0" indent="0">
              <a:lnSpc>
                <a:spcPct val="93000"/>
              </a:lnSpc>
              <a:buNone/>
            </a:pPr>
            <a:r>
              <a:rPr lang="en-US" sz="850" dirty="0">
                <a:solidFill>
                  <a:srgbClr val="F3E6D6"/>
                </a:solidFill>
                <a:latin typeface="Arial"/>
                <a:ea typeface="Arial"/>
                <a:cs typeface="Arial"/>
              </a:rPr>
              <a:t>computes the bucket pack on sampled traces</a:t>
            </a:r>
          </a:p>
        </p:txBody>
      </p:sp>
      <p:sp>
        <p:nvSpPr>
          <p:cNvPr id="190" name="gal 190"/>
          <p:cNvSpPr/>
          <p:nvPr/>
        </p:nvSpPr>
        <p:spPr>
          <a:xfrm>
            <a:off x="8961120" y="4361688"/>
            <a:ext cx="128016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eval mode</a:t>
            </a:r>
          </a:p>
          <a:p>
            <a:pPr algn="l" marL="0" indent="0">
              <a:lnSpc>
                <a:spcPct val="90000"/>
              </a:lnSpc>
              <a:buNone/>
            </a:pPr>
            <a:r>
              <a:rPr lang="en-US" sz="850" dirty="0">
                <a:solidFill>
                  <a:srgbClr val="F3E6D6"/>
                </a:solidFill>
                <a:latin typeface="Arial"/>
                <a:ea typeface="Arial"/>
                <a:cs typeface="Arial"/>
              </a:rPr>
              <a:t>online guardrail metrics + async LLM judge on the sample</a:t>
            </a:r>
          </a:p>
        </p:txBody>
      </p:sp>
      <p:cxnSp>
        <p:nvCxnSpPr>
          <p:cNvPr id="191" name="g2 flow 191"/>
          <p:cNvCxnSpPr/>
          <p:nvPr/>
        </p:nvCxnSpPr>
        <p:spPr>
          <a:xfrm>
            <a:off x="9601200" y="3904488"/>
            <a:ext cx="0" cy="457200"/>
          </a:xfrm>
          <a:prstGeom prst="line">
            <a:avLst/>
          </a:prstGeom>
          <a:ln w="15875">
            <a:solidFill>
              <a:srgbClr val="EE0000"/>
            </a:solidFill>
            <a:prstDash val="dash"/>
            <a:tailEnd type="triangle" w="med" len="med"/>
          </a:ln>
        </p:spPr>
      </p:cxnSp>
      <p:cxnSp>
        <p:nvCxnSpPr>
          <p:cNvPr id="192" name="g2 flow 192"/>
          <p:cNvCxnSpPr/>
          <p:nvPr/>
        </p:nvCxnSpPr>
        <p:spPr>
          <a:xfrm>
            <a:off x="10241280" y="3310128"/>
            <a:ext cx="228600" cy="0"/>
          </a:xfrm>
          <a:prstGeom prst="line">
            <a:avLst/>
          </a:prstGeom>
          <a:ln w="15875">
            <a:solidFill>
              <a:srgbClr val="EE0000"/>
            </a:solidFill>
            <a:tailEnd type="triangle" w="med" len="med"/>
          </a:ln>
        </p:spPr>
      </p:cxnSp>
      <p:sp>
        <p:nvSpPr>
          <p:cNvPr id="193" name="gal 193"/>
          <p:cNvSpPr/>
          <p:nvPr/>
        </p:nvSpPr>
        <p:spPr>
          <a:xfrm>
            <a:off x="10469880" y="2395728"/>
            <a:ext cx="1170432" cy="1828800"/>
          </a:xfrm>
          <a:prstGeom prst="roundRect">
            <a:avLst>
              <a:gd name="adj" fmla="val 10000"/>
            </a:avLst>
          </a:prstGeom>
          <a:solidFill>
            <a:srgbClr val="2A1A16"/>
          </a:solidFill>
          <a:ln w="12700">
            <a:solidFill>
              <a:srgbClr val="D9B48A"/>
            </a:solidFill>
          </a:ln>
        </p:spPr>
        <p:txBody>
          <a:bodyPr wrap="square" lIns="82296" tIns="73152" rIns="64008" bIns="45720" rtlCol="0" anchor="t">
            <a:noAutofit/>
          </a:bodyPr>
          <a:lstStyle/>
          <a:p>
            <a:pPr algn="l" marL="0" indent="0">
              <a:lnSpc>
                <a:spcPct val="93000"/>
              </a:lnSpc>
              <a:buNone/>
            </a:pPr>
            <a:r>
              <a:rPr lang="en-US" sz="1000" b="1" dirty="0">
                <a:solidFill>
                  <a:srgbClr val="FFFFFF"/>
                </a:solidFill>
                <a:latin typeface="Arial"/>
                <a:ea typeface="Arial"/>
                <a:cs typeface="Arial"/>
              </a:rPr>
              <a:t>Galileo Observe</a:t>
            </a:r>
          </a:p>
          <a:p>
            <a:pPr algn="l" marL="0" indent="0">
              <a:lnSpc>
                <a:spcPct val="93000"/>
              </a:lnSpc>
              <a:buNone/>
            </a:pPr>
            <a:r>
              <a:rPr lang="en-US" sz="850" dirty="0">
                <a:solidFill>
                  <a:srgbClr val="F3E6D6"/>
                </a:solidFill>
                <a:latin typeface="Arial"/>
                <a:ea typeface="Arial"/>
                <a:cs typeface="Arial"/>
              </a:rPr>
              <a:t>use-case view: pack scores, sampled traces; agentic adds LLM + tool spans</a:t>
            </a:r>
          </a:p>
        </p:txBody>
      </p:sp>
      <p:sp>
        <p:nvSpPr>
          <p:cNvPr id="194" name="gal 194"/>
          <p:cNvSpPr/>
          <p:nvPr/>
        </p:nvSpPr>
        <p:spPr>
          <a:xfrm>
            <a:off x="10469880" y="4361688"/>
            <a:ext cx="1170432"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alerts</a:t>
            </a:r>
          </a:p>
          <a:p>
            <a:pPr algn="l" marL="0" indent="0">
              <a:lnSpc>
                <a:spcPct val="90000"/>
              </a:lnSpc>
              <a:buNone/>
            </a:pPr>
            <a:r>
              <a:rPr lang="en-US" sz="850" dirty="0">
                <a:solidFill>
                  <a:srgbClr val="F3E6D6"/>
                </a:solidFill>
                <a:latin typeface="Arial"/>
                <a:ea typeface="Arial"/>
                <a:cs typeface="Arial"/>
              </a:rPr>
              <a:t>page the owning team on breach</a:t>
            </a:r>
          </a:p>
        </p:txBody>
      </p:sp>
      <p:cxnSp>
        <p:nvCxnSpPr>
          <p:cNvPr id="195" name="g2 flow 195"/>
          <p:cNvCxnSpPr/>
          <p:nvPr/>
        </p:nvCxnSpPr>
        <p:spPr>
          <a:xfrm>
            <a:off x="11055096" y="4224528"/>
            <a:ext cx="0" cy="137160"/>
          </a:xfrm>
          <a:prstGeom prst="line">
            <a:avLst/>
          </a:prstGeom>
          <a:ln w="15875">
            <a:solidFill>
              <a:srgbClr val="EE0000"/>
            </a:solidFill>
            <a:prstDash val="dash"/>
            <a:tailEnd type="triangle" w="med" len="med"/>
          </a:ln>
        </p:spPr>
      </p:cxnSp>
      <p:sp>
        <p:nvSpPr>
          <p:cNvPr id="196" name="gal 196"/>
          <p:cNvSpPr/>
          <p:nvPr/>
        </p:nvSpPr>
        <p:spPr>
          <a:xfrm>
            <a:off x="548640" y="5596128"/>
            <a:ext cx="5486400" cy="658368"/>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750" b="1" dirty="0">
                <a:solidFill>
                  <a:srgbClr val="F5B700"/>
                </a:solidFill>
                <a:latin typeface="Arial"/>
                <a:ea typeface="Arial"/>
                <a:cs typeface="Arial"/>
              </a:rPr>
              <a:t>RUNS TODAY</a:t>
            </a:r>
          </a:p>
          <a:p>
            <a:pPr algn="l" marL="0" indent="0">
              <a:lnSpc>
                <a:spcPct val="92000"/>
              </a:lnSpc>
              <a:buNone/>
            </a:pPr>
            <a:r>
              <a:rPr lang="en-US" sz="850" dirty="0">
                <a:solidFill>
                  <a:srgbClr val="F3E6D6"/>
                </a:solidFill>
                <a:latin typeface="Arial"/>
                <a:ea typeface="Arial"/>
                <a:cs typeface="Arial"/>
              </a:rPr>
              <a:t>P1 / P2 / P3 entry, bucket packs, per-use-case rate in the dashboard, Galileo Observe view.</a:t>
            </a:r>
          </a:p>
        </p:txBody>
      </p:sp>
      <p:sp>
        <p:nvSpPr>
          <p:cNvPr id="197" name="gal 197"/>
          <p:cNvSpPr/>
          <p:nvPr/>
        </p:nvSpPr>
        <p:spPr>
          <a:xfrm>
            <a:off x="6153912" y="5596128"/>
            <a:ext cx="5486400" cy="65836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750" b="1" dirty="0">
                <a:solidFill>
                  <a:srgbClr val="141010"/>
                </a:solidFill>
                <a:latin typeface="Arial"/>
                <a:ea typeface="Arial"/>
                <a:cs typeface="Arial"/>
              </a:rPr>
              <a:t>GAPS / PROPOSALS</a:t>
            </a:r>
          </a:p>
          <a:p>
            <a:pPr algn="l" marL="0" indent="0">
              <a:lnSpc>
                <a:spcPct val="92000"/>
              </a:lnSpc>
              <a:buNone/>
            </a:pPr>
            <a:r>
              <a:rPr lang="en-US" sz="850" dirty="0">
                <a:solidFill>
                  <a:srgbClr val="141010"/>
                </a:solidFill>
                <a:latin typeface="Arial"/>
                <a:ea typeface="Arial"/>
                <a:cs typeface="Arial"/>
              </a:rPr>
              <a:t>Tail and session-consistent sampling (G7); alert routing; registry agent id (G1).</a:t>
            </a:r>
          </a:p>
        </p:txBody>
      </p:sp>
      <p:sp>
        <p:nvSpPr>
          <p:cNvPr id="198" name="gal 198"/>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as described by the platform team (14 Oct 2026); VZAISDK = Kairos SDK. Storage and PII masking are handled in the backend. Gn = gap register, slide 35. Metric packs: slide 6.</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09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segment C of 4</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Non-critical 1P · high and low volume:</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default pipe, tune only if needed</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761488"/>
            <a:ext cx="1417320" cy="109728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Non-critical first-party</a:t>
            </a:r>
          </a:p>
          <a:p>
            <a:pPr algn="l" marL="0" indent="0">
              <a:lnSpc>
                <a:spcPct val="93000"/>
              </a:lnSpc>
              <a:buNone/>
            </a:pPr>
            <a:r>
              <a:rPr lang="en-US" sz="850" dirty="0">
                <a:solidFill>
                  <a:srgbClr val="F3E6D6"/>
                </a:solidFill>
                <a:latin typeface="Arial"/>
                <a:ea typeface="Arial"/>
                <a:cs typeface="Arial"/>
              </a:rPr>
              <a:t>HV: internal assistants at scale · LV: pilots, team tools</a:t>
            </a:r>
          </a:p>
        </p:txBody>
      </p:sp>
      <p:sp>
        <p:nvSpPr>
          <p:cNvPr id="162" name="gal 162"/>
          <p:cNvSpPr/>
          <p:nvPr/>
        </p:nvSpPr>
        <p:spPr>
          <a:xfrm>
            <a:off x="548640" y="4041648"/>
            <a:ext cx="1417320" cy="74980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750" b="1" dirty="0">
                <a:solidFill>
                  <a:srgbClr val="D9B48A"/>
                </a:solidFill>
                <a:latin typeface="Arial"/>
                <a:ea typeface="Arial"/>
                <a:cs typeface="Arial"/>
              </a:rPr>
              <a:t>PROPOSED</a:t>
            </a:r>
          </a:p>
          <a:p>
            <a:pPr algn="l" marL="0" indent="0">
              <a:lnSpc>
                <a:spcPct val="93000"/>
              </a:lnSpc>
              <a:buNone/>
            </a:pPr>
            <a:r>
              <a:rPr lang="en-US" sz="850" dirty="0">
                <a:solidFill>
                  <a:srgbClr val="F3E6D6"/>
                </a:solidFill>
                <a:latin typeface="Arial"/>
                <a:ea typeface="Arial"/>
                <a:cs typeface="Arial"/>
              </a:rPr>
              <a:t>registry entry: agent id, owner, risk tier</a:t>
            </a:r>
          </a:p>
        </p:txBody>
      </p:sp>
      <p:sp>
        <p:nvSpPr>
          <p:cNvPr id="163" name="gal 163"/>
          <p:cNvSpPr/>
          <p:nvPr/>
        </p:nvSpPr>
        <p:spPr>
          <a:xfrm>
            <a:off x="1536192" y="395020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G1</a:t>
            </a:r>
          </a:p>
        </p:txBody>
      </p:sp>
      <p:sp>
        <p:nvSpPr>
          <p:cNvPr id="164" name="gal 164"/>
          <p:cNvSpPr/>
          <p:nvPr/>
        </p:nvSpPr>
        <p:spPr>
          <a:xfrm>
            <a:off x="2103120" y="2807208"/>
            <a:ext cx="1188720" cy="1005840"/>
          </a:xfrm>
          <a:prstGeom prst="diamond">
            <a:avLst/>
          </a:prstGeom>
          <a:solidFill>
            <a:srgbClr val="2A1A16"/>
          </a:solidFill>
          <a:ln w="15875">
            <a:solidFill>
              <a:srgbClr val="F5B700"/>
            </a:solidFill>
          </a:ln>
        </p:spPr>
        <p:txBody>
          <a:bodyPr wrap="square" lIns="45720" tIns="0" rIns="45720" bIns="0" rtlCol="0" anchor="ctr">
            <a:noAutofit/>
          </a:bodyPr>
          <a:lstStyle/>
          <a:p>
            <a:pPr algn="ctr" marL="0" indent="0">
              <a:lnSpc>
                <a:spcPct val="90000"/>
              </a:lnSpc>
              <a:buNone/>
            </a:pPr>
            <a:r>
              <a:rPr lang="en-US" sz="800" b="1" dirty="0">
                <a:solidFill>
                  <a:srgbClr val="FFFFFF"/>
                </a:solidFill>
                <a:latin typeface="Arial"/>
                <a:ea typeface="Arial"/>
                <a:cs typeface="Arial"/>
              </a:rPr>
              <a:t>Agentic?</a:t>
            </a:r>
          </a:p>
        </p:txBody>
      </p:sp>
      <p:cxnSp>
        <p:nvCxnSpPr>
          <p:cNvPr id="165" name="g2 flow 165"/>
          <p:cNvCxnSpPr/>
          <p:nvPr/>
        </p:nvCxnSpPr>
        <p:spPr>
          <a:xfrm>
            <a:off x="1965960" y="3310128"/>
            <a:ext cx="137160" cy="0"/>
          </a:xfrm>
          <a:prstGeom prst="line">
            <a:avLst/>
          </a:prstGeom>
          <a:ln w="15875">
            <a:solidFill>
              <a:srgbClr val="EE0000"/>
            </a:solidFill>
            <a:tailEnd type="triangle" w="med" len="med"/>
          </a:ln>
        </p:spPr>
      </p:cxnSp>
      <p:sp>
        <p:nvSpPr>
          <p:cNvPr id="166" name="gal 166"/>
          <p:cNvSpPr/>
          <p:nvPr/>
        </p:nvSpPr>
        <p:spPr>
          <a:xfrm>
            <a:off x="3520440" y="2304288"/>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AGENTIC</a:t>
            </a:r>
          </a:p>
          <a:p>
            <a:pPr algn="l" marL="0" indent="0">
              <a:lnSpc>
                <a:spcPct val="90000"/>
              </a:lnSpc>
              <a:buNone/>
            </a:pPr>
            <a:r>
              <a:rPr lang="en-US" sz="900" b="1" dirty="0">
                <a:solidFill>
                  <a:srgbClr val="FFFFFF"/>
                </a:solidFill>
                <a:latin typeface="Arial"/>
                <a:ea typeface="Arial"/>
                <a:cs typeface="Arial"/>
              </a:rPr>
              <a:t>P2  Kairos SDK (VZAISDK)</a:t>
            </a:r>
          </a:p>
          <a:p>
            <a:pPr algn="l" marL="0" indent="0">
              <a:lnSpc>
                <a:spcPct val="90000"/>
              </a:lnSpc>
              <a:buNone/>
            </a:pPr>
            <a:r>
              <a:rPr lang="en-US" sz="800" dirty="0">
                <a:solidFill>
                  <a:srgbClr val="F3E6D6"/>
                </a:solidFill>
                <a:latin typeface="Arial"/>
                <a:ea typeface="Arial"/>
                <a:cs typeface="Arial"/>
              </a:rPr>
              <a:t>+ Galileo callback: LLM + tool spans</a:t>
            </a:r>
          </a:p>
        </p:txBody>
      </p:sp>
      <p:sp>
        <p:nvSpPr>
          <p:cNvPr id="167" name="gal 167"/>
          <p:cNvSpPr/>
          <p:nvPr/>
        </p:nvSpPr>
        <p:spPr>
          <a:xfrm>
            <a:off x="3520440" y="2999232"/>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NON-AGENTIC</a:t>
            </a:r>
          </a:p>
          <a:p>
            <a:pPr algn="l" marL="0" indent="0">
              <a:lnSpc>
                <a:spcPct val="90000"/>
              </a:lnSpc>
              <a:buNone/>
            </a:pPr>
            <a:r>
              <a:rPr lang="en-US" sz="900" b="1" dirty="0">
                <a:solidFill>
                  <a:srgbClr val="FFFFFF"/>
                </a:solidFill>
                <a:latin typeface="Arial"/>
                <a:ea typeface="Arial"/>
                <a:cs typeface="Arial"/>
              </a:rPr>
              <a:t>P1  Kairos gateway</a:t>
            </a:r>
          </a:p>
          <a:p>
            <a:pPr algn="l" marL="0" indent="0">
              <a:lnSpc>
                <a:spcPct val="90000"/>
              </a:lnSpc>
              <a:buNone/>
            </a:pPr>
            <a:r>
              <a:rPr lang="en-US" sz="800" dirty="0">
                <a:solidFill>
                  <a:srgbClr val="F3E6D6"/>
                </a:solidFill>
                <a:latin typeface="Arial"/>
                <a:ea typeface="Arial"/>
                <a:cs typeface="Arial"/>
              </a:rPr>
              <a:t>common logging; templated metrics</a:t>
            </a:r>
          </a:p>
        </p:txBody>
      </p:sp>
      <p:sp>
        <p:nvSpPr>
          <p:cNvPr id="168" name="gal 168"/>
          <p:cNvSpPr/>
          <p:nvPr/>
        </p:nvSpPr>
        <p:spPr>
          <a:xfrm>
            <a:off x="3520440" y="3694176"/>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CUSTOM STACK</a:t>
            </a:r>
          </a:p>
          <a:p>
            <a:pPr algn="l" marL="0" indent="0">
              <a:lnSpc>
                <a:spcPct val="90000"/>
              </a:lnSpc>
              <a:buNone/>
            </a:pPr>
            <a:r>
              <a:rPr lang="en-US" sz="900" b="1" dirty="0">
                <a:solidFill>
                  <a:srgbClr val="FFFFFF"/>
                </a:solidFill>
                <a:latin typeface="Arial"/>
                <a:ea typeface="Arial"/>
                <a:cs typeface="Arial"/>
              </a:rPr>
              <a:t>P3  own OTel via Kairos</a:t>
            </a:r>
          </a:p>
          <a:p>
            <a:pPr algn="l" marL="0" indent="0">
              <a:lnSpc>
                <a:spcPct val="90000"/>
              </a:lnSpc>
              <a:buNone/>
            </a:pPr>
            <a:r>
              <a:rPr lang="en-US" sz="800" dirty="0">
                <a:solidFill>
                  <a:srgbClr val="F3E6D6"/>
                </a:solidFill>
                <a:latin typeface="Arial"/>
                <a:ea typeface="Arial"/>
                <a:cs typeface="Arial"/>
              </a:rPr>
              <a:t>OTLP → KAIROS_OTLP_ENDPOINT</a:t>
            </a:r>
          </a:p>
        </p:txBody>
      </p:sp>
      <p:cxnSp>
        <p:nvCxnSpPr>
          <p:cNvPr id="169" name="g2 flow 169"/>
          <p:cNvCxnSpPr/>
          <p:nvPr/>
        </p:nvCxnSpPr>
        <p:spPr>
          <a:xfrm flipV="1">
            <a:off x="2702052" y="2615184"/>
            <a:ext cx="0" cy="192024"/>
          </a:xfrm>
          <a:prstGeom prst="line">
            <a:avLst/>
          </a:prstGeom>
          <a:ln w="15875">
            <a:solidFill>
              <a:srgbClr val="EE0000"/>
            </a:solidFill>
          </a:ln>
        </p:spPr>
      </p:cxnSp>
      <p:cxnSp>
        <p:nvCxnSpPr>
          <p:cNvPr id="170" name="g2 flow 170"/>
          <p:cNvCxnSpPr/>
          <p:nvPr/>
        </p:nvCxnSpPr>
        <p:spPr>
          <a:xfrm>
            <a:off x="2702052" y="2615184"/>
            <a:ext cx="818388" cy="0"/>
          </a:xfrm>
          <a:prstGeom prst="line">
            <a:avLst/>
          </a:prstGeom>
          <a:ln w="15875">
            <a:solidFill>
              <a:srgbClr val="EE0000"/>
            </a:solidFill>
            <a:tailEnd type="triangle" w="med" len="med"/>
          </a:ln>
        </p:spPr>
      </p:cxnSp>
      <p:cxnSp>
        <p:nvCxnSpPr>
          <p:cNvPr id="171" name="g2 flow 171"/>
          <p:cNvCxnSpPr/>
          <p:nvPr/>
        </p:nvCxnSpPr>
        <p:spPr>
          <a:xfrm>
            <a:off x="3291840" y="3310128"/>
            <a:ext cx="82296" cy="0"/>
          </a:xfrm>
          <a:prstGeom prst="line">
            <a:avLst/>
          </a:prstGeom>
          <a:ln w="15875">
            <a:solidFill>
              <a:srgbClr val="EE0000"/>
            </a:solidFill>
          </a:ln>
        </p:spPr>
      </p:cxnSp>
      <p:cxnSp>
        <p:nvCxnSpPr>
          <p:cNvPr id="172" name="g2 flow 172"/>
          <p:cNvCxnSpPr/>
          <p:nvPr/>
        </p:nvCxnSpPr>
        <p:spPr>
          <a:xfrm>
            <a:off x="3374136" y="3310128"/>
            <a:ext cx="0" cy="0"/>
          </a:xfrm>
          <a:prstGeom prst="line">
            <a:avLst/>
          </a:prstGeom>
          <a:ln w="15875">
            <a:solidFill>
              <a:srgbClr val="EE0000"/>
            </a:solidFill>
          </a:ln>
        </p:spPr>
      </p:cxnSp>
      <p:cxnSp>
        <p:nvCxnSpPr>
          <p:cNvPr id="173" name="g2 flow 173"/>
          <p:cNvCxnSpPr/>
          <p:nvPr/>
        </p:nvCxnSpPr>
        <p:spPr>
          <a:xfrm>
            <a:off x="3374136" y="3310128"/>
            <a:ext cx="146304" cy="0"/>
          </a:xfrm>
          <a:prstGeom prst="line">
            <a:avLst/>
          </a:prstGeom>
          <a:ln w="15875">
            <a:solidFill>
              <a:srgbClr val="EE0000"/>
            </a:solidFill>
            <a:tailEnd type="triangle" w="med" len="med"/>
          </a:ln>
        </p:spPr>
      </p:cxnSp>
      <p:cxnSp>
        <p:nvCxnSpPr>
          <p:cNvPr id="174" name="g2 flow 174"/>
          <p:cNvCxnSpPr/>
          <p:nvPr/>
        </p:nvCxnSpPr>
        <p:spPr>
          <a:xfrm>
            <a:off x="2702052" y="3813048"/>
            <a:ext cx="0" cy="192024"/>
          </a:xfrm>
          <a:prstGeom prst="line">
            <a:avLst/>
          </a:prstGeom>
          <a:ln w="15875">
            <a:solidFill>
              <a:srgbClr val="EE0000"/>
            </a:solidFill>
          </a:ln>
        </p:spPr>
      </p:cxnSp>
      <p:cxnSp>
        <p:nvCxnSpPr>
          <p:cNvPr id="175" name="g2 flow 175"/>
          <p:cNvCxnSpPr/>
          <p:nvPr/>
        </p:nvCxnSpPr>
        <p:spPr>
          <a:xfrm>
            <a:off x="2702052" y="4005072"/>
            <a:ext cx="818388" cy="0"/>
          </a:xfrm>
          <a:prstGeom prst="line">
            <a:avLst/>
          </a:prstGeom>
          <a:ln w="15875">
            <a:solidFill>
              <a:srgbClr val="EE0000"/>
            </a:solidFill>
            <a:tailEnd type="triangle" w="med" len="med"/>
          </a:ln>
        </p:spPr>
      </p:cxnSp>
      <p:cxnSp>
        <p:nvCxnSpPr>
          <p:cNvPr id="176" name="g2 flow 176"/>
          <p:cNvCxnSpPr/>
          <p:nvPr/>
        </p:nvCxnSpPr>
        <p:spPr>
          <a:xfrm>
            <a:off x="5349240" y="2615184"/>
            <a:ext cx="155448" cy="0"/>
          </a:xfrm>
          <a:prstGeom prst="line">
            <a:avLst/>
          </a:prstGeom>
          <a:ln w="15875">
            <a:solidFill>
              <a:srgbClr val="EE0000"/>
            </a:solidFill>
          </a:ln>
        </p:spPr>
      </p:cxnSp>
      <p:cxnSp>
        <p:nvCxnSpPr>
          <p:cNvPr id="177" name="g2 flow 177"/>
          <p:cNvCxnSpPr/>
          <p:nvPr/>
        </p:nvCxnSpPr>
        <p:spPr>
          <a:xfrm>
            <a:off x="5349240" y="3310128"/>
            <a:ext cx="155448" cy="0"/>
          </a:xfrm>
          <a:prstGeom prst="line">
            <a:avLst/>
          </a:prstGeom>
          <a:ln w="15875">
            <a:solidFill>
              <a:srgbClr val="EE0000"/>
            </a:solidFill>
          </a:ln>
        </p:spPr>
      </p:cxnSp>
      <p:cxnSp>
        <p:nvCxnSpPr>
          <p:cNvPr id="178" name="g2 flow 178"/>
          <p:cNvCxnSpPr/>
          <p:nvPr/>
        </p:nvCxnSpPr>
        <p:spPr>
          <a:xfrm>
            <a:off x="5349240" y="4005072"/>
            <a:ext cx="155448" cy="0"/>
          </a:xfrm>
          <a:prstGeom prst="line">
            <a:avLst/>
          </a:prstGeom>
          <a:ln w="15875">
            <a:solidFill>
              <a:srgbClr val="EE0000"/>
            </a:solidFill>
          </a:ln>
        </p:spPr>
      </p:cxnSp>
      <p:cxnSp>
        <p:nvCxnSpPr>
          <p:cNvPr id="179" name="g2 flow 179"/>
          <p:cNvCxnSpPr/>
          <p:nvPr/>
        </p:nvCxnSpPr>
        <p:spPr>
          <a:xfrm>
            <a:off x="5504688" y="2615184"/>
            <a:ext cx="0" cy="1389888"/>
          </a:xfrm>
          <a:prstGeom prst="line">
            <a:avLst/>
          </a:prstGeom>
          <a:ln w="15875">
            <a:solidFill>
              <a:srgbClr val="EE0000"/>
            </a:solidFill>
          </a:ln>
        </p:spPr>
      </p:cxnSp>
      <p:cxnSp>
        <p:nvCxnSpPr>
          <p:cNvPr id="180" name="g2 flow 180"/>
          <p:cNvCxnSpPr/>
          <p:nvPr/>
        </p:nvCxnSpPr>
        <p:spPr>
          <a:xfrm>
            <a:off x="5504688" y="3310128"/>
            <a:ext cx="118872" cy="0"/>
          </a:xfrm>
          <a:prstGeom prst="line">
            <a:avLst/>
          </a:prstGeom>
          <a:ln w="15875">
            <a:solidFill>
              <a:srgbClr val="EE0000"/>
            </a:solidFill>
            <a:tailEnd type="triangle" w="med" len="med"/>
          </a:ln>
        </p:spPr>
      </p:cxnSp>
      <p:sp>
        <p:nvSpPr>
          <p:cNvPr id="181" name="gal 181"/>
          <p:cNvSpPr/>
          <p:nvPr/>
        </p:nvSpPr>
        <p:spPr>
          <a:xfrm>
            <a:off x="5623560" y="2715768"/>
            <a:ext cx="123444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Common Logging Service</a:t>
            </a:r>
          </a:p>
          <a:p>
            <a:pPr algn="l" marL="0" indent="0">
              <a:lnSpc>
                <a:spcPct val="93000"/>
              </a:lnSpc>
              <a:buNone/>
            </a:pPr>
            <a:r>
              <a:rPr lang="en-US" sz="850" dirty="0">
                <a:solidFill>
                  <a:srgbClr val="F3E6D6"/>
                </a:solidFill>
                <a:latin typeface="Arial"/>
                <a:ea typeface="Arial"/>
                <a:cs typeface="Arial"/>
              </a:rPr>
              <a:t>all patterns</a:t>
            </a:r>
          </a:p>
        </p:txBody>
      </p:sp>
      <p:sp>
        <p:nvSpPr>
          <p:cNvPr id="182" name="gal 182"/>
          <p:cNvSpPr/>
          <p:nvPr/>
        </p:nvSpPr>
        <p:spPr>
          <a:xfrm>
            <a:off x="5623560" y="2103120"/>
            <a:ext cx="1234440" cy="5029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BUCKET</a:t>
            </a:r>
          </a:p>
          <a:p>
            <a:pPr algn="l" marL="0" indent="0">
              <a:lnSpc>
                <a:spcPct val="90000"/>
              </a:lnSpc>
              <a:buNone/>
            </a:pPr>
            <a:r>
              <a:rPr lang="en-US" sz="800" dirty="0">
                <a:solidFill>
                  <a:srgbClr val="F3E6D6"/>
                </a:solidFill>
                <a:latin typeface="Arial"/>
                <a:ea typeface="Arial"/>
                <a:cs typeface="Arial"/>
              </a:rPr>
              <a:t>by type: user-facing, agentic or non-agent</a:t>
            </a:r>
          </a:p>
        </p:txBody>
      </p:sp>
      <p:cxnSp>
        <p:nvCxnSpPr>
          <p:cNvPr id="183" name="g2 flow 183"/>
          <p:cNvCxnSpPr/>
          <p:nvPr/>
        </p:nvCxnSpPr>
        <p:spPr>
          <a:xfrm>
            <a:off x="6240780" y="2606040"/>
            <a:ext cx="0" cy="109728"/>
          </a:xfrm>
          <a:prstGeom prst="line">
            <a:avLst/>
          </a:prstGeom>
          <a:ln w="15875">
            <a:solidFill>
              <a:srgbClr val="EE0000"/>
            </a:solidFill>
            <a:tailEnd type="triangle" w="med" len="med"/>
          </a:ln>
        </p:spPr>
      </p:cxnSp>
      <p:cxnSp>
        <p:nvCxnSpPr>
          <p:cNvPr id="184" name="g2 flow 184"/>
          <p:cNvCxnSpPr/>
          <p:nvPr/>
        </p:nvCxnSpPr>
        <p:spPr>
          <a:xfrm>
            <a:off x="6858000" y="3310128"/>
            <a:ext cx="256032" cy="0"/>
          </a:xfrm>
          <a:prstGeom prst="line">
            <a:avLst/>
          </a:prstGeom>
          <a:ln w="15875">
            <a:solidFill>
              <a:srgbClr val="EE0000"/>
            </a:solidFill>
            <a:tailEnd type="triangle" w="med" len="med"/>
          </a:ln>
        </p:spPr>
      </p:cxnSp>
      <p:sp>
        <p:nvSpPr>
          <p:cNvPr id="185" name="gal 185"/>
          <p:cNvSpPr/>
          <p:nvPr/>
        </p:nvSpPr>
        <p:spPr>
          <a:xfrm>
            <a:off x="7114032" y="2395728"/>
            <a:ext cx="1600200" cy="1828800"/>
          </a:xfrm>
          <a:prstGeom prst="roundRect">
            <a:avLst>
              <a:gd name="adj" fmla="val 10000"/>
            </a:avLst>
          </a:prstGeom>
          <a:solidFill>
            <a:srgbClr val="2A1A16"/>
          </a:solidFill>
          <a:ln w="12700">
            <a:solidFill>
              <a:srgbClr val="D9B48A"/>
            </a:solidFill>
          </a:ln>
        </p:spPr>
        <p:txBody>
          <a:bodyPr wrap="square" lIns="91440" tIns="73152" rIns="73152" bIns="45720" rtlCol="0" anchor="t">
            <a:noAutofit/>
          </a:bodyPr>
          <a:lstStyle/>
          <a:p>
            <a:pPr algn="l" marL="0" indent="0">
              <a:lnSpc>
                <a:spcPct val="95000"/>
              </a:lnSpc>
              <a:buNone/>
            </a:pPr>
            <a:r>
              <a:rPr lang="en-US" sz="1000" b="1" dirty="0">
                <a:solidFill>
                  <a:srgbClr val="FFFFFF"/>
                </a:solidFill>
                <a:latin typeface="Arial"/>
                <a:ea typeface="Arial"/>
                <a:cs typeface="Arial"/>
              </a:rPr>
              <a:t>Trace sampling</a:t>
            </a:r>
          </a:p>
          <a:p>
            <a:pPr algn="l" marL="0" indent="0">
              <a:lnSpc>
                <a:spcPct val="95000"/>
              </a:lnSpc>
              <a:buNone/>
            </a:pPr>
            <a:r>
              <a:rPr lang="en-US" sz="850" b="1" dirty="0">
                <a:solidFill>
                  <a:srgbClr val="F5B700"/>
                </a:solidFill>
                <a:latin typeface="Arial"/>
                <a:ea typeface="Arial"/>
                <a:cs typeface="Arial"/>
              </a:rPr>
              <a:t>global default rate</a:t>
            </a:r>
          </a:p>
          <a:p>
            <a:pPr algn="l" marL="0" indent="0">
              <a:lnSpc>
                <a:spcPct val="95000"/>
              </a:lnSpc>
              <a:buNone/>
            </a:pPr>
            <a:r>
              <a:rPr lang="en-US" sz="850" dirty="0">
                <a:solidFill>
                  <a:srgbClr val="F3E6D6"/>
                </a:solidFill>
                <a:latin typeface="Arial"/>
                <a:ea typeface="Arial"/>
                <a:cs typeface="Arial"/>
              </a:rPr>
              <a:t>HV: keep the default</a:t>
            </a:r>
          </a:p>
          <a:p>
            <a:pPr algn="l" marL="0" indent="0">
              <a:lnSpc>
                <a:spcPct val="95000"/>
              </a:lnSpc>
              <a:buNone/>
            </a:pPr>
            <a:r>
              <a:rPr lang="en-US" sz="850" dirty="0">
                <a:solidFill>
                  <a:srgbClr val="F3E6D6"/>
                </a:solidFill>
                <a:latin typeface="Arial"/>
                <a:ea typeface="Arial"/>
                <a:cs typeface="Arial"/>
              </a:rPr>
              <a:t>LV: raise in the dashboard if too few traces</a:t>
            </a:r>
          </a:p>
        </p:txBody>
      </p:sp>
      <p:sp>
        <p:nvSpPr>
          <p:cNvPr id="186" name="gal 186"/>
          <p:cNvSpPr/>
          <p:nvPr/>
        </p:nvSpPr>
        <p:spPr>
          <a:xfrm>
            <a:off x="7114032" y="4361688"/>
            <a:ext cx="160020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add-on</a:t>
            </a:r>
          </a:p>
          <a:p>
            <a:pPr algn="l" marL="0" indent="0">
              <a:lnSpc>
                <a:spcPct val="90000"/>
              </a:lnSpc>
              <a:buNone/>
            </a:pPr>
            <a:r>
              <a:rPr lang="en-US" sz="850" dirty="0">
                <a:solidFill>
                  <a:srgbClr val="F3E6D6"/>
                </a:solidFill>
                <a:latin typeface="Arial"/>
                <a:ea typeface="Arial"/>
                <a:cs typeface="Arial"/>
              </a:rPr>
              <a:t>HV: error + latency triggers on top of default; LV: none</a:t>
            </a:r>
          </a:p>
        </p:txBody>
      </p:sp>
      <p:cxnSp>
        <p:nvCxnSpPr>
          <p:cNvPr id="187" name="g2 flow 187"/>
          <p:cNvCxnSpPr/>
          <p:nvPr/>
        </p:nvCxnSpPr>
        <p:spPr>
          <a:xfrm>
            <a:off x="8714232" y="3310128"/>
            <a:ext cx="246888" cy="0"/>
          </a:xfrm>
          <a:prstGeom prst="line">
            <a:avLst/>
          </a:prstGeom>
          <a:ln w="15875">
            <a:solidFill>
              <a:srgbClr val="EE0000"/>
            </a:solidFill>
            <a:tailEnd type="triangle" w="med" len="med"/>
          </a:ln>
        </p:spPr>
      </p:cxnSp>
      <p:sp>
        <p:nvSpPr>
          <p:cNvPr id="188" name="gal 188"/>
          <p:cNvSpPr/>
          <p:nvPr/>
        </p:nvSpPr>
        <p:spPr>
          <a:xfrm>
            <a:off x="8961120" y="2715768"/>
            <a:ext cx="12801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Service</a:t>
            </a:r>
          </a:p>
          <a:p>
            <a:pPr algn="l" marL="0" indent="0">
              <a:lnSpc>
                <a:spcPct val="93000"/>
              </a:lnSpc>
              <a:buNone/>
            </a:pPr>
            <a:r>
              <a:rPr lang="en-US" sz="850" dirty="0">
                <a:solidFill>
                  <a:srgbClr val="F3E6D6"/>
                </a:solidFill>
                <a:latin typeface="Arial"/>
                <a:ea typeface="Arial"/>
                <a:cs typeface="Arial"/>
              </a:rPr>
              <a:t>computes the bucket pack on sampled traces</a:t>
            </a:r>
          </a:p>
        </p:txBody>
      </p:sp>
      <p:sp>
        <p:nvSpPr>
          <p:cNvPr id="189" name="gal 189"/>
          <p:cNvSpPr/>
          <p:nvPr/>
        </p:nvSpPr>
        <p:spPr>
          <a:xfrm>
            <a:off x="8961120" y="4361688"/>
            <a:ext cx="128016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eval mode</a:t>
            </a:r>
          </a:p>
          <a:p>
            <a:pPr algn="l" marL="0" indent="0">
              <a:lnSpc>
                <a:spcPct val="90000"/>
              </a:lnSpc>
              <a:buNone/>
            </a:pPr>
            <a:r>
              <a:rPr lang="en-US" sz="850" dirty="0">
                <a:solidFill>
                  <a:srgbClr val="F3E6D6"/>
                </a:solidFill>
                <a:latin typeface="Arial"/>
                <a:ea typeface="Arial"/>
                <a:cs typeface="Arial"/>
              </a:rPr>
              <a:t>async on the sample; LV adds an offline set before release</a:t>
            </a:r>
          </a:p>
        </p:txBody>
      </p:sp>
      <p:cxnSp>
        <p:nvCxnSpPr>
          <p:cNvPr id="190" name="g2 flow 190"/>
          <p:cNvCxnSpPr/>
          <p:nvPr/>
        </p:nvCxnSpPr>
        <p:spPr>
          <a:xfrm>
            <a:off x="9601200" y="3904488"/>
            <a:ext cx="0" cy="457200"/>
          </a:xfrm>
          <a:prstGeom prst="line">
            <a:avLst/>
          </a:prstGeom>
          <a:ln w="15875">
            <a:solidFill>
              <a:srgbClr val="EE0000"/>
            </a:solidFill>
            <a:prstDash val="dash"/>
            <a:tailEnd type="triangle" w="med" len="med"/>
          </a:ln>
        </p:spPr>
      </p:cxnSp>
      <p:cxnSp>
        <p:nvCxnSpPr>
          <p:cNvPr id="191" name="g2 flow 191"/>
          <p:cNvCxnSpPr/>
          <p:nvPr/>
        </p:nvCxnSpPr>
        <p:spPr>
          <a:xfrm>
            <a:off x="10241280" y="3310128"/>
            <a:ext cx="228600" cy="0"/>
          </a:xfrm>
          <a:prstGeom prst="line">
            <a:avLst/>
          </a:prstGeom>
          <a:ln w="15875">
            <a:solidFill>
              <a:srgbClr val="EE0000"/>
            </a:solidFill>
            <a:tailEnd type="triangle" w="med" len="med"/>
          </a:ln>
        </p:spPr>
      </p:cxnSp>
      <p:sp>
        <p:nvSpPr>
          <p:cNvPr id="192" name="gal 192"/>
          <p:cNvSpPr/>
          <p:nvPr/>
        </p:nvSpPr>
        <p:spPr>
          <a:xfrm>
            <a:off x="10469880" y="2395728"/>
            <a:ext cx="1170432" cy="1828800"/>
          </a:xfrm>
          <a:prstGeom prst="roundRect">
            <a:avLst>
              <a:gd name="adj" fmla="val 10000"/>
            </a:avLst>
          </a:prstGeom>
          <a:solidFill>
            <a:srgbClr val="2A1A16"/>
          </a:solidFill>
          <a:ln w="12700">
            <a:solidFill>
              <a:srgbClr val="D9B48A"/>
            </a:solidFill>
          </a:ln>
        </p:spPr>
        <p:txBody>
          <a:bodyPr wrap="square" lIns="82296" tIns="73152" rIns="64008" bIns="45720" rtlCol="0" anchor="t">
            <a:noAutofit/>
          </a:bodyPr>
          <a:lstStyle/>
          <a:p>
            <a:pPr algn="l" marL="0" indent="0">
              <a:lnSpc>
                <a:spcPct val="93000"/>
              </a:lnSpc>
              <a:buNone/>
            </a:pPr>
            <a:r>
              <a:rPr lang="en-US" sz="1000" b="1" dirty="0">
                <a:solidFill>
                  <a:srgbClr val="FFFFFF"/>
                </a:solidFill>
                <a:latin typeface="Arial"/>
                <a:ea typeface="Arial"/>
                <a:cs typeface="Arial"/>
              </a:rPr>
              <a:t>Galileo Observe</a:t>
            </a:r>
          </a:p>
          <a:p>
            <a:pPr algn="l" marL="0" indent="0">
              <a:lnSpc>
                <a:spcPct val="93000"/>
              </a:lnSpc>
              <a:buNone/>
            </a:pPr>
            <a:r>
              <a:rPr lang="en-US" sz="850" dirty="0">
                <a:solidFill>
                  <a:srgbClr val="F3E6D6"/>
                </a:solidFill>
                <a:latin typeface="Arial"/>
                <a:ea typeface="Arial"/>
                <a:cs typeface="Arial"/>
              </a:rPr>
              <a:t>use-case view: pack scores and sampled traces</a:t>
            </a:r>
          </a:p>
        </p:txBody>
      </p:sp>
      <p:sp>
        <p:nvSpPr>
          <p:cNvPr id="193" name="gal 193"/>
          <p:cNvSpPr/>
          <p:nvPr/>
        </p:nvSpPr>
        <p:spPr>
          <a:xfrm>
            <a:off x="10469880" y="4361688"/>
            <a:ext cx="1170432"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alerts</a:t>
            </a:r>
          </a:p>
          <a:p>
            <a:pPr algn="l" marL="0" indent="0">
              <a:lnSpc>
                <a:spcPct val="90000"/>
              </a:lnSpc>
              <a:buNone/>
            </a:pPr>
            <a:r>
              <a:rPr lang="en-US" sz="850" dirty="0">
                <a:solidFill>
                  <a:srgbClr val="F3E6D6"/>
                </a:solidFill>
                <a:latin typeface="Arial"/>
                <a:ea typeface="Arial"/>
                <a:cs typeface="Arial"/>
              </a:rPr>
              <a:t>HV: threshold + daily digest · LV: weekly digest</a:t>
            </a:r>
          </a:p>
        </p:txBody>
      </p:sp>
      <p:cxnSp>
        <p:nvCxnSpPr>
          <p:cNvPr id="194" name="g2 flow 194"/>
          <p:cNvCxnSpPr/>
          <p:nvPr/>
        </p:nvCxnSpPr>
        <p:spPr>
          <a:xfrm>
            <a:off x="11055096" y="4224528"/>
            <a:ext cx="0" cy="137160"/>
          </a:xfrm>
          <a:prstGeom prst="line">
            <a:avLst/>
          </a:prstGeom>
          <a:ln w="15875">
            <a:solidFill>
              <a:srgbClr val="EE0000"/>
            </a:solidFill>
            <a:prstDash val="dash"/>
            <a:tailEnd type="triangle" w="med" len="med"/>
          </a:ln>
        </p:spPr>
      </p:cxnSp>
      <p:sp>
        <p:nvSpPr>
          <p:cNvPr id="195" name="gal 195"/>
          <p:cNvSpPr/>
          <p:nvPr/>
        </p:nvSpPr>
        <p:spPr>
          <a:xfrm>
            <a:off x="548640" y="5596128"/>
            <a:ext cx="5486400" cy="658368"/>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750" b="1" dirty="0">
                <a:solidFill>
                  <a:srgbClr val="F5B700"/>
                </a:solidFill>
                <a:latin typeface="Arial"/>
                <a:ea typeface="Arial"/>
                <a:cs typeface="Arial"/>
              </a:rPr>
              <a:t>RUNS TODAY</a:t>
            </a:r>
          </a:p>
          <a:p>
            <a:pPr algn="l" marL="0" indent="0">
              <a:lnSpc>
                <a:spcPct val="92000"/>
              </a:lnSpc>
              <a:buNone/>
            </a:pPr>
            <a:r>
              <a:rPr lang="en-US" sz="850" dirty="0">
                <a:solidFill>
                  <a:srgbClr val="F3E6D6"/>
                </a:solidFill>
                <a:latin typeface="Arial"/>
                <a:ea typeface="Arial"/>
                <a:cs typeface="Arial"/>
              </a:rPr>
              <a:t>Ready today: entry patterns, bucket packs, default sampling, dashboard override, Galileo Observe view.</a:t>
            </a:r>
          </a:p>
        </p:txBody>
      </p:sp>
      <p:sp>
        <p:nvSpPr>
          <p:cNvPr id="196" name="gal 196"/>
          <p:cNvSpPr/>
          <p:nvPr/>
        </p:nvSpPr>
        <p:spPr>
          <a:xfrm>
            <a:off x="6153912" y="5596128"/>
            <a:ext cx="5486400" cy="65836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750" b="1" dirty="0">
                <a:solidFill>
                  <a:srgbClr val="141010"/>
                </a:solidFill>
                <a:latin typeface="Arial"/>
                <a:ea typeface="Arial"/>
                <a:cs typeface="Arial"/>
              </a:rPr>
              <a:t>GAPS / PROPOSALS</a:t>
            </a:r>
          </a:p>
          <a:p>
            <a:pPr algn="l" marL="0" indent="0">
              <a:lnSpc>
                <a:spcPct val="92000"/>
              </a:lnSpc>
              <a:buNone/>
            </a:pPr>
            <a:r>
              <a:rPr lang="en-US" sz="850" dirty="0">
                <a:solidFill>
                  <a:srgbClr val="141010"/>
                </a:solidFill>
                <a:latin typeface="Arial"/>
                <a:ea typeface="Arial"/>
                <a:cs typeface="Arial"/>
              </a:rPr>
              <a:t>Proposals only (triggers, digests); registry agent id (G1). Merged: HV and LV differ only in rate and alert cadence.</a:t>
            </a:r>
          </a:p>
        </p:txBody>
      </p:sp>
      <p:sp>
        <p:nvSpPr>
          <p:cNvPr id="197" name="gal 197"/>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as described by the platform team (14 Oct 2026); VZAISDK = Kairos SDK. Storage and PII masking are handled in the backend. Gn = gap register, slide 35. Metric packs: slide 6.</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10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Galileo onboarding  ·  segment D of 4</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Third-party (vendor-built):</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no traces, no Galileo — contract for them</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761488"/>
            <a:ext cx="1417320" cy="1097280"/>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3000"/>
              </a:lnSpc>
              <a:buNone/>
            </a:pPr>
            <a:r>
              <a:rPr lang="en-US" sz="1000" b="1" dirty="0">
                <a:solidFill>
                  <a:srgbClr val="141010"/>
                </a:solidFill>
                <a:latin typeface="Arial"/>
                <a:ea typeface="Arial"/>
                <a:cs typeface="Arial"/>
              </a:rPr>
              <a:t>Third-party agent</a:t>
            </a:r>
          </a:p>
          <a:p>
            <a:pPr algn="l" marL="0" indent="0">
              <a:lnSpc>
                <a:spcPct val="93000"/>
              </a:lnSpc>
              <a:buNone/>
            </a:pPr>
            <a:r>
              <a:rPr lang="en-US" sz="850" dirty="0">
                <a:solidFill>
                  <a:srgbClr val="141010"/>
                </a:solidFill>
                <a:latin typeface="Arial"/>
                <a:ea typeface="Arial"/>
                <a:cs typeface="Arial"/>
              </a:rPr>
              <a:t>CES · Google · CRA (built and run by vendors)</a:t>
            </a:r>
          </a:p>
        </p:txBody>
      </p:sp>
      <p:sp>
        <p:nvSpPr>
          <p:cNvPr id="162" name="gal 162"/>
          <p:cNvSpPr/>
          <p:nvPr/>
        </p:nvSpPr>
        <p:spPr>
          <a:xfrm>
            <a:off x="548640" y="4041648"/>
            <a:ext cx="1417320" cy="74980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750" b="1" dirty="0">
                <a:solidFill>
                  <a:srgbClr val="D9B48A"/>
                </a:solidFill>
                <a:latin typeface="Arial"/>
                <a:ea typeface="Arial"/>
                <a:cs typeface="Arial"/>
              </a:rPr>
              <a:t>PROPOSED</a:t>
            </a:r>
          </a:p>
          <a:p>
            <a:pPr algn="l" marL="0" indent="0">
              <a:lnSpc>
                <a:spcPct val="93000"/>
              </a:lnSpc>
              <a:buNone/>
            </a:pPr>
            <a:r>
              <a:rPr lang="en-US" sz="850" dirty="0">
                <a:solidFill>
                  <a:srgbClr val="F3E6D6"/>
                </a:solidFill>
                <a:latin typeface="Arial"/>
                <a:ea typeface="Arial"/>
                <a:cs typeface="Arial"/>
              </a:rPr>
              <a:t>registry entry: agent id, owner, risk tier</a:t>
            </a:r>
          </a:p>
        </p:txBody>
      </p:sp>
      <p:sp>
        <p:nvSpPr>
          <p:cNvPr id="163" name="gal 163"/>
          <p:cNvSpPr/>
          <p:nvPr/>
        </p:nvSpPr>
        <p:spPr>
          <a:xfrm>
            <a:off x="1536192" y="395020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G1</a:t>
            </a:r>
          </a:p>
        </p:txBody>
      </p:sp>
      <p:sp>
        <p:nvSpPr>
          <p:cNvPr id="164" name="gal 164"/>
          <p:cNvSpPr/>
          <p:nvPr/>
        </p:nvSpPr>
        <p:spPr>
          <a:xfrm>
            <a:off x="2103120" y="2807208"/>
            <a:ext cx="1188720" cy="1005840"/>
          </a:xfrm>
          <a:prstGeom prst="diamond">
            <a:avLst/>
          </a:prstGeom>
          <a:solidFill>
            <a:srgbClr val="2A1A16"/>
          </a:solidFill>
          <a:ln w="15875">
            <a:solidFill>
              <a:srgbClr val="F5B700"/>
            </a:solidFill>
          </a:ln>
        </p:spPr>
        <p:txBody>
          <a:bodyPr wrap="square" lIns="45720" tIns="0" rIns="45720" bIns="0" rtlCol="0" anchor="ctr">
            <a:noAutofit/>
          </a:bodyPr>
          <a:lstStyle/>
          <a:p>
            <a:pPr algn="ctr" marL="0" indent="0">
              <a:lnSpc>
                <a:spcPct val="90000"/>
              </a:lnSpc>
              <a:buNone/>
            </a:pPr>
            <a:r>
              <a:rPr lang="en-US" sz="800" b="1" dirty="0">
                <a:solidFill>
                  <a:srgbClr val="FFFFFF"/>
                </a:solidFill>
                <a:latin typeface="Arial"/>
                <a:ea typeface="Arial"/>
                <a:cs typeface="Arial"/>
              </a:rPr>
              <a:t>Vendor exports OTel?</a:t>
            </a:r>
          </a:p>
        </p:txBody>
      </p:sp>
      <p:cxnSp>
        <p:nvCxnSpPr>
          <p:cNvPr id="165" name="g2 flow 165"/>
          <p:cNvCxnSpPr/>
          <p:nvPr/>
        </p:nvCxnSpPr>
        <p:spPr>
          <a:xfrm>
            <a:off x="1965960" y="3310128"/>
            <a:ext cx="137160" cy="0"/>
          </a:xfrm>
          <a:prstGeom prst="line">
            <a:avLst/>
          </a:prstGeom>
          <a:ln w="15875">
            <a:solidFill>
              <a:srgbClr val="EE0000"/>
            </a:solidFill>
            <a:tailEnd type="triangle" w="med" len="med"/>
          </a:ln>
        </p:spPr>
      </p:cxnSp>
      <p:sp>
        <p:nvSpPr>
          <p:cNvPr id="166" name="gal 166"/>
          <p:cNvSpPr/>
          <p:nvPr/>
        </p:nvSpPr>
        <p:spPr>
          <a:xfrm>
            <a:off x="3520440" y="2304288"/>
            <a:ext cx="1828800" cy="62179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YES</a:t>
            </a:r>
          </a:p>
          <a:p>
            <a:pPr algn="l" marL="0" indent="0">
              <a:lnSpc>
                <a:spcPct val="90000"/>
              </a:lnSpc>
              <a:buNone/>
            </a:pPr>
            <a:r>
              <a:rPr lang="en-US" sz="900" b="1" dirty="0">
                <a:solidFill>
                  <a:srgbClr val="FFFFFF"/>
                </a:solidFill>
                <a:latin typeface="Arial"/>
                <a:ea typeface="Arial"/>
                <a:cs typeface="Arial"/>
              </a:rPr>
              <a:t>P3  vendor OTel → Kairos</a:t>
            </a:r>
          </a:p>
          <a:p>
            <a:pPr algn="l" marL="0" indent="0">
              <a:lnSpc>
                <a:spcPct val="90000"/>
              </a:lnSpc>
              <a:buNone/>
            </a:pPr>
            <a:r>
              <a:rPr lang="en-US" sz="800" dirty="0">
                <a:solidFill>
                  <a:srgbClr val="F3E6D6"/>
                </a:solidFill>
                <a:latin typeface="Arial"/>
                <a:ea typeface="Arial"/>
                <a:cs typeface="Arial"/>
              </a:rPr>
              <a:t>OTLP to Kairos, tagged third-party</a:t>
            </a:r>
          </a:p>
        </p:txBody>
      </p:sp>
      <p:sp>
        <p:nvSpPr>
          <p:cNvPr id="167" name="gal 167"/>
          <p:cNvSpPr/>
          <p:nvPr/>
        </p:nvSpPr>
        <p:spPr>
          <a:xfrm>
            <a:off x="3520440" y="2999232"/>
            <a:ext cx="1828800" cy="621792"/>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0000"/>
              </a:lnSpc>
              <a:buNone/>
            </a:pPr>
            <a:r>
              <a:rPr lang="en-US" sz="750" b="1" dirty="0">
                <a:solidFill>
                  <a:srgbClr val="141010"/>
                </a:solidFill>
                <a:latin typeface="Arial"/>
                <a:ea typeface="Arial"/>
                <a:cs typeface="Arial"/>
              </a:rPr>
              <a:t>NO</a:t>
            </a:r>
          </a:p>
          <a:p>
            <a:pPr algn="l" marL="0" indent="0">
              <a:lnSpc>
                <a:spcPct val="90000"/>
              </a:lnSpc>
              <a:buNone/>
            </a:pPr>
            <a:r>
              <a:rPr lang="en-US" sz="900" b="1" dirty="0">
                <a:solidFill>
                  <a:srgbClr val="141010"/>
                </a:solidFill>
                <a:latin typeface="Arial"/>
                <a:ea typeface="Arial"/>
                <a:cs typeface="Arial"/>
              </a:rPr>
              <a:t>Export adapter  ·  G9</a:t>
            </a:r>
          </a:p>
          <a:p>
            <a:pPr algn="l" marL="0" indent="0">
              <a:lnSpc>
                <a:spcPct val="90000"/>
              </a:lnSpc>
              <a:buNone/>
            </a:pPr>
            <a:r>
              <a:rPr lang="en-US" sz="800" dirty="0">
                <a:solidFill>
                  <a:srgbClr val="141010"/>
                </a:solidFill>
                <a:latin typeface="Arial"/>
                <a:ea typeface="Arial"/>
                <a:cs typeface="Arial"/>
              </a:rPr>
              <a:t>bridge vendor logs / API to OTel</a:t>
            </a:r>
          </a:p>
        </p:txBody>
      </p:sp>
      <p:sp>
        <p:nvSpPr>
          <p:cNvPr id="168" name="gal 168"/>
          <p:cNvSpPr/>
          <p:nvPr/>
        </p:nvSpPr>
        <p:spPr>
          <a:xfrm>
            <a:off x="3520440" y="3694176"/>
            <a:ext cx="1828800" cy="621792"/>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0000"/>
              </a:lnSpc>
              <a:buNone/>
            </a:pPr>
            <a:r>
              <a:rPr lang="en-US" sz="750" b="1" dirty="0">
                <a:solidFill>
                  <a:srgbClr val="141010"/>
                </a:solidFill>
                <a:latin typeface="Arial"/>
                <a:ea typeface="Arial"/>
                <a:cs typeface="Arial"/>
              </a:rPr>
              <a:t>ALWAYS</a:t>
            </a:r>
          </a:p>
          <a:p>
            <a:pPr algn="l" marL="0" indent="0">
              <a:lnSpc>
                <a:spcPct val="90000"/>
              </a:lnSpc>
              <a:buNone/>
            </a:pPr>
            <a:r>
              <a:rPr lang="en-US" sz="900" b="1" dirty="0">
                <a:solidFill>
                  <a:srgbClr val="141010"/>
                </a:solidFill>
                <a:latin typeface="Arial"/>
                <a:ea typeface="Arial"/>
                <a:cs typeface="Arial"/>
              </a:rPr>
              <a:t>Evidence contract  ·  G9</a:t>
            </a:r>
          </a:p>
          <a:p>
            <a:pPr algn="l" marL="0" indent="0">
              <a:lnSpc>
                <a:spcPct val="90000"/>
              </a:lnSpc>
              <a:buNone/>
            </a:pPr>
            <a:r>
              <a:rPr lang="en-US" sz="800" dirty="0">
                <a:solidFill>
                  <a:srgbClr val="141010"/>
                </a:solidFill>
                <a:latin typeface="Arial"/>
                <a:ea typeface="Arial"/>
                <a:cs typeface="Arial"/>
              </a:rPr>
              <a:t>trace export, metrics, exit terms in contract</a:t>
            </a:r>
          </a:p>
        </p:txBody>
      </p:sp>
      <p:cxnSp>
        <p:nvCxnSpPr>
          <p:cNvPr id="169" name="g2 flow 169"/>
          <p:cNvCxnSpPr/>
          <p:nvPr/>
        </p:nvCxnSpPr>
        <p:spPr>
          <a:xfrm flipV="1">
            <a:off x="2702052" y="2615184"/>
            <a:ext cx="0" cy="192024"/>
          </a:xfrm>
          <a:prstGeom prst="line">
            <a:avLst/>
          </a:prstGeom>
          <a:ln w="15875">
            <a:solidFill>
              <a:srgbClr val="EE0000"/>
            </a:solidFill>
          </a:ln>
        </p:spPr>
      </p:cxnSp>
      <p:cxnSp>
        <p:nvCxnSpPr>
          <p:cNvPr id="170" name="g2 flow 170"/>
          <p:cNvCxnSpPr/>
          <p:nvPr/>
        </p:nvCxnSpPr>
        <p:spPr>
          <a:xfrm>
            <a:off x="2702052" y="2615184"/>
            <a:ext cx="818388" cy="0"/>
          </a:xfrm>
          <a:prstGeom prst="line">
            <a:avLst/>
          </a:prstGeom>
          <a:ln w="15875">
            <a:solidFill>
              <a:srgbClr val="EE0000"/>
            </a:solidFill>
            <a:tailEnd type="triangle" w="med" len="med"/>
          </a:ln>
        </p:spPr>
      </p:cxnSp>
      <p:cxnSp>
        <p:nvCxnSpPr>
          <p:cNvPr id="171" name="g2 flow 171"/>
          <p:cNvCxnSpPr/>
          <p:nvPr/>
        </p:nvCxnSpPr>
        <p:spPr>
          <a:xfrm>
            <a:off x="3291840" y="3310128"/>
            <a:ext cx="82296" cy="0"/>
          </a:xfrm>
          <a:prstGeom prst="line">
            <a:avLst/>
          </a:prstGeom>
          <a:ln w="15875">
            <a:solidFill>
              <a:srgbClr val="EE0000"/>
            </a:solidFill>
          </a:ln>
        </p:spPr>
      </p:cxnSp>
      <p:cxnSp>
        <p:nvCxnSpPr>
          <p:cNvPr id="172" name="g2 flow 172"/>
          <p:cNvCxnSpPr/>
          <p:nvPr/>
        </p:nvCxnSpPr>
        <p:spPr>
          <a:xfrm>
            <a:off x="3374136" y="3310128"/>
            <a:ext cx="0" cy="0"/>
          </a:xfrm>
          <a:prstGeom prst="line">
            <a:avLst/>
          </a:prstGeom>
          <a:ln w="15875">
            <a:solidFill>
              <a:srgbClr val="EE0000"/>
            </a:solidFill>
          </a:ln>
        </p:spPr>
      </p:cxnSp>
      <p:cxnSp>
        <p:nvCxnSpPr>
          <p:cNvPr id="173" name="g2 flow 173"/>
          <p:cNvCxnSpPr/>
          <p:nvPr/>
        </p:nvCxnSpPr>
        <p:spPr>
          <a:xfrm>
            <a:off x="3374136" y="3310128"/>
            <a:ext cx="146304" cy="0"/>
          </a:xfrm>
          <a:prstGeom prst="line">
            <a:avLst/>
          </a:prstGeom>
          <a:ln w="15875">
            <a:solidFill>
              <a:srgbClr val="EE0000"/>
            </a:solidFill>
            <a:tailEnd type="triangle" w="med" len="med"/>
          </a:ln>
        </p:spPr>
      </p:cxnSp>
      <p:cxnSp>
        <p:nvCxnSpPr>
          <p:cNvPr id="174" name="g2 flow 174"/>
          <p:cNvCxnSpPr/>
          <p:nvPr/>
        </p:nvCxnSpPr>
        <p:spPr>
          <a:xfrm>
            <a:off x="2702052" y="3813048"/>
            <a:ext cx="0" cy="192024"/>
          </a:xfrm>
          <a:prstGeom prst="line">
            <a:avLst/>
          </a:prstGeom>
          <a:ln w="15875">
            <a:solidFill>
              <a:srgbClr val="EE0000"/>
            </a:solidFill>
          </a:ln>
        </p:spPr>
      </p:cxnSp>
      <p:cxnSp>
        <p:nvCxnSpPr>
          <p:cNvPr id="175" name="g2 flow 175"/>
          <p:cNvCxnSpPr/>
          <p:nvPr/>
        </p:nvCxnSpPr>
        <p:spPr>
          <a:xfrm>
            <a:off x="2702052" y="4005072"/>
            <a:ext cx="818388" cy="0"/>
          </a:xfrm>
          <a:prstGeom prst="line">
            <a:avLst/>
          </a:prstGeom>
          <a:ln w="15875">
            <a:solidFill>
              <a:srgbClr val="EE0000"/>
            </a:solidFill>
            <a:prstDash val="dash"/>
            <a:tailEnd type="triangle" w="med" len="med"/>
          </a:ln>
        </p:spPr>
      </p:cxnSp>
      <p:cxnSp>
        <p:nvCxnSpPr>
          <p:cNvPr id="176" name="g2 flow 176"/>
          <p:cNvCxnSpPr/>
          <p:nvPr/>
        </p:nvCxnSpPr>
        <p:spPr>
          <a:xfrm>
            <a:off x="5349240" y="2615184"/>
            <a:ext cx="155448" cy="0"/>
          </a:xfrm>
          <a:prstGeom prst="line">
            <a:avLst/>
          </a:prstGeom>
          <a:ln w="15875">
            <a:solidFill>
              <a:srgbClr val="EE0000"/>
            </a:solidFill>
          </a:ln>
        </p:spPr>
      </p:cxnSp>
      <p:cxnSp>
        <p:nvCxnSpPr>
          <p:cNvPr id="177" name="g2 flow 177"/>
          <p:cNvCxnSpPr/>
          <p:nvPr/>
        </p:nvCxnSpPr>
        <p:spPr>
          <a:xfrm>
            <a:off x="5349240" y="3310128"/>
            <a:ext cx="155448" cy="0"/>
          </a:xfrm>
          <a:prstGeom prst="line">
            <a:avLst/>
          </a:prstGeom>
          <a:ln w="15875">
            <a:solidFill>
              <a:srgbClr val="EE0000"/>
            </a:solidFill>
          </a:ln>
        </p:spPr>
      </p:cxnSp>
      <p:cxnSp>
        <p:nvCxnSpPr>
          <p:cNvPr id="178" name="g2 flow 178"/>
          <p:cNvCxnSpPr/>
          <p:nvPr/>
        </p:nvCxnSpPr>
        <p:spPr>
          <a:xfrm>
            <a:off x="5349240" y="4005072"/>
            <a:ext cx="155448" cy="0"/>
          </a:xfrm>
          <a:prstGeom prst="line">
            <a:avLst/>
          </a:prstGeom>
          <a:ln w="15875">
            <a:solidFill>
              <a:srgbClr val="EE0000"/>
            </a:solidFill>
          </a:ln>
        </p:spPr>
      </p:cxnSp>
      <p:cxnSp>
        <p:nvCxnSpPr>
          <p:cNvPr id="179" name="g2 flow 179"/>
          <p:cNvCxnSpPr/>
          <p:nvPr/>
        </p:nvCxnSpPr>
        <p:spPr>
          <a:xfrm>
            <a:off x="5504688" y="2615184"/>
            <a:ext cx="0" cy="1389888"/>
          </a:xfrm>
          <a:prstGeom prst="line">
            <a:avLst/>
          </a:prstGeom>
          <a:ln w="15875">
            <a:solidFill>
              <a:srgbClr val="EE0000"/>
            </a:solidFill>
          </a:ln>
        </p:spPr>
      </p:cxnSp>
      <p:cxnSp>
        <p:nvCxnSpPr>
          <p:cNvPr id="180" name="g2 flow 180"/>
          <p:cNvCxnSpPr/>
          <p:nvPr/>
        </p:nvCxnSpPr>
        <p:spPr>
          <a:xfrm>
            <a:off x="5504688" y="3310128"/>
            <a:ext cx="118872" cy="0"/>
          </a:xfrm>
          <a:prstGeom prst="line">
            <a:avLst/>
          </a:prstGeom>
          <a:ln w="15875">
            <a:solidFill>
              <a:srgbClr val="EE0000"/>
            </a:solidFill>
            <a:tailEnd type="triangle" w="med" len="med"/>
          </a:ln>
        </p:spPr>
      </p:cxnSp>
      <p:sp>
        <p:nvSpPr>
          <p:cNvPr id="181" name="gal 181"/>
          <p:cNvSpPr/>
          <p:nvPr/>
        </p:nvSpPr>
        <p:spPr>
          <a:xfrm>
            <a:off x="5623560" y="2715768"/>
            <a:ext cx="123444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Common Logging Service</a:t>
            </a:r>
          </a:p>
          <a:p>
            <a:pPr algn="l" marL="0" indent="0">
              <a:lnSpc>
                <a:spcPct val="93000"/>
              </a:lnSpc>
              <a:buNone/>
            </a:pPr>
            <a:r>
              <a:rPr lang="en-US" sz="850" dirty="0">
                <a:solidFill>
                  <a:srgbClr val="F3E6D6"/>
                </a:solidFill>
                <a:latin typeface="Arial"/>
                <a:ea typeface="Arial"/>
                <a:cs typeface="Arial"/>
              </a:rPr>
              <a:t>all patterns</a:t>
            </a:r>
          </a:p>
        </p:txBody>
      </p:sp>
      <p:sp>
        <p:nvSpPr>
          <p:cNvPr id="182" name="gal 182"/>
          <p:cNvSpPr/>
          <p:nvPr/>
        </p:nvSpPr>
        <p:spPr>
          <a:xfrm>
            <a:off x="5623560" y="2103120"/>
            <a:ext cx="1234440" cy="5029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0000"/>
              </a:lnSpc>
              <a:buNone/>
            </a:pPr>
            <a:r>
              <a:rPr lang="en-US" sz="750" b="1" dirty="0">
                <a:solidFill>
                  <a:srgbClr val="F5B700"/>
                </a:solidFill>
                <a:latin typeface="Arial"/>
                <a:ea typeface="Arial"/>
                <a:cs typeface="Arial"/>
              </a:rPr>
              <a:t>BUCKET</a:t>
            </a:r>
          </a:p>
          <a:p>
            <a:pPr algn="l" marL="0" indent="0">
              <a:lnSpc>
                <a:spcPct val="90000"/>
              </a:lnSpc>
              <a:buNone/>
            </a:pPr>
            <a:r>
              <a:rPr lang="en-US" sz="800" dirty="0">
                <a:solidFill>
                  <a:srgbClr val="F3E6D6"/>
                </a:solidFill>
                <a:latin typeface="Arial"/>
                <a:ea typeface="Arial"/>
                <a:cs typeface="Arial"/>
              </a:rPr>
              <a:t>by type, as for 1P agents</a:t>
            </a:r>
          </a:p>
        </p:txBody>
      </p:sp>
      <p:cxnSp>
        <p:nvCxnSpPr>
          <p:cNvPr id="183" name="g2 flow 183"/>
          <p:cNvCxnSpPr/>
          <p:nvPr/>
        </p:nvCxnSpPr>
        <p:spPr>
          <a:xfrm>
            <a:off x="6240780" y="2606040"/>
            <a:ext cx="0" cy="109728"/>
          </a:xfrm>
          <a:prstGeom prst="line">
            <a:avLst/>
          </a:prstGeom>
          <a:ln w="15875">
            <a:solidFill>
              <a:srgbClr val="EE0000"/>
            </a:solidFill>
            <a:tailEnd type="triangle" w="med" len="med"/>
          </a:ln>
        </p:spPr>
      </p:cxnSp>
      <p:cxnSp>
        <p:nvCxnSpPr>
          <p:cNvPr id="184" name="g2 flow 184"/>
          <p:cNvCxnSpPr/>
          <p:nvPr/>
        </p:nvCxnSpPr>
        <p:spPr>
          <a:xfrm>
            <a:off x="6858000" y="3310128"/>
            <a:ext cx="256032" cy="0"/>
          </a:xfrm>
          <a:prstGeom prst="line">
            <a:avLst/>
          </a:prstGeom>
          <a:ln w="15875">
            <a:solidFill>
              <a:srgbClr val="EE0000"/>
            </a:solidFill>
            <a:tailEnd type="triangle" w="med" len="med"/>
          </a:ln>
        </p:spPr>
      </p:cxnSp>
      <p:sp>
        <p:nvSpPr>
          <p:cNvPr id="185" name="gal 185"/>
          <p:cNvSpPr/>
          <p:nvPr/>
        </p:nvSpPr>
        <p:spPr>
          <a:xfrm>
            <a:off x="7114032" y="2395728"/>
            <a:ext cx="1600200" cy="1828800"/>
          </a:xfrm>
          <a:prstGeom prst="roundRect">
            <a:avLst>
              <a:gd name="adj" fmla="val 10000"/>
            </a:avLst>
          </a:prstGeom>
          <a:solidFill>
            <a:srgbClr val="2A1A16"/>
          </a:solidFill>
          <a:ln w="12700">
            <a:solidFill>
              <a:srgbClr val="D9B48A"/>
            </a:solidFill>
          </a:ln>
        </p:spPr>
        <p:txBody>
          <a:bodyPr wrap="square" lIns="91440" tIns="73152" rIns="73152" bIns="45720" rtlCol="0" anchor="t">
            <a:noAutofit/>
          </a:bodyPr>
          <a:lstStyle/>
          <a:p>
            <a:pPr algn="l" marL="0" indent="0">
              <a:lnSpc>
                <a:spcPct val="95000"/>
              </a:lnSpc>
              <a:buNone/>
            </a:pPr>
            <a:r>
              <a:rPr lang="en-US" sz="1000" b="1" dirty="0">
                <a:solidFill>
                  <a:srgbClr val="FFFFFF"/>
                </a:solidFill>
                <a:latin typeface="Arial"/>
                <a:ea typeface="Arial"/>
                <a:cs typeface="Arial"/>
              </a:rPr>
              <a:t>Trace sampling</a:t>
            </a:r>
          </a:p>
          <a:p>
            <a:pPr algn="l" marL="0" indent="0">
              <a:lnSpc>
                <a:spcPct val="95000"/>
              </a:lnSpc>
              <a:buNone/>
            </a:pPr>
            <a:r>
              <a:rPr lang="en-US" sz="850" b="1" dirty="0">
                <a:solidFill>
                  <a:srgbClr val="F5B700"/>
                </a:solidFill>
                <a:latin typeface="Arial"/>
                <a:ea typeface="Arial"/>
                <a:cs typeface="Arial"/>
              </a:rPr>
              <a:t>global default rate</a:t>
            </a:r>
          </a:p>
          <a:p>
            <a:pPr algn="l" marL="0" indent="0">
              <a:lnSpc>
                <a:spcPct val="95000"/>
              </a:lnSpc>
              <a:buNone/>
            </a:pPr>
            <a:r>
              <a:rPr lang="en-US" sz="850" dirty="0">
                <a:solidFill>
                  <a:srgbClr val="F3E6D6"/>
                </a:solidFill>
                <a:latin typeface="Arial"/>
                <a:ea typeface="Arial"/>
                <a:cs typeface="Arial"/>
              </a:rPr>
              <a:t>or as agreed in the vendor contract</a:t>
            </a:r>
          </a:p>
        </p:txBody>
      </p:sp>
      <p:sp>
        <p:nvSpPr>
          <p:cNvPr id="186" name="gal 186"/>
          <p:cNvSpPr/>
          <p:nvPr/>
        </p:nvSpPr>
        <p:spPr>
          <a:xfrm>
            <a:off x="7114032" y="4361688"/>
            <a:ext cx="160020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add-on</a:t>
            </a:r>
          </a:p>
          <a:p>
            <a:pPr algn="l" marL="0" indent="0">
              <a:lnSpc>
                <a:spcPct val="90000"/>
              </a:lnSpc>
              <a:buNone/>
            </a:pPr>
            <a:r>
              <a:rPr lang="en-US" sz="850" dirty="0">
                <a:solidFill>
                  <a:srgbClr val="F3E6D6"/>
                </a:solidFill>
                <a:latin typeface="Arial"/>
                <a:ea typeface="Arial"/>
                <a:cs typeface="Arial"/>
              </a:rPr>
              <a:t>session-consistent across the vendor hop</a:t>
            </a:r>
          </a:p>
        </p:txBody>
      </p:sp>
      <p:sp>
        <p:nvSpPr>
          <p:cNvPr id="187" name="gal 187"/>
          <p:cNvSpPr/>
          <p:nvPr/>
        </p:nvSpPr>
        <p:spPr>
          <a:xfrm>
            <a:off x="8257032" y="4270248"/>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G9</a:t>
            </a:r>
          </a:p>
        </p:txBody>
      </p:sp>
      <p:cxnSp>
        <p:nvCxnSpPr>
          <p:cNvPr id="188" name="g2 flow 188"/>
          <p:cNvCxnSpPr/>
          <p:nvPr/>
        </p:nvCxnSpPr>
        <p:spPr>
          <a:xfrm>
            <a:off x="8714232" y="3310128"/>
            <a:ext cx="246888" cy="0"/>
          </a:xfrm>
          <a:prstGeom prst="line">
            <a:avLst/>
          </a:prstGeom>
          <a:ln w="15875">
            <a:solidFill>
              <a:srgbClr val="EE0000"/>
            </a:solidFill>
            <a:tailEnd type="triangle" w="med" len="med"/>
          </a:ln>
        </p:spPr>
      </p:cxnSp>
      <p:sp>
        <p:nvSpPr>
          <p:cNvPr id="189" name="gal 189"/>
          <p:cNvSpPr/>
          <p:nvPr/>
        </p:nvSpPr>
        <p:spPr>
          <a:xfrm>
            <a:off x="8961120" y="2715768"/>
            <a:ext cx="1280160" cy="118872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1000" b="1" dirty="0">
                <a:solidFill>
                  <a:srgbClr val="FFFFFF"/>
                </a:solidFill>
                <a:latin typeface="Arial"/>
                <a:ea typeface="Arial"/>
                <a:cs typeface="Arial"/>
              </a:rPr>
              <a:t>Galileo Service</a:t>
            </a:r>
          </a:p>
          <a:p>
            <a:pPr algn="l" marL="0" indent="0">
              <a:lnSpc>
                <a:spcPct val="93000"/>
              </a:lnSpc>
              <a:buNone/>
            </a:pPr>
            <a:r>
              <a:rPr lang="en-US" sz="850" dirty="0">
                <a:solidFill>
                  <a:srgbClr val="F3E6D6"/>
                </a:solidFill>
                <a:latin typeface="Arial"/>
                <a:ea typeface="Arial"/>
                <a:cs typeface="Arial"/>
              </a:rPr>
              <a:t>computes the bucket pack on sampled traces</a:t>
            </a:r>
          </a:p>
        </p:txBody>
      </p:sp>
      <p:sp>
        <p:nvSpPr>
          <p:cNvPr id="190" name="gal 190"/>
          <p:cNvSpPr/>
          <p:nvPr/>
        </p:nvSpPr>
        <p:spPr>
          <a:xfrm>
            <a:off x="8961120" y="4361688"/>
            <a:ext cx="1280160"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eval mode</a:t>
            </a:r>
          </a:p>
          <a:p>
            <a:pPr algn="l" marL="0" indent="0">
              <a:lnSpc>
                <a:spcPct val="90000"/>
              </a:lnSpc>
              <a:buNone/>
            </a:pPr>
            <a:r>
              <a:rPr lang="en-US" sz="850" dirty="0">
                <a:solidFill>
                  <a:srgbClr val="F3E6D6"/>
                </a:solidFill>
                <a:latin typeface="Arial"/>
                <a:ea typeface="Arial"/>
                <a:cs typeface="Arial"/>
              </a:rPr>
              <a:t>async on exported traces; runtime guard stays in the vendor contract</a:t>
            </a:r>
          </a:p>
        </p:txBody>
      </p:sp>
      <p:cxnSp>
        <p:nvCxnSpPr>
          <p:cNvPr id="191" name="g2 flow 191"/>
          <p:cNvCxnSpPr/>
          <p:nvPr/>
        </p:nvCxnSpPr>
        <p:spPr>
          <a:xfrm>
            <a:off x="9601200" y="3904488"/>
            <a:ext cx="0" cy="457200"/>
          </a:xfrm>
          <a:prstGeom prst="line">
            <a:avLst/>
          </a:prstGeom>
          <a:ln w="15875">
            <a:solidFill>
              <a:srgbClr val="EE0000"/>
            </a:solidFill>
            <a:prstDash val="dash"/>
            <a:tailEnd type="triangle" w="med" len="med"/>
          </a:ln>
        </p:spPr>
      </p:cxnSp>
      <p:cxnSp>
        <p:nvCxnSpPr>
          <p:cNvPr id="192" name="g2 flow 192"/>
          <p:cNvCxnSpPr/>
          <p:nvPr/>
        </p:nvCxnSpPr>
        <p:spPr>
          <a:xfrm>
            <a:off x="10241280" y="3310128"/>
            <a:ext cx="228600" cy="0"/>
          </a:xfrm>
          <a:prstGeom prst="line">
            <a:avLst/>
          </a:prstGeom>
          <a:ln w="15875">
            <a:solidFill>
              <a:srgbClr val="EE0000"/>
            </a:solidFill>
            <a:tailEnd type="triangle" w="med" len="med"/>
          </a:ln>
        </p:spPr>
      </p:cxnSp>
      <p:sp>
        <p:nvSpPr>
          <p:cNvPr id="193" name="gal 193"/>
          <p:cNvSpPr/>
          <p:nvPr/>
        </p:nvSpPr>
        <p:spPr>
          <a:xfrm>
            <a:off x="10469880" y="2395728"/>
            <a:ext cx="1170432" cy="1828800"/>
          </a:xfrm>
          <a:prstGeom prst="roundRect">
            <a:avLst>
              <a:gd name="adj" fmla="val 10000"/>
            </a:avLst>
          </a:prstGeom>
          <a:solidFill>
            <a:srgbClr val="2A1A16"/>
          </a:solidFill>
          <a:ln w="12700">
            <a:solidFill>
              <a:srgbClr val="D9B48A"/>
            </a:solidFill>
          </a:ln>
        </p:spPr>
        <p:txBody>
          <a:bodyPr wrap="square" lIns="82296" tIns="73152" rIns="64008" bIns="45720" rtlCol="0" anchor="t">
            <a:noAutofit/>
          </a:bodyPr>
          <a:lstStyle/>
          <a:p>
            <a:pPr algn="l" marL="0" indent="0">
              <a:lnSpc>
                <a:spcPct val="93000"/>
              </a:lnSpc>
              <a:buNone/>
            </a:pPr>
            <a:r>
              <a:rPr lang="en-US" sz="1000" b="1" dirty="0">
                <a:solidFill>
                  <a:srgbClr val="FFFFFF"/>
                </a:solidFill>
                <a:latin typeface="Arial"/>
                <a:ea typeface="Arial"/>
                <a:cs typeface="Arial"/>
              </a:rPr>
              <a:t>Galileo Observe</a:t>
            </a:r>
          </a:p>
          <a:p>
            <a:pPr algn="l" marL="0" indent="0">
              <a:lnSpc>
                <a:spcPct val="93000"/>
              </a:lnSpc>
              <a:buNone/>
            </a:pPr>
            <a:r>
              <a:rPr lang="en-US" sz="850" dirty="0">
                <a:solidFill>
                  <a:srgbClr val="F3E6D6"/>
                </a:solidFill>
                <a:latin typeface="Arial"/>
                <a:ea typeface="Arial"/>
                <a:cs typeface="Arial"/>
              </a:rPr>
              <a:t>view tagged third-party, once traces arrive</a:t>
            </a:r>
          </a:p>
        </p:txBody>
      </p:sp>
      <p:sp>
        <p:nvSpPr>
          <p:cNvPr id="194" name="gal 194"/>
          <p:cNvSpPr/>
          <p:nvPr/>
        </p:nvSpPr>
        <p:spPr>
          <a:xfrm>
            <a:off x="10469880" y="4361688"/>
            <a:ext cx="1170432" cy="91440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750" b="1" dirty="0">
                <a:solidFill>
                  <a:srgbClr val="D9B48A"/>
                </a:solidFill>
                <a:latin typeface="Arial"/>
                <a:ea typeface="Arial"/>
                <a:cs typeface="Arial"/>
              </a:rPr>
              <a:t>PROPOSED  alerts</a:t>
            </a:r>
          </a:p>
          <a:p>
            <a:pPr algn="l" marL="0" indent="0">
              <a:lnSpc>
                <a:spcPct val="90000"/>
              </a:lnSpc>
              <a:buNone/>
            </a:pPr>
            <a:r>
              <a:rPr lang="en-US" sz="850" dirty="0">
                <a:solidFill>
                  <a:srgbClr val="F3E6D6"/>
                </a:solidFill>
                <a:latin typeface="Arial"/>
                <a:ea typeface="Arial"/>
                <a:cs typeface="Arial"/>
              </a:rPr>
              <a:t>breach → vendor owner + SLA clause</a:t>
            </a:r>
          </a:p>
        </p:txBody>
      </p:sp>
      <p:cxnSp>
        <p:nvCxnSpPr>
          <p:cNvPr id="195" name="g2 flow 195"/>
          <p:cNvCxnSpPr/>
          <p:nvPr/>
        </p:nvCxnSpPr>
        <p:spPr>
          <a:xfrm>
            <a:off x="11055096" y="4224528"/>
            <a:ext cx="0" cy="137160"/>
          </a:xfrm>
          <a:prstGeom prst="line">
            <a:avLst/>
          </a:prstGeom>
          <a:ln w="15875">
            <a:solidFill>
              <a:srgbClr val="EE0000"/>
            </a:solidFill>
            <a:prstDash val="dash"/>
            <a:tailEnd type="triangle" w="med" len="med"/>
          </a:ln>
        </p:spPr>
      </p:cxnSp>
      <p:sp>
        <p:nvSpPr>
          <p:cNvPr id="196" name="gal 196"/>
          <p:cNvSpPr/>
          <p:nvPr/>
        </p:nvSpPr>
        <p:spPr>
          <a:xfrm>
            <a:off x="548640" y="5596128"/>
            <a:ext cx="5486400" cy="658368"/>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750" b="1" dirty="0">
                <a:solidFill>
                  <a:srgbClr val="F5B700"/>
                </a:solidFill>
                <a:latin typeface="Arial"/>
                <a:ea typeface="Arial"/>
                <a:cs typeface="Arial"/>
              </a:rPr>
              <a:t>RUNS TODAY</a:t>
            </a:r>
          </a:p>
          <a:p>
            <a:pPr algn="l" marL="0" indent="0">
              <a:lnSpc>
                <a:spcPct val="92000"/>
              </a:lnSpc>
              <a:buNone/>
            </a:pPr>
            <a:r>
              <a:rPr lang="en-US" sz="850" dirty="0">
                <a:solidFill>
                  <a:srgbClr val="F3E6D6"/>
                </a:solidFill>
                <a:latin typeface="Arial"/>
                <a:ea typeface="Arial"/>
                <a:cs typeface="Arial"/>
              </a:rPr>
              <a:t>P3 OTel ingest via Kairos exists; usable once the vendor can send OTLP to it. Then the same pipe, packs and Observe view.</a:t>
            </a:r>
          </a:p>
        </p:txBody>
      </p:sp>
      <p:sp>
        <p:nvSpPr>
          <p:cNvPr id="197" name="gal 197"/>
          <p:cNvSpPr/>
          <p:nvPr/>
        </p:nvSpPr>
        <p:spPr>
          <a:xfrm>
            <a:off x="6153912" y="5596128"/>
            <a:ext cx="5486400" cy="65836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750" b="1" dirty="0">
                <a:solidFill>
                  <a:srgbClr val="141010"/>
                </a:solidFill>
                <a:latin typeface="Arial"/>
                <a:ea typeface="Arial"/>
                <a:cs typeface="Arial"/>
              </a:rPr>
              <a:t>GAPS / PROPOSALS</a:t>
            </a:r>
          </a:p>
          <a:p>
            <a:pPr algn="l" marL="0" indent="0">
              <a:lnSpc>
                <a:spcPct val="92000"/>
              </a:lnSpc>
              <a:buNone/>
            </a:pPr>
            <a:r>
              <a:rPr lang="en-US" sz="850" dirty="0">
                <a:solidFill>
                  <a:srgbClr val="141010"/>
                </a:solidFill>
                <a:latin typeface="Arial"/>
                <a:ea typeface="Arial"/>
                <a:cs typeface="Arial"/>
              </a:rPr>
              <a:t>Export adapter + evidence contract (G9); vendor agents in the inventory (G1); vendor alert routing.</a:t>
            </a:r>
          </a:p>
        </p:txBody>
      </p:sp>
      <p:sp>
        <p:nvSpPr>
          <p:cNvPr id="198" name="gal 198"/>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as described by the platform team (14 Oct 2026); VZAISDK = Kairos SDK. Storage and PII masking are handled in the backend. Gn = gap register, slide 35. Metric packs: slide 6.</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38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5–10 (2 of 8):</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315968"/>
          </a:xfrm>
          <a:prstGeom prst="roundRect">
            <a:avLst>
              <a:gd name="adj" fmla="val 4000"/>
            </a:avLst>
          </a:prstGeom>
          <a:solidFill>
            <a:srgbClr val="2A1A16"/>
          </a:solidFill>
          <a:ln w="9525">
            <a:solidFill>
              <a:srgbClr val="D9B48A"/>
            </a:solidFill>
          </a:ln>
        </p:spPr>
        <p:txBody>
          <a:bodyPr wrap="square" lIns="146304" tIns="109728" rIns="128016" bIns="73152" rtlCol="0" anchor="t">
            <a:noAutofit/>
          </a:bodyPr>
          <a:lstStyle/>
          <a:p>
            <a:pPr algn="l" marL="0" indent="0">
              <a:lnSpc>
                <a:spcPct val="112000"/>
              </a:lnSpc>
              <a:buNone/>
            </a:pPr>
            <a:r>
              <a:rPr lang="en-US" sz="1050" b="1" dirty="0">
                <a:solidFill>
                  <a:srgbClr val="F5B700"/>
                </a:solidFill>
                <a:latin typeface="Arial"/>
                <a:ea typeface="Arial"/>
                <a:cs typeface="Arial"/>
              </a:rPr>
              <a:t>OpenTelemetry  ·  doc fixes on slide 5</a:t>
            </a:r>
          </a:p>
          <a:p>
            <a:pPr algn="l" marL="0" indent="0">
              <a:lnSpc>
                <a:spcPct val="112000"/>
              </a:lnSpc>
              <a:buNone/>
            </a:pPr>
            <a:r>
              <a:rPr lang="en-US" sz="1000" b="1" dirty="0">
                <a:solidFill>
                  <a:srgbClr val="F5B700"/>
                </a:solidFill>
                <a:latin typeface="Arial"/>
                <a:ea typeface="Arial"/>
                <a:cs typeface="Arial"/>
              </a:rPr>
              <a:t>[42]  </a:t>
            </a:r>
            <a:r>
              <a:rPr lang="en-US" sz="1000" b="1" dirty="0" u="sng">
                <a:solidFill>
                  <a:srgbClr val="FFFFFF"/>
                </a:solidFill>
                <a:latin typeface="Arial"/>
                <a:ea typeface="Arial"/>
                <a:cs typeface="Arial"/>
                <a:hlinkClick r:id="rIdL1"/>
              </a:rPr>
              <a:t>OTel GenAI agent spans (gen_ai.agent.id / name)</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2"/>
              </a:rPr>
              <a:t>github.com/open-telemetry/semantic-conventions-genai/blob/main/…</a:t>
            </a:r>
          </a:p>
          <a:p>
            <a:pPr algn="l" marL="0" indent="0">
              <a:lnSpc>
                <a:spcPct val="112000"/>
              </a:lnSpc>
              <a:buNone/>
            </a:pPr>
            <a:r>
              <a:rPr lang="en-US" sz="1000" b="1" dirty="0">
                <a:solidFill>
                  <a:srgbClr val="F5B700"/>
                </a:solidFill>
                <a:latin typeface="Arial"/>
                <a:ea typeface="Arial"/>
                <a:cs typeface="Arial"/>
              </a:rPr>
              <a:t>[43]  </a:t>
            </a:r>
            <a:r>
              <a:rPr lang="en-US" sz="1000" b="1" dirty="0" u="sng">
                <a:solidFill>
                  <a:srgbClr val="FFFFFF"/>
                </a:solidFill>
                <a:latin typeface="Arial"/>
                <a:ea typeface="Arial"/>
                <a:cs typeface="Arial"/>
                <a:hlinkClick r:id="rIdL3"/>
              </a:rPr>
              <a:t>OTel session attributes (session.id)</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4"/>
              </a:rPr>
              <a:t>opentelemetry.io/docs/specs/semconv/registry/attributes/session</a:t>
            </a:r>
          </a:p>
          <a:p>
            <a:pPr algn="l" marL="0" indent="0">
              <a:lnSpc>
                <a:spcPct val="112000"/>
              </a:lnSpc>
              <a:buNone/>
            </a:pPr>
            <a:r>
              <a:rPr lang="en-US" sz="500" dirty="0">
                <a:solidFill>
                  <a:srgbClr val="FFFFFF"/>
                </a:solidFill>
                <a:latin typeface="Arial"/>
                <a:ea typeface="Arial"/>
                <a:cs typeface="Arial"/>
              </a:rPr>
              <a:t> </a:t>
            </a:r>
          </a:p>
          <a:p>
            <a:pPr algn="l" marL="0" indent="0">
              <a:lnSpc>
                <a:spcPct val="112000"/>
              </a:lnSpc>
              <a:buNone/>
            </a:pPr>
            <a:r>
              <a:rPr lang="en-US" sz="1050" b="1" dirty="0">
                <a:solidFill>
                  <a:srgbClr val="F5B700"/>
                </a:solidFill>
                <a:latin typeface="Arial"/>
                <a:ea typeface="Arial"/>
                <a:cs typeface="Arial"/>
              </a:rPr>
              <a:t>Galileo docs  ·  metrics enablement, slide 6</a:t>
            </a:r>
          </a:p>
          <a:p>
            <a:pPr algn="l" marL="0" indent="0">
              <a:lnSpc>
                <a:spcPct val="112000"/>
              </a:lnSpc>
              <a:buNone/>
            </a:pPr>
            <a:r>
              <a:rPr lang="en-US" sz="1000" b="1" dirty="0">
                <a:solidFill>
                  <a:srgbClr val="F5B700"/>
                </a:solidFill>
                <a:latin typeface="Arial"/>
                <a:ea typeface="Arial"/>
                <a:cs typeface="Arial"/>
              </a:rPr>
              <a:t>[44]  </a:t>
            </a:r>
            <a:r>
              <a:rPr lang="en-US" sz="1000" b="1" dirty="0" u="sng">
                <a:solidFill>
                  <a:srgbClr val="FFFFFF"/>
                </a:solidFill>
                <a:latin typeface="Arial"/>
                <a:ea typeface="Arial"/>
                <a:cs typeface="Arial"/>
                <a:hlinkClick r:id="rIdL5"/>
              </a:rPr>
              <a:t>Galileo: Metrics overview</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6"/>
              </a:rPr>
              <a:t>docs.galileo.ai/concepts/metrics/overview</a:t>
            </a:r>
          </a:p>
          <a:p>
            <a:pPr algn="l" marL="0" indent="0">
              <a:lnSpc>
                <a:spcPct val="112000"/>
              </a:lnSpc>
              <a:buNone/>
            </a:pPr>
            <a:r>
              <a:rPr lang="en-US" sz="1000" b="1" dirty="0">
                <a:solidFill>
                  <a:srgbClr val="F5B700"/>
                </a:solidFill>
                <a:latin typeface="Arial"/>
                <a:ea typeface="Arial"/>
                <a:cs typeface="Arial"/>
              </a:rPr>
              <a:t>[45]  </a:t>
            </a:r>
            <a:r>
              <a:rPr lang="en-US" sz="1000" b="1" dirty="0" u="sng">
                <a:solidFill>
                  <a:srgbClr val="FFFFFF"/>
                </a:solidFill>
                <a:latin typeface="Arial"/>
                <a:ea typeface="Arial"/>
                <a:cs typeface="Arial"/>
                <a:hlinkClick r:id="rIdL7"/>
              </a:rPr>
              <a:t>Galileo: Metrics comparison (out-of-the-box list)</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8"/>
              </a:rPr>
              <a:t>docs.galileo.ai/concepts/metrics/metric-comparison</a:t>
            </a:r>
          </a:p>
          <a:p>
            <a:pPr algn="l" marL="0" indent="0">
              <a:lnSpc>
                <a:spcPct val="112000"/>
              </a:lnSpc>
              <a:buNone/>
            </a:pPr>
            <a:r>
              <a:rPr lang="en-US" sz="1000" b="1" dirty="0">
                <a:solidFill>
                  <a:srgbClr val="F5B700"/>
                </a:solidFill>
                <a:latin typeface="Arial"/>
                <a:ea typeface="Arial"/>
                <a:cs typeface="Arial"/>
              </a:rPr>
              <a:t>[46]  </a:t>
            </a:r>
            <a:r>
              <a:rPr lang="en-US" sz="1000" b="1" dirty="0" u="sng">
                <a:solidFill>
                  <a:srgbClr val="FFFFFF"/>
                </a:solidFill>
                <a:latin typeface="Arial"/>
                <a:ea typeface="Arial"/>
                <a:cs typeface="Arial"/>
                <a:hlinkClick r:id="rIdL9"/>
              </a:rPr>
              <a:t>Galileo: Custom LLM-as-a-judge metrics</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0"/>
              </a:rPr>
              <a:t>docs.galileo.ai/concepts/metrics/custom-metrics/custom-metrics-…</a:t>
            </a:r>
          </a:p>
          <a:p>
            <a:pPr algn="l" marL="0" indent="0">
              <a:lnSpc>
                <a:spcPct val="112000"/>
              </a:lnSpc>
              <a:buNone/>
            </a:pPr>
            <a:r>
              <a:rPr lang="en-US" sz="1000" b="1" dirty="0">
                <a:solidFill>
                  <a:srgbClr val="F5B700"/>
                </a:solidFill>
                <a:latin typeface="Arial"/>
                <a:ea typeface="Arial"/>
                <a:cs typeface="Arial"/>
              </a:rPr>
              <a:t>[47]  </a:t>
            </a:r>
            <a:r>
              <a:rPr lang="en-US" sz="1000" b="1" dirty="0" u="sng">
                <a:solidFill>
                  <a:srgbClr val="FFFFFF"/>
                </a:solidFill>
                <a:latin typeface="Arial"/>
                <a:ea typeface="Arial"/>
                <a:cs typeface="Arial"/>
                <a:hlinkClick r:id="rIdL11"/>
              </a:rPr>
              <a:t>Galileo: Custom code-based metrics</a:t>
            </a:r>
          </a:p>
          <a:p>
            <a:pPr algn="l" marL="0" indent="0">
              <a:lnSpc>
                <a:spcPct val="112000"/>
              </a:lnSpc>
              <a:buNone/>
            </a:pPr>
            <a:r>
              <a:rPr lang="en-US" sz="900" dirty="0">
                <a:solidFill>
                  <a:srgbClr val="FFFFFF"/>
                </a:solidFill>
                <a:latin typeface="Arial"/>
                <a:ea typeface="Arial"/>
                <a:cs typeface="Arial"/>
              </a:rPr>
              <a:t>        </a:t>
            </a:r>
            <a:r>
              <a:rPr lang="en-US" sz="950" dirty="0" u="sng">
                <a:solidFill>
                  <a:srgbClr val="F5B700"/>
                </a:solidFill>
                <a:latin typeface="Arial"/>
                <a:ea typeface="Arial"/>
                <a:cs typeface="Arial"/>
                <a:hlinkClick r:id="rIdL12"/>
              </a:rPr>
              <a:t>docs.galileo.ai/concepts/metrics/custom-metrics/custom-metrics-…</a:t>
            </a:r>
          </a:p>
        </p:txBody>
      </p:sp>
      <p:sp>
        <p:nvSpPr>
          <p:cNvPr id="159" name="ref 159"/>
          <p:cNvSpPr/>
          <p:nvPr/>
        </p:nvSpPr>
        <p:spPr>
          <a:xfrm>
            <a:off x="6172200" y="2057400"/>
            <a:ext cx="5468112" cy="4315968"/>
          </a:xfrm>
          <a:prstGeom prst="roundRect">
            <a:avLst>
              <a:gd name="adj" fmla="val 4000"/>
            </a:avLst>
          </a:prstGeom>
          <a:solidFill>
            <a:srgbClr val="2A1A16"/>
          </a:solidFill>
          <a:ln w="9525">
            <a:solidFill>
              <a:srgbClr val="D9B48A"/>
            </a:solidFill>
          </a:ln>
        </p:spPr>
        <p:txBody>
          <a:bodyPr wrap="square" lIns="146304" tIns="109728" rIns="128016" bIns="73152" rtlCol="0" anchor="t">
            <a:noAutofit/>
          </a:bodyPr>
          <a:lstStyle/>
          <a:p>
            <a:pPr algn="l" marL="0" indent="0">
              <a:lnSpc>
                <a:spcPct val="112000"/>
              </a:lnSpc>
              <a:buNone/>
            </a:pPr>
            <a:r>
              <a:rPr lang="en-US" sz="1050" b="1" dirty="0">
                <a:solidFill>
                  <a:srgbClr val="F5B700"/>
                </a:solidFill>
                <a:latin typeface="Arial"/>
                <a:ea typeface="Arial"/>
                <a:cs typeface="Arial"/>
              </a:rPr>
              <a:t>[45] metric pages  ·  names on slide 6</a:t>
            </a:r>
          </a:p>
          <a:p>
            <a:pPr algn="l" marL="0" indent="0">
              <a:lnSpc>
                <a:spcPct val="112000"/>
              </a:lnSpc>
              <a:buNone/>
            </a:pPr>
            <a:r>
              <a:rPr lang="en-US" sz="950" dirty="0">
                <a:solidFill>
                  <a:srgbClr val="FFFFFF"/>
                </a:solidFill>
                <a:latin typeface="Arial"/>
                <a:ea typeface="Arial"/>
                <a:cs typeface="Arial"/>
              </a:rPr>
              <a:t/>
            </a:r>
            <a:r>
              <a:rPr lang="en-US" sz="950" dirty="0" u="sng">
                <a:solidFill>
                  <a:srgbClr val="F5B700"/>
                </a:solidFill>
                <a:latin typeface="Arial"/>
                <a:ea typeface="Arial"/>
                <a:cs typeface="Arial"/>
                <a:hlinkClick r:id="rIdL13"/>
              </a:rPr>
              <a:t>Conversation Quality</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14"/>
              </a:rPr>
              <a:t>Tone</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15"/>
              </a:rPr>
              <a:t>Toxicity</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16"/>
              </a:rPr>
              <a:t>Prompt Injection</a:t>
            </a:r>
          </a:p>
          <a:p>
            <a:pPr algn="l" marL="0" indent="0">
              <a:lnSpc>
                <a:spcPct val="112000"/>
              </a:lnSpc>
              <a:buNone/>
            </a:pPr>
            <a:r>
              <a:rPr lang="en-US" sz="950" dirty="0">
                <a:solidFill>
                  <a:srgbClr val="FFFFFF"/>
                </a:solidFill>
                <a:latin typeface="Arial"/>
                <a:ea typeface="Arial"/>
                <a:cs typeface="Arial"/>
              </a:rPr>
              <a:t/>
            </a:r>
            <a:r>
              <a:rPr lang="en-US" sz="950" dirty="0" u="sng">
                <a:solidFill>
                  <a:srgbClr val="F5B700"/>
                </a:solidFill>
                <a:latin typeface="Arial"/>
                <a:ea typeface="Arial"/>
                <a:cs typeface="Arial"/>
                <a:hlinkClick r:id="rIdL17"/>
              </a:rPr>
              <a:t>PII</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18"/>
              </a:rPr>
              <a:t>Action Completion</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19"/>
              </a:rPr>
              <a:t>Action Advancement</a:t>
            </a:r>
          </a:p>
          <a:p>
            <a:pPr algn="l" marL="0" indent="0">
              <a:lnSpc>
                <a:spcPct val="112000"/>
              </a:lnSpc>
              <a:buNone/>
            </a:pPr>
            <a:r>
              <a:rPr lang="en-US" sz="950" dirty="0">
                <a:solidFill>
                  <a:srgbClr val="FFFFFF"/>
                </a:solidFill>
                <a:latin typeface="Arial"/>
                <a:ea typeface="Arial"/>
                <a:cs typeface="Arial"/>
              </a:rPr>
              <a:t/>
            </a:r>
            <a:r>
              <a:rPr lang="en-US" sz="950" dirty="0" u="sng">
                <a:solidFill>
                  <a:srgbClr val="F5B700"/>
                </a:solidFill>
                <a:latin typeface="Arial"/>
                <a:ea typeface="Arial"/>
                <a:cs typeface="Arial"/>
                <a:hlinkClick r:id="rIdL20"/>
              </a:rPr>
              <a:t>Tool Selection Quality</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1"/>
              </a:rPr>
              <a:t>Tool Error</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2"/>
              </a:rPr>
              <a:t>Agent Flow</a:t>
            </a:r>
          </a:p>
          <a:p>
            <a:pPr algn="l" marL="0" indent="0">
              <a:lnSpc>
                <a:spcPct val="112000"/>
              </a:lnSpc>
              <a:buNone/>
            </a:pPr>
            <a:r>
              <a:rPr lang="en-US" sz="950" dirty="0">
                <a:solidFill>
                  <a:srgbClr val="FFFFFF"/>
                </a:solidFill>
                <a:latin typeface="Arial"/>
                <a:ea typeface="Arial"/>
                <a:cs typeface="Arial"/>
              </a:rPr>
              <a:t/>
            </a:r>
            <a:r>
              <a:rPr lang="en-US" sz="950" dirty="0" u="sng">
                <a:solidFill>
                  <a:srgbClr val="F5B700"/>
                </a:solidFill>
                <a:latin typeface="Arial"/>
                <a:ea typeface="Arial"/>
                <a:cs typeface="Arial"/>
                <a:hlinkClick r:id="rIdL23"/>
              </a:rPr>
              <a:t>Agent Efficiency</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4"/>
              </a:rPr>
              <a:t>Correctness</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5"/>
              </a:rPr>
              <a:t>Instruction Adherence</a:t>
            </a:r>
          </a:p>
          <a:p>
            <a:pPr algn="l" marL="0" indent="0">
              <a:lnSpc>
                <a:spcPct val="112000"/>
              </a:lnSpc>
              <a:buNone/>
            </a:pPr>
            <a:r>
              <a:rPr lang="en-US" sz="950" dirty="0">
                <a:solidFill>
                  <a:srgbClr val="FFFFFF"/>
                </a:solidFill>
                <a:latin typeface="Arial"/>
                <a:ea typeface="Arial"/>
                <a:cs typeface="Arial"/>
              </a:rPr>
              <a:t/>
            </a:r>
            <a:r>
              <a:rPr lang="en-US" sz="950" dirty="0" u="sng">
                <a:solidFill>
                  <a:srgbClr val="F5B700"/>
                </a:solidFill>
                <a:latin typeface="Arial"/>
                <a:ea typeface="Arial"/>
                <a:cs typeface="Arial"/>
                <a:hlinkClick r:id="rIdL26"/>
              </a:rPr>
              <a:t>Context Adherence</a:t>
            </a:r>
            <a:r>
              <a:rPr lang="en-US" sz="900" dirty="0">
                <a:solidFill>
                  <a:srgbClr val="D9B48A"/>
                </a:solidFill>
                <a:latin typeface="Arial"/>
                <a:ea typeface="Arial"/>
                <a:cs typeface="Arial"/>
              </a:rPr>
              <a:t>  ·  </a:t>
            </a:r>
            <a:r>
              <a:rPr lang="en-US" sz="950" dirty="0" u="sng">
                <a:solidFill>
                  <a:srgbClr val="F5B700"/>
                </a:solidFill>
                <a:latin typeface="Arial"/>
                <a:ea typeface="Arial"/>
                <a:cs typeface="Arial"/>
                <a:hlinkClick r:id="rIdL27"/>
              </a:rPr>
              <a:t>Completeness</a:t>
            </a:r>
          </a:p>
          <a:p>
            <a:pPr algn="l" marL="0" indent="0">
              <a:lnSpc>
                <a:spcPct val="112000"/>
              </a:lnSpc>
              <a:buNone/>
            </a:pPr>
            <a:r>
              <a:rPr lang="en-US" sz="500" dirty="0">
                <a:solidFill>
                  <a:srgbClr val="FFFFFF"/>
                </a:solidFill>
                <a:latin typeface="Arial"/>
                <a:ea typeface="Arial"/>
                <a:cs typeface="Arial"/>
              </a:rPr>
              <a:t> </a:t>
            </a:r>
          </a:p>
          <a:p>
            <a:pPr algn="l" marL="0" indent="0">
              <a:lnSpc>
                <a:spcPct val="112000"/>
              </a:lnSpc>
              <a:buNone/>
            </a:pPr>
            <a:r>
              <a:rPr lang="en-US" sz="1050" b="1" dirty="0">
                <a:solidFill>
                  <a:srgbClr val="F5B700"/>
                </a:solidFill>
                <a:latin typeface="Arial"/>
                <a:ea typeface="Arial"/>
                <a:cs typeface="Arial"/>
              </a:rPr>
              <a:t>Internal inputs (no public link)</a:t>
            </a:r>
          </a:p>
          <a:p>
            <a:pPr algn="l" marL="0" indent="0">
              <a:lnSpc>
                <a:spcPct val="112000"/>
              </a:lnSpc>
              <a:buNone/>
            </a:pPr>
            <a:r>
              <a:rPr lang="en-US" sz="950" dirty="0">
                <a:solidFill>
                  <a:srgbClr val="F3E6D6"/>
                </a:solidFill>
                <a:latin typeface="Arial"/>
                <a:ea typeface="Arial"/>
                <a:cs typeface="Arial"/>
              </a:rPr>
              <a:t>Platform team pipeline diagram “DEFAULT · Most use cases (Low Volume / SAMPLED)”; onboarding doc “Choose your path” (Kairos SDK vs manual OTel); platform answers on sampling, flagship 100% and backend storage / PII masking, 14 Oct 2026.</a:t>
            </a:r>
          </a:p>
        </p:txBody>
      </p:sp>
      <p:sp>
        <p:nvSpPr>
          <p:cNvPr id="160" name="gal 160"/>
          <p:cNvSpPr/>
          <p:nvPr/>
        </p:nvSpPr>
        <p:spPr>
          <a:xfrm>
            <a:off x="548640" y="6473952"/>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All links checked 14 Oct 2026 and resolve (Context Adherence and Completeness redirect within docs.galileo.ai).</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11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Scalable trace platform  ·  1 of 5</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Galileo ingest: 5 traces/s.</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We need 231/s now and ~5,800/s at scale</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548640" y="2103120"/>
            <a:ext cx="2690622" cy="868680"/>
          </a:xfrm>
          <a:prstGeom prst="roundRect">
            <a:avLst>
              <a:gd name="adj" fmla="val 10000"/>
            </a:avLst>
          </a:prstGeom>
          <a:solidFill>
            <a:srgbClr val="F5B700"/>
          </a:solidFill>
          <a:ln>
            <a:noFill/>
          </a:ln>
        </p:spPr>
        <p:txBody>
          <a:bodyPr wrap="square" lIns="128016" tIns="45720" rIns="91440" bIns="45720" rtlCol="0" anchor="ctr">
            <a:noAutofit/>
          </a:bodyPr>
          <a:lstStyle/>
          <a:p>
            <a:pPr algn="l" marL="0" indent="0">
              <a:lnSpc>
                <a:spcPct val="93000"/>
              </a:lnSpc>
              <a:buNone/>
            </a:pPr>
            <a:r>
              <a:rPr lang="en-US" sz="1600" b="1" dirty="0">
                <a:solidFill>
                  <a:srgbClr val="141010"/>
                </a:solidFill>
                <a:latin typeface="Arial"/>
                <a:ea typeface="Arial"/>
                <a:cs typeface="Arial"/>
              </a:rPr>
              <a:t>300 / min = 5 / s</a:t>
            </a:r>
          </a:p>
          <a:p>
            <a:pPr algn="l" marL="0" indent="0">
              <a:lnSpc>
                <a:spcPct val="93000"/>
              </a:lnSpc>
              <a:buNone/>
            </a:pPr>
            <a:r>
              <a:rPr lang="en-US" sz="850" dirty="0">
                <a:solidFill>
                  <a:srgbClr val="141010"/>
                </a:solidFill>
                <a:latin typeface="Arial"/>
                <a:ea typeface="Arial"/>
                <a:cs typeface="Arial"/>
              </a:rPr>
              <a:t>Galileo (Splunk AO) into ClickHouse today, even with LLM evals off</a:t>
            </a:r>
          </a:p>
        </p:txBody>
      </p:sp>
      <p:sp>
        <p:nvSpPr>
          <p:cNvPr id="159" name="gal 159"/>
          <p:cNvSpPr/>
          <p:nvPr/>
        </p:nvSpPr>
        <p:spPr>
          <a:xfrm>
            <a:off x="3348990" y="2103120"/>
            <a:ext cx="2690622" cy="868680"/>
          </a:xfrm>
          <a:prstGeom prst="roundRect">
            <a:avLst>
              <a:gd name="adj" fmla="val 10000"/>
            </a:avLst>
          </a:prstGeom>
          <a:solidFill>
            <a:srgbClr val="2A1A16"/>
          </a:solidFill>
          <a:ln w="12700">
            <a:solidFill>
              <a:srgbClr val="D9B48A"/>
            </a:solidFill>
          </a:ln>
        </p:spPr>
        <p:txBody>
          <a:bodyPr wrap="square" lIns="128016" tIns="45720" rIns="91440" bIns="45720" rtlCol="0" anchor="ctr">
            <a:noAutofit/>
          </a:bodyPr>
          <a:lstStyle/>
          <a:p>
            <a:pPr algn="l" marL="0" indent="0">
              <a:lnSpc>
                <a:spcPct val="93000"/>
              </a:lnSpc>
              <a:buNone/>
            </a:pPr>
            <a:r>
              <a:rPr lang="en-US" sz="1600" b="1" dirty="0">
                <a:solidFill>
                  <a:srgbClr val="F5B700"/>
                </a:solidFill>
                <a:latin typeface="Arial"/>
                <a:ea typeface="Arial"/>
                <a:cs typeface="Arial"/>
              </a:rPr>
              <a:t>20M / day = 231 / s</a:t>
            </a:r>
          </a:p>
          <a:p>
            <a:pPr algn="l" marL="0" indent="0">
              <a:lnSpc>
                <a:spcPct val="93000"/>
              </a:lnSpc>
              <a:buNone/>
            </a:pPr>
            <a:r>
              <a:rPr lang="en-US" sz="850" dirty="0">
                <a:solidFill>
                  <a:srgbClr val="F3E6D6"/>
                </a:solidFill>
                <a:latin typeface="Arial"/>
                <a:ea typeface="Arial"/>
                <a:cs typeface="Arial"/>
              </a:rPr>
              <a:t>now · ~1.2k/s at 3–5× peaks · ×46 today</a:t>
            </a:r>
          </a:p>
        </p:txBody>
      </p:sp>
      <p:sp>
        <p:nvSpPr>
          <p:cNvPr id="160" name="gal 160"/>
          <p:cNvSpPr/>
          <p:nvPr/>
        </p:nvSpPr>
        <p:spPr>
          <a:xfrm>
            <a:off x="6149340" y="2103120"/>
            <a:ext cx="2690622" cy="868680"/>
          </a:xfrm>
          <a:prstGeom prst="roundRect">
            <a:avLst>
              <a:gd name="adj" fmla="val 10000"/>
            </a:avLst>
          </a:prstGeom>
          <a:solidFill>
            <a:srgbClr val="2A1A16"/>
          </a:solidFill>
          <a:ln w="12700">
            <a:solidFill>
              <a:srgbClr val="D9B48A"/>
            </a:solidFill>
          </a:ln>
        </p:spPr>
        <p:txBody>
          <a:bodyPr wrap="square" lIns="128016" tIns="45720" rIns="91440" bIns="45720" rtlCol="0" anchor="ctr">
            <a:noAutofit/>
          </a:bodyPr>
          <a:lstStyle/>
          <a:p>
            <a:pPr algn="l" marL="0" indent="0">
              <a:lnSpc>
                <a:spcPct val="93000"/>
              </a:lnSpc>
              <a:buNone/>
            </a:pPr>
            <a:r>
              <a:rPr lang="en-US" sz="1600" b="1" dirty="0">
                <a:solidFill>
                  <a:srgbClr val="F5B700"/>
                </a:solidFill>
                <a:latin typeface="Arial"/>
                <a:ea typeface="Arial"/>
                <a:cs typeface="Arial"/>
              </a:rPr>
              <a:t>500M / day = 5,787 / s</a:t>
            </a:r>
          </a:p>
          <a:p>
            <a:pPr algn="l" marL="0" indent="0">
              <a:lnSpc>
                <a:spcPct val="93000"/>
              </a:lnSpc>
              <a:buNone/>
            </a:pPr>
            <a:r>
              <a:rPr lang="en-US" sz="850" dirty="0">
                <a:solidFill>
                  <a:srgbClr val="F3E6D6"/>
                </a:solidFill>
                <a:latin typeface="Arial"/>
                <a:ea typeface="Arial"/>
                <a:cs typeface="Arial"/>
              </a:rPr>
              <a:t>production · ~29k/s at peaks · ×1,160 today</a:t>
            </a:r>
          </a:p>
        </p:txBody>
      </p:sp>
      <p:sp>
        <p:nvSpPr>
          <p:cNvPr id="161" name="gal 161"/>
          <p:cNvSpPr/>
          <p:nvPr/>
        </p:nvSpPr>
        <p:spPr>
          <a:xfrm>
            <a:off x="8949690" y="2103120"/>
            <a:ext cx="2690622" cy="868680"/>
          </a:xfrm>
          <a:prstGeom prst="roundRect">
            <a:avLst>
              <a:gd name="adj" fmla="val 10000"/>
            </a:avLst>
          </a:prstGeom>
          <a:solidFill>
            <a:srgbClr val="2A1A16"/>
          </a:solidFill>
          <a:ln w="12700">
            <a:solidFill>
              <a:srgbClr val="D9B48A"/>
            </a:solidFill>
          </a:ln>
        </p:spPr>
        <p:txBody>
          <a:bodyPr wrap="square" lIns="128016" tIns="45720" rIns="91440" bIns="45720" rtlCol="0" anchor="ctr">
            <a:noAutofit/>
          </a:bodyPr>
          <a:lstStyle/>
          <a:p>
            <a:pPr algn="l" marL="0" indent="0">
              <a:lnSpc>
                <a:spcPct val="93000"/>
              </a:lnSpc>
              <a:buNone/>
            </a:pPr>
            <a:r>
              <a:rPr lang="en-US" sz="1600" b="1" dirty="0">
                <a:solidFill>
                  <a:srgbClr val="F5B700"/>
                </a:solidFill>
                <a:latin typeface="Arial"/>
                <a:ea typeface="Arial"/>
                <a:cs typeface="Arial"/>
              </a:rPr>
              <a:t>Evals: 1M / 16 h ≈ 17 / s</a:t>
            </a:r>
          </a:p>
          <a:p>
            <a:pPr algn="l" marL="0" indent="0">
              <a:lnSpc>
                <a:spcPct val="93000"/>
              </a:lnSpc>
              <a:buNone/>
            </a:pPr>
            <a:r>
              <a:rPr lang="en-US" sz="850" dirty="0">
                <a:solidFill>
                  <a:srgbClr val="F3E6D6"/>
                </a:solidFill>
                <a:latin typeface="Arial"/>
                <a:ea typeface="Arial"/>
                <a:cs typeface="Arial"/>
              </a:rPr>
              <a:t>target 20M sessions / day = 231 / s · ≈ ×14</a:t>
            </a:r>
          </a:p>
        </p:txBody>
      </p:sp>
      <p:sp>
        <p:nvSpPr>
          <p:cNvPr id="162" name="gal 162"/>
          <p:cNvSpPr/>
          <p:nvPr/>
        </p:nvSpPr>
        <p:spPr>
          <a:xfrm>
            <a:off x="548640" y="3154680"/>
            <a:ext cx="7040880" cy="256032"/>
          </a:xfrm>
          <a:prstGeom prst="rect">
            <a:avLst/>
          </a:prstGeom>
          <a:noFill/>
          <a:ln>
            <a:noFill/>
          </a:ln>
        </p:spPr>
        <p:txBody>
          <a:bodyPr wrap="square" lIns="0" tIns="0" rIns="0" bIns="0" rtlCol="0" anchor="ctr">
            <a:noAutofit/>
          </a:bodyPr>
          <a:lstStyle/>
          <a:p>
            <a:pPr algn="l" marL="0" indent="0">
              <a:buNone/>
            </a:pPr>
            <a:r>
              <a:rPr lang="en-US" sz="1100" b="1" dirty="0">
                <a:solidFill>
                  <a:srgbClr val="FFFFFF"/>
                </a:solidFill>
                <a:latin typeface="Arial"/>
                <a:ea typeface="Arial"/>
                <a:cs typeface="Arial"/>
              </a:rPr>
              <a:t>Root-cause hypotheses</a:t>
            </a:r>
            <a:r>
              <a:rPr lang="en-US" sz="850" b="1" dirty="0">
                <a:solidFill>
                  <a:srgbClr val="D9B48A"/>
                </a:solidFill>
                <a:latin typeface="Arial"/>
                <a:ea typeface="Arial"/>
                <a:cs typeface="Arial"/>
              </a:rPr>
              <a:t>   all HYPOTHESIS until ClickHouse system tables confirm</a:t>
            </a:r>
          </a:p>
        </p:txBody>
      </p:sp>
      <p:sp>
        <p:nvSpPr>
          <p:cNvPr id="163" name="gal 163"/>
          <p:cNvSpPr/>
          <p:nvPr/>
        </p:nvSpPr>
        <p:spPr>
          <a:xfrm>
            <a:off x="548640" y="3474720"/>
            <a:ext cx="3465576" cy="603504"/>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1000" b="1" dirty="0">
                <a:solidFill>
                  <a:srgbClr val="F5B700"/>
                </a:solidFill>
                <a:latin typeface="Arial"/>
                <a:ea typeface="Arial"/>
                <a:cs typeface="Arial"/>
              </a:rPr>
              <a:t>H1  </a:t>
            </a:r>
            <a:r>
              <a:rPr lang="en-US" sz="950" b="1" dirty="0">
                <a:solidFill>
                  <a:srgbClr val="FFFFFF"/>
                </a:solidFill>
                <a:latin typeface="Arial"/>
                <a:ea typeface="Arial"/>
                <a:cs typeface="Arial"/>
              </a:rPr>
              <a:t>One synchronous INSERT per span</a:t>
            </a:r>
          </a:p>
          <a:p>
            <a:pPr algn="l" marL="0" indent="0">
              <a:lnSpc>
                <a:spcPct val="90000"/>
              </a:lnSpc>
              <a:buNone/>
            </a:pPr>
            <a:r>
              <a:rPr lang="en-US" sz="800" dirty="0">
                <a:solidFill>
                  <a:srgbClr val="F3E6D6"/>
                </a:solidFill>
                <a:latin typeface="Arial"/>
                <a:ea typeface="Arial"/>
                <a:cs typeface="Arial"/>
              </a:rPr>
              <a:t>ClickHouse wants ≥1k rows (10k–100k) about once a second; tiny inserts cause “too many parts” [48][49]</a:t>
            </a:r>
          </a:p>
        </p:txBody>
      </p:sp>
      <p:sp>
        <p:nvSpPr>
          <p:cNvPr id="164" name="gal 164"/>
          <p:cNvSpPr/>
          <p:nvPr/>
        </p:nvSpPr>
        <p:spPr>
          <a:xfrm>
            <a:off x="4123944" y="3474720"/>
            <a:ext cx="3465576" cy="603504"/>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1000" b="1" dirty="0">
                <a:solidFill>
                  <a:srgbClr val="F5B700"/>
                </a:solidFill>
                <a:latin typeface="Arial"/>
                <a:ea typeface="Arial"/>
                <a:cs typeface="Arial"/>
              </a:rPr>
              <a:t>H2  </a:t>
            </a:r>
            <a:r>
              <a:rPr lang="en-US" sz="950" b="1" dirty="0">
                <a:solidFill>
                  <a:srgbClr val="FFFFFF"/>
                </a:solidFill>
                <a:latin typeface="Arial"/>
                <a:ea typeface="Arial"/>
                <a:cs typeface="Arial"/>
              </a:rPr>
              <a:t>async_insert switched off</a:t>
            </a:r>
          </a:p>
          <a:p>
            <a:pPr algn="l" marL="0" indent="0">
              <a:lnSpc>
                <a:spcPct val="90000"/>
              </a:lnSpc>
              <a:buNone/>
            </a:pPr>
            <a:r>
              <a:rPr lang="en-US" sz="800" dirty="0">
                <a:solidFill>
                  <a:srgbClr val="F3E6D6"/>
                </a:solidFill>
                <a:latin typeface="Arial"/>
                <a:ea typeface="Arial"/>
                <a:cs typeface="Arial"/>
              </a:rPr>
              <a:t>server-side buffering exists for many small senders [49][50]</a:t>
            </a:r>
          </a:p>
        </p:txBody>
      </p:sp>
      <p:sp>
        <p:nvSpPr>
          <p:cNvPr id="165" name="gal 165"/>
          <p:cNvSpPr/>
          <p:nvPr/>
        </p:nvSpPr>
        <p:spPr>
          <a:xfrm>
            <a:off x="548640" y="4151376"/>
            <a:ext cx="3465576" cy="603504"/>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1000" b="1" dirty="0">
                <a:solidFill>
                  <a:srgbClr val="F5B700"/>
                </a:solidFill>
                <a:latin typeface="Arial"/>
                <a:ea typeface="Arial"/>
                <a:cs typeface="Arial"/>
              </a:rPr>
              <a:t>H3  </a:t>
            </a:r>
            <a:r>
              <a:rPr lang="en-US" sz="950" b="1" dirty="0">
                <a:solidFill>
                  <a:srgbClr val="FFFFFF"/>
                </a:solidFill>
                <a:latin typeface="Arial"/>
                <a:ea typeface="Arial"/>
                <a:cs typeface="Arial"/>
              </a:rPr>
              <a:t>High-cardinality PARTITION BY</a:t>
            </a:r>
          </a:p>
          <a:p>
            <a:pPr algn="l" marL="0" indent="0">
              <a:lnSpc>
                <a:spcPct val="90000"/>
              </a:lnSpc>
              <a:buNone/>
            </a:pPr>
            <a:r>
              <a:rPr lang="en-US" sz="800" dirty="0">
                <a:solidFill>
                  <a:srgbClr val="F3E6D6"/>
                </a:solidFill>
                <a:latin typeface="Arial"/>
                <a:ea typeface="Arial"/>
                <a:cs typeface="Arial"/>
              </a:rPr>
              <a:t>per session, agent or project-hour: many parts even with async [48][49]</a:t>
            </a:r>
          </a:p>
        </p:txBody>
      </p:sp>
      <p:sp>
        <p:nvSpPr>
          <p:cNvPr id="166" name="gal 166"/>
          <p:cNvSpPr/>
          <p:nvPr/>
        </p:nvSpPr>
        <p:spPr>
          <a:xfrm>
            <a:off x="4123944" y="4151376"/>
            <a:ext cx="3465576" cy="603504"/>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1000" b="1" dirty="0">
                <a:solidFill>
                  <a:srgbClr val="F5B700"/>
                </a:solidFill>
                <a:latin typeface="Arial"/>
                <a:ea typeface="Arial"/>
                <a:cs typeface="Arial"/>
              </a:rPr>
              <a:t>H4  </a:t>
            </a:r>
            <a:r>
              <a:rPr lang="en-US" sz="950" b="1" dirty="0">
                <a:solidFill>
                  <a:srgbClr val="FFFFFF"/>
                </a:solidFill>
                <a:latin typeface="Arial"/>
                <a:ea typeface="Arial"/>
                <a:cs typeface="Arial"/>
              </a:rPr>
              <a:t>No durable buffer</a:t>
            </a:r>
          </a:p>
          <a:p>
            <a:pPr algn="l" marL="0" indent="0">
              <a:lnSpc>
                <a:spcPct val="90000"/>
              </a:lnSpc>
              <a:buNone/>
            </a:pPr>
            <a:r>
              <a:rPr lang="en-US" sz="800" dirty="0">
                <a:solidFill>
                  <a:srgbClr val="F3E6D6"/>
                </a:solidFill>
                <a:latin typeface="Arial"/>
                <a:ea typeface="Arial"/>
                <a:cs typeface="Arial"/>
              </a:rPr>
              <a:t>writer sits on the request path; slow merges back-pressure the SDK and gateway</a:t>
            </a:r>
          </a:p>
        </p:txBody>
      </p:sp>
      <p:sp>
        <p:nvSpPr>
          <p:cNvPr id="167" name="gal 167"/>
          <p:cNvSpPr/>
          <p:nvPr/>
        </p:nvSpPr>
        <p:spPr>
          <a:xfrm>
            <a:off x="548640" y="4828032"/>
            <a:ext cx="3465576" cy="603504"/>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1000" b="1" dirty="0">
                <a:solidFill>
                  <a:srgbClr val="F5B700"/>
                </a:solidFill>
                <a:latin typeface="Arial"/>
                <a:ea typeface="Arial"/>
                <a:cs typeface="Arial"/>
              </a:rPr>
              <a:t>H5  </a:t>
            </a:r>
            <a:r>
              <a:rPr lang="en-US" sz="950" b="1" dirty="0">
                <a:solidFill>
                  <a:srgbClr val="FFFFFF"/>
                </a:solidFill>
                <a:latin typeface="Arial"/>
                <a:ea typeface="Arial"/>
                <a:cs typeface="Arial"/>
              </a:rPr>
              <a:t>Read-modify-write per span</a:t>
            </a:r>
          </a:p>
          <a:p>
            <a:pPr algn="l" marL="0" indent="0">
              <a:lnSpc>
                <a:spcPct val="90000"/>
              </a:lnSpc>
              <a:buNone/>
            </a:pPr>
            <a:r>
              <a:rPr lang="en-US" sz="800" dirty="0">
                <a:solidFill>
                  <a:srgbClr val="F3E6D6"/>
                </a:solidFill>
                <a:latin typeface="Arial"/>
                <a:ea typeface="Arial"/>
                <a:cs typeface="Arial"/>
              </a:rPr>
              <a:t>stitching at write time, FINAL reads, heavy materialised views</a:t>
            </a:r>
          </a:p>
        </p:txBody>
      </p:sp>
      <p:sp>
        <p:nvSpPr>
          <p:cNvPr id="168" name="gal 168"/>
          <p:cNvSpPr/>
          <p:nvPr/>
        </p:nvSpPr>
        <p:spPr>
          <a:xfrm>
            <a:off x="4123944" y="4828032"/>
            <a:ext cx="3465576" cy="603504"/>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1000" b="1" dirty="0">
                <a:solidFill>
                  <a:srgbClr val="F5B700"/>
                </a:solidFill>
                <a:latin typeface="Arial"/>
                <a:ea typeface="Arial"/>
                <a:cs typeface="Arial"/>
              </a:rPr>
              <a:t>H6  </a:t>
            </a:r>
            <a:r>
              <a:rPr lang="en-US" sz="950" b="1" dirty="0">
                <a:solidFill>
                  <a:srgbClr val="FFFFFF"/>
                </a:solidFill>
                <a:latin typeface="Arial"/>
                <a:ea typeface="Arial"/>
                <a:cs typeface="Arial"/>
              </a:rPr>
              <a:t>Big payloads or slow disk</a:t>
            </a:r>
          </a:p>
          <a:p>
            <a:pPr algn="l" marL="0" indent="0">
              <a:lnSpc>
                <a:spcPct val="90000"/>
              </a:lnSpc>
              <a:buNone/>
            </a:pPr>
            <a:r>
              <a:rPr lang="en-US" sz="800" dirty="0">
                <a:solidFill>
                  <a:srgbClr val="F3E6D6"/>
                </a:solidFill>
                <a:latin typeface="Arial"/>
                <a:ea typeface="Arial"/>
                <a:cs typeface="Arial"/>
              </a:rPr>
              <a:t>prompt / response JSON inline in hot columns; Persistent Disk IOPS limit merges [48]</a:t>
            </a:r>
          </a:p>
        </p:txBody>
      </p:sp>
      <p:sp>
        <p:nvSpPr>
          <p:cNvPr id="169" name="gal 169"/>
          <p:cNvSpPr/>
          <p:nvPr/>
        </p:nvSpPr>
        <p:spPr>
          <a:xfrm>
            <a:off x="548640" y="5504688"/>
            <a:ext cx="3465576" cy="603504"/>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1000" b="1" dirty="0">
                <a:solidFill>
                  <a:srgbClr val="F5B700"/>
                </a:solidFill>
                <a:latin typeface="Arial"/>
                <a:ea typeface="Arial"/>
                <a:cs typeface="Arial"/>
              </a:rPr>
              <a:t>H7  </a:t>
            </a:r>
            <a:r>
              <a:rPr lang="en-US" sz="950" b="1" dirty="0">
                <a:solidFill>
                  <a:srgbClr val="FFFFFF"/>
                </a:solidFill>
                <a:latin typeface="Arial"/>
                <a:ea typeface="Arial"/>
                <a:cs typeface="Arial"/>
              </a:rPr>
              <a:t>Galileo-side limit</a:t>
            </a:r>
          </a:p>
          <a:p>
            <a:pPr algn="l" marL="0" indent="0">
              <a:lnSpc>
                <a:spcPct val="90000"/>
              </a:lnSpc>
              <a:buNone/>
            </a:pPr>
            <a:r>
              <a:rPr lang="en-US" sz="800" dirty="0">
                <a:solidFill>
                  <a:srgbClr val="F3E6D6"/>
                </a:solidFill>
                <a:latin typeface="Arial"/>
                <a:ea typeface="Arial"/>
                <a:cs typeface="Arial"/>
              </a:rPr>
              <a:t>per-tenant rate limit or a single-replica ingest worker; ask Splunk / Galileo</a:t>
            </a:r>
          </a:p>
        </p:txBody>
      </p:sp>
      <p:sp>
        <p:nvSpPr>
          <p:cNvPr id="170" name="gal 170"/>
          <p:cNvSpPr/>
          <p:nvPr/>
        </p:nvSpPr>
        <p:spPr>
          <a:xfrm>
            <a:off x="7863840" y="3154680"/>
            <a:ext cx="3776472" cy="256032"/>
          </a:xfrm>
          <a:prstGeom prst="rect">
            <a:avLst/>
          </a:prstGeom>
          <a:noFill/>
          <a:ln>
            <a:noFill/>
          </a:ln>
        </p:spPr>
        <p:txBody>
          <a:bodyPr wrap="square" lIns="0" tIns="0" rIns="0" bIns="0" rtlCol="0" anchor="ctr">
            <a:noAutofit/>
          </a:bodyPr>
          <a:lstStyle/>
          <a:p>
            <a:pPr algn="l" marL="0" indent="0">
              <a:buNone/>
            </a:pPr>
            <a:r>
              <a:rPr lang="en-US" sz="1100" b="1" dirty="0">
                <a:solidFill>
                  <a:srgbClr val="FFFFFF"/>
                </a:solidFill>
                <a:latin typeface="Arial"/>
                <a:ea typeface="Arial"/>
                <a:cs typeface="Arial"/>
              </a:rPr>
              <a:t>Quick isolation test</a:t>
            </a:r>
            <a:r>
              <a:rPr lang="en-US" sz="850" b="1" dirty="0">
                <a:solidFill>
                  <a:srgbClr val="D9B48A"/>
                </a:solidFill>
                <a:latin typeface="Arial"/>
                <a:ea typeface="Arial"/>
                <a:cs typeface="Arial"/>
              </a:rPr>
              <a:t>   one day</a:t>
            </a:r>
          </a:p>
        </p:txBody>
      </p:sp>
      <p:sp>
        <p:nvSpPr>
          <p:cNvPr id="171" name="gal 171"/>
          <p:cNvSpPr/>
          <p:nvPr/>
        </p:nvSpPr>
        <p:spPr>
          <a:xfrm>
            <a:off x="7863840" y="3474720"/>
            <a:ext cx="3776472" cy="73152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Replay the same OTLP data into a plain ClickHouse table in 10k-row batches</a:t>
            </a:r>
          </a:p>
          <a:p>
            <a:pPr algn="l" marL="0" indent="0">
              <a:lnSpc>
                <a:spcPct val="92000"/>
              </a:lnSpc>
              <a:buNone/>
            </a:pPr>
            <a:r>
              <a:rPr lang="en-US" sz="800" dirty="0">
                <a:solidFill>
                  <a:srgbClr val="F3E6D6"/>
                </a:solidFill>
                <a:latin typeface="Arial"/>
                <a:ea typeface="Arial"/>
                <a:cs typeface="Arial"/>
              </a:rPr>
              <a:t>read system.parts · system.query_log · system.asynchronous_inserts</a:t>
            </a:r>
          </a:p>
        </p:txBody>
      </p:sp>
      <p:sp>
        <p:nvSpPr>
          <p:cNvPr id="172" name="gal 172"/>
          <p:cNvSpPr/>
          <p:nvPr/>
        </p:nvSpPr>
        <p:spPr>
          <a:xfrm>
            <a:off x="9111996" y="4370832"/>
            <a:ext cx="1280160" cy="713232"/>
          </a:xfrm>
          <a:prstGeom prst="diamond">
            <a:avLst/>
          </a:prstGeom>
          <a:solidFill>
            <a:srgbClr val="2A1A16"/>
          </a:solidFill>
          <a:ln w="15875">
            <a:solidFill>
              <a:srgbClr val="F5B700"/>
            </a:solidFill>
          </a:ln>
        </p:spPr>
        <p:txBody>
          <a:bodyPr wrap="square" lIns="0" tIns="0" rIns="0" bIns="0" rtlCol="0" anchor="ctr">
            <a:noAutofit/>
          </a:bodyPr>
          <a:lstStyle/>
          <a:p>
            <a:pPr algn="ctr" marL="0" indent="0">
              <a:buNone/>
            </a:pPr>
            <a:r>
              <a:rPr lang="en-US" sz="900" b="1" dirty="0">
                <a:solidFill>
                  <a:srgbClr val="FFFFFF"/>
                </a:solidFill>
                <a:latin typeface="Arial"/>
                <a:ea typeface="Arial"/>
                <a:cs typeface="Arial"/>
              </a:rPr>
              <a:t>Fast?</a:t>
            </a:r>
          </a:p>
        </p:txBody>
      </p:sp>
      <p:cxnSp>
        <p:nvCxnSpPr>
          <p:cNvPr id="173" name="g2 flow 173"/>
          <p:cNvCxnSpPr/>
          <p:nvPr/>
        </p:nvCxnSpPr>
        <p:spPr>
          <a:xfrm>
            <a:off x="9752076" y="4206240"/>
            <a:ext cx="0" cy="164592"/>
          </a:xfrm>
          <a:prstGeom prst="line">
            <a:avLst/>
          </a:prstGeom>
          <a:ln w="15875">
            <a:solidFill>
              <a:srgbClr val="EE0000"/>
            </a:solidFill>
            <a:tailEnd type="triangle" w="med" len="med"/>
          </a:ln>
        </p:spPr>
      </p:cxnSp>
      <p:sp>
        <p:nvSpPr>
          <p:cNvPr id="174" name="gal 174"/>
          <p:cNvSpPr/>
          <p:nvPr/>
        </p:nvSpPr>
        <p:spPr>
          <a:xfrm>
            <a:off x="7863840" y="5285232"/>
            <a:ext cx="1783080" cy="960120"/>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0000"/>
              </a:lnSpc>
              <a:buNone/>
            </a:pPr>
            <a:r>
              <a:rPr lang="en-US" sz="800" b="1" dirty="0">
                <a:solidFill>
                  <a:srgbClr val="141010"/>
                </a:solidFill>
                <a:latin typeface="Arial"/>
                <a:ea typeface="Arial"/>
                <a:cs typeface="Arial"/>
              </a:rPr>
              <a:t>YES  </a:t>
            </a:r>
            <a:r>
              <a:rPr lang="en-US" sz="950" b="1" dirty="0">
                <a:solidFill>
                  <a:srgbClr val="141010"/>
                </a:solidFill>
                <a:latin typeface="Arial"/>
                <a:ea typeface="Arial"/>
                <a:cs typeface="Arial"/>
              </a:rPr>
              <a:t>Galileo’s pipeline</a:t>
            </a:r>
          </a:p>
          <a:p>
            <a:pPr algn="l" marL="0" indent="0">
              <a:lnSpc>
                <a:spcPct val="90000"/>
              </a:lnSpc>
              <a:buNone/>
            </a:pPr>
            <a:r>
              <a:rPr lang="en-US" sz="800" dirty="0">
                <a:solidFill>
                  <a:srgbClr val="141010"/>
                </a:solidFill>
                <a:latin typeface="Arial"/>
                <a:ea typeface="Arial"/>
                <a:cs typeface="Arial"/>
              </a:rPr>
              <a:t>H4, H5, H7: ask Splunk for ingest metrics; plan our own ingest</a:t>
            </a:r>
          </a:p>
        </p:txBody>
      </p:sp>
      <p:sp>
        <p:nvSpPr>
          <p:cNvPr id="175" name="gal 175"/>
          <p:cNvSpPr/>
          <p:nvPr/>
        </p:nvSpPr>
        <p:spPr>
          <a:xfrm>
            <a:off x="9857232" y="5285232"/>
            <a:ext cx="1783080" cy="96012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0000"/>
              </a:lnSpc>
              <a:buNone/>
            </a:pPr>
            <a:r>
              <a:rPr lang="en-US" sz="800" b="1" dirty="0">
                <a:solidFill>
                  <a:srgbClr val="D9B48A"/>
                </a:solidFill>
                <a:latin typeface="Arial"/>
                <a:ea typeface="Arial"/>
                <a:cs typeface="Arial"/>
              </a:rPr>
              <a:t>NO  </a:t>
            </a:r>
            <a:r>
              <a:rPr lang="en-US" sz="950" b="1" dirty="0">
                <a:solidFill>
                  <a:srgbClr val="FFFFFF"/>
                </a:solidFill>
                <a:latin typeface="Arial"/>
                <a:ea typeface="Arial"/>
                <a:cs typeface="Arial"/>
              </a:rPr>
              <a:t>ClickHouse write path</a:t>
            </a:r>
          </a:p>
          <a:p>
            <a:pPr algn="l" marL="0" indent="0">
              <a:lnSpc>
                <a:spcPct val="90000"/>
              </a:lnSpc>
              <a:buNone/>
            </a:pPr>
            <a:r>
              <a:rPr lang="en-US" sz="800" dirty="0">
                <a:solidFill>
                  <a:srgbClr val="F3E6D6"/>
                </a:solidFill>
                <a:latin typeface="Arial"/>
                <a:ea typeface="Arial"/>
                <a:cs typeface="Arial"/>
              </a:rPr>
              <a:t>H1–H3, H6: batch, async_insert, fix partition key, move blobs to GCS</a:t>
            </a:r>
          </a:p>
        </p:txBody>
      </p:sp>
      <p:cxnSp>
        <p:nvCxnSpPr>
          <p:cNvPr id="176" name="g2 flow 176"/>
          <p:cNvCxnSpPr/>
          <p:nvPr/>
        </p:nvCxnSpPr>
        <p:spPr>
          <a:xfrm flipH="1">
            <a:off x="8755380" y="4727448"/>
            <a:ext cx="356616" cy="0"/>
          </a:xfrm>
          <a:prstGeom prst="line">
            <a:avLst/>
          </a:prstGeom>
          <a:ln w="15875">
            <a:solidFill>
              <a:srgbClr val="EE0000"/>
            </a:solidFill>
          </a:ln>
        </p:spPr>
      </p:cxnSp>
      <p:cxnSp>
        <p:nvCxnSpPr>
          <p:cNvPr id="177" name="g2 flow 177"/>
          <p:cNvCxnSpPr/>
          <p:nvPr/>
        </p:nvCxnSpPr>
        <p:spPr>
          <a:xfrm>
            <a:off x="8755380" y="4727448"/>
            <a:ext cx="0" cy="557784"/>
          </a:xfrm>
          <a:prstGeom prst="line">
            <a:avLst/>
          </a:prstGeom>
          <a:ln w="15875">
            <a:solidFill>
              <a:srgbClr val="EE0000"/>
            </a:solidFill>
            <a:tailEnd type="triangle" w="med" len="med"/>
          </a:ln>
        </p:spPr>
      </p:cxnSp>
      <p:cxnSp>
        <p:nvCxnSpPr>
          <p:cNvPr id="178" name="g2 flow 178"/>
          <p:cNvCxnSpPr/>
          <p:nvPr/>
        </p:nvCxnSpPr>
        <p:spPr>
          <a:xfrm>
            <a:off x="10392156" y="4727448"/>
            <a:ext cx="356616" cy="0"/>
          </a:xfrm>
          <a:prstGeom prst="line">
            <a:avLst/>
          </a:prstGeom>
          <a:ln w="15875">
            <a:solidFill>
              <a:srgbClr val="EE0000"/>
            </a:solidFill>
          </a:ln>
        </p:spPr>
      </p:cxnSp>
      <p:cxnSp>
        <p:nvCxnSpPr>
          <p:cNvPr id="179" name="g2 flow 179"/>
          <p:cNvCxnSpPr/>
          <p:nvPr/>
        </p:nvCxnSpPr>
        <p:spPr>
          <a:xfrm>
            <a:off x="10748772" y="4727448"/>
            <a:ext cx="0" cy="557784"/>
          </a:xfrm>
          <a:prstGeom prst="line">
            <a:avLst/>
          </a:prstGeom>
          <a:ln w="15875">
            <a:solidFill>
              <a:srgbClr val="EE0000"/>
            </a:solidFill>
            <a:tailEnd type="triangle" w="med" len="med"/>
          </a:ln>
        </p:spPr>
      </p:cxnSp>
      <p:sp>
        <p:nvSpPr>
          <p:cNvPr id="180" name="gal 180"/>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Rates = per day ÷ 86,400 s; 3–5× peaks and ×-factors are our ASSUMPTION and arithmetic. 300/min was reported by the team. Source: scalable-trace-platform-research.md §1, §4–5.</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15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Scalable trace platform  ·  5 of 5</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Two-day POC:</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prove 1,200 traces/s on Langfuse + GKE, then compare</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548640" y="2103120"/>
            <a:ext cx="1188720" cy="84124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3000"/>
              </a:lnSpc>
              <a:buNone/>
            </a:pPr>
            <a:r>
              <a:rPr lang="en-US" sz="1000" b="1" dirty="0">
                <a:solidFill>
                  <a:srgbClr val="141010"/>
                </a:solidFill>
                <a:latin typeface="Arial"/>
                <a:ea typeface="Arial"/>
                <a:cs typeface="Arial"/>
              </a:rPr>
              <a:t>DAY 1</a:t>
            </a:r>
          </a:p>
          <a:p>
            <a:pPr algn="l" marL="0" indent="0">
              <a:lnSpc>
                <a:spcPct val="93000"/>
              </a:lnSpc>
              <a:buNone/>
            </a:pPr>
            <a:r>
              <a:rPr lang="en-US" sz="850" dirty="0">
                <a:solidFill>
                  <a:srgbClr val="141010"/>
                </a:solidFill>
                <a:latin typeface="Arial"/>
                <a:ea typeface="Arial"/>
                <a:cs typeface="Arial"/>
              </a:rPr>
              <a:t>build</a:t>
            </a:r>
          </a:p>
        </p:txBody>
      </p:sp>
      <p:cxnSp>
        <p:nvCxnSpPr>
          <p:cNvPr id="159" name="g2 flow 159"/>
          <p:cNvCxnSpPr/>
          <p:nvPr/>
        </p:nvCxnSpPr>
        <p:spPr>
          <a:xfrm>
            <a:off x="1737360" y="2523744"/>
            <a:ext cx="137160" cy="0"/>
          </a:xfrm>
          <a:prstGeom prst="line">
            <a:avLst/>
          </a:prstGeom>
          <a:ln w="15875">
            <a:solidFill>
              <a:srgbClr val="EE0000"/>
            </a:solidFill>
            <a:tailEnd type="triangle" w="med" len="med"/>
          </a:ln>
        </p:spPr>
      </p:cxnSp>
      <p:sp>
        <p:nvSpPr>
          <p:cNvPr id="160" name="gal 160"/>
          <p:cNvSpPr/>
          <p:nvPr/>
        </p:nvSpPr>
        <p:spPr>
          <a:xfrm>
            <a:off x="1874520" y="2103120"/>
            <a:ext cx="185074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GKE Autopilot</a:t>
            </a:r>
          </a:p>
          <a:p>
            <a:pPr algn="l" marL="0" indent="0">
              <a:lnSpc>
                <a:spcPct val="92000"/>
              </a:lnSpc>
              <a:buNone/>
            </a:pPr>
            <a:r>
              <a:rPr lang="en-US" sz="800" dirty="0">
                <a:solidFill>
                  <a:srgbClr val="F3E6D6"/>
                </a:solidFill>
                <a:latin typeface="Arial"/>
                <a:ea typeface="Arial"/>
                <a:cs typeface="Arial"/>
              </a:rPr>
              <a:t>one cluster, GCP project</a:t>
            </a:r>
          </a:p>
        </p:txBody>
      </p:sp>
      <p:cxnSp>
        <p:nvCxnSpPr>
          <p:cNvPr id="161" name="g2 flow 161"/>
          <p:cNvCxnSpPr/>
          <p:nvPr/>
        </p:nvCxnSpPr>
        <p:spPr>
          <a:xfrm>
            <a:off x="3725266" y="2523744"/>
            <a:ext cx="128016" cy="0"/>
          </a:xfrm>
          <a:prstGeom prst="line">
            <a:avLst/>
          </a:prstGeom>
          <a:ln w="15875">
            <a:solidFill>
              <a:srgbClr val="EE0000"/>
            </a:solidFill>
            <a:tailEnd type="triangle" w="med" len="med"/>
          </a:ln>
        </p:spPr>
      </p:cxnSp>
      <p:sp>
        <p:nvSpPr>
          <p:cNvPr id="162" name="gal 162"/>
          <p:cNvSpPr/>
          <p:nvPr/>
        </p:nvSpPr>
        <p:spPr>
          <a:xfrm>
            <a:off x="3853282" y="2103120"/>
            <a:ext cx="185074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Langfuse Helm chart</a:t>
            </a:r>
          </a:p>
          <a:p>
            <a:pPr algn="l" marL="0" indent="0">
              <a:lnSpc>
                <a:spcPct val="92000"/>
              </a:lnSpc>
              <a:buNone/>
            </a:pPr>
            <a:r>
              <a:rPr lang="en-US" sz="800" dirty="0">
                <a:solidFill>
                  <a:srgbClr val="F3E6D6"/>
                </a:solidFill>
                <a:latin typeface="Arial"/>
                <a:ea typeface="Arial"/>
                <a:cs typeface="Arial"/>
              </a:rPr>
              <a:t>in-cluster ClickHouse (3 replicas), Valkey, Cloud SQL Postgres, GCS via HMAC</a:t>
            </a:r>
          </a:p>
        </p:txBody>
      </p:sp>
      <p:cxnSp>
        <p:nvCxnSpPr>
          <p:cNvPr id="163" name="g2 flow 163"/>
          <p:cNvCxnSpPr/>
          <p:nvPr/>
        </p:nvCxnSpPr>
        <p:spPr>
          <a:xfrm>
            <a:off x="5704027" y="2523744"/>
            <a:ext cx="128016" cy="0"/>
          </a:xfrm>
          <a:prstGeom prst="line">
            <a:avLst/>
          </a:prstGeom>
          <a:ln w="15875">
            <a:solidFill>
              <a:srgbClr val="EE0000"/>
            </a:solidFill>
            <a:tailEnd type="triangle" w="med" len="med"/>
          </a:ln>
        </p:spPr>
      </p:cxnSp>
      <p:sp>
        <p:nvSpPr>
          <p:cNvPr id="164" name="gal 164"/>
          <p:cNvSpPr/>
          <p:nvPr/>
        </p:nvSpPr>
        <p:spPr>
          <a:xfrm>
            <a:off x="5832043" y="2103120"/>
            <a:ext cx="185074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Google OIDC SSO</a:t>
            </a:r>
          </a:p>
          <a:p>
            <a:pPr algn="l" marL="0" indent="0">
              <a:lnSpc>
                <a:spcPct val="92000"/>
              </a:lnSpc>
              <a:buNone/>
            </a:pPr>
            <a:r>
              <a:rPr lang="en-US" sz="800" dirty="0">
                <a:solidFill>
                  <a:srgbClr val="F3E6D6"/>
                </a:solidFill>
                <a:latin typeface="Arial"/>
                <a:ea typeface="Arial"/>
                <a:cs typeface="Arial"/>
              </a:rPr>
              <a:t>two roles</a:t>
            </a:r>
          </a:p>
        </p:txBody>
      </p:sp>
      <p:cxnSp>
        <p:nvCxnSpPr>
          <p:cNvPr id="165" name="g2 flow 165"/>
          <p:cNvCxnSpPr/>
          <p:nvPr/>
        </p:nvCxnSpPr>
        <p:spPr>
          <a:xfrm>
            <a:off x="7682789" y="2523744"/>
            <a:ext cx="128016" cy="0"/>
          </a:xfrm>
          <a:prstGeom prst="line">
            <a:avLst/>
          </a:prstGeom>
          <a:ln w="15875">
            <a:solidFill>
              <a:srgbClr val="EE0000"/>
            </a:solidFill>
            <a:tailEnd type="triangle" w="med" len="med"/>
          </a:ln>
        </p:spPr>
      </p:cxnSp>
      <p:sp>
        <p:nvSpPr>
          <p:cNvPr id="166" name="gal 166"/>
          <p:cNvSpPr/>
          <p:nvPr/>
        </p:nvSpPr>
        <p:spPr>
          <a:xfrm>
            <a:off x="7810805" y="2103120"/>
            <a:ext cx="185074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OTel Collector (HPA)</a:t>
            </a:r>
          </a:p>
          <a:p>
            <a:pPr algn="l" marL="0" indent="0">
              <a:lnSpc>
                <a:spcPct val="92000"/>
              </a:lnSpc>
              <a:buNone/>
            </a:pPr>
            <a:r>
              <a:rPr lang="en-US" sz="800" dirty="0">
                <a:solidFill>
                  <a:srgbClr val="F3E6D6"/>
                </a:solidFill>
                <a:latin typeface="Arial"/>
                <a:ea typeface="Arial"/>
                <a:cs typeface="Arial"/>
              </a:rPr>
              <a:t>point one Kairos SDK sample agent at it</a:t>
            </a:r>
          </a:p>
        </p:txBody>
      </p:sp>
      <p:cxnSp>
        <p:nvCxnSpPr>
          <p:cNvPr id="167" name="g2 flow 167"/>
          <p:cNvCxnSpPr/>
          <p:nvPr/>
        </p:nvCxnSpPr>
        <p:spPr>
          <a:xfrm>
            <a:off x="9661550" y="2523744"/>
            <a:ext cx="128016" cy="0"/>
          </a:xfrm>
          <a:prstGeom prst="line">
            <a:avLst/>
          </a:prstGeom>
          <a:ln w="15875">
            <a:solidFill>
              <a:srgbClr val="EE0000"/>
            </a:solidFill>
            <a:tailEnd type="triangle" w="med" len="med"/>
          </a:ln>
        </p:spPr>
      </p:cxnSp>
      <p:sp>
        <p:nvSpPr>
          <p:cNvPr id="168" name="gal 168"/>
          <p:cNvSpPr/>
          <p:nvPr/>
        </p:nvSpPr>
        <p:spPr>
          <a:xfrm>
            <a:off x="9789566" y="2103120"/>
            <a:ext cx="185074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Smoke test</a:t>
            </a:r>
          </a:p>
          <a:p>
            <a:pPr algn="l" marL="0" indent="0">
              <a:lnSpc>
                <a:spcPct val="92000"/>
              </a:lnSpc>
              <a:buNone/>
            </a:pPr>
            <a:r>
              <a:rPr lang="en-US" sz="800" dirty="0">
                <a:solidFill>
                  <a:srgbClr val="F3E6D6"/>
                </a:solidFill>
                <a:latin typeface="Arial"/>
                <a:ea typeface="Arial"/>
                <a:cs typeface="Arial"/>
              </a:rPr>
              <a:t>traces visible in the Langfuse UI</a:t>
            </a:r>
          </a:p>
        </p:txBody>
      </p:sp>
      <p:sp>
        <p:nvSpPr>
          <p:cNvPr id="169" name="gal 169"/>
          <p:cNvSpPr/>
          <p:nvPr/>
        </p:nvSpPr>
        <p:spPr>
          <a:xfrm>
            <a:off x="548640" y="3081528"/>
            <a:ext cx="1188720" cy="841248"/>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3000"/>
              </a:lnSpc>
              <a:buNone/>
            </a:pPr>
            <a:r>
              <a:rPr lang="en-US" sz="1000" b="1" dirty="0">
                <a:solidFill>
                  <a:srgbClr val="141010"/>
                </a:solidFill>
                <a:latin typeface="Arial"/>
                <a:ea typeface="Arial"/>
                <a:cs typeface="Arial"/>
              </a:rPr>
              <a:t>DAY 2</a:t>
            </a:r>
          </a:p>
          <a:p>
            <a:pPr algn="l" marL="0" indent="0">
              <a:lnSpc>
                <a:spcPct val="93000"/>
              </a:lnSpc>
              <a:buNone/>
            </a:pPr>
            <a:r>
              <a:rPr lang="en-US" sz="850" dirty="0">
                <a:solidFill>
                  <a:srgbClr val="141010"/>
                </a:solidFill>
                <a:latin typeface="Arial"/>
                <a:ea typeface="Arial"/>
                <a:cs typeface="Arial"/>
              </a:rPr>
              <a:t>load</a:t>
            </a:r>
          </a:p>
        </p:txBody>
      </p:sp>
      <p:cxnSp>
        <p:nvCxnSpPr>
          <p:cNvPr id="170" name="g2 flow 170"/>
          <p:cNvCxnSpPr/>
          <p:nvPr/>
        </p:nvCxnSpPr>
        <p:spPr>
          <a:xfrm>
            <a:off x="1737360" y="3502152"/>
            <a:ext cx="137160" cy="0"/>
          </a:xfrm>
          <a:prstGeom prst="line">
            <a:avLst/>
          </a:prstGeom>
          <a:ln w="15875">
            <a:solidFill>
              <a:srgbClr val="EE0000"/>
            </a:solidFill>
            <a:tailEnd type="triangle" w="med" len="med"/>
          </a:ln>
        </p:spPr>
      </p:cxnSp>
      <p:sp>
        <p:nvSpPr>
          <p:cNvPr id="171" name="gal 171"/>
          <p:cNvSpPr/>
          <p:nvPr/>
        </p:nvSpPr>
        <p:spPr>
          <a:xfrm>
            <a:off x="1874520" y="3081528"/>
            <a:ext cx="234543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Load generator</a:t>
            </a:r>
          </a:p>
          <a:p>
            <a:pPr algn="l" marL="0" indent="0">
              <a:lnSpc>
                <a:spcPct val="92000"/>
              </a:lnSpc>
              <a:buNone/>
            </a:pPr>
            <a:r>
              <a:rPr lang="en-US" sz="800" dirty="0">
                <a:solidFill>
                  <a:srgbClr val="F3E6D6"/>
                </a:solidFill>
                <a:latin typeface="Arial"/>
                <a:ea typeface="Arial"/>
                <a:cs typeface="Arial"/>
              </a:rPr>
              <a:t>telemetrygen or k6 OTLP; replay realistic OpenInference spans</a:t>
            </a:r>
          </a:p>
        </p:txBody>
      </p:sp>
      <p:cxnSp>
        <p:nvCxnSpPr>
          <p:cNvPr id="172" name="g2 flow 172"/>
          <p:cNvCxnSpPr/>
          <p:nvPr/>
        </p:nvCxnSpPr>
        <p:spPr>
          <a:xfrm>
            <a:off x="4219956" y="3502152"/>
            <a:ext cx="128016" cy="0"/>
          </a:xfrm>
          <a:prstGeom prst="line">
            <a:avLst/>
          </a:prstGeom>
          <a:ln w="15875">
            <a:solidFill>
              <a:srgbClr val="EE0000"/>
            </a:solidFill>
            <a:tailEnd type="triangle" w="med" len="med"/>
          </a:ln>
        </p:spPr>
      </p:cxnSp>
      <p:sp>
        <p:nvSpPr>
          <p:cNvPr id="173" name="gal 173"/>
          <p:cNvSpPr/>
          <p:nvPr/>
        </p:nvSpPr>
        <p:spPr>
          <a:xfrm>
            <a:off x="4347972" y="3081528"/>
            <a:ext cx="234543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Ramp</a:t>
            </a:r>
          </a:p>
          <a:p>
            <a:pPr algn="l" marL="0" indent="0">
              <a:lnSpc>
                <a:spcPct val="92000"/>
              </a:lnSpc>
              <a:buNone/>
            </a:pPr>
            <a:r>
              <a:rPr lang="en-US" sz="800" dirty="0">
                <a:solidFill>
                  <a:srgbClr val="F3E6D6"/>
                </a:solidFill>
                <a:latin typeface="Arial"/>
                <a:ea typeface="Arial"/>
                <a:cs typeface="Arial"/>
              </a:rPr>
              <a:t>300/min → 231/s → 1,200/s sustained for 1 h</a:t>
            </a:r>
          </a:p>
        </p:txBody>
      </p:sp>
      <p:cxnSp>
        <p:nvCxnSpPr>
          <p:cNvPr id="174" name="g2 flow 174"/>
          <p:cNvCxnSpPr/>
          <p:nvPr/>
        </p:nvCxnSpPr>
        <p:spPr>
          <a:xfrm>
            <a:off x="6693408" y="3502152"/>
            <a:ext cx="128016" cy="0"/>
          </a:xfrm>
          <a:prstGeom prst="line">
            <a:avLst/>
          </a:prstGeom>
          <a:ln w="15875">
            <a:solidFill>
              <a:srgbClr val="EE0000"/>
            </a:solidFill>
            <a:tailEnd type="triangle" w="med" len="med"/>
          </a:ln>
        </p:spPr>
      </p:cxnSp>
      <p:sp>
        <p:nvSpPr>
          <p:cNvPr id="175" name="gal 175"/>
          <p:cNvSpPr/>
          <p:nvPr/>
        </p:nvSpPr>
        <p:spPr>
          <a:xfrm>
            <a:off x="6821424" y="3081528"/>
            <a:ext cx="234543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Measure</a:t>
            </a:r>
          </a:p>
          <a:p>
            <a:pPr algn="l" marL="0" indent="0">
              <a:lnSpc>
                <a:spcPct val="92000"/>
              </a:lnSpc>
              <a:buNone/>
            </a:pPr>
            <a:r>
              <a:rPr lang="en-US" sz="800" dirty="0">
                <a:solidFill>
                  <a:srgbClr val="F3E6D6"/>
                </a:solidFill>
                <a:latin typeface="Arial"/>
                <a:ea typeface="Arial"/>
                <a:cs typeface="Arial"/>
              </a:rPr>
              <a:t>queue depth, worker CPU, ClickHouse parts / inserts, p95 UI query</a:t>
            </a:r>
          </a:p>
        </p:txBody>
      </p:sp>
      <p:cxnSp>
        <p:nvCxnSpPr>
          <p:cNvPr id="176" name="g2 flow 176"/>
          <p:cNvCxnSpPr/>
          <p:nvPr/>
        </p:nvCxnSpPr>
        <p:spPr>
          <a:xfrm>
            <a:off x="9166860" y="3502152"/>
            <a:ext cx="128016" cy="0"/>
          </a:xfrm>
          <a:prstGeom prst="line">
            <a:avLst/>
          </a:prstGeom>
          <a:ln w="15875">
            <a:solidFill>
              <a:srgbClr val="EE0000"/>
            </a:solidFill>
            <a:tailEnd type="triangle" w="med" len="med"/>
          </a:ln>
        </p:spPr>
      </p:cxnSp>
      <p:sp>
        <p:nvSpPr>
          <p:cNvPr id="177" name="gal 177"/>
          <p:cNvSpPr/>
          <p:nvPr/>
        </p:nvSpPr>
        <p:spPr>
          <a:xfrm>
            <a:off x="9294876" y="3081528"/>
            <a:ext cx="2345436" cy="841248"/>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00" b="1" dirty="0">
                <a:solidFill>
                  <a:srgbClr val="FFFFFF"/>
                </a:solidFill>
                <a:latin typeface="Arial"/>
                <a:ea typeface="Arial"/>
                <a:cs typeface="Arial"/>
              </a:rPr>
              <a:t>Compare</a:t>
            </a:r>
          </a:p>
          <a:p>
            <a:pPr algn="l" marL="0" indent="0">
              <a:lnSpc>
                <a:spcPct val="92000"/>
              </a:lnSpc>
              <a:buNone/>
            </a:pPr>
            <a:r>
              <a:rPr lang="en-US" sz="800" dirty="0">
                <a:solidFill>
                  <a:srgbClr val="F3E6D6"/>
                </a:solidFill>
                <a:latin typeface="Arial"/>
                <a:ea typeface="Arial"/>
                <a:cs typeface="Arial"/>
              </a:rPr>
              <a:t>same load via Pub/Sub → direct ClickHouse + Iceberg writer</a:t>
            </a:r>
          </a:p>
        </p:txBody>
      </p:sp>
      <p:sp>
        <p:nvSpPr>
          <p:cNvPr id="178" name="gal 178"/>
          <p:cNvSpPr/>
          <p:nvPr/>
        </p:nvSpPr>
        <p:spPr>
          <a:xfrm>
            <a:off x="548640" y="4114800"/>
            <a:ext cx="5486400" cy="2148840"/>
          </a:xfrm>
          <a:prstGeom prst="roundRect">
            <a:avLst>
              <a:gd name="adj" fmla="val 10000"/>
            </a:avLst>
          </a:prstGeom>
          <a:solidFill>
            <a:srgbClr val="2A1A16"/>
          </a:solidFill>
          <a:ln w="12700">
            <a:solidFill>
              <a:srgbClr val="D9B48A"/>
            </a:solidFill>
          </a:ln>
        </p:spPr>
        <p:txBody>
          <a:bodyPr wrap="square" lIns="137160" tIns="109728" rIns="91440" bIns="54864" rtlCol="0" anchor="t">
            <a:noAutofit/>
          </a:bodyPr>
          <a:lstStyle/>
          <a:p>
            <a:pPr algn="l" marL="0" indent="0">
              <a:lnSpc>
                <a:spcPct val="118000"/>
              </a:lnSpc>
              <a:buNone/>
            </a:pPr>
            <a:r>
              <a:rPr lang="en-US" sz="1050" b="1" dirty="0">
                <a:solidFill>
                  <a:srgbClr val="F5B700"/>
                </a:solidFill>
                <a:latin typeface="Arial"/>
                <a:ea typeface="Arial"/>
                <a:cs typeface="Arial"/>
              </a:rPr>
              <a:t>Pass criteria</a:t>
            </a:r>
            <a:r>
              <a:rPr lang="en-US" sz="800" b="1" dirty="0">
                <a:solidFill>
                  <a:srgbClr val="D9B48A"/>
                </a:solidFill>
                <a:latin typeface="Arial"/>
                <a:ea typeface="Arial"/>
                <a:cs typeface="Arial"/>
              </a:rPr>
              <a:t>   PROPOSED</a:t>
            </a:r>
          </a:p>
          <a:p>
            <a:pPr algn="l" marL="0" indent="0">
              <a:lnSpc>
                <a:spcPct val="118000"/>
              </a:lnSpc>
              <a:buNone/>
            </a:pPr>
            <a:r>
              <a:rPr lang="en-US" sz="1050" b="1" dirty="0">
                <a:solidFill>
                  <a:srgbClr val="F5B700"/>
                </a:solidFill>
                <a:latin typeface="Arial"/>
                <a:ea typeface="Arial"/>
                <a:cs typeface="Arial"/>
              </a:rPr>
              <a:t>✓  </a:t>
            </a:r>
            <a:r>
              <a:rPr lang="en-US" sz="1050" dirty="0">
                <a:solidFill>
                  <a:srgbClr val="F3E6D6"/>
                </a:solidFill>
                <a:latin typeface="Arial"/>
                <a:ea typeface="Arial"/>
                <a:cs typeface="Arial"/>
              </a:rPr>
              <a:t>≥ 1,200 traces/s sustained, zero loss</a:t>
            </a:r>
          </a:p>
          <a:p>
            <a:pPr algn="l" marL="0" indent="0">
              <a:lnSpc>
                <a:spcPct val="118000"/>
              </a:lnSpc>
              <a:buNone/>
            </a:pPr>
            <a:r>
              <a:rPr lang="en-US" sz="1050" b="1" dirty="0">
                <a:solidFill>
                  <a:srgbClr val="F5B700"/>
                </a:solidFill>
                <a:latin typeface="Arial"/>
                <a:ea typeface="Arial"/>
                <a:cs typeface="Arial"/>
              </a:rPr>
              <a:t>✓  </a:t>
            </a:r>
            <a:r>
              <a:rPr lang="en-US" sz="1050" dirty="0">
                <a:solidFill>
                  <a:srgbClr val="F3E6D6"/>
                </a:solidFill>
                <a:latin typeface="Arial"/>
                <a:ea typeface="Arial"/>
                <a:cs typeface="Arial"/>
              </a:rPr>
              <a:t>Ingest → visible in UI: p95 &lt; 60 s</a:t>
            </a:r>
          </a:p>
          <a:p>
            <a:pPr algn="l" marL="0" indent="0">
              <a:lnSpc>
                <a:spcPct val="118000"/>
              </a:lnSpc>
              <a:buNone/>
            </a:pPr>
            <a:r>
              <a:rPr lang="en-US" sz="1050" b="1" dirty="0">
                <a:solidFill>
                  <a:srgbClr val="F5B700"/>
                </a:solidFill>
                <a:latin typeface="Arial"/>
                <a:ea typeface="Arial"/>
                <a:cs typeface="Arial"/>
              </a:rPr>
              <a:t>✓  </a:t>
            </a:r>
            <a:r>
              <a:rPr lang="en-US" sz="1050" dirty="0">
                <a:solidFill>
                  <a:srgbClr val="F3E6D6"/>
                </a:solidFill>
                <a:latin typeface="Arial"/>
                <a:ea typeface="Arial"/>
                <a:cs typeface="Arial"/>
              </a:rPr>
              <a:t>Trace search p95 &lt; 3 s on 7 days of data</a:t>
            </a:r>
          </a:p>
          <a:p>
            <a:pPr algn="l" marL="0" indent="0">
              <a:lnSpc>
                <a:spcPct val="118000"/>
              </a:lnSpc>
              <a:buNone/>
            </a:pPr>
            <a:r>
              <a:rPr lang="en-US" sz="1050" b="1" dirty="0">
                <a:solidFill>
                  <a:srgbClr val="F5B700"/>
                </a:solidFill>
                <a:latin typeface="Arial"/>
                <a:ea typeface="Arial"/>
                <a:cs typeface="Arial"/>
              </a:rPr>
              <a:t>✓  </a:t>
            </a:r>
            <a:r>
              <a:rPr lang="en-US" sz="1050" dirty="0">
                <a:solidFill>
                  <a:srgbClr val="F3E6D6"/>
                </a:solidFill>
                <a:latin typeface="Arial"/>
                <a:ea typeface="Arial"/>
                <a:cs typeface="Arial"/>
              </a:rPr>
              <a:t>SSO login with two roles working</a:t>
            </a:r>
          </a:p>
          <a:p>
            <a:pPr algn="l" marL="0" indent="0">
              <a:lnSpc>
                <a:spcPct val="118000"/>
              </a:lnSpc>
              <a:buNone/>
            </a:pPr>
            <a:r>
              <a:rPr lang="en-US" sz="1050" b="1" dirty="0">
                <a:solidFill>
                  <a:srgbClr val="F5B700"/>
                </a:solidFill>
                <a:latin typeface="Arial"/>
                <a:ea typeface="Arial"/>
                <a:cs typeface="Arial"/>
              </a:rPr>
              <a:t>✓  </a:t>
            </a:r>
            <a:r>
              <a:rPr lang="en-US" sz="1050" dirty="0">
                <a:solidFill>
                  <a:srgbClr val="F3E6D6"/>
                </a:solidFill>
                <a:latin typeface="Arial"/>
                <a:ea typeface="Arial"/>
                <a:cs typeface="Arial"/>
              </a:rPr>
              <a:t>More worker replicas → roughly linear throughput</a:t>
            </a:r>
          </a:p>
          <a:p>
            <a:pPr algn="l" marL="0" indent="0">
              <a:lnSpc>
                <a:spcPct val="118000"/>
              </a:lnSpc>
              <a:buNone/>
            </a:pPr>
            <a:r>
              <a:rPr lang="en-US" sz="1050" b="1" dirty="0">
                <a:solidFill>
                  <a:srgbClr val="F5B700"/>
                </a:solidFill>
                <a:latin typeface="Arial"/>
                <a:ea typeface="Arial"/>
                <a:cs typeface="Arial"/>
              </a:rPr>
              <a:t>✓  </a:t>
            </a:r>
            <a:r>
              <a:rPr lang="en-US" sz="1050" dirty="0">
                <a:solidFill>
                  <a:srgbClr val="F3E6D6"/>
                </a:solidFill>
                <a:latin typeface="Arial"/>
                <a:ea typeface="Arial"/>
                <a:cs typeface="Arial"/>
              </a:rPr>
              <a:t>One Vertex batch eval (≥ 10k sessions) written back and visible</a:t>
            </a:r>
          </a:p>
        </p:txBody>
      </p:sp>
      <p:sp>
        <p:nvSpPr>
          <p:cNvPr id="179" name="gal 179"/>
          <p:cNvSpPr/>
          <p:nvPr/>
        </p:nvSpPr>
        <p:spPr>
          <a:xfrm>
            <a:off x="6153912" y="4114800"/>
            <a:ext cx="5486400" cy="2148840"/>
          </a:xfrm>
          <a:prstGeom prst="roundRect">
            <a:avLst>
              <a:gd name="adj" fmla="val 10000"/>
            </a:avLst>
          </a:prstGeom>
          <a:solidFill>
            <a:srgbClr val="1E1412"/>
          </a:solidFill>
          <a:ln w="12700">
            <a:solidFill>
              <a:srgbClr val="D9B48A"/>
            </a:solidFill>
            <a:prstDash val="dash"/>
          </a:ln>
        </p:spPr>
        <p:txBody>
          <a:bodyPr wrap="square" lIns="137160" tIns="91440" rIns="91440" bIns="54864" rtlCol="0" anchor="t">
            <a:noAutofit/>
          </a:bodyPr>
          <a:lstStyle/>
          <a:p>
            <a:pPr algn="l" marL="0" indent="0">
              <a:lnSpc>
                <a:spcPct val="100000"/>
              </a:lnSpc>
              <a:buNone/>
            </a:pPr>
            <a:r>
              <a:rPr lang="en-US" sz="1050" b="1" dirty="0">
                <a:solidFill>
                  <a:srgbClr val="F5B700"/>
                </a:solidFill>
                <a:latin typeface="Arial"/>
                <a:ea typeface="Arial"/>
                <a:cs typeface="Arial"/>
              </a:rPr>
              <a:t>Open questions</a:t>
            </a:r>
          </a:p>
          <a:p>
            <a:pPr algn="l" marL="0" indent="0">
              <a:lnSpc>
                <a:spcPct val="100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Actual spans per trace and bytes per span from Kairos? (sizing assumes 10 spans × 4 KB)</a:t>
            </a:r>
          </a:p>
          <a:p>
            <a:pPr algn="l" marL="0" indent="0">
              <a:lnSpc>
                <a:spcPct val="100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Does Galileo use async inserts, and what is its partition key? Can we see its ClickHouse metrics?</a:t>
            </a:r>
          </a:p>
          <a:p>
            <a:pPr algn="l" marL="0" indent="0">
              <a:lnSpc>
                <a:spcPct val="100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Self-managed ClickHouse acceptable to SRE, or ClickHouse Cloud on GCP / BigQuery for the hot store?</a:t>
            </a:r>
          </a:p>
          <a:p>
            <a:pPr algn="l" marL="0" indent="0">
              <a:lnSpc>
                <a:spcPct val="100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Retention and PII rules per tenant; data residency</a:t>
            </a:r>
          </a:p>
          <a:p>
            <a:pPr algn="l" marL="0" indent="0">
              <a:lnSpc>
                <a:spcPct val="100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Which Langfuse paid features do we need (project RBAC, audit logs, retention, SCIM)?</a:t>
            </a:r>
          </a:p>
          <a:p>
            <a:pPr algn="l" marL="0" indent="0">
              <a:lnSpc>
                <a:spcPct val="100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Galileo’s role after the POC: keep it for curated evals, or retire it?</a:t>
            </a:r>
          </a:p>
        </p:txBody>
      </p:sp>
      <p:sp>
        <p:nvSpPr>
          <p:cNvPr id="180" name="gal 180"/>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Plan and pass criteria are PROPOSED (research §6–7). The last open question is ours. Sizing assumptions: research §4.</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39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11–17 (3 of 8):</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315968"/>
          </a:xfrm>
          <a:prstGeom prst="roundRect">
            <a:avLst>
              <a:gd name="adj" fmla="val 4000"/>
            </a:avLst>
          </a:prstGeom>
          <a:solidFill>
            <a:srgbClr val="2A1A16"/>
          </a:solidFill>
          <a:ln w="9525">
            <a:solidFill>
              <a:srgbClr val="D9B48A"/>
            </a:solidFill>
          </a:ln>
        </p:spPr>
        <p:txBody>
          <a:bodyPr wrap="square" lIns="146304" tIns="91440" rIns="128016" bIns="54864" rtlCol="0" anchor="t">
            <a:noAutofit/>
          </a:bodyPr>
          <a:lstStyle/>
          <a:p>
            <a:pPr algn="l" marL="0" indent="0">
              <a:lnSpc>
                <a:spcPct val="100000"/>
              </a:lnSpc>
              <a:buNone/>
            </a:pPr>
            <a:r>
              <a:rPr lang="en-US" sz="950" b="1" dirty="0">
                <a:solidFill>
                  <a:srgbClr val="F5B700"/>
                </a:solidFill>
                <a:latin typeface="Arial"/>
                <a:ea typeface="Arial"/>
                <a:cs typeface="Arial"/>
              </a:rPr>
              <a:t>[48]  </a:t>
            </a:r>
            <a:r>
              <a:rPr lang="en-US" sz="950" b="1" dirty="0" u="sng">
                <a:solidFill>
                  <a:srgbClr val="FFFFFF"/>
                </a:solidFill>
                <a:latin typeface="Arial"/>
                <a:ea typeface="Arial"/>
                <a:cs typeface="Arial"/>
                <a:hlinkClick r:id="rIdL1"/>
              </a:rPr>
              <a:t>ClickHouse: “Too many parts” exception</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
              </a:rPr>
              <a:t>clickhouse.com/docs/resources/support-center/knowledge-base/t…</a:t>
            </a:r>
          </a:p>
          <a:p>
            <a:pPr algn="l" marL="0" indent="0">
              <a:lnSpc>
                <a:spcPct val="100000"/>
              </a:lnSpc>
              <a:buNone/>
            </a:pPr>
            <a:r>
              <a:rPr lang="en-US" sz="950" b="1" dirty="0">
                <a:solidFill>
                  <a:srgbClr val="F5B700"/>
                </a:solidFill>
                <a:latin typeface="Arial"/>
                <a:ea typeface="Arial"/>
                <a:cs typeface="Arial"/>
              </a:rPr>
              <a:t>[49]  </a:t>
            </a:r>
            <a:r>
              <a:rPr lang="en-US" sz="950" b="1" dirty="0" u="sng">
                <a:solidFill>
                  <a:srgbClr val="FFFFFF"/>
                </a:solidFill>
                <a:latin typeface="Arial"/>
                <a:ea typeface="Arial"/>
                <a:cs typeface="Arial"/>
                <a:hlinkClick r:id="rIdL3"/>
              </a:rPr>
              <a:t>ClickHouse: selecting an insert strategy</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4"/>
              </a:rPr>
              <a:t>clickhouse.com/docs/concepts/best-practices/selecting-an-inse…</a:t>
            </a:r>
          </a:p>
          <a:p>
            <a:pPr algn="l" marL="0" indent="0">
              <a:lnSpc>
                <a:spcPct val="100000"/>
              </a:lnSpc>
              <a:buNone/>
            </a:pPr>
            <a:r>
              <a:rPr lang="en-US" sz="950" b="1" dirty="0">
                <a:solidFill>
                  <a:srgbClr val="F5B700"/>
                </a:solidFill>
                <a:latin typeface="Arial"/>
                <a:ea typeface="Arial"/>
                <a:cs typeface="Arial"/>
              </a:rPr>
              <a:t>[50]  </a:t>
            </a:r>
            <a:r>
              <a:rPr lang="en-US" sz="950" b="1" dirty="0" u="sng">
                <a:solidFill>
                  <a:srgbClr val="FFFFFF"/>
                </a:solidFill>
                <a:latin typeface="Arial"/>
                <a:ea typeface="Arial"/>
                <a:cs typeface="Arial"/>
                <a:hlinkClick r:id="rIdL5"/>
              </a:rPr>
              <a:t>ClickHouse: inserting data</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6"/>
              </a:rPr>
              <a:t>clickhouse.com/docs/concepts/features/operations/insert/inser…</a:t>
            </a:r>
          </a:p>
          <a:p>
            <a:pPr algn="l" marL="0" indent="0">
              <a:lnSpc>
                <a:spcPct val="100000"/>
              </a:lnSpc>
              <a:buNone/>
            </a:pPr>
            <a:r>
              <a:rPr lang="en-US" sz="950" b="1" dirty="0">
                <a:solidFill>
                  <a:srgbClr val="F5B700"/>
                </a:solidFill>
                <a:latin typeface="Arial"/>
                <a:ea typeface="Arial"/>
                <a:cs typeface="Arial"/>
              </a:rPr>
              <a:t>[51]  </a:t>
            </a:r>
            <a:r>
              <a:rPr lang="en-US" sz="950" b="1" dirty="0" u="sng">
                <a:solidFill>
                  <a:srgbClr val="FFFFFF"/>
                </a:solidFill>
                <a:latin typeface="Arial"/>
                <a:ea typeface="Arial"/>
                <a:cs typeface="Arial"/>
                <a:hlinkClick r:id="rIdL7"/>
              </a:rPr>
              <a:t>Langfuse: self-hosting architecture</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8"/>
              </a:rPr>
              <a:t>langfuse.com/self-hosting</a:t>
            </a:r>
          </a:p>
          <a:p>
            <a:pPr algn="l" marL="0" indent="0">
              <a:lnSpc>
                <a:spcPct val="100000"/>
              </a:lnSpc>
              <a:buNone/>
            </a:pPr>
            <a:r>
              <a:rPr lang="en-US" sz="950" b="1" dirty="0">
                <a:solidFill>
                  <a:srgbClr val="F5B700"/>
                </a:solidFill>
                <a:latin typeface="Arial"/>
                <a:ea typeface="Arial"/>
                <a:cs typeface="Arial"/>
              </a:rPr>
              <a:t>[52]  </a:t>
            </a:r>
            <a:r>
              <a:rPr lang="en-US" sz="950" b="1" dirty="0" u="sng">
                <a:solidFill>
                  <a:srgbClr val="FFFFFF"/>
                </a:solidFill>
                <a:latin typeface="Arial"/>
                <a:ea typeface="Arial"/>
                <a:cs typeface="Arial"/>
                <a:hlinkClick r:id="rIdL9"/>
              </a:rPr>
              <a:t>Langfuse: licence key / open source</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0"/>
              </a:rPr>
              <a:t>langfuse.com/self-hosting/license-key</a:t>
            </a:r>
          </a:p>
          <a:p>
            <a:pPr algn="l" marL="0" indent="0">
              <a:lnSpc>
                <a:spcPct val="100000"/>
              </a:lnSpc>
              <a:buNone/>
            </a:pPr>
            <a:r>
              <a:rPr lang="en-US" sz="950" b="1" dirty="0">
                <a:solidFill>
                  <a:srgbClr val="F5B700"/>
                </a:solidFill>
                <a:latin typeface="Arial"/>
                <a:ea typeface="Arial"/>
                <a:cs typeface="Arial"/>
              </a:rPr>
              <a:t>[53]  </a:t>
            </a:r>
            <a:r>
              <a:rPr lang="en-US" sz="950" b="1" dirty="0" u="sng">
                <a:solidFill>
                  <a:srgbClr val="FFFFFF"/>
                </a:solidFill>
                <a:latin typeface="Arial"/>
                <a:ea typeface="Arial"/>
                <a:cs typeface="Arial"/>
                <a:hlinkClick r:id="rIdL11"/>
              </a:rPr>
              <a:t>Langfuse: authentication and SSO</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2"/>
              </a:rPr>
              <a:t>langfuse.com/self-hosting/security/authentication-and-sso</a:t>
            </a:r>
          </a:p>
          <a:p>
            <a:pPr algn="l" marL="0" indent="0">
              <a:lnSpc>
                <a:spcPct val="100000"/>
              </a:lnSpc>
              <a:buNone/>
            </a:pPr>
            <a:r>
              <a:rPr lang="en-US" sz="950" b="1" dirty="0">
                <a:solidFill>
                  <a:srgbClr val="F5B700"/>
                </a:solidFill>
                <a:latin typeface="Arial"/>
                <a:ea typeface="Arial"/>
                <a:cs typeface="Arial"/>
              </a:rPr>
              <a:t>[54]  </a:t>
            </a:r>
            <a:r>
              <a:rPr lang="en-US" sz="950" b="1" dirty="0" u="sng">
                <a:solidFill>
                  <a:srgbClr val="FFFFFF"/>
                </a:solidFill>
                <a:latin typeface="Arial"/>
                <a:ea typeface="Arial"/>
                <a:cs typeface="Arial"/>
                <a:hlinkClick r:id="rIdL13"/>
              </a:rPr>
              <a:t>Langfuse: ClickHouse (single shard only)</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4"/>
              </a:rPr>
              <a:t>langfuse.com/self-hosting/deployment/infrastructure/clickhouse</a:t>
            </a:r>
          </a:p>
          <a:p>
            <a:pPr algn="l" marL="0" indent="0">
              <a:lnSpc>
                <a:spcPct val="100000"/>
              </a:lnSpc>
              <a:buNone/>
            </a:pPr>
            <a:r>
              <a:rPr lang="en-US" sz="950" b="1" dirty="0">
                <a:solidFill>
                  <a:srgbClr val="F5B700"/>
                </a:solidFill>
                <a:latin typeface="Arial"/>
                <a:ea typeface="Arial"/>
                <a:cs typeface="Arial"/>
              </a:rPr>
              <a:t>[55]  </a:t>
            </a:r>
            <a:r>
              <a:rPr lang="en-US" sz="950" b="1" dirty="0" u="sng">
                <a:solidFill>
                  <a:srgbClr val="FFFFFF"/>
                </a:solidFill>
                <a:latin typeface="Arial"/>
                <a:ea typeface="Arial"/>
                <a:cs typeface="Arial"/>
                <a:hlinkClick r:id="rIdL15"/>
              </a:rPr>
              <a:t>Arize Phoenix: licence</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6"/>
              </a:rPr>
              <a:t>arize.com/docs/phoenix/self-hosting/license</a:t>
            </a:r>
          </a:p>
          <a:p>
            <a:pPr algn="l" marL="0" indent="0">
              <a:lnSpc>
                <a:spcPct val="100000"/>
              </a:lnSpc>
              <a:buNone/>
            </a:pPr>
            <a:r>
              <a:rPr lang="en-US" sz="950" b="1" dirty="0">
                <a:solidFill>
                  <a:srgbClr val="F5B700"/>
                </a:solidFill>
                <a:latin typeface="Arial"/>
                <a:ea typeface="Arial"/>
                <a:cs typeface="Arial"/>
              </a:rPr>
              <a:t>[56]  </a:t>
            </a:r>
            <a:r>
              <a:rPr lang="en-US" sz="950" b="1" dirty="0" u="sng">
                <a:solidFill>
                  <a:srgbClr val="FFFFFF"/>
                </a:solidFill>
                <a:latin typeface="Arial"/>
                <a:ea typeface="Arial"/>
                <a:cs typeface="Arial"/>
                <a:hlinkClick r:id="rIdL17"/>
              </a:rPr>
              <a:t>Arize Phoenix: architecture</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8"/>
              </a:rPr>
              <a:t>arize.com/docs/phoenix/self-hosting/architecture</a:t>
            </a:r>
          </a:p>
          <a:p>
            <a:pPr algn="l" marL="0" indent="0">
              <a:lnSpc>
                <a:spcPct val="100000"/>
              </a:lnSpc>
              <a:buNone/>
            </a:pPr>
            <a:r>
              <a:rPr lang="en-US" sz="950" b="1" dirty="0">
                <a:solidFill>
                  <a:srgbClr val="F5B700"/>
                </a:solidFill>
                <a:latin typeface="Arial"/>
                <a:ea typeface="Arial"/>
                <a:cs typeface="Arial"/>
              </a:rPr>
              <a:t>[57]  </a:t>
            </a:r>
            <a:r>
              <a:rPr lang="en-US" sz="950" b="1" dirty="0" u="sng">
                <a:solidFill>
                  <a:srgbClr val="FFFFFF"/>
                </a:solidFill>
                <a:latin typeface="Arial"/>
                <a:ea typeface="Arial"/>
                <a:cs typeface="Arial"/>
                <a:hlinkClick r:id="rIdL19"/>
              </a:rPr>
              <a:t>Arize Phoenix: authentication</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0"/>
              </a:rPr>
              <a:t>arize.com/docs/phoenix/self-hosting/features/authentication</a:t>
            </a:r>
          </a:p>
          <a:p>
            <a:pPr algn="l" marL="0" indent="0">
              <a:lnSpc>
                <a:spcPct val="100000"/>
              </a:lnSpc>
              <a:buNone/>
            </a:pPr>
            <a:r>
              <a:rPr lang="en-US" sz="950" b="1" dirty="0">
                <a:solidFill>
                  <a:srgbClr val="F5B700"/>
                </a:solidFill>
                <a:latin typeface="Arial"/>
                <a:ea typeface="Arial"/>
                <a:cs typeface="Arial"/>
              </a:rPr>
              <a:t>[58]  </a:t>
            </a:r>
            <a:r>
              <a:rPr lang="en-US" sz="950" b="1" dirty="0" u="sng">
                <a:solidFill>
                  <a:srgbClr val="FFFFFF"/>
                </a:solidFill>
                <a:latin typeface="Arial"/>
                <a:ea typeface="Arial"/>
                <a:cs typeface="Arial"/>
                <a:hlinkClick r:id="rIdL21"/>
              </a:rPr>
              <a:t>Opik (GitHub)</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2"/>
              </a:rPr>
              <a:t>github.com/comet-ml/opik</a:t>
            </a:r>
          </a:p>
        </p:txBody>
      </p:sp>
      <p:sp>
        <p:nvSpPr>
          <p:cNvPr id="159" name="ref 159"/>
          <p:cNvSpPr/>
          <p:nvPr/>
        </p:nvSpPr>
        <p:spPr>
          <a:xfrm>
            <a:off x="6172200" y="2057400"/>
            <a:ext cx="5468112" cy="4315968"/>
          </a:xfrm>
          <a:prstGeom prst="roundRect">
            <a:avLst>
              <a:gd name="adj" fmla="val 4000"/>
            </a:avLst>
          </a:prstGeom>
          <a:solidFill>
            <a:srgbClr val="2A1A16"/>
          </a:solidFill>
          <a:ln w="9525">
            <a:solidFill>
              <a:srgbClr val="D9B48A"/>
            </a:solidFill>
          </a:ln>
        </p:spPr>
        <p:txBody>
          <a:bodyPr wrap="square" lIns="146304" tIns="91440" rIns="128016" bIns="54864" rtlCol="0" anchor="t">
            <a:noAutofit/>
          </a:bodyPr>
          <a:lstStyle/>
          <a:p>
            <a:pPr algn="l" marL="0" indent="0">
              <a:lnSpc>
                <a:spcPct val="100000"/>
              </a:lnSpc>
              <a:buNone/>
            </a:pPr>
            <a:r>
              <a:rPr lang="en-US" sz="950" b="1" dirty="0">
                <a:solidFill>
                  <a:srgbClr val="F5B700"/>
                </a:solidFill>
                <a:latin typeface="Arial"/>
                <a:ea typeface="Arial"/>
                <a:cs typeface="Arial"/>
              </a:rPr>
              <a:t>[59]  </a:t>
            </a:r>
            <a:r>
              <a:rPr lang="en-US" sz="950" b="1" dirty="0" u="sng">
                <a:solidFill>
                  <a:srgbClr val="FFFFFF"/>
                </a:solidFill>
                <a:latin typeface="Arial"/>
                <a:ea typeface="Arial"/>
                <a:cs typeface="Arial"/>
                <a:hlinkClick r:id="rIdL23"/>
              </a:rPr>
              <a:t>Opik: self-host architecture</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4"/>
              </a:rPr>
              <a:t>comet.com/docs/opik/self-host/architecture</a:t>
            </a:r>
          </a:p>
          <a:p>
            <a:pPr algn="l" marL="0" indent="0">
              <a:lnSpc>
                <a:spcPct val="100000"/>
              </a:lnSpc>
              <a:buNone/>
            </a:pPr>
            <a:r>
              <a:rPr lang="en-US" sz="950" b="1" dirty="0">
                <a:solidFill>
                  <a:srgbClr val="F5B700"/>
                </a:solidFill>
                <a:latin typeface="Arial"/>
                <a:ea typeface="Arial"/>
                <a:cs typeface="Arial"/>
              </a:rPr>
              <a:t>[60]  </a:t>
            </a:r>
            <a:r>
              <a:rPr lang="en-US" sz="950" b="1" dirty="0" u="sng">
                <a:solidFill>
                  <a:srgbClr val="FFFFFF"/>
                </a:solidFill>
                <a:latin typeface="Arial"/>
                <a:ea typeface="Arial"/>
                <a:cs typeface="Arial"/>
                <a:hlinkClick r:id="rIdL25"/>
              </a:rPr>
              <a:t>Opik: scaling guide</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6"/>
              </a:rPr>
              <a:t>comet.com/docs/opik/self-host/scaling</a:t>
            </a:r>
          </a:p>
          <a:p>
            <a:pPr algn="l" marL="0" indent="0">
              <a:lnSpc>
                <a:spcPct val="100000"/>
              </a:lnSpc>
              <a:buNone/>
            </a:pPr>
            <a:r>
              <a:rPr lang="en-US" sz="950" b="1" dirty="0">
                <a:solidFill>
                  <a:srgbClr val="F5B700"/>
                </a:solidFill>
                <a:latin typeface="Arial"/>
                <a:ea typeface="Arial"/>
                <a:cs typeface="Arial"/>
              </a:rPr>
              <a:t>[61]  </a:t>
            </a:r>
            <a:r>
              <a:rPr lang="en-US" sz="950" b="1" dirty="0" u="sng">
                <a:solidFill>
                  <a:srgbClr val="FFFFFF"/>
                </a:solidFill>
                <a:latin typeface="Arial"/>
                <a:ea typeface="Arial"/>
                <a:cs typeface="Arial"/>
                <a:hlinkClick r:id="rIdL27"/>
              </a:rPr>
              <a:t>Opik: sharding issue #5303</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8"/>
              </a:rPr>
              <a:t>github.com/comet-ml/opik/issues/5303</a:t>
            </a:r>
          </a:p>
          <a:p>
            <a:pPr algn="l" marL="0" indent="0">
              <a:lnSpc>
                <a:spcPct val="100000"/>
              </a:lnSpc>
              <a:buNone/>
            </a:pPr>
            <a:r>
              <a:rPr lang="en-US" sz="950" b="1" dirty="0">
                <a:solidFill>
                  <a:srgbClr val="F5B700"/>
                </a:solidFill>
                <a:latin typeface="Arial"/>
                <a:ea typeface="Arial"/>
                <a:cs typeface="Arial"/>
              </a:rPr>
              <a:t>[62]  </a:t>
            </a:r>
            <a:r>
              <a:rPr lang="en-US" sz="950" b="1" dirty="0" u="sng">
                <a:solidFill>
                  <a:srgbClr val="FFFFFF"/>
                </a:solidFill>
                <a:latin typeface="Arial"/>
                <a:ea typeface="Arial"/>
                <a:cs typeface="Arial"/>
                <a:hlinkClick r:id="rIdL29"/>
              </a:rPr>
              <a:t>SigNoz: SSO overview</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30"/>
              </a:rPr>
              <a:t>signoz.io/docs/manage/administrator-guide/sso/overview</a:t>
            </a:r>
          </a:p>
          <a:p>
            <a:pPr algn="l" marL="0" indent="0">
              <a:lnSpc>
                <a:spcPct val="100000"/>
              </a:lnSpc>
              <a:buNone/>
            </a:pPr>
            <a:r>
              <a:rPr lang="en-US" sz="950" b="1" dirty="0">
                <a:solidFill>
                  <a:srgbClr val="F5B700"/>
                </a:solidFill>
                <a:latin typeface="Arial"/>
                <a:ea typeface="Arial"/>
                <a:cs typeface="Arial"/>
              </a:rPr>
              <a:t>[63]  </a:t>
            </a:r>
            <a:r>
              <a:rPr lang="en-US" sz="950" b="1" dirty="0" u="sng">
                <a:solidFill>
                  <a:srgbClr val="FFFFFF"/>
                </a:solidFill>
                <a:latin typeface="Arial"/>
                <a:ea typeface="Arial"/>
                <a:cs typeface="Arial"/>
                <a:hlinkClick r:id="rIdL31"/>
              </a:rPr>
              <a:t>SigNoz changelog: SSO in community</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32"/>
              </a:rPr>
              <a:t>signoz.io/changelog/2025-05-28-sso-and-api-keys-in-community-…</a:t>
            </a:r>
          </a:p>
          <a:p>
            <a:pPr algn="l" marL="0" indent="0">
              <a:lnSpc>
                <a:spcPct val="100000"/>
              </a:lnSpc>
              <a:buNone/>
            </a:pPr>
            <a:r>
              <a:rPr lang="en-US" sz="950" b="1" dirty="0">
                <a:solidFill>
                  <a:srgbClr val="F5B700"/>
                </a:solidFill>
                <a:latin typeface="Arial"/>
                <a:ea typeface="Arial"/>
                <a:cs typeface="Arial"/>
              </a:rPr>
              <a:t>[64]  </a:t>
            </a:r>
            <a:r>
              <a:rPr lang="en-US" sz="950" b="1" dirty="0" u="sng">
                <a:solidFill>
                  <a:srgbClr val="FFFFFF"/>
                </a:solidFill>
                <a:latin typeface="Arial"/>
                <a:ea typeface="Arial"/>
                <a:cs typeface="Arial"/>
                <a:hlinkClick r:id="rIdL33"/>
              </a:rPr>
              <a:t>Grafana: configure authentication</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34"/>
              </a:rPr>
              <a:t>grafana.com/docs/grafana/latest/setup-grafana/configure-acces…</a:t>
            </a:r>
          </a:p>
          <a:p>
            <a:pPr algn="l" marL="0" indent="0">
              <a:lnSpc>
                <a:spcPct val="100000"/>
              </a:lnSpc>
              <a:buNone/>
            </a:pPr>
            <a:r>
              <a:rPr lang="en-US" sz="950" b="1" dirty="0">
                <a:solidFill>
                  <a:srgbClr val="F5B700"/>
                </a:solidFill>
                <a:latin typeface="Arial"/>
                <a:ea typeface="Arial"/>
                <a:cs typeface="Arial"/>
              </a:rPr>
              <a:t>[65]  </a:t>
            </a:r>
            <a:r>
              <a:rPr lang="en-US" sz="950" b="1" dirty="0" u="sng">
                <a:solidFill>
                  <a:srgbClr val="FFFFFF"/>
                </a:solidFill>
                <a:latin typeface="Arial"/>
                <a:ea typeface="Arial"/>
                <a:cs typeface="Arial"/>
                <a:hlinkClick r:id="rIdL35"/>
              </a:rPr>
              <a:t>ClickHouse: storing data on GCS</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36"/>
              </a:rPr>
              <a:t>clickhouse.com/docs/integrations/connectors/data-sources/gcs</a:t>
            </a:r>
          </a:p>
          <a:p>
            <a:pPr algn="l" marL="0" indent="0">
              <a:lnSpc>
                <a:spcPct val="100000"/>
              </a:lnSpc>
              <a:buNone/>
            </a:pPr>
            <a:r>
              <a:rPr lang="en-US" sz="950" b="1" dirty="0">
                <a:solidFill>
                  <a:srgbClr val="F5B700"/>
                </a:solidFill>
                <a:latin typeface="Arial"/>
                <a:ea typeface="Arial"/>
                <a:cs typeface="Arial"/>
              </a:rPr>
              <a:t>[66]  </a:t>
            </a:r>
            <a:r>
              <a:rPr lang="en-US" sz="950" b="1" dirty="0" u="sng">
                <a:solidFill>
                  <a:srgbClr val="FFFFFF"/>
                </a:solidFill>
                <a:latin typeface="Arial"/>
                <a:ea typeface="Arial"/>
                <a:cs typeface="Arial"/>
                <a:hlinkClick r:id="rIdL37"/>
              </a:rPr>
              <a:t>Vertex AI: batch inference for Gemini</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38"/>
              </a:rPr>
              <a:t>docs.cloud.google.com/vertex-ai/generative-ai/docs/multimodal…</a:t>
            </a:r>
          </a:p>
          <a:p>
            <a:pPr algn="l" marL="0" indent="0">
              <a:lnSpc>
                <a:spcPct val="100000"/>
              </a:lnSpc>
              <a:buNone/>
            </a:pPr>
            <a:r>
              <a:rPr lang="en-US" sz="950" b="1" dirty="0">
                <a:solidFill>
                  <a:srgbClr val="F5B700"/>
                </a:solidFill>
                <a:latin typeface="Arial"/>
                <a:ea typeface="Arial"/>
                <a:cs typeface="Arial"/>
              </a:rPr>
              <a:t>[67]  </a:t>
            </a:r>
            <a:r>
              <a:rPr lang="en-US" sz="950" b="1" dirty="0" u="sng">
                <a:solidFill>
                  <a:srgbClr val="FFFFFF"/>
                </a:solidFill>
                <a:latin typeface="Arial"/>
                <a:ea typeface="Arial"/>
                <a:cs typeface="Arial"/>
                <a:hlinkClick r:id="rIdL39"/>
              </a:rPr>
              <a:t>Vertex AI: quotas</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40"/>
              </a:rPr>
              <a:t>docs.cloud.google.com/vertex-ai/generative-ai/docs/quotas</a:t>
            </a:r>
          </a:p>
          <a:p>
            <a:pPr algn="l" marL="0" indent="0">
              <a:lnSpc>
                <a:spcPct val="100000"/>
              </a:lnSpc>
              <a:buNone/>
            </a:pPr>
            <a:r>
              <a:rPr lang="en-US" sz="950" b="1" dirty="0">
                <a:solidFill>
                  <a:srgbClr val="F5B700"/>
                </a:solidFill>
                <a:latin typeface="Arial"/>
                <a:ea typeface="Arial"/>
                <a:cs typeface="Arial"/>
              </a:rPr>
              <a:t>[68]  </a:t>
            </a:r>
            <a:r>
              <a:rPr lang="en-US" sz="950" b="1" dirty="0" u="sng">
                <a:solidFill>
                  <a:srgbClr val="FFFFFF"/>
                </a:solidFill>
                <a:latin typeface="Arial"/>
                <a:ea typeface="Arial"/>
                <a:cs typeface="Arial"/>
                <a:hlinkClick r:id="rIdL41"/>
              </a:rPr>
              <a:t>lo0.es blog: Langfuse ingest bottleneck (third-party)</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42"/>
              </a:rPr>
              <a:t>blog.lo0.es/en/posts/langfuse-inside-sorting-centre-bottleneck</a:t>
            </a:r>
          </a:p>
          <a:p>
            <a:pPr algn="l" marL="0" indent="0">
              <a:lnSpc>
                <a:spcPct val="100000"/>
              </a:lnSpc>
              <a:buNone/>
            </a:pPr>
            <a:r>
              <a:rPr lang="en-US" sz="950" b="1" dirty="0">
                <a:solidFill>
                  <a:srgbClr val="F5B700"/>
                </a:solidFill>
                <a:latin typeface="Arial"/>
                <a:ea typeface="Arial"/>
                <a:cs typeface="Arial"/>
              </a:rPr>
              <a:t>[69]  </a:t>
            </a:r>
            <a:r>
              <a:rPr lang="en-US" sz="950" b="1" dirty="0" u="sng">
                <a:solidFill>
                  <a:srgbClr val="FFFFFF"/>
                </a:solidFill>
                <a:latin typeface="Arial"/>
                <a:ea typeface="Arial"/>
                <a:cs typeface="Arial"/>
                <a:hlinkClick r:id="rIdL43"/>
              </a:rPr>
              <a:t>Grafana Tempo (GitHub, AGPL-3.0)</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44"/>
              </a:rPr>
              <a:t>github.com/grafana/tempo</a:t>
            </a:r>
          </a:p>
        </p:txBody>
      </p:sp>
      <p:sp>
        <p:nvSpPr>
          <p:cNvPr id="160" name="gal 160"/>
          <p:cNvSpPr/>
          <p:nvPr/>
        </p:nvSpPr>
        <p:spPr>
          <a:xfrm>
            <a:off x="548640" y="6473952"/>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All links checked 14 Oct 2026 and resolve; the two Vertex AI links redirect to docs.cloud.google.com/gemini-enterprise-agent-platform/…</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13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Scalable trace platform  ·  3 of 5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Batch + real-time:</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one pipeline, two lanes</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075688"/>
            <a:ext cx="1463040" cy="182880"/>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SHARED INGEST</a:t>
            </a:r>
          </a:p>
        </p:txBody>
      </p:sp>
      <p:sp>
        <p:nvSpPr>
          <p:cNvPr id="162" name="gal 162"/>
          <p:cNvSpPr/>
          <p:nvPr/>
        </p:nvSpPr>
        <p:spPr>
          <a:xfrm>
            <a:off x="548640" y="2331720"/>
            <a:ext cx="1463040" cy="548640"/>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3000"/>
              </a:lnSpc>
              <a:buNone/>
            </a:pPr>
            <a:r>
              <a:rPr lang="en-US" sz="950" b="1" dirty="0">
                <a:solidFill>
                  <a:srgbClr val="FFFFFF"/>
                </a:solidFill>
                <a:latin typeface="Arial"/>
                <a:ea typeface="Arial"/>
                <a:cs typeface="Arial"/>
              </a:rPr>
              <a:t>Kairos SDK / gateway</a:t>
            </a:r>
          </a:p>
          <a:p>
            <a:pPr algn="l" marL="0" indent="0">
              <a:lnSpc>
                <a:spcPct val="93000"/>
              </a:lnSpc>
              <a:buNone/>
            </a:pPr>
            <a:r>
              <a:rPr lang="en-US" sz="800" dirty="0">
                <a:solidFill>
                  <a:srgbClr val="F3E6D6"/>
                </a:solidFill>
                <a:latin typeface="Arial"/>
                <a:ea typeface="Arial"/>
                <a:cs typeface="Arial"/>
              </a:rPr>
              <a:t>P1 · P2 · P3, OTLP</a:t>
            </a:r>
          </a:p>
        </p:txBody>
      </p:sp>
      <p:cxnSp>
        <p:nvCxnSpPr>
          <p:cNvPr id="163" name="g2 flow 163"/>
          <p:cNvCxnSpPr/>
          <p:nvPr/>
        </p:nvCxnSpPr>
        <p:spPr>
          <a:xfrm>
            <a:off x="1280160" y="2880360"/>
            <a:ext cx="0" cy="137160"/>
          </a:xfrm>
          <a:prstGeom prst="line">
            <a:avLst/>
          </a:prstGeom>
          <a:ln w="15875">
            <a:solidFill>
              <a:srgbClr val="EE0000"/>
            </a:solidFill>
            <a:tailEnd type="triangle" w="med" len="med"/>
          </a:ln>
        </p:spPr>
      </p:cxnSp>
      <p:sp>
        <p:nvSpPr>
          <p:cNvPr id="164" name="gal 164"/>
          <p:cNvSpPr/>
          <p:nvPr/>
        </p:nvSpPr>
        <p:spPr>
          <a:xfrm>
            <a:off x="548640" y="3017520"/>
            <a:ext cx="1463040" cy="68580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50" b="1" dirty="0">
                <a:solidFill>
                  <a:srgbClr val="FFFFFF"/>
                </a:solidFill>
                <a:latin typeface="Arial"/>
                <a:ea typeface="Arial"/>
                <a:cs typeface="Arial"/>
              </a:rPr>
              <a:t>OTel Collectors · GKE</a:t>
            </a:r>
          </a:p>
          <a:p>
            <a:pPr algn="l" marL="0" indent="0">
              <a:lnSpc>
                <a:spcPct val="92000"/>
              </a:lnSpc>
              <a:buNone/>
            </a:pPr>
            <a:r>
              <a:rPr lang="en-US" sz="800" dirty="0">
                <a:solidFill>
                  <a:srgbClr val="F3E6D6"/>
                </a:solidFill>
                <a:latin typeface="Arial"/>
                <a:ea typeface="Arial"/>
                <a:cs typeface="Arial"/>
              </a:rPr>
              <a:t>tail sampling; tag risk_tier and tenant_id</a:t>
            </a:r>
          </a:p>
        </p:txBody>
      </p:sp>
      <p:cxnSp>
        <p:nvCxnSpPr>
          <p:cNvPr id="165" name="g2 flow 165"/>
          <p:cNvCxnSpPr/>
          <p:nvPr/>
        </p:nvCxnSpPr>
        <p:spPr>
          <a:xfrm>
            <a:off x="1280160" y="3703320"/>
            <a:ext cx="0" cy="137160"/>
          </a:xfrm>
          <a:prstGeom prst="line">
            <a:avLst/>
          </a:prstGeom>
          <a:ln w="15875">
            <a:solidFill>
              <a:srgbClr val="EE0000"/>
            </a:solidFill>
            <a:tailEnd type="triangle" w="med" len="med"/>
          </a:ln>
        </p:spPr>
      </p:cxnSp>
      <p:sp>
        <p:nvSpPr>
          <p:cNvPr id="166" name="gal 166"/>
          <p:cNvSpPr/>
          <p:nvPr/>
        </p:nvSpPr>
        <p:spPr>
          <a:xfrm>
            <a:off x="548640" y="3840480"/>
            <a:ext cx="1463040" cy="86868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50" b="1" dirty="0">
                <a:solidFill>
                  <a:srgbClr val="FFFFFF"/>
                </a:solidFill>
                <a:latin typeface="Arial"/>
                <a:ea typeface="Arial"/>
                <a:cs typeface="Arial"/>
              </a:rPr>
              <a:t>Pub/Sub</a:t>
            </a:r>
          </a:p>
          <a:p>
            <a:pPr algn="l" marL="0" indent="0">
              <a:lnSpc>
                <a:spcPct val="92000"/>
              </a:lnSpc>
              <a:buNone/>
            </a:pPr>
            <a:r>
              <a:rPr lang="en-US" sz="800" dirty="0">
                <a:solidFill>
                  <a:srgbClr val="F3E6D6"/>
                </a:solidFill>
                <a:latin typeface="Arial"/>
                <a:ea typeface="Arial"/>
                <a:cs typeface="Arial"/>
              </a:rPr>
              <a:t>per-tenant topics; message retention for replay [80]</a:t>
            </a:r>
          </a:p>
        </p:txBody>
      </p:sp>
      <p:sp>
        <p:nvSpPr>
          <p:cNvPr id="167" name="gal 167"/>
          <p:cNvSpPr/>
          <p:nvPr/>
        </p:nvSpPr>
        <p:spPr>
          <a:xfrm>
            <a:off x="548640" y="4800600"/>
            <a:ext cx="1463040" cy="502920"/>
          </a:xfrm>
          <a:prstGeom prst="rect">
            <a:avLst/>
          </a:prstGeom>
          <a:noFill/>
          <a:ln>
            <a:noFill/>
          </a:ln>
        </p:spPr>
        <p:txBody>
          <a:bodyPr wrap="square" lIns="0" tIns="0" rIns="0" bIns="0" rtlCol="0" anchor="t">
            <a:noAutofit/>
          </a:bodyPr>
          <a:lstStyle/>
          <a:p>
            <a:pPr algn="l" marL="0" indent="0">
              <a:lnSpc>
                <a:spcPct val="92000"/>
              </a:lnSpc>
              <a:buNone/>
            </a:pPr>
            <a:r>
              <a:rPr lang="en-US" sz="800" dirty="0">
                <a:solidFill>
                  <a:srgbClr val="D9B48A"/>
                </a:solidFill>
                <a:latin typeface="Arial"/>
                <a:ea typeface="Arial"/>
                <a:cs typeface="Arial"/>
              </a:rPr>
              <a:t>The tier tag set at the collector decides the lane</a:t>
            </a:r>
          </a:p>
        </p:txBody>
      </p:sp>
      <p:cxnSp>
        <p:nvCxnSpPr>
          <p:cNvPr id="168" name="g2 flow 168"/>
          <p:cNvCxnSpPr/>
          <p:nvPr/>
        </p:nvCxnSpPr>
        <p:spPr>
          <a:xfrm>
            <a:off x="2011680" y="4069080"/>
            <a:ext cx="109728" cy="0"/>
          </a:xfrm>
          <a:prstGeom prst="line">
            <a:avLst/>
          </a:prstGeom>
          <a:ln w="15875">
            <a:solidFill>
              <a:srgbClr val="EE0000"/>
            </a:solidFill>
          </a:ln>
        </p:spPr>
      </p:cxnSp>
      <p:cxnSp>
        <p:nvCxnSpPr>
          <p:cNvPr id="169" name="g2 flow 169"/>
          <p:cNvCxnSpPr/>
          <p:nvPr/>
        </p:nvCxnSpPr>
        <p:spPr>
          <a:xfrm flipV="1">
            <a:off x="2121408" y="2926080"/>
            <a:ext cx="0" cy="1143000"/>
          </a:xfrm>
          <a:prstGeom prst="line">
            <a:avLst/>
          </a:prstGeom>
          <a:ln w="15875">
            <a:solidFill>
              <a:srgbClr val="EE0000"/>
            </a:solidFill>
          </a:ln>
        </p:spPr>
      </p:cxnSp>
      <p:cxnSp>
        <p:nvCxnSpPr>
          <p:cNvPr id="170" name="g2 flow 170"/>
          <p:cNvCxnSpPr/>
          <p:nvPr/>
        </p:nvCxnSpPr>
        <p:spPr>
          <a:xfrm>
            <a:off x="2121408" y="2926080"/>
            <a:ext cx="118872" cy="0"/>
          </a:xfrm>
          <a:prstGeom prst="line">
            <a:avLst/>
          </a:prstGeom>
          <a:ln w="15875">
            <a:solidFill>
              <a:srgbClr val="EE0000"/>
            </a:solidFill>
            <a:tailEnd type="triangle" w="med" len="med"/>
          </a:ln>
        </p:spPr>
      </p:cxnSp>
      <p:sp>
        <p:nvSpPr>
          <p:cNvPr id="171" name="gal 171"/>
          <p:cNvSpPr/>
          <p:nvPr/>
        </p:nvSpPr>
        <p:spPr>
          <a:xfrm>
            <a:off x="2240280" y="2331720"/>
            <a:ext cx="868680" cy="1188720"/>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950" b="1" dirty="0">
                <a:solidFill>
                  <a:srgbClr val="141010"/>
                </a:solidFill>
                <a:latin typeface="Arial"/>
                <a:ea typeface="Arial"/>
                <a:cs typeface="Arial"/>
              </a:rPr>
              <a:t>REAL-TIME</a:t>
            </a:r>
          </a:p>
          <a:p>
            <a:pPr algn="l" marL="0" indent="0">
              <a:lnSpc>
                <a:spcPct val="92000"/>
              </a:lnSpc>
              <a:buNone/>
            </a:pPr>
            <a:r>
              <a:rPr lang="en-US" sz="800" dirty="0">
                <a:solidFill>
                  <a:srgbClr val="141010"/>
                </a:solidFill>
                <a:latin typeface="Arial"/>
                <a:ea typeface="Arial"/>
                <a:cs typeface="Arial"/>
              </a:rPr>
              <a:t>all tiers stitched; judge on critical</a:t>
            </a:r>
          </a:p>
        </p:txBody>
      </p:sp>
      <p:cxnSp>
        <p:nvCxnSpPr>
          <p:cNvPr id="172" name="g2 flow 172"/>
          <p:cNvCxnSpPr/>
          <p:nvPr/>
        </p:nvCxnSpPr>
        <p:spPr>
          <a:xfrm>
            <a:off x="3108960" y="2926080"/>
            <a:ext cx="137160" cy="0"/>
          </a:xfrm>
          <a:prstGeom prst="line">
            <a:avLst/>
          </a:prstGeom>
          <a:ln w="15875">
            <a:solidFill>
              <a:srgbClr val="EE0000"/>
            </a:solidFill>
            <a:tailEnd type="triangle" w="med" len="med"/>
          </a:ln>
        </p:spPr>
      </p:cxnSp>
      <p:sp>
        <p:nvSpPr>
          <p:cNvPr id="173" name="gal 173"/>
          <p:cNvSpPr/>
          <p:nvPr/>
        </p:nvSpPr>
        <p:spPr>
          <a:xfrm>
            <a:off x="3246120" y="2331720"/>
            <a:ext cx="1188720" cy="118872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Dataflow streaming</a:t>
            </a:r>
          </a:p>
          <a:p>
            <a:pPr algn="l" marL="0" indent="0">
              <a:lnSpc>
                <a:spcPct val="92000"/>
              </a:lnSpc>
              <a:buNone/>
            </a:pPr>
            <a:r>
              <a:rPr lang="en-US" sz="800" dirty="0">
                <a:solidFill>
                  <a:srgbClr val="F3E6D6"/>
                </a:solidFill>
                <a:latin typeface="Arial"/>
                <a:ea typeface="Arial"/>
                <a:cs typeface="Arial"/>
              </a:rPr>
              <a:t>Apache Beam; reads Pub/Sub; dedupe by span_id; exactly-once inside the pipeline [74]</a:t>
            </a:r>
          </a:p>
        </p:txBody>
      </p:sp>
      <p:cxnSp>
        <p:nvCxnSpPr>
          <p:cNvPr id="174" name="g2 flow 174"/>
          <p:cNvCxnSpPr/>
          <p:nvPr/>
        </p:nvCxnSpPr>
        <p:spPr>
          <a:xfrm>
            <a:off x="4434840" y="2926080"/>
            <a:ext cx="128016" cy="0"/>
          </a:xfrm>
          <a:prstGeom prst="line">
            <a:avLst/>
          </a:prstGeom>
          <a:ln w="15875">
            <a:solidFill>
              <a:srgbClr val="EE0000"/>
            </a:solidFill>
            <a:tailEnd type="triangle" w="med" len="med"/>
          </a:ln>
        </p:spPr>
      </p:cxnSp>
      <p:sp>
        <p:nvSpPr>
          <p:cNvPr id="175" name="gal 175"/>
          <p:cNvSpPr/>
          <p:nvPr/>
        </p:nvSpPr>
        <p:spPr>
          <a:xfrm>
            <a:off x="4562856" y="2331720"/>
            <a:ext cx="1188720" cy="118872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Session windows</a:t>
            </a:r>
          </a:p>
          <a:p>
            <a:pPr algn="l" marL="0" indent="0">
              <a:lnSpc>
                <a:spcPct val="92000"/>
              </a:lnSpc>
              <a:buNone/>
            </a:pPr>
            <a:r>
              <a:rPr lang="en-US" sz="800" dirty="0">
                <a:solidFill>
                  <a:srgbClr val="F3E6D6"/>
                </a:solidFill>
                <a:latin typeface="Arial"/>
                <a:ea typeface="Arial"/>
                <a:cs typeface="Arial"/>
              </a:rPr>
              <a:t>gap-based, keyed by session_id [71]; 30-min gap ASSUMPTION; allowed lateness</a:t>
            </a:r>
          </a:p>
        </p:txBody>
      </p:sp>
      <p:cxnSp>
        <p:nvCxnSpPr>
          <p:cNvPr id="176" name="g2 flow 176"/>
          <p:cNvCxnSpPr/>
          <p:nvPr/>
        </p:nvCxnSpPr>
        <p:spPr>
          <a:xfrm>
            <a:off x="5751576" y="2926080"/>
            <a:ext cx="128016" cy="0"/>
          </a:xfrm>
          <a:prstGeom prst="line">
            <a:avLst/>
          </a:prstGeom>
          <a:ln w="15875">
            <a:solidFill>
              <a:srgbClr val="EE0000"/>
            </a:solidFill>
            <a:tailEnd type="triangle" w="med" len="med"/>
          </a:ln>
        </p:spPr>
      </p:cxnSp>
      <p:sp>
        <p:nvSpPr>
          <p:cNvPr id="177" name="gal 177"/>
          <p:cNvSpPr/>
          <p:nvPr/>
        </p:nvSpPr>
        <p:spPr>
          <a:xfrm>
            <a:off x="5879592" y="2331720"/>
            <a:ext cx="1188720" cy="118872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Stateful stitch</a:t>
            </a:r>
          </a:p>
          <a:p>
            <a:pPr algn="l" marL="0" indent="0">
              <a:lnSpc>
                <a:spcPct val="92000"/>
              </a:lnSpc>
              <a:buNone/>
            </a:pPr>
            <a:r>
              <a:rPr lang="en-US" sz="800" dirty="0">
                <a:solidFill>
                  <a:srgbClr val="F3E6D6"/>
                </a:solidFill>
                <a:latin typeface="Arial"/>
                <a:ea typeface="Arial"/>
                <a:cs typeface="Arial"/>
              </a:rPr>
              <a:t>state + timers per session [72][73]; early partial emit for the critical tier</a:t>
            </a:r>
          </a:p>
        </p:txBody>
      </p:sp>
      <p:cxnSp>
        <p:nvCxnSpPr>
          <p:cNvPr id="178" name="g2 flow 178"/>
          <p:cNvCxnSpPr/>
          <p:nvPr/>
        </p:nvCxnSpPr>
        <p:spPr>
          <a:xfrm>
            <a:off x="7068312" y="2926080"/>
            <a:ext cx="128016" cy="0"/>
          </a:xfrm>
          <a:prstGeom prst="line">
            <a:avLst/>
          </a:prstGeom>
          <a:ln w="15875">
            <a:solidFill>
              <a:srgbClr val="EE0000"/>
            </a:solidFill>
            <a:tailEnd type="triangle" w="med" len="med"/>
          </a:ln>
        </p:spPr>
      </p:cxnSp>
      <p:sp>
        <p:nvSpPr>
          <p:cNvPr id="179" name="gal 179"/>
          <p:cNvSpPr/>
          <p:nvPr/>
        </p:nvSpPr>
        <p:spPr>
          <a:xfrm>
            <a:off x="7196328" y="2331720"/>
            <a:ext cx="1188720" cy="118872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Light metrics</a:t>
            </a:r>
          </a:p>
          <a:p>
            <a:pPr algn="l" marL="0" indent="0">
              <a:lnSpc>
                <a:spcPct val="92000"/>
              </a:lnSpc>
              <a:buNone/>
            </a:pPr>
            <a:r>
              <a:rPr lang="en-US" sz="800" dirty="0">
                <a:solidFill>
                  <a:srgbClr val="F3E6D6"/>
                </a:solidFill>
                <a:latin typeface="Arial"/>
                <a:ea typeface="Arial"/>
                <a:cs typeface="Arial"/>
              </a:rPr>
              <a:t>rules / heuristics on every session: latency, tool errors, loops, PII flags, cost</a:t>
            </a:r>
          </a:p>
        </p:txBody>
      </p:sp>
      <p:cxnSp>
        <p:nvCxnSpPr>
          <p:cNvPr id="180" name="g2 flow 180"/>
          <p:cNvCxnSpPr/>
          <p:nvPr/>
        </p:nvCxnSpPr>
        <p:spPr>
          <a:xfrm>
            <a:off x="8385048" y="2926080"/>
            <a:ext cx="128016" cy="0"/>
          </a:xfrm>
          <a:prstGeom prst="line">
            <a:avLst/>
          </a:prstGeom>
          <a:ln w="15875">
            <a:solidFill>
              <a:srgbClr val="EE0000"/>
            </a:solidFill>
            <a:tailEnd type="triangle" w="med" len="med"/>
          </a:ln>
        </p:spPr>
      </p:cxnSp>
      <p:sp>
        <p:nvSpPr>
          <p:cNvPr id="181" name="gal 181"/>
          <p:cNvSpPr/>
          <p:nvPr/>
        </p:nvSpPr>
        <p:spPr>
          <a:xfrm>
            <a:off x="8513064" y="2331720"/>
            <a:ext cx="1188720" cy="118872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Online judge / guardrail</a:t>
            </a:r>
          </a:p>
          <a:p>
            <a:pPr algn="l" marL="0" indent="0">
              <a:lnSpc>
                <a:spcPct val="92000"/>
              </a:lnSpc>
              <a:buNone/>
            </a:pPr>
            <a:r>
              <a:rPr lang="en-US" sz="800" dirty="0">
                <a:solidFill>
                  <a:srgbClr val="F3E6D6"/>
                </a:solidFill>
                <a:latin typeface="Arial"/>
                <a:ea typeface="Arial"/>
                <a:cs typeface="Arial"/>
              </a:rPr>
              <a:t>critical tier only, others pass through; Beam RunInference → Vertex real-time endpoint, autoscaled [76][77]</a:t>
            </a:r>
          </a:p>
        </p:txBody>
      </p:sp>
      <p:cxnSp>
        <p:nvCxnSpPr>
          <p:cNvPr id="182" name="g2 flow 182"/>
          <p:cNvCxnSpPr/>
          <p:nvPr/>
        </p:nvCxnSpPr>
        <p:spPr>
          <a:xfrm>
            <a:off x="9701784" y="2926080"/>
            <a:ext cx="109728" cy="0"/>
          </a:xfrm>
          <a:prstGeom prst="line">
            <a:avLst/>
          </a:prstGeom>
          <a:ln w="15875">
            <a:solidFill>
              <a:srgbClr val="EE0000"/>
            </a:solidFill>
          </a:ln>
        </p:spPr>
      </p:cxnSp>
      <p:cxnSp>
        <p:nvCxnSpPr>
          <p:cNvPr id="183" name="g2 flow 183"/>
          <p:cNvCxnSpPr/>
          <p:nvPr/>
        </p:nvCxnSpPr>
        <p:spPr>
          <a:xfrm>
            <a:off x="9811512" y="2505456"/>
            <a:ext cx="0" cy="841248"/>
          </a:xfrm>
          <a:prstGeom prst="line">
            <a:avLst/>
          </a:prstGeom>
          <a:ln w="15875">
            <a:solidFill>
              <a:srgbClr val="EE0000"/>
            </a:solidFill>
          </a:ln>
        </p:spPr>
      </p:cxnSp>
      <p:sp>
        <p:nvSpPr>
          <p:cNvPr id="184" name="gal 184"/>
          <p:cNvSpPr/>
          <p:nvPr/>
        </p:nvSpPr>
        <p:spPr>
          <a:xfrm>
            <a:off x="9921240" y="2331720"/>
            <a:ext cx="1719072" cy="347472"/>
          </a:xfrm>
          <a:prstGeom prst="roundRect">
            <a:avLst>
              <a:gd name="adj" fmla="val 10000"/>
            </a:avLst>
          </a:prstGeom>
          <a:solidFill>
            <a:srgbClr val="1E1412"/>
          </a:solidFill>
          <a:ln w="12700">
            <a:solidFill>
              <a:srgbClr val="D9B48A"/>
            </a:solidFill>
            <a:prstDash val="dash"/>
          </a:ln>
        </p:spPr>
        <p:txBody>
          <a:bodyPr wrap="square" lIns="73152" tIns="18288" rIns="45720" bIns="18288" rtlCol="0" anchor="ctr">
            <a:noAutofit/>
          </a:bodyPr>
          <a:lstStyle/>
          <a:p>
            <a:pPr algn="l" marL="0" indent="0">
              <a:lnSpc>
                <a:spcPct val="90000"/>
              </a:lnSpc>
              <a:buNone/>
            </a:pPr>
            <a:r>
              <a:rPr lang="en-US" sz="850" b="1" dirty="0">
                <a:solidFill>
                  <a:srgbClr val="FFFFFF"/>
                </a:solidFill>
                <a:latin typeface="Arial"/>
                <a:ea typeface="Arial"/>
                <a:cs typeface="Arial"/>
              </a:rPr>
              <a:t>ClickHouse hot  </a:t>
            </a:r>
            <a:r>
              <a:rPr lang="en-US" sz="800" dirty="0">
                <a:solidFill>
                  <a:srgbClr val="F3E6D6"/>
                </a:solidFill>
                <a:latin typeface="Arial"/>
                <a:ea typeface="Arial"/>
                <a:cs typeface="Arial"/>
              </a:rPr>
              <a:t>within seconds</a:t>
            </a:r>
          </a:p>
        </p:txBody>
      </p:sp>
      <p:cxnSp>
        <p:nvCxnSpPr>
          <p:cNvPr id="185" name="g2 flow 185"/>
          <p:cNvCxnSpPr/>
          <p:nvPr/>
        </p:nvCxnSpPr>
        <p:spPr>
          <a:xfrm>
            <a:off x="9811512" y="2505456"/>
            <a:ext cx="109728" cy="0"/>
          </a:xfrm>
          <a:prstGeom prst="line">
            <a:avLst/>
          </a:prstGeom>
          <a:ln w="15875">
            <a:solidFill>
              <a:srgbClr val="EE0000"/>
            </a:solidFill>
            <a:tailEnd type="triangle" w="med" len="med"/>
          </a:ln>
        </p:spPr>
      </p:cxnSp>
      <p:sp>
        <p:nvSpPr>
          <p:cNvPr id="186" name="gal 186"/>
          <p:cNvSpPr/>
          <p:nvPr/>
        </p:nvSpPr>
        <p:spPr>
          <a:xfrm>
            <a:off x="9921240" y="2752344"/>
            <a:ext cx="1719072" cy="347472"/>
          </a:xfrm>
          <a:prstGeom prst="roundRect">
            <a:avLst>
              <a:gd name="adj" fmla="val 10000"/>
            </a:avLst>
          </a:prstGeom>
          <a:solidFill>
            <a:srgbClr val="1E1412"/>
          </a:solidFill>
          <a:ln w="12700">
            <a:solidFill>
              <a:srgbClr val="D9B48A"/>
            </a:solidFill>
            <a:prstDash val="dash"/>
          </a:ln>
        </p:spPr>
        <p:txBody>
          <a:bodyPr wrap="square" lIns="73152" tIns="18288" rIns="45720" bIns="18288" rtlCol="0" anchor="ctr">
            <a:noAutofit/>
          </a:bodyPr>
          <a:lstStyle/>
          <a:p>
            <a:pPr algn="l" marL="0" indent="0">
              <a:lnSpc>
                <a:spcPct val="90000"/>
              </a:lnSpc>
              <a:buNone/>
            </a:pPr>
            <a:r>
              <a:rPr lang="en-US" sz="850" b="1" dirty="0">
                <a:solidFill>
                  <a:srgbClr val="FFFFFF"/>
                </a:solidFill>
                <a:latin typeface="Arial"/>
                <a:ea typeface="Arial"/>
                <a:cs typeface="Arial"/>
              </a:rPr>
              <a:t>Alerts → on-call  </a:t>
            </a:r>
            <a:r>
              <a:rPr lang="en-US" sz="800" dirty="0">
                <a:solidFill>
                  <a:srgbClr val="F3E6D6"/>
                </a:solidFill>
                <a:latin typeface="Arial"/>
                <a:ea typeface="Arial"/>
                <a:cs typeface="Arial"/>
              </a:rPr>
              <a:t>critical failures</a:t>
            </a:r>
          </a:p>
        </p:txBody>
      </p:sp>
      <p:cxnSp>
        <p:nvCxnSpPr>
          <p:cNvPr id="187" name="g2 flow 187"/>
          <p:cNvCxnSpPr/>
          <p:nvPr/>
        </p:nvCxnSpPr>
        <p:spPr>
          <a:xfrm>
            <a:off x="9811512" y="2926080"/>
            <a:ext cx="109728" cy="0"/>
          </a:xfrm>
          <a:prstGeom prst="line">
            <a:avLst/>
          </a:prstGeom>
          <a:ln w="15875">
            <a:solidFill>
              <a:srgbClr val="EE0000"/>
            </a:solidFill>
            <a:tailEnd type="triangle" w="med" len="med"/>
          </a:ln>
        </p:spPr>
      </p:cxnSp>
      <p:sp>
        <p:nvSpPr>
          <p:cNvPr id="188" name="gal 188"/>
          <p:cNvSpPr/>
          <p:nvPr/>
        </p:nvSpPr>
        <p:spPr>
          <a:xfrm>
            <a:off x="9921240" y="3172968"/>
            <a:ext cx="1719072" cy="347472"/>
          </a:xfrm>
          <a:prstGeom prst="roundRect">
            <a:avLst>
              <a:gd name="adj" fmla="val 10000"/>
            </a:avLst>
          </a:prstGeom>
          <a:solidFill>
            <a:srgbClr val="1E1412"/>
          </a:solidFill>
          <a:ln w="12700">
            <a:solidFill>
              <a:srgbClr val="D9B48A"/>
            </a:solidFill>
            <a:prstDash val="dash"/>
          </a:ln>
        </p:spPr>
        <p:txBody>
          <a:bodyPr wrap="square" lIns="73152" tIns="18288" rIns="45720" bIns="18288" rtlCol="0" anchor="ctr">
            <a:noAutofit/>
          </a:bodyPr>
          <a:lstStyle/>
          <a:p>
            <a:pPr algn="l" marL="0" indent="0">
              <a:lnSpc>
                <a:spcPct val="90000"/>
              </a:lnSpc>
              <a:buNone/>
            </a:pPr>
            <a:r>
              <a:rPr lang="en-US" sz="850" b="1" dirty="0">
                <a:solidFill>
                  <a:srgbClr val="FFFFFF"/>
                </a:solidFill>
                <a:latin typeface="Arial"/>
                <a:ea typeface="Arial"/>
                <a:cs typeface="Arial"/>
              </a:rPr>
              <a:t>Iceberg on GCS  </a:t>
            </a:r>
            <a:r>
              <a:rPr lang="en-US" sz="800" dirty="0">
                <a:solidFill>
                  <a:srgbClr val="F3E6D6"/>
                </a:solidFill>
                <a:latin typeface="Arial"/>
                <a:ea typeface="Arial"/>
                <a:cs typeface="Arial"/>
              </a:rPr>
              <a:t>streaming write [75]</a:t>
            </a:r>
          </a:p>
        </p:txBody>
      </p:sp>
      <p:cxnSp>
        <p:nvCxnSpPr>
          <p:cNvPr id="189" name="g2 flow 189"/>
          <p:cNvCxnSpPr/>
          <p:nvPr/>
        </p:nvCxnSpPr>
        <p:spPr>
          <a:xfrm>
            <a:off x="9811512" y="3346704"/>
            <a:ext cx="109728" cy="0"/>
          </a:xfrm>
          <a:prstGeom prst="line">
            <a:avLst/>
          </a:prstGeom>
          <a:ln w="15875">
            <a:solidFill>
              <a:srgbClr val="EE0000"/>
            </a:solidFill>
            <a:tailEnd type="triangle" w="med" len="med"/>
          </a:ln>
        </p:spPr>
      </p:cxnSp>
      <p:cxnSp>
        <p:nvCxnSpPr>
          <p:cNvPr id="190" name="g2 flow 190"/>
          <p:cNvCxnSpPr/>
          <p:nvPr/>
        </p:nvCxnSpPr>
        <p:spPr>
          <a:xfrm>
            <a:off x="10332720" y="3520440"/>
            <a:ext cx="0" cy="137160"/>
          </a:xfrm>
          <a:prstGeom prst="line">
            <a:avLst/>
          </a:prstGeom>
          <a:ln w="15875">
            <a:solidFill>
              <a:srgbClr val="EE0000"/>
            </a:solidFill>
            <a:prstDash val="dash"/>
          </a:ln>
        </p:spPr>
      </p:cxnSp>
      <p:cxnSp>
        <p:nvCxnSpPr>
          <p:cNvPr id="191" name="g2 flow 191"/>
          <p:cNvCxnSpPr/>
          <p:nvPr/>
        </p:nvCxnSpPr>
        <p:spPr>
          <a:xfrm flipH="1">
            <a:off x="3840480" y="3657600"/>
            <a:ext cx="6492240" cy="0"/>
          </a:xfrm>
          <a:prstGeom prst="line">
            <a:avLst/>
          </a:prstGeom>
          <a:ln w="15875">
            <a:solidFill>
              <a:srgbClr val="EE0000"/>
            </a:solidFill>
            <a:prstDash val="dash"/>
          </a:ln>
        </p:spPr>
      </p:cxnSp>
      <p:cxnSp>
        <p:nvCxnSpPr>
          <p:cNvPr id="192" name="g2 flow 192"/>
          <p:cNvCxnSpPr/>
          <p:nvPr/>
        </p:nvCxnSpPr>
        <p:spPr>
          <a:xfrm>
            <a:off x="3840480" y="3657600"/>
            <a:ext cx="0" cy="137160"/>
          </a:xfrm>
          <a:prstGeom prst="line">
            <a:avLst/>
          </a:prstGeom>
          <a:ln w="15875">
            <a:solidFill>
              <a:srgbClr val="EE0000"/>
            </a:solidFill>
            <a:prstDash val="dash"/>
            <a:tailEnd type="triangle" w="med" len="med"/>
          </a:ln>
        </p:spPr>
      </p:cxnSp>
      <p:sp>
        <p:nvSpPr>
          <p:cNvPr id="193" name="gal 193"/>
          <p:cNvSpPr/>
          <p:nvPr/>
        </p:nvSpPr>
        <p:spPr>
          <a:xfrm>
            <a:off x="2240280" y="3794760"/>
            <a:ext cx="868680" cy="1463040"/>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950" b="1" dirty="0">
                <a:solidFill>
                  <a:srgbClr val="141010"/>
                </a:solidFill>
                <a:latin typeface="Arial"/>
                <a:ea typeface="Arial"/>
                <a:cs typeface="Arial"/>
              </a:rPr>
              <a:t>BATCH</a:t>
            </a:r>
          </a:p>
          <a:p>
            <a:pPr algn="l" marL="0" indent="0">
              <a:lnSpc>
                <a:spcPct val="92000"/>
              </a:lnSpc>
              <a:buNone/>
            </a:pPr>
            <a:r>
              <a:rPr lang="en-US" sz="800" dirty="0">
                <a:solidFill>
                  <a:srgbClr val="141010"/>
                </a:solidFill>
                <a:latin typeface="Arial"/>
                <a:ea typeface="Arial"/>
                <a:cs typeface="Arial"/>
              </a:rPr>
              <a:t>all tiers, sampled; deep eval</a:t>
            </a:r>
          </a:p>
        </p:txBody>
      </p:sp>
      <p:cxnSp>
        <p:nvCxnSpPr>
          <p:cNvPr id="194" name="g2 flow 194"/>
          <p:cNvCxnSpPr/>
          <p:nvPr/>
        </p:nvCxnSpPr>
        <p:spPr>
          <a:xfrm>
            <a:off x="3108960" y="4526280"/>
            <a:ext cx="137160" cy="0"/>
          </a:xfrm>
          <a:prstGeom prst="line">
            <a:avLst/>
          </a:prstGeom>
          <a:ln w="15875">
            <a:solidFill>
              <a:srgbClr val="EE0000"/>
            </a:solidFill>
            <a:tailEnd type="triangle" w="med" len="med"/>
          </a:ln>
        </p:spPr>
      </p:cxnSp>
      <p:sp>
        <p:nvSpPr>
          <p:cNvPr id="195" name="gal 195"/>
          <p:cNvSpPr/>
          <p:nvPr/>
        </p:nvSpPr>
        <p:spPr>
          <a:xfrm>
            <a:off x="3246120" y="3794760"/>
            <a:ext cx="1188720" cy="146304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Iceberg on GCS</a:t>
            </a:r>
          </a:p>
          <a:p>
            <a:pPr algn="l" marL="0" indent="0">
              <a:lnSpc>
                <a:spcPct val="92000"/>
              </a:lnSpc>
              <a:buNone/>
            </a:pPr>
            <a:r>
              <a:rPr lang="en-US" sz="800" dirty="0">
                <a:solidFill>
                  <a:srgbClr val="F3E6D6"/>
                </a:solidFill>
                <a:latin typeface="Arial"/>
                <a:ea typeface="Arial"/>
                <a:cs typeface="Arial"/>
              </a:rPr>
              <a:t>sessions + light scores from the real-time lane; partitioned by date and tenant</a:t>
            </a:r>
          </a:p>
        </p:txBody>
      </p:sp>
      <p:cxnSp>
        <p:nvCxnSpPr>
          <p:cNvPr id="196" name="g2 flow 196"/>
          <p:cNvCxnSpPr/>
          <p:nvPr/>
        </p:nvCxnSpPr>
        <p:spPr>
          <a:xfrm>
            <a:off x="4434840" y="4526280"/>
            <a:ext cx="109728" cy="0"/>
          </a:xfrm>
          <a:prstGeom prst="line">
            <a:avLst/>
          </a:prstGeom>
          <a:ln w="15875">
            <a:solidFill>
              <a:srgbClr val="EE0000"/>
            </a:solidFill>
          </a:ln>
        </p:spPr>
      </p:cxnSp>
      <p:cxnSp>
        <p:nvCxnSpPr>
          <p:cNvPr id="197" name="g2 flow 197"/>
          <p:cNvCxnSpPr/>
          <p:nvPr/>
        </p:nvCxnSpPr>
        <p:spPr>
          <a:xfrm>
            <a:off x="4544568" y="4142232"/>
            <a:ext cx="0" cy="768096"/>
          </a:xfrm>
          <a:prstGeom prst="line">
            <a:avLst/>
          </a:prstGeom>
          <a:ln w="15875">
            <a:solidFill>
              <a:srgbClr val="EE0000"/>
            </a:solidFill>
          </a:ln>
        </p:spPr>
      </p:cxnSp>
      <p:cxnSp>
        <p:nvCxnSpPr>
          <p:cNvPr id="198" name="g2 flow 198"/>
          <p:cNvCxnSpPr/>
          <p:nvPr/>
        </p:nvCxnSpPr>
        <p:spPr>
          <a:xfrm>
            <a:off x="4544568" y="4142232"/>
            <a:ext cx="118872" cy="0"/>
          </a:xfrm>
          <a:prstGeom prst="line">
            <a:avLst/>
          </a:prstGeom>
          <a:ln w="15875">
            <a:solidFill>
              <a:srgbClr val="EE0000"/>
            </a:solidFill>
            <a:tailEnd type="triangle" w="med" len="med"/>
          </a:ln>
        </p:spPr>
      </p:cxnSp>
      <p:cxnSp>
        <p:nvCxnSpPr>
          <p:cNvPr id="199" name="g2 flow 199"/>
          <p:cNvCxnSpPr/>
          <p:nvPr/>
        </p:nvCxnSpPr>
        <p:spPr>
          <a:xfrm>
            <a:off x="4544568" y="4910328"/>
            <a:ext cx="118872" cy="0"/>
          </a:xfrm>
          <a:prstGeom prst="line">
            <a:avLst/>
          </a:prstGeom>
          <a:ln w="15875">
            <a:solidFill>
              <a:srgbClr val="EE0000"/>
            </a:solidFill>
            <a:tailEnd type="triangle" w="med" len="med"/>
          </a:ln>
        </p:spPr>
      </p:cxnSp>
      <p:sp>
        <p:nvSpPr>
          <p:cNvPr id="200" name="gal 200"/>
          <p:cNvSpPr/>
          <p:nvPr/>
        </p:nvSpPr>
        <p:spPr>
          <a:xfrm>
            <a:off x="4663440" y="3794760"/>
            <a:ext cx="2194560" cy="694944"/>
          </a:xfrm>
          <a:prstGeom prst="roundRect">
            <a:avLst>
              <a:gd name="adj" fmla="val 10000"/>
            </a:avLst>
          </a:prstGeom>
          <a:solidFill>
            <a:srgbClr val="2A1A16"/>
          </a:solidFill>
          <a:ln w="12700">
            <a:solidFill>
              <a:srgbClr val="D9B48A"/>
            </a:solidFill>
          </a:ln>
        </p:spPr>
        <p:txBody>
          <a:bodyPr wrap="square" lIns="73152" tIns="27432" rIns="54864" bIns="27432" rtlCol="0" anchor="ctr">
            <a:noAutofit/>
          </a:bodyPr>
          <a:lstStyle/>
          <a:p>
            <a:pPr algn="l" marL="0" indent="0">
              <a:lnSpc>
                <a:spcPct val="92000"/>
              </a:lnSpc>
              <a:buNone/>
            </a:pPr>
            <a:r>
              <a:rPr lang="en-US" sz="800" b="1" dirty="0">
                <a:solidFill>
                  <a:srgbClr val="F5B700"/>
                </a:solidFill>
                <a:latin typeface="Arial"/>
                <a:ea typeface="Arial"/>
                <a:cs typeface="Arial"/>
              </a:rPr>
              <a:t>A · TODAY  </a:t>
            </a:r>
            <a:r>
              <a:rPr lang="en-US" sz="900" b="1" dirty="0">
                <a:solidFill>
                  <a:srgbClr val="FFFFFF"/>
                </a:solidFill>
                <a:latin typeface="Arial"/>
                <a:ea typeface="Arial"/>
                <a:cs typeface="Arial"/>
              </a:rPr>
              <a:t>Spark multi-DAG</a:t>
            </a:r>
          </a:p>
          <a:p>
            <a:pPr algn="l" marL="0" indent="0">
              <a:lnSpc>
                <a:spcPct val="92000"/>
              </a:lnSpc>
              <a:buNone/>
            </a:pPr>
            <a:r>
              <a:rPr lang="en-US" sz="800" dirty="0">
                <a:solidFill>
                  <a:srgbClr val="F3E6D6"/>
                </a:solidFill>
                <a:latin typeface="Arial"/>
                <a:ea typeface="Arial"/>
                <a:cs typeface="Arial"/>
              </a:rPr>
              <a:t>Dataproc / Dataproc Serverless, orchestrated by Cloud Composer (Airflow) [78][79]</a:t>
            </a:r>
          </a:p>
        </p:txBody>
      </p:sp>
      <p:sp>
        <p:nvSpPr>
          <p:cNvPr id="201" name="gal 201"/>
          <p:cNvSpPr/>
          <p:nvPr/>
        </p:nvSpPr>
        <p:spPr>
          <a:xfrm>
            <a:off x="4663440" y="4562856"/>
            <a:ext cx="2194560" cy="694944"/>
          </a:xfrm>
          <a:prstGeom prst="roundRect">
            <a:avLst>
              <a:gd name="adj" fmla="val 10000"/>
            </a:avLst>
          </a:prstGeom>
          <a:solidFill>
            <a:srgbClr val="1E1412"/>
          </a:solidFill>
          <a:ln w="12700">
            <a:solidFill>
              <a:srgbClr val="D9B48A"/>
            </a:solidFill>
            <a:prstDash val="dash"/>
          </a:ln>
        </p:spPr>
        <p:txBody>
          <a:bodyPr wrap="square" lIns="73152" tIns="27432" rIns="54864" bIns="27432" rtlCol="0" anchor="ctr">
            <a:noAutofit/>
          </a:bodyPr>
          <a:lstStyle/>
          <a:p>
            <a:pPr algn="l" marL="0" indent="0">
              <a:lnSpc>
                <a:spcPct val="92000"/>
              </a:lnSpc>
              <a:buNone/>
            </a:pPr>
            <a:r>
              <a:rPr lang="en-US" sz="800" b="1" dirty="0">
                <a:solidFill>
                  <a:srgbClr val="D9B48A"/>
                </a:solidFill>
                <a:latin typeface="Arial"/>
                <a:ea typeface="Arial"/>
                <a:cs typeface="Arial"/>
              </a:rPr>
              <a:t>B · ALTERNATIVE  </a:t>
            </a:r>
            <a:r>
              <a:rPr lang="en-US" sz="900" b="1" dirty="0">
                <a:solidFill>
                  <a:srgbClr val="FFFFFF"/>
                </a:solidFill>
                <a:latin typeface="Arial"/>
                <a:ea typeface="Arial"/>
                <a:cs typeface="Arial"/>
              </a:rPr>
              <a:t>Dataflow batch</a:t>
            </a:r>
          </a:p>
          <a:p>
            <a:pPr algn="l" marL="0" indent="0">
              <a:lnSpc>
                <a:spcPct val="92000"/>
              </a:lnSpc>
              <a:buNone/>
            </a:pPr>
            <a:r>
              <a:rPr lang="en-US" sz="800" dirty="0">
                <a:solidFill>
                  <a:srgbClr val="F3E6D6"/>
                </a:solidFill>
                <a:latin typeface="Arial"/>
                <a:ea typeface="Arial"/>
                <a:cs typeface="Arial"/>
              </a:rPr>
              <a:t>same Beam transforms as the real-time lane [70]; Composer triggers it</a:t>
            </a:r>
          </a:p>
        </p:txBody>
      </p:sp>
      <p:cxnSp>
        <p:nvCxnSpPr>
          <p:cNvPr id="202" name="g2 flow 202"/>
          <p:cNvCxnSpPr/>
          <p:nvPr/>
        </p:nvCxnSpPr>
        <p:spPr>
          <a:xfrm>
            <a:off x="6858000" y="4142232"/>
            <a:ext cx="109728" cy="0"/>
          </a:xfrm>
          <a:prstGeom prst="line">
            <a:avLst/>
          </a:prstGeom>
          <a:ln w="15875">
            <a:solidFill>
              <a:srgbClr val="EE0000"/>
            </a:solidFill>
          </a:ln>
        </p:spPr>
      </p:cxnSp>
      <p:cxnSp>
        <p:nvCxnSpPr>
          <p:cNvPr id="203" name="g2 flow 203"/>
          <p:cNvCxnSpPr/>
          <p:nvPr/>
        </p:nvCxnSpPr>
        <p:spPr>
          <a:xfrm>
            <a:off x="6858000" y="4910328"/>
            <a:ext cx="109728" cy="0"/>
          </a:xfrm>
          <a:prstGeom prst="line">
            <a:avLst/>
          </a:prstGeom>
          <a:ln w="15875">
            <a:solidFill>
              <a:srgbClr val="EE0000"/>
            </a:solidFill>
          </a:ln>
        </p:spPr>
      </p:cxnSp>
      <p:cxnSp>
        <p:nvCxnSpPr>
          <p:cNvPr id="204" name="g2 flow 204"/>
          <p:cNvCxnSpPr/>
          <p:nvPr/>
        </p:nvCxnSpPr>
        <p:spPr>
          <a:xfrm>
            <a:off x="6967728" y="4142232"/>
            <a:ext cx="0" cy="768096"/>
          </a:xfrm>
          <a:prstGeom prst="line">
            <a:avLst/>
          </a:prstGeom>
          <a:ln w="15875">
            <a:solidFill>
              <a:srgbClr val="EE0000"/>
            </a:solidFill>
          </a:ln>
        </p:spPr>
      </p:cxnSp>
      <p:cxnSp>
        <p:nvCxnSpPr>
          <p:cNvPr id="205" name="g2 flow 205"/>
          <p:cNvCxnSpPr/>
          <p:nvPr/>
        </p:nvCxnSpPr>
        <p:spPr>
          <a:xfrm>
            <a:off x="6967728" y="4526280"/>
            <a:ext cx="118872" cy="0"/>
          </a:xfrm>
          <a:prstGeom prst="line">
            <a:avLst/>
          </a:prstGeom>
          <a:ln w="15875">
            <a:solidFill>
              <a:srgbClr val="EE0000"/>
            </a:solidFill>
            <a:tailEnd type="triangle" w="med" len="med"/>
          </a:ln>
        </p:spPr>
      </p:cxnSp>
      <p:sp>
        <p:nvSpPr>
          <p:cNvPr id="206" name="gal 206"/>
          <p:cNvSpPr/>
          <p:nvPr/>
        </p:nvSpPr>
        <p:spPr>
          <a:xfrm>
            <a:off x="7086600" y="3794760"/>
            <a:ext cx="1371600" cy="146304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Preprocess + prompt build</a:t>
            </a:r>
          </a:p>
          <a:p>
            <a:pPr algn="l" marL="0" indent="0">
              <a:lnSpc>
                <a:spcPct val="92000"/>
              </a:lnSpc>
              <a:buNone/>
            </a:pPr>
            <a:r>
              <a:rPr lang="en-US" sz="800" dirty="0">
                <a:solidFill>
                  <a:srgbClr val="F3E6D6"/>
                </a:solidFill>
                <a:latin typeface="Arial"/>
                <a:ea typeface="Arial"/>
                <a:cs typeface="Arial"/>
              </a:rPr>
              <a:t>metric features; system prompt (rubric, cached) + user prompt (compact session text); dedupe</a:t>
            </a:r>
          </a:p>
        </p:txBody>
      </p:sp>
      <p:sp>
        <p:nvSpPr>
          <p:cNvPr id="207" name="gal 207"/>
          <p:cNvSpPr/>
          <p:nvPr/>
        </p:nvSpPr>
        <p:spPr>
          <a:xfrm>
            <a:off x="8622792" y="3794760"/>
            <a:ext cx="1143000" cy="146304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Vertex AI batch</a:t>
            </a:r>
          </a:p>
          <a:p>
            <a:pPr algn="l" marL="0" indent="0">
              <a:lnSpc>
                <a:spcPct val="92000"/>
              </a:lnSpc>
              <a:buNone/>
            </a:pPr>
            <a:r>
              <a:rPr lang="en-US" sz="800" dirty="0">
                <a:solidFill>
                  <a:srgbClr val="F3E6D6"/>
                </a:solidFill>
                <a:latin typeface="Arial"/>
                <a:ea typeface="Arial"/>
                <a:cs typeface="Arial"/>
              </a:rPr>
              <a:t>JSONL on GCS; ≤200k requests, ≤1 GB per job; queue up to 72 h [66][67]</a:t>
            </a:r>
          </a:p>
        </p:txBody>
      </p:sp>
      <p:sp>
        <p:nvSpPr>
          <p:cNvPr id="208" name="gal 208"/>
          <p:cNvSpPr/>
          <p:nvPr/>
        </p:nvSpPr>
        <p:spPr>
          <a:xfrm>
            <a:off x="9921240" y="3794760"/>
            <a:ext cx="1719072" cy="1463040"/>
          </a:xfrm>
          <a:prstGeom prst="roundRect">
            <a:avLst>
              <a:gd name="adj" fmla="val 10000"/>
            </a:avLst>
          </a:prstGeom>
          <a:solidFill>
            <a:srgbClr val="1E1412"/>
          </a:solidFill>
          <a:ln w="12700">
            <a:solidFill>
              <a:srgbClr val="D9B48A"/>
            </a:solidFill>
            <a:prstDash val="dash"/>
          </a:ln>
        </p:spPr>
        <p:txBody>
          <a:bodyPr wrap="square" lIns="73152" tIns="64008" rIns="54864" bIns="36576" rtlCol="0" anchor="t">
            <a:noAutofit/>
          </a:bodyPr>
          <a:lstStyle/>
          <a:p>
            <a:pPr algn="l" marL="0" indent="0">
              <a:lnSpc>
                <a:spcPct val="92000"/>
              </a:lnSpc>
              <a:buNone/>
            </a:pPr>
            <a:r>
              <a:rPr lang="en-US" sz="900" b="1" dirty="0">
                <a:solidFill>
                  <a:srgbClr val="FFFFFF"/>
                </a:solidFill>
                <a:latin typeface="Arial"/>
                <a:ea typeface="Arial"/>
                <a:cs typeface="Arial"/>
              </a:rPr>
              <a:t>Scores write-back</a:t>
            </a:r>
          </a:p>
          <a:p>
            <a:pPr algn="l" marL="0" indent="0">
              <a:lnSpc>
                <a:spcPct val="92000"/>
              </a:lnSpc>
              <a:buNone/>
            </a:pPr>
            <a:r>
              <a:rPr lang="en-US" sz="800" dirty="0">
                <a:solidFill>
                  <a:srgbClr val="F3E6D6"/>
                </a:solidFill>
                <a:latin typeface="Arial"/>
                <a:ea typeface="Arial"/>
                <a:cs typeface="Arial"/>
              </a:rPr>
              <a:t>idempotent upsert keyed by session_id + metric + version → ClickHouse + Iceberg [74]</a:t>
            </a:r>
          </a:p>
        </p:txBody>
      </p:sp>
      <p:cxnSp>
        <p:nvCxnSpPr>
          <p:cNvPr id="209" name="g2 flow 209"/>
          <p:cNvCxnSpPr/>
          <p:nvPr/>
        </p:nvCxnSpPr>
        <p:spPr>
          <a:xfrm>
            <a:off x="8458200" y="4526280"/>
            <a:ext cx="164592" cy="0"/>
          </a:xfrm>
          <a:prstGeom prst="line">
            <a:avLst/>
          </a:prstGeom>
          <a:ln w="15875">
            <a:solidFill>
              <a:srgbClr val="EE0000"/>
            </a:solidFill>
            <a:tailEnd type="triangle" w="med" len="med"/>
          </a:ln>
        </p:spPr>
      </p:cxnSp>
      <p:cxnSp>
        <p:nvCxnSpPr>
          <p:cNvPr id="210" name="g2 flow 210"/>
          <p:cNvCxnSpPr/>
          <p:nvPr/>
        </p:nvCxnSpPr>
        <p:spPr>
          <a:xfrm>
            <a:off x="9765792" y="4526280"/>
            <a:ext cx="155448" cy="0"/>
          </a:xfrm>
          <a:prstGeom prst="line">
            <a:avLst/>
          </a:prstGeom>
          <a:ln w="15875">
            <a:solidFill>
              <a:srgbClr val="EE0000"/>
            </a:solidFill>
            <a:tailEnd type="triangle" w="med" len="med"/>
          </a:ln>
        </p:spPr>
      </p:cxnSp>
      <p:cxnSp>
        <p:nvCxnSpPr>
          <p:cNvPr id="211" name="g2 flow 211"/>
          <p:cNvCxnSpPr/>
          <p:nvPr/>
        </p:nvCxnSpPr>
        <p:spPr>
          <a:xfrm flipV="1">
            <a:off x="11338560" y="3520440"/>
            <a:ext cx="0" cy="274320"/>
          </a:xfrm>
          <a:prstGeom prst="line">
            <a:avLst/>
          </a:prstGeom>
          <a:ln w="15875">
            <a:solidFill>
              <a:srgbClr val="EE0000"/>
            </a:solidFill>
            <a:prstDash val="dash"/>
            <a:tailEnd type="triangle" w="med" len="med"/>
          </a:ln>
        </p:spPr>
      </p:cxnSp>
      <p:sp>
        <p:nvSpPr>
          <p:cNvPr id="212" name="gal 212"/>
          <p:cNvSpPr/>
          <p:nvPr/>
        </p:nvSpPr>
        <p:spPr>
          <a:xfrm>
            <a:off x="548640" y="5440680"/>
            <a:ext cx="1463040" cy="80467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950" b="1" dirty="0">
                <a:solidFill>
                  <a:srgbClr val="F5B700"/>
                </a:solidFill>
                <a:latin typeface="Arial"/>
                <a:ea typeface="Arial"/>
                <a:cs typeface="Arial"/>
              </a:rPr>
              <a:t>Which tier goes where</a:t>
            </a:r>
          </a:p>
          <a:p>
            <a:pPr algn="l" marL="0" indent="0">
              <a:lnSpc>
                <a:spcPct val="92000"/>
              </a:lnSpc>
              <a:buNone/>
            </a:pPr>
            <a:r>
              <a:rPr lang="en-US" sz="800" dirty="0">
                <a:solidFill>
                  <a:srgbClr val="F3E6D6"/>
                </a:solidFill>
                <a:latin typeface="Arial"/>
                <a:ea typeface="Arial"/>
                <a:cs typeface="Arial"/>
              </a:rPr>
              <a:t>latency targets PROPOSED</a:t>
            </a:r>
          </a:p>
        </p:txBody>
      </p:sp>
      <p:sp>
        <p:nvSpPr>
          <p:cNvPr id="213" name="gal 213"/>
          <p:cNvSpPr/>
          <p:nvPr/>
        </p:nvSpPr>
        <p:spPr>
          <a:xfrm>
            <a:off x="2148840" y="5440680"/>
            <a:ext cx="2304288" cy="804672"/>
          </a:xfrm>
          <a:prstGeom prst="roundRect">
            <a:avLst>
              <a:gd name="adj" fmla="val 10000"/>
            </a:avLst>
          </a:prstGeom>
          <a:solidFill>
            <a:srgbClr val="1E1412"/>
          </a:solidFill>
          <a:ln w="12700">
            <a:solidFill>
              <a:srgbClr val="D9B48A"/>
            </a:solidFill>
            <a:prstDash val="dash"/>
          </a:ln>
        </p:spPr>
        <p:txBody>
          <a:bodyPr wrap="square" lIns="73152" tIns="36576" rIns="54864" bIns="27432" rtlCol="0" anchor="ctr">
            <a:noAutofit/>
          </a:bodyPr>
          <a:lstStyle/>
          <a:p>
            <a:pPr algn="l" marL="0" indent="0">
              <a:lnSpc>
                <a:spcPct val="92000"/>
              </a:lnSpc>
              <a:buNone/>
            </a:pPr>
            <a:r>
              <a:rPr lang="en-US" sz="900" b="1" dirty="0">
                <a:solidFill>
                  <a:srgbClr val="FFFFFF"/>
                </a:solidFill>
                <a:latin typeface="Arial"/>
                <a:ea typeface="Arial"/>
                <a:cs typeface="Arial"/>
              </a:rPr>
              <a:t>A  Critical flagship</a:t>
            </a:r>
            <a:r>
              <a:rPr lang="en-US" sz="800" dirty="0">
                <a:solidFill>
                  <a:srgbClr val="D9B48A"/>
                </a:solidFill>
                <a:latin typeface="Arial"/>
                <a:ea typeface="Arial"/>
                <a:cs typeface="Arial"/>
              </a:rPr>
              <a:t>   slide 7</a:t>
            </a:r>
          </a:p>
          <a:p>
            <a:pPr algn="l" marL="0" indent="0">
              <a:lnSpc>
                <a:spcPct val="92000"/>
              </a:lnSpc>
              <a:buNone/>
            </a:pPr>
            <a:r>
              <a:rPr lang="en-US" sz="800" dirty="0">
                <a:solidFill>
                  <a:srgbClr val="F3E6D6"/>
                </a:solidFill>
                <a:latin typeface="Arial"/>
                <a:ea typeface="Arial"/>
                <a:cs typeface="Arial"/>
              </a:rPr>
              <a:t>100%: real-time judge, score p95 &lt; 60 s, alert &lt; 2 min; plus daily batch deep eval</a:t>
            </a:r>
          </a:p>
        </p:txBody>
      </p:sp>
      <p:sp>
        <p:nvSpPr>
          <p:cNvPr id="214" name="gal 214"/>
          <p:cNvSpPr/>
          <p:nvPr/>
        </p:nvSpPr>
        <p:spPr>
          <a:xfrm>
            <a:off x="4544568" y="5440680"/>
            <a:ext cx="2304288" cy="804672"/>
          </a:xfrm>
          <a:prstGeom prst="roundRect">
            <a:avLst>
              <a:gd name="adj" fmla="val 10000"/>
            </a:avLst>
          </a:prstGeom>
          <a:solidFill>
            <a:srgbClr val="1E1412"/>
          </a:solidFill>
          <a:ln w="12700">
            <a:solidFill>
              <a:srgbClr val="D9B48A"/>
            </a:solidFill>
            <a:prstDash val="dash"/>
          </a:ln>
        </p:spPr>
        <p:txBody>
          <a:bodyPr wrap="square" lIns="73152" tIns="36576" rIns="54864" bIns="27432" rtlCol="0" anchor="ctr">
            <a:noAutofit/>
          </a:bodyPr>
          <a:lstStyle/>
          <a:p>
            <a:pPr algn="l" marL="0" indent="0">
              <a:lnSpc>
                <a:spcPct val="92000"/>
              </a:lnSpc>
              <a:buNone/>
            </a:pPr>
            <a:r>
              <a:rPr lang="en-US" sz="900" b="1" dirty="0">
                <a:solidFill>
                  <a:srgbClr val="FFFFFF"/>
                </a:solidFill>
                <a:latin typeface="Arial"/>
                <a:ea typeface="Arial"/>
                <a:cs typeface="Arial"/>
              </a:rPr>
              <a:t>B  Critical other</a:t>
            </a:r>
            <a:r>
              <a:rPr lang="en-US" sz="800" dirty="0">
                <a:solidFill>
                  <a:srgbClr val="D9B48A"/>
                </a:solidFill>
                <a:latin typeface="Arial"/>
                <a:ea typeface="Arial"/>
                <a:cs typeface="Arial"/>
              </a:rPr>
              <a:t>   slide 8</a:t>
            </a:r>
          </a:p>
          <a:p>
            <a:pPr algn="l" marL="0" indent="0">
              <a:lnSpc>
                <a:spcPct val="92000"/>
              </a:lnSpc>
              <a:buNone/>
            </a:pPr>
            <a:r>
              <a:rPr lang="en-US" sz="800" dirty="0">
                <a:solidFill>
                  <a:srgbClr val="F3E6D6"/>
                </a:solidFill>
                <a:latin typeface="Arial"/>
                <a:ea typeface="Arial"/>
                <a:cs typeface="Arial"/>
              </a:rPr>
              <a:t>real-time stitch + rules; online judge on flagged sessions; batch on a sample, &lt; 24 h</a:t>
            </a:r>
          </a:p>
        </p:txBody>
      </p:sp>
      <p:sp>
        <p:nvSpPr>
          <p:cNvPr id="215" name="gal 215"/>
          <p:cNvSpPr/>
          <p:nvPr/>
        </p:nvSpPr>
        <p:spPr>
          <a:xfrm>
            <a:off x="6940296" y="5440680"/>
            <a:ext cx="2304288" cy="804672"/>
          </a:xfrm>
          <a:prstGeom prst="roundRect">
            <a:avLst>
              <a:gd name="adj" fmla="val 10000"/>
            </a:avLst>
          </a:prstGeom>
          <a:solidFill>
            <a:srgbClr val="1E1412"/>
          </a:solidFill>
          <a:ln w="12700">
            <a:solidFill>
              <a:srgbClr val="D9B48A"/>
            </a:solidFill>
            <a:prstDash val="dash"/>
          </a:ln>
        </p:spPr>
        <p:txBody>
          <a:bodyPr wrap="square" lIns="73152" tIns="36576" rIns="54864" bIns="27432" rtlCol="0" anchor="ctr">
            <a:noAutofit/>
          </a:bodyPr>
          <a:lstStyle/>
          <a:p>
            <a:pPr algn="l" marL="0" indent="0">
              <a:lnSpc>
                <a:spcPct val="92000"/>
              </a:lnSpc>
              <a:buNone/>
            </a:pPr>
            <a:r>
              <a:rPr lang="en-US" sz="900" b="1" dirty="0">
                <a:solidFill>
                  <a:srgbClr val="FFFFFF"/>
                </a:solidFill>
                <a:latin typeface="Arial"/>
                <a:ea typeface="Arial"/>
                <a:cs typeface="Arial"/>
              </a:rPr>
              <a:t>C  Non-critical</a:t>
            </a:r>
            <a:r>
              <a:rPr lang="en-US" sz="800" dirty="0">
                <a:solidFill>
                  <a:srgbClr val="D9B48A"/>
                </a:solidFill>
                <a:latin typeface="Arial"/>
                <a:ea typeface="Arial"/>
                <a:cs typeface="Arial"/>
              </a:rPr>
              <a:t>   slide 9</a:t>
            </a:r>
          </a:p>
          <a:p>
            <a:pPr algn="l" marL="0" indent="0">
              <a:lnSpc>
                <a:spcPct val="92000"/>
              </a:lnSpc>
              <a:buNone/>
            </a:pPr>
            <a:r>
              <a:rPr lang="en-US" sz="800" dirty="0">
                <a:solidFill>
                  <a:srgbClr val="F3E6D6"/>
                </a:solidFill>
                <a:latin typeface="Arial"/>
                <a:ea typeface="Arial"/>
                <a:cs typeface="Arial"/>
              </a:rPr>
              <a:t>real-time stitch + rules only; batch judge on 1–10%, scores &lt; 24 h</a:t>
            </a:r>
          </a:p>
        </p:txBody>
      </p:sp>
      <p:sp>
        <p:nvSpPr>
          <p:cNvPr id="216" name="gal 216"/>
          <p:cNvSpPr/>
          <p:nvPr/>
        </p:nvSpPr>
        <p:spPr>
          <a:xfrm>
            <a:off x="9336024" y="5440680"/>
            <a:ext cx="2304288" cy="804672"/>
          </a:xfrm>
          <a:prstGeom prst="roundRect">
            <a:avLst>
              <a:gd name="adj" fmla="val 10000"/>
            </a:avLst>
          </a:prstGeom>
          <a:solidFill>
            <a:srgbClr val="1E1412"/>
          </a:solidFill>
          <a:ln w="12700">
            <a:solidFill>
              <a:srgbClr val="D9B48A"/>
            </a:solidFill>
            <a:prstDash val="dash"/>
          </a:ln>
        </p:spPr>
        <p:txBody>
          <a:bodyPr wrap="square" lIns="73152" tIns="36576" rIns="54864" bIns="27432" rtlCol="0" anchor="ctr">
            <a:noAutofit/>
          </a:bodyPr>
          <a:lstStyle/>
          <a:p>
            <a:pPr algn="l" marL="0" indent="0">
              <a:lnSpc>
                <a:spcPct val="92000"/>
              </a:lnSpc>
              <a:buNone/>
            </a:pPr>
            <a:r>
              <a:rPr lang="en-US" sz="900" b="1" dirty="0">
                <a:solidFill>
                  <a:srgbClr val="FFFFFF"/>
                </a:solidFill>
                <a:latin typeface="Arial"/>
                <a:ea typeface="Arial"/>
                <a:cs typeface="Arial"/>
              </a:rPr>
              <a:t>D  Third-party</a:t>
            </a:r>
            <a:r>
              <a:rPr lang="en-US" sz="800" dirty="0">
                <a:solidFill>
                  <a:srgbClr val="D9B48A"/>
                </a:solidFill>
                <a:latin typeface="Arial"/>
                <a:ea typeface="Arial"/>
                <a:cs typeface="Arial"/>
              </a:rPr>
              <a:t>   slide 10</a:t>
            </a:r>
          </a:p>
          <a:p>
            <a:pPr algn="l" marL="0" indent="0">
              <a:lnSpc>
                <a:spcPct val="92000"/>
              </a:lnSpc>
              <a:buNone/>
            </a:pPr>
            <a:r>
              <a:rPr lang="en-US" sz="800" dirty="0">
                <a:solidFill>
                  <a:srgbClr val="F3E6D6"/>
                </a:solidFill>
                <a:latin typeface="Arial"/>
                <a:ea typeface="Arial"/>
                <a:cs typeface="Arial"/>
              </a:rPr>
              <a:t>batch only, once vendor export lands (G9); backfill via Iceberg or Pub/Sub seek ≤ 7 days [80]</a:t>
            </a:r>
          </a:p>
        </p:txBody>
      </p:sp>
      <p:sp>
        <p:nvSpPr>
          <p:cNvPr id="217" name="gal 217"/>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PROPOSED except the Kairos SDK / gateway and the Spark DAG pipeline (today). Beam runs the same pipeline code as batch or streaming on Dataflow [70]. Writes to external stores are not exactly-once, so write-back must be idempotent [74].</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14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Scalable trace platform  ·  4 of 5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Spark DAGs vs Dataflow:</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when to use which, and the work to enable it</a:t>
            </a:r>
          </a:p>
        </p:txBody>
      </p:sp>
      <p:cxnSp>
        <p:nvCxnSpPr>
          <p:cNvPr id="157" name="g1 rule 157"/>
          <p:cNvCxnSpPr/>
          <p:nvPr/>
        </p:nvCxnSpPr>
        <p:spPr>
          <a:xfrm>
            <a:off x="548640" y="1874520"/>
            <a:ext cx="731520" cy="0"/>
          </a:xfrm>
          <a:prstGeom prst="line">
            <a:avLst/>
          </a:prstGeom>
          <a:ln w="28575">
            <a:solidFill>
              <a:srgbClr val="EE0000"/>
            </a:solidFill>
          </a:ln>
        </p:spPr>
      </p:cxnSp>
      <p:graphicFrame>
        <p:nvGraphicFramePr>
          <p:cNvPr id="158" name="gal compare"/>
          <p:cNvGraphicFramePr>
            <a:graphicFrameLocks noGrp="1"/>
          </p:cNvGraphicFramePr>
          <p:nvPr/>
        </p:nvGraphicFramePr>
        <p:xfrm>
          <a:off x="548640" y="2103120"/>
          <a:ext cx="5669280" cy="3054096"/>
        </p:xfrm>
        <a:graphic>
          <a:graphicData uri="http://schemas.openxmlformats.org/drawingml/2006/table">
            <a:tbl>
              <a:tblPr firstRow="1"/>
              <a:tblGrid>
                <a:gridCol w="914400"/>
                <a:gridCol w="2377440"/>
                <a:gridCol w="2377440"/>
              </a:tblGrid>
              <a:tr h="310896">
                <a:tc>
                  <a:txBody>
                    <a:bodyPr/>
                    <a:lstStyle/>
                    <a:p>
                      <a:pPr algn="l" marL="0" indent="0">
                        <a:lnSpc>
                          <a:spcPct val="93000"/>
                        </a:lnSpc>
                        <a:buNone/>
                      </a:pPr>
                      <a:r>
                        <a:rPr lang="en-US" sz="850" b="1" dirty="0">
                          <a:solidFill>
                            <a:srgbClr val="F5B700"/>
                          </a:solidFill>
                          <a:latin typeface="Arial"/>
                          <a:ea typeface="Arial"/>
                          <a:cs typeface="Arial"/>
                        </a:rPr>
                        <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A · Spark multi-DAG (today)</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B · Dataflow / Beam (alternative)</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r>
              <a:tr h="457200">
                <a:tc>
                  <a:txBody>
                    <a:bodyPr/>
                    <a:lstStyle/>
                    <a:p>
                      <a:pPr algn="l" marL="0" indent="0">
                        <a:lnSpc>
                          <a:spcPct val="93000"/>
                        </a:lnSpc>
                        <a:buNone/>
                      </a:pPr>
                      <a:r>
                        <a:rPr lang="en-US" sz="850" b="1" dirty="0">
                          <a:solidFill>
                            <a:srgbClr val="FFFFFF"/>
                          </a:solidFill>
                          <a:latin typeface="Arial"/>
                          <a:ea typeface="Arial"/>
                          <a:cs typeface="Arial"/>
                        </a:rPr>
                        <a:t>Strengths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Mature batch SQL / DataFrames; big joins and shuffles; the DAGs exist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One model for batch + streaming [70]; session windows, state, timers [71][72]</a:t>
                      </a:r>
                    </a:p>
                  </a:txBody>
                  <a:tcPr marL="64008" marR="45720" marT="27432" marB="27432" anchor="ctr">
                    <a:lnL w="0">
                      <a:noFill/>
                    </a:lnL>
                    <a:lnR w="6350">
                      <a:solidFill>
                        <a:srgbClr val="3A2620"/>
                      </a:solidFill>
                    </a:lnR>
                    <a:lnT w="0">
                      <a:noFill/>
                    </a:lnT>
                    <a:lnB w="9525">
                      <a:solidFill>
                        <a:srgbClr val="5A3A2E"/>
                      </a:solidFill>
                    </a:lnB>
                    <a:noFill/>
                  </a:tcPr>
                </a:tc>
              </a:tr>
              <a:tr h="457200">
                <a:tc>
                  <a:txBody>
                    <a:bodyPr/>
                    <a:lstStyle/>
                    <a:p>
                      <a:pPr algn="l" marL="0" indent="0">
                        <a:lnSpc>
                          <a:spcPct val="93000"/>
                        </a:lnSpc>
                        <a:buNone/>
                      </a:pPr>
                      <a:r>
                        <a:rPr lang="en-US" sz="850" b="1" dirty="0">
                          <a:solidFill>
                            <a:srgbClr val="FFFFFF"/>
                          </a:solidFill>
                          <a:latin typeface="Arial"/>
                          <a:ea typeface="Arial"/>
                          <a:cs typeface="Arial"/>
                        </a:rPr>
                        <a:t>Cost model</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Serverless: per-second DCU + shuffle storage, 1-min minimum; no idle cost [82]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Per-second vCPU + memory, plus Shuffle / Streaming Engine; streaming runs 24×7 [81]</a:t>
                      </a:r>
                    </a:p>
                  </a:txBody>
                  <a:tcPr marL="64008" marR="45720" marT="27432" marB="27432" anchor="ctr">
                    <a:lnL w="0">
                      <a:noFill/>
                    </a:lnL>
                    <a:lnR w="6350">
                      <a:solidFill>
                        <a:srgbClr val="3A2620"/>
                      </a:solidFill>
                    </a:lnR>
                    <a:lnT w="0">
                      <a:noFill/>
                    </a:lnT>
                    <a:lnB w="9525">
                      <a:solidFill>
                        <a:srgbClr val="5A3A2E"/>
                      </a:solidFill>
                    </a:lnB>
                    <a:noFill/>
                  </a:tcPr>
                </a:tc>
              </a:tr>
              <a:tr h="457200">
                <a:tc>
                  <a:txBody>
                    <a:bodyPr/>
                    <a:lstStyle/>
                    <a:p>
                      <a:pPr algn="l" marL="0" indent="0">
                        <a:lnSpc>
                          <a:spcPct val="93000"/>
                        </a:lnSpc>
                        <a:buNone/>
                      </a:pPr>
                      <a:r>
                        <a:rPr lang="en-US" sz="850" b="1" dirty="0">
                          <a:solidFill>
                            <a:srgbClr val="FFFFFF"/>
                          </a:solidFill>
                          <a:latin typeface="Arial"/>
                          <a:ea typeface="Arial"/>
                          <a:cs typeface="Arial"/>
                        </a:rPr>
                        <a:t>Operations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Composer schedules batches [78][79]; tune skew (1M sessions / 16 h today)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Managed autoscaling; update or drain streaming jobs; watch watermark and lag</a:t>
                      </a:r>
                    </a:p>
                  </a:txBody>
                  <a:tcPr marL="64008" marR="45720" marT="27432" marB="27432" anchor="ctr">
                    <a:lnL w="0">
                      <a:noFill/>
                    </a:lnL>
                    <a:lnR w="6350">
                      <a:solidFill>
                        <a:srgbClr val="3A2620"/>
                      </a:solidFill>
                    </a:lnR>
                    <a:lnT w="0">
                      <a:noFill/>
                    </a:lnT>
                    <a:lnB w="9525">
                      <a:solidFill>
                        <a:srgbClr val="5A3A2E"/>
                      </a:solidFill>
                    </a:lnB>
                    <a:noFill/>
                  </a:tcPr>
                </a:tc>
              </a:tr>
              <a:tr h="457200">
                <a:tc>
                  <a:txBody>
                    <a:bodyPr/>
                    <a:lstStyle/>
                    <a:p>
                      <a:pPr algn="l" marL="0" indent="0">
                        <a:lnSpc>
                          <a:spcPct val="93000"/>
                        </a:lnSpc>
                        <a:buNone/>
                      </a:pPr>
                      <a:r>
                        <a:rPr lang="en-US" sz="850" b="1" dirty="0">
                          <a:solidFill>
                            <a:srgbClr val="FFFFFF"/>
                          </a:solidFill>
                          <a:latin typeface="Arial"/>
                          <a:ea typeface="Arial"/>
                          <a:cs typeface="Arial"/>
                        </a:rPr>
                        <a:t>Skills reuse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Existing PySpark UDFs and DAGs as they are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Beam Python SDK; UDFs ported to DoFns; new skill for the team</a:t>
                      </a:r>
                    </a:p>
                  </a:txBody>
                  <a:tcPr marL="64008" marR="45720" marT="27432" marB="27432" anchor="ctr">
                    <a:lnL w="0">
                      <a:noFill/>
                    </a:lnL>
                    <a:lnR w="6350">
                      <a:solidFill>
                        <a:srgbClr val="3A2620"/>
                      </a:solidFill>
                    </a:lnR>
                    <a:lnT w="0">
                      <a:noFill/>
                    </a:lnT>
                    <a:lnB w="9525">
                      <a:solidFill>
                        <a:srgbClr val="5A3A2E"/>
                      </a:solidFill>
                    </a:lnB>
                    <a:noFill/>
                  </a:tcPr>
                </a:tc>
              </a:tr>
              <a:tr h="457200">
                <a:tc>
                  <a:txBody>
                    <a:bodyPr/>
                    <a:lstStyle/>
                    <a:p>
                      <a:pPr algn="l" marL="0" indent="0">
                        <a:lnSpc>
                          <a:spcPct val="93000"/>
                        </a:lnSpc>
                        <a:buNone/>
                      </a:pPr>
                      <a:r>
                        <a:rPr lang="en-US" sz="850" b="1" dirty="0">
                          <a:solidFill>
                            <a:srgbClr val="FFFFFF"/>
                          </a:solidFill>
                          <a:latin typeface="Arial"/>
                          <a:ea typeface="Arial"/>
                          <a:cs typeface="Arial"/>
                        </a:rPr>
                        <a:t>Latency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Minutes to hours per run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Seconds (streaming) or batch, same code</a:t>
                      </a:r>
                    </a:p>
                  </a:txBody>
                  <a:tcPr marL="64008" marR="45720" marT="27432" marB="27432" anchor="ctr">
                    <a:lnL w="0">
                      <a:noFill/>
                    </a:lnL>
                    <a:lnR w="6350">
                      <a:solidFill>
                        <a:srgbClr val="3A2620"/>
                      </a:solidFill>
                    </a:lnR>
                    <a:lnT w="0">
                      <a:noFill/>
                    </a:lnT>
                    <a:lnB w="9525">
                      <a:solidFill>
                        <a:srgbClr val="5A3A2E"/>
                      </a:solidFill>
                    </a:lnB>
                    <a:noFill/>
                  </a:tcPr>
                </a:tc>
              </a:tr>
              <a:tr h="457200">
                <a:tc>
                  <a:txBody>
                    <a:bodyPr/>
                    <a:lstStyle/>
                    <a:p>
                      <a:pPr algn="l" marL="0" indent="0">
                        <a:lnSpc>
                          <a:spcPct val="93000"/>
                        </a:lnSpc>
                        <a:buNone/>
                      </a:pPr>
                      <a:r>
                        <a:rPr lang="en-US" sz="850" b="1" dirty="0">
                          <a:solidFill>
                            <a:srgbClr val="FFFFFF"/>
                          </a:solidFill>
                          <a:latin typeface="Arial"/>
                          <a:ea typeface="Arial"/>
                          <a:cs typeface="Arial"/>
                        </a:rPr>
                        <a:t>Best fit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Batch eval today, while it meets the SLA</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Real-time lane now; batch only if the parity test wins</a:t>
                      </a:r>
                    </a:p>
                  </a:txBody>
                  <a:tcPr marL="64008" marR="45720" marT="27432" marB="27432" anchor="ctr">
                    <a:lnL w="0">
                      <a:noFill/>
                    </a:lnL>
                    <a:lnR w="6350">
                      <a:solidFill>
                        <a:srgbClr val="3A2620"/>
                      </a:solidFill>
                    </a:lnR>
                    <a:lnT w="0">
                      <a:noFill/>
                    </a:lnT>
                    <a:lnB w="9525">
                      <a:solidFill>
                        <a:srgbClr val="5A3A2E"/>
                      </a:solidFill>
                    </a:lnB>
                    <a:noFill/>
                  </a:tcPr>
                </a:tc>
              </a:tr>
            </a:tbl>
          </a:graphicData>
        </a:graphic>
      </p:graphicFrame>
      <p:sp>
        <p:nvSpPr>
          <p:cNvPr id="159" name="gal 159"/>
          <p:cNvSpPr/>
          <p:nvPr/>
        </p:nvSpPr>
        <p:spPr>
          <a:xfrm>
            <a:off x="548640" y="5321808"/>
            <a:ext cx="5669280" cy="932688"/>
          </a:xfrm>
          <a:prstGeom prst="roundRect">
            <a:avLst>
              <a:gd name="adj" fmla="val 10000"/>
            </a:avLst>
          </a:prstGeom>
          <a:solidFill>
            <a:srgbClr val="2A1A16"/>
          </a:solidFill>
          <a:ln w="12700">
            <a:solidFill>
              <a:srgbClr val="D9B48A"/>
            </a:solidFill>
          </a:ln>
        </p:spPr>
        <p:txBody>
          <a:bodyPr wrap="square" lIns="109728" tIns="73152" rIns="91440" bIns="45720" rtlCol="0" anchor="t">
            <a:noAutofit/>
          </a:bodyPr>
          <a:lstStyle/>
          <a:p>
            <a:pPr algn="l" marL="0" indent="0">
              <a:lnSpc>
                <a:spcPct val="95000"/>
              </a:lnSpc>
              <a:buNone/>
            </a:pPr>
            <a:r>
              <a:rPr lang="en-US" sz="1000" b="1" dirty="0">
                <a:solidFill>
                  <a:srgbClr val="F5B700"/>
                </a:solidFill>
                <a:latin typeface="Arial"/>
                <a:ea typeface="Arial"/>
                <a:cs typeface="Arial"/>
              </a:rPr>
              <a:t>Recommendation</a:t>
            </a:r>
            <a:r>
              <a:rPr lang="en-US" sz="800" b="1" dirty="0">
                <a:solidFill>
                  <a:srgbClr val="D9B48A"/>
                </a:solidFill>
                <a:latin typeface="Arial"/>
                <a:ea typeface="Arial"/>
                <a:cs typeface="Arial"/>
              </a:rPr>
              <a:t>   PROPOSED</a:t>
            </a:r>
          </a:p>
          <a:p>
            <a:pPr algn="l" marL="0" indent="0">
              <a:lnSpc>
                <a:spcPct val="95000"/>
              </a:lnSpc>
              <a:buNone/>
            </a:pPr>
            <a:r>
              <a:rPr lang="en-US" sz="850" dirty="0">
                <a:solidFill>
                  <a:srgbClr val="F3E6D6"/>
                </a:solidFill>
                <a:latin typeface="Arial"/>
                <a:ea typeface="Arial"/>
                <a:cs typeface="Arial"/>
              </a:rPr>
              <a:t>Build the real-time lane in Beam on Dataflow and keep the Spark DAGs for batch. Move batch to Dataflow only if the parity test (item 10) matches cost and SLA; then one codebase serves both lanes. Both options share the session schema, prompt templates and write-back.</a:t>
            </a:r>
          </a:p>
        </p:txBody>
      </p:sp>
      <p:graphicFrame>
        <p:nvGraphicFramePr>
          <p:cNvPr id="160" name="gal work plan"/>
          <p:cNvGraphicFramePr>
            <a:graphicFrameLocks noGrp="1"/>
          </p:cNvGraphicFramePr>
          <p:nvPr/>
        </p:nvGraphicFramePr>
        <p:xfrm>
          <a:off x="6400800" y="2103120"/>
          <a:ext cx="5239512" cy="4114800"/>
        </p:xfrm>
        <a:graphic>
          <a:graphicData uri="http://schemas.openxmlformats.org/drawingml/2006/table">
            <a:tbl>
              <a:tblPr firstRow="1"/>
              <a:tblGrid>
                <a:gridCol w="292608"/>
                <a:gridCol w="3227832"/>
                <a:gridCol w="1097280"/>
                <a:gridCol w="621792"/>
              </a:tblGrid>
              <a:tr h="274320">
                <a:tc>
                  <a:txBody>
                    <a:bodyPr/>
                    <a:lstStyle/>
                    <a:p>
                      <a:pPr algn="l" marL="0" indent="0">
                        <a:lnSpc>
                          <a:spcPct val="93000"/>
                        </a:lnSpc>
                        <a:buNone/>
                      </a:pPr>
                      <a:r>
                        <a:rPr lang="en-US" sz="850" b="1" dirty="0">
                          <a:solidFill>
                            <a:srgbClr val="F5B700"/>
                          </a:solidFill>
                          <a:latin typeface="Arial"/>
                          <a:ea typeface="Arial"/>
                          <a:cs typeface="Arial"/>
                        </a:rPr>
                        <a:t>#</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Work item</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Owner</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Phase</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r>
              <a:tr h="274320">
                <a:tc>
                  <a:txBody>
                    <a:bodyPr/>
                    <a:lstStyle/>
                    <a:p>
                      <a:pPr algn="l" marL="0" indent="0">
                        <a:lnSpc>
                          <a:spcPct val="93000"/>
                        </a:lnSpc>
                        <a:buNone/>
                      </a:pPr>
                      <a:r>
                        <a:rPr lang="en-US" sz="800" b="1" dirty="0">
                          <a:solidFill>
                            <a:srgbClr val="F5B700"/>
                          </a:solidFill>
                          <a:latin typeface="Arial"/>
                          <a:ea typeface="Arial"/>
                          <a:cs typeface="Arial"/>
                        </a:rPr>
                        <a:t>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Session schema + join keys: session, trace, agent, tenant, tier</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Platform + data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P0</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Pub/Sub topics and subscriptions per tenant; replay retention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Platform / SRE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P1</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Beam session-stitch job: windows, state, timers, late data</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P1</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Real-time metric set: rules / heuristics on every session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Eval eng + teams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P1</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5</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Online judge for the critical tier on a Vertex endpoint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Eval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P1</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6</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Vertex endpoint autoscaling, quotas, Provisioned Throughput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ML platform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P1</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7</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Idempotent write-back keyed by session + metric + version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P1</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8</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Port preprocessing UDFs to a shared Beam transform library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P2</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9</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Dataflow batch prompt build + Vertex batch submission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 + eval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P2</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10</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Parity test: Spark vs Dataflow on the same day of data</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P2 gate</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11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Composer DAG that runs Spark or Dataflow per use case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P2</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12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Backfill / replay from Iceberg; Pub/Sub seek ≤ 7 days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 eng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P2</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13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Monitoring + SLOs: lag, watermark, freshness, score coverage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SRE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P3</a:t>
                      </a:r>
                    </a:p>
                  </a:txBody>
                  <a:tcPr marL="64008" marR="45720" marT="27432" marB="27432" anchor="ctr">
                    <a:lnL w="0">
                      <a:noFill/>
                    </a:lnL>
                    <a:lnR w="6350">
                      <a:solidFill>
                        <a:srgbClr val="3A2620"/>
                      </a:solidFill>
                    </a:lnR>
                    <a:lnT w="0">
                      <a:noFill/>
                    </a:lnT>
                    <a:lnB w="9525">
                      <a:solidFill>
                        <a:srgbClr val="5A3A2E"/>
                      </a:solidFill>
                    </a:lnB>
                    <a:noFill/>
                  </a:tcPr>
                </a:tc>
              </a:tr>
              <a:tr h="274320">
                <a:tc>
                  <a:txBody>
                    <a:bodyPr/>
                    <a:lstStyle/>
                    <a:p>
                      <a:pPr algn="l" marL="0" indent="0">
                        <a:lnSpc>
                          <a:spcPct val="93000"/>
                        </a:lnSpc>
                        <a:buNone/>
                      </a:pPr>
                      <a:r>
                        <a:rPr lang="en-US" sz="800" b="1" dirty="0">
                          <a:solidFill>
                            <a:srgbClr val="F5B700"/>
                          </a:solidFill>
                          <a:latin typeface="Arial"/>
                          <a:ea typeface="Arial"/>
                          <a:cs typeface="Arial"/>
                        </a:rPr>
                        <a:t>14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Cost guardrails: max workers, budgets, sampling caps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FinOps + SRE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P3</a:t>
                      </a:r>
                    </a:p>
                  </a:txBody>
                  <a:tcPr marL="64008" marR="45720" marT="27432" marB="27432" anchor="ctr">
                    <a:lnL w="0">
                      <a:noFill/>
                    </a:lnL>
                    <a:lnR w="6350">
                      <a:solidFill>
                        <a:srgbClr val="3A2620"/>
                      </a:solidFill>
                    </a:lnR>
                    <a:lnT w="0">
                      <a:noFill/>
                    </a:lnT>
                    <a:lnB w="9525">
                      <a:solidFill>
                        <a:srgbClr val="5A3A2E"/>
                      </a:solidFill>
                    </a:lnB>
                    <a:noFill/>
                  </a:tcPr>
                </a:tc>
              </a:tr>
            </a:tbl>
          </a:graphicData>
        </a:graphic>
      </p:graphicFrame>
      <p:sp>
        <p:nvSpPr>
          <p:cNvPr id="161" name="gal 161"/>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Phases: P0 = POC (slide 15) · P1 = real-time lane · P2 = batch alternative · P3 = hardening. Owners are role types, not named teams. All items PROPOSED.</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40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13–14 (4 of 8):</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315968"/>
          </a:xfrm>
          <a:prstGeom prst="roundRect">
            <a:avLst>
              <a:gd name="adj" fmla="val 4000"/>
            </a:avLst>
          </a:prstGeom>
          <a:solidFill>
            <a:srgbClr val="2A1A16"/>
          </a:solidFill>
          <a:ln w="9525">
            <a:solidFill>
              <a:srgbClr val="D9B48A"/>
            </a:solidFill>
          </a:ln>
        </p:spPr>
        <p:txBody>
          <a:bodyPr wrap="square" lIns="146304" tIns="91440" rIns="128016" bIns="54864" rtlCol="0" anchor="t">
            <a:noAutofit/>
          </a:bodyPr>
          <a:lstStyle/>
          <a:p>
            <a:pPr algn="l" marL="0" indent="0">
              <a:lnSpc>
                <a:spcPct val="100000"/>
              </a:lnSpc>
              <a:buNone/>
            </a:pPr>
            <a:r>
              <a:rPr lang="en-US" sz="950" b="1" dirty="0">
                <a:solidFill>
                  <a:srgbClr val="F5B700"/>
                </a:solidFill>
                <a:latin typeface="Arial"/>
                <a:ea typeface="Arial"/>
                <a:cs typeface="Arial"/>
              </a:rPr>
              <a:t>[70]  </a:t>
            </a:r>
            <a:r>
              <a:rPr lang="en-US" sz="950" b="1" dirty="0" u="sng">
                <a:solidFill>
                  <a:srgbClr val="FFFFFF"/>
                </a:solidFill>
                <a:latin typeface="Arial"/>
                <a:ea typeface="Arial"/>
                <a:cs typeface="Arial"/>
                <a:hlinkClick r:id="rIdL1"/>
              </a:rPr>
              <a:t>Apache Beam overview: unified batch + streaming model</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
              </a:rPr>
              <a:t>beam.apache.org/get-started/beam-overview</a:t>
            </a:r>
          </a:p>
          <a:p>
            <a:pPr algn="l" marL="0" indent="0">
              <a:lnSpc>
                <a:spcPct val="100000"/>
              </a:lnSpc>
              <a:buNone/>
            </a:pPr>
            <a:r>
              <a:rPr lang="en-US" sz="950" b="1" dirty="0">
                <a:solidFill>
                  <a:srgbClr val="F5B700"/>
                </a:solidFill>
                <a:latin typeface="Arial"/>
                <a:ea typeface="Arial"/>
                <a:cs typeface="Arial"/>
              </a:rPr>
              <a:t>[71]  </a:t>
            </a:r>
            <a:r>
              <a:rPr lang="en-US" sz="950" b="1" dirty="0" u="sng">
                <a:solidFill>
                  <a:srgbClr val="FFFFFF"/>
                </a:solidFill>
                <a:latin typeface="Arial"/>
                <a:ea typeface="Arial"/>
                <a:cs typeface="Arial"/>
                <a:hlinkClick r:id="rIdL3"/>
              </a:rPr>
              <a:t>Dataflow: streaming pipelines (session windows)</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4"/>
              </a:rPr>
              <a:t>docs.cloud.google.com/dataflow/docs/concepts/streaming-pipelines</a:t>
            </a:r>
          </a:p>
          <a:p>
            <a:pPr algn="l" marL="0" indent="0">
              <a:lnSpc>
                <a:spcPct val="100000"/>
              </a:lnSpc>
              <a:buNone/>
            </a:pPr>
            <a:r>
              <a:rPr lang="en-US" sz="950" b="1" dirty="0">
                <a:solidFill>
                  <a:srgbClr val="F5B700"/>
                </a:solidFill>
                <a:latin typeface="Arial"/>
                <a:ea typeface="Arial"/>
                <a:cs typeface="Arial"/>
              </a:rPr>
              <a:t>[72]  </a:t>
            </a:r>
            <a:r>
              <a:rPr lang="en-US" sz="950" b="1" dirty="0" u="sng">
                <a:solidFill>
                  <a:srgbClr val="FFFFFF"/>
                </a:solidFill>
                <a:latin typeface="Arial"/>
                <a:ea typeface="Arial"/>
                <a:cs typeface="Arial"/>
                <a:hlinkClick r:id="rIdL5"/>
              </a:rPr>
              <a:t>Beam programming guide: windowing, state and timers</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6"/>
              </a:rPr>
              <a:t>beam.apache.org/documentation/programming-guide</a:t>
            </a:r>
          </a:p>
          <a:p>
            <a:pPr algn="l" marL="0" indent="0">
              <a:lnSpc>
                <a:spcPct val="100000"/>
              </a:lnSpc>
              <a:buNone/>
            </a:pPr>
            <a:r>
              <a:rPr lang="en-US" sz="950" b="1" dirty="0">
                <a:solidFill>
                  <a:srgbClr val="F5B700"/>
                </a:solidFill>
                <a:latin typeface="Arial"/>
                <a:ea typeface="Arial"/>
                <a:cs typeface="Arial"/>
              </a:rPr>
              <a:t>[73]  </a:t>
            </a:r>
            <a:r>
              <a:rPr lang="en-US" sz="950" b="1" dirty="0" u="sng">
                <a:solidFill>
                  <a:srgbClr val="FFFFFF"/>
                </a:solidFill>
                <a:latin typeface="Arial"/>
                <a:ea typeface="Arial"/>
                <a:cs typeface="Arial"/>
                <a:hlinkClick r:id="rIdL7"/>
              </a:rPr>
              <a:t>Beam blog: stateful processing</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8"/>
              </a:rPr>
              <a:t>beam.apache.org/blog/stateful-processing</a:t>
            </a:r>
          </a:p>
          <a:p>
            <a:pPr algn="l" marL="0" indent="0">
              <a:lnSpc>
                <a:spcPct val="100000"/>
              </a:lnSpc>
              <a:buNone/>
            </a:pPr>
            <a:r>
              <a:rPr lang="en-US" sz="950" b="1" dirty="0">
                <a:solidFill>
                  <a:srgbClr val="F5B700"/>
                </a:solidFill>
                <a:latin typeface="Arial"/>
                <a:ea typeface="Arial"/>
                <a:cs typeface="Arial"/>
              </a:rPr>
              <a:t>[74]  </a:t>
            </a:r>
            <a:r>
              <a:rPr lang="en-US" sz="950" b="1" dirty="0" u="sng">
                <a:solidFill>
                  <a:srgbClr val="FFFFFF"/>
                </a:solidFill>
                <a:latin typeface="Arial"/>
                <a:ea typeface="Arial"/>
                <a:cs typeface="Arial"/>
                <a:hlinkClick r:id="rIdL9"/>
              </a:rPr>
              <a:t>Dataflow: exactly-once processing</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0"/>
              </a:rPr>
              <a:t>docs.cloud.google.com/dataflow/docs/concepts/exactly-once</a:t>
            </a:r>
          </a:p>
          <a:p>
            <a:pPr algn="l" marL="0" indent="0">
              <a:lnSpc>
                <a:spcPct val="100000"/>
              </a:lnSpc>
              <a:buNone/>
            </a:pPr>
            <a:r>
              <a:rPr lang="en-US" sz="950" b="1" dirty="0">
                <a:solidFill>
                  <a:srgbClr val="F5B700"/>
                </a:solidFill>
                <a:latin typeface="Arial"/>
                <a:ea typeface="Arial"/>
                <a:cs typeface="Arial"/>
              </a:rPr>
              <a:t>[75]  </a:t>
            </a:r>
            <a:r>
              <a:rPr lang="en-US" sz="950" b="1" dirty="0" u="sng">
                <a:solidFill>
                  <a:srgbClr val="FFFFFF"/>
                </a:solidFill>
                <a:latin typeface="Arial"/>
                <a:ea typeface="Arial"/>
                <a:cs typeface="Arial"/>
                <a:hlinkClick r:id="rIdL11"/>
              </a:rPr>
              <a:t>Dataflow: write to Apache Iceberg</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2"/>
              </a:rPr>
              <a:t>docs.cloud.google.com/dataflow/docs/guides/write-to-iceberg</a:t>
            </a:r>
          </a:p>
          <a:p>
            <a:pPr algn="l" marL="0" indent="0">
              <a:lnSpc>
                <a:spcPct val="100000"/>
              </a:lnSpc>
              <a:buNone/>
            </a:pPr>
            <a:r>
              <a:rPr lang="en-US" sz="950" b="1" dirty="0">
                <a:solidFill>
                  <a:srgbClr val="F5B700"/>
                </a:solidFill>
                <a:latin typeface="Arial"/>
                <a:ea typeface="Arial"/>
                <a:cs typeface="Arial"/>
              </a:rPr>
              <a:t>[76]  </a:t>
            </a:r>
            <a:r>
              <a:rPr lang="en-US" sz="950" b="1" dirty="0" u="sng">
                <a:solidFill>
                  <a:srgbClr val="FFFFFF"/>
                </a:solidFill>
                <a:latin typeface="Arial"/>
                <a:ea typeface="Arial"/>
                <a:cs typeface="Arial"/>
                <a:hlinkClick r:id="rIdL13"/>
              </a:rPr>
              <a:t>Dataflow ML: Beam RunInference with Vertex AI</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4"/>
              </a:rPr>
              <a:t>docs.cloud.google.com/dataflow/docs/notebooks/run_inference_v…</a:t>
            </a:r>
          </a:p>
        </p:txBody>
      </p:sp>
      <p:sp>
        <p:nvSpPr>
          <p:cNvPr id="159" name="ref 159"/>
          <p:cNvSpPr/>
          <p:nvPr/>
        </p:nvSpPr>
        <p:spPr>
          <a:xfrm>
            <a:off x="6172200" y="2057400"/>
            <a:ext cx="5468112" cy="4315968"/>
          </a:xfrm>
          <a:prstGeom prst="roundRect">
            <a:avLst>
              <a:gd name="adj" fmla="val 4000"/>
            </a:avLst>
          </a:prstGeom>
          <a:solidFill>
            <a:srgbClr val="2A1A16"/>
          </a:solidFill>
          <a:ln w="9525">
            <a:solidFill>
              <a:srgbClr val="D9B48A"/>
            </a:solidFill>
          </a:ln>
        </p:spPr>
        <p:txBody>
          <a:bodyPr wrap="square" lIns="146304" tIns="91440" rIns="128016" bIns="54864" rtlCol="0" anchor="t">
            <a:noAutofit/>
          </a:bodyPr>
          <a:lstStyle/>
          <a:p>
            <a:pPr algn="l" marL="0" indent="0">
              <a:lnSpc>
                <a:spcPct val="100000"/>
              </a:lnSpc>
              <a:buNone/>
            </a:pPr>
            <a:r>
              <a:rPr lang="en-US" sz="950" b="1" dirty="0">
                <a:solidFill>
                  <a:srgbClr val="F5B700"/>
                </a:solidFill>
                <a:latin typeface="Arial"/>
                <a:ea typeface="Arial"/>
                <a:cs typeface="Arial"/>
              </a:rPr>
              <a:t>[77]  </a:t>
            </a:r>
            <a:r>
              <a:rPr lang="en-US" sz="950" b="1" dirty="0" u="sng">
                <a:solidFill>
                  <a:srgbClr val="FFFFFF"/>
                </a:solidFill>
                <a:latin typeface="Arial"/>
                <a:ea typeface="Arial"/>
                <a:cs typeface="Arial"/>
                <a:hlinkClick r:id="rIdL15"/>
              </a:rPr>
              <a:t>Vertex AI: autoscaling online endpoints</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6"/>
              </a:rPr>
              <a:t>docs.cloud.google.com/gemini-enterprise-agent-platform/machin…</a:t>
            </a:r>
          </a:p>
          <a:p>
            <a:pPr algn="l" marL="0" indent="0">
              <a:lnSpc>
                <a:spcPct val="100000"/>
              </a:lnSpc>
              <a:buNone/>
            </a:pPr>
            <a:r>
              <a:rPr lang="en-US" sz="950" b="1" dirty="0">
                <a:solidFill>
                  <a:srgbClr val="F5B700"/>
                </a:solidFill>
                <a:latin typeface="Arial"/>
                <a:ea typeface="Arial"/>
                <a:cs typeface="Arial"/>
              </a:rPr>
              <a:t>[78]  </a:t>
            </a:r>
            <a:r>
              <a:rPr lang="en-US" sz="950" b="1" dirty="0" u="sng">
                <a:solidFill>
                  <a:srgbClr val="FFFFFF"/>
                </a:solidFill>
                <a:latin typeface="Arial"/>
                <a:ea typeface="Arial"/>
                <a:cs typeface="Arial"/>
                <a:hlinkClick r:id="rIdL17"/>
              </a:rPr>
              <a:t>Cloud Composer (Managed Airflow) overview</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8"/>
              </a:rPr>
              <a:t>docs.cloud.google.com/composer/docs/composer-3/composer-overview</a:t>
            </a:r>
          </a:p>
          <a:p>
            <a:pPr algn="l" marL="0" indent="0">
              <a:lnSpc>
                <a:spcPct val="100000"/>
              </a:lnSpc>
              <a:buNone/>
            </a:pPr>
            <a:r>
              <a:rPr lang="en-US" sz="950" b="1" dirty="0">
                <a:solidFill>
                  <a:srgbClr val="F5B700"/>
                </a:solidFill>
                <a:latin typeface="Arial"/>
                <a:ea typeface="Arial"/>
                <a:cs typeface="Arial"/>
              </a:rPr>
              <a:t>[79]  </a:t>
            </a:r>
            <a:r>
              <a:rPr lang="en-US" sz="950" b="1" dirty="0" u="sng">
                <a:solidFill>
                  <a:srgbClr val="FFFFFF"/>
                </a:solidFill>
                <a:latin typeface="Arial"/>
                <a:ea typeface="Arial"/>
                <a:cs typeface="Arial"/>
                <a:hlinkClick r:id="rIdL19"/>
              </a:rPr>
              <a:t>Dataproc Serverless (Managed Spark) overview</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0"/>
              </a:rPr>
              <a:t>docs.cloud.google.com/managed-spark/docs/serverless-overview</a:t>
            </a:r>
          </a:p>
          <a:p>
            <a:pPr algn="l" marL="0" indent="0">
              <a:lnSpc>
                <a:spcPct val="100000"/>
              </a:lnSpc>
              <a:buNone/>
            </a:pPr>
            <a:r>
              <a:rPr lang="en-US" sz="950" b="1" dirty="0">
                <a:solidFill>
                  <a:srgbClr val="F5B700"/>
                </a:solidFill>
                <a:latin typeface="Arial"/>
                <a:ea typeface="Arial"/>
                <a:cs typeface="Arial"/>
              </a:rPr>
              <a:t>[80]  </a:t>
            </a:r>
            <a:r>
              <a:rPr lang="en-US" sz="950" b="1" dirty="0" u="sng">
                <a:solidFill>
                  <a:srgbClr val="FFFFFF"/>
                </a:solidFill>
                <a:latin typeface="Arial"/>
                <a:ea typeface="Arial"/>
                <a:cs typeface="Arial"/>
                <a:hlinkClick r:id="rIdL21"/>
              </a:rPr>
              <a:t>Pub/Sub: replay and purge with seek</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2"/>
              </a:rPr>
              <a:t>docs.cloud.google.com/pubsub/docs/replay-overview</a:t>
            </a:r>
          </a:p>
          <a:p>
            <a:pPr algn="l" marL="0" indent="0">
              <a:lnSpc>
                <a:spcPct val="100000"/>
              </a:lnSpc>
              <a:buNone/>
            </a:pPr>
            <a:r>
              <a:rPr lang="en-US" sz="950" b="1" dirty="0">
                <a:solidFill>
                  <a:srgbClr val="F5B700"/>
                </a:solidFill>
                <a:latin typeface="Arial"/>
                <a:ea typeface="Arial"/>
                <a:cs typeface="Arial"/>
              </a:rPr>
              <a:t>[81]  </a:t>
            </a:r>
            <a:r>
              <a:rPr lang="en-US" sz="950" b="1" dirty="0" u="sng">
                <a:solidFill>
                  <a:srgbClr val="FFFFFF"/>
                </a:solidFill>
                <a:latin typeface="Arial"/>
                <a:ea typeface="Arial"/>
                <a:cs typeface="Arial"/>
                <a:hlinkClick r:id="rIdL23"/>
              </a:rPr>
              <a:t>Dataflow pricing</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4"/>
              </a:rPr>
              <a:t>cloud.google.com/dataflow/pricing</a:t>
            </a:r>
          </a:p>
          <a:p>
            <a:pPr algn="l" marL="0" indent="0">
              <a:lnSpc>
                <a:spcPct val="100000"/>
              </a:lnSpc>
              <a:buNone/>
            </a:pPr>
            <a:r>
              <a:rPr lang="en-US" sz="950" b="1" dirty="0">
                <a:solidFill>
                  <a:srgbClr val="F5B700"/>
                </a:solidFill>
                <a:latin typeface="Arial"/>
                <a:ea typeface="Arial"/>
                <a:cs typeface="Arial"/>
              </a:rPr>
              <a:t>[82]  </a:t>
            </a:r>
            <a:r>
              <a:rPr lang="en-US" sz="950" b="1" dirty="0" u="sng">
                <a:solidFill>
                  <a:srgbClr val="FFFFFF"/>
                </a:solidFill>
                <a:latin typeface="Arial"/>
                <a:ea typeface="Arial"/>
                <a:cs typeface="Arial"/>
                <a:hlinkClick r:id="rIdL25"/>
              </a:rPr>
              <a:t>Managed Spark (Dataproc Serverless) pricing</a:t>
            </a:r>
          </a:p>
          <a:p>
            <a:pPr algn="l" marL="0" indent="0">
              <a:lnSpc>
                <a:spcPct val="100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6"/>
              </a:rPr>
              <a:t>cloud.google.com/products/managed-service-for-apache-spark/pr…</a:t>
            </a:r>
          </a:p>
        </p:txBody>
      </p:sp>
      <p:sp>
        <p:nvSpPr>
          <p:cNvPr id="160" name="gal 160"/>
          <p:cNvSpPr/>
          <p:nvPr/>
        </p:nvSpPr>
        <p:spPr>
          <a:xfrm>
            <a:off x="548640" y="6473952"/>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All links checked 14 Oct 2026 and resolve. Vertex AI batch limits on slide 13 cite [66][67] (References 3 of 5).</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16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Platform gaps  ·  1 of 6</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Today: Pub/Sub → BigQuery,</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and what’s missing</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468880"/>
            <a:ext cx="1600200" cy="73152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50" b="1" dirty="0">
                <a:solidFill>
                  <a:srgbClr val="FFFFFF"/>
                </a:solidFill>
                <a:latin typeface="Arial"/>
                <a:ea typeface="Arial"/>
                <a:cs typeface="Arial"/>
              </a:rPr>
              <a:t>1P agents</a:t>
            </a:r>
          </a:p>
          <a:p>
            <a:pPr algn="l" marL="0" indent="0">
              <a:lnSpc>
                <a:spcPct val="92000"/>
              </a:lnSpc>
              <a:buNone/>
            </a:pPr>
            <a:r>
              <a:rPr lang="en-US" sz="800" dirty="0">
                <a:solidFill>
                  <a:srgbClr val="F3E6D6"/>
                </a:solidFill>
                <a:latin typeface="Arial"/>
                <a:ea typeface="Arial"/>
                <a:cs typeface="Arial"/>
              </a:rPr>
              <a:t>Kairos SDK / gateway publishers</a:t>
            </a:r>
          </a:p>
        </p:txBody>
      </p:sp>
      <p:sp>
        <p:nvSpPr>
          <p:cNvPr id="162" name="gal 162"/>
          <p:cNvSpPr/>
          <p:nvPr/>
        </p:nvSpPr>
        <p:spPr>
          <a:xfrm>
            <a:off x="548640" y="3337560"/>
            <a:ext cx="1600200" cy="73152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50" b="1" dirty="0">
                <a:solidFill>
                  <a:srgbClr val="FFFFFF"/>
                </a:solidFill>
                <a:latin typeface="Arial"/>
                <a:ea typeface="Arial"/>
                <a:cs typeface="Arial"/>
              </a:rPr>
              <a:t>3P publishers</a:t>
            </a:r>
          </a:p>
          <a:p>
            <a:pPr algn="l" marL="0" indent="0">
              <a:lnSpc>
                <a:spcPct val="92000"/>
              </a:lnSpc>
              <a:buNone/>
            </a:pPr>
            <a:r>
              <a:rPr lang="en-US" sz="800" dirty="0">
                <a:solidFill>
                  <a:srgbClr val="F3E6D6"/>
                </a:solidFill>
                <a:latin typeface="Arial"/>
                <a:ea typeface="Arial"/>
                <a:cs typeface="Arial"/>
              </a:rPr>
              <a:t>vendor-built agents, where they export</a:t>
            </a:r>
          </a:p>
        </p:txBody>
      </p:sp>
      <p:cxnSp>
        <p:nvCxnSpPr>
          <p:cNvPr id="163" name="g2 flow 163"/>
          <p:cNvCxnSpPr/>
          <p:nvPr/>
        </p:nvCxnSpPr>
        <p:spPr>
          <a:xfrm>
            <a:off x="2148840" y="2834640"/>
            <a:ext cx="118872" cy="0"/>
          </a:xfrm>
          <a:prstGeom prst="line">
            <a:avLst/>
          </a:prstGeom>
          <a:ln w="15875">
            <a:solidFill>
              <a:srgbClr val="EE0000"/>
            </a:solidFill>
          </a:ln>
        </p:spPr>
      </p:cxnSp>
      <p:cxnSp>
        <p:nvCxnSpPr>
          <p:cNvPr id="164" name="g2 flow 164"/>
          <p:cNvCxnSpPr/>
          <p:nvPr/>
        </p:nvCxnSpPr>
        <p:spPr>
          <a:xfrm>
            <a:off x="2148840" y="3703320"/>
            <a:ext cx="118872" cy="0"/>
          </a:xfrm>
          <a:prstGeom prst="line">
            <a:avLst/>
          </a:prstGeom>
          <a:ln w="15875">
            <a:solidFill>
              <a:srgbClr val="EE0000"/>
            </a:solidFill>
          </a:ln>
        </p:spPr>
      </p:cxnSp>
      <p:cxnSp>
        <p:nvCxnSpPr>
          <p:cNvPr id="165" name="g2 flow 165"/>
          <p:cNvCxnSpPr/>
          <p:nvPr/>
        </p:nvCxnSpPr>
        <p:spPr>
          <a:xfrm>
            <a:off x="2267712" y="2834640"/>
            <a:ext cx="0" cy="868680"/>
          </a:xfrm>
          <a:prstGeom prst="line">
            <a:avLst/>
          </a:prstGeom>
          <a:ln w="15875">
            <a:solidFill>
              <a:srgbClr val="EE0000"/>
            </a:solidFill>
          </a:ln>
        </p:spPr>
      </p:cxnSp>
      <p:cxnSp>
        <p:nvCxnSpPr>
          <p:cNvPr id="166" name="g2 flow 166"/>
          <p:cNvCxnSpPr/>
          <p:nvPr/>
        </p:nvCxnSpPr>
        <p:spPr>
          <a:xfrm>
            <a:off x="2267712" y="3268980"/>
            <a:ext cx="109728" cy="0"/>
          </a:xfrm>
          <a:prstGeom prst="line">
            <a:avLst/>
          </a:prstGeom>
          <a:ln w="15875">
            <a:solidFill>
              <a:srgbClr val="EE0000"/>
            </a:solidFill>
            <a:tailEnd type="triangle" w="med" len="med"/>
          </a:ln>
        </p:spPr>
      </p:cxnSp>
      <p:sp>
        <p:nvSpPr>
          <p:cNvPr id="167" name="gal 167"/>
          <p:cNvSpPr/>
          <p:nvPr/>
        </p:nvSpPr>
        <p:spPr>
          <a:xfrm>
            <a:off x="2377440" y="2468880"/>
            <a:ext cx="1554480" cy="160020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50" b="1" dirty="0">
                <a:solidFill>
                  <a:srgbClr val="FFFFFF"/>
                </a:solidFill>
                <a:latin typeface="Arial"/>
                <a:ea typeface="Arial"/>
                <a:cs typeface="Arial"/>
              </a:rPr>
              <a:t>Pub/Sub topics</a:t>
            </a:r>
          </a:p>
          <a:p>
            <a:pPr algn="l" marL="0" indent="0">
              <a:lnSpc>
                <a:spcPct val="92000"/>
              </a:lnSpc>
              <a:buNone/>
            </a:pPr>
            <a:r>
              <a:rPr lang="en-US" sz="800" dirty="0">
                <a:solidFill>
                  <a:srgbClr val="F3E6D6"/>
                </a:solidFill>
                <a:latin typeface="Arial"/>
                <a:ea typeface="Arial"/>
                <a:cs typeface="Arial"/>
              </a:rPr>
              <a:t>each subscription gets its own copy of every message; at-least-once delivery [92]</a:t>
            </a:r>
          </a:p>
        </p:txBody>
      </p:sp>
      <p:cxnSp>
        <p:nvCxnSpPr>
          <p:cNvPr id="168" name="g2 flow 168"/>
          <p:cNvCxnSpPr/>
          <p:nvPr/>
        </p:nvCxnSpPr>
        <p:spPr>
          <a:xfrm>
            <a:off x="3931920" y="2788920"/>
            <a:ext cx="228600" cy="0"/>
          </a:xfrm>
          <a:prstGeom prst="line">
            <a:avLst/>
          </a:prstGeom>
          <a:ln w="15875">
            <a:solidFill>
              <a:srgbClr val="EE0000"/>
            </a:solidFill>
            <a:tailEnd type="triangle" w="med" len="med"/>
          </a:ln>
        </p:spPr>
      </p:cxnSp>
      <p:sp>
        <p:nvSpPr>
          <p:cNvPr id="169" name="gal 169"/>
          <p:cNvSpPr/>
          <p:nvPr/>
        </p:nvSpPr>
        <p:spPr>
          <a:xfrm>
            <a:off x="4160520" y="2423160"/>
            <a:ext cx="1828800" cy="73152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50" b="1" dirty="0">
                <a:solidFill>
                  <a:srgbClr val="FFFFFF"/>
                </a:solidFill>
                <a:latin typeface="Arial"/>
                <a:ea typeface="Arial"/>
                <a:cs typeface="Arial"/>
              </a:rPr>
              <a:t>BigQuery subscription</a:t>
            </a:r>
          </a:p>
          <a:p>
            <a:pPr algn="l" marL="0" indent="0">
              <a:lnSpc>
                <a:spcPct val="92000"/>
              </a:lnSpc>
              <a:buNone/>
            </a:pPr>
            <a:r>
              <a:rPr lang="en-US" sz="800" dirty="0">
                <a:solidFill>
                  <a:srgbClr val="F3E6D6"/>
                </a:solidFill>
                <a:latin typeface="Arial"/>
                <a:ea typeface="Arial"/>
                <a:cs typeface="Arial"/>
              </a:rPr>
              <a:t>writes messages straight into BigQuery tables [93]</a:t>
            </a:r>
          </a:p>
        </p:txBody>
      </p:sp>
      <p:cxnSp>
        <p:nvCxnSpPr>
          <p:cNvPr id="170" name="g2 flow 170"/>
          <p:cNvCxnSpPr/>
          <p:nvPr/>
        </p:nvCxnSpPr>
        <p:spPr>
          <a:xfrm>
            <a:off x="5989320" y="2788920"/>
            <a:ext cx="228600" cy="0"/>
          </a:xfrm>
          <a:prstGeom prst="line">
            <a:avLst/>
          </a:prstGeom>
          <a:ln w="15875">
            <a:solidFill>
              <a:srgbClr val="EE0000"/>
            </a:solidFill>
            <a:tailEnd type="triangle" w="med" len="med"/>
          </a:ln>
        </p:spPr>
      </p:cxnSp>
      <p:sp>
        <p:nvSpPr>
          <p:cNvPr id="171" name="gal 171"/>
          <p:cNvSpPr/>
          <p:nvPr/>
        </p:nvSpPr>
        <p:spPr>
          <a:xfrm>
            <a:off x="6217920" y="2423160"/>
            <a:ext cx="1737360" cy="73152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50" b="1" dirty="0">
                <a:solidFill>
                  <a:srgbClr val="FFFFFF"/>
                </a:solidFill>
                <a:latin typeface="Arial"/>
                <a:ea typeface="Arial"/>
                <a:cs typeface="Arial"/>
              </a:rPr>
              <a:t>BigQuery tables</a:t>
            </a:r>
          </a:p>
          <a:p>
            <a:pPr algn="l" marL="0" indent="0">
              <a:lnSpc>
                <a:spcPct val="92000"/>
              </a:lnSpc>
              <a:buNone/>
            </a:pPr>
            <a:r>
              <a:rPr lang="en-US" sz="800" dirty="0">
                <a:solidFill>
                  <a:srgbClr val="F3E6D6"/>
                </a:solidFill>
                <a:latin typeface="Arial"/>
                <a:ea typeface="Arial"/>
                <a:cs typeface="Arial"/>
              </a:rPr>
              <a:t>raw spans; SQL analysis</a:t>
            </a:r>
          </a:p>
        </p:txBody>
      </p:sp>
      <p:cxnSp>
        <p:nvCxnSpPr>
          <p:cNvPr id="172" name="g2 flow 172"/>
          <p:cNvCxnSpPr/>
          <p:nvPr/>
        </p:nvCxnSpPr>
        <p:spPr>
          <a:xfrm>
            <a:off x="7955280" y="2788920"/>
            <a:ext cx="228600" cy="0"/>
          </a:xfrm>
          <a:prstGeom prst="line">
            <a:avLst/>
          </a:prstGeom>
          <a:ln w="15875">
            <a:solidFill>
              <a:srgbClr val="EE0000"/>
            </a:solidFill>
            <a:prstDash val="dash"/>
            <a:tailEnd type="triangle" w="med" len="med"/>
          </a:ln>
        </p:spPr>
      </p:cxnSp>
      <p:sp>
        <p:nvSpPr>
          <p:cNvPr id="173" name="gal 173"/>
          <p:cNvSpPr/>
          <p:nvPr/>
        </p:nvSpPr>
        <p:spPr>
          <a:xfrm>
            <a:off x="8183880" y="2423160"/>
            <a:ext cx="3456432" cy="731520"/>
          </a:xfrm>
          <a:prstGeom prst="roundRect">
            <a:avLst>
              <a:gd name="adj" fmla="val 10000"/>
            </a:avLst>
          </a:prstGeom>
          <a:solidFill>
            <a:srgbClr val="F5B700"/>
          </a:solidFill>
          <a:ln>
            <a:noFill/>
          </a:ln>
        </p:spPr>
        <p:txBody>
          <a:bodyPr wrap="square" lIns="82296" tIns="36576" rIns="64008" bIns="36576" rtlCol="0" anchor="ctr">
            <a:noAutofit/>
          </a:bodyPr>
          <a:lstStyle/>
          <a:p>
            <a:pPr algn="l" marL="0" indent="0">
              <a:lnSpc>
                <a:spcPct val="92000"/>
              </a:lnSpc>
              <a:buNone/>
            </a:pPr>
            <a:r>
              <a:rPr lang="en-US" sz="950" b="1" dirty="0">
                <a:solidFill>
                  <a:srgbClr val="141010"/>
                </a:solidFill>
                <a:latin typeface="Arial"/>
                <a:ea typeface="Arial"/>
                <a:cs typeface="Arial"/>
              </a:rPr>
              <a:t>Stops here today</a:t>
            </a:r>
          </a:p>
          <a:p>
            <a:pPr algn="l" marL="0" indent="0">
              <a:lnSpc>
                <a:spcPct val="92000"/>
              </a:lnSpc>
              <a:buNone/>
            </a:pPr>
            <a:r>
              <a:rPr lang="en-US" sz="800" dirty="0">
                <a:solidFill>
                  <a:srgbClr val="141010"/>
                </a:solidFill>
                <a:latin typeface="Arial"/>
                <a:ea typeface="Arial"/>
                <a:cs typeface="Arial"/>
              </a:rPr>
              <a:t>no session stitch, no eval scores, no trace UI on this path</a:t>
            </a:r>
          </a:p>
        </p:txBody>
      </p:sp>
      <p:cxnSp>
        <p:nvCxnSpPr>
          <p:cNvPr id="174" name="g2 flow 174"/>
          <p:cNvCxnSpPr/>
          <p:nvPr/>
        </p:nvCxnSpPr>
        <p:spPr>
          <a:xfrm>
            <a:off x="3931920" y="3835908"/>
            <a:ext cx="228600" cy="0"/>
          </a:xfrm>
          <a:prstGeom prst="line">
            <a:avLst/>
          </a:prstGeom>
          <a:ln w="15875">
            <a:solidFill>
              <a:srgbClr val="EE0000"/>
            </a:solidFill>
            <a:tailEnd type="triangle" w="med" len="med"/>
          </a:ln>
        </p:spPr>
      </p:cxnSp>
      <p:sp>
        <p:nvSpPr>
          <p:cNvPr id="175" name="gal 175"/>
          <p:cNvSpPr/>
          <p:nvPr/>
        </p:nvSpPr>
        <p:spPr>
          <a:xfrm>
            <a:off x="4160520" y="3401568"/>
            <a:ext cx="1828800" cy="8686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New pull subscription</a:t>
            </a:r>
          </a:p>
          <a:p>
            <a:pPr algn="l" marL="0" indent="0">
              <a:lnSpc>
                <a:spcPct val="92000"/>
              </a:lnSpc>
              <a:buNone/>
            </a:pPr>
            <a:r>
              <a:rPr lang="en-US" sz="800" dirty="0">
                <a:solidFill>
                  <a:srgbClr val="F3E6D6"/>
                </a:solidFill>
                <a:latin typeface="Arial"/>
                <a:ea typeface="Arial"/>
                <a:cs typeface="Arial"/>
              </a:rPr>
              <a:t>sub-ceval-*, next to the BigQuery sink (untouched); gets messages published after it is created [92]</a:t>
            </a:r>
          </a:p>
        </p:txBody>
      </p:sp>
      <p:sp>
        <p:nvSpPr>
          <p:cNvPr id="176" name="gal 176"/>
          <p:cNvSpPr/>
          <p:nvPr/>
        </p:nvSpPr>
        <p:spPr>
          <a:xfrm>
            <a:off x="5513832" y="3255264"/>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GAP</a:t>
            </a:r>
          </a:p>
        </p:txBody>
      </p:sp>
      <p:sp>
        <p:nvSpPr>
          <p:cNvPr id="177" name="gal 177"/>
          <p:cNvSpPr/>
          <p:nvPr/>
        </p:nvSpPr>
        <p:spPr>
          <a:xfrm>
            <a:off x="6217920" y="3401568"/>
            <a:ext cx="1280160" cy="8686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Dedupe</a:t>
            </a:r>
          </a:p>
          <a:p>
            <a:pPr algn="l" marL="0" indent="0">
              <a:lnSpc>
                <a:spcPct val="92000"/>
              </a:lnSpc>
              <a:buNone/>
            </a:pPr>
            <a:r>
              <a:rPr lang="en-US" sz="800" dirty="0">
                <a:solidFill>
                  <a:srgbClr val="F3E6D6"/>
                </a:solidFill>
                <a:latin typeface="Arial"/>
                <a:ea typeface="Arial"/>
                <a:cs typeface="Arial"/>
              </a:rPr>
              <a:t>on span_id (delivery is at-least-once) [92][93]</a:t>
            </a:r>
          </a:p>
        </p:txBody>
      </p:sp>
      <p:sp>
        <p:nvSpPr>
          <p:cNvPr id="178" name="gal 178"/>
          <p:cNvSpPr/>
          <p:nvPr/>
        </p:nvSpPr>
        <p:spPr>
          <a:xfrm>
            <a:off x="7022592" y="3255264"/>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GAP</a:t>
            </a:r>
          </a:p>
        </p:txBody>
      </p:sp>
      <p:sp>
        <p:nvSpPr>
          <p:cNvPr id="179" name="gal 179"/>
          <p:cNvSpPr/>
          <p:nvPr/>
        </p:nvSpPr>
        <p:spPr>
          <a:xfrm>
            <a:off x="7726680" y="3401568"/>
            <a:ext cx="1280160" cy="8686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Dead-letter topic</a:t>
            </a:r>
          </a:p>
          <a:p>
            <a:pPr algn="l" marL="0" indent="0">
              <a:lnSpc>
                <a:spcPct val="92000"/>
              </a:lnSpc>
              <a:buNone/>
            </a:pPr>
            <a:r>
              <a:rPr lang="en-US" sz="800" dirty="0">
                <a:solidFill>
                  <a:srgbClr val="F3E6D6"/>
                </a:solidFill>
                <a:latin typeface="Arial"/>
                <a:ea typeface="Arial"/>
                <a:cs typeface="Arial"/>
              </a:rPr>
              <a:t>max delivery attempts [94]</a:t>
            </a:r>
          </a:p>
        </p:txBody>
      </p:sp>
      <p:sp>
        <p:nvSpPr>
          <p:cNvPr id="180" name="gal 180"/>
          <p:cNvSpPr/>
          <p:nvPr/>
        </p:nvSpPr>
        <p:spPr>
          <a:xfrm>
            <a:off x="8531352" y="3255264"/>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GAP</a:t>
            </a:r>
          </a:p>
        </p:txBody>
      </p:sp>
      <p:sp>
        <p:nvSpPr>
          <p:cNvPr id="181" name="gal 181"/>
          <p:cNvSpPr/>
          <p:nvPr/>
        </p:nvSpPr>
        <p:spPr>
          <a:xfrm>
            <a:off x="9235440" y="3401568"/>
            <a:ext cx="1280160" cy="8686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Replay</a:t>
            </a:r>
          </a:p>
          <a:p>
            <a:pPr algn="l" marL="0" indent="0">
              <a:lnSpc>
                <a:spcPct val="92000"/>
              </a:lnSpc>
              <a:buNone/>
            </a:pPr>
            <a:r>
              <a:rPr lang="en-US" sz="800" dirty="0">
                <a:solidFill>
                  <a:srgbClr val="F3E6D6"/>
                </a:solidFill>
                <a:latin typeface="Arial"/>
                <a:ea typeface="Arial"/>
                <a:cs typeface="Arial"/>
              </a:rPr>
              <a:t>topic retention + seek to time or snapshot [80]</a:t>
            </a:r>
          </a:p>
        </p:txBody>
      </p:sp>
      <p:sp>
        <p:nvSpPr>
          <p:cNvPr id="182" name="gal 182"/>
          <p:cNvSpPr/>
          <p:nvPr/>
        </p:nvSpPr>
        <p:spPr>
          <a:xfrm>
            <a:off x="10040112" y="3255264"/>
            <a:ext cx="384048" cy="201168"/>
          </a:xfrm>
          <a:prstGeom prst="roundRect">
            <a:avLst>
              <a:gd name="adj" fmla="val 30000"/>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GAP</a:t>
            </a:r>
          </a:p>
        </p:txBody>
      </p:sp>
      <p:cxnSp>
        <p:nvCxnSpPr>
          <p:cNvPr id="183" name="g2 flow 183"/>
          <p:cNvCxnSpPr/>
          <p:nvPr/>
        </p:nvCxnSpPr>
        <p:spPr>
          <a:xfrm>
            <a:off x="5989320" y="3835908"/>
            <a:ext cx="228600" cy="0"/>
          </a:xfrm>
          <a:prstGeom prst="line">
            <a:avLst/>
          </a:prstGeom>
          <a:ln w="15875">
            <a:solidFill>
              <a:srgbClr val="EE0000"/>
            </a:solidFill>
            <a:tailEnd type="triangle" w="med" len="med"/>
          </a:ln>
        </p:spPr>
      </p:cxnSp>
      <p:cxnSp>
        <p:nvCxnSpPr>
          <p:cNvPr id="184" name="g2 flow 184"/>
          <p:cNvCxnSpPr/>
          <p:nvPr/>
        </p:nvCxnSpPr>
        <p:spPr>
          <a:xfrm>
            <a:off x="7498080" y="3835908"/>
            <a:ext cx="228600" cy="0"/>
          </a:xfrm>
          <a:prstGeom prst="line">
            <a:avLst/>
          </a:prstGeom>
          <a:ln w="15875">
            <a:solidFill>
              <a:srgbClr val="EE0000"/>
            </a:solidFill>
            <a:tailEnd type="triangle" w="med" len="med"/>
          </a:ln>
        </p:spPr>
      </p:cxnSp>
      <p:cxnSp>
        <p:nvCxnSpPr>
          <p:cNvPr id="185" name="g2 flow 185"/>
          <p:cNvCxnSpPr/>
          <p:nvPr/>
        </p:nvCxnSpPr>
        <p:spPr>
          <a:xfrm>
            <a:off x="9006840" y="3835908"/>
            <a:ext cx="228600" cy="0"/>
          </a:xfrm>
          <a:prstGeom prst="line">
            <a:avLst/>
          </a:prstGeom>
          <a:ln w="15875">
            <a:solidFill>
              <a:srgbClr val="EE0000"/>
            </a:solidFill>
            <a:tailEnd type="triangle" w="med" len="med"/>
          </a:ln>
        </p:spPr>
      </p:cxnSp>
      <p:cxnSp>
        <p:nvCxnSpPr>
          <p:cNvPr id="186" name="g2 flow 186"/>
          <p:cNvCxnSpPr/>
          <p:nvPr/>
        </p:nvCxnSpPr>
        <p:spPr>
          <a:xfrm>
            <a:off x="10515600" y="3835908"/>
            <a:ext cx="228600" cy="0"/>
          </a:xfrm>
          <a:prstGeom prst="line">
            <a:avLst/>
          </a:prstGeom>
          <a:ln w="15875">
            <a:solidFill>
              <a:srgbClr val="EE0000"/>
            </a:solidFill>
            <a:tailEnd type="triangle" w="med" len="med"/>
          </a:ln>
        </p:spPr>
      </p:cxnSp>
      <p:sp>
        <p:nvSpPr>
          <p:cNvPr id="187" name="gal 187"/>
          <p:cNvSpPr/>
          <p:nvPr/>
        </p:nvSpPr>
        <p:spPr>
          <a:xfrm>
            <a:off x="10744200" y="3401568"/>
            <a:ext cx="896112" cy="8686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Lanes</a:t>
            </a:r>
          </a:p>
          <a:p>
            <a:pPr algn="l" marL="0" indent="0">
              <a:lnSpc>
                <a:spcPct val="92000"/>
              </a:lnSpc>
              <a:buNone/>
            </a:pPr>
            <a:r>
              <a:rPr lang="en-US" sz="800" dirty="0">
                <a:solidFill>
                  <a:srgbClr val="F3E6D6"/>
                </a:solidFill>
                <a:latin typeface="Arial"/>
                <a:ea typeface="Arial"/>
                <a:cs typeface="Arial"/>
              </a:rPr>
              <a:t>rt / batch, slide 19</a:t>
            </a:r>
          </a:p>
        </p:txBody>
      </p:sp>
      <p:sp>
        <p:nvSpPr>
          <p:cNvPr id="188" name="gal 188"/>
          <p:cNvSpPr/>
          <p:nvPr/>
        </p:nvSpPr>
        <p:spPr>
          <a:xfrm>
            <a:off x="4160520" y="4334256"/>
            <a:ext cx="7479792" cy="274320"/>
          </a:xfrm>
          <a:prstGeom prst="rect">
            <a:avLst/>
          </a:prstGeom>
          <a:noFill/>
          <a:ln>
            <a:noFill/>
          </a:ln>
        </p:spPr>
        <p:txBody>
          <a:bodyPr wrap="square" lIns="0" tIns="0" rIns="0" bIns="0" rtlCol="0" anchor="t">
            <a:noAutofit/>
          </a:bodyPr>
          <a:lstStyle/>
          <a:p>
            <a:pPr algn="l" marL="0" indent="0">
              <a:lnSpc>
                <a:spcPct val="92000"/>
              </a:lnSpc>
              <a:buNone/>
            </a:pPr>
            <a:r>
              <a:rPr lang="en-US" sz="800" dirty="0">
                <a:solidFill>
                  <a:srgbClr val="D9B48A"/>
                </a:solidFill>
                <a:latin typeface="Arial"/>
                <a:ea typeface="Arial"/>
                <a:cs typeface="Arial"/>
              </a:rPr>
              <a:t>Ordering: ordering_key = session_id works only if we own the publishers, and only within one region [92]; otherwise stitch sessions downstream (slide 13).</a:t>
            </a:r>
          </a:p>
        </p:txBody>
      </p:sp>
      <p:sp>
        <p:nvSpPr>
          <p:cNvPr id="189" name="gal 189"/>
          <p:cNvSpPr/>
          <p:nvPr/>
        </p:nvSpPr>
        <p:spPr>
          <a:xfrm>
            <a:off x="548640" y="4663440"/>
            <a:ext cx="6583680" cy="1600200"/>
          </a:xfrm>
          <a:prstGeom prst="roundRect">
            <a:avLst>
              <a:gd name="adj" fmla="val 10000"/>
            </a:avLst>
          </a:prstGeom>
          <a:solidFill>
            <a:srgbClr val="1E1412"/>
          </a:solidFill>
          <a:ln w="12700">
            <a:solidFill>
              <a:srgbClr val="D9B48A"/>
            </a:solidFill>
            <a:prstDash val="dash"/>
          </a:ln>
        </p:spPr>
        <p:txBody>
          <a:bodyPr wrap="square" lIns="128016" tIns="73152" rIns="91440" bIns="45720" rtlCol="0" anchor="t">
            <a:noAutofit/>
          </a:bodyPr>
          <a:lstStyle/>
          <a:p>
            <a:pPr algn="l" marL="0" indent="0">
              <a:lnSpc>
                <a:spcPct val="105000"/>
              </a:lnSpc>
              <a:buNone/>
            </a:pPr>
            <a:r>
              <a:rPr lang="en-US" sz="1000" b="1" dirty="0">
                <a:solidFill>
                  <a:srgbClr val="F5B700"/>
                </a:solidFill>
                <a:latin typeface="Arial"/>
                <a:ea typeface="Arial"/>
                <a:cs typeface="Arial"/>
              </a:rPr>
              <a:t>What’s missing</a:t>
            </a:r>
            <a:r>
              <a:rPr lang="en-US" sz="800" b="1" dirty="0">
                <a:solidFill>
                  <a:srgbClr val="D9B48A"/>
                </a:solidFill>
                <a:latin typeface="Arial"/>
                <a:ea typeface="Arial"/>
                <a:cs typeface="Arial"/>
              </a:rPr>
              <a:t>   each is a GAP on this slide</a:t>
            </a:r>
          </a:p>
          <a:p>
            <a:pPr algn="l" marL="0" indent="0">
              <a:lnSpc>
                <a:spcPct val="105000"/>
              </a:lnSpc>
              <a:buNone/>
            </a:pPr>
            <a:r>
              <a:rPr lang="en-US" sz="800" b="1" dirty="0">
                <a:solidFill>
                  <a:srgbClr val="F5B700"/>
                </a:solidFill>
                <a:latin typeface="Arial"/>
                <a:ea typeface="Arial"/>
                <a:cs typeface="Arial"/>
              </a:rPr>
              <a:t>GAP  </a:t>
            </a:r>
            <a:r>
              <a:rPr lang="en-US" sz="900" dirty="0">
                <a:solidFill>
                  <a:srgbClr val="F3E6D6"/>
                </a:solidFill>
                <a:latin typeface="Arial"/>
                <a:ea typeface="Arial"/>
                <a:cs typeface="Arial"/>
              </a:rPr>
              <a:t>No consumer of our own: only the BigQuery sink reads the topics</a:t>
            </a:r>
          </a:p>
          <a:p>
            <a:pPr algn="l" marL="0" indent="0">
              <a:lnSpc>
                <a:spcPct val="105000"/>
              </a:lnSpc>
              <a:buNone/>
            </a:pPr>
            <a:r>
              <a:rPr lang="en-US" sz="800" b="1" dirty="0">
                <a:solidFill>
                  <a:srgbClr val="F5B700"/>
                </a:solidFill>
                <a:latin typeface="Arial"/>
                <a:ea typeface="Arial"/>
                <a:cs typeface="Arial"/>
              </a:rPr>
              <a:t>GAP  </a:t>
            </a:r>
            <a:r>
              <a:rPr lang="en-US" sz="900" dirty="0">
                <a:solidFill>
                  <a:srgbClr val="F3E6D6"/>
                </a:solidFill>
                <a:latin typeface="Arial"/>
                <a:ea typeface="Arial"/>
                <a:cs typeface="Arial"/>
              </a:rPr>
              <a:t>No dedupe, ordering or dead-letter contract for an eval consumer</a:t>
            </a:r>
          </a:p>
          <a:p>
            <a:pPr algn="l" marL="0" indent="0">
              <a:lnSpc>
                <a:spcPct val="105000"/>
              </a:lnSpc>
              <a:buNone/>
            </a:pPr>
            <a:r>
              <a:rPr lang="en-US" sz="800" b="1" dirty="0">
                <a:solidFill>
                  <a:srgbClr val="F5B700"/>
                </a:solidFill>
                <a:latin typeface="Arial"/>
                <a:ea typeface="Arial"/>
                <a:cs typeface="Arial"/>
              </a:rPr>
              <a:t>GAP  </a:t>
            </a:r>
            <a:r>
              <a:rPr lang="en-US" sz="900" dirty="0">
                <a:solidFill>
                  <a:srgbClr val="F3E6D6"/>
                </a:solidFill>
                <a:latin typeface="Arial"/>
                <a:ea typeface="Arial"/>
                <a:cs typeface="Arial"/>
              </a:rPr>
              <a:t>No replay / backfill path (topic retention not confirmed)</a:t>
            </a:r>
          </a:p>
          <a:p>
            <a:pPr algn="l" marL="0" indent="0">
              <a:lnSpc>
                <a:spcPct val="105000"/>
              </a:lnSpc>
              <a:buNone/>
            </a:pPr>
            <a:r>
              <a:rPr lang="en-US" sz="800" b="1" dirty="0">
                <a:solidFill>
                  <a:srgbClr val="F5B700"/>
                </a:solidFill>
                <a:latin typeface="Arial"/>
                <a:ea typeface="Arial"/>
                <a:cs typeface="Arial"/>
              </a:rPr>
              <a:t>GAP  </a:t>
            </a:r>
            <a:r>
              <a:rPr lang="en-US" sz="900" dirty="0">
                <a:solidFill>
                  <a:srgbClr val="F3E6D6"/>
                </a:solidFill>
                <a:latin typeface="Arial"/>
                <a:ea typeface="Arial"/>
                <a:cs typeface="Arial"/>
              </a:rPr>
              <a:t>No lane attributes (use_case_id, risk_tier, lane) on messages</a:t>
            </a:r>
          </a:p>
          <a:p>
            <a:pPr algn="l" marL="0" indent="0">
              <a:lnSpc>
                <a:spcPct val="105000"/>
              </a:lnSpc>
              <a:buNone/>
            </a:pPr>
            <a:r>
              <a:rPr lang="en-US" sz="800" b="1" dirty="0">
                <a:solidFill>
                  <a:srgbClr val="F5B700"/>
                </a:solidFill>
                <a:latin typeface="Arial"/>
                <a:ea typeface="Arial"/>
                <a:cs typeface="Arial"/>
              </a:rPr>
              <a:t>GAP  </a:t>
            </a:r>
            <a:r>
              <a:rPr lang="en-US" sz="900" dirty="0">
                <a:solidFill>
                  <a:srgbClr val="F3E6D6"/>
                </a:solidFill>
                <a:latin typeface="Arial"/>
                <a:ea typeface="Arial"/>
                <a:cs typeface="Arial"/>
              </a:rPr>
              <a:t>No score write-back or trace UI on the BigQuery data</a:t>
            </a:r>
          </a:p>
        </p:txBody>
      </p:sp>
      <p:sp>
        <p:nvSpPr>
          <p:cNvPr id="190" name="gal 190"/>
          <p:cNvSpPr/>
          <p:nvPr/>
        </p:nvSpPr>
        <p:spPr>
          <a:xfrm>
            <a:off x="7269480" y="4663440"/>
            <a:ext cx="4370832" cy="1600200"/>
          </a:xfrm>
          <a:prstGeom prst="roundRect">
            <a:avLst>
              <a:gd name="adj" fmla="val 10000"/>
            </a:avLst>
          </a:prstGeom>
          <a:solidFill>
            <a:srgbClr val="1E1412"/>
          </a:solidFill>
          <a:ln w="12700">
            <a:solidFill>
              <a:srgbClr val="D9B48A"/>
            </a:solidFill>
            <a:prstDash val="dash"/>
          </a:ln>
        </p:spPr>
        <p:txBody>
          <a:bodyPr wrap="square" lIns="128016" tIns="73152" rIns="91440" bIns="45720" rtlCol="0" anchor="t">
            <a:noAutofit/>
          </a:bodyPr>
          <a:lstStyle/>
          <a:p>
            <a:pPr algn="l" marL="0" indent="0">
              <a:lnSpc>
                <a:spcPct val="100000"/>
              </a:lnSpc>
              <a:buNone/>
            </a:pPr>
            <a:r>
              <a:rPr lang="en-US" sz="1000" b="1" dirty="0">
                <a:solidFill>
                  <a:srgbClr val="F5B700"/>
                </a:solidFill>
                <a:latin typeface="Arial"/>
                <a:ea typeface="Arial"/>
                <a:cs typeface="Arial"/>
              </a:rPr>
              <a:t>Open questions</a:t>
            </a:r>
          </a:p>
          <a:p>
            <a:pPr algn="l" marL="0" indent="0">
              <a:lnSpc>
                <a:spcPct val="100000"/>
              </a:lnSpc>
              <a:buNone/>
            </a:pPr>
            <a:r>
              <a:rPr lang="en-US" sz="900" b="1" dirty="0">
                <a:solidFill>
                  <a:srgbClr val="F5B700"/>
                </a:solidFill>
                <a:latin typeface="Arial"/>
                <a:ea typeface="Arial"/>
                <a:cs typeface="Arial"/>
              </a:rPr>
              <a:t>?  </a:t>
            </a:r>
            <a:r>
              <a:rPr lang="en-US" sz="850" dirty="0">
                <a:solidFill>
                  <a:srgbClr val="F3E6D6"/>
                </a:solidFill>
                <a:latin typeface="Arial"/>
                <a:ea typeface="Arial"/>
                <a:cs typeface="Arial"/>
              </a:rPr>
              <a:t>Do we own the publishers? Needed for ordering keys and lane attributes.</a:t>
            </a:r>
          </a:p>
          <a:p>
            <a:pPr algn="l" marL="0" indent="0">
              <a:lnSpc>
                <a:spcPct val="100000"/>
              </a:lnSpc>
              <a:buNone/>
            </a:pPr>
            <a:r>
              <a:rPr lang="en-US" sz="900" b="1" dirty="0">
                <a:solidFill>
                  <a:srgbClr val="F5B700"/>
                </a:solidFill>
                <a:latin typeface="Arial"/>
                <a:ea typeface="Arial"/>
                <a:cs typeface="Arial"/>
              </a:rPr>
              <a:t>?  </a:t>
            </a:r>
            <a:r>
              <a:rPr lang="en-US" sz="850" dirty="0">
                <a:solidFill>
                  <a:srgbClr val="F3E6D6"/>
                </a:solidFill>
                <a:latin typeface="Arial"/>
                <a:ea typeface="Arial"/>
                <a:cs typeface="Arial"/>
              </a:rPr>
              <a:t>Message format: one OTLP span per message, or batches?</a:t>
            </a:r>
          </a:p>
          <a:p>
            <a:pPr algn="l" marL="0" indent="0">
              <a:lnSpc>
                <a:spcPct val="100000"/>
              </a:lnSpc>
              <a:buNone/>
            </a:pPr>
            <a:r>
              <a:rPr lang="en-US" sz="900" b="1" dirty="0">
                <a:solidFill>
                  <a:srgbClr val="F5B700"/>
                </a:solidFill>
                <a:latin typeface="Arial"/>
                <a:ea typeface="Arial"/>
                <a:cs typeface="Arial"/>
              </a:rPr>
              <a:t>?  </a:t>
            </a:r>
            <a:r>
              <a:rPr lang="en-US" sz="850" dirty="0">
                <a:solidFill>
                  <a:srgbClr val="F3E6D6"/>
                </a:solidFill>
                <a:latin typeface="Arial"/>
                <a:ea typeface="Arial"/>
                <a:cs typeface="Arial"/>
              </a:rPr>
              <a:t>Topic retention settings today?</a:t>
            </a:r>
          </a:p>
          <a:p>
            <a:pPr algn="l" marL="0" indent="0">
              <a:lnSpc>
                <a:spcPct val="100000"/>
              </a:lnSpc>
              <a:buNone/>
            </a:pPr>
            <a:r>
              <a:rPr lang="en-US" sz="900" b="1" dirty="0">
                <a:solidFill>
                  <a:srgbClr val="F5B700"/>
                </a:solidFill>
                <a:latin typeface="Arial"/>
                <a:ea typeface="Arial"/>
                <a:cs typeface="Arial"/>
              </a:rPr>
              <a:t>?  </a:t>
            </a:r>
            <a:r>
              <a:rPr lang="en-US" sz="850" dirty="0">
                <a:solidFill>
                  <a:srgbClr val="F3E6D6"/>
                </a:solidFill>
                <a:latin typeface="Arial"/>
                <a:ea typeface="Arial"/>
                <a:cs typeface="Arial"/>
              </a:rPr>
              <a:t>3P coverage: which vendors publish? Slide 10 assumed none do.</a:t>
            </a:r>
          </a:p>
        </p:txBody>
      </p:sp>
      <p:sp>
        <p:nvSpPr>
          <p:cNvPr id="191" name="gal 191"/>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TODAY = 1P and 3P traces → Pub/Sub → BigQuery sink, as described by the team (15 Oct 2026). GAP = not in place; the design is on slide 19. Source: v10-platform-gaps-research.md §2a.</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17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Platform gaps  ·  2 of 6</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OSS platform comparison:</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Langfuse primary, Opik backup; BigQuery stays the record</a:t>
            </a:r>
          </a:p>
        </p:txBody>
      </p:sp>
      <p:cxnSp>
        <p:nvCxnSpPr>
          <p:cNvPr id="157" name="g1 rule 157"/>
          <p:cNvCxnSpPr/>
          <p:nvPr/>
        </p:nvCxnSpPr>
        <p:spPr>
          <a:xfrm>
            <a:off x="548640" y="1874520"/>
            <a:ext cx="731520" cy="0"/>
          </a:xfrm>
          <a:prstGeom prst="line">
            <a:avLst/>
          </a:prstGeom>
          <a:ln w="28575">
            <a:solidFill>
              <a:srgbClr val="EE0000"/>
            </a:solidFill>
          </a:ln>
        </p:spPr>
      </p:cxnSp>
      <p:graphicFrame>
        <p:nvGraphicFramePr>
          <p:cNvPr id="158" name="gal oss compare"/>
          <p:cNvGraphicFramePr>
            <a:graphicFrameLocks noGrp="1"/>
          </p:cNvGraphicFramePr>
          <p:nvPr/>
        </p:nvGraphicFramePr>
        <p:xfrm>
          <a:off x="548640" y="2011680"/>
          <a:ext cx="11091672" cy="3950208"/>
        </p:xfrm>
        <a:graphic>
          <a:graphicData uri="http://schemas.openxmlformats.org/drawingml/2006/table">
            <a:tbl>
              <a:tblPr firstRow="1"/>
              <a:tblGrid>
                <a:gridCol w="1188720"/>
                <a:gridCol w="1463040"/>
                <a:gridCol w="1783080"/>
                <a:gridCol w="1874519"/>
                <a:gridCol w="1417320"/>
                <a:gridCol w="1371600"/>
                <a:gridCol w="914400"/>
                <a:gridCol w="1078992"/>
              </a:tblGrid>
              <a:tr h="292608">
                <a:tc>
                  <a:txBody>
                    <a:bodyPr/>
                    <a:lstStyle/>
                    <a:p>
                      <a:pPr algn="l" marL="0" indent="0">
                        <a:lnSpc>
                          <a:spcPct val="93000"/>
                        </a:lnSpc>
                        <a:buNone/>
                      </a:pPr>
                      <a:r>
                        <a:rPr lang="en-US" sz="800" b="1" dirty="0">
                          <a:solidFill>
                            <a:srgbClr val="F5B700"/>
                          </a:solidFill>
                          <a:latin typeface="Arial"/>
                          <a:ea typeface="Arial"/>
                          <a:cs typeface="Arial"/>
                        </a:rPr>
                        <a:t>Platform</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00" b="1" dirty="0">
                          <a:solidFill>
                            <a:srgbClr val="F5B700"/>
                          </a:solidFill>
                          <a:latin typeface="Arial"/>
                          <a:ea typeface="Arial"/>
                          <a:cs typeface="Arial"/>
                        </a:rPr>
                        <a:t>Licence</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00" b="1" dirty="0">
                          <a:solidFill>
                            <a:srgbClr val="F5B700"/>
                          </a:solidFill>
                          <a:latin typeface="Arial"/>
                          <a:ea typeface="Arial"/>
                          <a:cs typeface="Arial"/>
                        </a:rPr>
                        <a:t>Storage / GCS</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00" b="1" dirty="0">
                          <a:solidFill>
                            <a:srgbClr val="F5B700"/>
                          </a:solidFill>
                          <a:latin typeface="Arial"/>
                          <a:ea typeface="Arial"/>
                          <a:cs typeface="Arial"/>
                        </a:rPr>
                        <a:t>Free SSO / RBAC</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00" b="1" dirty="0">
                          <a:solidFill>
                            <a:srgbClr val="F5B700"/>
                          </a:solidFill>
                          <a:latin typeface="Arial"/>
                          <a:ea typeface="Arial"/>
                          <a:cs typeface="Arial"/>
                        </a:rPr>
                        <a:t>Scores on trace / session</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00" b="1" dirty="0">
                          <a:solidFill>
                            <a:srgbClr val="F5B700"/>
                          </a:solidFill>
                          <a:latin typeface="Arial"/>
                          <a:ea typeface="Arial"/>
                          <a:cs typeface="Arial"/>
                        </a:rPr>
                        <a:t>Batch / RT fit</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00" b="1" dirty="0">
                          <a:solidFill>
                            <a:srgbClr val="F5B700"/>
                          </a:solidFill>
                          <a:latin typeface="Arial"/>
                          <a:ea typeface="Arial"/>
                          <a:cs typeface="Arial"/>
                        </a:rPr>
                        <a:t>Ops (5–6 people)</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00" b="1" dirty="0">
                          <a:solidFill>
                            <a:srgbClr val="F5B700"/>
                          </a:solidFill>
                          <a:latin typeface="Arial"/>
                          <a:ea typeface="Arial"/>
                          <a:cs typeface="Arial"/>
                        </a:rPr>
                        <a:t>Verdict</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r>
              <a:tr h="365760">
                <a:tc>
                  <a:txBody>
                    <a:bodyPr/>
                    <a:lstStyle/>
                    <a:p>
                      <a:pPr algn="l" marL="0" indent="0">
                        <a:lnSpc>
                          <a:spcPct val="93000"/>
                        </a:lnSpc>
                        <a:buNone/>
                      </a:pPr>
                      <a:r>
                        <a:rPr lang="en-US" sz="850" b="1" dirty="0">
                          <a:solidFill>
                            <a:srgbClr val="FFFFFF"/>
                          </a:solidFill>
                          <a:latin typeface="Arial"/>
                          <a:ea typeface="Arial"/>
                          <a:cs typeface="Arial"/>
                        </a:rPr>
                        <a:t>Langfuse v3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MIT core; /ee commercial [52]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Postgres + ClickHouse + Redis + S3 / GCS [51]; self-hosted ClickHouse single shard [54]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SSO + org RBAC free; project roles, SCIM, audit paid [52][53]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Trace, observation, session; idempotent id [84][85]</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OTLP ingest [83]; scores via API from both lanes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Medium (4 stores)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141010"/>
                          </a:solidFill>
                          <a:latin typeface="Arial"/>
                          <a:ea typeface="Arial"/>
                          <a:cs typeface="Arial"/>
                        </a:rPr>
                        <a:t>PRIMARY</a:t>
                      </a:r>
                    </a:p>
                  </a:txBody>
                  <a:tcPr marL="64008" marR="45720" marT="27432" marB="27432" anchor="ctr">
                    <a:lnL w="0">
                      <a:noFill/>
                    </a:lnL>
                    <a:lnR w="6350">
                      <a:solidFill>
                        <a:srgbClr val="3A2620"/>
                      </a:solidFill>
                    </a:lnR>
                    <a:lnT w="0">
                      <a:noFill/>
                    </a:lnT>
                    <a:lnB w="9525">
                      <a:solidFill>
                        <a:srgbClr val="5A3A2E"/>
                      </a:solidFill>
                    </a:lnB>
                    <a:solidFill>
                      <a:srgbClr val="F5B700"/>
                    </a:solidFill>
                  </a:tcPr>
                </a:tc>
              </a:tr>
              <a:tr h="365760">
                <a:tc>
                  <a:txBody>
                    <a:bodyPr/>
                    <a:lstStyle/>
                    <a:p>
                      <a:pPr algn="l" marL="0" indent="0">
                        <a:lnSpc>
                          <a:spcPct val="93000"/>
                        </a:lnSpc>
                        <a:buNone/>
                      </a:pPr>
                      <a:r>
                        <a:rPr lang="en-US" sz="850" b="1" dirty="0">
                          <a:solidFill>
                            <a:srgbClr val="FFFFFF"/>
                          </a:solidFill>
                          <a:latin typeface="Arial"/>
                          <a:ea typeface="Arial"/>
                          <a:cs typeface="Arial"/>
                        </a:rPr>
                        <a:t>Opik (Comet)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Apache-2.0 [58]</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ClickHouse + MySQL + Redis + MinIO [59]; 1 shard [60][61]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SSO / custom RBAC Enterprise </a:t>
                      </a:r>
                      <a:r>
                        <a:rPr lang="en-US" sz="750" b="1" dirty="0">
                          <a:solidFill>
                            <a:srgbClr val="F5B700"/>
                          </a:solidFill>
                          <a:latin typeface="Arial"/>
                          <a:ea typeface="Arial"/>
                          <a:cs typeface="Arial"/>
                        </a:rPr>
                        <a:t>VERIFY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Feedback scores on traces and spans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OTel </a:t>
                      </a:r>
                      <a:r>
                        <a:rPr lang="en-US" sz="750" b="1" dirty="0">
                          <a:solidFill>
                            <a:srgbClr val="F5B700"/>
                          </a:solidFill>
                          <a:latin typeface="Arial"/>
                          <a:ea typeface="Arial"/>
                          <a:cs typeface="Arial"/>
                        </a:rPr>
                        <a:t>VERIFY</a:t>
                      </a:r>
                      <a:r>
                        <a:rPr lang="en-US" sz="750" dirty="0">
                          <a:solidFill>
                            <a:srgbClr val="F3E6D6"/>
                          </a:solidFill>
                          <a:latin typeface="Arial"/>
                          <a:ea typeface="Arial"/>
                          <a:cs typeface="Arial"/>
                        </a:rPr>
                        <a:t>; batch via SDK</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Medium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141010"/>
                          </a:solidFill>
                          <a:latin typeface="Arial"/>
                          <a:ea typeface="Arial"/>
                          <a:cs typeface="Arial"/>
                        </a:rPr>
                        <a:t>BACKUP</a:t>
                      </a:r>
                    </a:p>
                  </a:txBody>
                  <a:tcPr marL="64008" marR="45720" marT="27432" marB="27432" anchor="ctr">
                    <a:lnL w="0">
                      <a:noFill/>
                    </a:lnL>
                    <a:lnR w="6350">
                      <a:solidFill>
                        <a:srgbClr val="3A2620"/>
                      </a:solidFill>
                    </a:lnR>
                    <a:lnT w="0">
                      <a:noFill/>
                    </a:lnT>
                    <a:lnB w="9525">
                      <a:solidFill>
                        <a:srgbClr val="5A3A2E"/>
                      </a:solidFill>
                    </a:lnB>
                    <a:solidFill>
                      <a:srgbClr val="F5B700"/>
                    </a:solidFill>
                  </a:tcPr>
                </a:tc>
              </a:tr>
              <a:tr h="365760">
                <a:tc>
                  <a:txBody>
                    <a:bodyPr/>
                    <a:lstStyle/>
                    <a:p>
                      <a:pPr algn="l" marL="0" indent="0">
                        <a:lnSpc>
                          <a:spcPct val="93000"/>
                        </a:lnSpc>
                        <a:buNone/>
                      </a:pPr>
                      <a:r>
                        <a:rPr lang="en-US" sz="850" b="1" dirty="0">
                          <a:solidFill>
                            <a:srgbClr val="FFFFFF"/>
                          </a:solidFill>
                          <a:latin typeface="Arial"/>
                          <a:ea typeface="Arial"/>
                          <a:cs typeface="Arial"/>
                        </a:rPr>
                        <a:t>Arize Phoenix</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Elastic 2.0, not OSI [55]</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SQLite / Postgres; volume → paid Arize AX [56]</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OIDC + 3 roles free; single tenant [56][57]</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Span / trace annotations, evals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Dev workbench; not 20M+/day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Low</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Dev / eval workbench</a:t>
                      </a:r>
                    </a:p>
                  </a:txBody>
                  <a:tcPr marL="64008" marR="45720" marT="27432" marB="27432" anchor="ctr">
                    <a:lnL w="0">
                      <a:noFill/>
                    </a:lnL>
                    <a:lnR w="6350">
                      <a:solidFill>
                        <a:srgbClr val="3A2620"/>
                      </a:solidFill>
                    </a:lnR>
                    <a:lnT w="0">
                      <a:noFill/>
                    </a:lnT>
                    <a:lnB w="9525">
                      <a:solidFill>
                        <a:srgbClr val="5A3A2E"/>
                      </a:solidFill>
                    </a:lnB>
                    <a:noFill/>
                  </a:tcPr>
                </a:tc>
              </a:tr>
              <a:tr h="365760">
                <a:tc>
                  <a:txBody>
                    <a:bodyPr/>
                    <a:lstStyle/>
                    <a:p>
                      <a:pPr algn="l" marL="0" indent="0">
                        <a:lnSpc>
                          <a:spcPct val="93000"/>
                        </a:lnSpc>
                        <a:buNone/>
                      </a:pPr>
                      <a:r>
                        <a:rPr lang="en-US" sz="850" b="1" dirty="0">
                          <a:solidFill>
                            <a:srgbClr val="FFFFFF"/>
                          </a:solidFill>
                          <a:latin typeface="Arial"/>
                          <a:ea typeface="Arial"/>
                          <a:cs typeface="Arial"/>
                        </a:rPr>
                        <a:t>OpenObserve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AGPL-3.0; Enterprise commercial [88]</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Object storage (S3 / GCS)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SSO and RBAC Enterprise only [88][89]</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 LLM score model</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Logs and traces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Low–medium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No: SSO paid</a:t>
                      </a:r>
                    </a:p>
                  </a:txBody>
                  <a:tcPr marL="64008" marR="45720" marT="27432" marB="27432" anchor="ctr">
                    <a:lnL w="0">
                      <a:noFill/>
                    </a:lnL>
                    <a:lnR w="6350">
                      <a:solidFill>
                        <a:srgbClr val="3A2620"/>
                      </a:solidFill>
                    </a:lnR>
                    <a:lnT w="0">
                      <a:noFill/>
                    </a:lnT>
                    <a:lnB w="9525">
                      <a:solidFill>
                        <a:srgbClr val="5A3A2E"/>
                      </a:solidFill>
                    </a:lnB>
                    <a:noFill/>
                  </a:tcPr>
                </a:tc>
              </a:tr>
              <a:tr h="365760">
                <a:tc>
                  <a:txBody>
                    <a:bodyPr/>
                    <a:lstStyle/>
                    <a:p>
                      <a:pPr algn="l" marL="0" indent="0">
                        <a:lnSpc>
                          <a:spcPct val="93000"/>
                        </a:lnSpc>
                        <a:buNone/>
                      </a:pPr>
                      <a:r>
                        <a:rPr lang="en-US" sz="850" b="1" dirty="0">
                          <a:solidFill>
                            <a:srgbClr val="FFFFFF"/>
                          </a:solidFill>
                          <a:latin typeface="Arial"/>
                          <a:ea typeface="Arial"/>
                          <a:cs typeface="Arial"/>
                        </a:rPr>
                        <a:t>Grafana LGTM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Tempo AGPL-3.0 [69]; Loki / Mimir </a:t>
                      </a:r>
                      <a:r>
                        <a:rPr lang="en-US" sz="750" b="1" dirty="0">
                          <a:solidFill>
                            <a:srgbClr val="F5B700"/>
                          </a:solidFill>
                          <a:latin typeface="Arial"/>
                          <a:ea typeface="Arial"/>
                          <a:cs typeface="Arial"/>
                        </a:rPr>
                        <a:t>VERIFY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Native GCS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OSS OAuth free; SAML, team sync Enterprise [64]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 LLM scores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Infra traces; cold archive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Med–high (3 systems)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Infra + archive</a:t>
                      </a:r>
                    </a:p>
                  </a:txBody>
                  <a:tcPr marL="64008" marR="45720" marT="27432" marB="27432" anchor="ctr">
                    <a:lnL w="0">
                      <a:noFill/>
                    </a:lnL>
                    <a:lnR w="6350">
                      <a:solidFill>
                        <a:srgbClr val="3A2620"/>
                      </a:solidFill>
                    </a:lnR>
                    <a:lnT w="0">
                      <a:noFill/>
                    </a:lnT>
                    <a:lnB w="9525">
                      <a:solidFill>
                        <a:srgbClr val="5A3A2E"/>
                      </a:solidFill>
                    </a:lnB>
                    <a:noFill/>
                  </a:tcPr>
                </a:tc>
              </a:tr>
              <a:tr h="365760">
                <a:tc>
                  <a:txBody>
                    <a:bodyPr/>
                    <a:lstStyle/>
                    <a:p>
                      <a:pPr algn="l" marL="0" indent="0">
                        <a:lnSpc>
                          <a:spcPct val="93000"/>
                        </a:lnSpc>
                        <a:buNone/>
                      </a:pPr>
                      <a:r>
                        <a:rPr lang="en-US" sz="850" b="1" dirty="0">
                          <a:solidFill>
                            <a:srgbClr val="FFFFFF"/>
                          </a:solidFill>
                          <a:latin typeface="Arial"/>
                          <a:ea typeface="Arial"/>
                          <a:cs typeface="Arial"/>
                        </a:rPr>
                        <a:t>OpenSearch vs Elastic</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OpenSearch Apache-2.0; Elastic AGPL / SSPL / ELv2, default ELv2 [90]</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Snapshots to GCS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OpenSearch: OIDC / SAML free [91]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 LLM scores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Log search</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High (JVM)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Log search only</a:t>
                      </a:r>
                    </a:p>
                  </a:txBody>
                  <a:tcPr marL="64008" marR="45720" marT="27432" marB="27432" anchor="ctr">
                    <a:lnL w="0">
                      <a:noFill/>
                    </a:lnL>
                    <a:lnR w="6350">
                      <a:solidFill>
                        <a:srgbClr val="3A2620"/>
                      </a:solidFill>
                    </a:lnR>
                    <a:lnT w="0">
                      <a:noFill/>
                    </a:lnT>
                    <a:lnB w="9525">
                      <a:solidFill>
                        <a:srgbClr val="5A3A2E"/>
                      </a:solidFill>
                    </a:lnB>
                    <a:noFill/>
                  </a:tcPr>
                </a:tc>
              </a:tr>
              <a:tr h="365760">
                <a:tc>
                  <a:txBody>
                    <a:bodyPr/>
                    <a:lstStyle/>
                    <a:p>
                      <a:pPr algn="l" marL="0" indent="0">
                        <a:lnSpc>
                          <a:spcPct val="93000"/>
                        </a:lnSpc>
                        <a:buNone/>
                      </a:pPr>
                      <a:r>
                        <a:rPr lang="en-US" sz="850" b="1" dirty="0">
                          <a:solidFill>
                            <a:srgbClr val="FFFFFF"/>
                          </a:solidFill>
                          <a:latin typeface="Arial"/>
                          <a:ea typeface="Arial"/>
                          <a:cs typeface="Arial"/>
                        </a:rPr>
                        <a:t>SigNoz</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Not verified </a:t>
                      </a:r>
                      <a:r>
                        <a:rPr lang="en-US" sz="750" b="1" dirty="0">
                          <a:solidFill>
                            <a:srgbClr val="F5B700"/>
                          </a:solidFill>
                          <a:latin typeface="Arial"/>
                          <a:ea typeface="Arial"/>
                          <a:cs typeface="Arial"/>
                        </a:rPr>
                        <a:t>VERIFY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ClickHouse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Google OAuth CE; SAML / OIDC Enterprise; changelog differs [62][63] </a:t>
                      </a:r>
                      <a:r>
                        <a:rPr lang="en-US" sz="750" b="1" dirty="0">
                          <a:solidFill>
                            <a:srgbClr val="F5B700"/>
                          </a:solidFill>
                          <a:latin typeface="Arial"/>
                          <a:ea typeface="Arial"/>
                          <a:cs typeface="Arial"/>
                        </a:rPr>
                        <a:t>CONFLICT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 LLM scores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Infra APM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Medium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Infra APM only</a:t>
                      </a:r>
                    </a:p>
                  </a:txBody>
                  <a:tcPr marL="64008" marR="45720" marT="27432" marB="27432" anchor="ctr">
                    <a:lnL w="0">
                      <a:noFill/>
                    </a:lnL>
                    <a:lnR w="6350">
                      <a:solidFill>
                        <a:srgbClr val="3A2620"/>
                      </a:solidFill>
                    </a:lnR>
                    <a:lnT w="0">
                      <a:noFill/>
                    </a:lnT>
                    <a:lnB w="9525">
                      <a:solidFill>
                        <a:srgbClr val="5A3A2E"/>
                      </a:solidFill>
                    </a:lnB>
                    <a:noFill/>
                  </a:tcPr>
                </a:tc>
              </a:tr>
              <a:tr h="365760">
                <a:tc>
                  <a:txBody>
                    <a:bodyPr/>
                    <a:lstStyle/>
                    <a:p>
                      <a:pPr algn="l" marL="0" indent="0">
                        <a:lnSpc>
                          <a:spcPct val="93000"/>
                        </a:lnSpc>
                        <a:buNone/>
                      </a:pPr>
                      <a:r>
                        <a:rPr lang="en-US" sz="850" b="1" dirty="0">
                          <a:solidFill>
                            <a:srgbClr val="FFFFFF"/>
                          </a:solidFill>
                          <a:latin typeface="Arial"/>
                          <a:ea typeface="Arial"/>
                          <a:cs typeface="Arial"/>
                        </a:rPr>
                        <a:t>Jaeger v2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Apache-2.0 [104]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ClickHouse / ES / Cassandra</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None; front it with IAP</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None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Trace lookup</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Medium</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No</a:t>
                      </a:r>
                    </a:p>
                  </a:txBody>
                  <a:tcPr marL="64008" marR="45720" marT="27432" marB="27432" anchor="ctr">
                    <a:lnL w="0">
                      <a:noFill/>
                    </a:lnL>
                    <a:lnR w="6350">
                      <a:solidFill>
                        <a:srgbClr val="3A2620"/>
                      </a:solidFill>
                    </a:lnR>
                    <a:lnT w="0">
                      <a:noFill/>
                    </a:lnT>
                    <a:lnB w="9525">
                      <a:solidFill>
                        <a:srgbClr val="5A3A2E"/>
                      </a:solidFill>
                    </a:lnB>
                    <a:noFill/>
                  </a:tcPr>
                </a:tc>
              </a:tr>
              <a:tr h="365760">
                <a:tc>
                  <a:txBody>
                    <a:bodyPr/>
                    <a:lstStyle/>
                    <a:p>
                      <a:pPr algn="l" marL="0" indent="0">
                        <a:lnSpc>
                          <a:spcPct val="93000"/>
                        </a:lnSpc>
                        <a:buNone/>
                      </a:pPr>
                      <a:r>
                        <a:rPr lang="en-US" sz="850" b="1" dirty="0">
                          <a:solidFill>
                            <a:srgbClr val="FFFFFF"/>
                          </a:solidFill>
                          <a:latin typeface="Arial"/>
                          <a:ea typeface="Arial"/>
                          <a:cs typeface="Arial"/>
                        </a:rPr>
                        <a:t>OpenLLMetry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Apache-2.0 [87]</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n/a (SDK)</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n/a</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n/a</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Instrumentation for both lanes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Low</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Instrumentation option</a:t>
                      </a:r>
                    </a:p>
                  </a:txBody>
                  <a:tcPr marL="64008" marR="45720" marT="27432" marB="27432" anchor="ctr">
                    <a:lnL w="0">
                      <a:noFill/>
                    </a:lnL>
                    <a:lnR w="6350">
                      <a:solidFill>
                        <a:srgbClr val="3A2620"/>
                      </a:solidFill>
                    </a:lnR>
                    <a:lnT w="0">
                      <a:noFill/>
                    </a:lnT>
                    <a:lnB w="9525">
                      <a:solidFill>
                        <a:srgbClr val="5A3A2E"/>
                      </a:solidFill>
                    </a:lnB>
                    <a:noFill/>
                  </a:tcPr>
                </a:tc>
              </a:tr>
              <a:tr h="365760">
                <a:tc>
                  <a:txBody>
                    <a:bodyPr/>
                    <a:lstStyle/>
                    <a:p>
                      <a:pPr algn="l" marL="0" indent="0">
                        <a:lnSpc>
                          <a:spcPct val="93000"/>
                        </a:lnSpc>
                        <a:buNone/>
                      </a:pPr>
                      <a:r>
                        <a:rPr lang="en-US" sz="850" b="1" dirty="0">
                          <a:solidFill>
                            <a:srgbClr val="FFFFFF"/>
                          </a:solidFill>
                          <a:latin typeface="Arial"/>
                          <a:ea typeface="Arial"/>
                          <a:cs typeface="Arial"/>
                        </a:rPr>
                        <a:t>Splunk AO (Galileo)</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Commercial SaaS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Vendor</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Vendor</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Yes (Luna judges)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~300 / min today (slide 11)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750" dirty="0">
                          <a:solidFill>
                            <a:srgbClr val="F3E6D6"/>
                          </a:solidFill>
                          <a:latin typeface="Arial"/>
                          <a:ea typeface="Arial"/>
                          <a:cs typeface="Arial"/>
                        </a:rPr>
                        <a:t>None (vendor)</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Keep in phase 0–1</a:t>
                      </a:r>
                    </a:p>
                  </a:txBody>
                  <a:tcPr marL="64008" marR="45720" marT="27432" marB="27432" anchor="ctr">
                    <a:lnL w="0">
                      <a:noFill/>
                    </a:lnL>
                    <a:lnR w="6350">
                      <a:solidFill>
                        <a:srgbClr val="3A2620"/>
                      </a:solidFill>
                    </a:lnR>
                    <a:lnT w="0">
                      <a:noFill/>
                    </a:lnT>
                    <a:lnB w="9525">
                      <a:solidFill>
                        <a:srgbClr val="5A3A2E"/>
                      </a:solidFill>
                    </a:lnB>
                    <a:noFill/>
                  </a:tcPr>
                </a:tc>
              </a:tr>
            </a:tbl>
          </a:graphicData>
        </a:graphic>
      </p:graphicFrame>
      <p:sp>
        <p:nvSpPr>
          <p:cNvPr id="159" name="gal 159"/>
          <p:cNvSpPr/>
          <p:nvPr/>
        </p:nvSpPr>
        <p:spPr>
          <a:xfrm>
            <a:off x="548640" y="6053328"/>
            <a:ext cx="11091672" cy="566928"/>
          </a:xfrm>
          <a:prstGeom prst="rect">
            <a:avLst/>
          </a:prstGeom>
          <a:noFill/>
          <a:ln>
            <a:noFill/>
          </a:ln>
        </p:spPr>
        <p:txBody>
          <a:bodyPr wrap="square" lIns="0" tIns="0" rIns="0" bIns="0" rtlCol="0" anchor="t">
            <a:noAutofit/>
          </a:bodyPr>
          <a:lstStyle/>
          <a:p>
            <a:pPr algn="l" marL="0" indent="0">
              <a:lnSpc>
                <a:spcPct val="95000"/>
              </a:lnSpc>
              <a:buNone/>
            </a:pPr>
            <a:r>
              <a:rPr lang="en-US" sz="800" dirty="0">
                <a:solidFill>
                  <a:srgbClr val="D9B48A"/>
                </a:solidFill>
                <a:latin typeface="Arial"/>
                <a:ea typeface="Arial"/>
                <a:cs typeface="Arial"/>
              </a:rPr>
              <a:t>Merged from the former options slide: own a sharded ClickHouse (Apache-2.0, GCS disk [65]) as the hot store at 500M/day, and keep BigQuery + GCS as the system of record so the UI can be swapped. Not shortlisted: OpenLIT (Apache-2.0 [86]; evals </a:t>
            </a:r>
            <a:r>
              <a:rPr lang="en-US" sz="800" b="1" dirty="0">
                <a:solidFill>
                  <a:srgbClr val="F5B700"/>
                </a:solidFill>
                <a:latin typeface="Arial"/>
                <a:ea typeface="Arial"/>
                <a:cs typeface="Arial"/>
              </a:rPr>
              <a:t>VERIFY</a:t>
            </a:r>
            <a:r>
              <a:rPr lang="en-US" sz="800" dirty="0">
                <a:solidFill>
                  <a:srgbClr val="D9B48A"/>
                </a:solidFill>
                <a:latin typeface="Arial"/>
                <a:ea typeface="Arial"/>
                <a:cs typeface="Arial"/>
              </a:rPr>
              <a:t>), Helicone / Laminar (</a:t>
            </a:r>
            <a:r>
              <a:rPr lang="en-US" sz="800" b="1" dirty="0">
                <a:solidFill>
                  <a:srgbClr val="F5B700"/>
                </a:solidFill>
                <a:latin typeface="Arial"/>
                <a:ea typeface="Arial"/>
                <a:cs typeface="Arial"/>
              </a:rPr>
              <a:t>VERIFY</a:t>
            </a:r>
            <a:r>
              <a:rPr lang="en-US" sz="800" dirty="0">
                <a:solidFill>
                  <a:srgbClr val="D9B48A"/>
                </a:solidFill>
                <a:latin typeface="Arial"/>
                <a:ea typeface="Arial"/>
                <a:cs typeface="Arial"/>
              </a:rPr>
              <a:t>). VERIFY / CONFLICT = search summary only or sources disagree. Source: research §1.</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20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Platform gaps  ·  5 of 6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Phased plan:</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scale Galileo while we build in-house</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548640" y="2103120"/>
            <a:ext cx="2743200" cy="2148840"/>
          </a:xfrm>
          <a:prstGeom prst="roundRect">
            <a:avLst>
              <a:gd name="adj" fmla="val 10000"/>
            </a:avLst>
          </a:prstGeom>
          <a:solidFill>
            <a:srgbClr val="2A1A16"/>
          </a:solidFill>
          <a:ln w="12700">
            <a:solidFill>
              <a:srgbClr val="D9B48A"/>
            </a:solidFill>
          </a:ln>
        </p:spPr>
        <p:txBody>
          <a:bodyPr wrap="square" lIns="109728" tIns="91440" rIns="91440" bIns="45720" rtlCol="0" anchor="t">
            <a:noAutofit/>
          </a:bodyPr>
          <a:lstStyle/>
          <a:p>
            <a:pPr algn="l" marL="0" indent="0">
              <a:lnSpc>
                <a:spcPct val="112000"/>
              </a:lnSpc>
              <a:buNone/>
            </a:pPr>
            <a:r>
              <a:rPr lang="en-US" sz="1100" b="1" dirty="0">
                <a:solidFill>
                  <a:srgbClr val="F5B700"/>
                </a:solidFill>
                <a:latin typeface="Arial"/>
                <a:ea typeface="Arial"/>
                <a:cs typeface="Arial"/>
              </a:rPr>
              <a:t>PHASE 0</a:t>
            </a:r>
            <a:r>
              <a:rPr lang="en-US" sz="800" b="1" dirty="0">
                <a:solidFill>
                  <a:srgbClr val="D9B48A"/>
                </a:solidFill>
                <a:latin typeface="Arial"/>
                <a:ea typeface="Arial"/>
                <a:cs typeface="Arial"/>
              </a:rPr>
              <a:t>   now → ~6 weeks (ASSUMPTION)</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Galileo / Splunk stays for current users</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Ask Splunk to fix ingest: batching, async inserts (slide 11)</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Add the sub-ceval subscription (slide 16)</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Langfuse POC on 2–3 use cases (slide 15)</a:t>
            </a:r>
          </a:p>
        </p:txBody>
      </p:sp>
      <p:sp>
        <p:nvSpPr>
          <p:cNvPr id="159" name="gal 159"/>
          <p:cNvSpPr/>
          <p:nvPr/>
        </p:nvSpPr>
        <p:spPr>
          <a:xfrm>
            <a:off x="4297680" y="2103120"/>
            <a:ext cx="2743200" cy="2148840"/>
          </a:xfrm>
          <a:prstGeom prst="roundRect">
            <a:avLst>
              <a:gd name="adj" fmla="val 10000"/>
            </a:avLst>
          </a:prstGeom>
          <a:solidFill>
            <a:srgbClr val="1E1412"/>
          </a:solidFill>
          <a:ln w="12700">
            <a:solidFill>
              <a:srgbClr val="D9B48A"/>
            </a:solidFill>
            <a:prstDash val="dash"/>
          </a:ln>
        </p:spPr>
        <p:txBody>
          <a:bodyPr wrap="square" lIns="109728" tIns="91440" rIns="91440" bIns="45720" rtlCol="0" anchor="t">
            <a:noAutofit/>
          </a:bodyPr>
          <a:lstStyle/>
          <a:p>
            <a:pPr algn="l" marL="0" indent="0">
              <a:lnSpc>
                <a:spcPct val="112000"/>
              </a:lnSpc>
              <a:buNone/>
            </a:pPr>
            <a:r>
              <a:rPr lang="en-US" sz="1100" b="1" dirty="0">
                <a:solidFill>
                  <a:srgbClr val="F5B700"/>
                </a:solidFill>
                <a:latin typeface="Arial"/>
                <a:ea typeface="Arial"/>
                <a:cs typeface="Arial"/>
              </a:rPr>
              <a:t>PHASE 1</a:t>
            </a:r>
            <a:r>
              <a:rPr lang="en-US" sz="800" b="1" dirty="0">
                <a:solidFill>
                  <a:srgbClr val="D9B48A"/>
                </a:solidFill>
                <a:latin typeface="Arial"/>
                <a:ea typeface="Arial"/>
                <a:cs typeface="Arial"/>
              </a:rPr>
              <a:t>   ~1–2 quarters (ASSUMPTION)</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Run both platforms</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New use cases default to in-house</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Metric registry + Spark / Vertex write-back live (slide 19)</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BigQuery stays the source of truth</a:t>
            </a:r>
          </a:p>
        </p:txBody>
      </p:sp>
      <p:sp>
        <p:nvSpPr>
          <p:cNvPr id="160" name="gal 160"/>
          <p:cNvSpPr/>
          <p:nvPr/>
        </p:nvSpPr>
        <p:spPr>
          <a:xfrm>
            <a:off x="8046720" y="2103120"/>
            <a:ext cx="2743200" cy="2148840"/>
          </a:xfrm>
          <a:prstGeom prst="roundRect">
            <a:avLst>
              <a:gd name="adj" fmla="val 10000"/>
            </a:avLst>
          </a:prstGeom>
          <a:solidFill>
            <a:srgbClr val="1E1412"/>
          </a:solidFill>
          <a:ln w="12700">
            <a:solidFill>
              <a:srgbClr val="D9B48A"/>
            </a:solidFill>
            <a:prstDash val="dash"/>
          </a:ln>
        </p:spPr>
        <p:txBody>
          <a:bodyPr wrap="square" lIns="109728" tIns="91440" rIns="91440" bIns="45720" rtlCol="0" anchor="t">
            <a:noAutofit/>
          </a:bodyPr>
          <a:lstStyle/>
          <a:p>
            <a:pPr algn="l" marL="0" indent="0">
              <a:lnSpc>
                <a:spcPct val="112000"/>
              </a:lnSpc>
              <a:buNone/>
            </a:pPr>
            <a:r>
              <a:rPr lang="en-US" sz="1100" b="1" dirty="0">
                <a:solidFill>
                  <a:srgbClr val="F5B700"/>
                </a:solidFill>
                <a:latin typeface="Arial"/>
                <a:ea typeface="Arial"/>
                <a:cs typeface="Arial"/>
              </a:rPr>
              <a:t>PHASE 2</a:t>
            </a:r>
            <a:r>
              <a:rPr lang="en-US" sz="800" b="1" dirty="0">
                <a:solidFill>
                  <a:srgbClr val="D9B48A"/>
                </a:solidFill>
                <a:latin typeface="Arial"/>
                <a:ea typeface="Arial"/>
                <a:cs typeface="Arial"/>
              </a:rPr>
              <a:t>   after gate 2</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In-house becomes primary</a:t>
            </a:r>
          </a:p>
          <a:p>
            <a:pPr algn="l" marL="0" indent="0">
              <a:lnSpc>
                <a:spcPct val="112000"/>
              </a:lnSpc>
              <a:buNone/>
            </a:pPr>
            <a:r>
              <a:rPr lang="en-US" sz="1000" b="1" dirty="0">
                <a:solidFill>
                  <a:srgbClr val="F5B700"/>
                </a:solidFill>
                <a:latin typeface="Arial"/>
                <a:ea typeface="Arial"/>
                <a:cs typeface="Arial"/>
              </a:rPr>
              <a:t>•  </a:t>
            </a:r>
            <a:r>
              <a:rPr lang="en-US" sz="1000" dirty="0">
                <a:solidFill>
                  <a:srgbClr val="F3E6D6"/>
                </a:solidFill>
                <a:latin typeface="Arial"/>
                <a:ea typeface="Arial"/>
                <a:cs typeface="Arial"/>
              </a:rPr>
              <a:t>Galileo optional (e.g. Luna judges via API) or renewed per use case</a:t>
            </a:r>
          </a:p>
        </p:txBody>
      </p:sp>
      <p:sp>
        <p:nvSpPr>
          <p:cNvPr id="161" name="gal 161"/>
          <p:cNvSpPr/>
          <p:nvPr/>
        </p:nvSpPr>
        <p:spPr>
          <a:xfrm>
            <a:off x="3337560" y="2793492"/>
            <a:ext cx="914400" cy="768096"/>
          </a:xfrm>
          <a:prstGeom prst="diamond">
            <a:avLst/>
          </a:prstGeom>
          <a:solidFill>
            <a:srgbClr val="F5B700"/>
          </a:solidFill>
          <a:ln>
            <a:noFill/>
          </a:ln>
        </p:spPr>
        <p:txBody>
          <a:bodyPr wrap="square" lIns="0" tIns="0" rIns="0" bIns="0" rtlCol="0" anchor="ctr">
            <a:noAutofit/>
          </a:bodyPr>
          <a:lstStyle/>
          <a:p>
            <a:pPr algn="ctr" marL="0" indent="0">
              <a:buNone/>
            </a:pPr>
            <a:r>
              <a:rPr lang="en-US" sz="900" b="1" dirty="0">
                <a:solidFill>
                  <a:srgbClr val="141010"/>
                </a:solidFill>
                <a:latin typeface="Arial"/>
                <a:ea typeface="Arial"/>
                <a:cs typeface="Arial"/>
              </a:rPr>
              <a:t>Gate 1</a:t>
            </a:r>
          </a:p>
        </p:txBody>
      </p:sp>
      <p:sp>
        <p:nvSpPr>
          <p:cNvPr id="162" name="gal 162"/>
          <p:cNvSpPr/>
          <p:nvPr/>
        </p:nvSpPr>
        <p:spPr>
          <a:xfrm>
            <a:off x="7086600" y="2793492"/>
            <a:ext cx="914400" cy="768096"/>
          </a:xfrm>
          <a:prstGeom prst="diamond">
            <a:avLst/>
          </a:prstGeom>
          <a:solidFill>
            <a:srgbClr val="F5B700"/>
          </a:solidFill>
          <a:ln>
            <a:noFill/>
          </a:ln>
        </p:spPr>
        <p:txBody>
          <a:bodyPr wrap="square" lIns="0" tIns="0" rIns="0" bIns="0" rtlCol="0" anchor="ctr">
            <a:noAutofit/>
          </a:bodyPr>
          <a:lstStyle/>
          <a:p>
            <a:pPr algn="ctr" marL="0" indent="0">
              <a:buNone/>
            </a:pPr>
            <a:r>
              <a:rPr lang="en-US" sz="900" b="1" dirty="0">
                <a:solidFill>
                  <a:srgbClr val="141010"/>
                </a:solidFill>
                <a:latin typeface="Arial"/>
                <a:ea typeface="Arial"/>
                <a:cs typeface="Arial"/>
              </a:rPr>
              <a:t>Gate 2</a:t>
            </a:r>
          </a:p>
        </p:txBody>
      </p:sp>
      <p:sp>
        <p:nvSpPr>
          <p:cNvPr id="163" name="gal 163"/>
          <p:cNvSpPr/>
          <p:nvPr/>
        </p:nvSpPr>
        <p:spPr>
          <a:xfrm>
            <a:off x="10835640" y="2793492"/>
            <a:ext cx="804672" cy="768096"/>
          </a:xfrm>
          <a:prstGeom prst="diamond">
            <a:avLst/>
          </a:prstGeom>
          <a:solidFill>
            <a:srgbClr val="F5B700"/>
          </a:solidFill>
          <a:ln>
            <a:noFill/>
          </a:ln>
        </p:spPr>
        <p:txBody>
          <a:bodyPr wrap="square" lIns="0" tIns="0" rIns="0" bIns="0" rtlCol="0" anchor="ctr">
            <a:noAutofit/>
          </a:bodyPr>
          <a:lstStyle/>
          <a:p>
            <a:pPr algn="ctr" marL="0" indent="0">
              <a:buNone/>
            </a:pPr>
            <a:r>
              <a:rPr lang="en-US" sz="900" b="1" dirty="0">
                <a:solidFill>
                  <a:srgbClr val="141010"/>
                </a:solidFill>
                <a:latin typeface="Arial"/>
                <a:ea typeface="Arial"/>
                <a:cs typeface="Arial"/>
              </a:rPr>
              <a:t>Gate 3</a:t>
            </a:r>
          </a:p>
        </p:txBody>
      </p:sp>
      <p:cxnSp>
        <p:nvCxnSpPr>
          <p:cNvPr id="164" name="g2 flow 164"/>
          <p:cNvCxnSpPr/>
          <p:nvPr/>
        </p:nvCxnSpPr>
        <p:spPr>
          <a:xfrm>
            <a:off x="3291840" y="3177540"/>
            <a:ext cx="45720" cy="0"/>
          </a:xfrm>
          <a:prstGeom prst="line">
            <a:avLst/>
          </a:prstGeom>
          <a:ln w="15875">
            <a:solidFill>
              <a:srgbClr val="EE0000"/>
            </a:solidFill>
            <a:tailEnd type="triangle" w="med" len="med"/>
          </a:ln>
        </p:spPr>
      </p:cxnSp>
      <p:cxnSp>
        <p:nvCxnSpPr>
          <p:cNvPr id="165" name="g2 flow 165"/>
          <p:cNvCxnSpPr/>
          <p:nvPr/>
        </p:nvCxnSpPr>
        <p:spPr>
          <a:xfrm>
            <a:off x="4251960" y="3177540"/>
            <a:ext cx="45720" cy="0"/>
          </a:xfrm>
          <a:prstGeom prst="line">
            <a:avLst/>
          </a:prstGeom>
          <a:ln w="15875">
            <a:solidFill>
              <a:srgbClr val="EE0000"/>
            </a:solidFill>
            <a:tailEnd type="triangle" w="med" len="med"/>
          </a:ln>
        </p:spPr>
      </p:cxnSp>
      <p:cxnSp>
        <p:nvCxnSpPr>
          <p:cNvPr id="166" name="g2 flow 166"/>
          <p:cNvCxnSpPr/>
          <p:nvPr/>
        </p:nvCxnSpPr>
        <p:spPr>
          <a:xfrm>
            <a:off x="7040880" y="3177540"/>
            <a:ext cx="45720" cy="0"/>
          </a:xfrm>
          <a:prstGeom prst="line">
            <a:avLst/>
          </a:prstGeom>
          <a:ln w="15875">
            <a:solidFill>
              <a:srgbClr val="EE0000"/>
            </a:solidFill>
            <a:tailEnd type="triangle" w="med" len="med"/>
          </a:ln>
        </p:spPr>
      </p:cxnSp>
      <p:cxnSp>
        <p:nvCxnSpPr>
          <p:cNvPr id="167" name="g2 flow 167"/>
          <p:cNvCxnSpPr/>
          <p:nvPr/>
        </p:nvCxnSpPr>
        <p:spPr>
          <a:xfrm>
            <a:off x="8001000" y="3177540"/>
            <a:ext cx="45720" cy="0"/>
          </a:xfrm>
          <a:prstGeom prst="line">
            <a:avLst/>
          </a:prstGeom>
          <a:ln w="15875">
            <a:solidFill>
              <a:srgbClr val="EE0000"/>
            </a:solidFill>
            <a:tailEnd type="triangle" w="med" len="med"/>
          </a:ln>
        </p:spPr>
      </p:cxnSp>
      <p:cxnSp>
        <p:nvCxnSpPr>
          <p:cNvPr id="168" name="g2 flow 168"/>
          <p:cNvCxnSpPr/>
          <p:nvPr/>
        </p:nvCxnSpPr>
        <p:spPr>
          <a:xfrm>
            <a:off x="10789920" y="3177540"/>
            <a:ext cx="45720" cy="0"/>
          </a:xfrm>
          <a:prstGeom prst="line">
            <a:avLst/>
          </a:prstGeom>
          <a:ln w="15875">
            <a:solidFill>
              <a:srgbClr val="EE0000"/>
            </a:solidFill>
            <a:tailEnd type="triangle" w="med" len="med"/>
          </a:ln>
        </p:spPr>
      </p:cxnSp>
      <p:sp>
        <p:nvSpPr>
          <p:cNvPr id="169" name="gal 169"/>
          <p:cNvSpPr/>
          <p:nvPr/>
        </p:nvSpPr>
        <p:spPr>
          <a:xfrm>
            <a:off x="548640" y="4434840"/>
            <a:ext cx="3624072" cy="822960"/>
          </a:xfrm>
          <a:prstGeom prst="roundRect">
            <a:avLst>
              <a:gd name="adj" fmla="val 10000"/>
            </a:avLst>
          </a:prstGeom>
          <a:solidFill>
            <a:srgbClr val="F5B700"/>
          </a:solidFill>
          <a:ln>
            <a:noFill/>
          </a:ln>
        </p:spPr>
        <p:txBody>
          <a:bodyPr wrap="square" lIns="91440" tIns="64008" rIns="73152" bIns="36576" rtlCol="0" anchor="t">
            <a:noAutofit/>
          </a:bodyPr>
          <a:lstStyle/>
          <a:p>
            <a:pPr algn="l" marL="0" indent="0">
              <a:lnSpc>
                <a:spcPct val="92000"/>
              </a:lnSpc>
              <a:buNone/>
            </a:pPr>
            <a:r>
              <a:rPr lang="en-US" sz="950" b="1" dirty="0">
                <a:solidFill>
                  <a:srgbClr val="141010"/>
                </a:solidFill>
                <a:latin typeface="Arial"/>
                <a:ea typeface="Arial"/>
                <a:cs typeface="Arial"/>
              </a:rPr>
              <a:t>Gate 1  ·  end of phase 0</a:t>
            </a:r>
          </a:p>
          <a:p>
            <a:pPr algn="l" marL="0" indent="0">
              <a:lnSpc>
                <a:spcPct val="92000"/>
              </a:lnSpc>
              <a:buNone/>
            </a:pPr>
            <a:r>
              <a:rPr lang="en-US" sz="850" dirty="0">
                <a:solidFill>
                  <a:srgbClr val="141010"/>
                </a:solidFill>
                <a:latin typeface="Arial"/>
                <a:ea typeface="Arial"/>
                <a:cs typeface="Arial"/>
              </a:rPr>
              <a:t>POC sustains the target rate, SSO works, score write-back is visible</a:t>
            </a:r>
          </a:p>
        </p:txBody>
      </p:sp>
      <p:sp>
        <p:nvSpPr>
          <p:cNvPr id="170" name="gal 170"/>
          <p:cNvSpPr/>
          <p:nvPr/>
        </p:nvSpPr>
        <p:spPr>
          <a:xfrm>
            <a:off x="4282440" y="4434840"/>
            <a:ext cx="3624072" cy="822960"/>
          </a:xfrm>
          <a:prstGeom prst="roundRect">
            <a:avLst>
              <a:gd name="adj" fmla="val 10000"/>
            </a:avLst>
          </a:prstGeom>
          <a:solidFill>
            <a:srgbClr val="F5B700"/>
          </a:solidFill>
          <a:ln>
            <a:noFill/>
          </a:ln>
        </p:spPr>
        <p:txBody>
          <a:bodyPr wrap="square" lIns="91440" tIns="64008" rIns="73152" bIns="36576" rtlCol="0" anchor="t">
            <a:noAutofit/>
          </a:bodyPr>
          <a:lstStyle/>
          <a:p>
            <a:pPr algn="l" marL="0" indent="0">
              <a:lnSpc>
                <a:spcPct val="92000"/>
              </a:lnSpc>
              <a:buNone/>
            </a:pPr>
            <a:r>
              <a:rPr lang="en-US" sz="950" b="1" dirty="0">
                <a:solidFill>
                  <a:srgbClr val="141010"/>
                </a:solidFill>
                <a:latin typeface="Arial"/>
                <a:ea typeface="Arial"/>
                <a:cs typeface="Arial"/>
              </a:rPr>
              <a:t>Gate 2  ·  end of phase 1</a:t>
            </a:r>
          </a:p>
          <a:p>
            <a:pPr algn="l" marL="0" indent="0">
              <a:lnSpc>
                <a:spcPct val="92000"/>
              </a:lnSpc>
              <a:buNone/>
            </a:pPr>
            <a:r>
              <a:rPr lang="en-US" sz="850" dirty="0">
                <a:solidFill>
                  <a:srgbClr val="141010"/>
                </a:solidFill>
                <a:latin typeface="Arial"/>
                <a:ea typeface="Arial"/>
                <a:cs typeface="Arial"/>
              </a:rPr>
              <a:t>score parity with Galileo on a shared sample; an ops runbook the 5–6 person team can own, on-call load measured</a:t>
            </a:r>
          </a:p>
        </p:txBody>
      </p:sp>
      <p:sp>
        <p:nvSpPr>
          <p:cNvPr id="171" name="gal 171"/>
          <p:cNvSpPr/>
          <p:nvPr/>
        </p:nvSpPr>
        <p:spPr>
          <a:xfrm>
            <a:off x="8016240" y="4434840"/>
            <a:ext cx="3624072" cy="822960"/>
          </a:xfrm>
          <a:prstGeom prst="roundRect">
            <a:avLst>
              <a:gd name="adj" fmla="val 10000"/>
            </a:avLst>
          </a:prstGeom>
          <a:solidFill>
            <a:srgbClr val="F5B700"/>
          </a:solidFill>
          <a:ln>
            <a:noFill/>
          </a:ln>
        </p:spPr>
        <p:txBody>
          <a:bodyPr wrap="square" lIns="91440" tIns="64008" rIns="73152" bIns="36576" rtlCol="0" anchor="t">
            <a:noAutofit/>
          </a:bodyPr>
          <a:lstStyle/>
          <a:p>
            <a:pPr algn="l" marL="0" indent="0">
              <a:lnSpc>
                <a:spcPct val="92000"/>
              </a:lnSpc>
              <a:buNone/>
            </a:pPr>
            <a:r>
              <a:rPr lang="en-US" sz="950" b="1" dirty="0">
                <a:solidFill>
                  <a:srgbClr val="141010"/>
                </a:solidFill>
                <a:latin typeface="Arial"/>
                <a:ea typeface="Arial"/>
                <a:cs typeface="Arial"/>
              </a:rPr>
              <a:t>Gate 3  ·  phase 2 decision</a:t>
            </a:r>
          </a:p>
          <a:p>
            <a:pPr algn="l" marL="0" indent="0">
              <a:lnSpc>
                <a:spcPct val="92000"/>
              </a:lnSpc>
              <a:buNone/>
            </a:pPr>
            <a:r>
              <a:rPr lang="en-US" sz="850" dirty="0">
                <a:solidFill>
                  <a:srgbClr val="141010"/>
                </a:solidFill>
                <a:latin typeface="Arial"/>
                <a:ea typeface="Arial"/>
                <a:cs typeface="Arial"/>
              </a:rPr>
              <a:t>cost per 1M traces and per eval below Splunk’s, with no SLA regression → retire or renew Galileo per use case</a:t>
            </a:r>
          </a:p>
        </p:txBody>
      </p:sp>
      <p:sp>
        <p:nvSpPr>
          <p:cNvPr id="172" name="gal 172"/>
          <p:cNvSpPr/>
          <p:nvPr/>
        </p:nvSpPr>
        <p:spPr>
          <a:xfrm>
            <a:off x="548640" y="5440680"/>
            <a:ext cx="1554480" cy="804672"/>
          </a:xfrm>
          <a:prstGeom prst="roundRect">
            <a:avLst>
              <a:gd name="adj" fmla="val 10000"/>
            </a:avLst>
          </a:prstGeom>
          <a:solidFill>
            <a:srgbClr val="2A1A16"/>
          </a:solidFill>
          <a:ln w="12700">
            <a:solidFill>
              <a:srgbClr val="D9B48A"/>
            </a:solidFill>
          </a:ln>
        </p:spPr>
        <p:txBody>
          <a:bodyPr wrap="square" lIns="82296" tIns="36576" rIns="64008" bIns="36576" rtlCol="0" anchor="ctr">
            <a:noAutofit/>
          </a:bodyPr>
          <a:lstStyle/>
          <a:p>
            <a:pPr algn="l" marL="0" indent="0">
              <a:lnSpc>
                <a:spcPct val="92000"/>
              </a:lnSpc>
              <a:buNone/>
            </a:pPr>
            <a:r>
              <a:rPr lang="en-US" sz="1000" b="1" dirty="0">
                <a:solidFill>
                  <a:srgbClr val="F5B700"/>
                </a:solidFill>
                <a:latin typeface="Arial"/>
                <a:ea typeface="Arial"/>
                <a:cs typeface="Arial"/>
              </a:rPr>
              <a:t>Why in-house</a:t>
            </a:r>
          </a:p>
          <a:p>
            <a:pPr algn="l" marL="0" indent="0">
              <a:lnSpc>
                <a:spcPct val="92000"/>
              </a:lnSpc>
              <a:buNone/>
            </a:pPr>
            <a:r>
              <a:rPr lang="en-US" sz="800" dirty="0">
                <a:solidFill>
                  <a:srgbClr val="F3E6D6"/>
                </a:solidFill>
                <a:latin typeface="Arial"/>
                <a:ea typeface="Arial"/>
                <a:cs typeface="Arial"/>
              </a:rPr>
              <a:t>rationale</a:t>
            </a:r>
          </a:p>
        </p:txBody>
      </p:sp>
      <p:sp>
        <p:nvSpPr>
          <p:cNvPr id="173" name="gal 173"/>
          <p:cNvSpPr/>
          <p:nvPr/>
        </p:nvSpPr>
        <p:spPr>
          <a:xfrm>
            <a:off x="2240280" y="5440680"/>
            <a:ext cx="2281428" cy="804672"/>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50" b="1" dirty="0">
                <a:solidFill>
                  <a:srgbClr val="FFFFFF"/>
                </a:solidFill>
                <a:latin typeface="Arial"/>
                <a:ea typeface="Arial"/>
                <a:cs typeface="Arial"/>
              </a:rPr>
              <a:t>Modifiability</a:t>
            </a:r>
          </a:p>
          <a:p>
            <a:pPr algn="l" marL="0" indent="0">
              <a:lnSpc>
                <a:spcPct val="92000"/>
              </a:lnSpc>
              <a:buNone/>
            </a:pPr>
            <a:r>
              <a:rPr lang="en-US" sz="800" dirty="0">
                <a:solidFill>
                  <a:srgbClr val="F3E6D6"/>
                </a:solidFill>
                <a:latin typeface="Arial"/>
                <a:ea typeface="Arial"/>
                <a:cs typeface="Arial"/>
              </a:rPr>
              <a:t>custom metrics and lanes, on our schedule</a:t>
            </a:r>
          </a:p>
        </p:txBody>
      </p:sp>
      <p:sp>
        <p:nvSpPr>
          <p:cNvPr id="174" name="gal 174"/>
          <p:cNvSpPr/>
          <p:nvPr/>
        </p:nvSpPr>
        <p:spPr>
          <a:xfrm>
            <a:off x="4613148" y="5440680"/>
            <a:ext cx="2281428" cy="804672"/>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50" b="1" dirty="0">
                <a:solidFill>
                  <a:srgbClr val="FFFFFF"/>
                </a:solidFill>
                <a:latin typeface="Arial"/>
                <a:ea typeface="Arial"/>
                <a:cs typeface="Arial"/>
              </a:rPr>
              <a:t>Control</a:t>
            </a:r>
          </a:p>
          <a:p>
            <a:pPr algn="l" marL="0" indent="0">
              <a:lnSpc>
                <a:spcPct val="92000"/>
              </a:lnSpc>
              <a:buNone/>
            </a:pPr>
            <a:r>
              <a:rPr lang="en-US" sz="800" dirty="0">
                <a:solidFill>
                  <a:srgbClr val="F3E6D6"/>
                </a:solidFill>
                <a:latin typeface="Arial"/>
                <a:ea typeface="Arial"/>
                <a:cs typeface="Arial"/>
              </a:rPr>
              <a:t>data and identity stay in our GCP projects</a:t>
            </a:r>
          </a:p>
        </p:txBody>
      </p:sp>
      <p:sp>
        <p:nvSpPr>
          <p:cNvPr id="175" name="gal 175"/>
          <p:cNvSpPr/>
          <p:nvPr/>
        </p:nvSpPr>
        <p:spPr>
          <a:xfrm>
            <a:off x="6986016" y="5440680"/>
            <a:ext cx="2281428" cy="804672"/>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50" b="1" dirty="0">
                <a:solidFill>
                  <a:srgbClr val="FFFFFF"/>
                </a:solidFill>
                <a:latin typeface="Arial"/>
                <a:ea typeface="Arial"/>
                <a:cs typeface="Arial"/>
              </a:rPr>
              <a:t>Cost</a:t>
            </a:r>
          </a:p>
          <a:p>
            <a:pPr algn="l" marL="0" indent="0">
              <a:lnSpc>
                <a:spcPct val="92000"/>
              </a:lnSpc>
              <a:buNone/>
            </a:pPr>
            <a:r>
              <a:rPr lang="en-US" sz="800" dirty="0">
                <a:solidFill>
                  <a:srgbClr val="F3E6D6"/>
                </a:solidFill>
                <a:latin typeface="Arial"/>
                <a:ea typeface="Arial"/>
                <a:cs typeface="Arial"/>
              </a:rPr>
              <a:t>predictable; measured per 1M traces at gate 3</a:t>
            </a:r>
          </a:p>
        </p:txBody>
      </p:sp>
      <p:sp>
        <p:nvSpPr>
          <p:cNvPr id="176" name="gal 176"/>
          <p:cNvSpPr/>
          <p:nvPr/>
        </p:nvSpPr>
        <p:spPr>
          <a:xfrm>
            <a:off x="9358884" y="5440680"/>
            <a:ext cx="2281428" cy="804672"/>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2000"/>
              </a:lnSpc>
              <a:buNone/>
            </a:pPr>
            <a:r>
              <a:rPr lang="en-US" sz="950" b="1" dirty="0">
                <a:solidFill>
                  <a:srgbClr val="FFFFFF"/>
                </a:solidFill>
                <a:latin typeface="Arial"/>
                <a:ea typeface="Arial"/>
                <a:cs typeface="Arial"/>
              </a:rPr>
              <a:t>Vendor risk</a:t>
            </a:r>
          </a:p>
          <a:p>
            <a:pPr algn="l" marL="0" indent="0">
              <a:lnSpc>
                <a:spcPct val="92000"/>
              </a:lnSpc>
              <a:buNone/>
            </a:pPr>
            <a:r>
              <a:rPr lang="en-US" sz="800" dirty="0">
                <a:solidFill>
                  <a:srgbClr val="F3E6D6"/>
                </a:solidFill>
                <a:latin typeface="Arial"/>
                <a:ea typeface="Arial"/>
                <a:cs typeface="Arial"/>
              </a:rPr>
              <a:t>Galileo is mid-acquisition (Splunk / Cisco)</a:t>
            </a:r>
          </a:p>
        </p:txBody>
      </p:sp>
      <p:sp>
        <p:nvSpPr>
          <p:cNvPr id="177" name="gal 177"/>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Durations and dates are ASSUMPTIONS; gates decide the move, not the calendar. Source: research §3.</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41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16–21 (5 of 8):</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315968"/>
          </a:xfrm>
          <a:prstGeom prst="roundRect">
            <a:avLst>
              <a:gd name="adj" fmla="val 4000"/>
            </a:avLst>
          </a:prstGeom>
          <a:solidFill>
            <a:srgbClr val="2A1A16"/>
          </a:solidFill>
          <a:ln w="9525">
            <a:solidFill>
              <a:srgbClr val="D9B48A"/>
            </a:solidFill>
          </a:ln>
        </p:spPr>
        <p:txBody>
          <a:bodyPr wrap="square" lIns="146304" tIns="73152" rIns="128016" bIns="45720" rtlCol="0" anchor="t">
            <a:noAutofit/>
          </a:bodyPr>
          <a:lstStyle/>
          <a:p>
            <a:pPr algn="l" marL="0" indent="0">
              <a:lnSpc>
                <a:spcPct val="96000"/>
              </a:lnSpc>
              <a:buNone/>
            </a:pPr>
            <a:r>
              <a:rPr lang="en-US" sz="900" b="1" dirty="0">
                <a:solidFill>
                  <a:srgbClr val="F5B700"/>
                </a:solidFill>
                <a:latin typeface="Arial"/>
                <a:ea typeface="Arial"/>
                <a:cs typeface="Arial"/>
              </a:rPr>
              <a:t>[83]  </a:t>
            </a:r>
            <a:r>
              <a:rPr lang="en-US" sz="900" b="1" dirty="0" u="sng">
                <a:solidFill>
                  <a:srgbClr val="FFFFFF"/>
                </a:solidFill>
                <a:latin typeface="Arial"/>
                <a:ea typeface="Arial"/>
                <a:cs typeface="Arial"/>
                <a:hlinkClick r:id="rIdL1"/>
              </a:rPr>
              <a:t>Langfuse: OpenTelemetry integration</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
              </a:rPr>
              <a:t>langfuse.com/integrations/native/opentelemetry</a:t>
            </a:r>
          </a:p>
          <a:p>
            <a:pPr algn="l" marL="0" indent="0">
              <a:lnSpc>
                <a:spcPct val="96000"/>
              </a:lnSpc>
              <a:buNone/>
            </a:pPr>
            <a:r>
              <a:rPr lang="en-US" sz="900" b="1" dirty="0">
                <a:solidFill>
                  <a:srgbClr val="F5B700"/>
                </a:solidFill>
                <a:latin typeface="Arial"/>
                <a:ea typeface="Arial"/>
                <a:cs typeface="Arial"/>
              </a:rPr>
              <a:t>[84]  </a:t>
            </a:r>
            <a:r>
              <a:rPr lang="en-US" sz="900" b="1" dirty="0" u="sng">
                <a:solidFill>
                  <a:srgbClr val="FFFFFF"/>
                </a:solidFill>
                <a:latin typeface="Arial"/>
                <a:ea typeface="Arial"/>
                <a:cs typeface="Arial"/>
                <a:hlinkClick r:id="rIdL3"/>
              </a:rPr>
              <a:t>Langfuse: scores via API / SDK</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
              </a:rPr>
              <a:t>langfuse.com/docs/evaluation/evaluation-methods/scores-via-sdk</a:t>
            </a:r>
          </a:p>
          <a:p>
            <a:pPr algn="l" marL="0" indent="0">
              <a:lnSpc>
                <a:spcPct val="96000"/>
              </a:lnSpc>
              <a:buNone/>
            </a:pPr>
            <a:r>
              <a:rPr lang="en-US" sz="900" b="1" dirty="0">
                <a:solidFill>
                  <a:srgbClr val="F5B700"/>
                </a:solidFill>
                <a:latin typeface="Arial"/>
                <a:ea typeface="Arial"/>
                <a:cs typeface="Arial"/>
              </a:rPr>
              <a:t>[85]  </a:t>
            </a:r>
            <a:r>
              <a:rPr lang="en-US" sz="900" b="1" dirty="0" u="sng">
                <a:solidFill>
                  <a:srgbClr val="FFFFFF"/>
                </a:solidFill>
                <a:latin typeface="Arial"/>
                <a:ea typeface="Arial"/>
                <a:cs typeface="Arial"/>
                <a:hlinkClick r:id="rIdL5"/>
              </a:rPr>
              <a:t>Langfuse: score data model</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6"/>
              </a:rPr>
              <a:t>langfuse.com/docs/evaluation/scores/data-model</a:t>
            </a:r>
          </a:p>
          <a:p>
            <a:pPr algn="l" marL="0" indent="0">
              <a:lnSpc>
                <a:spcPct val="96000"/>
              </a:lnSpc>
              <a:buNone/>
            </a:pPr>
            <a:r>
              <a:rPr lang="en-US" sz="900" b="1" dirty="0">
                <a:solidFill>
                  <a:srgbClr val="F5B700"/>
                </a:solidFill>
                <a:latin typeface="Arial"/>
                <a:ea typeface="Arial"/>
                <a:cs typeface="Arial"/>
              </a:rPr>
              <a:t>[86]  </a:t>
            </a:r>
            <a:r>
              <a:rPr lang="en-US" sz="900" b="1" dirty="0" u="sng">
                <a:solidFill>
                  <a:srgbClr val="FFFFFF"/>
                </a:solidFill>
                <a:latin typeface="Arial"/>
                <a:ea typeface="Arial"/>
                <a:cs typeface="Arial"/>
                <a:hlinkClick r:id="rIdL7"/>
              </a:rPr>
              <a:t>OpenLIT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8"/>
              </a:rPr>
              <a:t>github.com/openlit/openlit</a:t>
            </a:r>
          </a:p>
          <a:p>
            <a:pPr algn="l" marL="0" indent="0">
              <a:lnSpc>
                <a:spcPct val="96000"/>
              </a:lnSpc>
              <a:buNone/>
            </a:pPr>
            <a:r>
              <a:rPr lang="en-US" sz="900" b="1" dirty="0">
                <a:solidFill>
                  <a:srgbClr val="F5B700"/>
                </a:solidFill>
                <a:latin typeface="Arial"/>
                <a:ea typeface="Arial"/>
                <a:cs typeface="Arial"/>
              </a:rPr>
              <a:t>[87]  </a:t>
            </a:r>
            <a:r>
              <a:rPr lang="en-US" sz="900" b="1" dirty="0" u="sng">
                <a:solidFill>
                  <a:srgbClr val="FFFFFF"/>
                </a:solidFill>
                <a:latin typeface="Arial"/>
                <a:ea typeface="Arial"/>
                <a:cs typeface="Arial"/>
                <a:hlinkClick r:id="rIdL9"/>
              </a:rPr>
              <a:t>OpenLLMetry licence</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0"/>
              </a:rPr>
              <a:t>github.com/traceloop/openllmetry/blob/main/LICENSE</a:t>
            </a:r>
          </a:p>
          <a:p>
            <a:pPr algn="l" marL="0" indent="0">
              <a:lnSpc>
                <a:spcPct val="96000"/>
              </a:lnSpc>
              <a:buNone/>
            </a:pPr>
            <a:r>
              <a:rPr lang="en-US" sz="900" b="1" dirty="0">
                <a:solidFill>
                  <a:srgbClr val="F5B700"/>
                </a:solidFill>
                <a:latin typeface="Arial"/>
                <a:ea typeface="Arial"/>
                <a:cs typeface="Arial"/>
              </a:rPr>
              <a:t>[88]  </a:t>
            </a:r>
            <a:r>
              <a:rPr lang="en-US" sz="900" b="1" dirty="0" u="sng">
                <a:solidFill>
                  <a:srgbClr val="FFFFFF"/>
                </a:solidFill>
                <a:latin typeface="Arial"/>
                <a:ea typeface="Arial"/>
                <a:cs typeface="Arial"/>
                <a:hlinkClick r:id="rIdL11"/>
              </a:rPr>
              <a:t>OpenObserve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2"/>
              </a:rPr>
              <a:t>github.com/openobserve/openobserve</a:t>
            </a:r>
          </a:p>
          <a:p>
            <a:pPr algn="l" marL="0" indent="0">
              <a:lnSpc>
                <a:spcPct val="96000"/>
              </a:lnSpc>
              <a:buNone/>
            </a:pPr>
            <a:r>
              <a:rPr lang="en-US" sz="900" b="1" dirty="0">
                <a:solidFill>
                  <a:srgbClr val="F5B700"/>
                </a:solidFill>
                <a:latin typeface="Arial"/>
                <a:ea typeface="Arial"/>
                <a:cs typeface="Arial"/>
              </a:rPr>
              <a:t>[89]  </a:t>
            </a:r>
            <a:r>
              <a:rPr lang="en-US" sz="900" b="1" dirty="0" u="sng">
                <a:solidFill>
                  <a:srgbClr val="FFFFFF"/>
                </a:solidFill>
                <a:latin typeface="Arial"/>
                <a:ea typeface="Arial"/>
                <a:cs typeface="Arial"/>
                <a:hlinkClick r:id="rIdL13"/>
              </a:rPr>
              <a:t>OpenObserve: SSO</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4"/>
              </a:rPr>
              <a:t>openobserve.ai/docs/user-guide/account-administration/identit…</a:t>
            </a:r>
          </a:p>
          <a:p>
            <a:pPr algn="l" marL="0" indent="0">
              <a:lnSpc>
                <a:spcPct val="96000"/>
              </a:lnSpc>
              <a:buNone/>
            </a:pPr>
            <a:r>
              <a:rPr lang="en-US" sz="900" b="1" dirty="0">
                <a:solidFill>
                  <a:srgbClr val="F5B700"/>
                </a:solidFill>
                <a:latin typeface="Arial"/>
                <a:ea typeface="Arial"/>
                <a:cs typeface="Arial"/>
              </a:rPr>
              <a:t>[90]  </a:t>
            </a:r>
            <a:r>
              <a:rPr lang="en-US" sz="900" b="1" dirty="0" u="sng">
                <a:solidFill>
                  <a:srgbClr val="FFFFFF"/>
                </a:solidFill>
                <a:latin typeface="Arial"/>
                <a:ea typeface="Arial"/>
                <a:cs typeface="Arial"/>
                <a:hlinkClick r:id="rIdL15"/>
              </a:rPr>
              <a:t>Elastic: licensing FAQ</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6"/>
              </a:rPr>
              <a:t>elastic.co/pricing/faq/licensing</a:t>
            </a:r>
          </a:p>
          <a:p>
            <a:pPr algn="l" marL="0" indent="0">
              <a:lnSpc>
                <a:spcPct val="96000"/>
              </a:lnSpc>
              <a:buNone/>
            </a:pPr>
            <a:r>
              <a:rPr lang="en-US" sz="900" b="1" dirty="0">
                <a:solidFill>
                  <a:srgbClr val="F5B700"/>
                </a:solidFill>
                <a:latin typeface="Arial"/>
                <a:ea typeface="Arial"/>
                <a:cs typeface="Arial"/>
              </a:rPr>
              <a:t>[91]  </a:t>
            </a:r>
            <a:r>
              <a:rPr lang="en-US" sz="900" b="1" dirty="0" u="sng">
                <a:solidFill>
                  <a:srgbClr val="FFFFFF"/>
                </a:solidFill>
                <a:latin typeface="Arial"/>
                <a:ea typeface="Arial"/>
                <a:cs typeface="Arial"/>
                <a:hlinkClick r:id="rIdL17"/>
              </a:rPr>
              <a:t>OpenSearch: OpenID Connect</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8"/>
              </a:rPr>
              <a:t>docs.opensearch.org/latest/security/authentication-backends/o…</a:t>
            </a:r>
          </a:p>
          <a:p>
            <a:pPr algn="l" marL="0" indent="0">
              <a:lnSpc>
                <a:spcPct val="96000"/>
              </a:lnSpc>
              <a:buNone/>
            </a:pPr>
            <a:r>
              <a:rPr lang="en-US" sz="900" b="1" dirty="0">
                <a:solidFill>
                  <a:srgbClr val="F5B700"/>
                </a:solidFill>
                <a:latin typeface="Arial"/>
                <a:ea typeface="Arial"/>
                <a:cs typeface="Arial"/>
              </a:rPr>
              <a:t>[92]  </a:t>
            </a:r>
            <a:r>
              <a:rPr lang="en-US" sz="900" b="1" dirty="0" u="sng">
                <a:solidFill>
                  <a:srgbClr val="FFFFFF"/>
                </a:solidFill>
                <a:latin typeface="Arial"/>
                <a:ea typeface="Arial"/>
                <a:cs typeface="Arial"/>
                <a:hlinkClick r:id="rIdL19"/>
              </a:rPr>
              <a:t>Pub/Sub: subscriptions overview</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0"/>
              </a:rPr>
              <a:t>docs.cloud.google.com/pubsub/docs/subscription-overview</a:t>
            </a:r>
          </a:p>
          <a:p>
            <a:pPr algn="l" marL="0" indent="0">
              <a:lnSpc>
                <a:spcPct val="96000"/>
              </a:lnSpc>
              <a:buNone/>
            </a:pPr>
            <a:r>
              <a:rPr lang="en-US" sz="900" b="1" dirty="0">
                <a:solidFill>
                  <a:srgbClr val="F5B700"/>
                </a:solidFill>
                <a:latin typeface="Arial"/>
                <a:ea typeface="Arial"/>
                <a:cs typeface="Arial"/>
              </a:rPr>
              <a:t>[93]  </a:t>
            </a:r>
            <a:r>
              <a:rPr lang="en-US" sz="900" b="1" dirty="0" u="sng">
                <a:solidFill>
                  <a:srgbClr val="FFFFFF"/>
                </a:solidFill>
                <a:latin typeface="Arial"/>
                <a:ea typeface="Arial"/>
                <a:cs typeface="Arial"/>
                <a:hlinkClick r:id="rIdL21"/>
              </a:rPr>
              <a:t>Pub/Sub: BigQuery subscriptions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2"/>
              </a:rPr>
              <a:t>docs.cloud.google.com/pubsub/docs/bigquery</a:t>
            </a:r>
          </a:p>
          <a:p>
            <a:pPr algn="l" marL="0" indent="0">
              <a:lnSpc>
                <a:spcPct val="96000"/>
              </a:lnSpc>
              <a:buNone/>
            </a:pPr>
            <a:r>
              <a:rPr lang="en-US" sz="900" b="1" dirty="0">
                <a:solidFill>
                  <a:srgbClr val="F5B700"/>
                </a:solidFill>
                <a:latin typeface="Arial"/>
                <a:ea typeface="Arial"/>
                <a:cs typeface="Arial"/>
              </a:rPr>
              <a:t>[94]  </a:t>
            </a:r>
            <a:r>
              <a:rPr lang="en-US" sz="900" b="1" dirty="0" u="sng">
                <a:solidFill>
                  <a:srgbClr val="FFFFFF"/>
                </a:solidFill>
                <a:latin typeface="Arial"/>
                <a:ea typeface="Arial"/>
                <a:cs typeface="Arial"/>
                <a:hlinkClick r:id="rIdL23"/>
              </a:rPr>
              <a:t>Pub/Sub: dead-letter topics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4"/>
              </a:rPr>
              <a:t>docs.cloud.google.com/pubsub/docs/dead-letter-topics</a:t>
            </a:r>
          </a:p>
          <a:p>
            <a:pPr algn="l" marL="0" indent="0">
              <a:lnSpc>
                <a:spcPct val="96000"/>
              </a:lnSpc>
              <a:buNone/>
            </a:pPr>
            <a:r>
              <a:rPr lang="en-US" sz="900" b="1" dirty="0">
                <a:solidFill>
                  <a:srgbClr val="F5B700"/>
                </a:solidFill>
                <a:latin typeface="Arial"/>
                <a:ea typeface="Arial"/>
                <a:cs typeface="Arial"/>
              </a:rPr>
              <a:t>[95]  </a:t>
            </a:r>
            <a:r>
              <a:rPr lang="en-US" sz="900" b="1" dirty="0" u="sng">
                <a:solidFill>
                  <a:srgbClr val="FFFFFF"/>
                </a:solidFill>
                <a:latin typeface="Arial"/>
                <a:ea typeface="Arial"/>
                <a:cs typeface="Arial"/>
                <a:hlinkClick r:id="rIdL25"/>
              </a:rPr>
              <a:t>Pub/Sub: subscription filters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6"/>
              </a:rPr>
              <a:t>docs.cloud.google.com/pubsub/docs/subscription-message-filter</a:t>
            </a:r>
          </a:p>
        </p:txBody>
      </p:sp>
      <p:sp>
        <p:nvSpPr>
          <p:cNvPr id="159" name="ref 159"/>
          <p:cNvSpPr/>
          <p:nvPr/>
        </p:nvSpPr>
        <p:spPr>
          <a:xfrm>
            <a:off x="6172200" y="2057400"/>
            <a:ext cx="5468112" cy="4315968"/>
          </a:xfrm>
          <a:prstGeom prst="roundRect">
            <a:avLst>
              <a:gd name="adj" fmla="val 4000"/>
            </a:avLst>
          </a:prstGeom>
          <a:solidFill>
            <a:srgbClr val="2A1A16"/>
          </a:solidFill>
          <a:ln w="9525">
            <a:solidFill>
              <a:srgbClr val="D9B48A"/>
            </a:solidFill>
          </a:ln>
        </p:spPr>
        <p:txBody>
          <a:bodyPr wrap="square" lIns="146304" tIns="73152" rIns="128016" bIns="45720" rtlCol="0" anchor="t">
            <a:noAutofit/>
          </a:bodyPr>
          <a:lstStyle/>
          <a:p>
            <a:pPr algn="l" marL="0" indent="0">
              <a:lnSpc>
                <a:spcPct val="96000"/>
              </a:lnSpc>
              <a:buNone/>
            </a:pPr>
            <a:r>
              <a:rPr lang="en-US" sz="900" b="1" dirty="0">
                <a:solidFill>
                  <a:srgbClr val="F5B700"/>
                </a:solidFill>
                <a:latin typeface="Arial"/>
                <a:ea typeface="Arial"/>
                <a:cs typeface="Arial"/>
              </a:rPr>
              <a:t>[96]  </a:t>
            </a:r>
            <a:r>
              <a:rPr lang="en-US" sz="900" b="1" dirty="0" u="sng">
                <a:solidFill>
                  <a:srgbClr val="FFFFFF"/>
                </a:solidFill>
                <a:latin typeface="Arial"/>
                <a:ea typeface="Arial"/>
                <a:cs typeface="Arial"/>
                <a:hlinkClick r:id="rIdL27"/>
              </a:rPr>
              <a:t>OTel Collector: routing connector</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8"/>
              </a:rPr>
              <a:t>github.com/open-telemetry/opentelemetry-collector-contrib/blo…</a:t>
            </a:r>
          </a:p>
          <a:p>
            <a:pPr algn="l" marL="0" indent="0">
              <a:lnSpc>
                <a:spcPct val="96000"/>
              </a:lnSpc>
              <a:buNone/>
            </a:pPr>
            <a:r>
              <a:rPr lang="en-US" sz="900" b="1" dirty="0">
                <a:solidFill>
                  <a:srgbClr val="F5B700"/>
                </a:solidFill>
                <a:latin typeface="Arial"/>
                <a:ea typeface="Arial"/>
                <a:cs typeface="Arial"/>
              </a:rPr>
              <a:t>[97]  </a:t>
            </a:r>
            <a:r>
              <a:rPr lang="en-US" sz="900" b="1" dirty="0" u="sng">
                <a:solidFill>
                  <a:srgbClr val="FFFFFF"/>
                </a:solidFill>
                <a:latin typeface="Arial"/>
                <a:ea typeface="Arial"/>
                <a:cs typeface="Arial"/>
                <a:hlinkClick r:id="rIdL29"/>
              </a:rPr>
              <a:t>Agent Control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0"/>
              </a:rPr>
              <a:t>github.com/agentcontrol/agent-control</a:t>
            </a:r>
          </a:p>
          <a:p>
            <a:pPr algn="l" marL="0" indent="0">
              <a:lnSpc>
                <a:spcPct val="96000"/>
              </a:lnSpc>
              <a:buNone/>
            </a:pPr>
            <a:r>
              <a:rPr lang="en-US" sz="900" b="1" dirty="0">
                <a:solidFill>
                  <a:srgbClr val="F5B700"/>
                </a:solidFill>
                <a:latin typeface="Arial"/>
                <a:ea typeface="Arial"/>
                <a:cs typeface="Arial"/>
              </a:rPr>
              <a:t>[98]  </a:t>
            </a:r>
            <a:r>
              <a:rPr lang="en-US" sz="900" b="1" dirty="0" u="sng">
                <a:solidFill>
                  <a:srgbClr val="FFFFFF"/>
                </a:solidFill>
                <a:latin typeface="Arial"/>
                <a:ea typeface="Arial"/>
                <a:cs typeface="Arial"/>
                <a:hlinkClick r:id="rIdL31"/>
              </a:rPr>
              <a:t>Galileo blog: announcing Agent Control</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2"/>
              </a:rPr>
              <a:t>galileo.ai/blog/announcing-agent-control</a:t>
            </a:r>
          </a:p>
          <a:p>
            <a:pPr algn="l" marL="0" indent="0">
              <a:lnSpc>
                <a:spcPct val="96000"/>
              </a:lnSpc>
              <a:buNone/>
            </a:pPr>
            <a:r>
              <a:rPr lang="en-US" sz="900" b="1" dirty="0">
                <a:solidFill>
                  <a:srgbClr val="F5B700"/>
                </a:solidFill>
                <a:latin typeface="Arial"/>
                <a:ea typeface="Arial"/>
                <a:cs typeface="Arial"/>
              </a:rPr>
              <a:t>[99]  </a:t>
            </a:r>
            <a:r>
              <a:rPr lang="en-US" sz="900" b="1" dirty="0" u="sng">
                <a:solidFill>
                  <a:srgbClr val="FFFFFF"/>
                </a:solidFill>
                <a:latin typeface="Arial"/>
                <a:ea typeface="Arial"/>
                <a:cs typeface="Arial"/>
                <a:hlinkClick r:id="rIdL33"/>
              </a:rPr>
              <a:t>Press release: Galileo open-sources Agent Control (403 to bots)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4"/>
              </a:rPr>
              <a:t>apnews.com/press-release/globenewswire-mobile/galileo-release…</a:t>
            </a:r>
          </a:p>
          <a:p>
            <a:pPr algn="l" marL="0" indent="0">
              <a:lnSpc>
                <a:spcPct val="96000"/>
              </a:lnSpc>
              <a:buNone/>
            </a:pPr>
            <a:r>
              <a:rPr lang="en-US" sz="900" b="1" dirty="0">
                <a:solidFill>
                  <a:srgbClr val="F5B700"/>
                </a:solidFill>
                <a:latin typeface="Arial"/>
                <a:ea typeface="Arial"/>
                <a:cs typeface="Arial"/>
              </a:rPr>
              <a:t>[100]  </a:t>
            </a:r>
            <a:r>
              <a:rPr lang="en-US" sz="900" b="1" dirty="0" u="sng">
                <a:solidFill>
                  <a:srgbClr val="FFFFFF"/>
                </a:solidFill>
                <a:latin typeface="Arial"/>
                <a:ea typeface="Arial"/>
                <a:cs typeface="Arial"/>
                <a:hlinkClick r:id="rIdL35"/>
              </a:rPr>
              <a:t>Agent Control: architecture</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6"/>
              </a:rPr>
              <a:t>docs.agentcontrol.dev/concepts/architecture</a:t>
            </a:r>
          </a:p>
          <a:p>
            <a:pPr algn="l" marL="0" indent="0">
              <a:lnSpc>
                <a:spcPct val="96000"/>
              </a:lnSpc>
              <a:buNone/>
            </a:pPr>
            <a:r>
              <a:rPr lang="en-US" sz="900" b="1" dirty="0">
                <a:solidFill>
                  <a:srgbClr val="F5B700"/>
                </a:solidFill>
                <a:latin typeface="Arial"/>
                <a:ea typeface="Arial"/>
                <a:cs typeface="Arial"/>
              </a:rPr>
              <a:t>[101]  </a:t>
            </a:r>
            <a:r>
              <a:rPr lang="en-US" sz="900" b="1" dirty="0" u="sng">
                <a:solidFill>
                  <a:srgbClr val="FFFFFF"/>
                </a:solidFill>
                <a:latin typeface="Arial"/>
                <a:ea typeface="Arial"/>
                <a:cs typeface="Arial"/>
                <a:hlinkClick r:id="rIdL37"/>
              </a:rPr>
              <a:t>Agent Control: server</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8"/>
              </a:rPr>
              <a:t>docs.agentcontrol.dev/components/server</a:t>
            </a:r>
          </a:p>
          <a:p>
            <a:pPr algn="l" marL="0" indent="0">
              <a:lnSpc>
                <a:spcPct val="96000"/>
              </a:lnSpc>
              <a:buNone/>
            </a:pPr>
            <a:r>
              <a:rPr lang="en-US" sz="900" b="1" dirty="0">
                <a:solidFill>
                  <a:srgbClr val="F5B700"/>
                </a:solidFill>
                <a:latin typeface="Arial"/>
                <a:ea typeface="Arial"/>
                <a:cs typeface="Arial"/>
              </a:rPr>
              <a:t>[102]  </a:t>
            </a:r>
            <a:r>
              <a:rPr lang="en-US" sz="900" b="1" dirty="0" u="sng">
                <a:solidFill>
                  <a:srgbClr val="FFFFFF"/>
                </a:solidFill>
                <a:latin typeface="Arial"/>
                <a:ea typeface="Arial"/>
                <a:cs typeface="Arial"/>
                <a:hlinkClick r:id="rIdL39"/>
              </a:rPr>
              <a:t>Microsoft Agent Governance Toolkit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0"/>
              </a:rPr>
              <a:t>github.com/microsoft/agent-governance-toolkit</a:t>
            </a:r>
          </a:p>
          <a:p>
            <a:pPr algn="l" marL="0" indent="0">
              <a:lnSpc>
                <a:spcPct val="96000"/>
              </a:lnSpc>
              <a:buNone/>
            </a:pPr>
            <a:r>
              <a:rPr lang="en-US" sz="900" b="1" dirty="0">
                <a:solidFill>
                  <a:srgbClr val="F5B700"/>
                </a:solidFill>
                <a:latin typeface="Arial"/>
                <a:ea typeface="Arial"/>
                <a:cs typeface="Arial"/>
              </a:rPr>
              <a:t>[103]  </a:t>
            </a:r>
            <a:r>
              <a:rPr lang="en-US" sz="900" b="1" dirty="0" u="sng">
                <a:solidFill>
                  <a:srgbClr val="FFFFFF"/>
                </a:solidFill>
                <a:latin typeface="Arial"/>
                <a:ea typeface="Arial"/>
                <a:cs typeface="Arial"/>
                <a:hlinkClick r:id="rIdL41"/>
              </a:rPr>
              <a:t>Microsoft AGT: FAQ</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2"/>
              </a:rPr>
              <a:t>github.com/microsoft/agent-governance-toolkit/blob/main/docs/…</a:t>
            </a:r>
          </a:p>
          <a:p>
            <a:pPr algn="l" marL="0" indent="0">
              <a:lnSpc>
                <a:spcPct val="96000"/>
              </a:lnSpc>
              <a:buNone/>
            </a:pPr>
            <a:r>
              <a:rPr lang="en-US" sz="900" b="1" dirty="0">
                <a:solidFill>
                  <a:srgbClr val="F5B700"/>
                </a:solidFill>
                <a:latin typeface="Arial"/>
                <a:ea typeface="Arial"/>
                <a:cs typeface="Arial"/>
              </a:rPr>
              <a:t>[104]  </a:t>
            </a:r>
            <a:r>
              <a:rPr lang="en-US" sz="900" b="1" dirty="0" u="sng">
                <a:solidFill>
                  <a:srgbClr val="FFFFFF"/>
                </a:solidFill>
                <a:latin typeface="Arial"/>
                <a:ea typeface="Arial"/>
                <a:cs typeface="Arial"/>
                <a:hlinkClick r:id="rIdL43"/>
              </a:rPr>
              <a:t>Jaeger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4"/>
              </a:rPr>
              <a:t>github.com/jaegertracing/jaeger</a:t>
            </a:r>
          </a:p>
          <a:p>
            <a:pPr algn="l" marL="0" indent="0">
              <a:lnSpc>
                <a:spcPct val="96000"/>
              </a:lnSpc>
              <a:buNone/>
            </a:pPr>
            <a:r>
              <a:rPr lang="en-US" sz="900" b="1" dirty="0">
                <a:solidFill>
                  <a:srgbClr val="F5B700"/>
                </a:solidFill>
                <a:latin typeface="Arial"/>
                <a:ea typeface="Arial"/>
                <a:cs typeface="Arial"/>
              </a:rPr>
              <a:t>[105]  </a:t>
            </a:r>
            <a:r>
              <a:rPr lang="en-US" sz="900" b="1" dirty="0" u="sng">
                <a:solidFill>
                  <a:srgbClr val="FFFFFF"/>
                </a:solidFill>
                <a:latin typeface="Arial"/>
                <a:ea typeface="Arial"/>
                <a:cs typeface="Arial"/>
                <a:hlinkClick r:id="rIdL45"/>
              </a:rPr>
              <a:t>Open Policy Agent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6"/>
              </a:rPr>
              <a:t>github.com/open-policy-agent/opa</a:t>
            </a:r>
          </a:p>
          <a:p>
            <a:pPr algn="l" marL="0" indent="0">
              <a:lnSpc>
                <a:spcPct val="96000"/>
              </a:lnSpc>
              <a:buNone/>
            </a:pPr>
            <a:r>
              <a:rPr lang="en-US" sz="900" b="1" dirty="0">
                <a:solidFill>
                  <a:srgbClr val="F5B700"/>
                </a:solidFill>
                <a:latin typeface="Arial"/>
                <a:ea typeface="Arial"/>
                <a:cs typeface="Arial"/>
              </a:rPr>
              <a:t>[106]  </a:t>
            </a:r>
            <a:r>
              <a:rPr lang="en-US" sz="900" b="1" dirty="0" u="sng">
                <a:solidFill>
                  <a:srgbClr val="FFFFFF"/>
                </a:solidFill>
                <a:latin typeface="Arial"/>
                <a:ea typeface="Arial"/>
                <a:cs typeface="Arial"/>
                <a:hlinkClick r:id="rIdL47"/>
              </a:rPr>
              <a:t>Cedar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8"/>
              </a:rPr>
              <a:t>github.com/cedar-policy/cedar</a:t>
            </a:r>
          </a:p>
          <a:p>
            <a:pPr algn="l" marL="0" indent="0">
              <a:lnSpc>
                <a:spcPct val="96000"/>
              </a:lnSpc>
              <a:buNone/>
            </a:pPr>
            <a:r>
              <a:rPr lang="en-US" sz="900" b="1" dirty="0">
                <a:solidFill>
                  <a:srgbClr val="F5B700"/>
                </a:solidFill>
                <a:latin typeface="Arial"/>
                <a:ea typeface="Arial"/>
                <a:cs typeface="Arial"/>
              </a:rPr>
              <a:t>[107]  </a:t>
            </a:r>
            <a:r>
              <a:rPr lang="en-US" sz="900" b="1" dirty="0" u="sng">
                <a:solidFill>
                  <a:srgbClr val="FFFFFF"/>
                </a:solidFill>
                <a:latin typeface="Arial"/>
                <a:ea typeface="Arial"/>
                <a:cs typeface="Arial"/>
                <a:hlinkClick r:id="rIdL49"/>
              </a:rPr>
              <a:t>NeMo Guardrails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50"/>
              </a:rPr>
              <a:t>github.com/NVIDIA-NeMo/Guardrails</a:t>
            </a:r>
          </a:p>
        </p:txBody>
      </p:sp>
      <p:sp>
        <p:nvSpPr>
          <p:cNvPr id="160" name="gal 160"/>
          <p:cNvSpPr/>
          <p:nvPr/>
        </p:nvSpPr>
        <p:spPr>
          <a:xfrm>
            <a:off x="548640" y="6473952"/>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Links checked 15 Oct 2026; all resolve except [99], which blocks bots (403). Pub/Sub seek is [80]; Langfuse, Opik, Phoenix, SigNoz and Grafana rows reuse [51]–[69].</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24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Red teaming  ·  CI/CD gate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Red-team gate in CI/CD:</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like the Sysdig image scan, for agents</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331720"/>
            <a:ext cx="868680" cy="132588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Commit</a:t>
            </a:r>
          </a:p>
          <a:p>
            <a:pPr algn="l" marL="0" indent="0">
              <a:lnSpc>
                <a:spcPct val="92000"/>
              </a:lnSpc>
              <a:buNone/>
            </a:pPr>
            <a:r>
              <a:rPr lang="en-US" sz="800" dirty="0">
                <a:solidFill>
                  <a:srgbClr val="F3E6D6"/>
                </a:solidFill>
                <a:latin typeface="Arial"/>
                <a:ea typeface="Arial"/>
                <a:cs typeface="Arial"/>
              </a:rPr>
              <a:t>any CI system (open question)</a:t>
            </a:r>
          </a:p>
        </p:txBody>
      </p:sp>
      <p:cxnSp>
        <p:nvCxnSpPr>
          <p:cNvPr id="162" name="g2 flow 162"/>
          <p:cNvCxnSpPr/>
          <p:nvPr/>
        </p:nvCxnSpPr>
        <p:spPr>
          <a:xfrm>
            <a:off x="1417320" y="2994660"/>
            <a:ext cx="215798" cy="0"/>
          </a:xfrm>
          <a:prstGeom prst="line">
            <a:avLst/>
          </a:prstGeom>
          <a:ln w="15875">
            <a:solidFill>
              <a:srgbClr val="EE0000"/>
            </a:solidFill>
            <a:tailEnd type="triangle" w="med" len="med"/>
          </a:ln>
        </p:spPr>
      </p:cxnSp>
      <p:sp>
        <p:nvSpPr>
          <p:cNvPr id="163" name="gal 163"/>
          <p:cNvSpPr/>
          <p:nvPr/>
        </p:nvSpPr>
        <p:spPr>
          <a:xfrm>
            <a:off x="1633118" y="2331720"/>
            <a:ext cx="868680" cy="132588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Build</a:t>
            </a:r>
          </a:p>
          <a:p>
            <a:pPr algn="l" marL="0" indent="0">
              <a:lnSpc>
                <a:spcPct val="92000"/>
              </a:lnSpc>
              <a:buNone/>
            </a:pPr>
            <a:r>
              <a:rPr lang="en-US" sz="800" dirty="0">
                <a:solidFill>
                  <a:srgbClr val="F3E6D6"/>
                </a:solidFill>
                <a:latin typeface="Arial"/>
                <a:ea typeface="Arial"/>
                <a:cs typeface="Arial"/>
              </a:rPr>
              <a:t>container image</a:t>
            </a:r>
          </a:p>
        </p:txBody>
      </p:sp>
      <p:cxnSp>
        <p:nvCxnSpPr>
          <p:cNvPr id="164" name="g2 flow 164"/>
          <p:cNvCxnSpPr/>
          <p:nvPr/>
        </p:nvCxnSpPr>
        <p:spPr>
          <a:xfrm>
            <a:off x="2501798" y="2994660"/>
            <a:ext cx="215798" cy="0"/>
          </a:xfrm>
          <a:prstGeom prst="line">
            <a:avLst/>
          </a:prstGeom>
          <a:ln w="15875">
            <a:solidFill>
              <a:srgbClr val="EE0000"/>
            </a:solidFill>
            <a:tailEnd type="triangle" w="med" len="med"/>
          </a:ln>
        </p:spPr>
      </p:cxnSp>
      <p:sp>
        <p:nvSpPr>
          <p:cNvPr id="165" name="gal 165"/>
          <p:cNvSpPr/>
          <p:nvPr/>
        </p:nvSpPr>
        <p:spPr>
          <a:xfrm>
            <a:off x="2717597" y="2331720"/>
            <a:ext cx="1280160" cy="1325880"/>
          </a:xfrm>
          <a:prstGeom prst="roundRect">
            <a:avLst>
              <a:gd name="adj" fmla="val 10000"/>
            </a:avLst>
          </a:prstGeom>
          <a:solidFill>
            <a:srgbClr val="2A1A16"/>
          </a:solidFill>
          <a:ln w="12700">
            <a:solidFill>
              <a:srgbClr val="D9B48A"/>
            </a:solidFill>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Sysdig image scan</a:t>
            </a:r>
          </a:p>
          <a:p>
            <a:pPr algn="l" marL="0" indent="0">
              <a:lnSpc>
                <a:spcPct val="92000"/>
              </a:lnSpc>
              <a:buNone/>
            </a:pPr>
            <a:r>
              <a:rPr lang="en-US" sz="800" dirty="0">
                <a:solidFill>
                  <a:srgbClr val="F3E6D6"/>
                </a:solidFill>
                <a:latin typeface="Arial"/>
                <a:ea typeface="Arial"/>
                <a:cs typeface="Arial"/>
              </a:rPr>
              <a:t>CVEs + image policy; blocks today [131]</a:t>
            </a:r>
          </a:p>
        </p:txBody>
      </p:sp>
      <p:cxnSp>
        <p:nvCxnSpPr>
          <p:cNvPr id="166" name="g2 flow 166"/>
          <p:cNvCxnSpPr/>
          <p:nvPr/>
        </p:nvCxnSpPr>
        <p:spPr>
          <a:xfrm>
            <a:off x="3997757" y="2994660"/>
            <a:ext cx="215798" cy="0"/>
          </a:xfrm>
          <a:prstGeom prst="line">
            <a:avLst/>
          </a:prstGeom>
          <a:ln w="15875">
            <a:solidFill>
              <a:srgbClr val="EE0000"/>
            </a:solidFill>
            <a:tailEnd type="triangle" w="med" len="med"/>
          </a:ln>
        </p:spPr>
      </p:cxnSp>
      <p:sp>
        <p:nvSpPr>
          <p:cNvPr id="167" name="gal 167"/>
          <p:cNvSpPr/>
          <p:nvPr/>
        </p:nvSpPr>
        <p:spPr>
          <a:xfrm>
            <a:off x="4213555" y="2331720"/>
            <a:ext cx="2286000" cy="13258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Static AI scan</a:t>
            </a:r>
          </a:p>
          <a:p>
            <a:pPr algn="l" marL="0" indent="0">
              <a:lnSpc>
                <a:spcPct val="92000"/>
              </a:lnSpc>
              <a:buNone/>
            </a:pPr>
            <a:r>
              <a:rPr lang="en-US" sz="800" dirty="0">
                <a:solidFill>
                  <a:srgbClr val="F3E6D6"/>
                </a:solidFill>
                <a:latin typeface="Arial"/>
                <a:ea typeface="Arial"/>
                <a:cs typeface="Arial"/>
              </a:rPr>
              <a:t>SecureAI-Scan: MIT, v0.12, one maintainer → advisory, SARIF [108][109]</a:t>
            </a:r>
          </a:p>
          <a:p>
            <a:pPr algn="l" marL="0" indent="0">
              <a:lnSpc>
                <a:spcPct val="92000"/>
              </a:lnSpc>
              <a:buNone/>
            </a:pPr>
            <a:r>
              <a:rPr lang="en-US" sz="800" dirty="0">
                <a:solidFill>
                  <a:srgbClr val="F3E6D6"/>
                </a:solidFill>
                <a:latin typeface="Arial"/>
                <a:ea typeface="Arial"/>
                <a:cs typeface="Arial"/>
              </a:rPr>
              <a:t>Snyk Agent Scan (Apache-2.0): MCP, skills, configs [110]</a:t>
            </a:r>
          </a:p>
          <a:p>
            <a:pPr algn="l" marL="0" indent="0">
              <a:lnSpc>
                <a:spcPct val="92000"/>
              </a:lnSpc>
              <a:buNone/>
            </a:pPr>
            <a:r>
              <a:rPr lang="en-US" sz="800" dirty="0">
                <a:solidFill>
                  <a:srgbClr val="F3E6D6"/>
                </a:solidFill>
                <a:latin typeface="Arial"/>
                <a:ea typeface="Arial"/>
                <a:cs typeface="Arial"/>
              </a:rPr>
              <a:t>tool manifest vs registry allow-list</a:t>
            </a:r>
          </a:p>
        </p:txBody>
      </p:sp>
      <p:cxnSp>
        <p:nvCxnSpPr>
          <p:cNvPr id="168" name="g2 flow 168"/>
          <p:cNvCxnSpPr/>
          <p:nvPr/>
        </p:nvCxnSpPr>
        <p:spPr>
          <a:xfrm>
            <a:off x="6499555" y="2994660"/>
            <a:ext cx="215798" cy="0"/>
          </a:xfrm>
          <a:prstGeom prst="line">
            <a:avLst/>
          </a:prstGeom>
          <a:ln w="15875">
            <a:solidFill>
              <a:srgbClr val="EE0000"/>
            </a:solidFill>
            <a:tailEnd type="triangle" w="med" len="med"/>
          </a:ln>
        </p:spPr>
      </p:cxnSp>
      <p:sp>
        <p:nvSpPr>
          <p:cNvPr id="169" name="gal 169"/>
          <p:cNvSpPr/>
          <p:nvPr/>
        </p:nvSpPr>
        <p:spPr>
          <a:xfrm>
            <a:off x="6715354" y="2331720"/>
            <a:ext cx="1783080" cy="13258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Staging behind Kairos gateway</a:t>
            </a:r>
          </a:p>
          <a:p>
            <a:pPr algn="l" marL="0" indent="0">
              <a:lnSpc>
                <a:spcPct val="92000"/>
              </a:lnSpc>
              <a:buNone/>
            </a:pPr>
            <a:r>
              <a:rPr lang="en-US" sz="800" dirty="0">
                <a:solidFill>
                  <a:srgbClr val="F3E6D6"/>
                </a:solidFill>
                <a:latin typeface="Arial"/>
                <a:ea typeface="Arial"/>
                <a:cs typeface="Arial"/>
              </a:rPr>
              <a:t>same guardrails as prod; tool mocks, never production tools</a:t>
            </a:r>
          </a:p>
        </p:txBody>
      </p:sp>
      <p:cxnSp>
        <p:nvCxnSpPr>
          <p:cNvPr id="170" name="g2 flow 170"/>
          <p:cNvCxnSpPr/>
          <p:nvPr/>
        </p:nvCxnSpPr>
        <p:spPr>
          <a:xfrm>
            <a:off x="8498434" y="2994660"/>
            <a:ext cx="215798" cy="0"/>
          </a:xfrm>
          <a:prstGeom prst="line">
            <a:avLst/>
          </a:prstGeom>
          <a:ln w="15875">
            <a:solidFill>
              <a:srgbClr val="EE0000"/>
            </a:solidFill>
            <a:tailEnd type="triangle" w="med" len="med"/>
          </a:ln>
        </p:spPr>
      </p:cxnSp>
      <p:sp>
        <p:nvSpPr>
          <p:cNvPr id="171" name="gal 171"/>
          <p:cNvSpPr/>
          <p:nvPr/>
        </p:nvSpPr>
        <p:spPr>
          <a:xfrm>
            <a:off x="8714232" y="2331720"/>
            <a:ext cx="2926080" cy="132588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Dynamic probes</a:t>
            </a:r>
          </a:p>
          <a:p>
            <a:pPr algn="l" marL="0" indent="0">
              <a:lnSpc>
                <a:spcPct val="92000"/>
              </a:lnSpc>
              <a:buNone/>
            </a:pPr>
            <a:r>
              <a:rPr lang="en-US" sz="800" dirty="0">
                <a:solidFill>
                  <a:srgbClr val="F3E6D6"/>
                </a:solidFill>
                <a:latin typeface="Arial"/>
                <a:ea typeface="Arial"/>
                <a:cs typeface="Arial"/>
              </a:rPr>
              <a:t>promptfoo per PR, small set [113]</a:t>
            </a:r>
          </a:p>
          <a:p>
            <a:pPr algn="l" marL="0" indent="0">
              <a:lnSpc>
                <a:spcPct val="92000"/>
              </a:lnSpc>
              <a:buNone/>
            </a:pPr>
            <a:r>
              <a:rPr lang="en-US" sz="800" dirty="0">
                <a:solidFill>
                  <a:srgbClr val="F3E6D6"/>
                </a:solidFill>
                <a:latin typeface="Arial"/>
                <a:ea typeface="Arial"/>
                <a:cs typeface="Arial"/>
              </a:rPr>
              <a:t>garak sweep nightly / release [111]</a:t>
            </a:r>
          </a:p>
          <a:p>
            <a:pPr algn="l" marL="0" indent="0">
              <a:lnSpc>
                <a:spcPct val="92000"/>
              </a:lnSpc>
              <a:buNone/>
            </a:pPr>
            <a:r>
              <a:rPr lang="en-US" sz="800" dirty="0">
                <a:solidFill>
                  <a:srgbClr val="F3E6D6"/>
                </a:solidFill>
                <a:latin typeface="Arial"/>
                <a:ea typeface="Arial"/>
                <a:cs typeface="Arial"/>
              </a:rPr>
              <a:t>PyRIT multi-turn for Tier 1 [112]</a:t>
            </a:r>
          </a:p>
          <a:p>
            <a:pPr algn="l" marL="0" indent="0">
              <a:lnSpc>
                <a:spcPct val="92000"/>
              </a:lnSpc>
              <a:buNone/>
            </a:pPr>
            <a:r>
              <a:rPr lang="en-US" sz="800" dirty="0">
                <a:solidFill>
                  <a:srgbClr val="F3E6D6"/>
                </a:solidFill>
                <a:latin typeface="Arial"/>
                <a:ea typeface="Arial"/>
                <a:cs typeface="Arial"/>
              </a:rPr>
              <a:t>Tier 1 also: indirect injection, tool abuse, memory poisoning</a:t>
            </a:r>
          </a:p>
        </p:txBody>
      </p:sp>
      <p:sp>
        <p:nvSpPr>
          <p:cNvPr id="172" name="gal 172"/>
          <p:cNvSpPr/>
          <p:nvPr/>
        </p:nvSpPr>
        <p:spPr>
          <a:xfrm>
            <a:off x="9537192" y="3886200"/>
            <a:ext cx="2103120" cy="96012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OWASP mapping</a:t>
            </a:r>
          </a:p>
          <a:p>
            <a:pPr algn="l" marL="0" indent="0">
              <a:lnSpc>
                <a:spcPct val="92000"/>
              </a:lnSpc>
              <a:buNone/>
            </a:pPr>
            <a:r>
              <a:rPr lang="en-US" sz="800" dirty="0">
                <a:solidFill>
                  <a:srgbClr val="F3E6D6"/>
                </a:solidFill>
                <a:latin typeface="Arial"/>
                <a:ea typeface="Arial"/>
                <a:cs typeface="Arial"/>
              </a:rPr>
              <a:t>LLM Top 10 [129] + Agentic Top 10 (ASI01–10) [130]</a:t>
            </a:r>
          </a:p>
          <a:p>
            <a:pPr algn="l" marL="0" indent="0">
              <a:lnSpc>
                <a:spcPct val="92000"/>
              </a:lnSpc>
              <a:buNone/>
            </a:pPr>
            <a:r>
              <a:rPr lang="en-US" sz="800" dirty="0">
                <a:solidFill>
                  <a:srgbClr val="F3E6D6"/>
                </a:solidFill>
                <a:latin typeface="Arial"/>
                <a:ea typeface="Arial"/>
                <a:cs typeface="Arial"/>
              </a:rPr>
              <a:t>attack-success rate (ASR) per category, confirmed by tool-call / state evidence</a:t>
            </a:r>
          </a:p>
        </p:txBody>
      </p:sp>
      <p:cxnSp>
        <p:nvCxnSpPr>
          <p:cNvPr id="173" name="g2 flow 173"/>
          <p:cNvCxnSpPr/>
          <p:nvPr/>
        </p:nvCxnSpPr>
        <p:spPr>
          <a:xfrm>
            <a:off x="10588752" y="3657600"/>
            <a:ext cx="0" cy="228600"/>
          </a:xfrm>
          <a:prstGeom prst="line">
            <a:avLst/>
          </a:prstGeom>
          <a:ln w="15875">
            <a:solidFill>
              <a:srgbClr val="EE0000"/>
            </a:solidFill>
            <a:tailEnd type="triangle" w="med" len="med"/>
          </a:ln>
        </p:spPr>
      </p:cxnSp>
      <p:sp>
        <p:nvSpPr>
          <p:cNvPr id="174" name="gal 174"/>
          <p:cNvSpPr/>
          <p:nvPr/>
        </p:nvSpPr>
        <p:spPr>
          <a:xfrm>
            <a:off x="6400800" y="3886200"/>
            <a:ext cx="2926080" cy="960120"/>
          </a:xfrm>
          <a:prstGeom prst="roundRect">
            <a:avLst>
              <a:gd name="adj" fmla="val 10000"/>
            </a:avLst>
          </a:prstGeom>
          <a:solidFill>
            <a:srgbClr val="F5B700"/>
          </a:solidFill>
          <a:ln>
            <a:noFill/>
          </a:ln>
        </p:spPr>
        <p:txBody>
          <a:bodyPr wrap="square" lIns="91440" tIns="54864" rIns="73152" bIns="36576" rtlCol="0" anchor="t">
            <a:noAutofit/>
          </a:bodyPr>
          <a:lstStyle/>
          <a:p>
            <a:pPr algn="l" marL="0" indent="0">
              <a:lnSpc>
                <a:spcPct val="92000"/>
              </a:lnSpc>
              <a:buNone/>
            </a:pPr>
            <a:r>
              <a:rPr lang="en-US" sz="950" b="1" dirty="0">
                <a:solidFill>
                  <a:srgbClr val="141010"/>
                </a:solidFill>
                <a:latin typeface="Arial"/>
                <a:ea typeface="Arial"/>
                <a:cs typeface="Arial"/>
              </a:rPr>
              <a:t>Risk-tier gate</a:t>
            </a:r>
            <a:r>
              <a:rPr lang="en-US" sz="800" b="1" dirty="0">
                <a:solidFill>
                  <a:srgbClr val="141010"/>
                </a:solidFill>
                <a:latin typeface="Arial"/>
                <a:ea typeface="Arial"/>
                <a:cs typeface="Arial"/>
              </a:rPr>
              <a:t>   pass → release</a:t>
            </a:r>
          </a:p>
          <a:p>
            <a:pPr algn="l" marL="0" indent="0">
              <a:lnSpc>
                <a:spcPct val="92000"/>
              </a:lnSpc>
              <a:buNone/>
            </a:pPr>
            <a:r>
              <a:rPr lang="en-US" sz="800" dirty="0">
                <a:solidFill>
                  <a:srgbClr val="141010"/>
                </a:solidFill>
                <a:latin typeface="Arial"/>
                <a:ea typeface="Arial"/>
                <a:cs typeface="Arial"/>
              </a:rPr>
              <a:t>T1: block on high / critical, or ASR &gt; X%</a:t>
            </a:r>
          </a:p>
          <a:p>
            <a:pPr algn="l" marL="0" indent="0">
              <a:lnSpc>
                <a:spcPct val="92000"/>
              </a:lnSpc>
              <a:buNone/>
            </a:pPr>
            <a:r>
              <a:rPr lang="en-US" sz="800" dirty="0">
                <a:solidFill>
                  <a:srgbClr val="141010"/>
                </a:solidFill>
                <a:latin typeface="Arial"/>
                <a:ea typeface="Arial"/>
                <a:cs typeface="Arial"/>
              </a:rPr>
              <a:t>T2: block critical, warn high  ·  T3: warn only</a:t>
            </a:r>
          </a:p>
          <a:p>
            <a:pPr algn="l" marL="0" indent="0">
              <a:lnSpc>
                <a:spcPct val="92000"/>
              </a:lnSpc>
              <a:buNone/>
            </a:pPr>
            <a:r>
              <a:rPr lang="en-US" sz="800" dirty="0">
                <a:solidFill>
                  <a:srgbClr val="141010"/>
                </a:solidFill>
                <a:latin typeface="Arial"/>
                <a:ea typeface="Arial"/>
                <a:cs typeface="Arial"/>
              </a:rPr>
              <a:t>X is set by the security team</a:t>
            </a:r>
          </a:p>
        </p:txBody>
      </p:sp>
      <p:cxnSp>
        <p:nvCxnSpPr>
          <p:cNvPr id="175" name="g2 flow 175"/>
          <p:cNvCxnSpPr/>
          <p:nvPr/>
        </p:nvCxnSpPr>
        <p:spPr>
          <a:xfrm flipH="1">
            <a:off x="9326880" y="4366260"/>
            <a:ext cx="210312" cy="0"/>
          </a:xfrm>
          <a:prstGeom prst="line">
            <a:avLst/>
          </a:prstGeom>
          <a:ln w="15875">
            <a:solidFill>
              <a:srgbClr val="EE0000"/>
            </a:solidFill>
            <a:tailEnd type="triangle" w="med" len="med"/>
          </a:ln>
        </p:spPr>
      </p:cxnSp>
      <p:sp>
        <p:nvSpPr>
          <p:cNvPr id="176" name="gal 176"/>
          <p:cNvSpPr/>
          <p:nvPr/>
        </p:nvSpPr>
        <p:spPr>
          <a:xfrm>
            <a:off x="3657600" y="3886200"/>
            <a:ext cx="2514600" cy="96012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Release + report</a:t>
            </a:r>
          </a:p>
          <a:p>
            <a:pPr algn="l" marL="0" indent="0">
              <a:lnSpc>
                <a:spcPct val="92000"/>
              </a:lnSpc>
              <a:buNone/>
            </a:pPr>
            <a:r>
              <a:rPr lang="en-US" sz="800" dirty="0">
                <a:solidFill>
                  <a:srgbClr val="F3E6D6"/>
                </a:solidFill>
                <a:latin typeface="Arial"/>
                <a:ea typeface="Arial"/>
                <a:cs typeface="Arial"/>
              </a:rPr>
              <a:t>HTML / JSON artifact on the release; results to the agent registry; Langfuse / Galileo scores tagged redteam_run_id</a:t>
            </a:r>
          </a:p>
        </p:txBody>
      </p:sp>
      <p:cxnSp>
        <p:nvCxnSpPr>
          <p:cNvPr id="177" name="g2 flow 177"/>
          <p:cNvCxnSpPr/>
          <p:nvPr/>
        </p:nvCxnSpPr>
        <p:spPr>
          <a:xfrm flipH="1">
            <a:off x="6172200" y="4366260"/>
            <a:ext cx="228600" cy="0"/>
          </a:xfrm>
          <a:prstGeom prst="line">
            <a:avLst/>
          </a:prstGeom>
          <a:ln w="15875">
            <a:solidFill>
              <a:srgbClr val="EE0000"/>
            </a:solidFill>
            <a:tailEnd type="triangle" w="med" len="med"/>
          </a:ln>
        </p:spPr>
      </p:cxnSp>
      <p:sp>
        <p:nvSpPr>
          <p:cNvPr id="178" name="gal 178"/>
          <p:cNvSpPr/>
          <p:nvPr/>
        </p:nvSpPr>
        <p:spPr>
          <a:xfrm>
            <a:off x="548640" y="3886200"/>
            <a:ext cx="2880360" cy="96012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Post-deploy loop</a:t>
            </a:r>
          </a:p>
          <a:p>
            <a:pPr algn="l" marL="0" indent="0">
              <a:lnSpc>
                <a:spcPct val="92000"/>
              </a:lnSpc>
              <a:buNone/>
            </a:pPr>
            <a:r>
              <a:rPr lang="en-US" sz="800" dirty="0">
                <a:solidFill>
                  <a:srgbClr val="F3E6D6"/>
                </a:solidFill>
                <a:latin typeface="Arial"/>
                <a:ea typeface="Arial"/>
                <a:cs typeface="Arial"/>
              </a:rPr>
              <a:t>weekly garak / PyRIT on prod-shadow; re-run on model, prompt or tool change; monthly human red team for T1; track drift</a:t>
            </a:r>
          </a:p>
          <a:p>
            <a:pPr algn="l" marL="0" indent="0">
              <a:lnSpc>
                <a:spcPct val="92000"/>
              </a:lnSpc>
              <a:buNone/>
            </a:pPr>
            <a:r>
              <a:rPr lang="en-US" sz="800" dirty="0">
                <a:solidFill>
                  <a:srgbClr val="F3E6D6"/>
                </a:solidFill>
                <a:latin typeface="Arial"/>
                <a:ea typeface="Arial"/>
                <a:cs typeface="Arial"/>
              </a:rPr>
              <a:t>each finding → regression test + runtime control (slide 25)</a:t>
            </a:r>
          </a:p>
        </p:txBody>
      </p:sp>
      <p:cxnSp>
        <p:nvCxnSpPr>
          <p:cNvPr id="179" name="g2 flow 179"/>
          <p:cNvCxnSpPr/>
          <p:nvPr/>
        </p:nvCxnSpPr>
        <p:spPr>
          <a:xfrm flipH="1">
            <a:off x="3429000" y="4366260"/>
            <a:ext cx="228600" cy="0"/>
          </a:xfrm>
          <a:prstGeom prst="line">
            <a:avLst/>
          </a:prstGeom>
          <a:ln w="15875">
            <a:solidFill>
              <a:srgbClr val="EE0000"/>
            </a:solidFill>
            <a:tailEnd type="triangle" w="med" len="med"/>
          </a:ln>
        </p:spPr>
      </p:cxnSp>
      <p:sp>
        <p:nvSpPr>
          <p:cNvPr id="180" name="gal 180"/>
          <p:cNvSpPr/>
          <p:nvPr/>
        </p:nvSpPr>
        <p:spPr>
          <a:xfrm>
            <a:off x="6400800" y="5074920"/>
            <a:ext cx="2926080" cy="1188720"/>
          </a:xfrm>
          <a:prstGeom prst="roundRect">
            <a:avLst>
              <a:gd name="adj" fmla="val 10000"/>
            </a:avLst>
          </a:prstGeom>
          <a:solidFill>
            <a:srgbClr val="1E1412"/>
          </a:solidFill>
          <a:ln w="12700">
            <a:solidFill>
              <a:srgbClr val="D9B48A"/>
            </a:solidFill>
            <a:prstDash val="dash"/>
          </a:ln>
        </p:spPr>
        <p:txBody>
          <a:bodyPr wrap="square" lIns="73152" tIns="54864" rIns="54864" bIns="36576" rtlCol="0" anchor="t">
            <a:noAutofit/>
          </a:bodyPr>
          <a:lstStyle/>
          <a:p>
            <a:pPr algn="l" marL="0" indent="0">
              <a:lnSpc>
                <a:spcPct val="92000"/>
              </a:lnSpc>
              <a:buNone/>
            </a:pPr>
            <a:r>
              <a:rPr lang="en-US" sz="900" b="1" dirty="0">
                <a:solidFill>
                  <a:srgbClr val="FFFFFF"/>
                </a:solidFill>
                <a:latin typeface="Arial"/>
                <a:ea typeface="Arial"/>
                <a:cs typeface="Arial"/>
              </a:rPr>
              <a:t>Waiver workflow</a:t>
            </a:r>
          </a:p>
          <a:p>
            <a:pPr algn="l" marL="0" indent="0">
              <a:lnSpc>
                <a:spcPct val="92000"/>
              </a:lnSpc>
              <a:buNone/>
            </a:pPr>
            <a:r>
              <a:rPr lang="en-US" sz="800" dirty="0">
                <a:solidFill>
                  <a:srgbClr val="F3E6D6"/>
                </a:solidFill>
                <a:latin typeface="Arial"/>
                <a:ea typeface="Arial"/>
                <a:cs typeface="Arial"/>
              </a:rPr>
              <a:t>time-boxed exception: owner, expiry, compensating control</a:t>
            </a:r>
          </a:p>
          <a:p>
            <a:pPr algn="l" marL="0" indent="0">
              <a:lnSpc>
                <a:spcPct val="92000"/>
              </a:lnSpc>
              <a:buNone/>
            </a:pPr>
            <a:r>
              <a:rPr lang="en-US" sz="800" dirty="0">
                <a:solidFill>
                  <a:srgbClr val="F3E6D6"/>
                </a:solidFill>
                <a:latin typeface="Arial"/>
                <a:ea typeface="Arial"/>
                <a:cs typeface="Arial"/>
              </a:rPr>
              <a:t>stored in the registry; approved by the security CODEOWNER</a:t>
            </a:r>
          </a:p>
          <a:p>
            <a:pPr algn="l" marL="0" indent="0">
              <a:lnSpc>
                <a:spcPct val="92000"/>
              </a:lnSpc>
              <a:buNone/>
            </a:pPr>
            <a:r>
              <a:rPr lang="en-US" sz="800" dirty="0">
                <a:solidFill>
                  <a:srgbClr val="F3E6D6"/>
                </a:solidFill>
                <a:latin typeface="Arial"/>
                <a:ea typeface="Arial"/>
                <a:cs typeface="Arial"/>
              </a:rPr>
              <a:t>who owns waivers is an open question</a:t>
            </a:r>
          </a:p>
        </p:txBody>
      </p:sp>
      <p:cxnSp>
        <p:nvCxnSpPr>
          <p:cNvPr id="181" name="g2 flow 181"/>
          <p:cNvCxnSpPr/>
          <p:nvPr/>
        </p:nvCxnSpPr>
        <p:spPr>
          <a:xfrm>
            <a:off x="7863840" y="4846320"/>
            <a:ext cx="0" cy="228600"/>
          </a:xfrm>
          <a:prstGeom prst="line">
            <a:avLst/>
          </a:prstGeom>
          <a:ln w="15875">
            <a:solidFill>
              <a:srgbClr val="EE0000"/>
            </a:solidFill>
            <a:prstDash val="dash"/>
            <a:tailEnd type="triangle" w="med" len="med"/>
          </a:ln>
        </p:spPr>
      </p:cxnSp>
      <p:sp>
        <p:nvSpPr>
          <p:cNvPr id="182" name="gal 182"/>
          <p:cNvSpPr/>
          <p:nvPr/>
        </p:nvSpPr>
        <p:spPr>
          <a:xfrm>
            <a:off x="7909560" y="4864608"/>
            <a:ext cx="1280160" cy="182880"/>
          </a:xfrm>
          <a:prstGeom prst="rect">
            <a:avLst/>
          </a:prstGeom>
          <a:noFill/>
          <a:ln>
            <a:noFill/>
          </a:ln>
        </p:spPr>
        <p:txBody>
          <a:bodyPr wrap="square" lIns="0" tIns="0" rIns="0" bIns="0" rtlCol="0" anchor="ctr">
            <a:noAutofit/>
          </a:bodyPr>
          <a:lstStyle/>
          <a:p>
            <a:pPr algn="l" marL="0" indent="0">
              <a:buNone/>
            </a:pPr>
            <a:r>
              <a:rPr lang="en-US" sz="750" b="1" dirty="0">
                <a:solidFill>
                  <a:srgbClr val="F5B700"/>
                </a:solidFill>
                <a:latin typeface="Arial"/>
                <a:ea typeface="Arial"/>
                <a:cs typeface="Arial"/>
              </a:rPr>
              <a:t>fail → fix or waive</a:t>
            </a:r>
          </a:p>
        </p:txBody>
      </p:sp>
      <p:cxnSp>
        <p:nvCxnSpPr>
          <p:cNvPr id="183" name="g2 flow 183"/>
          <p:cNvCxnSpPr/>
          <p:nvPr/>
        </p:nvCxnSpPr>
        <p:spPr>
          <a:xfrm flipH="1">
            <a:off x="6291072" y="5669280"/>
            <a:ext cx="109728" cy="0"/>
          </a:xfrm>
          <a:prstGeom prst="line">
            <a:avLst/>
          </a:prstGeom>
          <a:ln w="15875">
            <a:solidFill>
              <a:srgbClr val="EE0000"/>
            </a:solidFill>
            <a:prstDash val="dash"/>
          </a:ln>
        </p:spPr>
      </p:cxnSp>
      <p:cxnSp>
        <p:nvCxnSpPr>
          <p:cNvPr id="184" name="g2 flow 184"/>
          <p:cNvCxnSpPr/>
          <p:nvPr/>
        </p:nvCxnSpPr>
        <p:spPr>
          <a:xfrm flipV="1">
            <a:off x="6291072" y="4549140"/>
            <a:ext cx="0" cy="1120140"/>
          </a:xfrm>
          <a:prstGeom prst="line">
            <a:avLst/>
          </a:prstGeom>
          <a:ln w="15875">
            <a:solidFill>
              <a:srgbClr val="EE0000"/>
            </a:solidFill>
            <a:prstDash val="dash"/>
          </a:ln>
        </p:spPr>
      </p:cxnSp>
      <p:cxnSp>
        <p:nvCxnSpPr>
          <p:cNvPr id="185" name="g2 flow 185"/>
          <p:cNvCxnSpPr/>
          <p:nvPr/>
        </p:nvCxnSpPr>
        <p:spPr>
          <a:xfrm flipH="1">
            <a:off x="6172200" y="4549140"/>
            <a:ext cx="118872" cy="0"/>
          </a:xfrm>
          <a:prstGeom prst="line">
            <a:avLst/>
          </a:prstGeom>
          <a:ln w="15875">
            <a:solidFill>
              <a:srgbClr val="EE0000"/>
            </a:solidFill>
            <a:prstDash val="dash"/>
            <a:tailEnd type="triangle" w="med" len="med"/>
          </a:ln>
        </p:spPr>
      </p:cxnSp>
      <p:sp>
        <p:nvSpPr>
          <p:cNvPr id="186" name="gal 186"/>
          <p:cNvSpPr/>
          <p:nvPr/>
        </p:nvSpPr>
        <p:spPr>
          <a:xfrm>
            <a:off x="548640" y="5074920"/>
            <a:ext cx="2880360" cy="1188720"/>
          </a:xfrm>
          <a:prstGeom prst="roundRect">
            <a:avLst>
              <a:gd name="adj" fmla="val 10000"/>
            </a:avLst>
          </a:prstGeom>
          <a:solidFill>
            <a:srgbClr val="1E1412"/>
          </a:solidFill>
          <a:ln w="12700">
            <a:solidFill>
              <a:srgbClr val="D9B48A"/>
            </a:solidFill>
            <a:prstDash val="dash"/>
          </a:ln>
        </p:spPr>
        <p:txBody>
          <a:bodyPr wrap="square" lIns="91440" tIns="54864" rIns="73152" bIns="36576" rtlCol="0" anchor="t">
            <a:noAutofit/>
          </a:bodyPr>
          <a:lstStyle/>
          <a:p>
            <a:pPr algn="l" marL="0" indent="0">
              <a:lnSpc>
                <a:spcPct val="92000"/>
              </a:lnSpc>
              <a:buNone/>
            </a:pPr>
            <a:r>
              <a:rPr lang="en-US" sz="900" b="1" dirty="0">
                <a:solidFill>
                  <a:srgbClr val="F5B700"/>
                </a:solidFill>
                <a:latin typeface="Arial"/>
                <a:ea typeface="Arial"/>
                <a:cs typeface="Arial"/>
              </a:rPr>
              <a:t>promptfoo caveat</a:t>
            </a:r>
          </a:p>
          <a:p>
            <a:pPr algn="l" marL="0" indent="0">
              <a:lnSpc>
                <a:spcPct val="92000"/>
              </a:lnSpc>
              <a:buNone/>
            </a:pPr>
            <a:r>
              <a:rPr lang="en-US" sz="800" dirty="0">
                <a:solidFill>
                  <a:srgbClr val="F3E6D6"/>
                </a:solidFill>
                <a:latin typeface="Arial"/>
                <a:ea typeface="Arial"/>
                <a:cs typeface="Arial"/>
              </a:rPr>
              <a:t>MIT [113]. OpenAI agreed to acquire it on 9 Mar 2026, subject to closing; promptfoo says it stays open source [114][115]. Vendor-neutrality risk: garak can take the per-PR slot.</a:t>
            </a:r>
          </a:p>
        </p:txBody>
      </p:sp>
      <p:sp>
        <p:nvSpPr>
          <p:cNvPr id="187" name="gal 187"/>
          <p:cNvSpPr/>
          <p:nvPr/>
        </p:nvSpPr>
        <p:spPr>
          <a:xfrm>
            <a:off x="3657600" y="5074920"/>
            <a:ext cx="2514600" cy="1188720"/>
          </a:xfrm>
          <a:prstGeom prst="roundRect">
            <a:avLst>
              <a:gd name="adj" fmla="val 10000"/>
            </a:avLst>
          </a:prstGeom>
          <a:solidFill>
            <a:srgbClr val="1E1412"/>
          </a:solidFill>
          <a:ln w="12700">
            <a:solidFill>
              <a:srgbClr val="D9B48A"/>
            </a:solidFill>
            <a:prstDash val="dash"/>
          </a:ln>
        </p:spPr>
        <p:txBody>
          <a:bodyPr wrap="square" lIns="91440" tIns="54864" rIns="73152" bIns="36576" rtlCol="0" anchor="t">
            <a:noAutofit/>
          </a:bodyPr>
          <a:lstStyle/>
          <a:p>
            <a:pPr algn="l" marL="0" indent="0">
              <a:lnSpc>
                <a:spcPct val="95000"/>
              </a:lnSpc>
              <a:buNone/>
            </a:pPr>
            <a:r>
              <a:rPr lang="en-US" sz="900" b="1" dirty="0">
                <a:solidFill>
                  <a:srgbClr val="F5B700"/>
                </a:solidFill>
                <a:latin typeface="Arial"/>
                <a:ea typeface="Arial"/>
                <a:cs typeface="Arial"/>
              </a:rPr>
              <a:t>Open questions</a:t>
            </a:r>
          </a:p>
          <a:p>
            <a:pPr algn="l" marL="0" indent="0">
              <a:lnSpc>
                <a:spcPct val="95000"/>
              </a:lnSpc>
              <a:buNone/>
            </a:pPr>
            <a:r>
              <a:rPr lang="en-US" sz="800" b="1" dirty="0">
                <a:solidFill>
                  <a:srgbClr val="F5B700"/>
                </a:solidFill>
                <a:latin typeface="Arial"/>
                <a:ea typeface="Arial"/>
                <a:cs typeface="Arial"/>
              </a:rPr>
              <a:t>?  </a:t>
            </a:r>
            <a:r>
              <a:rPr lang="en-US" sz="800" dirty="0">
                <a:solidFill>
                  <a:srgbClr val="F3E6D6"/>
                </a:solidFill>
                <a:latin typeface="Arial"/>
                <a:ea typeface="Arial"/>
                <a:cs typeface="Arial"/>
              </a:rPr>
              <a:t>Which CI system: GitHub Actions, Jenkins, Cloud Build?</a:t>
            </a:r>
          </a:p>
          <a:p>
            <a:pPr algn="l" marL="0" indent="0">
              <a:lnSpc>
                <a:spcPct val="95000"/>
              </a:lnSpc>
              <a:buNone/>
            </a:pPr>
            <a:r>
              <a:rPr lang="en-US" sz="800" b="1" dirty="0">
                <a:solidFill>
                  <a:srgbClr val="F5B700"/>
                </a:solidFill>
                <a:latin typeface="Arial"/>
                <a:ea typeface="Arial"/>
                <a:cs typeface="Arial"/>
              </a:rPr>
              <a:t>?  </a:t>
            </a:r>
            <a:r>
              <a:rPr lang="en-US" sz="800" dirty="0">
                <a:solidFill>
                  <a:srgbClr val="F3E6D6"/>
                </a:solidFill>
                <a:latin typeface="Arial"/>
                <a:ea typeface="Arial"/>
                <a:cs typeface="Arial"/>
              </a:rPr>
              <a:t>Who owns waivers: security or the CoE?</a:t>
            </a:r>
          </a:p>
          <a:p>
            <a:pPr algn="l" marL="0" indent="0">
              <a:lnSpc>
                <a:spcPct val="95000"/>
              </a:lnSpc>
              <a:buNone/>
            </a:pPr>
            <a:r>
              <a:rPr lang="en-US" sz="800" b="1" dirty="0">
                <a:solidFill>
                  <a:srgbClr val="F5B700"/>
                </a:solidFill>
                <a:latin typeface="Arial"/>
                <a:ea typeface="Arial"/>
                <a:cs typeface="Arial"/>
              </a:rPr>
              <a:t>?  </a:t>
            </a:r>
            <a:r>
              <a:rPr lang="en-US" sz="800" dirty="0">
                <a:solidFill>
                  <a:srgbClr val="F3E6D6"/>
                </a:solidFill>
                <a:latin typeface="Arial"/>
                <a:ea typeface="Arial"/>
                <a:cs typeface="Arial"/>
              </a:rPr>
              <a:t>Is promptfoo acceptable after the acquisition?</a:t>
            </a:r>
          </a:p>
        </p:txBody>
      </p:sp>
      <p:sp>
        <p:nvSpPr>
          <p:cNvPr id="188" name="gal 188"/>
          <p:cNvSpPr/>
          <p:nvPr/>
        </p:nvSpPr>
        <p:spPr>
          <a:xfrm>
            <a:off x="9537192" y="5074920"/>
            <a:ext cx="2103120" cy="1188720"/>
          </a:xfrm>
          <a:prstGeom prst="roundRect">
            <a:avLst>
              <a:gd name="adj" fmla="val 10000"/>
            </a:avLst>
          </a:prstGeom>
          <a:solidFill>
            <a:srgbClr val="1E1412"/>
          </a:solidFill>
          <a:ln w="12700">
            <a:solidFill>
              <a:srgbClr val="D9B48A"/>
            </a:solidFill>
            <a:prstDash val="dash"/>
          </a:ln>
        </p:spPr>
        <p:txBody>
          <a:bodyPr wrap="square" lIns="91440" tIns="54864" rIns="73152" bIns="36576" rtlCol="0" anchor="t">
            <a:noAutofit/>
          </a:bodyPr>
          <a:lstStyle/>
          <a:p>
            <a:pPr algn="l" marL="0" indent="0">
              <a:lnSpc>
                <a:spcPct val="92000"/>
              </a:lnSpc>
              <a:buNone/>
            </a:pPr>
            <a:r>
              <a:rPr lang="en-US" sz="900" b="1" dirty="0">
                <a:solidFill>
                  <a:srgbClr val="F5B700"/>
                </a:solidFill>
                <a:latin typeface="Arial"/>
                <a:ea typeface="Arial"/>
                <a:cs typeface="Arial"/>
              </a:rPr>
              <a:t>Not verified this pass</a:t>
            </a:r>
          </a:p>
          <a:p>
            <a:pPr algn="l" marL="0" indent="0">
              <a:lnSpc>
                <a:spcPct val="92000"/>
              </a:lnSpc>
              <a:buNone/>
            </a:pPr>
            <a:r>
              <a:rPr lang="en-US" sz="800" dirty="0">
                <a:solidFill>
                  <a:srgbClr val="F3E6D6"/>
                </a:solidFill>
                <a:latin typeface="Arial"/>
                <a:ea typeface="Arial"/>
                <a:cs typeface="Arial"/>
              </a:rPr>
              <a:t>DeepTeam, Giskard, Cisco AI Defense Agent Validation, Red Hat EvalHub + garak </a:t>
            </a:r>
            <a:r>
              <a:rPr lang="en-US" sz="800" b="1" dirty="0">
                <a:solidFill>
                  <a:srgbClr val="F5B700"/>
                </a:solidFill>
                <a:latin typeface="Arial"/>
                <a:ea typeface="Arial"/>
                <a:cs typeface="Arial"/>
              </a:rPr>
              <a:t>VERIFY</a:t>
            </a:r>
          </a:p>
        </p:txBody>
      </p:sp>
      <p:sp>
        <p:nvSpPr>
          <p:cNvPr id="189" name="gal 189"/>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Replaces the former “Every release, attacked” slide (attack depth by tier, sandbox, ASR per category and finding → control + test are folded in). Sysdig = today; everything else PROPOSED. Owners: security sets attack libraries and thresholds, the platform runs the pipeline.</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26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Runtime policy &amp; agent control</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Microsoft vs open source:</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adopt the portable pieces, skip the Foundry-only ones</a:t>
            </a:r>
          </a:p>
        </p:txBody>
      </p:sp>
      <p:cxnSp>
        <p:nvCxnSpPr>
          <p:cNvPr id="157" name="g1 rule 157"/>
          <p:cNvCxnSpPr/>
          <p:nvPr/>
        </p:nvCxnSpPr>
        <p:spPr>
          <a:xfrm>
            <a:off x="548640" y="1874520"/>
            <a:ext cx="731520" cy="0"/>
          </a:xfrm>
          <a:prstGeom prst="line">
            <a:avLst/>
          </a:prstGeom>
          <a:ln w="28575">
            <a:solidFill>
              <a:srgbClr val="EE0000"/>
            </a:solidFill>
          </a:ln>
        </p:spPr>
      </p:cxnSp>
      <p:graphicFrame>
        <p:nvGraphicFramePr>
          <p:cNvPr id="158" name="gal ms vs oss"/>
          <p:cNvGraphicFramePr>
            <a:graphicFrameLocks noGrp="1"/>
          </p:cNvGraphicFramePr>
          <p:nvPr/>
        </p:nvGraphicFramePr>
        <p:xfrm>
          <a:off x="548640" y="2057400"/>
          <a:ext cx="11091672" cy="3639312"/>
        </p:xfrm>
        <a:graphic>
          <a:graphicData uri="http://schemas.openxmlformats.org/drawingml/2006/table">
            <a:tbl>
              <a:tblPr firstRow="1"/>
              <a:tblGrid>
                <a:gridCol w="1600200"/>
                <a:gridCol w="2606040"/>
                <a:gridCol w="2697480"/>
                <a:gridCol w="1463040"/>
                <a:gridCol w="2724912"/>
              </a:tblGrid>
              <a:tr h="310896">
                <a:tc>
                  <a:txBody>
                    <a:bodyPr/>
                    <a:lstStyle/>
                    <a:p>
                      <a:pPr algn="l" marL="0" indent="0">
                        <a:lnSpc>
                          <a:spcPct val="93000"/>
                        </a:lnSpc>
                        <a:buNone/>
                      </a:pPr>
                      <a:r>
                        <a:rPr lang="en-US" sz="850" b="1" dirty="0">
                          <a:solidFill>
                            <a:srgbClr val="F5B700"/>
                          </a:solidFill>
                          <a:latin typeface="Arial"/>
                          <a:ea typeface="Arial"/>
                          <a:cs typeface="Arial"/>
                        </a:rPr>
                        <a:t>Component</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Microsoft option</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Open-source option</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Runs on GCP?</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Recommendation</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r>
              <a:tr h="475488">
                <a:tc>
                  <a:txBody>
                    <a:bodyPr/>
                    <a:lstStyle/>
                    <a:p>
                      <a:pPr algn="l" marL="0" indent="0">
                        <a:lnSpc>
                          <a:spcPct val="93000"/>
                        </a:lnSpc>
                        <a:buNone/>
                      </a:pPr>
                      <a:r>
                        <a:rPr lang="en-US" sz="850" b="1" dirty="0">
                          <a:solidFill>
                            <a:srgbClr val="FFFFFF"/>
                          </a:solidFill>
                          <a:latin typeface="Arial"/>
                          <a:ea typeface="Arial"/>
                          <a:cs typeface="Arial"/>
                        </a:rPr>
                        <a:t>Runtime policy + identity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Agent Governance Toolkit: MIT; in-process or sidecar [102][103]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Agent Control (Apache-2.0) [97] + OPA / Cedar [105][106]</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Yes (library / sidecar); GKE deployment </a:t>
                      </a:r>
                      <a:r>
                        <a:rPr lang="en-US" sz="800" b="1" dirty="0">
                          <a:solidFill>
                            <a:srgbClr val="F5B700"/>
                          </a:solidFill>
                          <a:latin typeface="Arial"/>
                          <a:ea typeface="Arial"/>
                          <a:cs typeface="Arial"/>
                        </a:rPr>
                        <a:t>VERIFY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Agent Control primary; AGT where sub-ms sidecar policy or zero-trust identity matters</a:t>
                      </a:r>
                    </a:p>
                  </a:txBody>
                  <a:tcPr marL="64008" marR="45720" marT="27432" marB="27432" anchor="ctr">
                    <a:lnL w="0">
                      <a:noFill/>
                    </a:lnL>
                    <a:lnR w="6350">
                      <a:solidFill>
                        <a:srgbClr val="3A2620"/>
                      </a:solidFill>
                    </a:lnR>
                    <a:lnT w="0">
                      <a:noFill/>
                    </a:lnT>
                    <a:lnB w="9525">
                      <a:solidFill>
                        <a:srgbClr val="5A3A2E"/>
                      </a:solidFill>
                    </a:lnB>
                    <a:noFill/>
                  </a:tcPr>
                </a:tc>
              </a:tr>
              <a:tr h="475488">
                <a:tc>
                  <a:txBody>
                    <a:bodyPr/>
                    <a:lstStyle/>
                    <a:p>
                      <a:pPr algn="l" marL="0" indent="0">
                        <a:lnSpc>
                          <a:spcPct val="93000"/>
                        </a:lnSpc>
                        <a:buNone/>
                      </a:pPr>
                      <a:r>
                        <a:rPr lang="en-US" sz="850" b="1" dirty="0">
                          <a:solidFill>
                            <a:srgbClr val="FFFFFF"/>
                          </a:solidFill>
                          <a:latin typeface="Arial"/>
                          <a:ea typeface="Arial"/>
                          <a:cs typeface="Arial"/>
                        </a:rPr>
                        <a:t>Red-team framework</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PyRIT: MIT [112]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garak: Apache-2.0 [111]; promptfoo: MIT, OpenAI acquiring [113][115]</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141010"/>
                          </a:solidFill>
                          <a:latin typeface="Arial"/>
                          <a:ea typeface="Arial"/>
                          <a:cs typeface="Arial"/>
                        </a:rPr>
                        <a:t>Yes</a:t>
                      </a:r>
                    </a:p>
                  </a:txBody>
                  <a:tcPr marL="64008" marR="45720" marT="27432" marB="27432" anchor="ctr">
                    <a:lnL w="0">
                      <a:noFill/>
                    </a:lnL>
                    <a:lnR w="6350">
                      <a:solidFill>
                        <a:srgbClr val="3A2620"/>
                      </a:solidFill>
                    </a:lnR>
                    <a:lnT w="0">
                      <a:noFill/>
                    </a:lnT>
                    <a:lnB w="9525">
                      <a:solidFill>
                        <a:srgbClr val="5A3A2E"/>
                      </a:solidFill>
                    </a:lnB>
                    <a:solidFill>
                      <a:srgbClr val="F5B700"/>
                    </a:solidFill>
                  </a:tcPr>
                </a:tc>
                <a:tc>
                  <a:txBody>
                    <a:bodyPr/>
                    <a:lstStyle/>
                    <a:p>
                      <a:pPr algn="l" marL="0" indent="0">
                        <a:lnSpc>
                          <a:spcPct val="93000"/>
                        </a:lnSpc>
                        <a:buNone/>
                      </a:pPr>
                      <a:r>
                        <a:rPr lang="en-US" sz="800" dirty="0">
                          <a:solidFill>
                            <a:srgbClr val="F3E6D6"/>
                          </a:solidFill>
                          <a:latin typeface="Arial"/>
                          <a:ea typeface="Arial"/>
                          <a:cs typeface="Arial"/>
                        </a:rPr>
                        <a:t>garak + promptfoo in CI; PyRIT for Tier 1 multi-turn (slide 24)</a:t>
                      </a:r>
                    </a:p>
                  </a:txBody>
                  <a:tcPr marL="64008" marR="45720" marT="27432" marB="27432" anchor="ctr">
                    <a:lnL w="0">
                      <a:noFill/>
                    </a:lnL>
                    <a:lnR w="6350">
                      <a:solidFill>
                        <a:srgbClr val="3A2620"/>
                      </a:solidFill>
                    </a:lnR>
                    <a:lnT w="0">
                      <a:noFill/>
                    </a:lnT>
                    <a:lnB w="9525">
                      <a:solidFill>
                        <a:srgbClr val="5A3A2E"/>
                      </a:solidFill>
                    </a:lnB>
                    <a:noFill/>
                  </a:tcPr>
                </a:tc>
              </a:tr>
              <a:tr h="475488">
                <a:tc>
                  <a:txBody>
                    <a:bodyPr/>
                    <a:lstStyle/>
                    <a:p>
                      <a:pPr algn="l" marL="0" indent="0">
                        <a:lnSpc>
                          <a:spcPct val="93000"/>
                        </a:lnSpc>
                        <a:buNone/>
                      </a:pPr>
                      <a:r>
                        <a:rPr lang="en-US" sz="850" b="1" dirty="0">
                          <a:solidFill>
                            <a:srgbClr val="FFFFFF"/>
                          </a:solidFill>
                          <a:latin typeface="Arial"/>
                          <a:ea typeface="Arial"/>
                          <a:cs typeface="Arial"/>
                        </a:rPr>
                        <a:t>Managed red teaming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AI Red Teaming Agent: preview; Foundry agents only, non-Foundry agents not supported [116]</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the OSS stack above, run on GKE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No</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Skip; its local SDK can target a PyRIT chat target [117]</a:t>
                      </a:r>
                    </a:p>
                  </a:txBody>
                  <a:tcPr marL="64008" marR="45720" marT="27432" marB="27432" anchor="ctr">
                    <a:lnL w="0">
                      <a:noFill/>
                    </a:lnL>
                    <a:lnR w="6350">
                      <a:solidFill>
                        <a:srgbClr val="3A2620"/>
                      </a:solidFill>
                    </a:lnR>
                    <a:lnT w="0">
                      <a:noFill/>
                    </a:lnT>
                    <a:lnB w="9525">
                      <a:solidFill>
                        <a:srgbClr val="5A3A2E"/>
                      </a:solidFill>
                    </a:lnB>
                    <a:noFill/>
                  </a:tcPr>
                </a:tc>
              </a:tr>
              <a:tr h="475488">
                <a:tc>
                  <a:txBody>
                    <a:bodyPr/>
                    <a:lstStyle/>
                    <a:p>
                      <a:pPr algn="l" marL="0" indent="0">
                        <a:lnSpc>
                          <a:spcPct val="93000"/>
                        </a:lnSpc>
                        <a:buNone/>
                      </a:pPr>
                      <a:r>
                        <a:rPr lang="en-US" sz="850" b="1" dirty="0">
                          <a:solidFill>
                            <a:srgbClr val="FFFFFF"/>
                          </a:solidFill>
                          <a:latin typeface="Arial"/>
                          <a:ea typeface="Arial"/>
                          <a:cs typeface="Arial"/>
                        </a:rPr>
                        <a:t>Content safety / prompt shields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Azure AI Content Safety, Prompt Shields [128]</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Presidio (MIT) [127], NeMo Guardrails (licence </a:t>
                      </a:r>
                      <a:r>
                        <a:rPr lang="en-US" sz="800" b="1" dirty="0">
                          <a:solidFill>
                            <a:srgbClr val="F5B700"/>
                          </a:solidFill>
                          <a:latin typeface="Arial"/>
                          <a:ea typeface="Arial"/>
                          <a:cs typeface="Arial"/>
                        </a:rPr>
                        <a:t>VERIFY</a:t>
                      </a:r>
                      <a:r>
                        <a:rPr lang="en-US" sz="800" dirty="0">
                          <a:solidFill>
                            <a:srgbClr val="F3E6D6"/>
                          </a:solidFill>
                          <a:latin typeface="Arial"/>
                          <a:ea typeface="Arial"/>
                          <a:cs typeface="Arial"/>
                        </a:rPr>
                        <a:t>) [107], Luna via Galileo</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Callable from GCP; data leaves GCP </a:t>
                      </a:r>
                      <a:r>
                        <a:rPr lang="en-US" sz="800" b="1" dirty="0">
                          <a:solidFill>
                            <a:srgbClr val="F5B700"/>
                          </a:solidFill>
                          <a:latin typeface="Arial"/>
                          <a:ea typeface="Arial"/>
                          <a:cs typeface="Arial"/>
                        </a:rPr>
                        <a:t>VERIFY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OSS in the gateway; Azure only after a data-egress review</a:t>
                      </a:r>
                    </a:p>
                  </a:txBody>
                  <a:tcPr marL="64008" marR="45720" marT="27432" marB="27432" anchor="ctr">
                    <a:lnL w="0">
                      <a:noFill/>
                    </a:lnL>
                    <a:lnR w="6350">
                      <a:solidFill>
                        <a:srgbClr val="3A2620"/>
                      </a:solidFill>
                    </a:lnR>
                    <a:lnT w="0">
                      <a:noFill/>
                    </a:lnT>
                    <a:lnB w="9525">
                      <a:solidFill>
                        <a:srgbClr val="5A3A2E"/>
                      </a:solidFill>
                    </a:lnB>
                    <a:noFill/>
                  </a:tcPr>
                </a:tc>
              </a:tr>
              <a:tr h="475488">
                <a:tc>
                  <a:txBody>
                    <a:bodyPr/>
                    <a:lstStyle/>
                    <a:p>
                      <a:pPr algn="l" marL="0" indent="0">
                        <a:lnSpc>
                          <a:spcPct val="93000"/>
                        </a:lnSpc>
                        <a:buNone/>
                      </a:pPr>
                      <a:r>
                        <a:rPr lang="en-US" sz="850" b="1" dirty="0">
                          <a:solidFill>
                            <a:srgbClr val="FFFFFF"/>
                          </a:solidFill>
                          <a:latin typeface="Arial"/>
                          <a:ea typeface="Arial"/>
                          <a:cs typeface="Arial"/>
                        </a:rPr>
                        <a:t>Fleet control plane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Foundry Control Plane: Azure-managed service [103]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Agent Control dashboard + Grafana + BigQuery (slide 21)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No</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Skip</a:t>
                      </a:r>
                    </a:p>
                  </a:txBody>
                  <a:tcPr marL="64008" marR="45720" marT="27432" marB="27432" anchor="ctr">
                    <a:lnL w="0">
                      <a:noFill/>
                    </a:lnL>
                    <a:lnR w="6350">
                      <a:solidFill>
                        <a:srgbClr val="3A2620"/>
                      </a:solidFill>
                    </a:lnR>
                    <a:lnT w="0">
                      <a:noFill/>
                    </a:lnT>
                    <a:lnB w="9525">
                      <a:solidFill>
                        <a:srgbClr val="5A3A2E"/>
                      </a:solidFill>
                    </a:lnB>
                    <a:noFill/>
                  </a:tcPr>
                </a:tc>
              </a:tr>
              <a:tr h="475488">
                <a:tc>
                  <a:txBody>
                    <a:bodyPr/>
                    <a:lstStyle/>
                    <a:p>
                      <a:pPr algn="l" marL="0" indent="0">
                        <a:lnSpc>
                          <a:spcPct val="93000"/>
                        </a:lnSpc>
                        <a:buNone/>
                      </a:pPr>
                      <a:r>
                        <a:rPr lang="en-US" sz="850" b="1" dirty="0">
                          <a:solidFill>
                            <a:srgbClr val="FFFFFF"/>
                          </a:solidFill>
                          <a:latin typeface="Arial"/>
                          <a:ea typeface="Arial"/>
                          <a:cs typeface="Arial"/>
                        </a:rPr>
                        <a:t>Static agent / MCP scan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none found in this pass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SecureAI-Scan (MIT, advisory) [108]; Snyk Agent Scan (Apache-2.0) [110]</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141010"/>
                          </a:solidFill>
                          <a:latin typeface="Arial"/>
                          <a:ea typeface="Arial"/>
                          <a:cs typeface="Arial"/>
                        </a:rPr>
                        <a:t>Yes</a:t>
                      </a:r>
                    </a:p>
                  </a:txBody>
                  <a:tcPr marL="64008" marR="45720" marT="27432" marB="27432" anchor="ctr">
                    <a:lnL w="0">
                      <a:noFill/>
                    </a:lnL>
                    <a:lnR w="6350">
                      <a:solidFill>
                        <a:srgbClr val="3A2620"/>
                      </a:solidFill>
                    </a:lnR>
                    <a:lnT w="0">
                      <a:noFill/>
                    </a:lnT>
                    <a:lnB w="9525">
                      <a:solidFill>
                        <a:srgbClr val="5A3A2E"/>
                      </a:solidFill>
                    </a:lnB>
                    <a:solidFill>
                      <a:srgbClr val="F5B700"/>
                    </a:solidFill>
                  </a:tcPr>
                </a:tc>
                <a:tc>
                  <a:txBody>
                    <a:bodyPr/>
                    <a:lstStyle/>
                    <a:p>
                      <a:pPr algn="l" marL="0" indent="0">
                        <a:lnSpc>
                          <a:spcPct val="93000"/>
                        </a:lnSpc>
                        <a:buNone/>
                      </a:pPr>
                      <a:r>
                        <a:rPr lang="en-US" sz="800" dirty="0">
                          <a:solidFill>
                            <a:srgbClr val="F3E6D6"/>
                          </a:solidFill>
                          <a:latin typeface="Arial"/>
                          <a:ea typeface="Arial"/>
                          <a:cs typeface="Arial"/>
                        </a:rPr>
                        <a:t>Both in CI, advisory first (slide 24)</a:t>
                      </a:r>
                    </a:p>
                  </a:txBody>
                  <a:tcPr marL="64008" marR="45720" marT="27432" marB="27432" anchor="ctr">
                    <a:lnL w="0">
                      <a:noFill/>
                    </a:lnL>
                    <a:lnR w="6350">
                      <a:solidFill>
                        <a:srgbClr val="3A2620"/>
                      </a:solidFill>
                    </a:lnR>
                    <a:lnT w="0">
                      <a:noFill/>
                    </a:lnT>
                    <a:lnB w="9525">
                      <a:solidFill>
                        <a:srgbClr val="5A3A2E"/>
                      </a:solidFill>
                    </a:lnB>
                    <a:noFill/>
                  </a:tcPr>
                </a:tc>
              </a:tr>
              <a:tr h="475488">
                <a:tc>
                  <a:txBody>
                    <a:bodyPr/>
                    <a:lstStyle/>
                    <a:p>
                      <a:pPr algn="l" marL="0" indent="0">
                        <a:lnSpc>
                          <a:spcPct val="93000"/>
                        </a:lnSpc>
                        <a:buNone/>
                      </a:pPr>
                      <a:r>
                        <a:rPr lang="en-US" sz="850" b="1" dirty="0">
                          <a:solidFill>
                            <a:srgbClr val="FFFFFF"/>
                          </a:solidFill>
                          <a:latin typeface="Arial"/>
                          <a:ea typeface="Arial"/>
                          <a:cs typeface="Arial"/>
                        </a:rPr>
                        <a:t>Agent identity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Entra Agent ID: not researched this pass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SPIFFE / SPIRE workload identity; existing IdP</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
                      </a:r>
                      <a:r>
                        <a:rPr lang="en-US" sz="800" b="1" dirty="0">
                          <a:solidFill>
                            <a:srgbClr val="F5B700"/>
                          </a:solidFill>
                          <a:latin typeface="Arial"/>
                          <a:ea typeface="Arial"/>
                          <a:cs typeface="Arial"/>
                        </a:rPr>
                        <a:t>VERIFY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Revisit with the identity team</a:t>
                      </a:r>
                    </a:p>
                  </a:txBody>
                  <a:tcPr marL="64008" marR="45720" marT="27432" marB="27432" anchor="ctr">
                    <a:lnL w="0">
                      <a:noFill/>
                    </a:lnL>
                    <a:lnR w="6350">
                      <a:solidFill>
                        <a:srgbClr val="3A2620"/>
                      </a:solidFill>
                    </a:lnR>
                    <a:lnT w="0">
                      <a:noFill/>
                    </a:lnT>
                    <a:lnB w="9525">
                      <a:solidFill>
                        <a:srgbClr val="5A3A2E"/>
                      </a:solidFill>
                    </a:lnB>
                    <a:noFill/>
                  </a:tcPr>
                </a:tc>
              </a:tr>
            </a:tbl>
          </a:graphicData>
        </a:graphic>
      </p:graphicFrame>
      <p:sp>
        <p:nvSpPr>
          <p:cNvPr id="159" name="gal 159"/>
          <p:cNvSpPr/>
          <p:nvPr/>
        </p:nvSpPr>
        <p:spPr>
          <a:xfrm>
            <a:off x="548640" y="5669280"/>
            <a:ext cx="11091672" cy="603504"/>
          </a:xfrm>
          <a:prstGeom prst="roundRect">
            <a:avLst>
              <a:gd name="adj" fmla="val 10000"/>
            </a:avLst>
          </a:prstGeom>
          <a:solidFill>
            <a:srgbClr val="F5B700"/>
          </a:solidFill>
          <a:ln>
            <a:noFill/>
          </a:ln>
        </p:spPr>
        <p:txBody>
          <a:bodyPr wrap="square" lIns="109728" tIns="36576" rIns="91440" bIns="36576" rtlCol="0" anchor="ctr">
            <a:noAutofit/>
          </a:bodyPr>
          <a:lstStyle/>
          <a:p>
            <a:pPr algn="l" marL="0" indent="0">
              <a:lnSpc>
                <a:spcPct val="92000"/>
              </a:lnSpc>
              <a:buNone/>
            </a:pPr>
            <a:r>
              <a:rPr lang="en-US" sz="950" b="1" dirty="0">
                <a:solidFill>
                  <a:srgbClr val="141010"/>
                </a:solidFill>
                <a:latin typeface="Arial"/>
                <a:ea typeface="Arial"/>
                <a:cs typeface="Arial"/>
              </a:rPr>
              <a:t>Takeaway  </a:t>
            </a:r>
            <a:r>
              <a:rPr lang="en-US" sz="850" dirty="0">
                <a:solidFill>
                  <a:srgbClr val="141010"/>
                </a:solidFill>
                <a:latin typeface="Arial"/>
                <a:ea typeface="Arial"/>
                <a:cs typeface="Arial"/>
              </a:rPr>
              <a:t>adopt AGT (as the alternative) and PyRIT on GKE; skip the AI Red Teaming Agent and Foundry Control Plane; use Azure Content Safety only with a data-egress review.</a:t>
            </a:r>
          </a:p>
        </p:txBody>
      </p:sp>
      <p:sp>
        <p:nvSpPr>
          <p:cNvPr id="160" name="gal 160"/>
          <p:cNvSpPr/>
          <p:nvPr/>
        </p:nvSpPr>
        <p:spPr>
          <a:xfrm>
            <a:off x="548640" y="6400800"/>
            <a:ext cx="11091672" cy="274320"/>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Gold “Yes” = portable, recommended. VERIFY = search summary only. Source: v11-redteam-agentcontrol-research.md §3; Microsoft pages checked 15 Oct 2026.</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42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24–26 (6 of 8):</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315968"/>
          </a:xfrm>
          <a:prstGeom prst="roundRect">
            <a:avLst>
              <a:gd name="adj" fmla="val 4000"/>
            </a:avLst>
          </a:prstGeom>
          <a:solidFill>
            <a:srgbClr val="2A1A16"/>
          </a:solidFill>
          <a:ln w="9525">
            <a:solidFill>
              <a:srgbClr val="D9B48A"/>
            </a:solidFill>
          </a:ln>
        </p:spPr>
        <p:txBody>
          <a:bodyPr wrap="square" lIns="146304" tIns="73152" rIns="128016" bIns="45720" rtlCol="0" anchor="t">
            <a:noAutofit/>
          </a:bodyPr>
          <a:lstStyle/>
          <a:p>
            <a:pPr algn="l" marL="0" indent="0">
              <a:lnSpc>
                <a:spcPct val="96000"/>
              </a:lnSpc>
              <a:buNone/>
            </a:pPr>
            <a:r>
              <a:rPr lang="en-US" sz="900" b="1" dirty="0">
                <a:solidFill>
                  <a:srgbClr val="F5B700"/>
                </a:solidFill>
                <a:latin typeface="Arial"/>
                <a:ea typeface="Arial"/>
                <a:cs typeface="Arial"/>
              </a:rPr>
              <a:t>[108]  </a:t>
            </a:r>
            <a:r>
              <a:rPr lang="en-US" sz="900" b="1" dirty="0" u="sng">
                <a:solidFill>
                  <a:srgbClr val="FFFFFF"/>
                </a:solidFill>
                <a:latin typeface="Arial"/>
                <a:ea typeface="Arial"/>
                <a:cs typeface="Arial"/>
                <a:hlinkClick r:id="rIdL1"/>
              </a:rPr>
              <a:t>SecureAI-Scan (GitHub, README)</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
              </a:rPr>
              <a:t>github.com/akanthed/SecureAI-Scan</a:t>
            </a:r>
          </a:p>
          <a:p>
            <a:pPr algn="l" marL="0" indent="0">
              <a:lnSpc>
                <a:spcPct val="96000"/>
              </a:lnSpc>
              <a:buNone/>
            </a:pPr>
            <a:r>
              <a:rPr lang="en-US" sz="900" b="1" dirty="0">
                <a:solidFill>
                  <a:srgbClr val="F5B700"/>
                </a:solidFill>
                <a:latin typeface="Arial"/>
                <a:ea typeface="Arial"/>
                <a:cs typeface="Arial"/>
              </a:rPr>
              <a:t>[109]  </a:t>
            </a:r>
            <a:r>
              <a:rPr lang="en-US" sz="900" b="1" dirty="0" u="sng">
                <a:solidFill>
                  <a:srgbClr val="FFFFFF"/>
                </a:solidFill>
                <a:latin typeface="Arial"/>
                <a:ea typeface="Arial"/>
                <a:cs typeface="Arial"/>
                <a:hlinkClick r:id="rIdL3"/>
              </a:rPr>
              <a:t>SecureAI-Scan repo metadata (GitHub API)</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
              </a:rPr>
              <a:t>api.github.com/repos/akanthed/SecureAI-Scan</a:t>
            </a:r>
          </a:p>
          <a:p>
            <a:pPr algn="l" marL="0" indent="0">
              <a:lnSpc>
                <a:spcPct val="96000"/>
              </a:lnSpc>
              <a:buNone/>
            </a:pPr>
            <a:r>
              <a:rPr lang="en-US" sz="900" b="1" dirty="0">
                <a:solidFill>
                  <a:srgbClr val="F5B700"/>
                </a:solidFill>
                <a:latin typeface="Arial"/>
                <a:ea typeface="Arial"/>
                <a:cs typeface="Arial"/>
              </a:rPr>
              <a:t>[110]  </a:t>
            </a:r>
            <a:r>
              <a:rPr lang="en-US" sz="900" b="1" dirty="0" u="sng">
                <a:solidFill>
                  <a:srgbClr val="FFFFFF"/>
                </a:solidFill>
                <a:latin typeface="Arial"/>
                <a:ea typeface="Arial"/>
                <a:cs typeface="Arial"/>
                <a:hlinkClick r:id="rIdL5"/>
              </a:rPr>
              <a:t>Snyk Agent Scan (ex mcp-scan)</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6"/>
              </a:rPr>
              <a:t>github.com/snyk/agent-scan</a:t>
            </a:r>
          </a:p>
          <a:p>
            <a:pPr algn="l" marL="0" indent="0">
              <a:lnSpc>
                <a:spcPct val="96000"/>
              </a:lnSpc>
              <a:buNone/>
            </a:pPr>
            <a:r>
              <a:rPr lang="en-US" sz="900" b="1" dirty="0">
                <a:solidFill>
                  <a:srgbClr val="F5B700"/>
                </a:solidFill>
                <a:latin typeface="Arial"/>
                <a:ea typeface="Arial"/>
                <a:cs typeface="Arial"/>
              </a:rPr>
              <a:t>[111]  </a:t>
            </a:r>
            <a:r>
              <a:rPr lang="en-US" sz="900" b="1" dirty="0" u="sng">
                <a:solidFill>
                  <a:srgbClr val="FFFFFF"/>
                </a:solidFill>
                <a:latin typeface="Arial"/>
                <a:ea typeface="Arial"/>
                <a:cs typeface="Arial"/>
                <a:hlinkClick r:id="rIdL7"/>
              </a:rPr>
              <a:t>garak (NVIDIA,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8"/>
              </a:rPr>
              <a:t>github.com/NVIDIA/garak</a:t>
            </a:r>
          </a:p>
          <a:p>
            <a:pPr algn="l" marL="0" indent="0">
              <a:lnSpc>
                <a:spcPct val="96000"/>
              </a:lnSpc>
              <a:buNone/>
            </a:pPr>
            <a:r>
              <a:rPr lang="en-US" sz="900" b="1" dirty="0">
                <a:solidFill>
                  <a:srgbClr val="F5B700"/>
                </a:solidFill>
                <a:latin typeface="Arial"/>
                <a:ea typeface="Arial"/>
                <a:cs typeface="Arial"/>
              </a:rPr>
              <a:t>[112]  </a:t>
            </a:r>
            <a:r>
              <a:rPr lang="en-US" sz="900" b="1" dirty="0" u="sng">
                <a:solidFill>
                  <a:srgbClr val="FFFFFF"/>
                </a:solidFill>
                <a:latin typeface="Arial"/>
                <a:ea typeface="Arial"/>
                <a:cs typeface="Arial"/>
                <a:hlinkClick r:id="rIdL9"/>
              </a:rPr>
              <a:t>PyRIT (Microsoft,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0"/>
              </a:rPr>
              <a:t>github.com/microsoft/PyRIT</a:t>
            </a:r>
          </a:p>
          <a:p>
            <a:pPr algn="l" marL="0" indent="0">
              <a:lnSpc>
                <a:spcPct val="96000"/>
              </a:lnSpc>
              <a:buNone/>
            </a:pPr>
            <a:r>
              <a:rPr lang="en-US" sz="900" b="1" dirty="0">
                <a:solidFill>
                  <a:srgbClr val="F5B700"/>
                </a:solidFill>
                <a:latin typeface="Arial"/>
                <a:ea typeface="Arial"/>
                <a:cs typeface="Arial"/>
              </a:rPr>
              <a:t>[113]  </a:t>
            </a:r>
            <a:r>
              <a:rPr lang="en-US" sz="900" b="1" dirty="0" u="sng">
                <a:solidFill>
                  <a:srgbClr val="FFFFFF"/>
                </a:solidFill>
                <a:latin typeface="Arial"/>
                <a:ea typeface="Arial"/>
                <a:cs typeface="Arial"/>
                <a:hlinkClick r:id="rIdL11"/>
              </a:rPr>
              <a:t>promptfoo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2"/>
              </a:rPr>
              <a:t>github.com/promptfoo/promptfoo</a:t>
            </a:r>
          </a:p>
          <a:p>
            <a:pPr algn="l" marL="0" indent="0">
              <a:lnSpc>
                <a:spcPct val="96000"/>
              </a:lnSpc>
              <a:buNone/>
            </a:pPr>
            <a:r>
              <a:rPr lang="en-US" sz="900" b="1" dirty="0">
                <a:solidFill>
                  <a:srgbClr val="F5B700"/>
                </a:solidFill>
                <a:latin typeface="Arial"/>
                <a:ea typeface="Arial"/>
                <a:cs typeface="Arial"/>
              </a:rPr>
              <a:t>[114]  </a:t>
            </a:r>
            <a:r>
              <a:rPr lang="en-US" sz="900" b="1" dirty="0" u="sng">
                <a:solidFill>
                  <a:srgbClr val="FFFFFF"/>
                </a:solidFill>
                <a:latin typeface="Arial"/>
                <a:ea typeface="Arial"/>
                <a:cs typeface="Arial"/>
                <a:hlinkClick r:id="rIdL13"/>
              </a:rPr>
              <a:t>OpenAI to acquire Promptfoo (403 to bots)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4"/>
              </a:rPr>
              <a:t>openai.com/index/openai-to-acquire-promptfoo</a:t>
            </a:r>
          </a:p>
          <a:p>
            <a:pPr algn="l" marL="0" indent="0">
              <a:lnSpc>
                <a:spcPct val="96000"/>
              </a:lnSpc>
              <a:buNone/>
            </a:pPr>
            <a:r>
              <a:rPr lang="en-US" sz="900" b="1" dirty="0">
                <a:solidFill>
                  <a:srgbClr val="F5B700"/>
                </a:solidFill>
                <a:latin typeface="Arial"/>
                <a:ea typeface="Arial"/>
                <a:cs typeface="Arial"/>
              </a:rPr>
              <a:t>[115]  </a:t>
            </a:r>
            <a:r>
              <a:rPr lang="en-US" sz="900" b="1" dirty="0" u="sng">
                <a:solidFill>
                  <a:srgbClr val="FFFFFF"/>
                </a:solidFill>
                <a:latin typeface="Arial"/>
                <a:ea typeface="Arial"/>
                <a:cs typeface="Arial"/>
                <a:hlinkClick r:id="rIdL15"/>
              </a:rPr>
              <a:t>Promptfoo blog: joining OpenAI</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6"/>
              </a:rPr>
              <a:t>promptfoo.dev/blog/promptfoo-joining-openai</a:t>
            </a:r>
          </a:p>
          <a:p>
            <a:pPr algn="l" marL="0" indent="0">
              <a:lnSpc>
                <a:spcPct val="96000"/>
              </a:lnSpc>
              <a:buNone/>
            </a:pPr>
            <a:r>
              <a:rPr lang="en-US" sz="900" b="1" dirty="0">
                <a:solidFill>
                  <a:srgbClr val="F5B700"/>
                </a:solidFill>
                <a:latin typeface="Arial"/>
                <a:ea typeface="Arial"/>
                <a:cs typeface="Arial"/>
              </a:rPr>
              <a:t>[116]  </a:t>
            </a:r>
            <a:r>
              <a:rPr lang="en-US" sz="900" b="1" dirty="0" u="sng">
                <a:solidFill>
                  <a:srgbClr val="FFFFFF"/>
                </a:solidFill>
                <a:latin typeface="Arial"/>
                <a:ea typeface="Arial"/>
                <a:cs typeface="Arial"/>
                <a:hlinkClick r:id="rIdL17"/>
              </a:rPr>
              <a:t>Microsoft: AI Red Teaming Agent</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18"/>
              </a:rPr>
              <a:t>learn.microsoft.com/en-us/azure/foundry/concepts/ai-red-teami…</a:t>
            </a:r>
          </a:p>
          <a:p>
            <a:pPr algn="l" marL="0" indent="0">
              <a:lnSpc>
                <a:spcPct val="96000"/>
              </a:lnSpc>
              <a:buNone/>
            </a:pPr>
            <a:r>
              <a:rPr lang="en-US" sz="900" b="1" dirty="0">
                <a:solidFill>
                  <a:srgbClr val="F5B700"/>
                </a:solidFill>
                <a:latin typeface="Arial"/>
                <a:ea typeface="Arial"/>
                <a:cs typeface="Arial"/>
              </a:rPr>
              <a:t>[117]  </a:t>
            </a:r>
            <a:r>
              <a:rPr lang="en-US" sz="900" b="1" dirty="0" u="sng">
                <a:solidFill>
                  <a:srgbClr val="FFFFFF"/>
                </a:solidFill>
                <a:latin typeface="Arial"/>
                <a:ea typeface="Arial"/>
                <a:cs typeface="Arial"/>
                <a:hlinkClick r:id="rIdL19"/>
              </a:rPr>
              <a:t>Microsoft: run scans with the AI Red Teaming Agent</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0"/>
              </a:rPr>
              <a:t>learn.microsoft.com/en-us/azure/foundry/how-to/develop/run-sc…</a:t>
            </a:r>
          </a:p>
          <a:p>
            <a:pPr algn="l" marL="0" indent="0">
              <a:lnSpc>
                <a:spcPct val="96000"/>
              </a:lnSpc>
              <a:buNone/>
            </a:pPr>
            <a:r>
              <a:rPr lang="en-US" sz="900" b="1" dirty="0">
                <a:solidFill>
                  <a:srgbClr val="F5B700"/>
                </a:solidFill>
                <a:latin typeface="Arial"/>
                <a:ea typeface="Arial"/>
                <a:cs typeface="Arial"/>
              </a:rPr>
              <a:t>[118]  </a:t>
            </a:r>
            <a:r>
              <a:rPr lang="en-US" sz="900" b="1" dirty="0" u="sng">
                <a:solidFill>
                  <a:srgbClr val="FFFFFF"/>
                </a:solidFill>
                <a:latin typeface="Arial"/>
                <a:ea typeface="Arial"/>
                <a:cs typeface="Arial"/>
                <a:hlinkClick r:id="rIdL21"/>
              </a:rPr>
              <a:t>OpenAI Agents SDK: guardrails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2"/>
              </a:rPr>
              <a:t>openai.github.io/openai-agents-python/guardrails</a:t>
            </a:r>
          </a:p>
          <a:p>
            <a:pPr algn="l" marL="0" indent="0">
              <a:lnSpc>
                <a:spcPct val="96000"/>
              </a:lnSpc>
              <a:buNone/>
            </a:pPr>
            <a:r>
              <a:rPr lang="en-US" sz="900" b="1" dirty="0">
                <a:solidFill>
                  <a:srgbClr val="F5B700"/>
                </a:solidFill>
                <a:latin typeface="Arial"/>
                <a:ea typeface="Arial"/>
                <a:cs typeface="Arial"/>
              </a:rPr>
              <a:t>[119]  </a:t>
            </a:r>
            <a:r>
              <a:rPr lang="en-US" sz="900" b="1" dirty="0" u="sng">
                <a:solidFill>
                  <a:srgbClr val="FFFFFF"/>
                </a:solidFill>
                <a:latin typeface="Arial"/>
                <a:ea typeface="Arial"/>
                <a:cs typeface="Arial"/>
                <a:hlinkClick r:id="rIdL23"/>
              </a:rPr>
              <a:t>OpenAI Agents SDK: tool guardrails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4"/>
              </a:rPr>
              <a:t>openai.github.io/openai-agents-python/ref/tool_guardrails</a:t>
            </a:r>
          </a:p>
        </p:txBody>
      </p:sp>
      <p:sp>
        <p:nvSpPr>
          <p:cNvPr id="159" name="ref 159"/>
          <p:cNvSpPr/>
          <p:nvPr/>
        </p:nvSpPr>
        <p:spPr>
          <a:xfrm>
            <a:off x="6172200" y="2057400"/>
            <a:ext cx="5468112" cy="4315968"/>
          </a:xfrm>
          <a:prstGeom prst="roundRect">
            <a:avLst>
              <a:gd name="adj" fmla="val 4000"/>
            </a:avLst>
          </a:prstGeom>
          <a:solidFill>
            <a:srgbClr val="2A1A16"/>
          </a:solidFill>
          <a:ln w="9525">
            <a:solidFill>
              <a:srgbClr val="D9B48A"/>
            </a:solidFill>
          </a:ln>
        </p:spPr>
        <p:txBody>
          <a:bodyPr wrap="square" lIns="146304" tIns="73152" rIns="128016" bIns="45720" rtlCol="0" anchor="t">
            <a:noAutofit/>
          </a:bodyPr>
          <a:lstStyle/>
          <a:p>
            <a:pPr algn="l" marL="0" indent="0">
              <a:lnSpc>
                <a:spcPct val="96000"/>
              </a:lnSpc>
              <a:buNone/>
            </a:pPr>
            <a:r>
              <a:rPr lang="en-US" sz="900" b="1" dirty="0">
                <a:solidFill>
                  <a:srgbClr val="F5B700"/>
                </a:solidFill>
                <a:latin typeface="Arial"/>
                <a:ea typeface="Arial"/>
                <a:cs typeface="Arial"/>
              </a:rPr>
              <a:t>[120]  </a:t>
            </a:r>
            <a:r>
              <a:rPr lang="en-US" sz="900" b="1" dirty="0" u="sng">
                <a:solidFill>
                  <a:srgbClr val="FFFFFF"/>
                </a:solidFill>
                <a:latin typeface="Arial"/>
                <a:ea typeface="Arial"/>
                <a:cs typeface="Arial"/>
                <a:hlinkClick r:id="rIdL25"/>
              </a:rPr>
              <a:t>OpenAI: guardrails and approvals guide</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6"/>
              </a:rPr>
              <a:t>developers.openai.com/api/docs/guides/agents/guardrails-appro…</a:t>
            </a:r>
          </a:p>
          <a:p>
            <a:pPr algn="l" marL="0" indent="0">
              <a:lnSpc>
                <a:spcPct val="96000"/>
              </a:lnSpc>
              <a:buNone/>
            </a:pPr>
            <a:r>
              <a:rPr lang="en-US" sz="900" b="1" dirty="0">
                <a:solidFill>
                  <a:srgbClr val="F5B700"/>
                </a:solidFill>
                <a:latin typeface="Arial"/>
                <a:ea typeface="Arial"/>
                <a:cs typeface="Arial"/>
              </a:rPr>
              <a:t>[121]  </a:t>
            </a:r>
            <a:r>
              <a:rPr lang="en-US" sz="900" b="1" dirty="0" u="sng">
                <a:solidFill>
                  <a:srgbClr val="FFFFFF"/>
                </a:solidFill>
                <a:latin typeface="Arial"/>
                <a:ea typeface="Arial"/>
                <a:cs typeface="Arial"/>
                <a:hlinkClick r:id="rIdL27"/>
              </a:rPr>
              <a:t>LiteLLM: guardrails quick start</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28"/>
              </a:rPr>
              <a:t>docs.litellm.ai/docs/proxy/guardrails/quick_start</a:t>
            </a:r>
          </a:p>
          <a:p>
            <a:pPr algn="l" marL="0" indent="0">
              <a:lnSpc>
                <a:spcPct val="96000"/>
              </a:lnSpc>
              <a:buNone/>
            </a:pPr>
            <a:r>
              <a:rPr lang="en-US" sz="900" b="1" dirty="0">
                <a:solidFill>
                  <a:srgbClr val="F5B700"/>
                </a:solidFill>
                <a:latin typeface="Arial"/>
                <a:ea typeface="Arial"/>
                <a:cs typeface="Arial"/>
              </a:rPr>
              <a:t>[122]  </a:t>
            </a:r>
            <a:r>
              <a:rPr lang="en-US" sz="900" b="1" dirty="0" u="sng">
                <a:solidFill>
                  <a:srgbClr val="FFFFFF"/>
                </a:solidFill>
                <a:latin typeface="Arial"/>
                <a:ea typeface="Arial"/>
                <a:cs typeface="Arial"/>
                <a:hlinkClick r:id="rIdL29"/>
              </a:rPr>
              <a:t>LiteLLM: generic guardrail API</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0"/>
              </a:rPr>
              <a:t>docs.litellm.ai/docs/adding_provider/generic_guardrail_api</a:t>
            </a:r>
          </a:p>
          <a:p>
            <a:pPr algn="l" marL="0" indent="0">
              <a:lnSpc>
                <a:spcPct val="96000"/>
              </a:lnSpc>
              <a:buNone/>
            </a:pPr>
            <a:r>
              <a:rPr lang="en-US" sz="900" b="1" dirty="0">
                <a:solidFill>
                  <a:srgbClr val="F5B700"/>
                </a:solidFill>
                <a:latin typeface="Arial"/>
                <a:ea typeface="Arial"/>
                <a:cs typeface="Arial"/>
              </a:rPr>
              <a:t>[123]  </a:t>
            </a:r>
            <a:r>
              <a:rPr lang="en-US" sz="900" b="1" dirty="0" u="sng">
                <a:solidFill>
                  <a:srgbClr val="FFFFFF"/>
                </a:solidFill>
                <a:latin typeface="Arial"/>
                <a:ea typeface="Arial"/>
                <a:cs typeface="Arial"/>
                <a:hlinkClick r:id="rIdL31"/>
              </a:rPr>
              <a:t>LiteLLM: guardrail providers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2"/>
              </a:rPr>
              <a:t>docs.litellm.ai/docs/guardrail_providers</a:t>
            </a:r>
          </a:p>
          <a:p>
            <a:pPr algn="l" marL="0" indent="0">
              <a:lnSpc>
                <a:spcPct val="96000"/>
              </a:lnSpc>
              <a:buNone/>
            </a:pPr>
            <a:r>
              <a:rPr lang="en-US" sz="900" b="1" dirty="0">
                <a:solidFill>
                  <a:srgbClr val="F5B700"/>
                </a:solidFill>
                <a:latin typeface="Arial"/>
                <a:ea typeface="Arial"/>
                <a:cs typeface="Arial"/>
              </a:rPr>
              <a:t>[124]  </a:t>
            </a:r>
            <a:r>
              <a:rPr lang="en-US" sz="900" b="1" dirty="0" u="sng">
                <a:solidFill>
                  <a:srgbClr val="FFFFFF"/>
                </a:solidFill>
                <a:latin typeface="Arial"/>
                <a:ea typeface="Arial"/>
                <a:cs typeface="Arial"/>
                <a:hlinkClick r:id="rIdL33"/>
              </a:rPr>
              <a:t>LiteLLM discussion #5321 (per-key guardrails)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4"/>
              </a:rPr>
              <a:t>github.com/BerriAI/litellm/discussions/5321</a:t>
            </a:r>
          </a:p>
          <a:p>
            <a:pPr algn="l" marL="0" indent="0">
              <a:lnSpc>
                <a:spcPct val="96000"/>
              </a:lnSpc>
              <a:buNone/>
            </a:pPr>
            <a:r>
              <a:rPr lang="en-US" sz="900" b="1" dirty="0">
                <a:solidFill>
                  <a:srgbClr val="F5B700"/>
                </a:solidFill>
                <a:latin typeface="Arial"/>
                <a:ea typeface="Arial"/>
                <a:cs typeface="Arial"/>
              </a:rPr>
              <a:t>[125]  </a:t>
            </a:r>
            <a:r>
              <a:rPr lang="en-US" sz="900" b="1" dirty="0" u="sng">
                <a:solidFill>
                  <a:srgbClr val="FFFFFF"/>
                </a:solidFill>
                <a:latin typeface="Arial"/>
                <a:ea typeface="Arial"/>
                <a:cs typeface="Arial"/>
                <a:hlinkClick r:id="rIdL35"/>
              </a:rPr>
              <a:t>LiteLLM: team-based guardrails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6"/>
              </a:rPr>
              <a:t>docs.litellm.ai/docs/proxy/guardrails/team_based_guardrails</a:t>
            </a:r>
          </a:p>
          <a:p>
            <a:pPr algn="l" marL="0" indent="0">
              <a:lnSpc>
                <a:spcPct val="96000"/>
              </a:lnSpc>
              <a:buNone/>
            </a:pPr>
            <a:r>
              <a:rPr lang="en-US" sz="900" b="1" dirty="0">
                <a:solidFill>
                  <a:srgbClr val="F5B700"/>
                </a:solidFill>
                <a:latin typeface="Arial"/>
                <a:ea typeface="Arial"/>
                <a:cs typeface="Arial"/>
              </a:rPr>
              <a:t>[126]  </a:t>
            </a:r>
            <a:r>
              <a:rPr lang="en-US" sz="900" b="1" dirty="0" u="sng">
                <a:solidFill>
                  <a:srgbClr val="FFFFFF"/>
                </a:solidFill>
                <a:latin typeface="Arial"/>
                <a:ea typeface="Arial"/>
                <a:cs typeface="Arial"/>
                <a:hlinkClick r:id="rIdL37"/>
              </a:rPr>
              <a:t>LiteLLM: tool permission guardrail</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38"/>
              </a:rPr>
              <a:t>docs.litellm.ai/docs/proxy/guardrails/tool_permission</a:t>
            </a:r>
          </a:p>
          <a:p>
            <a:pPr algn="l" marL="0" indent="0">
              <a:lnSpc>
                <a:spcPct val="96000"/>
              </a:lnSpc>
              <a:buNone/>
            </a:pPr>
            <a:r>
              <a:rPr lang="en-US" sz="900" b="1" dirty="0">
                <a:solidFill>
                  <a:srgbClr val="F5B700"/>
                </a:solidFill>
                <a:latin typeface="Arial"/>
                <a:ea typeface="Arial"/>
                <a:cs typeface="Arial"/>
              </a:rPr>
              <a:t>[127]  </a:t>
            </a:r>
            <a:r>
              <a:rPr lang="en-US" sz="900" b="1" dirty="0" u="sng">
                <a:solidFill>
                  <a:srgbClr val="FFFFFF"/>
                </a:solidFill>
                <a:latin typeface="Arial"/>
                <a:ea typeface="Arial"/>
                <a:cs typeface="Arial"/>
                <a:hlinkClick r:id="rIdL39"/>
              </a:rPr>
              <a:t>Presidio (GitHub)</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0"/>
              </a:rPr>
              <a:t>github.com/data-privacy-stack/presidio</a:t>
            </a:r>
          </a:p>
          <a:p>
            <a:pPr algn="l" marL="0" indent="0">
              <a:lnSpc>
                <a:spcPct val="96000"/>
              </a:lnSpc>
              <a:buNone/>
            </a:pPr>
            <a:r>
              <a:rPr lang="en-US" sz="900" b="1" dirty="0">
                <a:solidFill>
                  <a:srgbClr val="F5B700"/>
                </a:solidFill>
                <a:latin typeface="Arial"/>
                <a:ea typeface="Arial"/>
                <a:cs typeface="Arial"/>
              </a:rPr>
              <a:t>[128]  </a:t>
            </a:r>
            <a:r>
              <a:rPr lang="en-US" sz="900" b="1" dirty="0" u="sng">
                <a:solidFill>
                  <a:srgbClr val="FFFFFF"/>
                </a:solidFill>
                <a:latin typeface="Arial"/>
                <a:ea typeface="Arial"/>
                <a:cs typeface="Arial"/>
                <a:hlinkClick r:id="rIdL41"/>
              </a:rPr>
              <a:t>Azure AI Content Safety: Prompt Shields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2"/>
              </a:rPr>
              <a:t>learn.microsoft.com/en-us/azure/ai-services/content-safety/co…</a:t>
            </a:r>
          </a:p>
          <a:p>
            <a:pPr algn="l" marL="0" indent="0">
              <a:lnSpc>
                <a:spcPct val="96000"/>
              </a:lnSpc>
              <a:buNone/>
            </a:pPr>
            <a:r>
              <a:rPr lang="en-US" sz="900" b="1" dirty="0">
                <a:solidFill>
                  <a:srgbClr val="F5B700"/>
                </a:solidFill>
                <a:latin typeface="Arial"/>
                <a:ea typeface="Arial"/>
                <a:cs typeface="Arial"/>
              </a:rPr>
              <a:t>[129]  </a:t>
            </a:r>
            <a:r>
              <a:rPr lang="en-US" sz="900" b="1" dirty="0" u="sng">
                <a:solidFill>
                  <a:srgbClr val="FFFFFF"/>
                </a:solidFill>
                <a:latin typeface="Arial"/>
                <a:ea typeface="Arial"/>
                <a:cs typeface="Arial"/>
                <a:hlinkClick r:id="rIdL43"/>
              </a:rPr>
              <a:t>OWASP Top 10 for LLM applications</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4"/>
              </a:rPr>
              <a:t>owasp.org/www-project-top-10-for-large-language-model-applica…</a:t>
            </a:r>
          </a:p>
          <a:p>
            <a:pPr algn="l" marL="0" indent="0">
              <a:lnSpc>
                <a:spcPct val="96000"/>
              </a:lnSpc>
              <a:buNone/>
            </a:pPr>
            <a:r>
              <a:rPr lang="en-US" sz="900" b="1" dirty="0">
                <a:solidFill>
                  <a:srgbClr val="F5B700"/>
                </a:solidFill>
                <a:latin typeface="Arial"/>
                <a:ea typeface="Arial"/>
                <a:cs typeface="Arial"/>
              </a:rPr>
              <a:t>[130]  </a:t>
            </a:r>
            <a:r>
              <a:rPr lang="en-US" sz="900" b="1" dirty="0" u="sng">
                <a:solidFill>
                  <a:srgbClr val="FFFFFF"/>
                </a:solidFill>
                <a:latin typeface="Arial"/>
                <a:ea typeface="Arial"/>
                <a:cs typeface="Arial"/>
                <a:hlinkClick r:id="rIdL45"/>
              </a:rPr>
              <a:t>OWASP Top 10 for Agentic Applications 2026</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6"/>
              </a:rPr>
              <a:t>genai.owasp.org/resource/owasp-top-10-for-agentic-application…</a:t>
            </a:r>
          </a:p>
          <a:p>
            <a:pPr algn="l" marL="0" indent="0">
              <a:lnSpc>
                <a:spcPct val="96000"/>
              </a:lnSpc>
              <a:buNone/>
            </a:pPr>
            <a:r>
              <a:rPr lang="en-US" sz="900" b="1" dirty="0">
                <a:solidFill>
                  <a:srgbClr val="F5B700"/>
                </a:solidFill>
                <a:latin typeface="Arial"/>
                <a:ea typeface="Arial"/>
                <a:cs typeface="Arial"/>
              </a:rPr>
              <a:t>[131]  </a:t>
            </a:r>
            <a:r>
              <a:rPr lang="en-US" sz="900" b="1" dirty="0" u="sng">
                <a:solidFill>
                  <a:srgbClr val="FFFFFF"/>
                </a:solidFill>
                <a:latin typeface="Arial"/>
                <a:ea typeface="Arial"/>
                <a:cs typeface="Arial"/>
                <a:hlinkClick r:id="rIdL47"/>
              </a:rPr>
              <a:t>Sysdig Secure: vulnerability management</a:t>
            </a:r>
          </a:p>
          <a:p>
            <a:pPr algn="l" marL="0" indent="0">
              <a:lnSpc>
                <a:spcPct val="96000"/>
              </a:lnSpc>
              <a:buNone/>
            </a:pPr>
            <a:r>
              <a:rPr lang="en-US" sz="850" dirty="0">
                <a:solidFill>
                  <a:srgbClr val="FFFFFF"/>
                </a:solidFill>
                <a:latin typeface="Arial"/>
                <a:ea typeface="Arial"/>
                <a:cs typeface="Arial"/>
              </a:rPr>
              <a:t>        </a:t>
            </a:r>
            <a:r>
              <a:rPr lang="en-US" sz="850" dirty="0" u="sng">
                <a:solidFill>
                  <a:srgbClr val="F5B700"/>
                </a:solidFill>
                <a:latin typeface="Arial"/>
                <a:ea typeface="Arial"/>
                <a:cs typeface="Arial"/>
                <a:hlinkClick r:id="rIdL48"/>
              </a:rPr>
              <a:t>docs.sysdig.com/en/sysdig-secure/vulnerability-management</a:t>
            </a:r>
          </a:p>
        </p:txBody>
      </p:sp>
      <p:sp>
        <p:nvSpPr>
          <p:cNvPr id="160" name="gal 160"/>
          <p:cNvSpPr/>
          <p:nvPr/>
        </p:nvSpPr>
        <p:spPr>
          <a:xfrm>
            <a:off x="548640" y="6473952"/>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Links checked 15 Oct 2026; all resolve except [114], which blocks bots (403). Agent Control, AGT, OPA, Cedar and NeMo reuse [97]–[107].</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12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Scalable trace platform  ·  2 of 5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Target system architecture:</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five zones, one GCP project, numbered paths</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989320" y="1984248"/>
            <a:ext cx="292608" cy="182880"/>
          </a:xfrm>
          <a:prstGeom prst="rect">
            <a:avLst/>
          </a:prstGeom>
          <a:noFill/>
          <a:ln w="12700">
            <a:solidFill>
              <a:srgbClr val="F5B700"/>
            </a:solidFill>
            <a:prstDash val="sysDot"/>
          </a:ln>
        </p:spPr>
      </p:sp>
      <p:sp>
        <p:nvSpPr>
          <p:cNvPr id="162" name="gal 162"/>
          <p:cNvSpPr/>
          <p:nvPr/>
        </p:nvSpPr>
        <p:spPr>
          <a:xfrm>
            <a:off x="6336792" y="1984248"/>
            <a:ext cx="1097280" cy="1828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GCP project</a:t>
            </a:r>
          </a:p>
        </p:txBody>
      </p:sp>
      <p:sp>
        <p:nvSpPr>
          <p:cNvPr id="163" name="gal 163"/>
          <p:cNvSpPr/>
          <p:nvPr/>
        </p:nvSpPr>
        <p:spPr>
          <a:xfrm>
            <a:off x="548640" y="2331720"/>
            <a:ext cx="9326880" cy="457200"/>
          </a:xfrm>
          <a:prstGeom prst="rect">
            <a:avLst/>
          </a:prstGeom>
          <a:solidFill>
            <a:srgbClr val="201614"/>
          </a:solidFill>
          <a:ln>
            <a:noFill/>
          </a:ln>
        </p:spPr>
      </p:sp>
      <p:sp>
        <p:nvSpPr>
          <p:cNvPr id="164" name="gal 164"/>
          <p:cNvSpPr/>
          <p:nvPr/>
        </p:nvSpPr>
        <p:spPr>
          <a:xfrm>
            <a:off x="603504" y="2331720"/>
            <a:ext cx="749808" cy="457200"/>
          </a:xfrm>
          <a:prstGeom prst="rect">
            <a:avLst/>
          </a:prstGeom>
          <a:noFill/>
          <a:ln>
            <a:noFill/>
          </a:ln>
        </p:spPr>
        <p:txBody>
          <a:bodyPr wrap="square" lIns="0" tIns="0" rIns="0" bIns="0" rtlCol="0" anchor="ctr">
            <a:noAutofit/>
          </a:bodyPr>
          <a:lstStyle/>
          <a:p>
            <a:pPr algn="l" marL="0" indent="0">
              <a:lnSpc>
                <a:spcPct val="90000"/>
              </a:lnSpc>
              <a:buNone/>
            </a:pPr>
            <a:r>
              <a:rPr lang="en-US" sz="800" b="1" dirty="0">
                <a:solidFill>
                  <a:srgbClr val="D9B48A"/>
                </a:solidFill>
                <a:latin typeface="Arial"/>
                <a:ea typeface="Arial"/>
                <a:cs typeface="Arial"/>
              </a:rPr>
              <a:t>SOURCES</a:t>
            </a:r>
          </a:p>
        </p:txBody>
      </p:sp>
      <p:sp>
        <p:nvSpPr>
          <p:cNvPr id="165" name="gal 165"/>
          <p:cNvSpPr/>
          <p:nvPr/>
        </p:nvSpPr>
        <p:spPr>
          <a:xfrm>
            <a:off x="548640" y="3090672"/>
            <a:ext cx="9326880" cy="548640"/>
          </a:xfrm>
          <a:prstGeom prst="rect">
            <a:avLst/>
          </a:prstGeom>
          <a:solidFill>
            <a:srgbClr val="201614"/>
          </a:solidFill>
          <a:ln>
            <a:noFill/>
          </a:ln>
        </p:spPr>
      </p:sp>
      <p:sp>
        <p:nvSpPr>
          <p:cNvPr id="166" name="gal 166"/>
          <p:cNvSpPr/>
          <p:nvPr/>
        </p:nvSpPr>
        <p:spPr>
          <a:xfrm>
            <a:off x="603504" y="3090672"/>
            <a:ext cx="749808" cy="548640"/>
          </a:xfrm>
          <a:prstGeom prst="rect">
            <a:avLst/>
          </a:prstGeom>
          <a:noFill/>
          <a:ln>
            <a:noFill/>
          </a:ln>
        </p:spPr>
        <p:txBody>
          <a:bodyPr wrap="square" lIns="0" tIns="0" rIns="0" bIns="0" rtlCol="0" anchor="ctr">
            <a:noAutofit/>
          </a:bodyPr>
          <a:lstStyle/>
          <a:p>
            <a:pPr algn="l" marL="0" indent="0">
              <a:lnSpc>
                <a:spcPct val="90000"/>
              </a:lnSpc>
              <a:buNone/>
            </a:pPr>
            <a:r>
              <a:rPr lang="en-US" sz="800" b="1" dirty="0">
                <a:solidFill>
                  <a:srgbClr val="D9B48A"/>
                </a:solidFill>
                <a:latin typeface="Arial"/>
                <a:ea typeface="Arial"/>
                <a:cs typeface="Arial"/>
              </a:rPr>
              <a:t>INGEST</a:t>
            </a:r>
          </a:p>
        </p:txBody>
      </p:sp>
      <p:sp>
        <p:nvSpPr>
          <p:cNvPr id="167" name="gal 167"/>
          <p:cNvSpPr/>
          <p:nvPr/>
        </p:nvSpPr>
        <p:spPr>
          <a:xfrm>
            <a:off x="548640" y="3941064"/>
            <a:ext cx="9326880" cy="640080"/>
          </a:xfrm>
          <a:prstGeom prst="rect">
            <a:avLst/>
          </a:prstGeom>
          <a:solidFill>
            <a:srgbClr val="201614"/>
          </a:solidFill>
          <a:ln>
            <a:noFill/>
          </a:ln>
        </p:spPr>
      </p:sp>
      <p:sp>
        <p:nvSpPr>
          <p:cNvPr id="168" name="gal 168"/>
          <p:cNvSpPr/>
          <p:nvPr/>
        </p:nvSpPr>
        <p:spPr>
          <a:xfrm>
            <a:off x="603504" y="3941064"/>
            <a:ext cx="749808" cy="640080"/>
          </a:xfrm>
          <a:prstGeom prst="rect">
            <a:avLst/>
          </a:prstGeom>
          <a:noFill/>
          <a:ln>
            <a:noFill/>
          </a:ln>
        </p:spPr>
        <p:txBody>
          <a:bodyPr wrap="square" lIns="0" tIns="0" rIns="0" bIns="0" rtlCol="0" anchor="ctr">
            <a:noAutofit/>
          </a:bodyPr>
          <a:lstStyle/>
          <a:p>
            <a:pPr algn="l" marL="0" indent="0">
              <a:lnSpc>
                <a:spcPct val="90000"/>
              </a:lnSpc>
              <a:buNone/>
            </a:pPr>
            <a:r>
              <a:rPr lang="en-US" sz="800" b="1" dirty="0">
                <a:solidFill>
                  <a:srgbClr val="D9B48A"/>
                </a:solidFill>
                <a:latin typeface="Arial"/>
                <a:ea typeface="Arial"/>
                <a:cs typeface="Arial"/>
              </a:rPr>
              <a:t>PROCESSING + MODEL SERVING</a:t>
            </a:r>
          </a:p>
        </p:txBody>
      </p:sp>
      <p:sp>
        <p:nvSpPr>
          <p:cNvPr id="169" name="gal 169"/>
          <p:cNvSpPr/>
          <p:nvPr/>
        </p:nvSpPr>
        <p:spPr>
          <a:xfrm>
            <a:off x="548640" y="4882896"/>
            <a:ext cx="9326880" cy="548640"/>
          </a:xfrm>
          <a:prstGeom prst="rect">
            <a:avLst/>
          </a:prstGeom>
          <a:solidFill>
            <a:srgbClr val="201614"/>
          </a:solidFill>
          <a:ln>
            <a:noFill/>
          </a:ln>
        </p:spPr>
      </p:sp>
      <p:sp>
        <p:nvSpPr>
          <p:cNvPr id="170" name="gal 170"/>
          <p:cNvSpPr/>
          <p:nvPr/>
        </p:nvSpPr>
        <p:spPr>
          <a:xfrm>
            <a:off x="603504" y="4882896"/>
            <a:ext cx="749808" cy="548640"/>
          </a:xfrm>
          <a:prstGeom prst="rect">
            <a:avLst/>
          </a:prstGeom>
          <a:noFill/>
          <a:ln>
            <a:noFill/>
          </a:ln>
        </p:spPr>
        <p:txBody>
          <a:bodyPr wrap="square" lIns="0" tIns="0" rIns="0" bIns="0" rtlCol="0" anchor="ctr">
            <a:noAutofit/>
          </a:bodyPr>
          <a:lstStyle/>
          <a:p>
            <a:pPr algn="l" marL="0" indent="0">
              <a:lnSpc>
                <a:spcPct val="90000"/>
              </a:lnSpc>
              <a:buNone/>
            </a:pPr>
            <a:r>
              <a:rPr lang="en-US" sz="800" b="1" dirty="0">
                <a:solidFill>
                  <a:srgbClr val="D9B48A"/>
                </a:solidFill>
                <a:latin typeface="Arial"/>
                <a:ea typeface="Arial"/>
                <a:cs typeface="Arial"/>
              </a:rPr>
              <a:t>STORAGE</a:t>
            </a:r>
          </a:p>
        </p:txBody>
      </p:sp>
      <p:sp>
        <p:nvSpPr>
          <p:cNvPr id="171" name="gal 171"/>
          <p:cNvSpPr/>
          <p:nvPr/>
        </p:nvSpPr>
        <p:spPr>
          <a:xfrm>
            <a:off x="548640" y="5733288"/>
            <a:ext cx="9326880" cy="502920"/>
          </a:xfrm>
          <a:prstGeom prst="rect">
            <a:avLst/>
          </a:prstGeom>
          <a:solidFill>
            <a:srgbClr val="201614"/>
          </a:solidFill>
          <a:ln>
            <a:noFill/>
          </a:ln>
        </p:spPr>
      </p:sp>
      <p:sp>
        <p:nvSpPr>
          <p:cNvPr id="172" name="gal 172"/>
          <p:cNvSpPr/>
          <p:nvPr/>
        </p:nvSpPr>
        <p:spPr>
          <a:xfrm>
            <a:off x="603504" y="5733288"/>
            <a:ext cx="749808" cy="502920"/>
          </a:xfrm>
          <a:prstGeom prst="rect">
            <a:avLst/>
          </a:prstGeom>
          <a:noFill/>
          <a:ln>
            <a:noFill/>
          </a:ln>
        </p:spPr>
        <p:txBody>
          <a:bodyPr wrap="square" lIns="0" tIns="0" rIns="0" bIns="0" rtlCol="0" anchor="ctr">
            <a:noAutofit/>
          </a:bodyPr>
          <a:lstStyle/>
          <a:p>
            <a:pPr algn="l" marL="0" indent="0">
              <a:lnSpc>
                <a:spcPct val="90000"/>
              </a:lnSpc>
              <a:buNone/>
            </a:pPr>
            <a:r>
              <a:rPr lang="en-US" sz="800" b="1" dirty="0">
                <a:solidFill>
                  <a:srgbClr val="D9B48A"/>
                </a:solidFill>
                <a:latin typeface="Arial"/>
                <a:ea typeface="Arial"/>
                <a:cs typeface="Arial"/>
              </a:rPr>
              <a:t>EXPERIENCE</a:t>
            </a:r>
          </a:p>
        </p:txBody>
      </p:sp>
      <p:sp>
        <p:nvSpPr>
          <p:cNvPr id="173" name="gal 173"/>
          <p:cNvSpPr/>
          <p:nvPr/>
        </p:nvSpPr>
        <p:spPr>
          <a:xfrm>
            <a:off x="1371600" y="3008376"/>
            <a:ext cx="8549640" cy="3291840"/>
          </a:xfrm>
          <a:prstGeom prst="rect">
            <a:avLst/>
          </a:prstGeom>
          <a:noFill/>
          <a:ln w="12700">
            <a:solidFill>
              <a:srgbClr val="F5B700"/>
            </a:solidFill>
            <a:prstDash val="sysDot"/>
          </a:ln>
        </p:spPr>
      </p:sp>
      <p:sp>
        <p:nvSpPr>
          <p:cNvPr id="174" name="gal 174"/>
          <p:cNvSpPr/>
          <p:nvPr/>
        </p:nvSpPr>
        <p:spPr>
          <a:xfrm>
            <a:off x="6949440" y="2834640"/>
            <a:ext cx="2926080" cy="155448"/>
          </a:xfrm>
          <a:prstGeom prst="rect">
            <a:avLst/>
          </a:prstGeom>
          <a:noFill/>
          <a:ln>
            <a:noFill/>
          </a:ln>
        </p:spPr>
        <p:txBody>
          <a:bodyPr wrap="square" lIns="0" tIns="0" rIns="0" bIns="0" rtlCol="0" anchor="ctr">
            <a:noAutofit/>
          </a:bodyPr>
          <a:lstStyle/>
          <a:p>
            <a:pPr algn="r" marL="0" indent="0">
              <a:buNone/>
            </a:pPr>
            <a:r>
              <a:rPr lang="en-US" sz="800" b="1" dirty="0">
                <a:solidFill>
                  <a:srgbClr val="F5B700"/>
                </a:solidFill>
                <a:latin typeface="Arial"/>
                <a:ea typeface="Arial"/>
                <a:cs typeface="Arial"/>
              </a:rPr>
              <a:t>GCP PROJECT  ·  VPC-SC perimeter  ·  private IPs</a:t>
            </a:r>
          </a:p>
        </p:txBody>
      </p:sp>
      <p:sp>
        <p:nvSpPr>
          <p:cNvPr id="175" name="gal 175"/>
          <p:cNvSpPr/>
          <p:nvPr/>
        </p:nvSpPr>
        <p:spPr>
          <a:xfrm>
            <a:off x="1508760" y="2377440"/>
            <a:ext cx="1143000" cy="384048"/>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Kairos SDK</a:t>
            </a:r>
          </a:p>
          <a:p>
            <a:pPr algn="l" marL="0" indent="0">
              <a:lnSpc>
                <a:spcPct val="90000"/>
              </a:lnSpc>
              <a:buNone/>
            </a:pPr>
            <a:r>
              <a:rPr lang="en-US" sz="800" dirty="0">
                <a:solidFill>
                  <a:srgbClr val="F3E6D6"/>
                </a:solidFill>
                <a:latin typeface="Arial"/>
                <a:ea typeface="Arial"/>
                <a:cs typeface="Arial"/>
              </a:rPr>
              <a:t>P2 · agents, OTel exporter</a:t>
            </a:r>
          </a:p>
        </p:txBody>
      </p:sp>
      <p:cxnSp>
        <p:nvCxnSpPr>
          <p:cNvPr id="176" name="g2 flow 176"/>
          <p:cNvCxnSpPr/>
          <p:nvPr/>
        </p:nvCxnSpPr>
        <p:spPr>
          <a:xfrm>
            <a:off x="2080260" y="2761488"/>
            <a:ext cx="0" cy="173736"/>
          </a:xfrm>
          <a:prstGeom prst="line">
            <a:avLst/>
          </a:prstGeom>
          <a:ln w="15875">
            <a:solidFill>
              <a:srgbClr val="EE0000"/>
            </a:solidFill>
          </a:ln>
        </p:spPr>
      </p:cxnSp>
      <p:sp>
        <p:nvSpPr>
          <p:cNvPr id="177" name="gal 177"/>
          <p:cNvSpPr/>
          <p:nvPr/>
        </p:nvSpPr>
        <p:spPr>
          <a:xfrm>
            <a:off x="2743200" y="2377440"/>
            <a:ext cx="1051560" cy="384048"/>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Own OTel</a:t>
            </a:r>
          </a:p>
          <a:p>
            <a:pPr algn="l" marL="0" indent="0">
              <a:lnSpc>
                <a:spcPct val="90000"/>
              </a:lnSpc>
              <a:buNone/>
            </a:pPr>
            <a:r>
              <a:rPr lang="en-US" sz="800" dirty="0">
                <a:solidFill>
                  <a:srgbClr val="F3E6D6"/>
                </a:solidFill>
                <a:latin typeface="Arial"/>
                <a:ea typeface="Arial"/>
                <a:cs typeface="Arial"/>
              </a:rPr>
              <a:t>P3 · custom stacks</a:t>
            </a:r>
          </a:p>
        </p:txBody>
      </p:sp>
      <p:cxnSp>
        <p:nvCxnSpPr>
          <p:cNvPr id="178" name="g2 flow 178"/>
          <p:cNvCxnSpPr/>
          <p:nvPr/>
        </p:nvCxnSpPr>
        <p:spPr>
          <a:xfrm>
            <a:off x="3268980" y="2761488"/>
            <a:ext cx="0" cy="173736"/>
          </a:xfrm>
          <a:prstGeom prst="line">
            <a:avLst/>
          </a:prstGeom>
          <a:ln w="15875">
            <a:solidFill>
              <a:srgbClr val="EE0000"/>
            </a:solidFill>
          </a:ln>
        </p:spPr>
      </p:cxnSp>
      <p:sp>
        <p:nvSpPr>
          <p:cNvPr id="179" name="gal 179"/>
          <p:cNvSpPr/>
          <p:nvPr/>
        </p:nvSpPr>
        <p:spPr>
          <a:xfrm>
            <a:off x="3886200" y="2377440"/>
            <a:ext cx="1188720" cy="384048"/>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Kairos gateway</a:t>
            </a:r>
          </a:p>
          <a:p>
            <a:pPr algn="l" marL="0" indent="0">
              <a:lnSpc>
                <a:spcPct val="90000"/>
              </a:lnSpc>
              <a:buNone/>
            </a:pPr>
            <a:r>
              <a:rPr lang="en-US" sz="800" dirty="0">
                <a:solidFill>
                  <a:srgbClr val="F3E6D6"/>
                </a:solidFill>
                <a:latin typeface="Arial"/>
                <a:ea typeface="Arial"/>
                <a:cs typeface="Arial"/>
              </a:rPr>
              <a:t>P1 · model calls</a:t>
            </a:r>
          </a:p>
        </p:txBody>
      </p:sp>
      <p:cxnSp>
        <p:nvCxnSpPr>
          <p:cNvPr id="180" name="g2 flow 180"/>
          <p:cNvCxnSpPr/>
          <p:nvPr/>
        </p:nvCxnSpPr>
        <p:spPr>
          <a:xfrm>
            <a:off x="4480560" y="2761488"/>
            <a:ext cx="0" cy="173736"/>
          </a:xfrm>
          <a:prstGeom prst="line">
            <a:avLst/>
          </a:prstGeom>
          <a:ln w="15875">
            <a:solidFill>
              <a:srgbClr val="EE0000"/>
            </a:solidFill>
          </a:ln>
        </p:spPr>
      </p:cxnSp>
      <p:sp>
        <p:nvSpPr>
          <p:cNvPr id="181" name="gal 181"/>
          <p:cNvSpPr/>
          <p:nvPr/>
        </p:nvSpPr>
        <p:spPr>
          <a:xfrm>
            <a:off x="5166360" y="2377440"/>
            <a:ext cx="1188720" cy="384048"/>
          </a:xfrm>
          <a:prstGeom prst="roundRect">
            <a:avLst>
              <a:gd name="adj" fmla="val 10000"/>
            </a:avLst>
          </a:prstGeom>
          <a:solidFill>
            <a:srgbClr val="F5B700"/>
          </a:solidFill>
          <a:ln>
            <a:noFill/>
          </a:ln>
        </p:spPr>
        <p:txBody>
          <a:bodyPr wrap="square" lIns="64008" tIns="36576" rIns="45720" bIns="27432" rtlCol="0" anchor="ctr">
            <a:noAutofit/>
          </a:bodyPr>
          <a:lstStyle/>
          <a:p>
            <a:pPr algn="l" marL="0" indent="0">
              <a:lnSpc>
                <a:spcPct val="90000"/>
              </a:lnSpc>
              <a:buNone/>
            </a:pPr>
            <a:r>
              <a:rPr lang="en-US" sz="900" b="1" dirty="0">
                <a:solidFill>
                  <a:srgbClr val="141010"/>
                </a:solidFill>
                <a:latin typeface="Arial"/>
                <a:ea typeface="Arial"/>
                <a:cs typeface="Arial"/>
              </a:rPr>
              <a:t>Third-party</a:t>
            </a:r>
          </a:p>
          <a:p>
            <a:pPr algn="l" marL="0" indent="0">
              <a:lnSpc>
                <a:spcPct val="90000"/>
              </a:lnSpc>
              <a:buNone/>
            </a:pPr>
            <a:r>
              <a:rPr lang="en-US" sz="800" dirty="0">
                <a:solidFill>
                  <a:srgbClr val="141010"/>
                </a:solidFill>
                <a:latin typeface="Arial"/>
                <a:ea typeface="Arial"/>
                <a:cs typeface="Arial"/>
              </a:rPr>
              <a:t>G9 · vendor export / adapter</a:t>
            </a:r>
          </a:p>
        </p:txBody>
      </p:sp>
      <p:cxnSp>
        <p:nvCxnSpPr>
          <p:cNvPr id="182" name="g2 flow 182"/>
          <p:cNvCxnSpPr/>
          <p:nvPr/>
        </p:nvCxnSpPr>
        <p:spPr>
          <a:xfrm>
            <a:off x="5760720" y="2761488"/>
            <a:ext cx="0" cy="173736"/>
          </a:xfrm>
          <a:prstGeom prst="line">
            <a:avLst/>
          </a:prstGeom>
          <a:ln w="15875">
            <a:solidFill>
              <a:srgbClr val="EE0000"/>
            </a:solidFill>
          </a:ln>
        </p:spPr>
      </p:cxnSp>
      <p:cxnSp>
        <p:nvCxnSpPr>
          <p:cNvPr id="183" name="g2 flow 183"/>
          <p:cNvCxnSpPr/>
          <p:nvPr/>
        </p:nvCxnSpPr>
        <p:spPr>
          <a:xfrm>
            <a:off x="2080260" y="2935224"/>
            <a:ext cx="3680460" cy="0"/>
          </a:xfrm>
          <a:prstGeom prst="line">
            <a:avLst/>
          </a:prstGeom>
          <a:ln w="15875">
            <a:solidFill>
              <a:srgbClr val="EE0000"/>
            </a:solidFill>
          </a:ln>
        </p:spPr>
      </p:cxnSp>
      <p:cxnSp>
        <p:nvCxnSpPr>
          <p:cNvPr id="184" name="g2 flow 184"/>
          <p:cNvCxnSpPr/>
          <p:nvPr/>
        </p:nvCxnSpPr>
        <p:spPr>
          <a:xfrm>
            <a:off x="2377440" y="2935224"/>
            <a:ext cx="0" cy="192024"/>
          </a:xfrm>
          <a:prstGeom prst="line">
            <a:avLst/>
          </a:prstGeom>
          <a:ln w="15875">
            <a:solidFill>
              <a:srgbClr val="EE0000"/>
            </a:solidFill>
            <a:tailEnd type="triangle" w="med" len="med"/>
          </a:ln>
        </p:spPr>
      </p:cxnSp>
      <p:sp>
        <p:nvSpPr>
          <p:cNvPr id="185" name="gal 185"/>
          <p:cNvSpPr/>
          <p:nvPr/>
        </p:nvSpPr>
        <p:spPr>
          <a:xfrm>
            <a:off x="5843016" y="283464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1</a:t>
            </a:r>
          </a:p>
        </p:txBody>
      </p:sp>
      <p:sp>
        <p:nvSpPr>
          <p:cNvPr id="186" name="gal 186"/>
          <p:cNvSpPr/>
          <p:nvPr/>
        </p:nvSpPr>
        <p:spPr>
          <a:xfrm>
            <a:off x="6089904" y="2843784"/>
            <a:ext cx="137160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OTLP gRPC / HTTP</a:t>
            </a:r>
          </a:p>
        </p:txBody>
      </p:sp>
      <p:sp>
        <p:nvSpPr>
          <p:cNvPr id="187" name="gal 187"/>
          <p:cNvSpPr/>
          <p:nvPr/>
        </p:nvSpPr>
        <p:spPr>
          <a:xfrm>
            <a:off x="6537960" y="2487168"/>
            <a:ext cx="73152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KEY PATHS</a:t>
            </a:r>
          </a:p>
        </p:txBody>
      </p:sp>
      <p:sp>
        <p:nvSpPr>
          <p:cNvPr id="188" name="gal 188"/>
          <p:cNvSpPr/>
          <p:nvPr/>
        </p:nvSpPr>
        <p:spPr>
          <a:xfrm>
            <a:off x="7251192" y="246888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1</a:t>
            </a:r>
          </a:p>
        </p:txBody>
      </p:sp>
      <p:sp>
        <p:nvSpPr>
          <p:cNvPr id="189" name="gal 189"/>
          <p:cNvSpPr/>
          <p:nvPr/>
        </p:nvSpPr>
        <p:spPr>
          <a:xfrm>
            <a:off x="7488936" y="2487168"/>
            <a:ext cx="384048" cy="155448"/>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ingest</a:t>
            </a:r>
          </a:p>
        </p:txBody>
      </p:sp>
      <p:sp>
        <p:nvSpPr>
          <p:cNvPr id="190" name="gal 190"/>
          <p:cNvSpPr/>
          <p:nvPr/>
        </p:nvSpPr>
        <p:spPr>
          <a:xfrm>
            <a:off x="7927848" y="246888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2</a:t>
            </a:r>
          </a:p>
        </p:txBody>
      </p:sp>
      <p:sp>
        <p:nvSpPr>
          <p:cNvPr id="191" name="gal 191"/>
          <p:cNvSpPr/>
          <p:nvPr/>
        </p:nvSpPr>
        <p:spPr>
          <a:xfrm>
            <a:off x="8165592" y="2487168"/>
            <a:ext cx="530352" cy="155448"/>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real-time</a:t>
            </a:r>
          </a:p>
        </p:txBody>
      </p:sp>
      <p:sp>
        <p:nvSpPr>
          <p:cNvPr id="192" name="gal 192"/>
          <p:cNvSpPr/>
          <p:nvPr/>
        </p:nvSpPr>
        <p:spPr>
          <a:xfrm>
            <a:off x="8750808" y="246888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3</a:t>
            </a:r>
          </a:p>
        </p:txBody>
      </p:sp>
      <p:sp>
        <p:nvSpPr>
          <p:cNvPr id="193" name="gal 193"/>
          <p:cNvSpPr/>
          <p:nvPr/>
        </p:nvSpPr>
        <p:spPr>
          <a:xfrm>
            <a:off x="8988552" y="2487168"/>
            <a:ext cx="347472" cy="155448"/>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batch</a:t>
            </a:r>
          </a:p>
        </p:txBody>
      </p:sp>
      <p:sp>
        <p:nvSpPr>
          <p:cNvPr id="194" name="gal 194"/>
          <p:cNvSpPr/>
          <p:nvPr/>
        </p:nvSpPr>
        <p:spPr>
          <a:xfrm>
            <a:off x="9390888" y="246888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4</a:t>
            </a:r>
          </a:p>
        </p:txBody>
      </p:sp>
      <p:sp>
        <p:nvSpPr>
          <p:cNvPr id="195" name="gal 195"/>
          <p:cNvSpPr/>
          <p:nvPr/>
        </p:nvSpPr>
        <p:spPr>
          <a:xfrm>
            <a:off x="9628632" y="2487168"/>
            <a:ext cx="603504" cy="155448"/>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write-back</a:t>
            </a:r>
          </a:p>
        </p:txBody>
      </p:sp>
      <p:sp>
        <p:nvSpPr>
          <p:cNvPr id="196" name="gal 196"/>
          <p:cNvSpPr/>
          <p:nvPr/>
        </p:nvSpPr>
        <p:spPr>
          <a:xfrm>
            <a:off x="10287000" y="246888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5</a:t>
            </a:r>
          </a:p>
        </p:txBody>
      </p:sp>
      <p:sp>
        <p:nvSpPr>
          <p:cNvPr id="197" name="gal 197"/>
          <p:cNvSpPr/>
          <p:nvPr/>
        </p:nvSpPr>
        <p:spPr>
          <a:xfrm>
            <a:off x="10524744" y="2487168"/>
            <a:ext cx="274320" cy="155448"/>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read</a:t>
            </a:r>
          </a:p>
        </p:txBody>
      </p:sp>
      <p:sp>
        <p:nvSpPr>
          <p:cNvPr id="198" name="gal 198"/>
          <p:cNvSpPr/>
          <p:nvPr/>
        </p:nvSpPr>
        <p:spPr>
          <a:xfrm>
            <a:off x="1508760" y="3127248"/>
            <a:ext cx="1600200" cy="47548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OTel Collector tier</a:t>
            </a:r>
            <a:r>
              <a:rPr lang="en-US" sz="800" b="1" dirty="0">
                <a:solidFill>
                  <a:srgbClr val="F5B700"/>
                </a:solidFill>
                <a:latin typeface="Arial"/>
                <a:ea typeface="Arial"/>
                <a:cs typeface="Arial"/>
              </a:rPr>
              <a:t>  GKE</a:t>
            </a:r>
          </a:p>
          <a:p>
            <a:pPr algn="l" marL="0" indent="0">
              <a:lnSpc>
                <a:spcPct val="90000"/>
              </a:lnSpc>
              <a:buNone/>
            </a:pPr>
            <a:r>
              <a:rPr lang="en-US" sz="800" dirty="0">
                <a:solidFill>
                  <a:srgbClr val="F3E6D6"/>
                </a:solidFill>
                <a:latin typeface="Arial"/>
                <a:ea typeface="Arial"/>
                <a:cs typeface="Arial"/>
              </a:rPr>
              <a:t>HPA · tail sampling · routing by agent_id, risk_tier [96]</a:t>
            </a:r>
          </a:p>
        </p:txBody>
      </p:sp>
      <p:sp>
        <p:nvSpPr>
          <p:cNvPr id="199" name="gal 199"/>
          <p:cNvSpPr/>
          <p:nvPr/>
        </p:nvSpPr>
        <p:spPr>
          <a:xfrm>
            <a:off x="3520440" y="3127248"/>
            <a:ext cx="1417320" cy="475488"/>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Pub/Sub topic</a:t>
            </a:r>
          </a:p>
          <a:p>
            <a:pPr algn="l" marL="0" indent="0">
              <a:lnSpc>
                <a:spcPct val="90000"/>
              </a:lnSpc>
              <a:buNone/>
            </a:pPr>
            <a:r>
              <a:rPr lang="en-US" sz="800" dirty="0">
                <a:solidFill>
                  <a:srgbClr val="F3E6D6"/>
                </a:solidFill>
                <a:latin typeface="Arial"/>
                <a:ea typeface="Arial"/>
                <a:cs typeface="Arial"/>
              </a:rPr>
              <a:t>spans + attributes: lane, risk_tier, use_case_id [95]</a:t>
            </a:r>
          </a:p>
        </p:txBody>
      </p:sp>
      <p:sp>
        <p:nvSpPr>
          <p:cNvPr id="200" name="gal 200"/>
          <p:cNvSpPr/>
          <p:nvPr/>
        </p:nvSpPr>
        <p:spPr>
          <a:xfrm>
            <a:off x="6537960" y="3127248"/>
            <a:ext cx="3291840" cy="47548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Subscriptions [92]</a:t>
            </a:r>
          </a:p>
          <a:p>
            <a:pPr algn="l" marL="0" indent="0">
              <a:lnSpc>
                <a:spcPct val="90000"/>
              </a:lnSpc>
              <a:buNone/>
            </a:pPr>
            <a:r>
              <a:rPr lang="en-US" sz="800" dirty="0">
                <a:solidFill>
                  <a:srgbClr val="F3E6D6"/>
                </a:solidFill>
                <a:latin typeface="Arial"/>
                <a:ea typeface="Arial"/>
                <a:cs typeface="Arial"/>
              </a:rPr>
              <a:t>rt (lane = "rt") + batch (lane = "batch") → Dataflow</a:t>
            </a:r>
          </a:p>
          <a:p>
            <a:pPr algn="l" marL="0" indent="0">
              <a:lnSpc>
                <a:spcPct val="90000"/>
              </a:lnSpc>
              <a:buNone/>
            </a:pPr>
            <a:r>
              <a:rPr lang="en-US" sz="800" dirty="0">
                <a:solidFill>
                  <a:srgbClr val="F3E6D6"/>
                </a:solidFill>
                <a:latin typeface="Arial"/>
                <a:ea typeface="Arial"/>
                <a:cs typeface="Arial"/>
              </a:rPr>
              <a:t>BigQuery subscription → BigQuery: runs today [93]</a:t>
            </a:r>
          </a:p>
        </p:txBody>
      </p:sp>
      <p:cxnSp>
        <p:nvCxnSpPr>
          <p:cNvPr id="201" name="g2 flow 201"/>
          <p:cNvCxnSpPr/>
          <p:nvPr/>
        </p:nvCxnSpPr>
        <p:spPr>
          <a:xfrm>
            <a:off x="3108960" y="3419856"/>
            <a:ext cx="411480" cy="0"/>
          </a:xfrm>
          <a:prstGeom prst="line">
            <a:avLst/>
          </a:prstGeom>
          <a:ln w="15875">
            <a:solidFill>
              <a:srgbClr val="EE0000"/>
            </a:solidFill>
            <a:tailEnd type="triangle" w="med" len="med"/>
          </a:ln>
        </p:spPr>
      </p:cxnSp>
      <p:sp>
        <p:nvSpPr>
          <p:cNvPr id="202" name="gal 202"/>
          <p:cNvSpPr/>
          <p:nvPr/>
        </p:nvSpPr>
        <p:spPr>
          <a:xfrm>
            <a:off x="3090672" y="3172968"/>
            <a:ext cx="457200" cy="155448"/>
          </a:xfrm>
          <a:prstGeom prst="rect">
            <a:avLst/>
          </a:prstGeom>
          <a:noFill/>
          <a:ln>
            <a:noFill/>
          </a:ln>
        </p:spPr>
        <p:txBody>
          <a:bodyPr wrap="square" lIns="0" tIns="0" rIns="0" bIns="0" rtlCol="0" anchor="ctr">
            <a:noAutofit/>
          </a:bodyPr>
          <a:lstStyle/>
          <a:p>
            <a:pPr algn="ctr" marL="0" indent="0">
              <a:buNone/>
            </a:pPr>
            <a:r>
              <a:rPr lang="en-US" sz="800" b="1" dirty="0">
                <a:solidFill>
                  <a:srgbClr val="F5B700"/>
                </a:solidFill>
                <a:latin typeface="Arial"/>
                <a:ea typeface="Arial"/>
                <a:cs typeface="Arial"/>
              </a:rPr>
              <a:t>publish</a:t>
            </a:r>
          </a:p>
        </p:txBody>
      </p:sp>
      <p:cxnSp>
        <p:nvCxnSpPr>
          <p:cNvPr id="203" name="g2 flow 203"/>
          <p:cNvCxnSpPr/>
          <p:nvPr/>
        </p:nvCxnSpPr>
        <p:spPr>
          <a:xfrm>
            <a:off x="4937760" y="3364992"/>
            <a:ext cx="1600200" cy="0"/>
          </a:xfrm>
          <a:prstGeom prst="line">
            <a:avLst/>
          </a:prstGeom>
          <a:ln w="15875">
            <a:solidFill>
              <a:srgbClr val="EE0000"/>
            </a:solidFill>
            <a:tailEnd type="triangle" w="med" len="med"/>
          </a:ln>
        </p:spPr>
      </p:cxnSp>
      <p:sp>
        <p:nvSpPr>
          <p:cNvPr id="204" name="gal 204"/>
          <p:cNvSpPr/>
          <p:nvPr/>
        </p:nvSpPr>
        <p:spPr>
          <a:xfrm>
            <a:off x="4983480" y="3172968"/>
            <a:ext cx="1508760" cy="155448"/>
          </a:xfrm>
          <a:prstGeom prst="rect">
            <a:avLst/>
          </a:prstGeom>
          <a:noFill/>
          <a:ln>
            <a:noFill/>
          </a:ln>
        </p:spPr>
        <p:txBody>
          <a:bodyPr wrap="square" lIns="0" tIns="0" rIns="0" bIns="0" rtlCol="0" anchor="ctr">
            <a:noAutofit/>
          </a:bodyPr>
          <a:lstStyle/>
          <a:p>
            <a:pPr algn="ctr" marL="0" indent="0">
              <a:buNone/>
            </a:pPr>
            <a:r>
              <a:rPr lang="en-US" sz="800" b="1" dirty="0">
                <a:solidFill>
                  <a:srgbClr val="F5B700"/>
                </a:solidFill>
                <a:latin typeface="Arial"/>
                <a:ea typeface="Arial"/>
                <a:cs typeface="Arial"/>
              </a:rPr>
              <a:t>fan-out · attribute filters</a:t>
            </a:r>
          </a:p>
        </p:txBody>
      </p:sp>
      <p:sp>
        <p:nvSpPr>
          <p:cNvPr id="205" name="gal 205"/>
          <p:cNvSpPr/>
          <p:nvPr/>
        </p:nvSpPr>
        <p:spPr>
          <a:xfrm>
            <a:off x="1508760" y="3977640"/>
            <a:ext cx="109728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Metric registry</a:t>
            </a:r>
          </a:p>
          <a:p>
            <a:pPr algn="l" marL="0" indent="0">
              <a:lnSpc>
                <a:spcPct val="90000"/>
              </a:lnSpc>
              <a:buNone/>
            </a:pPr>
            <a:r>
              <a:rPr lang="en-US" sz="800" dirty="0">
                <a:solidFill>
                  <a:srgbClr val="F3E6D6"/>
                </a:solidFill>
                <a:latin typeface="Arial"/>
                <a:ea typeface="Arial"/>
                <a:cs typeface="Arial"/>
              </a:rPr>
              <a:t>metric.yaml for both lanes (slide 19)</a:t>
            </a:r>
          </a:p>
        </p:txBody>
      </p:sp>
      <p:sp>
        <p:nvSpPr>
          <p:cNvPr id="206" name="gal 206"/>
          <p:cNvSpPr/>
          <p:nvPr/>
        </p:nvSpPr>
        <p:spPr>
          <a:xfrm>
            <a:off x="2743200" y="3977640"/>
            <a:ext cx="114300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Cloud Composer</a:t>
            </a:r>
          </a:p>
          <a:p>
            <a:pPr algn="l" marL="0" indent="0">
              <a:lnSpc>
                <a:spcPct val="90000"/>
              </a:lnSpc>
              <a:buNone/>
            </a:pPr>
            <a:r>
              <a:rPr lang="en-US" sz="800" dirty="0">
                <a:solidFill>
                  <a:srgbClr val="F3E6D6"/>
                </a:solidFill>
                <a:latin typeface="Arial"/>
                <a:ea typeface="Arial"/>
                <a:cs typeface="Arial"/>
              </a:rPr>
              <a:t>schedules the batch DAGs [78]</a:t>
            </a:r>
          </a:p>
        </p:txBody>
      </p:sp>
      <p:sp>
        <p:nvSpPr>
          <p:cNvPr id="207" name="gal 207"/>
          <p:cNvSpPr/>
          <p:nvPr/>
        </p:nvSpPr>
        <p:spPr>
          <a:xfrm>
            <a:off x="4206240" y="3977640"/>
            <a:ext cx="1417320" cy="566928"/>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Spark · Dataproc</a:t>
            </a:r>
          </a:p>
          <a:p>
            <a:pPr algn="l" marL="0" indent="0">
              <a:lnSpc>
                <a:spcPct val="90000"/>
              </a:lnSpc>
              <a:buNone/>
            </a:pPr>
            <a:r>
              <a:rPr lang="en-US" sz="800" dirty="0">
                <a:solidFill>
                  <a:srgbClr val="F3E6D6"/>
                </a:solidFill>
                <a:latin typeface="Arial"/>
                <a:ea typeface="Arial"/>
                <a:cs typeface="Arial"/>
              </a:rPr>
              <a:t>batch lane: multi-DAG, prompt build, dedupe [79]</a:t>
            </a:r>
          </a:p>
        </p:txBody>
      </p:sp>
      <p:sp>
        <p:nvSpPr>
          <p:cNvPr id="208" name="gal 208"/>
          <p:cNvSpPr/>
          <p:nvPr/>
        </p:nvSpPr>
        <p:spPr>
          <a:xfrm>
            <a:off x="5870448" y="3959352"/>
            <a:ext cx="2359152" cy="603504"/>
          </a:xfrm>
          <a:prstGeom prst="rect">
            <a:avLst/>
          </a:prstGeom>
          <a:noFill/>
          <a:ln w="9525">
            <a:solidFill>
              <a:srgbClr val="D9B48A"/>
            </a:solidFill>
          </a:ln>
        </p:spPr>
      </p:sp>
      <p:sp>
        <p:nvSpPr>
          <p:cNvPr id="209" name="gal 209"/>
          <p:cNvSpPr/>
          <p:nvPr/>
        </p:nvSpPr>
        <p:spPr>
          <a:xfrm>
            <a:off x="5897880" y="3749040"/>
            <a:ext cx="146304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MODEL SERVING</a:t>
            </a:r>
          </a:p>
        </p:txBody>
      </p:sp>
      <p:sp>
        <p:nvSpPr>
          <p:cNvPr id="210" name="gal 210"/>
          <p:cNvSpPr/>
          <p:nvPr/>
        </p:nvSpPr>
        <p:spPr>
          <a:xfrm>
            <a:off x="5943600" y="3995928"/>
            <a:ext cx="1051560" cy="530352"/>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Vertex AI batch</a:t>
            </a:r>
          </a:p>
          <a:p>
            <a:pPr algn="l" marL="0" indent="0">
              <a:lnSpc>
                <a:spcPct val="90000"/>
              </a:lnSpc>
              <a:buNone/>
            </a:pPr>
            <a:r>
              <a:rPr lang="en-US" sz="800" dirty="0">
                <a:solidFill>
                  <a:srgbClr val="F3E6D6"/>
                </a:solidFill>
                <a:latin typeface="Arial"/>
                <a:ea typeface="Arial"/>
                <a:cs typeface="Arial"/>
              </a:rPr>
              <a:t>≤200k req / job, JSONL on GCS [66]</a:t>
            </a:r>
          </a:p>
        </p:txBody>
      </p:sp>
      <p:sp>
        <p:nvSpPr>
          <p:cNvPr id="211" name="gal 211"/>
          <p:cNvSpPr/>
          <p:nvPr/>
        </p:nvSpPr>
        <p:spPr>
          <a:xfrm>
            <a:off x="7114032" y="3995928"/>
            <a:ext cx="1051560" cy="53035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Vertex AI endpoints</a:t>
            </a:r>
          </a:p>
          <a:p>
            <a:pPr algn="l" marL="0" indent="0">
              <a:lnSpc>
                <a:spcPct val="90000"/>
              </a:lnSpc>
              <a:buNone/>
            </a:pPr>
            <a:r>
              <a:rPr lang="en-US" sz="800" dirty="0">
                <a:solidFill>
                  <a:srgbClr val="F3E6D6"/>
                </a:solidFill>
                <a:latin typeface="Arial"/>
                <a:ea typeface="Arial"/>
                <a:cs typeface="Arial"/>
              </a:rPr>
              <a:t>online, autoscaled; REST predict [77]</a:t>
            </a:r>
          </a:p>
        </p:txBody>
      </p:sp>
      <p:sp>
        <p:nvSpPr>
          <p:cNvPr id="212" name="gal 212"/>
          <p:cNvSpPr/>
          <p:nvPr/>
        </p:nvSpPr>
        <p:spPr>
          <a:xfrm>
            <a:off x="8458200" y="3977640"/>
            <a:ext cx="137160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Dataflow streaming</a:t>
            </a:r>
          </a:p>
          <a:p>
            <a:pPr algn="l" marL="0" indent="0">
              <a:lnSpc>
                <a:spcPct val="90000"/>
              </a:lnSpc>
              <a:buNone/>
            </a:pPr>
            <a:r>
              <a:rPr lang="en-US" sz="800" dirty="0">
                <a:solidFill>
                  <a:srgbClr val="F3E6D6"/>
                </a:solidFill>
                <a:latin typeface="Arial"/>
                <a:ea typeface="Arial"/>
                <a:cs typeface="Arial"/>
              </a:rPr>
              <a:t>RT lane: session stitch, rule metrics, online judge [71]</a:t>
            </a:r>
          </a:p>
        </p:txBody>
      </p:sp>
      <p:cxnSp>
        <p:nvCxnSpPr>
          <p:cNvPr id="213" name="g2 flow 213"/>
          <p:cNvCxnSpPr/>
          <p:nvPr/>
        </p:nvCxnSpPr>
        <p:spPr>
          <a:xfrm>
            <a:off x="3886200" y="4261104"/>
            <a:ext cx="320040" cy="0"/>
          </a:xfrm>
          <a:prstGeom prst="line">
            <a:avLst/>
          </a:prstGeom>
          <a:ln w="15875">
            <a:solidFill>
              <a:srgbClr val="EE0000"/>
            </a:solidFill>
            <a:tailEnd type="triangle" w="med" len="med"/>
          </a:ln>
        </p:spPr>
      </p:cxnSp>
      <p:cxnSp>
        <p:nvCxnSpPr>
          <p:cNvPr id="214" name="g2 flow 214"/>
          <p:cNvCxnSpPr/>
          <p:nvPr/>
        </p:nvCxnSpPr>
        <p:spPr>
          <a:xfrm>
            <a:off x="5623560" y="4261104"/>
            <a:ext cx="320040" cy="0"/>
          </a:xfrm>
          <a:prstGeom prst="line">
            <a:avLst/>
          </a:prstGeom>
          <a:ln w="15875">
            <a:solidFill>
              <a:srgbClr val="EE0000"/>
            </a:solidFill>
            <a:tailEnd type="triangle" w="med" len="med"/>
          </a:ln>
        </p:spPr>
      </p:cxnSp>
      <p:sp>
        <p:nvSpPr>
          <p:cNvPr id="215" name="gal 215"/>
          <p:cNvSpPr/>
          <p:nvPr/>
        </p:nvSpPr>
        <p:spPr>
          <a:xfrm>
            <a:off x="5678424" y="416052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3</a:t>
            </a:r>
          </a:p>
        </p:txBody>
      </p:sp>
      <p:cxnSp>
        <p:nvCxnSpPr>
          <p:cNvPr id="216" name="g2 flow 216"/>
          <p:cNvCxnSpPr/>
          <p:nvPr/>
        </p:nvCxnSpPr>
        <p:spPr>
          <a:xfrm flipH="1">
            <a:off x="8165592" y="4261104"/>
            <a:ext cx="292608" cy="0"/>
          </a:xfrm>
          <a:prstGeom prst="line">
            <a:avLst/>
          </a:prstGeom>
          <a:ln w="15875">
            <a:solidFill>
              <a:srgbClr val="EE0000"/>
            </a:solidFill>
            <a:tailEnd type="triangle" w="med" len="med"/>
          </a:ln>
        </p:spPr>
      </p:cxnSp>
      <p:sp>
        <p:nvSpPr>
          <p:cNvPr id="217" name="gal 217"/>
          <p:cNvSpPr/>
          <p:nvPr/>
        </p:nvSpPr>
        <p:spPr>
          <a:xfrm>
            <a:off x="8211312" y="416052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2</a:t>
            </a:r>
          </a:p>
        </p:txBody>
      </p:sp>
      <p:cxnSp>
        <p:nvCxnSpPr>
          <p:cNvPr id="218" name="g2 flow 218"/>
          <p:cNvCxnSpPr/>
          <p:nvPr/>
        </p:nvCxnSpPr>
        <p:spPr>
          <a:xfrm>
            <a:off x="9144000" y="3602736"/>
            <a:ext cx="0" cy="374904"/>
          </a:xfrm>
          <a:prstGeom prst="line">
            <a:avLst/>
          </a:prstGeom>
          <a:ln w="15875">
            <a:solidFill>
              <a:srgbClr val="EE0000"/>
            </a:solidFill>
            <a:tailEnd type="triangle" w="med" len="med"/>
          </a:ln>
        </p:spPr>
      </p:cxnSp>
      <p:sp>
        <p:nvSpPr>
          <p:cNvPr id="219" name="gal 219"/>
          <p:cNvSpPr/>
          <p:nvPr/>
        </p:nvSpPr>
        <p:spPr>
          <a:xfrm>
            <a:off x="8906256" y="369417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2</a:t>
            </a:r>
          </a:p>
        </p:txBody>
      </p:sp>
      <p:sp>
        <p:nvSpPr>
          <p:cNvPr id="220" name="gal 220"/>
          <p:cNvSpPr/>
          <p:nvPr/>
        </p:nvSpPr>
        <p:spPr>
          <a:xfrm>
            <a:off x="9208008" y="3712464"/>
            <a:ext cx="658368"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pull · Beam</a:t>
            </a:r>
          </a:p>
        </p:txBody>
      </p:sp>
      <p:sp>
        <p:nvSpPr>
          <p:cNvPr id="221" name="gal 221"/>
          <p:cNvSpPr/>
          <p:nvPr/>
        </p:nvSpPr>
        <p:spPr>
          <a:xfrm>
            <a:off x="1508760" y="4919472"/>
            <a:ext cx="1097280" cy="475488"/>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BigQuery</a:t>
            </a:r>
          </a:p>
          <a:p>
            <a:pPr algn="l" marL="0" indent="0">
              <a:lnSpc>
                <a:spcPct val="90000"/>
              </a:lnSpc>
              <a:buNone/>
            </a:pPr>
            <a:r>
              <a:rPr lang="en-US" sz="800" dirty="0">
                <a:solidFill>
                  <a:srgbClr val="F3E6D6"/>
                </a:solidFill>
                <a:latin typeface="Arial"/>
                <a:ea typeface="Arial"/>
                <a:cs typeface="Arial"/>
              </a:rPr>
              <a:t>raw spans via BigQuery sub [93]</a:t>
            </a:r>
          </a:p>
        </p:txBody>
      </p:sp>
      <p:sp>
        <p:nvSpPr>
          <p:cNvPr id="222" name="gal 222"/>
          <p:cNvSpPr/>
          <p:nvPr/>
        </p:nvSpPr>
        <p:spPr>
          <a:xfrm>
            <a:off x="2743200" y="4919472"/>
            <a:ext cx="1143000" cy="47548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eval_scores</a:t>
            </a:r>
          </a:p>
          <a:p>
            <a:pPr algn="l" marL="0" indent="0">
              <a:lnSpc>
                <a:spcPct val="90000"/>
              </a:lnSpc>
              <a:buNone/>
            </a:pPr>
            <a:r>
              <a:rPr lang="en-US" sz="800" dirty="0">
                <a:solidFill>
                  <a:srgbClr val="F3E6D6"/>
                </a:solidFill>
                <a:latin typeface="Arial"/>
                <a:ea typeface="Arial"/>
                <a:cs typeface="Arial"/>
              </a:rPr>
              <a:t>BigQuery table; MERGE per subject, metric, version</a:t>
            </a:r>
          </a:p>
        </p:txBody>
      </p:sp>
      <p:sp>
        <p:nvSpPr>
          <p:cNvPr id="223" name="gal 223"/>
          <p:cNvSpPr/>
          <p:nvPr/>
        </p:nvSpPr>
        <p:spPr>
          <a:xfrm>
            <a:off x="4206240" y="4919472"/>
            <a:ext cx="3246120" cy="47548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Iceberg lake on GCS · BigLake</a:t>
            </a:r>
          </a:p>
          <a:p>
            <a:pPr algn="l" marL="0" indent="0">
              <a:lnSpc>
                <a:spcPct val="90000"/>
              </a:lnSpc>
              <a:buNone/>
            </a:pPr>
            <a:r>
              <a:rPr lang="en-US" sz="800" dirty="0">
                <a:solidFill>
                  <a:srgbClr val="F3E6D6"/>
                </a:solidFill>
                <a:latin typeface="Arial"/>
                <a:ea typeface="Arial"/>
                <a:cs typeface="Arial"/>
              </a:rPr>
              <a:t>Parquet by date + tenant; source of truth for evals [75]</a:t>
            </a:r>
          </a:p>
        </p:txBody>
      </p:sp>
      <p:sp>
        <p:nvSpPr>
          <p:cNvPr id="224" name="gal 224"/>
          <p:cNvSpPr/>
          <p:nvPr/>
        </p:nvSpPr>
        <p:spPr>
          <a:xfrm>
            <a:off x="7726680" y="4919472"/>
            <a:ext cx="2103120" cy="47548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ClickHouse hot store</a:t>
            </a:r>
            <a:r>
              <a:rPr lang="en-US" sz="800" b="1" dirty="0">
                <a:solidFill>
                  <a:srgbClr val="F5B700"/>
                </a:solidFill>
                <a:latin typeface="Arial"/>
                <a:ea typeface="Arial"/>
                <a:cs typeface="Arial"/>
              </a:rPr>
              <a:t>  GKE</a:t>
            </a:r>
          </a:p>
          <a:p>
            <a:pPr algn="l" marL="0" indent="0">
              <a:lnSpc>
                <a:spcPct val="90000"/>
              </a:lnSpc>
              <a:buNone/>
            </a:pPr>
            <a:r>
              <a:rPr lang="en-US" sz="800" dirty="0">
                <a:solidFill>
                  <a:srgbClr val="F3E6D6"/>
                </a:solidFill>
                <a:latin typeface="Arial"/>
                <a:ea typeface="Arial"/>
                <a:cs typeface="Arial"/>
              </a:rPr>
              <a:t>7–30 days; sharded by tenant / session; batched inserts [49][65]</a:t>
            </a:r>
          </a:p>
        </p:txBody>
      </p:sp>
      <p:cxnSp>
        <p:nvCxnSpPr>
          <p:cNvPr id="225" name="g2 flow 225"/>
          <p:cNvCxnSpPr/>
          <p:nvPr/>
        </p:nvCxnSpPr>
        <p:spPr>
          <a:xfrm>
            <a:off x="8778240" y="4544568"/>
            <a:ext cx="0" cy="182880"/>
          </a:xfrm>
          <a:prstGeom prst="line">
            <a:avLst/>
          </a:prstGeom>
          <a:ln w="15875">
            <a:solidFill>
              <a:srgbClr val="EE0000"/>
            </a:solidFill>
          </a:ln>
        </p:spPr>
      </p:cxnSp>
      <p:cxnSp>
        <p:nvCxnSpPr>
          <p:cNvPr id="226" name="g2 flow 226"/>
          <p:cNvCxnSpPr/>
          <p:nvPr/>
        </p:nvCxnSpPr>
        <p:spPr>
          <a:xfrm flipH="1">
            <a:off x="7223760" y="4727448"/>
            <a:ext cx="1554480" cy="0"/>
          </a:xfrm>
          <a:prstGeom prst="line">
            <a:avLst/>
          </a:prstGeom>
          <a:ln w="15875">
            <a:solidFill>
              <a:srgbClr val="EE0000"/>
            </a:solidFill>
          </a:ln>
        </p:spPr>
      </p:cxnSp>
      <p:cxnSp>
        <p:nvCxnSpPr>
          <p:cNvPr id="227" name="g2 flow 227"/>
          <p:cNvCxnSpPr/>
          <p:nvPr/>
        </p:nvCxnSpPr>
        <p:spPr>
          <a:xfrm>
            <a:off x="7223760" y="4727448"/>
            <a:ext cx="0" cy="192024"/>
          </a:xfrm>
          <a:prstGeom prst="line">
            <a:avLst/>
          </a:prstGeom>
          <a:ln w="15875">
            <a:solidFill>
              <a:srgbClr val="EE0000"/>
            </a:solidFill>
            <a:tailEnd type="triangle" w="med" len="med"/>
          </a:ln>
        </p:spPr>
      </p:cxnSp>
      <p:sp>
        <p:nvSpPr>
          <p:cNvPr id="228" name="gal 228"/>
          <p:cNvSpPr/>
          <p:nvPr/>
        </p:nvSpPr>
        <p:spPr>
          <a:xfrm>
            <a:off x="7315200" y="4562856"/>
            <a:ext cx="141732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IcebergIO · Parquet</a:t>
            </a:r>
          </a:p>
        </p:txBody>
      </p:sp>
      <p:cxnSp>
        <p:nvCxnSpPr>
          <p:cNvPr id="229" name="g2 flow 229"/>
          <p:cNvCxnSpPr/>
          <p:nvPr/>
        </p:nvCxnSpPr>
        <p:spPr>
          <a:xfrm>
            <a:off x="9509760" y="4544568"/>
            <a:ext cx="0" cy="374904"/>
          </a:xfrm>
          <a:prstGeom prst="line">
            <a:avLst/>
          </a:prstGeom>
          <a:ln w="15875">
            <a:solidFill>
              <a:srgbClr val="EE0000"/>
            </a:solidFill>
            <a:tailEnd type="triangle" w="med" len="med"/>
          </a:ln>
        </p:spPr>
      </p:cxnSp>
      <p:cxnSp>
        <p:nvCxnSpPr>
          <p:cNvPr id="230" name="g2 flow 230"/>
          <p:cNvCxnSpPr/>
          <p:nvPr/>
        </p:nvCxnSpPr>
        <p:spPr>
          <a:xfrm flipV="1">
            <a:off x="4937760" y="4544568"/>
            <a:ext cx="0" cy="374904"/>
          </a:xfrm>
          <a:prstGeom prst="line">
            <a:avLst/>
          </a:prstGeom>
          <a:ln w="15875">
            <a:solidFill>
              <a:srgbClr val="EE0000"/>
            </a:solidFill>
            <a:tailEnd type="triangle" w="med" len="med"/>
          </a:ln>
        </p:spPr>
      </p:cxnSp>
      <p:sp>
        <p:nvSpPr>
          <p:cNvPr id="231" name="gal 231"/>
          <p:cNvSpPr/>
          <p:nvPr/>
        </p:nvSpPr>
        <p:spPr>
          <a:xfrm>
            <a:off x="4700016" y="461772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3</a:t>
            </a:r>
          </a:p>
        </p:txBody>
      </p:sp>
      <p:sp>
        <p:nvSpPr>
          <p:cNvPr id="232" name="gal 232"/>
          <p:cNvSpPr/>
          <p:nvPr/>
        </p:nvSpPr>
        <p:spPr>
          <a:xfrm>
            <a:off x="5001768" y="4645152"/>
            <a:ext cx="100584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Iceberg read</a:t>
            </a:r>
          </a:p>
        </p:txBody>
      </p:sp>
      <p:cxnSp>
        <p:nvCxnSpPr>
          <p:cNvPr id="233" name="g2 flow 233"/>
          <p:cNvCxnSpPr/>
          <p:nvPr/>
        </p:nvCxnSpPr>
        <p:spPr>
          <a:xfrm>
            <a:off x="4343400" y="4544568"/>
            <a:ext cx="0" cy="182880"/>
          </a:xfrm>
          <a:prstGeom prst="line">
            <a:avLst/>
          </a:prstGeom>
          <a:ln w="15875">
            <a:solidFill>
              <a:srgbClr val="EE0000"/>
            </a:solidFill>
          </a:ln>
        </p:spPr>
      </p:cxnSp>
      <p:cxnSp>
        <p:nvCxnSpPr>
          <p:cNvPr id="234" name="g2 flow 234"/>
          <p:cNvCxnSpPr/>
          <p:nvPr/>
        </p:nvCxnSpPr>
        <p:spPr>
          <a:xfrm flipH="1">
            <a:off x="3310128" y="4727448"/>
            <a:ext cx="1033272" cy="0"/>
          </a:xfrm>
          <a:prstGeom prst="line">
            <a:avLst/>
          </a:prstGeom>
          <a:ln w="15875">
            <a:solidFill>
              <a:srgbClr val="EE0000"/>
            </a:solidFill>
          </a:ln>
        </p:spPr>
      </p:cxnSp>
      <p:cxnSp>
        <p:nvCxnSpPr>
          <p:cNvPr id="235" name="g2 flow 235"/>
          <p:cNvCxnSpPr/>
          <p:nvPr/>
        </p:nvCxnSpPr>
        <p:spPr>
          <a:xfrm>
            <a:off x="3310128" y="4727448"/>
            <a:ext cx="0" cy="192024"/>
          </a:xfrm>
          <a:prstGeom prst="line">
            <a:avLst/>
          </a:prstGeom>
          <a:ln w="15875">
            <a:solidFill>
              <a:srgbClr val="EE0000"/>
            </a:solidFill>
            <a:tailEnd type="triangle" w="med" len="med"/>
          </a:ln>
        </p:spPr>
      </p:cxnSp>
      <p:cxnSp>
        <p:nvCxnSpPr>
          <p:cNvPr id="236" name="g2 flow 236"/>
          <p:cNvCxnSpPr/>
          <p:nvPr/>
        </p:nvCxnSpPr>
        <p:spPr>
          <a:xfrm>
            <a:off x="4041648" y="4727448"/>
            <a:ext cx="0" cy="1042416"/>
          </a:xfrm>
          <a:prstGeom prst="line">
            <a:avLst/>
          </a:prstGeom>
          <a:ln w="15875">
            <a:solidFill>
              <a:srgbClr val="EE0000"/>
            </a:solidFill>
            <a:tailEnd type="triangle" w="med" len="med"/>
          </a:ln>
        </p:spPr>
      </p:cxnSp>
      <p:sp>
        <p:nvSpPr>
          <p:cNvPr id="237" name="gal 237"/>
          <p:cNvSpPr/>
          <p:nvPr/>
        </p:nvSpPr>
        <p:spPr>
          <a:xfrm>
            <a:off x="3648456" y="4626864"/>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4</a:t>
            </a:r>
          </a:p>
        </p:txBody>
      </p:sp>
      <p:sp>
        <p:nvSpPr>
          <p:cNvPr id="238" name="gal 238"/>
          <p:cNvSpPr/>
          <p:nvPr/>
        </p:nvSpPr>
        <p:spPr>
          <a:xfrm>
            <a:off x="2743200" y="4553712"/>
            <a:ext cx="86868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MERGE · SQL</a:t>
            </a:r>
          </a:p>
        </p:txBody>
      </p:sp>
      <p:sp>
        <p:nvSpPr>
          <p:cNvPr id="239" name="gal 239"/>
          <p:cNvSpPr/>
          <p:nvPr/>
        </p:nvSpPr>
        <p:spPr>
          <a:xfrm>
            <a:off x="1508760" y="5769864"/>
            <a:ext cx="2651760" cy="4297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Langfuse</a:t>
            </a:r>
            <a:r>
              <a:rPr lang="en-US" sz="800" b="1" dirty="0">
                <a:solidFill>
                  <a:srgbClr val="F5B700"/>
                </a:solidFill>
                <a:latin typeface="Arial"/>
                <a:ea typeface="Arial"/>
                <a:cs typeface="Arial"/>
              </a:rPr>
              <a:t>  GKE</a:t>
            </a:r>
          </a:p>
          <a:p>
            <a:pPr algn="l" marL="0" indent="0">
              <a:lnSpc>
                <a:spcPct val="90000"/>
              </a:lnSpc>
              <a:buNone/>
            </a:pPr>
            <a:r>
              <a:rPr lang="en-US" sz="800" dirty="0">
                <a:solidFill>
                  <a:srgbClr val="F3E6D6"/>
                </a:solidFill>
                <a:latin typeface="Arial"/>
                <a:ea typeface="Arial"/>
                <a:cs typeface="Arial"/>
              </a:rPr>
              <a:t>curated + scored traces, annotation; stack on slide 18</a:t>
            </a:r>
          </a:p>
        </p:txBody>
      </p:sp>
      <p:sp>
        <p:nvSpPr>
          <p:cNvPr id="240" name="gal 240"/>
          <p:cNvSpPr/>
          <p:nvPr/>
        </p:nvSpPr>
        <p:spPr>
          <a:xfrm>
            <a:off x="4480560" y="5769864"/>
            <a:ext cx="2971800" cy="4297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BigQuery SQL · notebooks</a:t>
            </a:r>
          </a:p>
          <a:p>
            <a:pPr algn="l" marL="0" indent="0">
              <a:lnSpc>
                <a:spcPct val="90000"/>
              </a:lnSpc>
              <a:buNone/>
            </a:pPr>
            <a:r>
              <a:rPr lang="en-US" sz="800" dirty="0">
                <a:solidFill>
                  <a:srgbClr val="F3E6D6"/>
                </a:solidFill>
                <a:latin typeface="Arial"/>
                <a:ea typeface="Arial"/>
                <a:cs typeface="Arial"/>
              </a:rPr>
              <a:t>analysts query Iceberg (BigLake) and eval_scores</a:t>
            </a:r>
          </a:p>
        </p:txBody>
      </p:sp>
      <p:sp>
        <p:nvSpPr>
          <p:cNvPr id="241" name="gal 241"/>
          <p:cNvSpPr/>
          <p:nvPr/>
        </p:nvSpPr>
        <p:spPr>
          <a:xfrm>
            <a:off x="7726680" y="5769864"/>
            <a:ext cx="2103120" cy="4297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Grafana</a:t>
            </a:r>
            <a:r>
              <a:rPr lang="en-US" sz="800" b="1" dirty="0">
                <a:solidFill>
                  <a:srgbClr val="F5B700"/>
                </a:solidFill>
                <a:latin typeface="Arial"/>
                <a:ea typeface="Arial"/>
                <a:cs typeface="Arial"/>
              </a:rPr>
              <a:t>  GKE</a:t>
            </a:r>
          </a:p>
          <a:p>
            <a:pPr algn="l" marL="0" indent="0">
              <a:lnSpc>
                <a:spcPct val="90000"/>
              </a:lnSpc>
              <a:buNone/>
            </a:pPr>
            <a:r>
              <a:rPr lang="en-US" sz="800" dirty="0">
                <a:solidFill>
                  <a:srgbClr val="F3E6D6"/>
                </a:solidFill>
                <a:latin typeface="Arial"/>
                <a:ea typeface="Arial"/>
                <a:cs typeface="Arial"/>
              </a:rPr>
              <a:t>raw volume and SLOs over ClickHouse</a:t>
            </a:r>
          </a:p>
        </p:txBody>
      </p:sp>
      <p:sp>
        <p:nvSpPr>
          <p:cNvPr id="242" name="gal 242"/>
          <p:cNvSpPr/>
          <p:nvPr/>
        </p:nvSpPr>
        <p:spPr>
          <a:xfrm>
            <a:off x="4114800" y="5486400"/>
            <a:ext cx="160020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POST /api/public/scores</a:t>
            </a:r>
          </a:p>
        </p:txBody>
      </p:sp>
      <p:cxnSp>
        <p:nvCxnSpPr>
          <p:cNvPr id="243" name="g2 flow 243"/>
          <p:cNvCxnSpPr/>
          <p:nvPr/>
        </p:nvCxnSpPr>
        <p:spPr>
          <a:xfrm>
            <a:off x="5943600" y="5394960"/>
            <a:ext cx="0" cy="374904"/>
          </a:xfrm>
          <a:prstGeom prst="line">
            <a:avLst/>
          </a:prstGeom>
          <a:ln w="15875">
            <a:solidFill>
              <a:srgbClr val="EE0000"/>
            </a:solidFill>
            <a:tailEnd type="triangle" w="med" len="med"/>
          </a:ln>
        </p:spPr>
      </p:cxnSp>
      <p:sp>
        <p:nvSpPr>
          <p:cNvPr id="244" name="gal 244"/>
          <p:cNvSpPr/>
          <p:nvPr/>
        </p:nvSpPr>
        <p:spPr>
          <a:xfrm>
            <a:off x="5705856" y="547725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5</a:t>
            </a:r>
          </a:p>
        </p:txBody>
      </p:sp>
      <p:sp>
        <p:nvSpPr>
          <p:cNvPr id="245" name="gal 245"/>
          <p:cNvSpPr/>
          <p:nvPr/>
        </p:nvSpPr>
        <p:spPr>
          <a:xfrm>
            <a:off x="6035040" y="5495544"/>
            <a:ext cx="109728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SQL · BigLake</a:t>
            </a:r>
          </a:p>
        </p:txBody>
      </p:sp>
      <p:cxnSp>
        <p:nvCxnSpPr>
          <p:cNvPr id="246" name="g2 flow 246"/>
          <p:cNvCxnSpPr/>
          <p:nvPr/>
        </p:nvCxnSpPr>
        <p:spPr>
          <a:xfrm>
            <a:off x="8778240" y="5394960"/>
            <a:ext cx="0" cy="374904"/>
          </a:xfrm>
          <a:prstGeom prst="line">
            <a:avLst/>
          </a:prstGeom>
          <a:ln w="15875">
            <a:solidFill>
              <a:srgbClr val="EE0000"/>
            </a:solidFill>
            <a:tailEnd type="triangle" w="med" len="med"/>
          </a:ln>
        </p:spPr>
      </p:cxnSp>
      <p:sp>
        <p:nvSpPr>
          <p:cNvPr id="247" name="gal 247"/>
          <p:cNvSpPr/>
          <p:nvPr/>
        </p:nvSpPr>
        <p:spPr>
          <a:xfrm>
            <a:off x="8540496" y="547725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5</a:t>
            </a:r>
          </a:p>
        </p:txBody>
      </p:sp>
      <p:sp>
        <p:nvSpPr>
          <p:cNvPr id="248" name="gal 248"/>
          <p:cNvSpPr/>
          <p:nvPr/>
        </p:nvSpPr>
        <p:spPr>
          <a:xfrm>
            <a:off x="8869680" y="5495544"/>
            <a:ext cx="86868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SQL :8123</a:t>
            </a:r>
          </a:p>
        </p:txBody>
      </p:sp>
      <p:cxnSp>
        <p:nvCxnSpPr>
          <p:cNvPr id="249" name="g2 flow 249"/>
          <p:cNvCxnSpPr/>
          <p:nvPr/>
        </p:nvCxnSpPr>
        <p:spPr>
          <a:xfrm flipH="1">
            <a:off x="1440180" y="3493008"/>
            <a:ext cx="68580" cy="0"/>
          </a:xfrm>
          <a:prstGeom prst="line">
            <a:avLst/>
          </a:prstGeom>
          <a:ln w="15875">
            <a:solidFill>
              <a:srgbClr val="EE0000"/>
            </a:solidFill>
          </a:ln>
        </p:spPr>
      </p:cxnSp>
      <p:cxnSp>
        <p:nvCxnSpPr>
          <p:cNvPr id="250" name="g2 flow 250"/>
          <p:cNvCxnSpPr/>
          <p:nvPr/>
        </p:nvCxnSpPr>
        <p:spPr>
          <a:xfrm>
            <a:off x="1440180" y="3493008"/>
            <a:ext cx="0" cy="2542032"/>
          </a:xfrm>
          <a:prstGeom prst="line">
            <a:avLst/>
          </a:prstGeom>
          <a:ln w="15875">
            <a:solidFill>
              <a:srgbClr val="EE0000"/>
            </a:solidFill>
          </a:ln>
        </p:spPr>
      </p:cxnSp>
      <p:cxnSp>
        <p:nvCxnSpPr>
          <p:cNvPr id="251" name="g2 flow 251"/>
          <p:cNvCxnSpPr/>
          <p:nvPr/>
        </p:nvCxnSpPr>
        <p:spPr>
          <a:xfrm>
            <a:off x="1440180" y="6035040"/>
            <a:ext cx="68580" cy="0"/>
          </a:xfrm>
          <a:prstGeom prst="line">
            <a:avLst/>
          </a:prstGeom>
          <a:ln w="15875">
            <a:solidFill>
              <a:srgbClr val="EE0000"/>
            </a:solidFill>
            <a:tailEnd type="triangle" w="med" len="med"/>
          </a:ln>
        </p:spPr>
      </p:cxnSp>
      <p:sp>
        <p:nvSpPr>
          <p:cNvPr id="252" name="gal 252"/>
          <p:cNvSpPr/>
          <p:nvPr/>
        </p:nvSpPr>
        <p:spPr>
          <a:xfrm>
            <a:off x="1339596" y="4626864"/>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1</a:t>
            </a:r>
          </a:p>
        </p:txBody>
      </p:sp>
      <p:sp>
        <p:nvSpPr>
          <p:cNvPr id="253" name="gal 253"/>
          <p:cNvSpPr/>
          <p:nvPr/>
        </p:nvSpPr>
        <p:spPr>
          <a:xfrm>
            <a:off x="1536192" y="5486400"/>
            <a:ext cx="228600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OTLP/HTTP /api/public/otel (no gRPC) [83]</a:t>
            </a:r>
          </a:p>
        </p:txBody>
      </p:sp>
      <p:sp>
        <p:nvSpPr>
          <p:cNvPr id="254" name="gal 254"/>
          <p:cNvSpPr/>
          <p:nvPr/>
        </p:nvSpPr>
        <p:spPr>
          <a:xfrm>
            <a:off x="10040112" y="2834640"/>
            <a:ext cx="160020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CROSS-CUTTING</a:t>
            </a:r>
          </a:p>
        </p:txBody>
      </p:sp>
      <p:sp>
        <p:nvSpPr>
          <p:cNvPr id="255" name="gal 255"/>
          <p:cNvSpPr/>
          <p:nvPr/>
        </p:nvSpPr>
        <p:spPr>
          <a:xfrm>
            <a:off x="10040112" y="3017520"/>
            <a:ext cx="160020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Identity</a:t>
            </a:r>
          </a:p>
          <a:p>
            <a:pPr algn="l" marL="0" indent="0">
              <a:lnSpc>
                <a:spcPct val="90000"/>
              </a:lnSpc>
              <a:buNone/>
            </a:pPr>
            <a:r>
              <a:rPr lang="en-US" sz="800" dirty="0">
                <a:solidFill>
                  <a:srgbClr val="F3E6D6"/>
                </a:solidFill>
                <a:latin typeface="Arial"/>
                <a:ea typeface="Arial"/>
                <a:cs typeface="Arial"/>
              </a:rPr>
              <a:t>IAM workload identity; IAP + SSO via the corporate IdP (OIDC / SAML)</a:t>
            </a:r>
          </a:p>
        </p:txBody>
      </p:sp>
      <p:sp>
        <p:nvSpPr>
          <p:cNvPr id="256" name="gal 256"/>
          <p:cNvSpPr/>
          <p:nvPr/>
        </p:nvSpPr>
        <p:spPr>
          <a:xfrm>
            <a:off x="10040112" y="3666744"/>
            <a:ext cx="160020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RBAC tenants</a:t>
            </a:r>
          </a:p>
          <a:p>
            <a:pPr algn="l" marL="0" indent="0">
              <a:lnSpc>
                <a:spcPct val="90000"/>
              </a:lnSpc>
              <a:buNone/>
            </a:pPr>
            <a:r>
              <a:rPr lang="en-US" sz="800" dirty="0">
                <a:solidFill>
                  <a:srgbClr val="F3E6D6"/>
                </a:solidFill>
                <a:latin typeface="Arial"/>
                <a:ea typeface="Arial"/>
                <a:cs typeface="Arial"/>
              </a:rPr>
              <a:t>tenant = use case: Langfuse org / project, ClickHouse row policies</a:t>
            </a:r>
          </a:p>
        </p:txBody>
      </p:sp>
      <p:sp>
        <p:nvSpPr>
          <p:cNvPr id="257" name="gal 257"/>
          <p:cNvSpPr/>
          <p:nvPr/>
        </p:nvSpPr>
        <p:spPr>
          <a:xfrm>
            <a:off x="10040112" y="4315968"/>
            <a:ext cx="160020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Secret Manager</a:t>
            </a:r>
          </a:p>
          <a:p>
            <a:pPr algn="l" marL="0" indent="0">
              <a:lnSpc>
                <a:spcPct val="90000"/>
              </a:lnSpc>
              <a:buNone/>
            </a:pPr>
            <a:r>
              <a:rPr lang="en-US" sz="800" dirty="0">
                <a:solidFill>
                  <a:srgbClr val="F3E6D6"/>
                </a:solidFill>
                <a:latin typeface="Arial"/>
                <a:ea typeface="Arial"/>
                <a:cs typeface="Arial"/>
              </a:rPr>
              <a:t>ingest keys, Langfuse API keys, DB credentials</a:t>
            </a:r>
          </a:p>
        </p:txBody>
      </p:sp>
      <p:sp>
        <p:nvSpPr>
          <p:cNvPr id="258" name="gal 258"/>
          <p:cNvSpPr/>
          <p:nvPr/>
        </p:nvSpPr>
        <p:spPr>
          <a:xfrm>
            <a:off x="10040112" y="4965192"/>
            <a:ext cx="160020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Cloud Monitoring</a:t>
            </a:r>
          </a:p>
          <a:p>
            <a:pPr algn="l" marL="0" indent="0">
              <a:lnSpc>
                <a:spcPct val="90000"/>
              </a:lnSpc>
              <a:buNone/>
            </a:pPr>
            <a:r>
              <a:rPr lang="en-US" sz="800" dirty="0">
                <a:solidFill>
                  <a:srgbClr val="F3E6D6"/>
                </a:solidFill>
                <a:latin typeface="Arial"/>
                <a:ea typeface="Arial"/>
                <a:cs typeface="Arial"/>
              </a:rPr>
              <a:t>SLOs: ingest lag, Pub/Sub backlog, drop rate</a:t>
            </a:r>
          </a:p>
        </p:txBody>
      </p:sp>
      <p:sp>
        <p:nvSpPr>
          <p:cNvPr id="259" name="gal 259"/>
          <p:cNvSpPr/>
          <p:nvPr/>
        </p:nvSpPr>
        <p:spPr>
          <a:xfrm>
            <a:off x="10040112" y="5614416"/>
            <a:ext cx="160020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VPC Service Controls</a:t>
            </a:r>
          </a:p>
          <a:p>
            <a:pPr algn="l" marL="0" indent="0">
              <a:lnSpc>
                <a:spcPct val="90000"/>
              </a:lnSpc>
              <a:buNone/>
            </a:pPr>
            <a:r>
              <a:rPr lang="en-US" sz="800" dirty="0">
                <a:solidFill>
                  <a:srgbClr val="F3E6D6"/>
                </a:solidFill>
                <a:latin typeface="Arial"/>
                <a:ea typeface="Arial"/>
                <a:cs typeface="Arial"/>
              </a:rPr>
              <a:t>perimeter around the project; private IPs only</a:t>
            </a:r>
          </a:p>
        </p:txBody>
      </p:sp>
      <p:sp>
        <p:nvSpPr>
          <p:cNvPr id="260" name="gal 260"/>
          <p:cNvSpPr/>
          <p:nvPr/>
        </p:nvSpPr>
        <p:spPr>
          <a:xfrm>
            <a:off x="548640" y="6355080"/>
            <a:ext cx="11091672" cy="292608"/>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Merges v12 slides 12 (production architecture) and 18 (target data flow). Contracts behind each arrow: slide 19; Langfuse stack: slide 18; lanes: slides 13–14. TODAY: Kairos SDK / gateway, Pub/Sub + BigQuery sub, Spark + Vertex batch; everything else PROPOSED.</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18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Platform gaps  ·  3 of 6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Langfuse tech stack:</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self-hosted on GCP, two containers and four stores</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5669280" y="1984248"/>
            <a:ext cx="292608" cy="182880"/>
          </a:xfrm>
          <a:prstGeom prst="rect">
            <a:avLst/>
          </a:prstGeom>
          <a:noFill/>
          <a:ln w="12700">
            <a:solidFill>
              <a:srgbClr val="F5B700"/>
            </a:solidFill>
            <a:prstDash val="sysDot"/>
          </a:ln>
        </p:spPr>
      </p:sp>
      <p:sp>
        <p:nvSpPr>
          <p:cNvPr id="159" name="gal 159"/>
          <p:cNvSpPr/>
          <p:nvPr/>
        </p:nvSpPr>
        <p:spPr>
          <a:xfrm>
            <a:off x="6016752" y="1984248"/>
            <a:ext cx="1097280" cy="1828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GCP project</a:t>
            </a:r>
          </a:p>
        </p:txBody>
      </p:sp>
      <p:sp>
        <p:nvSpPr>
          <p:cNvPr id="160" name="gal 160"/>
          <p:cNvSpPr/>
          <p:nvPr/>
        </p:nvSpPr>
        <p:spPr>
          <a:xfrm>
            <a:off x="6995160" y="1984248"/>
            <a:ext cx="292608" cy="182880"/>
          </a:xfrm>
          <a:prstGeom prst="rect">
            <a:avLst/>
          </a:prstGeom>
          <a:noFill/>
          <a:ln w="9525">
            <a:solidFill>
              <a:srgbClr val="D9B48A"/>
            </a:solidFill>
          </a:ln>
        </p:spPr>
      </p:sp>
      <p:sp>
        <p:nvSpPr>
          <p:cNvPr id="161" name="gal 161"/>
          <p:cNvSpPr/>
          <p:nvPr/>
        </p:nvSpPr>
        <p:spPr>
          <a:xfrm>
            <a:off x="7342632" y="1984248"/>
            <a:ext cx="1097280" cy="1828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VPC</a:t>
            </a:r>
          </a:p>
        </p:txBody>
      </p:sp>
      <p:sp>
        <p:nvSpPr>
          <p:cNvPr id="162" name="gal 162"/>
          <p:cNvSpPr/>
          <p:nvPr/>
        </p:nvSpPr>
        <p:spPr>
          <a:xfrm>
            <a:off x="8001000" y="1984248"/>
            <a:ext cx="292608" cy="182880"/>
          </a:xfrm>
          <a:prstGeom prst="rect">
            <a:avLst/>
          </a:prstGeom>
          <a:noFill/>
          <a:ln w="9525">
            <a:solidFill>
              <a:srgbClr val="F5B700"/>
            </a:solidFill>
          </a:ln>
        </p:spPr>
      </p:sp>
      <p:sp>
        <p:nvSpPr>
          <p:cNvPr id="163" name="gal 163"/>
          <p:cNvSpPr/>
          <p:nvPr/>
        </p:nvSpPr>
        <p:spPr>
          <a:xfrm>
            <a:off x="8348472" y="1984248"/>
            <a:ext cx="1097280" cy="1828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GKE cluster</a:t>
            </a:r>
          </a:p>
        </p:txBody>
      </p:sp>
      <p:sp>
        <p:nvSpPr>
          <p:cNvPr id="164" name="gal 164"/>
          <p:cNvSpPr/>
          <p:nvPr/>
        </p:nvSpPr>
        <p:spPr>
          <a:xfrm>
            <a:off x="9418320" y="1984248"/>
            <a:ext cx="292608" cy="182880"/>
          </a:xfrm>
          <a:prstGeom prst="roundRect">
            <a:avLst>
              <a:gd name="adj" fmla="val 10000"/>
            </a:avLst>
          </a:prstGeom>
          <a:solidFill>
            <a:srgbClr val="1E1412"/>
          </a:solidFill>
          <a:ln w="12700">
            <a:solidFill>
              <a:srgbClr val="D9B48A"/>
            </a:solidFill>
            <a:prstDash val="dash"/>
          </a:ln>
        </p:spPr>
        <p:txBody>
          <a:bodyPr wrap="square" lIns="82296" tIns="36576" rIns="64008" bIns="36576" rtlCol="0" anchor="ctr">
            <a:noAutofit/>
          </a:bodyPr>
          <a:lstStyle/>
          <a:p>
            <a:pPr algn="l" marL="0" indent="0">
              <a:lnSpc>
                <a:spcPct val="93000"/>
              </a:lnSpc>
              <a:buNone/>
            </a:pPr>
            <a:r>
              <a:rPr lang="en-US" sz="800" dirty="0">
                <a:solidFill>
                  <a:srgbClr val="FFFFFF"/>
                </a:solidFill>
                <a:latin typeface="Arial"/>
                <a:ea typeface="Arial"/>
                <a:cs typeface="Arial"/>
              </a:rPr>
              <a:t/>
            </a:r>
          </a:p>
        </p:txBody>
      </p:sp>
      <p:sp>
        <p:nvSpPr>
          <p:cNvPr id="165" name="gal 165"/>
          <p:cNvSpPr/>
          <p:nvPr/>
        </p:nvSpPr>
        <p:spPr>
          <a:xfrm>
            <a:off x="9765792" y="1984248"/>
            <a:ext cx="1097280" cy="1828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PROPOSED design</a:t>
            </a:r>
          </a:p>
        </p:txBody>
      </p:sp>
      <p:sp>
        <p:nvSpPr>
          <p:cNvPr id="166" name="gal 166"/>
          <p:cNvSpPr/>
          <p:nvPr/>
        </p:nvSpPr>
        <p:spPr>
          <a:xfrm>
            <a:off x="548640" y="2880360"/>
            <a:ext cx="1298448"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CLIENTS</a:t>
            </a:r>
          </a:p>
        </p:txBody>
      </p:sp>
      <p:sp>
        <p:nvSpPr>
          <p:cNvPr id="167" name="gal 167"/>
          <p:cNvSpPr/>
          <p:nvPr/>
        </p:nvSpPr>
        <p:spPr>
          <a:xfrm>
            <a:off x="548640" y="3090672"/>
            <a:ext cx="1298448" cy="52120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SDKs</a:t>
            </a:r>
          </a:p>
          <a:p>
            <a:pPr algn="l" marL="0" indent="0">
              <a:lnSpc>
                <a:spcPct val="90000"/>
              </a:lnSpc>
              <a:buNone/>
            </a:pPr>
            <a:r>
              <a:rPr lang="en-US" sz="800" dirty="0">
                <a:solidFill>
                  <a:srgbClr val="F3E6D6"/>
                </a:solidFill>
                <a:latin typeface="Arial"/>
                <a:ea typeface="Arial"/>
                <a:cs typeface="Arial"/>
              </a:rPr>
              <a:t>Kairos / Langfuse SDK: OTLP/HTTP or ingestion API</a:t>
            </a:r>
          </a:p>
        </p:txBody>
      </p:sp>
      <p:cxnSp>
        <p:nvCxnSpPr>
          <p:cNvPr id="168" name="g2 flow 168"/>
          <p:cNvCxnSpPr/>
          <p:nvPr/>
        </p:nvCxnSpPr>
        <p:spPr>
          <a:xfrm>
            <a:off x="1847088" y="3351276"/>
            <a:ext cx="365760" cy="0"/>
          </a:xfrm>
          <a:prstGeom prst="line">
            <a:avLst/>
          </a:prstGeom>
          <a:ln w="15875">
            <a:solidFill>
              <a:srgbClr val="EE0000"/>
            </a:solidFill>
            <a:tailEnd type="triangle" w="med" len="med"/>
          </a:ln>
        </p:spPr>
      </p:cxnSp>
      <p:sp>
        <p:nvSpPr>
          <p:cNvPr id="169" name="gal 169"/>
          <p:cNvSpPr/>
          <p:nvPr/>
        </p:nvSpPr>
        <p:spPr>
          <a:xfrm>
            <a:off x="548640" y="3675888"/>
            <a:ext cx="1298448"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OTel Collector tier</a:t>
            </a:r>
          </a:p>
          <a:p>
            <a:pPr algn="l" marL="0" indent="0">
              <a:lnSpc>
                <a:spcPct val="90000"/>
              </a:lnSpc>
              <a:buNone/>
            </a:pPr>
            <a:r>
              <a:rPr lang="en-US" sz="800" dirty="0">
                <a:solidFill>
                  <a:srgbClr val="F3E6D6"/>
                </a:solidFill>
                <a:latin typeface="Arial"/>
                <a:ea typeface="Arial"/>
                <a:cs typeface="Arial"/>
              </a:rPr>
              <a:t>OTLP/HTTP to /api/public/otel; gRPC not supported [83]</a:t>
            </a:r>
          </a:p>
        </p:txBody>
      </p:sp>
      <p:cxnSp>
        <p:nvCxnSpPr>
          <p:cNvPr id="170" name="g2 flow 170"/>
          <p:cNvCxnSpPr/>
          <p:nvPr/>
        </p:nvCxnSpPr>
        <p:spPr>
          <a:xfrm>
            <a:off x="1847088" y="3959352"/>
            <a:ext cx="365760" cy="0"/>
          </a:xfrm>
          <a:prstGeom prst="line">
            <a:avLst/>
          </a:prstGeom>
          <a:ln w="15875">
            <a:solidFill>
              <a:srgbClr val="EE0000"/>
            </a:solidFill>
            <a:tailEnd type="triangle" w="med" len="med"/>
          </a:ln>
        </p:spPr>
      </p:cxnSp>
      <p:sp>
        <p:nvSpPr>
          <p:cNvPr id="171" name="gal 171"/>
          <p:cNvSpPr/>
          <p:nvPr/>
        </p:nvSpPr>
        <p:spPr>
          <a:xfrm>
            <a:off x="548640" y="4306824"/>
            <a:ext cx="1298448" cy="38404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Score writers</a:t>
            </a:r>
          </a:p>
          <a:p>
            <a:pPr algn="l" marL="0" indent="0">
              <a:lnSpc>
                <a:spcPct val="90000"/>
              </a:lnSpc>
              <a:buNone/>
            </a:pPr>
            <a:r>
              <a:rPr lang="en-US" sz="800" dirty="0">
                <a:solidFill>
                  <a:srgbClr val="F3E6D6"/>
                </a:solidFill>
                <a:latin typeface="Arial"/>
                <a:ea typeface="Arial"/>
                <a:cs typeface="Arial"/>
              </a:rPr>
              <a:t>REST /api/public/scores [84]</a:t>
            </a:r>
          </a:p>
        </p:txBody>
      </p:sp>
      <p:cxnSp>
        <p:nvCxnSpPr>
          <p:cNvPr id="172" name="g2 flow 172"/>
          <p:cNvCxnSpPr/>
          <p:nvPr/>
        </p:nvCxnSpPr>
        <p:spPr>
          <a:xfrm>
            <a:off x="1847088" y="4498848"/>
            <a:ext cx="365760" cy="0"/>
          </a:xfrm>
          <a:prstGeom prst="line">
            <a:avLst/>
          </a:prstGeom>
          <a:ln w="15875">
            <a:solidFill>
              <a:srgbClr val="EE0000"/>
            </a:solidFill>
            <a:tailEnd type="triangle" w="med" len="med"/>
          </a:ln>
        </p:spPr>
      </p:cxnSp>
      <p:sp>
        <p:nvSpPr>
          <p:cNvPr id="173" name="gal 173"/>
          <p:cNvSpPr/>
          <p:nvPr/>
        </p:nvSpPr>
        <p:spPr>
          <a:xfrm>
            <a:off x="548640" y="4754880"/>
            <a:ext cx="1298448" cy="310896"/>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Users (browser)</a:t>
            </a:r>
          </a:p>
          <a:p>
            <a:pPr algn="l" marL="0" indent="0">
              <a:lnSpc>
                <a:spcPct val="90000"/>
              </a:lnSpc>
              <a:buNone/>
            </a:pPr>
            <a:r>
              <a:rPr lang="en-US" sz="800" dirty="0">
                <a:solidFill>
                  <a:srgbClr val="F3E6D6"/>
                </a:solidFill>
                <a:latin typeface="Arial"/>
                <a:ea typeface="Arial"/>
                <a:cs typeface="Arial"/>
              </a:rPr>
              <a:t>HTTPS</a:t>
            </a:r>
          </a:p>
        </p:txBody>
      </p:sp>
      <p:cxnSp>
        <p:nvCxnSpPr>
          <p:cNvPr id="174" name="g2 flow 174"/>
          <p:cNvCxnSpPr/>
          <p:nvPr/>
        </p:nvCxnSpPr>
        <p:spPr>
          <a:xfrm>
            <a:off x="1847088" y="4910328"/>
            <a:ext cx="365760" cy="0"/>
          </a:xfrm>
          <a:prstGeom prst="line">
            <a:avLst/>
          </a:prstGeom>
          <a:ln w="15875">
            <a:solidFill>
              <a:srgbClr val="EE0000"/>
            </a:solidFill>
            <a:tailEnd type="triangle" w="med" len="med"/>
          </a:ln>
        </p:spPr>
      </p:cxnSp>
      <p:sp>
        <p:nvSpPr>
          <p:cNvPr id="175" name="gal 175"/>
          <p:cNvSpPr/>
          <p:nvPr/>
        </p:nvSpPr>
        <p:spPr>
          <a:xfrm>
            <a:off x="548640" y="5129784"/>
            <a:ext cx="1298448" cy="45720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Corporate IdP</a:t>
            </a:r>
          </a:p>
          <a:p>
            <a:pPr algn="l" marL="0" indent="0">
              <a:lnSpc>
                <a:spcPct val="90000"/>
              </a:lnSpc>
              <a:buNone/>
            </a:pPr>
            <a:r>
              <a:rPr lang="en-US" sz="800" dirty="0">
                <a:solidFill>
                  <a:srgbClr val="F3E6D6"/>
                </a:solidFill>
                <a:latin typeface="Arial"/>
                <a:ea typeface="Arial"/>
                <a:cs typeface="Arial"/>
              </a:rPr>
              <a:t>OIDC: Google, Okta, Azure AD [53]</a:t>
            </a:r>
          </a:p>
        </p:txBody>
      </p:sp>
      <p:cxnSp>
        <p:nvCxnSpPr>
          <p:cNvPr id="176" name="g2 flow 176"/>
          <p:cNvCxnSpPr/>
          <p:nvPr/>
        </p:nvCxnSpPr>
        <p:spPr>
          <a:xfrm>
            <a:off x="1847088" y="5358384"/>
            <a:ext cx="365760" cy="0"/>
          </a:xfrm>
          <a:prstGeom prst="line">
            <a:avLst/>
          </a:prstGeom>
          <a:ln w="15875">
            <a:solidFill>
              <a:srgbClr val="EE0000"/>
            </a:solidFill>
            <a:prstDash val="dash"/>
            <a:tailEnd type="triangle" w="med" len="med"/>
          </a:ln>
        </p:spPr>
      </p:cxnSp>
      <p:sp>
        <p:nvSpPr>
          <p:cNvPr id="177" name="gal 177"/>
          <p:cNvSpPr/>
          <p:nvPr/>
        </p:nvSpPr>
        <p:spPr>
          <a:xfrm>
            <a:off x="1929384" y="3172968"/>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1</a:t>
            </a:r>
          </a:p>
        </p:txBody>
      </p:sp>
      <p:sp>
        <p:nvSpPr>
          <p:cNvPr id="178" name="gal 178"/>
          <p:cNvSpPr/>
          <p:nvPr/>
        </p:nvSpPr>
        <p:spPr>
          <a:xfrm>
            <a:off x="2011680" y="2240280"/>
            <a:ext cx="7132320" cy="3447288"/>
          </a:xfrm>
          <a:prstGeom prst="rect">
            <a:avLst/>
          </a:prstGeom>
          <a:noFill/>
          <a:ln w="12700">
            <a:solidFill>
              <a:srgbClr val="F5B700"/>
            </a:solidFill>
            <a:prstDash val="sysDot"/>
          </a:ln>
        </p:spPr>
      </p:sp>
      <p:sp>
        <p:nvSpPr>
          <p:cNvPr id="179" name="gal 179"/>
          <p:cNvSpPr/>
          <p:nvPr/>
        </p:nvSpPr>
        <p:spPr>
          <a:xfrm>
            <a:off x="2084832" y="2286000"/>
            <a:ext cx="128016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GCP PROJECT</a:t>
            </a:r>
          </a:p>
        </p:txBody>
      </p:sp>
      <p:sp>
        <p:nvSpPr>
          <p:cNvPr id="180" name="gal 180"/>
          <p:cNvSpPr/>
          <p:nvPr/>
        </p:nvSpPr>
        <p:spPr>
          <a:xfrm>
            <a:off x="4023360" y="2395728"/>
            <a:ext cx="3657600" cy="53035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Cloud Storage (S3-compatible API; native GCS)</a:t>
            </a:r>
          </a:p>
          <a:p>
            <a:pPr algn="l" marL="0" indent="0">
              <a:lnSpc>
                <a:spcPct val="90000"/>
              </a:lnSpc>
              <a:buNone/>
            </a:pPr>
            <a:r>
              <a:rPr lang="en-US" sz="800" dirty="0">
                <a:solidFill>
                  <a:srgbClr val="F3E6D6"/>
                </a:solidFill>
                <a:latin typeface="Arial"/>
                <a:ea typeface="Arial"/>
                <a:cs typeface="Arial"/>
              </a:rPr>
              <a:t>raw events, media, batch exports · scale: LANGFUSE_S3_CONCURRENT_WRITES; ~30-day lifecycle on events, none on media [132][134]</a:t>
            </a:r>
          </a:p>
        </p:txBody>
      </p:sp>
      <p:sp>
        <p:nvSpPr>
          <p:cNvPr id="181" name="gal 181"/>
          <p:cNvSpPr/>
          <p:nvPr/>
        </p:nvSpPr>
        <p:spPr>
          <a:xfrm>
            <a:off x="2103120" y="2971800"/>
            <a:ext cx="6949440" cy="2624328"/>
          </a:xfrm>
          <a:prstGeom prst="rect">
            <a:avLst/>
          </a:prstGeom>
          <a:noFill/>
          <a:ln w="9525">
            <a:solidFill>
              <a:srgbClr val="D9B48A"/>
            </a:solidFill>
          </a:ln>
        </p:spPr>
      </p:sp>
      <p:sp>
        <p:nvSpPr>
          <p:cNvPr id="182" name="gal 182"/>
          <p:cNvSpPr/>
          <p:nvPr/>
        </p:nvSpPr>
        <p:spPr>
          <a:xfrm>
            <a:off x="2176272" y="2999232"/>
            <a:ext cx="137160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VPC  ·  private IPs</a:t>
            </a:r>
          </a:p>
        </p:txBody>
      </p:sp>
      <p:sp>
        <p:nvSpPr>
          <p:cNvPr id="183" name="gal 183"/>
          <p:cNvSpPr/>
          <p:nvPr/>
        </p:nvSpPr>
        <p:spPr>
          <a:xfrm>
            <a:off x="2212848" y="3200400"/>
            <a:ext cx="758952" cy="228600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GKE Ingress</a:t>
            </a:r>
          </a:p>
          <a:p>
            <a:pPr algn="l" marL="0" indent="0">
              <a:lnSpc>
                <a:spcPct val="90000"/>
              </a:lnSpc>
              <a:buNone/>
            </a:pPr>
            <a:r>
              <a:rPr lang="en-US" sz="800" dirty="0">
                <a:solidFill>
                  <a:srgbClr val="F3E6D6"/>
                </a:solidFill>
                <a:latin typeface="Arial"/>
                <a:ea typeface="Arial"/>
                <a:cs typeface="Arial"/>
              </a:rPr>
              <a:t>HTTPS load balancer, Cloud DNS, TLS [136]</a:t>
            </a:r>
          </a:p>
          <a:p>
            <a:pPr algn="l" marL="0" indent="0">
              <a:lnSpc>
                <a:spcPct val="90000"/>
              </a:lnSpc>
              <a:buNone/>
            </a:pPr>
            <a:r>
              <a:rPr lang="en-US" sz="800" dirty="0">
                <a:solidFill>
                  <a:srgbClr val="F3E6D6"/>
                </a:solidFill>
                <a:latin typeface="Arial"/>
                <a:ea typeface="Arial"/>
                <a:cs typeface="Arial"/>
              </a:rPr>
              <a:t>/api/public/ingestion, /otel, /media → ingest pods; everything else → UI [132]</a:t>
            </a:r>
          </a:p>
        </p:txBody>
      </p:sp>
      <p:sp>
        <p:nvSpPr>
          <p:cNvPr id="184" name="gal 184"/>
          <p:cNvSpPr/>
          <p:nvPr/>
        </p:nvSpPr>
        <p:spPr>
          <a:xfrm>
            <a:off x="3108960" y="3090672"/>
            <a:ext cx="5852160" cy="1481328"/>
          </a:xfrm>
          <a:prstGeom prst="rect">
            <a:avLst/>
          </a:prstGeom>
          <a:noFill/>
          <a:ln w="9525">
            <a:solidFill>
              <a:srgbClr val="F5B700"/>
            </a:solidFill>
          </a:ln>
        </p:spPr>
      </p:sp>
      <p:sp>
        <p:nvSpPr>
          <p:cNvPr id="185" name="gal 185"/>
          <p:cNvSpPr/>
          <p:nvPr/>
        </p:nvSpPr>
        <p:spPr>
          <a:xfrm>
            <a:off x="7223760" y="3108960"/>
            <a:ext cx="1691640" cy="155448"/>
          </a:xfrm>
          <a:prstGeom prst="rect">
            <a:avLst/>
          </a:prstGeom>
          <a:noFill/>
          <a:ln>
            <a:noFill/>
          </a:ln>
        </p:spPr>
        <p:txBody>
          <a:bodyPr wrap="square" lIns="0" tIns="0" rIns="0" bIns="0" rtlCol="0" anchor="ctr">
            <a:noAutofit/>
          </a:bodyPr>
          <a:lstStyle/>
          <a:p>
            <a:pPr algn="r" marL="0" indent="0">
              <a:buNone/>
            </a:pPr>
            <a:r>
              <a:rPr lang="en-US" sz="800" b="1" dirty="0">
                <a:solidFill>
                  <a:srgbClr val="F5B700"/>
                </a:solidFill>
                <a:latin typeface="Arial"/>
                <a:ea typeface="Arial"/>
                <a:cs typeface="Arial"/>
              </a:rPr>
              <a:t>GKE CLUSTER  ·  Helm chart</a:t>
            </a:r>
          </a:p>
        </p:txBody>
      </p:sp>
      <p:sp>
        <p:nvSpPr>
          <p:cNvPr id="186" name="gal 186"/>
          <p:cNvSpPr/>
          <p:nvPr/>
        </p:nvSpPr>
        <p:spPr>
          <a:xfrm>
            <a:off x="3246120" y="3310128"/>
            <a:ext cx="1463040"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langfuse-web · ingest</a:t>
            </a:r>
          </a:p>
          <a:p>
            <a:pPr algn="l" marL="0" indent="0">
              <a:lnSpc>
                <a:spcPct val="90000"/>
              </a:lnSpc>
              <a:buNone/>
            </a:pPr>
            <a:r>
              <a:rPr lang="en-US" sz="800" dirty="0">
                <a:solidFill>
                  <a:srgbClr val="F3E6D6"/>
                </a:solidFill>
                <a:latin typeface="Arial"/>
                <a:ea typeface="Arial"/>
                <a:cs typeface="Arial"/>
              </a:rPr>
              <a:t>/api/public/ingestion, /otel, /media</a:t>
            </a:r>
          </a:p>
          <a:p>
            <a:pPr algn="l" marL="0" indent="0">
              <a:lnSpc>
                <a:spcPct val="90000"/>
              </a:lnSpc>
              <a:buNone/>
            </a:pPr>
            <a:r>
              <a:rPr lang="en-US" sz="800" dirty="0">
                <a:solidFill>
                  <a:srgbClr val="F3E6D6"/>
                </a:solidFill>
                <a:latin typeface="Arial"/>
                <a:ea typeface="Arial"/>
                <a:cs typeface="Arial"/>
              </a:rPr>
              <a:t>scale: HPA on CPU, own replica set [132]</a:t>
            </a:r>
          </a:p>
        </p:txBody>
      </p:sp>
      <p:sp>
        <p:nvSpPr>
          <p:cNvPr id="187" name="gal 187"/>
          <p:cNvSpPr/>
          <p:nvPr/>
        </p:nvSpPr>
        <p:spPr>
          <a:xfrm>
            <a:off x="3246120" y="4041648"/>
            <a:ext cx="1188720" cy="420624"/>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langfuse-web · UI</a:t>
            </a:r>
          </a:p>
          <a:p>
            <a:pPr algn="l" marL="0" indent="0">
              <a:lnSpc>
                <a:spcPct val="90000"/>
              </a:lnSpc>
              <a:buNone/>
            </a:pPr>
            <a:r>
              <a:rPr lang="en-US" sz="800" dirty="0">
                <a:solidFill>
                  <a:srgbClr val="F3E6D6"/>
                </a:solidFill>
                <a:latin typeface="Arial"/>
                <a:ea typeface="Arial"/>
                <a:cs typeface="Arial"/>
              </a:rPr>
              <a:t>UI, public API, SSO; HPA</a:t>
            </a:r>
          </a:p>
        </p:txBody>
      </p:sp>
      <p:sp>
        <p:nvSpPr>
          <p:cNvPr id="188" name="gal 188"/>
          <p:cNvSpPr/>
          <p:nvPr/>
        </p:nvSpPr>
        <p:spPr>
          <a:xfrm>
            <a:off x="5486400" y="3310128"/>
            <a:ext cx="1463040"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langfuse-worker</a:t>
            </a:r>
          </a:p>
          <a:p>
            <a:pPr algn="l" marL="0" indent="0">
              <a:lnSpc>
                <a:spcPct val="90000"/>
              </a:lnSpc>
              <a:buNone/>
            </a:pPr>
            <a:r>
              <a:rPr lang="en-US" sz="800" dirty="0">
                <a:solidFill>
                  <a:srgbClr val="F3E6D6"/>
                </a:solidFill>
                <a:latin typeface="Arial"/>
                <a:ea typeface="Arial"/>
                <a:cs typeface="Arial"/>
              </a:rPr>
              <a:t>async ingest, evals, exports</a:t>
            </a:r>
          </a:p>
          <a:p>
            <a:pPr algn="l" marL="0" indent="0">
              <a:lnSpc>
                <a:spcPct val="90000"/>
              </a:lnSpc>
              <a:buNone/>
            </a:pPr>
            <a:r>
              <a:rPr lang="en-US" sz="800" dirty="0">
                <a:solidFill>
                  <a:srgbClr val="F3E6D6"/>
                </a:solidFill>
                <a:latin typeface="Arial"/>
                <a:ea typeface="Arial"/>
                <a:cs typeface="Arial"/>
              </a:rPr>
              <a:t>scale: &gt; 50% CPU or queue depth [132]</a:t>
            </a:r>
          </a:p>
        </p:txBody>
      </p:sp>
      <p:sp>
        <p:nvSpPr>
          <p:cNvPr id="189" name="gal 189"/>
          <p:cNvSpPr/>
          <p:nvPr/>
        </p:nvSpPr>
        <p:spPr>
          <a:xfrm>
            <a:off x="7223760" y="3310128"/>
            <a:ext cx="1645920" cy="1152144"/>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ClickHouse · operator</a:t>
            </a:r>
          </a:p>
          <a:p>
            <a:pPr algn="l" marL="0" indent="0">
              <a:lnSpc>
                <a:spcPct val="90000"/>
              </a:lnSpc>
              <a:buNone/>
            </a:pPr>
            <a:r>
              <a:rPr lang="en-US" sz="800" dirty="0">
                <a:solidFill>
                  <a:srgbClr val="F3E6D6"/>
                </a:solidFill>
                <a:latin typeface="Arial"/>
                <a:ea typeface="Arial"/>
                <a:cs typeface="Arial"/>
              </a:rPr>
              <a:t>traces, observations, scores (OLAP); INSERT + SQL over HTTP :8123</a:t>
            </a:r>
          </a:p>
          <a:p>
            <a:pPr algn="l" marL="0" indent="0">
              <a:lnSpc>
                <a:spcPct val="90000"/>
              </a:lnSpc>
              <a:buNone/>
            </a:pPr>
            <a:r>
              <a:rPr lang="en-US" sz="800" dirty="0">
                <a:solidFill>
                  <a:srgbClr val="F3E6D6"/>
                </a:solidFill>
                <a:latin typeface="Arial"/>
                <a:ea typeface="Arial"/>
                <a:cs typeface="Arial"/>
              </a:rPr>
              <a:t>3 replicas + 3 Keeper; single shard only [54]</a:t>
            </a:r>
          </a:p>
          <a:p>
            <a:pPr algn="l" marL="0" indent="0">
              <a:lnSpc>
                <a:spcPct val="90000"/>
              </a:lnSpc>
              <a:buNone/>
            </a:pPr>
            <a:r>
              <a:rPr lang="en-US" sz="800" dirty="0">
                <a:solidFill>
                  <a:srgbClr val="F3E6D6"/>
                </a:solidFill>
                <a:latin typeface="Arial"/>
                <a:ea typeface="Arial"/>
                <a:cs typeface="Arial"/>
              </a:rPr>
              <a:t>scale: vertical first, ≥ 16 GiB; retention / TTL; or ClickHouse Cloud / BYOC</a:t>
            </a:r>
          </a:p>
        </p:txBody>
      </p:sp>
      <p:sp>
        <p:nvSpPr>
          <p:cNvPr id="190" name="gal 190"/>
          <p:cNvSpPr/>
          <p:nvPr/>
        </p:nvSpPr>
        <p:spPr>
          <a:xfrm>
            <a:off x="3246120" y="4681728"/>
            <a:ext cx="1188720" cy="71323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Cloud SQL · Postgres</a:t>
            </a:r>
          </a:p>
          <a:p>
            <a:pPr algn="l" marL="0" indent="0">
              <a:lnSpc>
                <a:spcPct val="90000"/>
              </a:lnSpc>
              <a:buNone/>
            </a:pPr>
            <a:r>
              <a:rPr lang="en-US" sz="800" dirty="0">
                <a:solidFill>
                  <a:srgbClr val="F3E6D6"/>
                </a:solidFill>
                <a:latin typeface="Arial"/>
                <a:ea typeface="Arial"/>
                <a:cs typeface="Arial"/>
              </a:rPr>
              <a:t>users, projects, prompts, API keys</a:t>
            </a:r>
          </a:p>
          <a:p>
            <a:pPr algn="l" marL="0" indent="0">
              <a:lnSpc>
                <a:spcPct val="90000"/>
              </a:lnSpc>
              <a:buNone/>
            </a:pPr>
            <a:r>
              <a:rPr lang="en-US" sz="800" dirty="0">
                <a:solidFill>
                  <a:srgbClr val="F3E6D6"/>
                </a:solidFill>
                <a:latin typeface="Arial"/>
                <a:ea typeface="Arial"/>
                <a:cs typeface="Arial"/>
              </a:rPr>
              <a:t>R2 SQL :5432 · PG 15+ [135]</a:t>
            </a:r>
          </a:p>
        </p:txBody>
      </p:sp>
      <p:sp>
        <p:nvSpPr>
          <p:cNvPr id="191" name="gal 191"/>
          <p:cNvSpPr/>
          <p:nvPr/>
        </p:nvSpPr>
        <p:spPr>
          <a:xfrm>
            <a:off x="4553712" y="4681728"/>
            <a:ext cx="1389888" cy="71323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Memorystore</a:t>
            </a:r>
          </a:p>
          <a:p>
            <a:pPr algn="l" marL="0" indent="0">
              <a:lnSpc>
                <a:spcPct val="90000"/>
              </a:lnSpc>
              <a:buNone/>
            </a:pPr>
            <a:r>
              <a:rPr lang="en-US" sz="800" dirty="0">
                <a:solidFill>
                  <a:srgbClr val="F3E6D6"/>
                </a:solidFill>
                <a:latin typeface="Arial"/>
                <a:ea typeface="Arial"/>
                <a:cs typeface="Arial"/>
              </a:rPr>
              <a:t>Redis ≥ 7 / Valkey ≥ 8: queue + cache</a:t>
            </a:r>
          </a:p>
          <a:p>
            <a:pPr algn="l" marL="0" indent="0">
              <a:lnSpc>
                <a:spcPct val="90000"/>
              </a:lnSpc>
              <a:buNone/>
            </a:pPr>
            <a:r>
              <a:rPr lang="en-US" sz="800" dirty="0">
                <a:solidFill>
                  <a:srgbClr val="F3E6D6"/>
                </a:solidFill>
                <a:latin typeface="Arial"/>
                <a:ea typeface="Arial"/>
                <a:cs typeface="Arial"/>
              </a:rPr>
              <a:t>noeviction; scale: ≥ 4 vCPU, cluster mode, queue shards [133]</a:t>
            </a:r>
          </a:p>
        </p:txBody>
      </p:sp>
      <p:cxnSp>
        <p:nvCxnSpPr>
          <p:cNvPr id="192" name="g2 flow 192"/>
          <p:cNvCxnSpPr/>
          <p:nvPr/>
        </p:nvCxnSpPr>
        <p:spPr>
          <a:xfrm>
            <a:off x="2971800" y="3639312"/>
            <a:ext cx="274320" cy="0"/>
          </a:xfrm>
          <a:prstGeom prst="line">
            <a:avLst/>
          </a:prstGeom>
          <a:ln w="15875">
            <a:solidFill>
              <a:srgbClr val="EE0000"/>
            </a:solidFill>
            <a:tailEnd type="triangle" w="med" len="med"/>
          </a:ln>
        </p:spPr>
      </p:cxnSp>
      <p:cxnSp>
        <p:nvCxnSpPr>
          <p:cNvPr id="193" name="g2 flow 193"/>
          <p:cNvCxnSpPr/>
          <p:nvPr/>
        </p:nvCxnSpPr>
        <p:spPr>
          <a:xfrm>
            <a:off x="2971800" y="4251960"/>
            <a:ext cx="274320" cy="0"/>
          </a:xfrm>
          <a:prstGeom prst="line">
            <a:avLst/>
          </a:prstGeom>
          <a:ln w="15875">
            <a:solidFill>
              <a:srgbClr val="EE0000"/>
            </a:solidFill>
            <a:tailEnd type="triangle" w="med" len="med"/>
          </a:ln>
        </p:spPr>
      </p:cxnSp>
      <p:cxnSp>
        <p:nvCxnSpPr>
          <p:cNvPr id="194" name="g2 flow 194"/>
          <p:cNvCxnSpPr/>
          <p:nvPr/>
        </p:nvCxnSpPr>
        <p:spPr>
          <a:xfrm flipV="1">
            <a:off x="4434840" y="2926080"/>
            <a:ext cx="0" cy="384048"/>
          </a:xfrm>
          <a:prstGeom prst="line">
            <a:avLst/>
          </a:prstGeom>
          <a:ln w="15875">
            <a:solidFill>
              <a:srgbClr val="EE0000"/>
            </a:solidFill>
            <a:tailEnd type="triangle" w="med" len="med"/>
          </a:ln>
        </p:spPr>
      </p:cxnSp>
      <p:sp>
        <p:nvSpPr>
          <p:cNvPr id="195" name="gal 195"/>
          <p:cNvSpPr/>
          <p:nvPr/>
        </p:nvSpPr>
        <p:spPr>
          <a:xfrm>
            <a:off x="4215384" y="3026664"/>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2</a:t>
            </a:r>
          </a:p>
        </p:txBody>
      </p:sp>
      <p:sp>
        <p:nvSpPr>
          <p:cNvPr id="196" name="gal 196"/>
          <p:cNvSpPr/>
          <p:nvPr/>
        </p:nvSpPr>
        <p:spPr>
          <a:xfrm>
            <a:off x="4526280" y="2962656"/>
            <a:ext cx="86868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PUT event</a:t>
            </a:r>
          </a:p>
        </p:txBody>
      </p:sp>
      <p:cxnSp>
        <p:nvCxnSpPr>
          <p:cNvPr id="197" name="g2 flow 197"/>
          <p:cNvCxnSpPr/>
          <p:nvPr/>
        </p:nvCxnSpPr>
        <p:spPr>
          <a:xfrm>
            <a:off x="4617720" y="3968496"/>
            <a:ext cx="0" cy="713232"/>
          </a:xfrm>
          <a:prstGeom prst="line">
            <a:avLst/>
          </a:prstGeom>
          <a:ln w="15875">
            <a:solidFill>
              <a:srgbClr val="EE0000"/>
            </a:solidFill>
            <a:tailEnd type="triangle" w="med" len="med"/>
          </a:ln>
        </p:spPr>
      </p:cxnSp>
      <p:sp>
        <p:nvSpPr>
          <p:cNvPr id="198" name="gal 198"/>
          <p:cNvSpPr/>
          <p:nvPr/>
        </p:nvSpPr>
        <p:spPr>
          <a:xfrm>
            <a:off x="4517136" y="4123944"/>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3</a:t>
            </a:r>
          </a:p>
        </p:txBody>
      </p:sp>
      <p:sp>
        <p:nvSpPr>
          <p:cNvPr id="199" name="gal 199"/>
          <p:cNvSpPr/>
          <p:nvPr/>
        </p:nvSpPr>
        <p:spPr>
          <a:xfrm>
            <a:off x="4736592" y="4069080"/>
            <a:ext cx="73152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enqueue ref</a:t>
            </a:r>
          </a:p>
        </p:txBody>
      </p:sp>
      <p:cxnSp>
        <p:nvCxnSpPr>
          <p:cNvPr id="200" name="g2 flow 200"/>
          <p:cNvCxnSpPr/>
          <p:nvPr/>
        </p:nvCxnSpPr>
        <p:spPr>
          <a:xfrm flipV="1">
            <a:off x="5760720" y="3968496"/>
            <a:ext cx="0" cy="713232"/>
          </a:xfrm>
          <a:prstGeom prst="line">
            <a:avLst/>
          </a:prstGeom>
          <a:ln w="15875">
            <a:solidFill>
              <a:srgbClr val="EE0000"/>
            </a:solidFill>
            <a:tailEnd type="triangle" w="med" len="med"/>
          </a:ln>
        </p:spPr>
      </p:cxnSp>
      <p:sp>
        <p:nvSpPr>
          <p:cNvPr id="201" name="gal 201"/>
          <p:cNvSpPr/>
          <p:nvPr/>
        </p:nvSpPr>
        <p:spPr>
          <a:xfrm>
            <a:off x="5660136" y="424281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4</a:t>
            </a:r>
          </a:p>
        </p:txBody>
      </p:sp>
      <p:sp>
        <p:nvSpPr>
          <p:cNvPr id="202" name="gal 202"/>
          <p:cNvSpPr/>
          <p:nvPr/>
        </p:nvSpPr>
        <p:spPr>
          <a:xfrm>
            <a:off x="5879592" y="4187952"/>
            <a:ext cx="64008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dequeue</a:t>
            </a:r>
          </a:p>
        </p:txBody>
      </p:sp>
      <p:cxnSp>
        <p:nvCxnSpPr>
          <p:cNvPr id="203" name="g2 flow 203"/>
          <p:cNvCxnSpPr/>
          <p:nvPr/>
        </p:nvCxnSpPr>
        <p:spPr>
          <a:xfrm>
            <a:off x="6309360" y="2926080"/>
            <a:ext cx="0" cy="384048"/>
          </a:xfrm>
          <a:prstGeom prst="line">
            <a:avLst/>
          </a:prstGeom>
          <a:ln w="15875">
            <a:solidFill>
              <a:srgbClr val="EE0000"/>
            </a:solidFill>
            <a:prstDash val="dash"/>
            <a:tailEnd type="triangle" w="med" len="med"/>
          </a:ln>
        </p:spPr>
      </p:cxnSp>
      <p:sp>
        <p:nvSpPr>
          <p:cNvPr id="204" name="gal 204"/>
          <p:cNvSpPr/>
          <p:nvPr/>
        </p:nvSpPr>
        <p:spPr>
          <a:xfrm>
            <a:off x="6208776" y="309981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5</a:t>
            </a:r>
          </a:p>
        </p:txBody>
      </p:sp>
      <p:sp>
        <p:nvSpPr>
          <p:cNvPr id="205" name="gal 205"/>
          <p:cNvSpPr/>
          <p:nvPr/>
        </p:nvSpPr>
        <p:spPr>
          <a:xfrm>
            <a:off x="6400800" y="2935224"/>
            <a:ext cx="77724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GET event</a:t>
            </a:r>
          </a:p>
        </p:txBody>
      </p:sp>
      <p:cxnSp>
        <p:nvCxnSpPr>
          <p:cNvPr id="206" name="g2 flow 206"/>
          <p:cNvCxnSpPr/>
          <p:nvPr/>
        </p:nvCxnSpPr>
        <p:spPr>
          <a:xfrm>
            <a:off x="6949440" y="3639312"/>
            <a:ext cx="274320" cy="0"/>
          </a:xfrm>
          <a:prstGeom prst="line">
            <a:avLst/>
          </a:prstGeom>
          <a:ln w="15875">
            <a:solidFill>
              <a:srgbClr val="EE0000"/>
            </a:solidFill>
            <a:tailEnd type="triangle" w="med" len="med"/>
          </a:ln>
        </p:spPr>
      </p:cxnSp>
      <p:sp>
        <p:nvSpPr>
          <p:cNvPr id="207" name="gal 207"/>
          <p:cNvSpPr/>
          <p:nvPr/>
        </p:nvSpPr>
        <p:spPr>
          <a:xfrm>
            <a:off x="6986016" y="3538728"/>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6</a:t>
            </a:r>
          </a:p>
        </p:txBody>
      </p:sp>
      <p:cxnSp>
        <p:nvCxnSpPr>
          <p:cNvPr id="208" name="g2 flow 208"/>
          <p:cNvCxnSpPr/>
          <p:nvPr/>
        </p:nvCxnSpPr>
        <p:spPr>
          <a:xfrm>
            <a:off x="4434840" y="4251960"/>
            <a:ext cx="59436" cy="0"/>
          </a:xfrm>
          <a:prstGeom prst="line">
            <a:avLst/>
          </a:prstGeom>
          <a:ln w="15875">
            <a:solidFill>
              <a:srgbClr val="EE0000"/>
            </a:solidFill>
          </a:ln>
        </p:spPr>
      </p:cxnSp>
      <p:cxnSp>
        <p:nvCxnSpPr>
          <p:cNvPr id="209" name="g2 flow 209"/>
          <p:cNvCxnSpPr/>
          <p:nvPr/>
        </p:nvCxnSpPr>
        <p:spPr>
          <a:xfrm>
            <a:off x="4494276" y="4251960"/>
            <a:ext cx="0" cy="1252728"/>
          </a:xfrm>
          <a:prstGeom prst="line">
            <a:avLst/>
          </a:prstGeom>
          <a:ln w="15875">
            <a:solidFill>
              <a:srgbClr val="EE0000"/>
            </a:solidFill>
          </a:ln>
        </p:spPr>
      </p:cxnSp>
      <p:cxnSp>
        <p:nvCxnSpPr>
          <p:cNvPr id="210" name="g2 flow 210"/>
          <p:cNvCxnSpPr/>
          <p:nvPr/>
        </p:nvCxnSpPr>
        <p:spPr>
          <a:xfrm>
            <a:off x="4494276" y="5504688"/>
            <a:ext cx="3552444" cy="0"/>
          </a:xfrm>
          <a:prstGeom prst="line">
            <a:avLst/>
          </a:prstGeom>
          <a:ln w="15875">
            <a:solidFill>
              <a:srgbClr val="EE0000"/>
            </a:solidFill>
          </a:ln>
        </p:spPr>
      </p:cxnSp>
      <p:cxnSp>
        <p:nvCxnSpPr>
          <p:cNvPr id="211" name="g2 flow 211"/>
          <p:cNvCxnSpPr/>
          <p:nvPr/>
        </p:nvCxnSpPr>
        <p:spPr>
          <a:xfrm flipV="1">
            <a:off x="8046720" y="4462272"/>
            <a:ext cx="0" cy="1042416"/>
          </a:xfrm>
          <a:prstGeom prst="line">
            <a:avLst/>
          </a:prstGeom>
          <a:ln w="15875">
            <a:solidFill>
              <a:srgbClr val="EE0000"/>
            </a:solidFill>
            <a:tailEnd type="triangle" w="med" len="med"/>
          </a:ln>
        </p:spPr>
      </p:cxnSp>
      <p:sp>
        <p:nvSpPr>
          <p:cNvPr id="212" name="gal 212"/>
          <p:cNvSpPr/>
          <p:nvPr/>
        </p:nvSpPr>
        <p:spPr>
          <a:xfrm>
            <a:off x="6080760" y="5285232"/>
            <a:ext cx="192024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R1  UI reads · SQL over HTTP :8123</a:t>
            </a:r>
          </a:p>
        </p:txBody>
      </p:sp>
      <p:cxnSp>
        <p:nvCxnSpPr>
          <p:cNvPr id="213" name="g2 flow 213"/>
          <p:cNvCxnSpPr/>
          <p:nvPr/>
        </p:nvCxnSpPr>
        <p:spPr>
          <a:xfrm>
            <a:off x="3840480" y="4462272"/>
            <a:ext cx="0" cy="219456"/>
          </a:xfrm>
          <a:prstGeom prst="line">
            <a:avLst/>
          </a:prstGeom>
          <a:ln w="15875">
            <a:solidFill>
              <a:srgbClr val="EE0000"/>
            </a:solidFill>
            <a:tailEnd type="triangle" w="med" len="med"/>
          </a:ln>
        </p:spPr>
      </p:cxnSp>
      <p:sp>
        <p:nvSpPr>
          <p:cNvPr id="214" name="gal 214"/>
          <p:cNvSpPr/>
          <p:nvPr/>
        </p:nvSpPr>
        <p:spPr>
          <a:xfrm>
            <a:off x="9281160" y="2240280"/>
            <a:ext cx="2359152"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Optional LLM connection</a:t>
            </a:r>
          </a:p>
          <a:p>
            <a:pPr algn="l" marL="0" indent="0">
              <a:lnSpc>
                <a:spcPct val="90000"/>
              </a:lnSpc>
              <a:buNone/>
            </a:pPr>
            <a:r>
              <a:rPr lang="en-US" sz="800" dirty="0">
                <a:solidFill>
                  <a:srgbClr val="F3E6D6"/>
                </a:solidFill>
                <a:latin typeface="Arial"/>
                <a:ea typeface="Arial"/>
                <a:cs typeface="Arial"/>
              </a:rPr>
              <a:t>web: playground · worker: LLM-as-a-judge evals; bring your own API, e.g. the Kairos gateway [51]</a:t>
            </a:r>
          </a:p>
        </p:txBody>
      </p:sp>
      <p:sp>
        <p:nvSpPr>
          <p:cNvPr id="215" name="gal 215"/>
          <p:cNvSpPr/>
          <p:nvPr/>
        </p:nvSpPr>
        <p:spPr>
          <a:xfrm>
            <a:off x="9281160" y="2990088"/>
            <a:ext cx="2359152" cy="1965960"/>
          </a:xfrm>
          <a:prstGeom prst="roundRect">
            <a:avLst>
              <a:gd name="adj" fmla="val 10000"/>
            </a:avLst>
          </a:prstGeom>
          <a:solidFill>
            <a:srgbClr val="2A1A16"/>
          </a:solidFill>
          <a:ln w="12700">
            <a:solidFill>
              <a:srgbClr val="D9B48A"/>
            </a:solidFill>
          </a:ln>
        </p:spPr>
        <p:txBody>
          <a:bodyPr wrap="square" lIns="82296" tIns="64008" rIns="64008" bIns="36576" rtlCol="0" anchor="t">
            <a:noAutofit/>
          </a:bodyPr>
          <a:lstStyle/>
          <a:p>
            <a:pPr algn="l" marL="0" indent="0">
              <a:lnSpc>
                <a:spcPct val="95000"/>
              </a:lnSpc>
              <a:buNone/>
            </a:pPr>
            <a:r>
              <a:rPr lang="en-US" sz="950" b="1" dirty="0">
                <a:solidFill>
                  <a:srgbClr val="F5B700"/>
                </a:solidFill>
                <a:latin typeface="Arial"/>
                <a:ea typeface="Arial"/>
                <a:cs typeface="Arial"/>
              </a:rPr>
              <a:t>OSS (MIT) vs Enterprise key</a:t>
            </a:r>
          </a:p>
          <a:p>
            <a:pPr algn="l" marL="0" indent="0">
              <a:lnSpc>
                <a:spcPct val="95000"/>
              </a:lnSpc>
              <a:buNone/>
            </a:pPr>
            <a:r>
              <a:rPr lang="en-US" sz="800" b="1" dirty="0">
                <a:solidFill>
                  <a:srgbClr val="FFFFFF"/>
                </a:solidFill>
                <a:latin typeface="Arial"/>
                <a:ea typeface="Arial"/>
                <a:cs typeface="Arial"/>
              </a:rPr>
              <a:t>OSS, no usage limits: </a:t>
            </a:r>
            <a:r>
              <a:rPr lang="en-US" sz="800" dirty="0">
                <a:solidFill>
                  <a:srgbClr val="F3E6D6"/>
                </a:solidFill>
                <a:latin typeface="Arial"/>
                <a:ea typeface="Arial"/>
                <a:cs typeface="Arial"/>
              </a:rPr>
              <a:t>all core features and APIs: tracing, OTel endpoint, evals, prompts, datasets, scores; SSO (OIDC / SAML); organisation roles [52][53]</a:t>
            </a:r>
          </a:p>
          <a:p>
            <a:pPr algn="l" marL="0" indent="0">
              <a:lnSpc>
                <a:spcPct val="95000"/>
              </a:lnSpc>
              <a:buNone/>
            </a:pPr>
            <a:r>
              <a:rPr lang="en-US" sz="800" b="1" dirty="0">
                <a:solidFill>
                  <a:srgbClr val="FFFFFF"/>
                </a:solidFill>
                <a:latin typeface="Arial"/>
                <a:ea typeface="Arial"/>
                <a:cs typeface="Arial"/>
              </a:rPr>
              <a:t>Enterprise licence key: </a:t>
            </a:r>
            <a:r>
              <a:rPr lang="en-US" sz="800" dirty="0">
                <a:solidFill>
                  <a:srgbClr val="F3E6D6"/>
                </a:solidFill>
                <a:latin typeface="Arial"/>
                <a:ea typeface="Arial"/>
                <a:cs typeface="Arial"/>
              </a:rPr>
              <a:t>project-level roles, protected prompt labels, data retention, audit logs, server-side masking, SCIM / org API, instance API, UI customisation [52]</a:t>
            </a:r>
          </a:p>
        </p:txBody>
      </p:sp>
      <p:sp>
        <p:nvSpPr>
          <p:cNvPr id="216" name="gal 216"/>
          <p:cNvSpPr/>
          <p:nvPr/>
        </p:nvSpPr>
        <p:spPr>
          <a:xfrm>
            <a:off x="9281160" y="5047488"/>
            <a:ext cx="2359152" cy="54864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Minimum sizing [132]</a:t>
            </a:r>
          </a:p>
          <a:p>
            <a:pPr algn="l" marL="0" indent="0">
              <a:lnSpc>
                <a:spcPct val="90000"/>
              </a:lnSpc>
              <a:buNone/>
            </a:pPr>
            <a:r>
              <a:rPr lang="en-US" sz="800" dirty="0">
                <a:solidFill>
                  <a:srgbClr val="F3E6D6"/>
                </a:solidFill>
                <a:latin typeface="Arial"/>
                <a:ea typeface="Arial"/>
                <a:cs typeface="Arial"/>
              </a:rPr>
              <a:t>web 2 CPU / 4 GiB · worker 2 / 4 · Postgres 2 / 4 · Redis 1 / 1.5 · ClickHouse 2 / 8</a:t>
            </a:r>
          </a:p>
        </p:txBody>
      </p:sp>
      <p:sp>
        <p:nvSpPr>
          <p:cNvPr id="217" name="gal 217"/>
          <p:cNvSpPr/>
          <p:nvPr/>
        </p:nvSpPr>
        <p:spPr>
          <a:xfrm>
            <a:off x="548640" y="5760720"/>
            <a:ext cx="11091672" cy="530352"/>
          </a:xfrm>
          <a:prstGeom prst="roundRect">
            <a:avLst>
              <a:gd name="adj" fmla="val 10000"/>
            </a:avLst>
          </a:prstGeom>
          <a:solidFill>
            <a:srgbClr val="2A1A16"/>
          </a:solidFill>
          <a:ln w="12700">
            <a:solidFill>
              <a:srgbClr val="D9B48A"/>
            </a:solidFill>
          </a:ln>
        </p:spPr>
        <p:txBody>
          <a:bodyPr wrap="square" lIns="91440" tIns="27432" rIns="73152" bIns="27432" rtlCol="0" anchor="ctr">
            <a:noAutofit/>
          </a:bodyPr>
          <a:lstStyle/>
          <a:p>
            <a:pPr algn="l" marL="0" indent="0">
              <a:lnSpc>
                <a:spcPct val="95000"/>
              </a:lnSpc>
              <a:buNone/>
            </a:pPr>
            <a:r>
              <a:rPr lang="en-US" sz="850" b="1" dirty="0">
                <a:solidFill>
                  <a:srgbClr val="F5B700"/>
                </a:solidFill>
                <a:latin typeface="Arial"/>
                <a:ea typeface="Arial"/>
                <a:cs typeface="Arial"/>
              </a:rPr>
              <a:t>INGEST  </a:t>
            </a:r>
            <a:r>
              <a:rPr lang="en-US" sz="800" dirty="0">
                <a:solidFill>
                  <a:srgbClr val="F3E6D6"/>
                </a:solidFill>
                <a:latin typeface="Arial"/>
                <a:ea typeface="Arial"/>
                <a:cs typeface="Arial"/>
              </a:rPr>
              <a:t>1 SDK or collector → ingress → langfuse-web   2 raw event written to GCS first   3 only a reference queued in Redis   4 worker dequeues   5 reads the event from GCS   6 inserts into ClickHouse. Spikes do not hit the database; events stay recoverable [51].</a:t>
            </a:r>
          </a:p>
          <a:p>
            <a:pPr algn="l" marL="0" indent="0">
              <a:lnSpc>
                <a:spcPct val="95000"/>
              </a:lnSpc>
              <a:buNone/>
            </a:pPr>
            <a:r>
              <a:rPr lang="en-US" sz="850" b="1" dirty="0">
                <a:solidFill>
                  <a:srgbClr val="F5B700"/>
                </a:solidFill>
                <a:latin typeface="Arial"/>
                <a:ea typeface="Arial"/>
                <a:cs typeface="Arial"/>
              </a:rPr>
              <a:t>READ  </a:t>
            </a:r>
            <a:r>
              <a:rPr lang="en-US" sz="800" dirty="0">
                <a:solidFill>
                  <a:srgbClr val="F3E6D6"/>
                </a:solidFill>
                <a:latin typeface="Arial"/>
                <a:ea typeface="Arial"/>
                <a:cs typeface="Arial"/>
              </a:rPr>
              <a:t>R1 UI and public API → ClickHouse   R2 → Postgres (users, prompts, keys); hot API keys and prompts are served from the Redis cache [51].</a:t>
            </a:r>
          </a:p>
        </p:txBody>
      </p:sp>
      <p:sp>
        <p:nvSpPr>
          <p:cNvPr id="218" name="gal 218"/>
          <p:cNvSpPr/>
          <p:nvPr/>
        </p:nvSpPr>
        <p:spPr>
          <a:xfrm>
            <a:off x="548640" y="6355080"/>
            <a:ext cx="11091672" cy="292608"/>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Components and limits from the Langfuse self-hosting docs (v4), checked 15 Oct 2026 [51]–[54], [83], [132]–[135]. The GCP Terraform module [136] provisions GKE, Cloud SQL, Memorystore, GCS and ClickHouse via the operator. Our deployment on GCP is PROPOSED.</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19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Platform gaps  ·  4 of 6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Interface contracts:</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what each arrow on the architecture (slide 12) promises</a:t>
            </a:r>
          </a:p>
        </p:txBody>
      </p:sp>
      <p:cxnSp>
        <p:nvCxnSpPr>
          <p:cNvPr id="157" name="g1 rule 157"/>
          <p:cNvCxnSpPr/>
          <p:nvPr/>
        </p:nvCxnSpPr>
        <p:spPr>
          <a:xfrm>
            <a:off x="548640" y="1874520"/>
            <a:ext cx="731520" cy="0"/>
          </a:xfrm>
          <a:prstGeom prst="line">
            <a:avLst/>
          </a:prstGeom>
          <a:ln w="28575">
            <a:solidFill>
              <a:srgbClr val="EE0000"/>
            </a:solidFill>
          </a:ln>
        </p:spPr>
      </p:cxnSp>
      <p:graphicFrame>
        <p:nvGraphicFramePr>
          <p:cNvPr id="158" name="gal contracts"/>
          <p:cNvGraphicFramePr>
            <a:graphicFrameLocks noGrp="1"/>
          </p:cNvGraphicFramePr>
          <p:nvPr/>
        </p:nvGraphicFramePr>
        <p:xfrm>
          <a:off x="548640" y="2057400"/>
          <a:ext cx="11091672" cy="4142231"/>
        </p:xfrm>
        <a:graphic>
          <a:graphicData uri="http://schemas.openxmlformats.org/drawingml/2006/table">
            <a:tbl>
              <a:tblPr firstRow="1"/>
              <a:tblGrid>
                <a:gridCol w="502920"/>
                <a:gridCol w="1645920"/>
                <a:gridCol w="5120640"/>
                <a:gridCol w="2697480"/>
                <a:gridCol w="1124712"/>
              </a:tblGrid>
              <a:tr h="274320">
                <a:tc>
                  <a:txBody>
                    <a:bodyPr/>
                    <a:lstStyle/>
                    <a:p>
                      <a:pPr algn="l" marL="0" indent="0">
                        <a:lnSpc>
                          <a:spcPct val="93000"/>
                        </a:lnSpc>
                        <a:buNone/>
                      </a:pPr>
                      <a:r>
                        <a:rPr lang="en-US" sz="850" b="1" dirty="0">
                          <a:solidFill>
                            <a:srgbClr val="F5B700"/>
                          </a:solidFill>
                          <a:latin typeface="Arial"/>
                          <a:ea typeface="Arial"/>
                          <a:cs typeface="Arial"/>
                        </a:rPr>
                        <a:t>Path</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Interface</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Contract</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Constraint (source)</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Status</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r>
              <a:tr h="429768">
                <a:tc>
                  <a:txBody>
                    <a:bodyPr/>
                    <a:lstStyle/>
                    <a:p>
                      <a:pPr algn="l" marL="0" indent="0">
                        <a:lnSpc>
                          <a:spcPct val="93000"/>
                        </a:lnSpc>
                        <a:buNone/>
                      </a:pPr>
                      <a:r>
                        <a:rPr lang="en-US" sz="900" b="1" dirty="0">
                          <a:solidFill>
                            <a:srgbClr val="F5B700"/>
                          </a:solidFill>
                          <a:latin typeface="Arial"/>
                          <a:ea typeface="Arial"/>
                          <a:cs typeface="Arial"/>
                        </a:rPr>
                        <a:t>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Sources → collector</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OTLP (gRPC or HTTP) to KAIROS_OTLP_ENDPOINT; session.id, user.id and use_case_id on every span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Langfuse reads trace-level attributes from every span [83]; session.id missing today (G7)</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TODAY · G7</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Collector → Pub/Sub</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Publish with attributes use_case_id, risk_tier, lane, flagship. A: publishers stamp them (lane from the use-case registry). B: collector routing connector, OTTL on span attributes [96]</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Filters see attributes only and cannot be edited: new subscription + snapshot seek [95]</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rt / batch subs → Dataflow</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Beam pull; session window (30-minute gap = ASSUMPTION); dead-letter topic per subscription [94]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Dataflow exactly-once processing [74]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2 3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Lanes → stores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ClickHouse: 10k–100k-row batches or async_insert [49]. Iceberg: Beam IcebergIO, Parquet by date + tenant [75]. Spark reads Iceberg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ClickHouse wants few, large inserts [49]</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Write-back → Langfuse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POST /api/public/scores with traceId (+ observationId) or sessionId [84]; id = hash(metric_id, version, subject_id)</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Re-ingest overwrites only when id, name and timestamp date match [84]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 · POC</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4</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Write-back → BigQuery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eval_scores keyed by (subject_type, subject_id, metric_id, metric_version), loaded with MERGE; joined on trace_id / session_id</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One row per subject and metric version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Metric registry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One metric.yaml per metric: id, version, level, bucket, lane, judge, sample, threshold, owners. CI validates on PR, creates the Langfuse ScoreConfig [85], registers the metric with both lanes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Use cases enable metrics by id in their registry entry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Rule for spans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Real-time guard decisions may ride on OTel span events or links; batch scores never modify spans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Spans stay immutable after ingest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a:t>
                      </a:r>
                    </a:p>
                  </a:txBody>
                  <a:tcPr marL="64008" marR="45720" marT="27432" marB="27432" anchor="ctr">
                    <a:lnL w="0">
                      <a:noFill/>
                    </a:lnL>
                    <a:lnR w="6350">
                      <a:solidFill>
                        <a:srgbClr val="3A2620"/>
                      </a:solidFill>
                    </a:lnR>
                    <a:lnT w="0">
                      <a:noFill/>
                    </a:lnT>
                    <a:lnB w="9525">
                      <a:solidFill>
                        <a:srgbClr val="5A3A2E"/>
                      </a:solidFill>
                    </a:lnB>
                    <a:noFill/>
                  </a:tcPr>
                </a:tc>
              </a:tr>
              <a:tr h="429768">
                <a:tc>
                  <a:txBody>
                    <a:bodyPr/>
                    <a:lstStyle/>
                    <a:p>
                      <a:pPr algn="l" marL="0" indent="0">
                        <a:lnSpc>
                          <a:spcPct val="93000"/>
                        </a:lnSpc>
                        <a:buNone/>
                      </a:pPr>
                      <a:r>
                        <a:rPr lang="en-US" sz="900" b="1" dirty="0">
                          <a:solidFill>
                            <a:srgbClr val="F5B700"/>
                          </a:solidFill>
                          <a:latin typeface="Arial"/>
                          <a:ea typeface="Arial"/>
                          <a:cs typeface="Arial"/>
                        </a:rPr>
                        <a:t>–</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50" b="1" dirty="0">
                          <a:solidFill>
                            <a:srgbClr val="FFFFFF"/>
                          </a:solidFill>
                          <a:latin typeface="Arial"/>
                          <a:ea typeface="Arial"/>
                          <a:cs typeface="Arial"/>
                        </a:rPr>
                        <a:t>Eval cost levers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Stratified sampling (100% high-risk + failed, 1–10% of the rest), rule pre-filters, small judges, cascade to a large judge, prompt caching, dedupe, compact trace text; Provisioned Throughput for SLA slices [67]</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Vertex batch ≤ 200k requests / job [66]; 1M / 16 h today → 20M / day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D9B48A"/>
                          </a:solidFill>
                          <a:latin typeface="Arial"/>
                          <a:ea typeface="Arial"/>
                          <a:cs typeface="Arial"/>
                        </a:rPr>
                        <a:t>PROPOSED</a:t>
                      </a:r>
                    </a:p>
                  </a:txBody>
                  <a:tcPr marL="64008" marR="45720" marT="27432" marB="27432" anchor="ctr">
                    <a:lnL w="0">
                      <a:noFill/>
                    </a:lnL>
                    <a:lnR w="6350">
                      <a:solidFill>
                        <a:srgbClr val="3A2620"/>
                      </a:solidFill>
                    </a:lnR>
                    <a:lnT w="0">
                      <a:noFill/>
                    </a:lnT>
                    <a:lnB w="9525">
                      <a:solidFill>
                        <a:srgbClr val="5A3A2E"/>
                      </a:solidFill>
                    </a:lnB>
                    <a:noFill/>
                  </a:tcPr>
                </a:tc>
              </a:tr>
            </a:tbl>
          </a:graphicData>
        </a:graphic>
      </p:graphicFrame>
      <p:sp>
        <p:nvSpPr>
          <p:cNvPr id="159" name="gal 159"/>
          <p:cNvSpPr/>
          <p:nvPr/>
        </p:nvSpPr>
        <p:spPr>
          <a:xfrm>
            <a:off x="548640" y="6327648"/>
            <a:ext cx="11091672" cy="310896"/>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Path numbers match slide 12. Merged from v12 slide 18 (routing options, write-back, metric.yaml, rule for spans) and the eval scaling levers of v12 slide 12. Direct OTLP option: collector → Langfuse /api/public/otel over HTTP only (HTTP/JSON or protobuf) [83].</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21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Platform gaps  ·  6 of 6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Agent control: system architecture</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runtime, gateway, control plane, telemetry, admin</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48640" y="2286000"/>
            <a:ext cx="2286000" cy="3200400"/>
          </a:xfrm>
          <a:prstGeom prst="rect">
            <a:avLst/>
          </a:prstGeom>
          <a:solidFill>
            <a:srgbClr val="201614"/>
          </a:solidFill>
          <a:ln>
            <a:noFill/>
          </a:ln>
        </p:spPr>
      </p:sp>
      <p:sp>
        <p:nvSpPr>
          <p:cNvPr id="162" name="gal 162"/>
          <p:cNvSpPr/>
          <p:nvPr/>
        </p:nvSpPr>
        <p:spPr>
          <a:xfrm>
            <a:off x="621792" y="2304288"/>
            <a:ext cx="219456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AGENT RUNTIME  ·  GKE</a:t>
            </a:r>
          </a:p>
        </p:txBody>
      </p:sp>
      <p:sp>
        <p:nvSpPr>
          <p:cNvPr id="163" name="gal 163"/>
          <p:cNvSpPr/>
          <p:nvPr/>
        </p:nvSpPr>
        <p:spPr>
          <a:xfrm>
            <a:off x="3108960" y="2286000"/>
            <a:ext cx="1828800" cy="3200400"/>
          </a:xfrm>
          <a:prstGeom prst="rect">
            <a:avLst/>
          </a:prstGeom>
          <a:solidFill>
            <a:srgbClr val="201614"/>
          </a:solidFill>
          <a:ln>
            <a:noFill/>
          </a:ln>
        </p:spPr>
      </p:sp>
      <p:sp>
        <p:nvSpPr>
          <p:cNvPr id="164" name="gal 164"/>
          <p:cNvSpPr/>
          <p:nvPr/>
        </p:nvSpPr>
        <p:spPr>
          <a:xfrm>
            <a:off x="3182112" y="2304288"/>
            <a:ext cx="173736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GATEWAY</a:t>
            </a:r>
          </a:p>
        </p:txBody>
      </p:sp>
      <p:sp>
        <p:nvSpPr>
          <p:cNvPr id="165" name="gal 165"/>
          <p:cNvSpPr/>
          <p:nvPr/>
        </p:nvSpPr>
        <p:spPr>
          <a:xfrm>
            <a:off x="5212080" y="2286000"/>
            <a:ext cx="2926080" cy="3200400"/>
          </a:xfrm>
          <a:prstGeom prst="rect">
            <a:avLst/>
          </a:prstGeom>
          <a:solidFill>
            <a:srgbClr val="201614"/>
          </a:solidFill>
          <a:ln>
            <a:noFill/>
          </a:ln>
        </p:spPr>
      </p:sp>
      <p:sp>
        <p:nvSpPr>
          <p:cNvPr id="166" name="gal 166"/>
          <p:cNvSpPr/>
          <p:nvPr/>
        </p:nvSpPr>
        <p:spPr>
          <a:xfrm>
            <a:off x="5285232" y="2304288"/>
            <a:ext cx="283464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CONTROL PLANE</a:t>
            </a:r>
          </a:p>
        </p:txBody>
      </p:sp>
      <p:sp>
        <p:nvSpPr>
          <p:cNvPr id="167" name="gal 167"/>
          <p:cNvSpPr/>
          <p:nvPr/>
        </p:nvSpPr>
        <p:spPr>
          <a:xfrm>
            <a:off x="8412480" y="2286000"/>
            <a:ext cx="1600200" cy="3200400"/>
          </a:xfrm>
          <a:prstGeom prst="rect">
            <a:avLst/>
          </a:prstGeom>
          <a:solidFill>
            <a:srgbClr val="201614"/>
          </a:solidFill>
          <a:ln>
            <a:noFill/>
          </a:ln>
        </p:spPr>
      </p:sp>
      <p:sp>
        <p:nvSpPr>
          <p:cNvPr id="168" name="gal 168"/>
          <p:cNvSpPr/>
          <p:nvPr/>
        </p:nvSpPr>
        <p:spPr>
          <a:xfrm>
            <a:off x="8485632" y="2304288"/>
            <a:ext cx="150876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TELEMETRY</a:t>
            </a:r>
          </a:p>
        </p:txBody>
      </p:sp>
      <p:sp>
        <p:nvSpPr>
          <p:cNvPr id="169" name="gal 169"/>
          <p:cNvSpPr/>
          <p:nvPr/>
        </p:nvSpPr>
        <p:spPr>
          <a:xfrm>
            <a:off x="10287000" y="2286000"/>
            <a:ext cx="1353312" cy="3200400"/>
          </a:xfrm>
          <a:prstGeom prst="rect">
            <a:avLst/>
          </a:prstGeom>
          <a:solidFill>
            <a:srgbClr val="201614"/>
          </a:solidFill>
          <a:ln>
            <a:noFill/>
          </a:ln>
        </p:spPr>
      </p:sp>
      <p:sp>
        <p:nvSpPr>
          <p:cNvPr id="170" name="gal 170"/>
          <p:cNvSpPr/>
          <p:nvPr/>
        </p:nvSpPr>
        <p:spPr>
          <a:xfrm>
            <a:off x="10360152" y="2304288"/>
            <a:ext cx="1261872"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ADMIN</a:t>
            </a:r>
          </a:p>
        </p:txBody>
      </p:sp>
      <p:sp>
        <p:nvSpPr>
          <p:cNvPr id="171" name="gal 171"/>
          <p:cNvSpPr/>
          <p:nvPr/>
        </p:nvSpPr>
        <p:spPr>
          <a:xfrm>
            <a:off x="640080" y="2697480"/>
            <a:ext cx="2103120" cy="1664208"/>
          </a:xfrm>
          <a:prstGeom prst="rect">
            <a:avLst/>
          </a:prstGeom>
          <a:noFill/>
          <a:ln w="9525">
            <a:solidFill>
              <a:srgbClr val="F5B700"/>
            </a:solidFill>
          </a:ln>
        </p:spPr>
      </p:sp>
      <p:sp>
        <p:nvSpPr>
          <p:cNvPr id="172" name="gal 172"/>
          <p:cNvSpPr/>
          <p:nvPr/>
        </p:nvSpPr>
        <p:spPr>
          <a:xfrm>
            <a:off x="713232" y="2715768"/>
            <a:ext cx="1371600" cy="155448"/>
          </a:xfrm>
          <a:prstGeom prst="rect">
            <a:avLst/>
          </a:prstGeom>
          <a:noFill/>
          <a:ln>
            <a:noFill/>
          </a:ln>
        </p:spPr>
        <p:txBody>
          <a:bodyPr wrap="square" lIns="0" tIns="0" rIns="0" bIns="0" rtlCol="0" anchor="ctr">
            <a:noAutofit/>
          </a:bodyPr>
          <a:lstStyle/>
          <a:p>
            <a:pPr algn="l" marL="0" indent="0">
              <a:buNone/>
            </a:pPr>
            <a:r>
              <a:rPr lang="en-US" sz="800" b="1" dirty="0">
                <a:solidFill>
                  <a:srgbClr val="F5B700"/>
                </a:solidFill>
                <a:latin typeface="Arial"/>
                <a:ea typeface="Arial"/>
                <a:cs typeface="Arial"/>
              </a:rPr>
              <a:t>AGENT POD</a:t>
            </a:r>
          </a:p>
        </p:txBody>
      </p:sp>
      <p:sp>
        <p:nvSpPr>
          <p:cNvPr id="173" name="gal 173"/>
          <p:cNvSpPr/>
          <p:nvPr/>
        </p:nvSpPr>
        <p:spPr>
          <a:xfrm>
            <a:off x="731520" y="2862072"/>
            <a:ext cx="1920240" cy="73152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Agent container</a:t>
            </a:r>
          </a:p>
          <a:p>
            <a:pPr algn="l" marL="0" indent="0">
              <a:lnSpc>
                <a:spcPct val="90000"/>
              </a:lnSpc>
              <a:buNone/>
            </a:pPr>
            <a:r>
              <a:rPr lang="en-US" sz="800" dirty="0">
                <a:solidFill>
                  <a:srgbClr val="F3E6D6"/>
                </a:solidFill>
                <a:latin typeface="Arial"/>
                <a:ea typeface="Arial"/>
                <a:cs typeface="Arial"/>
              </a:rPr>
              <a:t>OpenAI Agents SDK, Strands or Kairos SDK</a:t>
            </a:r>
          </a:p>
          <a:p>
            <a:pPr algn="l" marL="0" indent="0">
              <a:lnSpc>
                <a:spcPct val="90000"/>
              </a:lnSpc>
              <a:buNone/>
            </a:pPr>
            <a:r>
              <a:rPr lang="en-US" sz="800" dirty="0">
                <a:solidFill>
                  <a:srgbClr val="F3E6D6"/>
                </a:solidFill>
                <a:latin typeface="Arial"/>
                <a:ea typeface="Arial"/>
                <a:cs typeface="Arial"/>
              </a:rPr>
              <a:t>kairos.instrument() + @control() pre / post [100]</a:t>
            </a:r>
          </a:p>
        </p:txBody>
      </p:sp>
      <p:sp>
        <p:nvSpPr>
          <p:cNvPr id="174" name="gal 174"/>
          <p:cNvSpPr/>
          <p:nvPr/>
        </p:nvSpPr>
        <p:spPr>
          <a:xfrm>
            <a:off x="731520" y="3657600"/>
            <a:ext cx="1920240" cy="603504"/>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AGT sidecar</a:t>
            </a:r>
            <a:r>
              <a:rPr lang="en-US" sz="800" b="1" dirty="0">
                <a:solidFill>
                  <a:srgbClr val="F5B700"/>
                </a:solidFill>
                <a:latin typeface="Arial"/>
                <a:ea typeface="Arial"/>
                <a:cs typeface="Arial"/>
              </a:rPr>
              <a:t>  OPTION</a:t>
            </a:r>
          </a:p>
          <a:p>
            <a:pPr algn="l" marL="0" indent="0">
              <a:lnSpc>
                <a:spcPct val="90000"/>
              </a:lnSpc>
              <a:buNone/>
            </a:pPr>
            <a:r>
              <a:rPr lang="en-US" sz="800" dirty="0">
                <a:solidFill>
                  <a:srgbClr val="F3E6D6"/>
                </a:solidFill>
                <a:latin typeface="Arial"/>
                <a:ea typeface="Arial"/>
                <a:cs typeface="Arial"/>
              </a:rPr>
              <a:t>option: localhost:8081, explicit calls; on GKE </a:t>
            </a:r>
            <a:r>
              <a:rPr lang="en-US" sz="800" b="1" dirty="0">
                <a:solidFill>
                  <a:srgbClr val="F5B700"/>
                </a:solidFill>
                <a:latin typeface="Arial"/>
                <a:ea typeface="Arial"/>
                <a:cs typeface="Arial"/>
              </a:rPr>
              <a:t>VERIFY</a:t>
            </a:r>
            <a:r>
              <a:rPr lang="en-US" sz="800" dirty="0">
                <a:solidFill>
                  <a:srgbClr val="F3E6D6"/>
                </a:solidFill>
                <a:latin typeface="Arial"/>
                <a:ea typeface="Arial"/>
                <a:cs typeface="Arial"/>
              </a:rPr>
              <a:t> [103]</a:t>
            </a:r>
          </a:p>
        </p:txBody>
      </p:sp>
      <p:sp>
        <p:nvSpPr>
          <p:cNvPr id="175" name="gal 175"/>
          <p:cNvSpPr/>
          <p:nvPr/>
        </p:nvSpPr>
        <p:spPr>
          <a:xfrm>
            <a:off x="640080" y="4498848"/>
            <a:ext cx="2103120" cy="54864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Raw OpenAI-format agents</a:t>
            </a:r>
          </a:p>
          <a:p>
            <a:pPr algn="l" marL="0" indent="0">
              <a:lnSpc>
                <a:spcPct val="90000"/>
              </a:lnSpc>
              <a:buNone/>
            </a:pPr>
            <a:r>
              <a:rPr lang="en-US" sz="800" dirty="0">
                <a:solidFill>
                  <a:srgbClr val="F3E6D6"/>
                </a:solidFill>
                <a:latin typeface="Arial"/>
                <a:ea typeface="Arial"/>
                <a:cs typeface="Arial"/>
              </a:rPr>
              <a:t>no SDK: gateway content controls; tools only via the MCP gateway</a:t>
            </a:r>
          </a:p>
        </p:txBody>
      </p:sp>
      <p:sp>
        <p:nvSpPr>
          <p:cNvPr id="176" name="gal 176"/>
          <p:cNvSpPr/>
          <p:nvPr/>
        </p:nvSpPr>
        <p:spPr>
          <a:xfrm>
            <a:off x="3200400" y="2697480"/>
            <a:ext cx="1645920" cy="118872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Kairos gateway</a:t>
            </a:r>
          </a:p>
          <a:p>
            <a:pPr algn="l" marL="0" indent="0">
              <a:lnSpc>
                <a:spcPct val="90000"/>
              </a:lnSpc>
              <a:buNone/>
            </a:pPr>
            <a:r>
              <a:rPr lang="en-US" sz="800" dirty="0">
                <a:solidFill>
                  <a:srgbClr val="F3E6D6"/>
                </a:solidFill>
                <a:latin typeface="Arial"/>
                <a:ea typeface="Arial"/>
                <a:cs typeface="Arial"/>
              </a:rPr>
              <a:t>base: LiteLLM </a:t>
            </a:r>
            <a:r>
              <a:rPr lang="en-US" sz="800" b="1" dirty="0">
                <a:solidFill>
                  <a:srgbClr val="F5B700"/>
                </a:solidFill>
                <a:latin typeface="Arial"/>
                <a:ea typeface="Arial"/>
                <a:cs typeface="Arial"/>
              </a:rPr>
              <a:t>ASSUMED</a:t>
            </a:r>
          </a:p>
          <a:p>
            <a:pPr algn="l" marL="0" indent="0">
              <a:lnSpc>
                <a:spcPct val="90000"/>
              </a:lnSpc>
              <a:buNone/>
            </a:pPr>
            <a:r>
              <a:rPr lang="en-US" sz="800" dirty="0">
                <a:solidFill>
                  <a:srgbClr val="F3E6D6"/>
                </a:solidFill>
                <a:latin typeface="Arial"/>
                <a:ea typeface="Arial"/>
                <a:cs typeface="Arial"/>
              </a:rPr>
              <a:t>hooks: pre_call · during_call · post_call [121]</a:t>
            </a:r>
          </a:p>
          <a:p>
            <a:pPr algn="l" marL="0" indent="0">
              <a:lnSpc>
                <a:spcPct val="90000"/>
              </a:lnSpc>
              <a:buNone/>
            </a:pPr>
            <a:r>
              <a:rPr lang="en-US" sz="800" dirty="0">
                <a:solidFill>
                  <a:srgbClr val="F3E6D6"/>
                </a:solidFill>
                <a:latin typeface="Arial"/>
                <a:ea typeface="Arial"/>
                <a:cs typeface="Arial"/>
              </a:rPr>
              <a:t>Presidio, Lakera; generic API → Luna / Agent Control </a:t>
            </a:r>
            <a:r>
              <a:rPr lang="en-US" sz="800" b="1" dirty="0">
                <a:solidFill>
                  <a:srgbClr val="F5B700"/>
                </a:solidFill>
                <a:latin typeface="Arial"/>
                <a:ea typeface="Arial"/>
                <a:cs typeface="Arial"/>
              </a:rPr>
              <a:t>VERIFY</a:t>
            </a:r>
            <a:r>
              <a:rPr lang="en-US" sz="800" dirty="0">
                <a:solidFill>
                  <a:srgbClr val="F3E6D6"/>
                </a:solidFill>
                <a:latin typeface="Arial"/>
                <a:ea typeface="Arial"/>
                <a:cs typeface="Arial"/>
              </a:rPr>
              <a:t> [122]</a:t>
            </a:r>
          </a:p>
        </p:txBody>
      </p:sp>
      <p:sp>
        <p:nvSpPr>
          <p:cNvPr id="177" name="gal 177"/>
          <p:cNvSpPr/>
          <p:nvPr/>
        </p:nvSpPr>
        <p:spPr>
          <a:xfrm>
            <a:off x="3200400" y="4005072"/>
            <a:ext cx="1645920" cy="52120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MCP gateway</a:t>
            </a:r>
          </a:p>
          <a:p>
            <a:pPr algn="l" marL="0" indent="0">
              <a:lnSpc>
                <a:spcPct val="90000"/>
              </a:lnSpc>
              <a:buNone/>
            </a:pPr>
            <a:r>
              <a:rPr lang="en-US" sz="800" dirty="0">
                <a:solidFill>
                  <a:srgbClr val="F3E6D6"/>
                </a:solidFill>
                <a:latin typeface="Arial"/>
                <a:ea typeface="Arial"/>
                <a:cs typeface="Arial"/>
              </a:rPr>
              <a:t>per-tool policy; asks the PDP</a:t>
            </a:r>
          </a:p>
        </p:txBody>
      </p:sp>
      <p:sp>
        <p:nvSpPr>
          <p:cNvPr id="178" name="gal 178"/>
          <p:cNvSpPr/>
          <p:nvPr/>
        </p:nvSpPr>
        <p:spPr>
          <a:xfrm>
            <a:off x="3200400" y="4681728"/>
            <a:ext cx="1645920" cy="603504"/>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Models · tools</a:t>
            </a:r>
          </a:p>
          <a:p>
            <a:pPr algn="l" marL="0" indent="0">
              <a:lnSpc>
                <a:spcPct val="90000"/>
              </a:lnSpc>
              <a:buNone/>
            </a:pPr>
            <a:r>
              <a:rPr lang="en-US" sz="800" dirty="0">
                <a:solidFill>
                  <a:srgbClr val="F3E6D6"/>
                </a:solidFill>
                <a:latin typeface="Arial"/>
                <a:ea typeface="Arial"/>
                <a:cs typeface="Arial"/>
              </a:rPr>
              <a:t>OpenAI-format models via the gateway; MCP servers, APIs</a:t>
            </a:r>
          </a:p>
        </p:txBody>
      </p:sp>
      <p:sp>
        <p:nvSpPr>
          <p:cNvPr id="179" name="gal 179"/>
          <p:cNvSpPr/>
          <p:nvPr/>
        </p:nvSpPr>
        <p:spPr>
          <a:xfrm>
            <a:off x="5303520" y="2697480"/>
            <a:ext cx="1691640" cy="82296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Agent Control server</a:t>
            </a:r>
            <a:r>
              <a:rPr lang="en-US" sz="800" b="1" dirty="0">
                <a:solidFill>
                  <a:srgbClr val="F5B700"/>
                </a:solidFill>
                <a:latin typeface="Arial"/>
                <a:ea typeface="Arial"/>
                <a:cs typeface="Arial"/>
              </a:rPr>
              <a:t>  GKE</a:t>
            </a:r>
          </a:p>
          <a:p>
            <a:pPr algn="l" marL="0" indent="0">
              <a:lnSpc>
                <a:spcPct val="90000"/>
              </a:lnSpc>
              <a:buNone/>
            </a:pPr>
            <a:r>
              <a:rPr lang="en-US" sz="800" dirty="0">
                <a:solidFill>
                  <a:srgbClr val="F3E6D6"/>
                </a:solidFill>
                <a:latin typeface="Arial"/>
                <a:ea typeface="Arial"/>
                <a:cs typeface="Arial"/>
              </a:rPr>
              <a:t>stateless FastAPI + HPA; X-API-Key auth [101]</a:t>
            </a:r>
          </a:p>
          <a:p>
            <a:pPr algn="l" marL="0" indent="0">
              <a:lnSpc>
                <a:spcPct val="90000"/>
              </a:lnSpc>
              <a:buNone/>
            </a:pPr>
            <a:r>
              <a:rPr lang="en-US" sz="800" dirty="0">
                <a:solidFill>
                  <a:srgbClr val="F3E6D6"/>
                </a:solidFill>
                <a:latin typeface="Arial"/>
                <a:ea typeface="Arial"/>
                <a:cs typeface="Arial"/>
              </a:rPr>
              <a:t>controls per agent_id, no redeploy [100]</a:t>
            </a:r>
          </a:p>
        </p:txBody>
      </p:sp>
      <p:sp>
        <p:nvSpPr>
          <p:cNvPr id="180" name="gal 180"/>
          <p:cNvSpPr/>
          <p:nvPr/>
        </p:nvSpPr>
        <p:spPr>
          <a:xfrm>
            <a:off x="7132320" y="2697480"/>
            <a:ext cx="914400" cy="82296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Policy registry</a:t>
            </a:r>
          </a:p>
          <a:p>
            <a:pPr algn="l" marL="0" indent="0">
              <a:lnSpc>
                <a:spcPct val="90000"/>
              </a:lnSpc>
              <a:buNone/>
            </a:pPr>
            <a:r>
              <a:rPr lang="en-US" sz="800" dirty="0">
                <a:solidFill>
                  <a:srgbClr val="F3E6D6"/>
                </a:solidFill>
                <a:latin typeface="Arial"/>
                <a:ea typeface="Arial"/>
                <a:cs typeface="Arial"/>
              </a:rPr>
              <a:t>one owner layer per control; bundles</a:t>
            </a:r>
          </a:p>
        </p:txBody>
      </p:sp>
      <p:sp>
        <p:nvSpPr>
          <p:cNvPr id="181" name="gal 181"/>
          <p:cNvSpPr/>
          <p:nvPr/>
        </p:nvSpPr>
        <p:spPr>
          <a:xfrm>
            <a:off x="5303520" y="3657600"/>
            <a:ext cx="1691640" cy="64008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Evaluators</a:t>
            </a:r>
          </a:p>
          <a:p>
            <a:pPr algn="l" marL="0" indent="0">
              <a:lnSpc>
                <a:spcPct val="90000"/>
              </a:lnSpc>
              <a:buNone/>
            </a:pPr>
            <a:r>
              <a:rPr lang="en-US" sz="800" dirty="0">
                <a:solidFill>
                  <a:srgbClr val="F3E6D6"/>
                </a:solidFill>
                <a:latin typeface="Arial"/>
                <a:ea typeface="Arial"/>
                <a:cs typeface="Arial"/>
              </a:rPr>
              <a:t>regex, list, JSON, SQL injection; NeMo (licence </a:t>
            </a:r>
            <a:r>
              <a:rPr lang="en-US" sz="800" b="1" dirty="0">
                <a:solidFill>
                  <a:srgbClr val="F5B700"/>
                </a:solidFill>
                <a:latin typeface="Arial"/>
                <a:ea typeface="Arial"/>
                <a:cs typeface="Arial"/>
              </a:rPr>
              <a:t>VERIFY</a:t>
            </a:r>
            <a:r>
              <a:rPr lang="en-US" sz="800" dirty="0">
                <a:solidFill>
                  <a:srgbClr val="F3E6D6"/>
                </a:solidFill>
                <a:latin typeface="Arial"/>
                <a:ea typeface="Arial"/>
                <a:cs typeface="Arial"/>
              </a:rPr>
              <a:t> [107]); Luna-2; custom [100]</a:t>
            </a:r>
          </a:p>
        </p:txBody>
      </p:sp>
      <p:sp>
        <p:nvSpPr>
          <p:cNvPr id="182" name="gal 182"/>
          <p:cNvSpPr/>
          <p:nvPr/>
        </p:nvSpPr>
        <p:spPr>
          <a:xfrm>
            <a:off x="7132320" y="3657600"/>
            <a:ext cx="914400" cy="137160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OPA / Cedar PDP</a:t>
            </a:r>
          </a:p>
          <a:p>
            <a:pPr algn="l" marL="0" indent="0">
              <a:lnSpc>
                <a:spcPct val="90000"/>
              </a:lnSpc>
              <a:buNone/>
            </a:pPr>
            <a:r>
              <a:rPr lang="en-US" sz="800" dirty="0">
                <a:solidFill>
                  <a:srgbClr val="F3E6D6"/>
                </a:solidFill>
                <a:latin typeface="Arial"/>
                <a:ea typeface="Arial"/>
                <a:cs typeface="Arial"/>
              </a:rPr>
              <a:t>allow / deny for identity and tool calls; principal: SPIFFE or IdP [105][106]</a:t>
            </a:r>
          </a:p>
        </p:txBody>
      </p:sp>
      <p:sp>
        <p:nvSpPr>
          <p:cNvPr id="183" name="gal 183"/>
          <p:cNvSpPr/>
          <p:nvPr/>
        </p:nvSpPr>
        <p:spPr>
          <a:xfrm>
            <a:off x="5303520" y="4544568"/>
            <a:ext cx="1691640" cy="48463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Cloud SQL · Postgres</a:t>
            </a:r>
          </a:p>
          <a:p>
            <a:pPr algn="l" marL="0" indent="0">
              <a:lnSpc>
                <a:spcPct val="90000"/>
              </a:lnSpc>
              <a:buNone/>
            </a:pPr>
            <a:r>
              <a:rPr lang="en-US" sz="800" dirty="0">
                <a:solidFill>
                  <a:srgbClr val="F3E6D6"/>
                </a:solidFill>
                <a:latin typeface="Arial"/>
                <a:ea typeface="Arial"/>
                <a:cs typeface="Arial"/>
              </a:rPr>
              <a:t>controls and decision state [100]</a:t>
            </a:r>
          </a:p>
        </p:txBody>
      </p:sp>
      <p:sp>
        <p:nvSpPr>
          <p:cNvPr id="184" name="gal 184"/>
          <p:cNvSpPr/>
          <p:nvPr/>
        </p:nvSpPr>
        <p:spPr>
          <a:xfrm>
            <a:off x="8503920" y="2697480"/>
            <a:ext cx="1417320" cy="56692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Decision events</a:t>
            </a:r>
          </a:p>
          <a:p>
            <a:pPr algn="l" marL="0" indent="0">
              <a:lnSpc>
                <a:spcPct val="90000"/>
              </a:lnSpc>
              <a:buNone/>
            </a:pPr>
            <a:r>
              <a:rPr lang="en-US" sz="800" dirty="0">
                <a:solidFill>
                  <a:srgbClr val="F3E6D6"/>
                </a:solidFill>
                <a:latin typeface="Arial"/>
                <a:ea typeface="Arial"/>
                <a:cs typeface="Arial"/>
              </a:rPr>
              <a:t>decision_id, policy_version, agent_id, result</a:t>
            </a:r>
          </a:p>
        </p:txBody>
      </p:sp>
      <p:sp>
        <p:nvSpPr>
          <p:cNvPr id="185" name="gal 185"/>
          <p:cNvSpPr/>
          <p:nvPr/>
        </p:nvSpPr>
        <p:spPr>
          <a:xfrm>
            <a:off x="8503920" y="3383280"/>
            <a:ext cx="1417320" cy="329184"/>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Pub/Sub</a:t>
            </a:r>
          </a:p>
        </p:txBody>
      </p:sp>
      <p:sp>
        <p:nvSpPr>
          <p:cNvPr id="186" name="gal 186"/>
          <p:cNvSpPr/>
          <p:nvPr/>
        </p:nvSpPr>
        <p:spPr>
          <a:xfrm>
            <a:off x="8503920" y="3840480"/>
            <a:ext cx="1417320" cy="45720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BigQuery</a:t>
            </a:r>
          </a:p>
          <a:p>
            <a:pPr algn="l" marL="0" indent="0">
              <a:lnSpc>
                <a:spcPct val="90000"/>
              </a:lnSpc>
              <a:buNone/>
            </a:pPr>
            <a:r>
              <a:rPr lang="en-US" sz="800" dirty="0">
                <a:solidFill>
                  <a:srgbClr val="F3E6D6"/>
                </a:solidFill>
                <a:latin typeface="Arial"/>
                <a:ea typeface="Arial"/>
                <a:cs typeface="Arial"/>
              </a:rPr>
              <a:t>audit; join to traces</a:t>
            </a:r>
          </a:p>
        </p:txBody>
      </p:sp>
      <p:sp>
        <p:nvSpPr>
          <p:cNvPr id="187" name="gal 187"/>
          <p:cNvSpPr/>
          <p:nvPr/>
        </p:nvSpPr>
        <p:spPr>
          <a:xfrm>
            <a:off x="8503920" y="4434840"/>
            <a:ext cx="1417320" cy="68580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Managed Prometheus</a:t>
            </a:r>
          </a:p>
          <a:p>
            <a:pPr algn="l" marL="0" indent="0">
              <a:lnSpc>
                <a:spcPct val="90000"/>
              </a:lnSpc>
              <a:buNone/>
            </a:pPr>
            <a:r>
              <a:rPr lang="en-US" sz="800" dirty="0">
                <a:solidFill>
                  <a:srgbClr val="F3E6D6"/>
                </a:solidFill>
                <a:latin typeface="Arial"/>
                <a:ea typeface="Arial"/>
                <a:cs typeface="Arial"/>
              </a:rPr>
              <a:t>scrapes /metrics [101] → Grafana</a:t>
            </a:r>
          </a:p>
        </p:txBody>
      </p:sp>
      <p:sp>
        <p:nvSpPr>
          <p:cNvPr id="188" name="gal 188"/>
          <p:cNvSpPr/>
          <p:nvPr/>
        </p:nvSpPr>
        <p:spPr>
          <a:xfrm>
            <a:off x="10378440" y="2697480"/>
            <a:ext cx="1188720" cy="77724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CI policy deploy</a:t>
            </a:r>
          </a:p>
          <a:p>
            <a:pPr algn="l" marL="0" indent="0">
              <a:lnSpc>
                <a:spcPct val="90000"/>
              </a:lnSpc>
              <a:buNone/>
            </a:pPr>
            <a:r>
              <a:rPr lang="en-US" sz="800" dirty="0">
                <a:solidFill>
                  <a:srgbClr val="F3E6D6"/>
                </a:solidFill>
                <a:latin typeface="Arial"/>
                <a:ea typeface="Arial"/>
                <a:cs typeface="Arial"/>
              </a:rPr>
              <a:t>PR → tests + red-team gate (slide 24) → registry</a:t>
            </a:r>
          </a:p>
        </p:txBody>
      </p:sp>
      <p:sp>
        <p:nvSpPr>
          <p:cNvPr id="189" name="gal 189"/>
          <p:cNvSpPr/>
          <p:nvPr/>
        </p:nvSpPr>
        <p:spPr>
          <a:xfrm>
            <a:off x="10378440" y="3584448"/>
            <a:ext cx="1188720" cy="68580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Dashboard</a:t>
            </a:r>
          </a:p>
          <a:p>
            <a:pPr algn="l" marL="0" indent="0">
              <a:lnSpc>
                <a:spcPct val="90000"/>
              </a:lnSpc>
              <a:buNone/>
            </a:pPr>
            <a:r>
              <a:rPr lang="en-US" sz="800" dirty="0">
                <a:solidFill>
                  <a:srgbClr val="F3E6D6"/>
                </a:solidFill>
                <a:latin typeface="Arial"/>
                <a:ea typeface="Arial"/>
                <a:cs typeface="Arial"/>
              </a:rPr>
              <a:t>Next.js, behind IAP (no built-in SSO) [101]</a:t>
            </a:r>
          </a:p>
        </p:txBody>
      </p:sp>
      <p:sp>
        <p:nvSpPr>
          <p:cNvPr id="190" name="gal 190"/>
          <p:cNvSpPr/>
          <p:nvPr/>
        </p:nvSpPr>
        <p:spPr>
          <a:xfrm>
            <a:off x="10378440" y="4389120"/>
            <a:ext cx="1188720" cy="73152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Kill switch</a:t>
            </a:r>
          </a:p>
          <a:p>
            <a:pPr algn="l" marL="0" indent="0">
              <a:lnSpc>
                <a:spcPct val="90000"/>
              </a:lnSpc>
              <a:buNone/>
            </a:pPr>
            <a:r>
              <a:rPr lang="en-US" sz="800" dirty="0">
                <a:solidFill>
                  <a:srgbClr val="F3E6D6"/>
                </a:solidFill>
                <a:latin typeface="Arial"/>
                <a:ea typeface="Arial"/>
                <a:cs typeface="Arial"/>
              </a:rPr>
              <a:t>identity → gateway → MCP → Agent Control</a:t>
            </a:r>
          </a:p>
        </p:txBody>
      </p:sp>
      <p:cxnSp>
        <p:nvCxnSpPr>
          <p:cNvPr id="191" name="g2 flow 191"/>
          <p:cNvCxnSpPr/>
          <p:nvPr/>
        </p:nvCxnSpPr>
        <p:spPr>
          <a:xfrm flipV="1">
            <a:off x="1691640" y="2560320"/>
            <a:ext cx="0" cy="301752"/>
          </a:xfrm>
          <a:prstGeom prst="line">
            <a:avLst/>
          </a:prstGeom>
          <a:ln w="15875">
            <a:solidFill>
              <a:srgbClr val="EE0000"/>
            </a:solidFill>
          </a:ln>
        </p:spPr>
      </p:cxnSp>
      <p:cxnSp>
        <p:nvCxnSpPr>
          <p:cNvPr id="192" name="g2 flow 192"/>
          <p:cNvCxnSpPr/>
          <p:nvPr/>
        </p:nvCxnSpPr>
        <p:spPr>
          <a:xfrm>
            <a:off x="1691640" y="2560320"/>
            <a:ext cx="4434840" cy="0"/>
          </a:xfrm>
          <a:prstGeom prst="line">
            <a:avLst/>
          </a:prstGeom>
          <a:ln w="15875">
            <a:solidFill>
              <a:srgbClr val="EE0000"/>
            </a:solidFill>
          </a:ln>
        </p:spPr>
      </p:cxnSp>
      <p:cxnSp>
        <p:nvCxnSpPr>
          <p:cNvPr id="193" name="g2 flow 193"/>
          <p:cNvCxnSpPr/>
          <p:nvPr/>
        </p:nvCxnSpPr>
        <p:spPr>
          <a:xfrm>
            <a:off x="6126480" y="2560320"/>
            <a:ext cx="0" cy="137160"/>
          </a:xfrm>
          <a:prstGeom prst="line">
            <a:avLst/>
          </a:prstGeom>
          <a:ln w="15875">
            <a:solidFill>
              <a:srgbClr val="EE0000"/>
            </a:solidFill>
            <a:tailEnd type="triangle" w="med" len="med"/>
          </a:ln>
        </p:spPr>
      </p:cxnSp>
      <p:sp>
        <p:nvSpPr>
          <p:cNvPr id="194" name="gal 194"/>
          <p:cNvSpPr/>
          <p:nvPr/>
        </p:nvSpPr>
        <p:spPr>
          <a:xfrm>
            <a:off x="2276856" y="245973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1</a:t>
            </a:r>
          </a:p>
        </p:txBody>
      </p:sp>
      <p:cxnSp>
        <p:nvCxnSpPr>
          <p:cNvPr id="195" name="g2 flow 195"/>
          <p:cNvCxnSpPr/>
          <p:nvPr/>
        </p:nvCxnSpPr>
        <p:spPr>
          <a:xfrm>
            <a:off x="2651760" y="3108960"/>
            <a:ext cx="548640" cy="0"/>
          </a:xfrm>
          <a:prstGeom prst="line">
            <a:avLst/>
          </a:prstGeom>
          <a:ln w="15875">
            <a:solidFill>
              <a:srgbClr val="EE0000"/>
            </a:solidFill>
            <a:tailEnd type="triangle" w="med" len="med"/>
          </a:ln>
        </p:spPr>
      </p:cxnSp>
      <p:sp>
        <p:nvSpPr>
          <p:cNvPr id="196" name="gal 196"/>
          <p:cNvSpPr/>
          <p:nvPr/>
        </p:nvSpPr>
        <p:spPr>
          <a:xfrm>
            <a:off x="2825496" y="300837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2</a:t>
            </a:r>
          </a:p>
        </p:txBody>
      </p:sp>
      <p:cxnSp>
        <p:nvCxnSpPr>
          <p:cNvPr id="197" name="g2 flow 197"/>
          <p:cNvCxnSpPr/>
          <p:nvPr/>
        </p:nvCxnSpPr>
        <p:spPr>
          <a:xfrm flipH="1">
            <a:off x="2651760" y="3401568"/>
            <a:ext cx="548640" cy="0"/>
          </a:xfrm>
          <a:prstGeom prst="line">
            <a:avLst/>
          </a:prstGeom>
          <a:ln w="15875">
            <a:solidFill>
              <a:srgbClr val="EE0000"/>
            </a:solidFill>
            <a:tailEnd type="triangle" w="med" len="med"/>
          </a:ln>
        </p:spPr>
      </p:cxnSp>
      <p:sp>
        <p:nvSpPr>
          <p:cNvPr id="198" name="gal 198"/>
          <p:cNvSpPr/>
          <p:nvPr/>
        </p:nvSpPr>
        <p:spPr>
          <a:xfrm>
            <a:off x="2825496" y="3300984"/>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4</a:t>
            </a:r>
          </a:p>
        </p:txBody>
      </p:sp>
      <p:cxnSp>
        <p:nvCxnSpPr>
          <p:cNvPr id="199" name="g2 flow 199"/>
          <p:cNvCxnSpPr/>
          <p:nvPr/>
        </p:nvCxnSpPr>
        <p:spPr>
          <a:xfrm>
            <a:off x="4846320" y="3200400"/>
            <a:ext cx="457200" cy="0"/>
          </a:xfrm>
          <a:prstGeom prst="line">
            <a:avLst/>
          </a:prstGeom>
          <a:ln w="15875">
            <a:solidFill>
              <a:srgbClr val="EE0000"/>
            </a:solidFill>
            <a:prstDash val="dash"/>
            <a:tailEnd type="triangle" w="med" len="med"/>
          </a:ln>
        </p:spPr>
      </p:cxnSp>
      <p:sp>
        <p:nvSpPr>
          <p:cNvPr id="200" name="gal 200"/>
          <p:cNvSpPr/>
          <p:nvPr/>
        </p:nvSpPr>
        <p:spPr>
          <a:xfrm>
            <a:off x="4974336" y="309981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3</a:t>
            </a:r>
          </a:p>
        </p:txBody>
      </p:sp>
      <p:cxnSp>
        <p:nvCxnSpPr>
          <p:cNvPr id="201" name="g2 flow 201"/>
          <p:cNvCxnSpPr/>
          <p:nvPr/>
        </p:nvCxnSpPr>
        <p:spPr>
          <a:xfrm>
            <a:off x="2651760" y="4114800"/>
            <a:ext cx="548640" cy="0"/>
          </a:xfrm>
          <a:prstGeom prst="line">
            <a:avLst/>
          </a:prstGeom>
          <a:ln w="15875">
            <a:solidFill>
              <a:srgbClr val="EE0000"/>
            </a:solidFill>
            <a:tailEnd type="triangle" w="med" len="med"/>
          </a:ln>
        </p:spPr>
      </p:cxnSp>
      <p:sp>
        <p:nvSpPr>
          <p:cNvPr id="202" name="gal 202"/>
          <p:cNvSpPr/>
          <p:nvPr/>
        </p:nvSpPr>
        <p:spPr>
          <a:xfrm>
            <a:off x="2825496" y="401421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5</a:t>
            </a:r>
          </a:p>
        </p:txBody>
      </p:sp>
      <p:cxnSp>
        <p:nvCxnSpPr>
          <p:cNvPr id="203" name="g2 flow 203"/>
          <p:cNvCxnSpPr/>
          <p:nvPr/>
        </p:nvCxnSpPr>
        <p:spPr>
          <a:xfrm>
            <a:off x="4846320" y="4297680"/>
            <a:ext cx="228600" cy="0"/>
          </a:xfrm>
          <a:prstGeom prst="line">
            <a:avLst/>
          </a:prstGeom>
          <a:ln w="15875">
            <a:solidFill>
              <a:srgbClr val="EE0000"/>
            </a:solidFill>
          </a:ln>
        </p:spPr>
      </p:cxnSp>
      <p:cxnSp>
        <p:nvCxnSpPr>
          <p:cNvPr id="204" name="g2 flow 204"/>
          <p:cNvCxnSpPr/>
          <p:nvPr/>
        </p:nvCxnSpPr>
        <p:spPr>
          <a:xfrm>
            <a:off x="5074920" y="4297680"/>
            <a:ext cx="0" cy="128016"/>
          </a:xfrm>
          <a:prstGeom prst="line">
            <a:avLst/>
          </a:prstGeom>
          <a:ln w="15875">
            <a:solidFill>
              <a:srgbClr val="EE0000"/>
            </a:solidFill>
          </a:ln>
        </p:spPr>
      </p:cxnSp>
      <p:cxnSp>
        <p:nvCxnSpPr>
          <p:cNvPr id="205" name="g2 flow 205"/>
          <p:cNvCxnSpPr/>
          <p:nvPr/>
        </p:nvCxnSpPr>
        <p:spPr>
          <a:xfrm>
            <a:off x="5074920" y="4425696"/>
            <a:ext cx="2057400" cy="0"/>
          </a:xfrm>
          <a:prstGeom prst="line">
            <a:avLst/>
          </a:prstGeom>
          <a:ln w="15875">
            <a:solidFill>
              <a:srgbClr val="EE0000"/>
            </a:solidFill>
            <a:tailEnd type="triangle" w="med" len="med"/>
          </a:ln>
        </p:spPr>
      </p:cxnSp>
      <p:cxnSp>
        <p:nvCxnSpPr>
          <p:cNvPr id="206" name="g2 flow 206"/>
          <p:cNvCxnSpPr/>
          <p:nvPr/>
        </p:nvCxnSpPr>
        <p:spPr>
          <a:xfrm>
            <a:off x="2743200" y="4709160"/>
            <a:ext cx="274320" cy="0"/>
          </a:xfrm>
          <a:prstGeom prst="line">
            <a:avLst/>
          </a:prstGeom>
          <a:ln w="15875">
            <a:solidFill>
              <a:srgbClr val="EE0000"/>
            </a:solidFill>
          </a:ln>
        </p:spPr>
      </p:cxnSp>
      <p:cxnSp>
        <p:nvCxnSpPr>
          <p:cNvPr id="207" name="g2 flow 207"/>
          <p:cNvCxnSpPr/>
          <p:nvPr/>
        </p:nvCxnSpPr>
        <p:spPr>
          <a:xfrm flipV="1">
            <a:off x="3017520" y="4407408"/>
            <a:ext cx="0" cy="301752"/>
          </a:xfrm>
          <a:prstGeom prst="line">
            <a:avLst/>
          </a:prstGeom>
          <a:ln w="15875">
            <a:solidFill>
              <a:srgbClr val="EE0000"/>
            </a:solidFill>
          </a:ln>
        </p:spPr>
      </p:cxnSp>
      <p:cxnSp>
        <p:nvCxnSpPr>
          <p:cNvPr id="208" name="g2 flow 208"/>
          <p:cNvCxnSpPr/>
          <p:nvPr/>
        </p:nvCxnSpPr>
        <p:spPr>
          <a:xfrm>
            <a:off x="3017520" y="4407408"/>
            <a:ext cx="182880" cy="0"/>
          </a:xfrm>
          <a:prstGeom prst="line">
            <a:avLst/>
          </a:prstGeom>
          <a:ln w="15875">
            <a:solidFill>
              <a:srgbClr val="EE0000"/>
            </a:solidFill>
            <a:tailEnd type="triangle" w="med" len="med"/>
          </a:ln>
        </p:spPr>
      </p:cxnSp>
      <p:cxnSp>
        <p:nvCxnSpPr>
          <p:cNvPr id="209" name="g2 flow 209"/>
          <p:cNvCxnSpPr/>
          <p:nvPr/>
        </p:nvCxnSpPr>
        <p:spPr>
          <a:xfrm>
            <a:off x="4023360" y="4526280"/>
            <a:ext cx="0" cy="155448"/>
          </a:xfrm>
          <a:prstGeom prst="line">
            <a:avLst/>
          </a:prstGeom>
          <a:ln w="15875">
            <a:solidFill>
              <a:srgbClr val="EE0000"/>
            </a:solidFill>
            <a:tailEnd type="triangle" w="med" len="med"/>
          </a:ln>
        </p:spPr>
      </p:cxnSp>
      <p:cxnSp>
        <p:nvCxnSpPr>
          <p:cNvPr id="210" name="g2 flow 210"/>
          <p:cNvCxnSpPr/>
          <p:nvPr/>
        </p:nvCxnSpPr>
        <p:spPr>
          <a:xfrm>
            <a:off x="6126480" y="3520440"/>
            <a:ext cx="0" cy="137160"/>
          </a:xfrm>
          <a:prstGeom prst="line">
            <a:avLst/>
          </a:prstGeom>
          <a:ln w="15875">
            <a:solidFill>
              <a:srgbClr val="EE0000"/>
            </a:solidFill>
            <a:tailEnd type="triangle" w="med" len="med"/>
          </a:ln>
        </p:spPr>
      </p:cxnSp>
      <p:cxnSp>
        <p:nvCxnSpPr>
          <p:cNvPr id="211" name="g2 flow 211"/>
          <p:cNvCxnSpPr/>
          <p:nvPr/>
        </p:nvCxnSpPr>
        <p:spPr>
          <a:xfrm flipH="1">
            <a:off x="6995160" y="3108960"/>
            <a:ext cx="137160" cy="0"/>
          </a:xfrm>
          <a:prstGeom prst="line">
            <a:avLst/>
          </a:prstGeom>
          <a:ln w="15875">
            <a:solidFill>
              <a:srgbClr val="EE0000"/>
            </a:solidFill>
            <a:tailEnd type="triangle" w="med" len="med"/>
          </a:ln>
        </p:spPr>
      </p:cxnSp>
      <p:cxnSp>
        <p:nvCxnSpPr>
          <p:cNvPr id="212" name="g2 flow 212"/>
          <p:cNvCxnSpPr/>
          <p:nvPr/>
        </p:nvCxnSpPr>
        <p:spPr>
          <a:xfrm>
            <a:off x="7589520" y="3520440"/>
            <a:ext cx="0" cy="137160"/>
          </a:xfrm>
          <a:prstGeom prst="line">
            <a:avLst/>
          </a:prstGeom>
          <a:ln w="15875">
            <a:solidFill>
              <a:srgbClr val="EE0000"/>
            </a:solidFill>
            <a:tailEnd type="triangle" w="med" len="med"/>
          </a:ln>
        </p:spPr>
      </p:cxnSp>
      <p:cxnSp>
        <p:nvCxnSpPr>
          <p:cNvPr id="213" name="g2 flow 213"/>
          <p:cNvCxnSpPr/>
          <p:nvPr/>
        </p:nvCxnSpPr>
        <p:spPr>
          <a:xfrm flipV="1">
            <a:off x="10972800" y="2560320"/>
            <a:ext cx="0" cy="137160"/>
          </a:xfrm>
          <a:prstGeom prst="line">
            <a:avLst/>
          </a:prstGeom>
          <a:ln w="15875">
            <a:solidFill>
              <a:srgbClr val="EE0000"/>
            </a:solidFill>
          </a:ln>
        </p:spPr>
      </p:cxnSp>
      <p:cxnSp>
        <p:nvCxnSpPr>
          <p:cNvPr id="214" name="g2 flow 214"/>
          <p:cNvCxnSpPr/>
          <p:nvPr/>
        </p:nvCxnSpPr>
        <p:spPr>
          <a:xfrm flipH="1">
            <a:off x="7589520" y="2560320"/>
            <a:ext cx="3383280" cy="0"/>
          </a:xfrm>
          <a:prstGeom prst="line">
            <a:avLst/>
          </a:prstGeom>
          <a:ln w="15875">
            <a:solidFill>
              <a:srgbClr val="EE0000"/>
            </a:solidFill>
          </a:ln>
        </p:spPr>
      </p:cxnSp>
      <p:cxnSp>
        <p:nvCxnSpPr>
          <p:cNvPr id="215" name="g2 flow 215"/>
          <p:cNvCxnSpPr/>
          <p:nvPr/>
        </p:nvCxnSpPr>
        <p:spPr>
          <a:xfrm>
            <a:off x="7589520" y="2560320"/>
            <a:ext cx="0" cy="137160"/>
          </a:xfrm>
          <a:prstGeom prst="line">
            <a:avLst/>
          </a:prstGeom>
          <a:ln w="15875">
            <a:solidFill>
              <a:srgbClr val="EE0000"/>
            </a:solidFill>
            <a:tailEnd type="triangle" w="med" len="med"/>
          </a:ln>
        </p:spPr>
      </p:cxnSp>
      <p:cxnSp>
        <p:nvCxnSpPr>
          <p:cNvPr id="216" name="g2 flow 216"/>
          <p:cNvCxnSpPr/>
          <p:nvPr/>
        </p:nvCxnSpPr>
        <p:spPr>
          <a:xfrm>
            <a:off x="9208008" y="3264408"/>
            <a:ext cx="0" cy="118872"/>
          </a:xfrm>
          <a:prstGeom prst="line">
            <a:avLst/>
          </a:prstGeom>
          <a:ln w="15875">
            <a:solidFill>
              <a:srgbClr val="EE0000"/>
            </a:solidFill>
            <a:tailEnd type="triangle" w="med" len="med"/>
          </a:ln>
        </p:spPr>
      </p:cxnSp>
      <p:cxnSp>
        <p:nvCxnSpPr>
          <p:cNvPr id="217" name="g2 flow 217"/>
          <p:cNvCxnSpPr/>
          <p:nvPr/>
        </p:nvCxnSpPr>
        <p:spPr>
          <a:xfrm>
            <a:off x="9208008" y="3712464"/>
            <a:ext cx="0" cy="128016"/>
          </a:xfrm>
          <a:prstGeom prst="line">
            <a:avLst/>
          </a:prstGeom>
          <a:ln w="15875">
            <a:solidFill>
              <a:srgbClr val="EE0000"/>
            </a:solidFill>
            <a:tailEnd type="triangle" w="med" len="med"/>
          </a:ln>
        </p:spPr>
      </p:cxnSp>
      <p:cxnSp>
        <p:nvCxnSpPr>
          <p:cNvPr id="218" name="g2 flow 218"/>
          <p:cNvCxnSpPr/>
          <p:nvPr/>
        </p:nvCxnSpPr>
        <p:spPr>
          <a:xfrm>
            <a:off x="7589520" y="5029200"/>
            <a:ext cx="0" cy="347472"/>
          </a:xfrm>
          <a:prstGeom prst="line">
            <a:avLst/>
          </a:prstGeom>
          <a:ln w="15875">
            <a:solidFill>
              <a:srgbClr val="EE0000"/>
            </a:solidFill>
          </a:ln>
        </p:spPr>
      </p:cxnSp>
      <p:cxnSp>
        <p:nvCxnSpPr>
          <p:cNvPr id="219" name="g2 flow 219"/>
          <p:cNvCxnSpPr/>
          <p:nvPr/>
        </p:nvCxnSpPr>
        <p:spPr>
          <a:xfrm>
            <a:off x="7589520" y="5376672"/>
            <a:ext cx="749808" cy="0"/>
          </a:xfrm>
          <a:prstGeom prst="line">
            <a:avLst/>
          </a:prstGeom>
          <a:ln w="15875">
            <a:solidFill>
              <a:srgbClr val="EE0000"/>
            </a:solidFill>
          </a:ln>
        </p:spPr>
      </p:cxnSp>
      <p:cxnSp>
        <p:nvCxnSpPr>
          <p:cNvPr id="220" name="g2 flow 220"/>
          <p:cNvCxnSpPr/>
          <p:nvPr/>
        </p:nvCxnSpPr>
        <p:spPr>
          <a:xfrm flipV="1">
            <a:off x="8339328" y="2980944"/>
            <a:ext cx="0" cy="2395728"/>
          </a:xfrm>
          <a:prstGeom prst="line">
            <a:avLst/>
          </a:prstGeom>
          <a:ln w="15875">
            <a:solidFill>
              <a:srgbClr val="EE0000"/>
            </a:solidFill>
          </a:ln>
        </p:spPr>
      </p:cxnSp>
      <p:cxnSp>
        <p:nvCxnSpPr>
          <p:cNvPr id="221" name="g2 flow 221"/>
          <p:cNvCxnSpPr/>
          <p:nvPr/>
        </p:nvCxnSpPr>
        <p:spPr>
          <a:xfrm>
            <a:off x="8339328" y="2980944"/>
            <a:ext cx="164592" cy="0"/>
          </a:xfrm>
          <a:prstGeom prst="line">
            <a:avLst/>
          </a:prstGeom>
          <a:ln w="15875">
            <a:solidFill>
              <a:srgbClr val="EE0000"/>
            </a:solidFill>
            <a:tailEnd type="triangle" w="med" len="med"/>
          </a:ln>
        </p:spPr>
      </p:cxnSp>
      <p:sp>
        <p:nvSpPr>
          <p:cNvPr id="222" name="gal 222"/>
          <p:cNvSpPr/>
          <p:nvPr/>
        </p:nvSpPr>
        <p:spPr>
          <a:xfrm>
            <a:off x="7872984" y="5276088"/>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6</a:t>
            </a:r>
          </a:p>
        </p:txBody>
      </p:sp>
      <p:sp>
        <p:nvSpPr>
          <p:cNvPr id="223" name="gal 223"/>
          <p:cNvSpPr/>
          <p:nvPr/>
        </p:nvSpPr>
        <p:spPr>
          <a:xfrm>
            <a:off x="548640" y="5596128"/>
            <a:ext cx="7589520" cy="694944"/>
          </a:xfrm>
          <a:prstGeom prst="roundRect">
            <a:avLst>
              <a:gd name="adj" fmla="val 10000"/>
            </a:avLst>
          </a:prstGeom>
          <a:solidFill>
            <a:srgbClr val="2A1A16"/>
          </a:solidFill>
          <a:ln w="12700">
            <a:solidFill>
              <a:srgbClr val="D9B48A"/>
            </a:solidFill>
          </a:ln>
        </p:spPr>
        <p:txBody>
          <a:bodyPr wrap="square" lIns="91440" tIns="36576" rIns="73152" bIns="27432" rtlCol="0" anchor="ctr">
            <a:noAutofit/>
          </a:bodyPr>
          <a:lstStyle/>
          <a:p>
            <a:pPr algn="l" marL="0" indent="0">
              <a:lnSpc>
                <a:spcPct val="95000"/>
              </a:lnSpc>
              <a:buNone/>
            </a:pPr>
            <a:r>
              <a:rPr lang="en-US" sz="850" b="1" dirty="0">
                <a:solidFill>
                  <a:srgbClr val="F5B700"/>
                </a:solidFill>
                <a:latin typeface="Arial"/>
                <a:ea typeface="Arial"/>
                <a:cs typeface="Arial"/>
              </a:rPr>
              <a:t>REQUEST PATH  </a:t>
            </a:r>
            <a:r>
              <a:rPr lang="en-US" sz="800" dirty="0">
                <a:solidFill>
                  <a:srgbClr val="F3E6D6"/>
                </a:solidFill>
                <a:latin typeface="Arial"/>
                <a:ea typeface="Arial"/>
                <a:cs typeface="Arial"/>
              </a:rPr>
              <a:t>1 SDK pre-check: @control() → Agent Control (HTTPS, X-API-Key)   2 model call → Kairos gateway (OpenAI-format HTTPS)   3 gateway guardrails pre / during / post; generic API → Luna / Agent Control   4 response + x-kairos-guard header   5 tool call → MCP gateway → OPA / Cedar   6 decision events from every enforcement point → Pub/Sub → BigQuery</a:t>
            </a:r>
          </a:p>
        </p:txBody>
      </p:sp>
      <p:sp>
        <p:nvSpPr>
          <p:cNvPr id="224" name="gal 224"/>
          <p:cNvSpPr/>
          <p:nvPr/>
        </p:nvSpPr>
        <p:spPr>
          <a:xfrm>
            <a:off x="8275320" y="5596128"/>
            <a:ext cx="3364992" cy="694944"/>
          </a:xfrm>
          <a:prstGeom prst="roundRect">
            <a:avLst>
              <a:gd name="adj" fmla="val 10000"/>
            </a:avLst>
          </a:prstGeom>
          <a:solidFill>
            <a:srgbClr val="F5B700"/>
          </a:solidFill>
          <a:ln>
            <a:noFill/>
          </a:ln>
        </p:spPr>
        <p:txBody>
          <a:bodyPr wrap="square" lIns="91440" tIns="36576" rIns="73152" bIns="27432" rtlCol="0" anchor="ctr">
            <a:noAutofit/>
          </a:bodyPr>
          <a:lstStyle/>
          <a:p>
            <a:pPr algn="l" marL="0" indent="0">
              <a:lnSpc>
                <a:spcPct val="92000"/>
              </a:lnSpc>
              <a:buNone/>
            </a:pPr>
            <a:r>
              <a:rPr lang="en-US" sz="900" b="1" dirty="0">
                <a:solidFill>
                  <a:srgbClr val="141010"/>
                </a:solidFill>
                <a:latin typeface="Arial"/>
                <a:ea typeface="Arial"/>
                <a:cs typeface="Arial"/>
              </a:rPr>
              <a:t>Decision header</a:t>
            </a:r>
          </a:p>
          <a:p>
            <a:pPr algn="l" marL="0" indent="0">
              <a:lnSpc>
                <a:spcPct val="92000"/>
              </a:lnSpc>
              <a:buNone/>
            </a:pPr>
            <a:r>
              <a:rPr lang="en-US" sz="800" dirty="0">
                <a:solidFill>
                  <a:srgbClr val="141010"/>
                </a:solidFill>
                <a:latin typeface="Arial"/>
                <a:ea typeface="Arial"/>
                <a:cs typeface="Arial"/>
              </a:rPr>
              <a:t>x-kairos-guard: &lt;policy_version&gt;; &lt;decision_id&gt; + OTel span attribute. Who enforces what: slide 25.</a:t>
            </a:r>
          </a:p>
        </p:txBody>
      </p:sp>
      <p:sp>
        <p:nvSpPr>
          <p:cNvPr id="225" name="gal 225"/>
          <p:cNvSpPr/>
          <p:nvPr/>
        </p:nvSpPr>
        <p:spPr>
          <a:xfrm>
            <a:off x="548640" y="6355080"/>
            <a:ext cx="11091672" cy="292608"/>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Galileo Agent Control is Apache-2.0 [97][98]; Kairos SDK and gateway exist today, everything else is PROPOSED. Microsoft Agent Governance Toolkit as the alternative: slide 26. Replaces the v11–v12 component flow; same facts.</a:t>
            </a: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25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Runtime policy &amp; agent control  ·  decision logic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Runtime control: one owner per control,</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no double enforcement</a:t>
            </a:r>
          </a:p>
        </p:txBody>
      </p:sp>
      <p:cxnSp>
        <p:nvCxnSpPr>
          <p:cNvPr id="157" name="g1 rule 157"/>
          <p:cNvCxnSpPr/>
          <p:nvPr/>
        </p:nvCxnSpPr>
        <p:spPr>
          <a:xfrm>
            <a:off x="548640" y="1874520"/>
            <a:ext cx="731520" cy="0"/>
          </a:xfrm>
          <a:prstGeom prst="line">
            <a:avLst/>
          </a:prstGeom>
          <a:ln w="28575">
            <a:solidFill>
              <a:srgbClr val="EE0000"/>
            </a:solidFill>
          </a:ln>
        </p:spPr>
      </p:cxnSp>
      <p:graphicFrame>
        <p:nvGraphicFramePr>
          <p:cNvPr id="158" name="gal logic"/>
          <p:cNvGraphicFramePr>
            <a:graphicFrameLocks noGrp="1"/>
          </p:cNvGraphicFramePr>
          <p:nvPr/>
        </p:nvGraphicFramePr>
        <p:xfrm>
          <a:off x="548640" y="2057400"/>
          <a:ext cx="11091672" cy="3044951"/>
        </p:xfrm>
        <a:graphic>
          <a:graphicData uri="http://schemas.openxmlformats.org/drawingml/2006/table">
            <a:tbl>
              <a:tblPr firstRow="1"/>
              <a:tblGrid>
                <a:gridCol w="1600200"/>
                <a:gridCol w="2377440"/>
                <a:gridCol w="1371600"/>
                <a:gridCol w="1325880"/>
                <a:gridCol w="1463040"/>
                <a:gridCol w="1280160"/>
                <a:gridCol w="1673352"/>
              </a:tblGrid>
              <a:tr h="292608">
                <a:tc>
                  <a:txBody>
                    <a:bodyPr/>
                    <a:lstStyle/>
                    <a:p>
                      <a:pPr algn="l" marL="0" indent="0">
                        <a:lnSpc>
                          <a:spcPct val="93000"/>
                        </a:lnSpc>
                        <a:buNone/>
                      </a:pPr>
                      <a:r>
                        <a:rPr lang="en-US" sz="850" b="1" dirty="0">
                          <a:solidFill>
                            <a:srgbClr val="F5B700"/>
                          </a:solidFill>
                          <a:latin typeface="Arial"/>
                          <a:ea typeface="Arial"/>
                          <a:cs typeface="Arial"/>
                        </a:rPr>
                        <a:t>Control</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Owner (enforces)</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When</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Latency tier</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Fail mode (proposed)</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SDK, header present</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c>
                  <a:txBody>
                    <a:bodyPr/>
                    <a:lstStyle/>
                    <a:p>
                      <a:pPr algn="l" marL="0" indent="0">
                        <a:lnSpc>
                          <a:spcPct val="93000"/>
                        </a:lnSpc>
                        <a:buNone/>
                      </a:pPr>
                      <a:r>
                        <a:rPr lang="en-US" sz="850" b="1" dirty="0">
                          <a:solidFill>
                            <a:srgbClr val="F5B700"/>
                          </a:solidFill>
                          <a:latin typeface="Arial"/>
                          <a:ea typeface="Arial"/>
                          <a:cs typeface="Arial"/>
                        </a:rPr>
                        <a:t>Raw agents (no SDK)</a:t>
                      </a:r>
                    </a:p>
                  </a:txBody>
                  <a:tcPr marL="64008" marR="45720" marT="27432" marB="27432" anchor="ctr">
                    <a:lnL w="0">
                      <a:noFill/>
                    </a:lnL>
                    <a:lnR w="6350">
                      <a:solidFill>
                        <a:srgbClr val="3A2620"/>
                      </a:solidFill>
                    </a:lnR>
                    <a:lnT w="0">
                      <a:noFill/>
                    </a:lnT>
                    <a:lnB w="9525">
                      <a:solidFill>
                        <a:srgbClr val="D9B48A"/>
                      </a:solidFill>
                    </a:lnB>
                    <a:solidFill>
                      <a:srgbClr val="2A1A16"/>
                    </a:solidFill>
                  </a:tcPr>
                </a:tc>
              </a:tr>
              <a:tr h="393192">
                <a:tc>
                  <a:txBody>
                    <a:bodyPr/>
                    <a:lstStyle/>
                    <a:p>
                      <a:pPr algn="l" marL="0" indent="0">
                        <a:lnSpc>
                          <a:spcPct val="93000"/>
                        </a:lnSpc>
                        <a:buNone/>
                      </a:pPr>
                      <a:r>
                        <a:rPr lang="en-US" sz="850" b="1" dirty="0">
                          <a:solidFill>
                            <a:srgbClr val="FFFFFF"/>
                          </a:solidFill>
                          <a:latin typeface="Arial"/>
                          <a:ea typeface="Arial"/>
                          <a:cs typeface="Arial"/>
                        </a:rPr>
                        <a:t>PII masking</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Kairos gateway: Presidio [127]</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pre_call + post_call [121]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deterministic, &lt; 5 ms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closed (generic API default [122])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skip</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covered</a:t>
                      </a:r>
                    </a:p>
                  </a:txBody>
                  <a:tcPr marL="64008" marR="45720" marT="27432" marB="27432" anchor="ctr">
                    <a:lnL w="0">
                      <a:noFill/>
                    </a:lnL>
                    <a:lnR w="6350">
                      <a:solidFill>
                        <a:srgbClr val="3A2620"/>
                      </a:solidFill>
                    </a:lnR>
                    <a:lnT w="0">
                      <a:noFill/>
                    </a:lnT>
                    <a:lnB w="9525">
                      <a:solidFill>
                        <a:srgbClr val="5A3A2E"/>
                      </a:solidFill>
                    </a:lnB>
                    <a:noFill/>
                  </a:tcPr>
                </a:tc>
              </a:tr>
              <a:tr h="393192">
                <a:tc>
                  <a:txBody>
                    <a:bodyPr/>
                    <a:lstStyle/>
                    <a:p>
                      <a:pPr algn="l" marL="0" indent="0">
                        <a:lnSpc>
                          <a:spcPct val="93000"/>
                        </a:lnSpc>
                        <a:buNone/>
                      </a:pPr>
                      <a:r>
                        <a:rPr lang="en-US" sz="850" b="1" dirty="0">
                          <a:solidFill>
                            <a:srgbClr val="FFFFFF"/>
                          </a:solidFill>
                          <a:latin typeface="Arial"/>
                          <a:ea typeface="Arial"/>
                          <a:cs typeface="Arial"/>
                        </a:rPr>
                        <a:t>Prompt injection, jailbreak</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Kairos gateway: Lakera [123], or Luna via generic API </a:t>
                      </a:r>
                      <a:r>
                        <a:rPr lang="en-US" sz="800" b="1" dirty="0">
                          <a:solidFill>
                            <a:srgbClr val="F5B700"/>
                          </a:solidFill>
                          <a:latin typeface="Arial"/>
                          <a:ea typeface="Arial"/>
                          <a:cs typeface="Arial"/>
                        </a:rPr>
                        <a:t>VERIFY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pre_call or during_call [121]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semi-semantic, &lt; 25 ms (UNVERIFIED)</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closed for T1, open for T3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skip</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covered</a:t>
                      </a:r>
                    </a:p>
                  </a:txBody>
                  <a:tcPr marL="64008" marR="45720" marT="27432" marB="27432" anchor="ctr">
                    <a:lnL w="0">
                      <a:noFill/>
                    </a:lnL>
                    <a:lnR w="6350">
                      <a:solidFill>
                        <a:srgbClr val="3A2620"/>
                      </a:solidFill>
                    </a:lnR>
                    <a:lnT w="0">
                      <a:noFill/>
                    </a:lnT>
                    <a:lnB w="9525">
                      <a:solidFill>
                        <a:srgbClr val="5A3A2E"/>
                      </a:solidFill>
                    </a:lnB>
                    <a:noFill/>
                  </a:tcPr>
                </a:tc>
              </a:tr>
              <a:tr h="393192">
                <a:tc>
                  <a:txBody>
                    <a:bodyPr/>
                    <a:lstStyle/>
                    <a:p>
                      <a:pPr algn="l" marL="0" indent="0">
                        <a:lnSpc>
                          <a:spcPct val="93000"/>
                        </a:lnSpc>
                        <a:buNone/>
                      </a:pPr>
                      <a:r>
                        <a:rPr lang="en-US" sz="850" b="1" dirty="0">
                          <a:solidFill>
                            <a:srgbClr val="FFFFFF"/>
                          </a:solidFill>
                          <a:latin typeface="Arial"/>
                          <a:ea typeface="Arial"/>
                          <a:cs typeface="Arial"/>
                        </a:rPr>
                        <a:t>Output safety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Kairos gateway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post_call [121]</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semi-semantic</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closed for T1, open for T3</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5B700"/>
                          </a:solidFill>
                          <a:latin typeface="Arial"/>
                          <a:ea typeface="Arial"/>
                          <a:cs typeface="Arial"/>
                        </a:rPr>
                        <a:t>skip</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covered</a:t>
                      </a:r>
                    </a:p>
                  </a:txBody>
                  <a:tcPr marL="64008" marR="45720" marT="27432" marB="27432" anchor="ctr">
                    <a:lnL w="0">
                      <a:noFill/>
                    </a:lnL>
                    <a:lnR w="6350">
                      <a:solidFill>
                        <a:srgbClr val="3A2620"/>
                      </a:solidFill>
                    </a:lnR>
                    <a:lnT w="0">
                      <a:noFill/>
                    </a:lnT>
                    <a:lnB w="9525">
                      <a:solidFill>
                        <a:srgbClr val="5A3A2E"/>
                      </a:solidFill>
                    </a:lnB>
                    <a:noFill/>
                  </a:tcPr>
                </a:tc>
              </a:tr>
              <a:tr h="393192">
                <a:tc>
                  <a:txBody>
                    <a:bodyPr/>
                    <a:lstStyle/>
                    <a:p>
                      <a:pPr algn="l" marL="0" indent="0">
                        <a:lnSpc>
                          <a:spcPct val="93000"/>
                        </a:lnSpc>
                        <a:buNone/>
                      </a:pPr>
                      <a:r>
                        <a:rPr lang="en-US" sz="850" b="1" dirty="0">
                          <a:solidFill>
                            <a:srgbClr val="FFFFFF"/>
                          </a:solidFill>
                          <a:latin typeface="Arial"/>
                          <a:ea typeface="Arial"/>
                          <a:cs typeface="Arial"/>
                        </a:rPr>
                        <a:t>Tool allow / deny, arguments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Agent Control via SDK tool guardrails [100][118]; OPA / Cedar decides [105][106]</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before each tool call</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deterministic</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closed</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runs (not a content check)</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MCP gateway only</a:t>
                      </a:r>
                    </a:p>
                  </a:txBody>
                  <a:tcPr marL="64008" marR="45720" marT="27432" marB="27432" anchor="ctr">
                    <a:lnL w="0">
                      <a:noFill/>
                    </a:lnL>
                    <a:lnR w="6350">
                      <a:solidFill>
                        <a:srgbClr val="3A2620"/>
                      </a:solidFill>
                    </a:lnR>
                    <a:lnT w="0">
                      <a:noFill/>
                    </a:lnT>
                    <a:lnB w="9525">
                      <a:solidFill>
                        <a:srgbClr val="5A3A2E"/>
                      </a:solidFill>
                    </a:lnB>
                    <a:noFill/>
                  </a:tcPr>
                </a:tc>
              </a:tr>
              <a:tr h="393192">
                <a:tc>
                  <a:txBody>
                    <a:bodyPr/>
                    <a:lstStyle/>
                    <a:p>
                      <a:pPr algn="l" marL="0" indent="0">
                        <a:lnSpc>
                          <a:spcPct val="93000"/>
                        </a:lnSpc>
                        <a:buNone/>
                      </a:pPr>
                      <a:r>
                        <a:rPr lang="en-US" sz="850" b="1" dirty="0">
                          <a:solidFill>
                            <a:srgbClr val="FFFFFF"/>
                          </a:solidFill>
                          <a:latin typeface="Arial"/>
                          <a:ea typeface="Arial"/>
                          <a:cs typeface="Arial"/>
                        </a:rPr>
                        <a:t>Agent rules, step limits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Agent Control server [100]</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pre / post each step</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deterministic or semantic</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configurable open / closed [100]</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runs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not available</a:t>
                      </a:r>
                    </a:p>
                  </a:txBody>
                  <a:tcPr marL="64008" marR="45720" marT="27432" marB="27432" anchor="ctr">
                    <a:lnL w="0">
                      <a:noFill/>
                    </a:lnL>
                    <a:lnR w="6350">
                      <a:solidFill>
                        <a:srgbClr val="3A2620"/>
                      </a:solidFill>
                    </a:lnR>
                    <a:lnT w="0">
                      <a:noFill/>
                    </a:lnT>
                    <a:lnB w="9525">
                      <a:solidFill>
                        <a:srgbClr val="5A3A2E"/>
                      </a:solidFill>
                    </a:lnB>
                    <a:noFill/>
                  </a:tcPr>
                </a:tc>
              </a:tr>
              <a:tr h="393192">
                <a:tc>
                  <a:txBody>
                    <a:bodyPr/>
                    <a:lstStyle/>
                    <a:p>
                      <a:pPr algn="l" marL="0" indent="0">
                        <a:lnSpc>
                          <a:spcPct val="93000"/>
                        </a:lnSpc>
                        <a:buNone/>
                      </a:pPr>
                      <a:r>
                        <a:rPr lang="en-US" sz="850" b="1" dirty="0">
                          <a:solidFill>
                            <a:srgbClr val="FFFFFF"/>
                          </a:solidFill>
                          <a:latin typeface="Arial"/>
                          <a:ea typeface="Arial"/>
                          <a:cs typeface="Arial"/>
                        </a:rPr>
                        <a:t>Identity, authorisation</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OPA / Cedar; SPIFFE or IdP principal</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every call</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deterministic, &lt; 5 ms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deny</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runs</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gateway key + MCP gateway</a:t>
                      </a:r>
                    </a:p>
                  </a:txBody>
                  <a:tcPr marL="64008" marR="45720" marT="27432" marB="27432" anchor="ctr">
                    <a:lnL w="0">
                      <a:noFill/>
                    </a:lnL>
                    <a:lnR w="6350">
                      <a:solidFill>
                        <a:srgbClr val="3A2620"/>
                      </a:solidFill>
                    </a:lnR>
                    <a:lnT w="0">
                      <a:noFill/>
                    </a:lnT>
                    <a:lnB w="9525">
                      <a:solidFill>
                        <a:srgbClr val="5A3A2E"/>
                      </a:solidFill>
                    </a:lnB>
                    <a:noFill/>
                  </a:tcPr>
                </a:tc>
              </a:tr>
              <a:tr h="393192">
                <a:tc>
                  <a:txBody>
                    <a:bodyPr/>
                    <a:lstStyle/>
                    <a:p>
                      <a:pPr algn="l" marL="0" indent="0">
                        <a:lnSpc>
                          <a:spcPct val="93000"/>
                        </a:lnSpc>
                        <a:buNone/>
                      </a:pPr>
                      <a:r>
                        <a:rPr lang="en-US" sz="850" b="1" dirty="0">
                          <a:solidFill>
                            <a:srgbClr val="FFFFFF"/>
                          </a:solidFill>
                          <a:latin typeface="Arial"/>
                          <a:ea typeface="Arial"/>
                          <a:cs typeface="Arial"/>
                        </a:rPr>
                        <a:t>Deep semantic (LLM judge)</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eval lanes on the trace stream (slide 12)</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after the call</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async</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alert, never block</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b="1" dirty="0">
                          <a:solidFill>
                            <a:srgbClr val="F3E6D6"/>
                          </a:solidFill>
                          <a:latin typeface="Arial"/>
                          <a:ea typeface="Arial"/>
                          <a:cs typeface="Arial"/>
                        </a:rPr>
                        <a:t>n/a</a:t>
                      </a:r>
                    </a:p>
                  </a:txBody>
                  <a:tcPr marL="64008" marR="45720" marT="27432" marB="27432" anchor="ctr">
                    <a:lnL w="0">
                      <a:noFill/>
                    </a:lnL>
                    <a:lnR w="6350">
                      <a:solidFill>
                        <a:srgbClr val="3A2620"/>
                      </a:solidFill>
                    </a:lnR>
                    <a:lnT w="0">
                      <a:noFill/>
                    </a:lnT>
                    <a:lnB w="9525">
                      <a:solidFill>
                        <a:srgbClr val="5A3A2E"/>
                      </a:solidFill>
                    </a:lnB>
                    <a:noFill/>
                  </a:tcPr>
                </a:tc>
                <a:tc>
                  <a:txBody>
                    <a:bodyPr/>
                    <a:lstStyle/>
                    <a:p>
                      <a:pPr algn="l" marL="0" indent="0">
                        <a:lnSpc>
                          <a:spcPct val="93000"/>
                        </a:lnSpc>
                        <a:buNone/>
                      </a:pPr>
                      <a:r>
                        <a:rPr lang="en-US" sz="800" dirty="0">
                          <a:solidFill>
                            <a:srgbClr val="F3E6D6"/>
                          </a:solidFill>
                          <a:latin typeface="Arial"/>
                          <a:ea typeface="Arial"/>
                          <a:cs typeface="Arial"/>
                        </a:rPr>
                        <a:t>via traces</a:t>
                      </a:r>
                    </a:p>
                  </a:txBody>
                  <a:tcPr marL="64008" marR="45720" marT="27432" marB="27432" anchor="ctr">
                    <a:lnL w="0">
                      <a:noFill/>
                    </a:lnL>
                    <a:lnR w="6350">
                      <a:solidFill>
                        <a:srgbClr val="3A2620"/>
                      </a:solidFill>
                    </a:lnR>
                    <a:lnT w="0">
                      <a:noFill/>
                    </a:lnT>
                    <a:lnB w="9525">
                      <a:solidFill>
                        <a:srgbClr val="5A3A2E"/>
                      </a:solidFill>
                    </a:lnB>
                    <a:noFill/>
                  </a:tcPr>
                </a:tc>
              </a:tr>
            </a:tbl>
          </a:graphicData>
        </a:graphic>
      </p:graphicFrame>
      <p:sp>
        <p:nvSpPr>
          <p:cNvPr id="159" name="gal 159"/>
          <p:cNvSpPr/>
          <p:nvPr/>
        </p:nvSpPr>
        <p:spPr>
          <a:xfrm>
            <a:off x="548640" y="5303520"/>
            <a:ext cx="3624072" cy="822960"/>
          </a:xfrm>
          <a:prstGeom prst="roundRect">
            <a:avLst>
              <a:gd name="adj" fmla="val 10000"/>
            </a:avLst>
          </a:prstGeom>
          <a:solidFill>
            <a:srgbClr val="F5B700"/>
          </a:solidFill>
          <a:ln>
            <a:noFill/>
          </a:ln>
        </p:spPr>
        <p:txBody>
          <a:bodyPr wrap="square" lIns="91440" tIns="64008" rIns="73152" bIns="36576" rtlCol="0" anchor="t">
            <a:noAutofit/>
          </a:bodyPr>
          <a:lstStyle/>
          <a:p>
            <a:pPr algn="l" marL="0" indent="0">
              <a:lnSpc>
                <a:spcPct val="93000"/>
              </a:lnSpc>
              <a:buNone/>
            </a:pPr>
            <a:r>
              <a:rPr lang="en-US" sz="950" b="1" dirty="0">
                <a:solidFill>
                  <a:srgbClr val="141010"/>
                </a:solidFill>
                <a:latin typeface="Arial"/>
                <a:ea typeface="Arial"/>
                <a:cs typeface="Arial"/>
              </a:rPr>
              <a:t>SDK skip rule</a:t>
            </a:r>
          </a:p>
          <a:p>
            <a:pPr algn="l" marL="0" indent="0">
              <a:lnSpc>
                <a:spcPct val="93000"/>
              </a:lnSpc>
              <a:buNone/>
            </a:pPr>
            <a:r>
              <a:rPr lang="en-US" sz="800" dirty="0">
                <a:solidFill>
                  <a:srgbClr val="141010"/>
                </a:solidFill>
                <a:latin typeface="Arial"/>
                <a:ea typeface="Arial"/>
                <a:cs typeface="Arial"/>
              </a:rPr>
              <a:t>If x-kairos-guard carries the local policy_version, skip the content checks it lists; otherwise run them as fallback. Tool and agent controls always run in the SDK.</a:t>
            </a:r>
          </a:p>
        </p:txBody>
      </p:sp>
      <p:sp>
        <p:nvSpPr>
          <p:cNvPr id="160" name="gal 160"/>
          <p:cNvSpPr/>
          <p:nvPr/>
        </p:nvSpPr>
        <p:spPr>
          <a:xfrm>
            <a:off x="4282440" y="5303520"/>
            <a:ext cx="3624072" cy="822960"/>
          </a:xfrm>
          <a:prstGeom prst="roundRect">
            <a:avLst>
              <a:gd name="adj" fmla="val 10000"/>
            </a:avLst>
          </a:prstGeom>
          <a:solidFill>
            <a:srgbClr val="1E1412"/>
          </a:solidFill>
          <a:ln w="12700">
            <a:solidFill>
              <a:srgbClr val="D9B48A"/>
            </a:solidFill>
            <a:prstDash val="dash"/>
          </a:ln>
        </p:spPr>
        <p:txBody>
          <a:bodyPr wrap="square" lIns="91440" tIns="64008" rIns="73152" bIns="36576" rtlCol="0" anchor="t">
            <a:noAutofit/>
          </a:bodyPr>
          <a:lstStyle/>
          <a:p>
            <a:pPr algn="l" marL="0" indent="0">
              <a:lnSpc>
                <a:spcPct val="93000"/>
              </a:lnSpc>
              <a:buNone/>
            </a:pPr>
            <a:r>
              <a:rPr lang="en-US" sz="950" b="1" dirty="0">
                <a:solidFill>
                  <a:srgbClr val="FFFFFF"/>
                </a:solidFill>
                <a:latin typeface="Arial"/>
                <a:ea typeface="Arial"/>
                <a:cs typeface="Arial"/>
              </a:rPr>
              <a:t>Policy registry</a:t>
            </a:r>
          </a:p>
          <a:p>
            <a:pPr algn="l" marL="0" indent="0">
              <a:lnSpc>
                <a:spcPct val="93000"/>
              </a:lnSpc>
              <a:buNone/>
            </a:pPr>
            <a:r>
              <a:rPr lang="en-US" sz="800" dirty="0">
                <a:solidFill>
                  <a:srgbClr val="F3E6D6"/>
                </a:solidFill>
                <a:latin typeface="Arial"/>
                <a:ea typeface="Arial"/>
                <a:cs typeface="Arial"/>
              </a:rPr>
              <a:t>Assigns exactly one owner layer per control; CI rejects a bundle that gives a control two owners. Rollout: backtest 7 days → WARN → DENY; kill switch per layer.</a:t>
            </a:r>
          </a:p>
        </p:txBody>
      </p:sp>
      <p:sp>
        <p:nvSpPr>
          <p:cNvPr id="161" name="gal 161"/>
          <p:cNvSpPr/>
          <p:nvPr/>
        </p:nvSpPr>
        <p:spPr>
          <a:xfrm>
            <a:off x="8016240" y="5303520"/>
            <a:ext cx="3624072" cy="822960"/>
          </a:xfrm>
          <a:prstGeom prst="roundRect">
            <a:avLst>
              <a:gd name="adj" fmla="val 10000"/>
            </a:avLst>
          </a:prstGeom>
          <a:solidFill>
            <a:srgbClr val="1E1412"/>
          </a:solidFill>
          <a:ln w="12700">
            <a:solidFill>
              <a:srgbClr val="D9B48A"/>
            </a:solidFill>
            <a:prstDash val="dash"/>
          </a:ln>
        </p:spPr>
        <p:txBody>
          <a:bodyPr wrap="square" lIns="91440" tIns="64008" rIns="73152" bIns="36576" rtlCol="0" anchor="t">
            <a:noAutofit/>
          </a:bodyPr>
          <a:lstStyle/>
          <a:p>
            <a:pPr algn="l" marL="0" indent="0">
              <a:lnSpc>
                <a:spcPct val="93000"/>
              </a:lnSpc>
              <a:buNone/>
            </a:pPr>
            <a:r>
              <a:rPr lang="en-US" sz="950" b="1" dirty="0">
                <a:solidFill>
                  <a:srgbClr val="F5B700"/>
                </a:solidFill>
                <a:latin typeface="Arial"/>
                <a:ea typeface="Arial"/>
                <a:cs typeface="Arial"/>
              </a:rPr>
              <a:t>Open questions</a:t>
            </a:r>
          </a:p>
          <a:p>
            <a:pPr algn="l" marL="0" indent="0">
              <a:lnSpc>
                <a:spcPct val="93000"/>
              </a:lnSpc>
              <a:buNone/>
            </a:pPr>
            <a:r>
              <a:rPr lang="en-US" sz="800" dirty="0">
                <a:solidFill>
                  <a:srgbClr val="F3E6D6"/>
                </a:solidFill>
                <a:latin typeface="Arial"/>
                <a:ea typeface="Arial"/>
                <a:cs typeface="Arial"/>
              </a:rPr>
              <a:t>Is the gateway LiteLLM-based (or Apigee / other)? What does “Geo” mean? LiteLLM Enterprise for per-key guardrails [124] </a:t>
            </a:r>
            <a:r>
              <a:rPr lang="en-US" sz="800" b="1" dirty="0">
                <a:solidFill>
                  <a:srgbClr val="F5B700"/>
                </a:solidFill>
                <a:latin typeface="Arial"/>
                <a:ea typeface="Arial"/>
                <a:cs typeface="Arial"/>
              </a:rPr>
              <a:t>VERIFY</a:t>
            </a:r>
            <a:r>
              <a:rPr lang="en-US" sz="800" dirty="0">
                <a:solidFill>
                  <a:srgbClr val="F3E6D6"/>
                </a:solidFill>
                <a:latin typeface="Arial"/>
                <a:ea typeface="Arial"/>
                <a:cs typeface="Arial"/>
              </a:rPr>
              <a:t>. Agents on OpenAI SDK, Strands or mixed?</a:t>
            </a:r>
          </a:p>
        </p:txBody>
      </p:sp>
      <p:sp>
        <p:nvSpPr>
          <p:cNvPr id="162" name="gal 162"/>
          <p:cNvSpPr/>
          <p:nvPr/>
        </p:nvSpPr>
        <p:spPr>
          <a:xfrm>
            <a:off x="548640" y="6355080"/>
            <a:ext cx="11091672" cy="292608"/>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OpenAI Agents SDK: input guardrails on the first agent, output on the last, tool guardrails per function tool (allow / reject_content / raise_exception) [118][119]; manager flows are not fully covered [120]. Fail modes and latency tiers are our proposal. System view: slide 21.</a:t>
            </a: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43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12, 18–19, 21 and 25 (7 of 8):</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numbers match the [n] markers; every line is a link</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103120"/>
            <a:ext cx="5468112" cy="2514600"/>
          </a:xfrm>
          <a:prstGeom prst="roundRect">
            <a:avLst>
              <a:gd name="adj" fmla="val 4000"/>
            </a:avLst>
          </a:prstGeom>
          <a:solidFill>
            <a:srgbClr val="2A1A16"/>
          </a:solidFill>
          <a:ln w="9525">
            <a:solidFill>
              <a:srgbClr val="D9B48A"/>
            </a:solidFill>
          </a:ln>
        </p:spPr>
        <p:txBody>
          <a:bodyPr wrap="square" lIns="146304" tIns="109728" rIns="128016" bIns="54864" rtlCol="0" anchor="t">
            <a:noAutofit/>
          </a:bodyPr>
          <a:lstStyle/>
          <a:p>
            <a:pPr algn="l" marL="0" indent="0">
              <a:lnSpc>
                <a:spcPct val="118000"/>
              </a:lnSpc>
              <a:buNone/>
            </a:pPr>
            <a:r>
              <a:rPr lang="en-US" sz="1050" b="1" dirty="0">
                <a:solidFill>
                  <a:srgbClr val="F5B700"/>
                </a:solidFill>
                <a:latin typeface="Arial"/>
                <a:ea typeface="Arial"/>
                <a:cs typeface="Arial"/>
              </a:rPr>
              <a:t>New in v13  ·  Langfuse stack, slide 18</a:t>
            </a:r>
          </a:p>
          <a:p>
            <a:pPr algn="l" marL="0" indent="0">
              <a:lnSpc>
                <a:spcPct val="118000"/>
              </a:lnSpc>
              <a:buNone/>
            </a:pPr>
            <a:r>
              <a:rPr lang="en-US" sz="950" b="1" dirty="0">
                <a:solidFill>
                  <a:srgbClr val="F5B700"/>
                </a:solidFill>
                <a:latin typeface="Arial"/>
                <a:ea typeface="Arial"/>
                <a:cs typeface="Arial"/>
              </a:rPr>
              <a:t>[132]  </a:t>
            </a:r>
            <a:r>
              <a:rPr lang="en-US" sz="950" b="1" dirty="0" u="sng">
                <a:solidFill>
                  <a:srgbClr val="FFFFFF"/>
                </a:solidFill>
                <a:latin typeface="Arial"/>
                <a:ea typeface="Arial"/>
                <a:cs typeface="Arial"/>
                <a:hlinkClick r:id="rIdL1"/>
              </a:rPr>
              <a:t>Langfuse: scaling a self-hosted deployment</a:t>
            </a:r>
          </a:p>
          <a:p>
            <a:pPr algn="l" marL="0" indent="0">
              <a:lnSpc>
                <a:spcPct val="118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2"/>
              </a:rPr>
              <a:t>langfuse.com/self-hosting/configuration/scaling</a:t>
            </a:r>
          </a:p>
          <a:p>
            <a:pPr algn="l" marL="0" indent="0">
              <a:lnSpc>
                <a:spcPct val="118000"/>
              </a:lnSpc>
              <a:buNone/>
            </a:pPr>
            <a:r>
              <a:rPr lang="en-US" sz="950" b="1" dirty="0">
                <a:solidFill>
                  <a:srgbClr val="F5B700"/>
                </a:solidFill>
                <a:latin typeface="Arial"/>
                <a:ea typeface="Arial"/>
                <a:cs typeface="Arial"/>
              </a:rPr>
              <a:t>[133]  </a:t>
            </a:r>
            <a:r>
              <a:rPr lang="en-US" sz="950" b="1" dirty="0" u="sng">
                <a:solidFill>
                  <a:srgbClr val="FFFFFF"/>
                </a:solidFill>
                <a:latin typeface="Arial"/>
                <a:ea typeface="Arial"/>
                <a:cs typeface="Arial"/>
                <a:hlinkClick r:id="rIdL3"/>
              </a:rPr>
              <a:t>Langfuse: cache (Redis / Valkey)</a:t>
            </a:r>
          </a:p>
          <a:p>
            <a:pPr algn="l" marL="0" indent="0">
              <a:lnSpc>
                <a:spcPct val="118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4"/>
              </a:rPr>
              <a:t>langfuse.com/self-hosting/deployment/infrastructure/cache</a:t>
            </a:r>
          </a:p>
          <a:p>
            <a:pPr algn="l" marL="0" indent="0">
              <a:lnSpc>
                <a:spcPct val="118000"/>
              </a:lnSpc>
              <a:buNone/>
            </a:pPr>
            <a:r>
              <a:rPr lang="en-US" sz="950" b="1" dirty="0">
                <a:solidFill>
                  <a:srgbClr val="F5B700"/>
                </a:solidFill>
                <a:latin typeface="Arial"/>
                <a:ea typeface="Arial"/>
                <a:cs typeface="Arial"/>
              </a:rPr>
              <a:t>[134]  </a:t>
            </a:r>
            <a:r>
              <a:rPr lang="en-US" sz="950" b="1" dirty="0" u="sng">
                <a:solidFill>
                  <a:srgbClr val="FFFFFF"/>
                </a:solidFill>
                <a:latin typeface="Arial"/>
                <a:ea typeface="Arial"/>
                <a:cs typeface="Arial"/>
                <a:hlinkClick r:id="rIdL5"/>
              </a:rPr>
              <a:t>Langfuse: blob storage (S3, native GCS)</a:t>
            </a:r>
          </a:p>
          <a:p>
            <a:pPr algn="l" marL="0" indent="0">
              <a:lnSpc>
                <a:spcPct val="118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6"/>
              </a:rPr>
              <a:t>langfuse.com/self-hosting/deployment/infrastructure/blobstorage</a:t>
            </a:r>
          </a:p>
          <a:p>
            <a:pPr algn="l" marL="0" indent="0">
              <a:lnSpc>
                <a:spcPct val="118000"/>
              </a:lnSpc>
              <a:buNone/>
            </a:pPr>
            <a:r>
              <a:rPr lang="en-US" sz="950" b="1" dirty="0">
                <a:solidFill>
                  <a:srgbClr val="F5B700"/>
                </a:solidFill>
                <a:latin typeface="Arial"/>
                <a:ea typeface="Arial"/>
                <a:cs typeface="Arial"/>
              </a:rPr>
              <a:t>[135]  </a:t>
            </a:r>
            <a:r>
              <a:rPr lang="en-US" sz="950" b="1" dirty="0" u="sng">
                <a:solidFill>
                  <a:srgbClr val="FFFFFF"/>
                </a:solidFill>
                <a:latin typeface="Arial"/>
                <a:ea typeface="Arial"/>
                <a:cs typeface="Arial"/>
                <a:hlinkClick r:id="rIdL7"/>
              </a:rPr>
              <a:t>Langfuse: PostgreSQL</a:t>
            </a:r>
          </a:p>
          <a:p>
            <a:pPr algn="l" marL="0" indent="0">
              <a:lnSpc>
                <a:spcPct val="118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8"/>
              </a:rPr>
              <a:t>langfuse.com/self-hosting/deployment/infrastructure/postgres</a:t>
            </a:r>
          </a:p>
          <a:p>
            <a:pPr algn="l" marL="0" indent="0">
              <a:lnSpc>
                <a:spcPct val="118000"/>
              </a:lnSpc>
              <a:buNone/>
            </a:pPr>
            <a:r>
              <a:rPr lang="en-US" sz="950" b="1" dirty="0">
                <a:solidFill>
                  <a:srgbClr val="F5B700"/>
                </a:solidFill>
                <a:latin typeface="Arial"/>
                <a:ea typeface="Arial"/>
                <a:cs typeface="Arial"/>
              </a:rPr>
              <a:t>[136]  </a:t>
            </a:r>
            <a:r>
              <a:rPr lang="en-US" sz="950" b="1" dirty="0" u="sng">
                <a:solidFill>
                  <a:srgbClr val="FFFFFF"/>
                </a:solidFill>
                <a:latin typeface="Arial"/>
                <a:ea typeface="Arial"/>
                <a:cs typeface="Arial"/>
                <a:hlinkClick r:id="rIdL9"/>
              </a:rPr>
              <a:t>Langfuse Terraform module for GCP (GitHub)</a:t>
            </a:r>
          </a:p>
          <a:p>
            <a:pPr algn="l" marL="0" indent="0">
              <a:lnSpc>
                <a:spcPct val="118000"/>
              </a:lnSpc>
              <a:buNone/>
            </a:pPr>
            <a:r>
              <a:rPr lang="en-US" sz="900" dirty="0">
                <a:solidFill>
                  <a:srgbClr val="FFFFFF"/>
                </a:solidFill>
                <a:latin typeface="Arial"/>
                <a:ea typeface="Arial"/>
                <a:cs typeface="Arial"/>
              </a:rPr>
              <a:t>        </a:t>
            </a:r>
            <a:r>
              <a:rPr lang="en-US" sz="900" dirty="0" u="sng">
                <a:solidFill>
                  <a:srgbClr val="F5B700"/>
                </a:solidFill>
                <a:latin typeface="Arial"/>
                <a:ea typeface="Arial"/>
                <a:cs typeface="Arial"/>
                <a:hlinkClick r:id="rIdL10"/>
              </a:rPr>
              <a:t>github.com/langfuse/langfuse-terraform-gcp</a:t>
            </a:r>
          </a:p>
        </p:txBody>
      </p:sp>
      <p:sp>
        <p:nvSpPr>
          <p:cNvPr id="159" name="ref 159"/>
          <p:cNvSpPr/>
          <p:nvPr/>
        </p:nvSpPr>
        <p:spPr>
          <a:xfrm>
            <a:off x="6172200" y="2103120"/>
            <a:ext cx="5468112" cy="2514600"/>
          </a:xfrm>
          <a:prstGeom prst="roundRect">
            <a:avLst>
              <a:gd name="adj" fmla="val 4000"/>
            </a:avLst>
          </a:prstGeom>
          <a:solidFill>
            <a:srgbClr val="2A1A16"/>
          </a:solidFill>
          <a:ln w="9525">
            <a:solidFill>
              <a:srgbClr val="D9B48A"/>
            </a:solidFill>
          </a:ln>
        </p:spPr>
        <p:txBody>
          <a:bodyPr wrap="square" lIns="146304" tIns="109728" rIns="128016" bIns="54864" rtlCol="0" anchor="t">
            <a:noAutofit/>
          </a:bodyPr>
          <a:lstStyle/>
          <a:p>
            <a:pPr algn="l" marL="0" indent="0">
              <a:lnSpc>
                <a:spcPct val="118000"/>
              </a:lnSpc>
              <a:buNone/>
            </a:pPr>
            <a:r>
              <a:rPr lang="en-US" sz="1050" b="1" dirty="0">
                <a:solidFill>
                  <a:srgbClr val="F5B700"/>
                </a:solidFill>
                <a:latin typeface="Arial"/>
                <a:ea typeface="Arial"/>
                <a:cs typeface="Arial"/>
              </a:rPr>
              <a:t>Reused on the redrawn slides (no new link)</a:t>
            </a:r>
          </a:p>
          <a:p>
            <a:pPr algn="l" marL="0" indent="0">
              <a:lnSpc>
                <a:spcPct val="118000"/>
              </a:lnSpc>
              <a:buNone/>
            </a:pPr>
            <a:r>
              <a:rPr lang="en-US" sz="950" b="1" dirty="0">
                <a:solidFill>
                  <a:srgbClr val="FFFFFF"/>
                </a:solidFill>
                <a:latin typeface="Arial"/>
                <a:ea typeface="Arial"/>
                <a:cs typeface="Arial"/>
              </a:rPr>
              <a:t>Slide 12 architecture</a:t>
            </a:r>
          </a:p>
          <a:p>
            <a:pPr algn="l" marL="0" indent="0">
              <a:lnSpc>
                <a:spcPct val="118000"/>
              </a:lnSpc>
              <a:buNone/>
            </a:pPr>
            <a:r>
              <a:rPr lang="en-US" sz="900" dirty="0">
                <a:solidFill>
                  <a:srgbClr val="F3E6D6"/>
                </a:solidFill>
                <a:latin typeface="Arial"/>
                <a:ea typeface="Arial"/>
                <a:cs typeface="Arial"/>
              </a:rPr>
              <a:t>[49] [65] [66] [71] [75] [77] [78] [79] [83] [92] [93] [95] [96]</a:t>
            </a:r>
          </a:p>
          <a:p>
            <a:pPr algn="l" marL="0" indent="0">
              <a:lnSpc>
                <a:spcPct val="118000"/>
              </a:lnSpc>
              <a:buNone/>
            </a:pPr>
            <a:r>
              <a:rPr lang="en-US" sz="950" b="1" dirty="0">
                <a:solidFill>
                  <a:srgbClr val="FFFFFF"/>
                </a:solidFill>
                <a:latin typeface="Arial"/>
                <a:ea typeface="Arial"/>
                <a:cs typeface="Arial"/>
              </a:rPr>
              <a:t>Slide 18 Langfuse stack</a:t>
            </a:r>
          </a:p>
          <a:p>
            <a:pPr algn="l" marL="0" indent="0">
              <a:lnSpc>
                <a:spcPct val="118000"/>
              </a:lnSpc>
              <a:buNone/>
            </a:pPr>
            <a:r>
              <a:rPr lang="en-US" sz="900" dirty="0">
                <a:solidFill>
                  <a:srgbClr val="F3E6D6"/>
                </a:solidFill>
                <a:latin typeface="Arial"/>
                <a:ea typeface="Arial"/>
                <a:cs typeface="Arial"/>
              </a:rPr>
              <a:t>[51] self-hosting architecture · [52] licence · [53] SSO · [54] ClickHouse · [83] OTLP endpoint · [84] scores API</a:t>
            </a:r>
          </a:p>
          <a:p>
            <a:pPr algn="l" marL="0" indent="0">
              <a:lnSpc>
                <a:spcPct val="118000"/>
              </a:lnSpc>
              <a:buNone/>
            </a:pPr>
            <a:r>
              <a:rPr lang="en-US" sz="950" b="1" dirty="0">
                <a:solidFill>
                  <a:srgbClr val="FFFFFF"/>
                </a:solidFill>
                <a:latin typeface="Arial"/>
                <a:ea typeface="Arial"/>
                <a:cs typeface="Arial"/>
              </a:rPr>
              <a:t>Slide 19 contracts</a:t>
            </a:r>
          </a:p>
          <a:p>
            <a:pPr algn="l" marL="0" indent="0">
              <a:lnSpc>
                <a:spcPct val="118000"/>
              </a:lnSpc>
              <a:buNone/>
            </a:pPr>
            <a:r>
              <a:rPr lang="en-US" sz="900" dirty="0">
                <a:solidFill>
                  <a:srgbClr val="F3E6D6"/>
                </a:solidFill>
                <a:latin typeface="Arial"/>
                <a:ea typeface="Arial"/>
                <a:cs typeface="Arial"/>
              </a:rPr>
              <a:t>[49] [66] [67] [74] [75] [83] [84] [85] [94] [95] [96]</a:t>
            </a:r>
          </a:p>
          <a:p>
            <a:pPr algn="l" marL="0" indent="0">
              <a:lnSpc>
                <a:spcPct val="118000"/>
              </a:lnSpc>
              <a:buNone/>
            </a:pPr>
            <a:r>
              <a:rPr lang="en-US" sz="950" b="1" dirty="0">
                <a:solidFill>
                  <a:srgbClr val="FFFFFF"/>
                </a:solidFill>
                <a:latin typeface="Arial"/>
                <a:ea typeface="Arial"/>
                <a:cs typeface="Arial"/>
              </a:rPr>
              <a:t>Slide 21 agent control</a:t>
            </a:r>
          </a:p>
          <a:p>
            <a:pPr algn="l" marL="0" indent="0">
              <a:lnSpc>
                <a:spcPct val="118000"/>
              </a:lnSpc>
              <a:buNone/>
            </a:pPr>
            <a:r>
              <a:rPr lang="en-US" sz="900" dirty="0">
                <a:solidFill>
                  <a:srgbClr val="F3E6D6"/>
                </a:solidFill>
                <a:latin typeface="Arial"/>
                <a:ea typeface="Arial"/>
                <a:cs typeface="Arial"/>
              </a:rPr>
              <a:t>[97] [98] [100] [101] [103] [105] [106] [107] [121] [122]</a:t>
            </a:r>
          </a:p>
          <a:p>
            <a:pPr algn="l" marL="0" indent="0">
              <a:lnSpc>
                <a:spcPct val="118000"/>
              </a:lnSpc>
              <a:buNone/>
            </a:pPr>
            <a:r>
              <a:rPr lang="en-US" sz="950" b="1" dirty="0">
                <a:solidFill>
                  <a:srgbClr val="FFFFFF"/>
                </a:solidFill>
                <a:latin typeface="Arial"/>
                <a:ea typeface="Arial"/>
                <a:cs typeface="Arial"/>
              </a:rPr>
              <a:t>Slide 24 decision logic</a:t>
            </a:r>
          </a:p>
          <a:p>
            <a:pPr algn="l" marL="0" indent="0">
              <a:lnSpc>
                <a:spcPct val="118000"/>
              </a:lnSpc>
              <a:buNone/>
            </a:pPr>
            <a:r>
              <a:rPr lang="en-US" sz="900" dirty="0">
                <a:solidFill>
                  <a:srgbClr val="F3E6D6"/>
                </a:solidFill>
                <a:latin typeface="Arial"/>
                <a:ea typeface="Arial"/>
                <a:cs typeface="Arial"/>
              </a:rPr>
              <a:t>[100] [105] [106] [118]–[124] [127]</a:t>
            </a:r>
          </a:p>
        </p:txBody>
      </p:sp>
      <p:sp>
        <p:nvSpPr>
          <p:cNvPr id="160" name="gal 160"/>
          <p:cNvSpPr/>
          <p:nvPr/>
        </p:nvSpPr>
        <p:spPr>
          <a:xfrm>
            <a:off x="548640" y="4754880"/>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Links checked 15 Oct 2026; all return 200.</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23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Harness optimisation  ·  system architecture  ·  PROPOSED</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Trace-driven harness loop:</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open source, buildable from day one</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gal 158"/>
          <p:cNvSpPr/>
          <p:nvPr/>
        </p:nvSpPr>
        <p:spPr>
          <a:xfrm>
            <a:off x="7452360" y="1984248"/>
            <a:ext cx="1188720" cy="237744"/>
          </a:xfrm>
          <a:prstGeom prst="roundRect">
            <a:avLst>
              <a:gd name="adj" fmla="val 10000"/>
            </a:avLst>
          </a:prstGeom>
          <a:solidFill>
            <a:srgbClr val="2A1A16"/>
          </a:solidFill>
          <a:ln w="12700">
            <a:solidFill>
              <a:srgbClr val="D9B48A"/>
            </a:solidFill>
          </a:ln>
        </p:spPr>
        <p:txBody>
          <a:bodyPr wrap="square" lIns="73152" tIns="0" rIns="45720" bIns="0" rtlCol="0" anchor="ctr">
            <a:noAutofit/>
          </a:bodyPr>
          <a:lstStyle/>
          <a:p>
            <a:pPr algn="l" marL="0" indent="0">
              <a:lnSpc>
                <a:spcPct val="93000"/>
              </a:lnSpc>
              <a:buNone/>
            </a:pPr>
            <a:r>
              <a:rPr lang="en-US" sz="800" b="1" dirty="0">
                <a:solidFill>
                  <a:srgbClr val="F5B700"/>
                </a:solidFill>
                <a:latin typeface="Arial"/>
                <a:ea typeface="Arial"/>
                <a:cs typeface="Arial"/>
              </a:rPr>
              <a:t>TODAY</a:t>
            </a:r>
            <a:r>
              <a:rPr lang="en-US" sz="800" dirty="0">
                <a:solidFill>
                  <a:srgbClr val="F3E6D6"/>
                </a:solidFill>
                <a:latin typeface="Arial"/>
                <a:ea typeface="Arial"/>
                <a:cs typeface="Arial"/>
              </a:rPr>
              <a:t>  as built</a:t>
            </a:r>
          </a:p>
        </p:txBody>
      </p:sp>
      <p:sp>
        <p:nvSpPr>
          <p:cNvPr id="159" name="gal 159"/>
          <p:cNvSpPr/>
          <p:nvPr/>
        </p:nvSpPr>
        <p:spPr>
          <a:xfrm>
            <a:off x="8732520" y="1984248"/>
            <a:ext cx="1417320" cy="237744"/>
          </a:xfrm>
          <a:prstGeom prst="roundRect">
            <a:avLst>
              <a:gd name="adj" fmla="val 10000"/>
            </a:avLst>
          </a:prstGeom>
          <a:solidFill>
            <a:srgbClr val="1E1412"/>
          </a:solidFill>
          <a:ln w="12700">
            <a:solidFill>
              <a:srgbClr val="D9B48A"/>
            </a:solidFill>
            <a:prstDash val="dash"/>
          </a:ln>
        </p:spPr>
        <p:txBody>
          <a:bodyPr wrap="square" lIns="73152" tIns="0" rIns="45720" bIns="0" rtlCol="0" anchor="ctr">
            <a:noAutofit/>
          </a:bodyPr>
          <a:lstStyle/>
          <a:p>
            <a:pPr algn="l" marL="0" indent="0">
              <a:lnSpc>
                <a:spcPct val="93000"/>
              </a:lnSpc>
              <a:buNone/>
            </a:pPr>
            <a:r>
              <a:rPr lang="en-US" sz="800" b="1" dirty="0">
                <a:solidFill>
                  <a:srgbClr val="D9B48A"/>
                </a:solidFill>
                <a:latin typeface="Arial"/>
                <a:ea typeface="Arial"/>
                <a:cs typeface="Arial"/>
              </a:rPr>
              <a:t>PROPOSED</a:t>
            </a:r>
            <a:r>
              <a:rPr lang="en-US" sz="800" dirty="0">
                <a:solidFill>
                  <a:srgbClr val="F3E6D6"/>
                </a:solidFill>
                <a:latin typeface="Arial"/>
                <a:ea typeface="Arial"/>
                <a:cs typeface="Arial"/>
              </a:rPr>
              <a:t>  our design</a:t>
            </a:r>
          </a:p>
        </p:txBody>
      </p:sp>
      <p:sp>
        <p:nvSpPr>
          <p:cNvPr id="160" name="gal 160"/>
          <p:cNvSpPr/>
          <p:nvPr/>
        </p:nvSpPr>
        <p:spPr>
          <a:xfrm>
            <a:off x="10241280" y="1984248"/>
            <a:ext cx="1399032" cy="237744"/>
          </a:xfrm>
          <a:prstGeom prst="roundRect">
            <a:avLst>
              <a:gd name="adj" fmla="val 10000"/>
            </a:avLst>
          </a:prstGeom>
          <a:solidFill>
            <a:srgbClr val="F5B700"/>
          </a:solidFill>
          <a:ln>
            <a:noFill/>
          </a:ln>
        </p:spPr>
        <p:txBody>
          <a:bodyPr wrap="square" lIns="73152" tIns="0" rIns="45720" bIns="0" rtlCol="0" anchor="ctr">
            <a:noAutofit/>
          </a:bodyPr>
          <a:lstStyle/>
          <a:p>
            <a:pPr algn="l" marL="0" indent="0">
              <a:lnSpc>
                <a:spcPct val="93000"/>
              </a:lnSpc>
              <a:buNone/>
            </a:pPr>
            <a:r>
              <a:rPr lang="en-US" sz="800" b="1" dirty="0">
                <a:solidFill>
                  <a:srgbClr val="141010"/>
                </a:solidFill>
                <a:latin typeface="Arial"/>
                <a:ea typeface="Arial"/>
                <a:cs typeface="Arial"/>
              </a:rPr>
              <a:t>Gn</a:t>
            </a:r>
            <a:r>
              <a:rPr lang="en-US" sz="800" dirty="0">
                <a:solidFill>
                  <a:srgbClr val="141010"/>
                </a:solidFill>
                <a:latin typeface="Arial"/>
                <a:ea typeface="Arial"/>
                <a:cs typeface="Arial"/>
              </a:rPr>
              <a:t>  gap register</a:t>
            </a:r>
          </a:p>
        </p:txBody>
      </p:sp>
      <p:sp>
        <p:nvSpPr>
          <p:cNvPr id="161" name="gal 161"/>
          <p:cNvSpPr/>
          <p:nvPr/>
        </p:nvSpPr>
        <p:spPr>
          <a:xfrm>
            <a:off x="5120640" y="2011680"/>
            <a:ext cx="292608" cy="182880"/>
          </a:xfrm>
          <a:prstGeom prst="rect">
            <a:avLst/>
          </a:prstGeom>
          <a:noFill/>
          <a:ln w="12700">
            <a:solidFill>
              <a:srgbClr val="F5B700"/>
            </a:solidFill>
            <a:prstDash val="sysDot"/>
          </a:ln>
        </p:spPr>
      </p:sp>
      <p:sp>
        <p:nvSpPr>
          <p:cNvPr id="162" name="gal 162"/>
          <p:cNvSpPr/>
          <p:nvPr/>
        </p:nvSpPr>
        <p:spPr>
          <a:xfrm>
            <a:off x="5468112" y="2011680"/>
            <a:ext cx="1920240" cy="182880"/>
          </a:xfrm>
          <a:prstGeom prst="rect">
            <a:avLst/>
          </a:prstGeom>
          <a:noFill/>
          <a:ln>
            <a:noFill/>
          </a:ln>
        </p:spPr>
        <p:txBody>
          <a:bodyPr wrap="square" lIns="0" tIns="0" rIns="0" bIns="0" rtlCol="0" anchor="ctr">
            <a:noAutofit/>
          </a:bodyPr>
          <a:lstStyle/>
          <a:p>
            <a:pPr algn="l" marL="0" indent="0">
              <a:buNone/>
            </a:pPr>
            <a:r>
              <a:rPr lang="en-US" sz="800" dirty="0">
                <a:solidFill>
                  <a:srgbClr val="F3E6D6"/>
                </a:solidFill>
                <a:latin typeface="Arial"/>
                <a:ea typeface="Arial"/>
                <a:cs typeface="Arial"/>
              </a:rPr>
              <a:t>GCP project · self-hosted</a:t>
            </a:r>
          </a:p>
        </p:txBody>
      </p:sp>
      <p:sp>
        <p:nvSpPr>
          <p:cNvPr id="163" name="gal 163"/>
          <p:cNvSpPr/>
          <p:nvPr/>
        </p:nvSpPr>
        <p:spPr>
          <a:xfrm>
            <a:off x="548640" y="2286000"/>
            <a:ext cx="1371600" cy="2560320"/>
          </a:xfrm>
          <a:prstGeom prst="rect">
            <a:avLst/>
          </a:prstGeom>
          <a:solidFill>
            <a:srgbClr val="201614"/>
          </a:solidFill>
          <a:ln>
            <a:noFill/>
          </a:ln>
        </p:spPr>
      </p:sp>
      <p:sp>
        <p:nvSpPr>
          <p:cNvPr id="164" name="gal 164"/>
          <p:cNvSpPr/>
          <p:nvPr/>
        </p:nvSpPr>
        <p:spPr>
          <a:xfrm>
            <a:off x="612648" y="2304288"/>
            <a:ext cx="128016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TRACE SOURCES</a:t>
            </a:r>
          </a:p>
        </p:txBody>
      </p:sp>
      <p:sp>
        <p:nvSpPr>
          <p:cNvPr id="165" name="gal 165"/>
          <p:cNvSpPr/>
          <p:nvPr/>
        </p:nvSpPr>
        <p:spPr>
          <a:xfrm>
            <a:off x="2148840" y="2286000"/>
            <a:ext cx="1600200" cy="2560320"/>
          </a:xfrm>
          <a:prstGeom prst="rect">
            <a:avLst/>
          </a:prstGeom>
          <a:solidFill>
            <a:srgbClr val="201614"/>
          </a:solidFill>
          <a:ln>
            <a:noFill/>
          </a:ln>
        </p:spPr>
      </p:sp>
      <p:sp>
        <p:nvSpPr>
          <p:cNvPr id="166" name="gal 166"/>
          <p:cNvSpPr/>
          <p:nvPr/>
        </p:nvSpPr>
        <p:spPr>
          <a:xfrm>
            <a:off x="2212848" y="2304288"/>
            <a:ext cx="150876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TRACE HUB</a:t>
            </a:r>
          </a:p>
        </p:txBody>
      </p:sp>
      <p:sp>
        <p:nvSpPr>
          <p:cNvPr id="167" name="gal 167"/>
          <p:cNvSpPr/>
          <p:nvPr/>
        </p:nvSpPr>
        <p:spPr>
          <a:xfrm>
            <a:off x="3977640" y="2286000"/>
            <a:ext cx="2880360" cy="2560320"/>
          </a:xfrm>
          <a:prstGeom prst="rect">
            <a:avLst/>
          </a:prstGeom>
          <a:solidFill>
            <a:srgbClr val="201614"/>
          </a:solidFill>
          <a:ln>
            <a:noFill/>
          </a:ln>
        </p:spPr>
      </p:sp>
      <p:sp>
        <p:nvSpPr>
          <p:cNvPr id="168" name="gal 168"/>
          <p:cNvSpPr/>
          <p:nvPr/>
        </p:nvSpPr>
        <p:spPr>
          <a:xfrm>
            <a:off x="4041648" y="2304288"/>
            <a:ext cx="278892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HARNESS OPTIMISATION</a:t>
            </a:r>
          </a:p>
        </p:txBody>
      </p:sp>
      <p:sp>
        <p:nvSpPr>
          <p:cNvPr id="169" name="gal 169"/>
          <p:cNvSpPr/>
          <p:nvPr/>
        </p:nvSpPr>
        <p:spPr>
          <a:xfrm>
            <a:off x="7086600" y="2286000"/>
            <a:ext cx="2057400" cy="2560320"/>
          </a:xfrm>
          <a:prstGeom prst="rect">
            <a:avLst/>
          </a:prstGeom>
          <a:solidFill>
            <a:srgbClr val="201614"/>
          </a:solidFill>
          <a:ln>
            <a:noFill/>
          </a:ln>
        </p:spPr>
      </p:sp>
      <p:sp>
        <p:nvSpPr>
          <p:cNvPr id="170" name="gal 170"/>
          <p:cNvSpPr/>
          <p:nvPr/>
        </p:nvSpPr>
        <p:spPr>
          <a:xfrm>
            <a:off x="7150608" y="2304288"/>
            <a:ext cx="1965960"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SIMULATION + REWARD</a:t>
            </a:r>
          </a:p>
        </p:txBody>
      </p:sp>
      <p:sp>
        <p:nvSpPr>
          <p:cNvPr id="171" name="gal 171"/>
          <p:cNvSpPr/>
          <p:nvPr/>
        </p:nvSpPr>
        <p:spPr>
          <a:xfrm>
            <a:off x="9372600" y="2286000"/>
            <a:ext cx="2267712" cy="2560320"/>
          </a:xfrm>
          <a:prstGeom prst="rect">
            <a:avLst/>
          </a:prstGeom>
          <a:solidFill>
            <a:srgbClr val="201614"/>
          </a:solidFill>
          <a:ln>
            <a:noFill/>
          </a:ln>
        </p:spPr>
      </p:sp>
      <p:sp>
        <p:nvSpPr>
          <p:cNvPr id="172" name="gal 172"/>
          <p:cNvSpPr/>
          <p:nvPr/>
        </p:nvSpPr>
        <p:spPr>
          <a:xfrm>
            <a:off x="9436608" y="2304288"/>
            <a:ext cx="2176272" cy="155448"/>
          </a:xfrm>
          <a:prstGeom prst="rect">
            <a:avLst/>
          </a:prstGeom>
          <a:noFill/>
          <a:ln>
            <a:noFill/>
          </a:ln>
        </p:spPr>
        <p:txBody>
          <a:bodyPr wrap="square" lIns="0" tIns="0" rIns="0" bIns="0" rtlCol="0" anchor="ctr">
            <a:noAutofit/>
          </a:bodyPr>
          <a:lstStyle/>
          <a:p>
            <a:pPr algn="l" marL="0" indent="0">
              <a:buNone/>
            </a:pPr>
            <a:r>
              <a:rPr lang="en-US" sz="800" b="1" dirty="0">
                <a:solidFill>
                  <a:srgbClr val="D9B48A"/>
                </a:solidFill>
                <a:latin typeface="Arial"/>
                <a:ea typeface="Arial"/>
                <a:cs typeface="Arial"/>
              </a:rPr>
              <a:t>OPTIMISE · SHIP · LEARN</a:t>
            </a:r>
          </a:p>
        </p:txBody>
      </p:sp>
      <p:sp>
        <p:nvSpPr>
          <p:cNvPr id="173" name="gal 173"/>
          <p:cNvSpPr/>
          <p:nvPr/>
        </p:nvSpPr>
        <p:spPr>
          <a:xfrm>
            <a:off x="548640" y="4956048"/>
            <a:ext cx="11091672" cy="822960"/>
          </a:xfrm>
          <a:prstGeom prst="rect">
            <a:avLst/>
          </a:prstGeom>
          <a:solidFill>
            <a:srgbClr val="201614"/>
          </a:solidFill>
          <a:ln>
            <a:noFill/>
          </a:ln>
        </p:spPr>
      </p:sp>
      <p:sp>
        <p:nvSpPr>
          <p:cNvPr id="174" name="gal 174"/>
          <p:cNvSpPr/>
          <p:nvPr/>
        </p:nvSpPr>
        <p:spPr>
          <a:xfrm>
            <a:off x="2093976" y="2240280"/>
            <a:ext cx="9573768" cy="3584448"/>
          </a:xfrm>
          <a:prstGeom prst="rect">
            <a:avLst/>
          </a:prstGeom>
          <a:noFill/>
          <a:ln w="12700">
            <a:solidFill>
              <a:srgbClr val="F5B700"/>
            </a:solidFill>
            <a:prstDash val="sysDot"/>
          </a:ln>
        </p:spPr>
      </p:sp>
      <p:sp>
        <p:nvSpPr>
          <p:cNvPr id="175" name="gal 175"/>
          <p:cNvSpPr/>
          <p:nvPr/>
        </p:nvSpPr>
        <p:spPr>
          <a:xfrm>
            <a:off x="612648" y="2560320"/>
            <a:ext cx="1243584" cy="640080"/>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Galileo / Splunk AO</a:t>
            </a:r>
          </a:p>
          <a:p>
            <a:pPr algn="l" marL="0" indent="0">
              <a:lnSpc>
                <a:spcPct val="90000"/>
              </a:lnSpc>
              <a:buNone/>
            </a:pPr>
            <a:r>
              <a:rPr lang="en-US" sz="800" dirty="0">
                <a:solidFill>
                  <a:srgbClr val="F3E6D6"/>
                </a:solidFill>
                <a:latin typeface="Arial"/>
                <a:ea typeface="Arial"/>
                <a:cs typeface="Arial"/>
              </a:rPr>
              <a:t>production traces today</a:t>
            </a:r>
          </a:p>
          <a:p>
            <a:pPr algn="l" marL="0" indent="0">
              <a:lnSpc>
                <a:spcPct val="90000"/>
              </a:lnSpc>
              <a:buNone/>
            </a:pPr>
            <a:r>
              <a:rPr lang="en-US" sz="800" dirty="0">
                <a:solidFill>
                  <a:srgbClr val="F3E6D6"/>
                </a:solidFill>
                <a:latin typeface="Arial"/>
                <a:ea typeface="Arial"/>
                <a:cs typeface="Arial"/>
              </a:rPr>
              <a:t>export → OTLP </a:t>
            </a:r>
            <a:r>
              <a:rPr lang="en-US" sz="800" b="1" dirty="0">
                <a:solidFill>
                  <a:srgbClr val="F5B700"/>
                </a:solidFill>
                <a:latin typeface="Arial"/>
                <a:ea typeface="Arial"/>
                <a:cs typeface="Arial"/>
              </a:rPr>
              <a:t>VERIFY</a:t>
            </a:r>
          </a:p>
        </p:txBody>
      </p:sp>
      <p:sp>
        <p:nvSpPr>
          <p:cNvPr id="176" name="gal 176"/>
          <p:cNvSpPr/>
          <p:nvPr/>
        </p:nvSpPr>
        <p:spPr>
          <a:xfrm>
            <a:off x="612648" y="3291840"/>
            <a:ext cx="1243584" cy="640080"/>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Kairos gateway</a:t>
            </a:r>
          </a:p>
          <a:p>
            <a:pPr algn="l" marL="0" indent="0">
              <a:lnSpc>
                <a:spcPct val="90000"/>
              </a:lnSpc>
              <a:buNone/>
            </a:pPr>
            <a:r>
              <a:rPr lang="en-US" sz="800" dirty="0">
                <a:solidFill>
                  <a:srgbClr val="F3E6D6"/>
                </a:solidFill>
                <a:latin typeface="Arial"/>
                <a:ea typeface="Arial"/>
                <a:cs typeface="Arial"/>
              </a:rPr>
              <a:t>LiteLLM </a:t>
            </a:r>
            <a:r>
              <a:rPr lang="en-US" sz="800" b="1" dirty="0">
                <a:solidFill>
                  <a:srgbClr val="F5B700"/>
                </a:solidFill>
                <a:latin typeface="Arial"/>
                <a:ea typeface="Arial"/>
                <a:cs typeface="Arial"/>
              </a:rPr>
              <a:t>ASSUMED</a:t>
            </a:r>
          </a:p>
          <a:p>
            <a:pPr algn="l" marL="0" indent="0">
              <a:lnSpc>
                <a:spcPct val="90000"/>
              </a:lnSpc>
              <a:buNone/>
            </a:pPr>
            <a:r>
              <a:rPr lang="en-US" sz="800" dirty="0">
                <a:solidFill>
                  <a:srgbClr val="F3E6D6"/>
                </a:solidFill>
                <a:latin typeface="Arial"/>
                <a:ea typeface="Arial"/>
                <a:cs typeface="Arial"/>
              </a:rPr>
              <a:t>model calls, cost, latency</a:t>
            </a:r>
          </a:p>
        </p:txBody>
      </p:sp>
      <p:sp>
        <p:nvSpPr>
          <p:cNvPr id="177" name="gal 177"/>
          <p:cNvSpPr/>
          <p:nvPr/>
        </p:nvSpPr>
        <p:spPr>
          <a:xfrm>
            <a:off x="612648" y="4023360"/>
            <a:ext cx="1243584" cy="731520"/>
          </a:xfrm>
          <a:prstGeom prst="roundRect">
            <a:avLst>
              <a:gd name="adj" fmla="val 10000"/>
            </a:avLst>
          </a:prstGeom>
          <a:solidFill>
            <a:srgbClr val="2A1A16"/>
          </a:solidFill>
          <a:ln w="12700">
            <a:solidFill>
              <a:srgbClr val="D9B48A"/>
            </a:solidFill>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Agent SDKs</a:t>
            </a:r>
          </a:p>
          <a:p>
            <a:pPr algn="l" marL="0" indent="0">
              <a:lnSpc>
                <a:spcPct val="90000"/>
              </a:lnSpc>
              <a:buNone/>
            </a:pPr>
            <a:r>
              <a:rPr lang="en-US" sz="800" dirty="0">
                <a:solidFill>
                  <a:srgbClr val="F3E6D6"/>
                </a:solidFill>
                <a:latin typeface="Arial"/>
                <a:ea typeface="Arial"/>
                <a:cs typeface="Arial"/>
              </a:rPr>
              <a:t>Kairos SDK; Strands, OpenAI Agents: OTel GenAI spans [143][164]</a:t>
            </a:r>
          </a:p>
        </p:txBody>
      </p:sp>
      <p:cxnSp>
        <p:nvCxnSpPr>
          <p:cNvPr id="178" name="g2 flow 178"/>
          <p:cNvCxnSpPr/>
          <p:nvPr/>
        </p:nvCxnSpPr>
        <p:spPr>
          <a:xfrm>
            <a:off x="1856232" y="2880360"/>
            <a:ext cx="146304" cy="0"/>
          </a:xfrm>
          <a:prstGeom prst="line">
            <a:avLst/>
          </a:prstGeom>
          <a:ln w="15875">
            <a:solidFill>
              <a:srgbClr val="EE0000"/>
            </a:solidFill>
          </a:ln>
        </p:spPr>
      </p:cxnSp>
      <p:cxnSp>
        <p:nvCxnSpPr>
          <p:cNvPr id="179" name="g2 flow 179"/>
          <p:cNvCxnSpPr/>
          <p:nvPr/>
        </p:nvCxnSpPr>
        <p:spPr>
          <a:xfrm>
            <a:off x="1856232" y="3611880"/>
            <a:ext cx="146304" cy="0"/>
          </a:xfrm>
          <a:prstGeom prst="line">
            <a:avLst/>
          </a:prstGeom>
          <a:ln w="15875">
            <a:solidFill>
              <a:srgbClr val="EE0000"/>
            </a:solidFill>
          </a:ln>
        </p:spPr>
      </p:cxnSp>
      <p:cxnSp>
        <p:nvCxnSpPr>
          <p:cNvPr id="180" name="g2 flow 180"/>
          <p:cNvCxnSpPr/>
          <p:nvPr/>
        </p:nvCxnSpPr>
        <p:spPr>
          <a:xfrm>
            <a:off x="1856232" y="4389120"/>
            <a:ext cx="146304" cy="0"/>
          </a:xfrm>
          <a:prstGeom prst="line">
            <a:avLst/>
          </a:prstGeom>
          <a:ln w="15875">
            <a:solidFill>
              <a:srgbClr val="EE0000"/>
            </a:solidFill>
          </a:ln>
        </p:spPr>
      </p:cxnSp>
      <p:cxnSp>
        <p:nvCxnSpPr>
          <p:cNvPr id="181" name="g2 flow 181"/>
          <p:cNvCxnSpPr/>
          <p:nvPr/>
        </p:nvCxnSpPr>
        <p:spPr>
          <a:xfrm>
            <a:off x="2002536" y="2770632"/>
            <a:ext cx="0" cy="1618488"/>
          </a:xfrm>
          <a:prstGeom prst="line">
            <a:avLst/>
          </a:prstGeom>
          <a:ln w="15875">
            <a:solidFill>
              <a:srgbClr val="EE0000"/>
            </a:solidFill>
          </a:ln>
        </p:spPr>
      </p:cxnSp>
      <p:cxnSp>
        <p:nvCxnSpPr>
          <p:cNvPr id="182" name="g2 flow 182"/>
          <p:cNvCxnSpPr/>
          <p:nvPr/>
        </p:nvCxnSpPr>
        <p:spPr>
          <a:xfrm>
            <a:off x="2002536" y="2770632"/>
            <a:ext cx="210312" cy="0"/>
          </a:xfrm>
          <a:prstGeom prst="line">
            <a:avLst/>
          </a:prstGeom>
          <a:ln w="15875">
            <a:solidFill>
              <a:srgbClr val="EE0000"/>
            </a:solidFill>
            <a:tailEnd type="triangle" w="med" len="med"/>
          </a:ln>
        </p:spPr>
      </p:cxnSp>
      <p:sp>
        <p:nvSpPr>
          <p:cNvPr id="183" name="gal 183"/>
          <p:cNvSpPr/>
          <p:nvPr/>
        </p:nvSpPr>
        <p:spPr>
          <a:xfrm>
            <a:off x="1901952" y="314553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1</a:t>
            </a:r>
          </a:p>
        </p:txBody>
      </p:sp>
      <p:sp>
        <p:nvSpPr>
          <p:cNvPr id="184" name="gal 184"/>
          <p:cNvSpPr/>
          <p:nvPr/>
        </p:nvSpPr>
        <p:spPr>
          <a:xfrm>
            <a:off x="2212848" y="2560320"/>
            <a:ext cx="1472184" cy="41148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OTel Collector</a:t>
            </a:r>
            <a:r>
              <a:rPr lang="en-US" sz="800" b="1" dirty="0">
                <a:solidFill>
                  <a:srgbClr val="F5B700"/>
                </a:solidFill>
                <a:latin typeface="Arial"/>
                <a:ea typeface="Arial"/>
                <a:cs typeface="Arial"/>
              </a:rPr>
              <a:t>  REUSE</a:t>
            </a:r>
          </a:p>
          <a:p>
            <a:pPr algn="l" marL="0" indent="0">
              <a:lnSpc>
                <a:spcPct val="90000"/>
              </a:lnSpc>
              <a:buNone/>
            </a:pPr>
            <a:r>
              <a:rPr lang="en-US" sz="800" dirty="0">
                <a:solidFill>
                  <a:srgbClr val="F3E6D6"/>
                </a:solidFill>
                <a:latin typeface="Arial"/>
                <a:ea typeface="Arial"/>
                <a:cs typeface="Arial"/>
              </a:rPr>
              <a:t>slide 12 tier · OTLP / HTTP</a:t>
            </a:r>
          </a:p>
        </p:txBody>
      </p:sp>
      <p:sp>
        <p:nvSpPr>
          <p:cNvPr id="185" name="gal 185"/>
          <p:cNvSpPr/>
          <p:nvPr/>
        </p:nvSpPr>
        <p:spPr>
          <a:xfrm>
            <a:off x="2212848" y="3108960"/>
            <a:ext cx="1472184" cy="82296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Langfuse</a:t>
            </a:r>
            <a:r>
              <a:rPr lang="en-US" sz="800" b="1" dirty="0">
                <a:solidFill>
                  <a:srgbClr val="F5B700"/>
                </a:solidFill>
                <a:latin typeface="Arial"/>
                <a:ea typeface="Arial"/>
                <a:cs typeface="Arial"/>
              </a:rPr>
              <a:t>  REUSE · P1</a:t>
            </a:r>
          </a:p>
          <a:p>
            <a:pPr algn="l" marL="0" indent="0">
              <a:lnSpc>
                <a:spcPct val="90000"/>
              </a:lnSpc>
              <a:buNone/>
            </a:pPr>
            <a:r>
              <a:rPr lang="en-US" sz="800" dirty="0">
                <a:solidFill>
                  <a:srgbClr val="F3E6D6"/>
                </a:solidFill>
                <a:latin typeface="Arial"/>
                <a:ea typeface="Arial"/>
                <a:cs typeface="Arial"/>
              </a:rPr>
              <a:t>trace store + UI: cost per span, datasets, scores; MIT core [163]</a:t>
            </a:r>
          </a:p>
        </p:txBody>
      </p:sp>
      <p:sp>
        <p:nvSpPr>
          <p:cNvPr id="186" name="gal 186"/>
          <p:cNvSpPr/>
          <p:nvPr/>
        </p:nvSpPr>
        <p:spPr>
          <a:xfrm>
            <a:off x="2212848" y="4041648"/>
            <a:ext cx="1472184" cy="713232"/>
          </a:xfrm>
          <a:prstGeom prst="roundRect">
            <a:avLst>
              <a:gd name="adj" fmla="val 10000"/>
            </a:avLst>
          </a:prstGeom>
          <a:solidFill>
            <a:srgbClr val="F5B700"/>
          </a:solidFill>
          <a:ln>
            <a:noFill/>
          </a:ln>
        </p:spPr>
        <p:txBody>
          <a:bodyPr wrap="square" lIns="64008" tIns="36576" rIns="45720" bIns="27432" rtlCol="0" anchor="ctr">
            <a:noAutofit/>
          </a:bodyPr>
          <a:lstStyle/>
          <a:p>
            <a:pPr algn="l" marL="0" indent="0">
              <a:lnSpc>
                <a:spcPct val="90000"/>
              </a:lnSpc>
              <a:buNone/>
            </a:pPr>
            <a:r>
              <a:rPr lang="en-US" sz="900" b="1" dirty="0">
                <a:solidFill>
                  <a:srgbClr val="141010"/>
                </a:solidFill>
                <a:latin typeface="Arial"/>
                <a:ea typeface="Arial"/>
                <a:cs typeface="Arial"/>
              </a:rPr>
              <a:t>Trace adapter</a:t>
            </a:r>
            <a:r>
              <a:rPr lang="en-US" sz="800" b="1" dirty="0">
                <a:solidFill>
                  <a:srgbClr val="141010"/>
                </a:solidFill>
                <a:latin typeface="Arial"/>
                <a:ea typeface="Arial"/>
                <a:cs typeface="Arial"/>
              </a:rPr>
              <a:t>  P1</a:t>
            </a:r>
          </a:p>
          <a:p>
            <a:pPr algn="l" marL="0" indent="0">
              <a:lnSpc>
                <a:spcPct val="90000"/>
              </a:lnSpc>
              <a:buNone/>
            </a:pPr>
            <a:r>
              <a:rPr lang="en-US" sz="800" dirty="0">
                <a:solidFill>
                  <a:srgbClr val="141010"/>
                </a:solidFill>
                <a:latin typeface="Arial"/>
                <a:ea typeface="Arial"/>
                <a:cs typeface="Arial"/>
              </a:rPr>
              <a:t>build: Langfuse / Galileo → OTLP-shaped JSONL that HALO reads</a:t>
            </a:r>
          </a:p>
        </p:txBody>
      </p:sp>
      <p:cxnSp>
        <p:nvCxnSpPr>
          <p:cNvPr id="187" name="g2 flow 187"/>
          <p:cNvCxnSpPr/>
          <p:nvPr/>
        </p:nvCxnSpPr>
        <p:spPr>
          <a:xfrm>
            <a:off x="2944368" y="2971800"/>
            <a:ext cx="0" cy="137160"/>
          </a:xfrm>
          <a:prstGeom prst="line">
            <a:avLst/>
          </a:prstGeom>
          <a:ln w="15875">
            <a:solidFill>
              <a:srgbClr val="EE0000"/>
            </a:solidFill>
            <a:tailEnd type="triangle" w="med" len="med"/>
          </a:ln>
        </p:spPr>
      </p:cxnSp>
      <p:cxnSp>
        <p:nvCxnSpPr>
          <p:cNvPr id="188" name="g2 flow 188"/>
          <p:cNvCxnSpPr/>
          <p:nvPr/>
        </p:nvCxnSpPr>
        <p:spPr>
          <a:xfrm>
            <a:off x="2944368" y="3931920"/>
            <a:ext cx="0" cy="109728"/>
          </a:xfrm>
          <a:prstGeom prst="line">
            <a:avLst/>
          </a:prstGeom>
          <a:ln w="15875">
            <a:solidFill>
              <a:srgbClr val="EE0000"/>
            </a:solidFill>
            <a:tailEnd type="triangle" w="med" len="med"/>
          </a:ln>
        </p:spPr>
      </p:cxnSp>
      <p:sp>
        <p:nvSpPr>
          <p:cNvPr id="189" name="gal 189"/>
          <p:cNvSpPr/>
          <p:nvPr/>
        </p:nvSpPr>
        <p:spPr>
          <a:xfrm>
            <a:off x="4041648" y="2560320"/>
            <a:ext cx="2752344" cy="47548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Harness-optimisation UI</a:t>
            </a:r>
            <a:r>
              <a:rPr lang="en-US" sz="800" b="1" dirty="0">
                <a:solidFill>
                  <a:srgbClr val="F5B700"/>
                </a:solidFill>
                <a:latin typeface="Arial"/>
                <a:ea typeface="Arial"/>
                <a:cs typeface="Arial"/>
              </a:rPr>
              <a:t>  P1 → P2</a:t>
            </a:r>
          </a:p>
          <a:p>
            <a:pPr algn="l" marL="0" indent="0">
              <a:lnSpc>
                <a:spcPct val="90000"/>
              </a:lnSpc>
              <a:buNone/>
            </a:pPr>
            <a:r>
              <a:rPr lang="en-US" sz="800" dirty="0">
                <a:solidFill>
                  <a:srgbClr val="F3E6D6"/>
                </a:solidFill>
                <a:latin typeface="Arial"/>
                <a:ea typeface="Arial"/>
                <a:cs typeface="Arial"/>
              </a:rPr>
              <a:t>P1 Langfuse + HALO reports · P2 Future AGI (Apache-2.0 core, paid ee/) [146][147]</a:t>
            </a:r>
          </a:p>
        </p:txBody>
      </p:sp>
      <p:sp>
        <p:nvSpPr>
          <p:cNvPr id="190" name="gal 190"/>
          <p:cNvSpPr/>
          <p:nvPr/>
        </p:nvSpPr>
        <p:spPr>
          <a:xfrm>
            <a:off x="4041648" y="3108960"/>
            <a:ext cx="1280160" cy="82296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LLMOps cost analysis</a:t>
            </a:r>
            <a:r>
              <a:rPr lang="en-US" sz="800" b="1" dirty="0">
                <a:solidFill>
                  <a:srgbClr val="F5B700"/>
                </a:solidFill>
                <a:latin typeface="Arial"/>
                <a:ea typeface="Arial"/>
                <a:cs typeface="Arial"/>
              </a:rPr>
              <a:t>  P1</a:t>
            </a:r>
          </a:p>
          <a:p>
            <a:pPr algn="l" marL="0" indent="0">
              <a:lnSpc>
                <a:spcPct val="90000"/>
              </a:lnSpc>
              <a:buNone/>
            </a:pPr>
            <a:r>
              <a:rPr lang="en-US" sz="800" dirty="0">
                <a:solidFill>
                  <a:srgbClr val="F3E6D6"/>
                </a:solidFill>
                <a:latin typeface="Arial"/>
                <a:ea typeface="Arial"/>
                <a:cs typeface="Arial"/>
              </a:rPr>
              <a:t>prompt tokens, cache hits, tool latency, retries per agent (SQL)</a:t>
            </a:r>
          </a:p>
        </p:txBody>
      </p:sp>
      <p:sp>
        <p:nvSpPr>
          <p:cNvPr id="191" name="gal 191"/>
          <p:cNvSpPr/>
          <p:nvPr/>
        </p:nvSpPr>
        <p:spPr>
          <a:xfrm>
            <a:off x="4041648" y="4041648"/>
            <a:ext cx="1280160" cy="71323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HALO engine</a:t>
            </a:r>
            <a:r>
              <a:rPr lang="en-US" sz="800" b="1" dirty="0">
                <a:solidFill>
                  <a:srgbClr val="F5B700"/>
                </a:solidFill>
                <a:latin typeface="Arial"/>
                <a:ea typeface="Arial"/>
                <a:cs typeface="Arial"/>
              </a:rPr>
              <a:t>  P1</a:t>
            </a:r>
          </a:p>
          <a:p>
            <a:pPr algn="l" marL="0" indent="0">
              <a:lnSpc>
                <a:spcPct val="90000"/>
              </a:lnSpc>
              <a:buNone/>
            </a:pPr>
            <a:r>
              <a:rPr lang="en-US" sz="800" dirty="0">
                <a:solidFill>
                  <a:srgbClr val="F3E6D6"/>
                </a:solidFill>
                <a:latin typeface="Arial"/>
                <a:ea typeface="Arial"/>
                <a:cs typeface="Arial"/>
              </a:rPr>
              <a:t>RLM over traces → failure-mode report [137][138]</a:t>
            </a:r>
          </a:p>
          <a:p>
            <a:pPr algn="l" marL="0" indent="0">
              <a:lnSpc>
                <a:spcPct val="90000"/>
              </a:lnSpc>
              <a:buNone/>
            </a:pPr>
            <a:r>
              <a:rPr lang="en-US" sz="800" dirty="0">
                <a:solidFill>
                  <a:srgbClr val="F3E6D6"/>
                </a:solidFill>
                <a:latin typeface="Arial"/>
                <a:ea typeface="Arial"/>
                <a:cs typeface="Arial"/>
              </a:rPr>
              <a:t>MIT per README </a:t>
            </a:r>
            <a:r>
              <a:rPr lang="en-US" sz="800" b="1" dirty="0">
                <a:solidFill>
                  <a:srgbClr val="F5B700"/>
                </a:solidFill>
                <a:latin typeface="Arial"/>
                <a:ea typeface="Arial"/>
                <a:cs typeface="Arial"/>
              </a:rPr>
              <a:t>VERIFY</a:t>
            </a:r>
          </a:p>
        </p:txBody>
      </p:sp>
      <p:sp>
        <p:nvSpPr>
          <p:cNvPr id="192" name="gal 192"/>
          <p:cNvSpPr/>
          <p:nvPr/>
        </p:nvSpPr>
        <p:spPr>
          <a:xfrm>
            <a:off x="5577840" y="3108960"/>
            <a:ext cx="1216152" cy="82296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GEPA · DSPy</a:t>
            </a:r>
            <a:r>
              <a:rPr lang="en-US" sz="800" b="1" dirty="0">
                <a:solidFill>
                  <a:srgbClr val="F5B700"/>
                </a:solidFill>
                <a:latin typeface="Arial"/>
                <a:ea typeface="Arial"/>
                <a:cs typeface="Arial"/>
              </a:rPr>
              <a:t>  REUSE</a:t>
            </a:r>
          </a:p>
          <a:p>
            <a:pPr algn="l" marL="0" indent="0">
              <a:lnSpc>
                <a:spcPct val="90000"/>
              </a:lnSpc>
              <a:buNone/>
            </a:pPr>
            <a:r>
              <a:rPr lang="en-US" sz="800" dirty="0">
                <a:solidFill>
                  <a:srgbClr val="F3E6D6"/>
                </a:solidFill>
                <a:latin typeface="Arial"/>
                <a:ea typeface="Arial"/>
                <a:cs typeface="Arial"/>
              </a:rPr>
              <a:t>reflective search: prompts, tool text, code; MIT [148][149]</a:t>
            </a:r>
          </a:p>
        </p:txBody>
      </p:sp>
      <p:sp>
        <p:nvSpPr>
          <p:cNvPr id="193" name="gal 193"/>
          <p:cNvSpPr/>
          <p:nvPr/>
        </p:nvSpPr>
        <p:spPr>
          <a:xfrm>
            <a:off x="5577840" y="4041648"/>
            <a:ext cx="1216152" cy="71323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Coding agent</a:t>
            </a:r>
            <a:r>
              <a:rPr lang="en-US" sz="800" b="1" dirty="0">
                <a:solidFill>
                  <a:srgbClr val="F5B700"/>
                </a:solidFill>
                <a:latin typeface="Arial"/>
                <a:ea typeface="Arial"/>
                <a:cs typeface="Arial"/>
              </a:rPr>
              <a:t>  P1</a:t>
            </a:r>
          </a:p>
          <a:p>
            <a:pPr algn="l" marL="0" indent="0">
              <a:lnSpc>
                <a:spcPct val="90000"/>
              </a:lnSpc>
              <a:buNone/>
            </a:pPr>
            <a:r>
              <a:rPr lang="en-US" sz="800" dirty="0">
                <a:solidFill>
                  <a:srgbClr val="F3E6D6"/>
                </a:solidFill>
                <a:latin typeface="Arial"/>
                <a:ea typeface="Arial"/>
                <a:cs typeface="Arial"/>
              </a:rPr>
              <a:t>opens a PR from the report; human review → harness@v+1</a:t>
            </a:r>
          </a:p>
        </p:txBody>
      </p:sp>
      <p:cxnSp>
        <p:nvCxnSpPr>
          <p:cNvPr id="194" name="g2 flow 194"/>
          <p:cNvCxnSpPr/>
          <p:nvPr/>
        </p:nvCxnSpPr>
        <p:spPr>
          <a:xfrm>
            <a:off x="3685032" y="3520440"/>
            <a:ext cx="356616" cy="0"/>
          </a:xfrm>
          <a:prstGeom prst="line">
            <a:avLst/>
          </a:prstGeom>
          <a:ln w="15875">
            <a:solidFill>
              <a:srgbClr val="EE0000"/>
            </a:solidFill>
            <a:tailEnd type="triangle" w="med" len="med"/>
          </a:ln>
        </p:spPr>
      </p:cxnSp>
      <p:sp>
        <p:nvSpPr>
          <p:cNvPr id="195" name="gal 195"/>
          <p:cNvSpPr/>
          <p:nvPr/>
        </p:nvSpPr>
        <p:spPr>
          <a:xfrm>
            <a:off x="3758184" y="341985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2</a:t>
            </a:r>
          </a:p>
        </p:txBody>
      </p:sp>
      <p:cxnSp>
        <p:nvCxnSpPr>
          <p:cNvPr id="196" name="g2 flow 196"/>
          <p:cNvCxnSpPr/>
          <p:nvPr/>
        </p:nvCxnSpPr>
        <p:spPr>
          <a:xfrm>
            <a:off x="3685032" y="4389120"/>
            <a:ext cx="356616" cy="0"/>
          </a:xfrm>
          <a:prstGeom prst="line">
            <a:avLst/>
          </a:prstGeom>
          <a:ln w="15875">
            <a:solidFill>
              <a:srgbClr val="EE0000"/>
            </a:solidFill>
            <a:tailEnd type="triangle" w="med" len="med"/>
          </a:ln>
        </p:spPr>
      </p:cxnSp>
      <p:sp>
        <p:nvSpPr>
          <p:cNvPr id="197" name="gal 197"/>
          <p:cNvSpPr/>
          <p:nvPr/>
        </p:nvSpPr>
        <p:spPr>
          <a:xfrm>
            <a:off x="3758184" y="428853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2</a:t>
            </a:r>
          </a:p>
        </p:txBody>
      </p:sp>
      <p:cxnSp>
        <p:nvCxnSpPr>
          <p:cNvPr id="198" name="g2 flow 198"/>
          <p:cNvCxnSpPr/>
          <p:nvPr/>
        </p:nvCxnSpPr>
        <p:spPr>
          <a:xfrm>
            <a:off x="5321808" y="3520440"/>
            <a:ext cx="256032" cy="0"/>
          </a:xfrm>
          <a:prstGeom prst="line">
            <a:avLst/>
          </a:prstGeom>
          <a:ln w="15875">
            <a:solidFill>
              <a:srgbClr val="EE0000"/>
            </a:solidFill>
            <a:tailEnd type="triangle" w="med" len="med"/>
          </a:ln>
        </p:spPr>
      </p:cxnSp>
      <p:cxnSp>
        <p:nvCxnSpPr>
          <p:cNvPr id="199" name="g2 flow 199"/>
          <p:cNvCxnSpPr/>
          <p:nvPr/>
        </p:nvCxnSpPr>
        <p:spPr>
          <a:xfrm>
            <a:off x="5321808" y="4389120"/>
            <a:ext cx="256032" cy="0"/>
          </a:xfrm>
          <a:prstGeom prst="line">
            <a:avLst/>
          </a:prstGeom>
          <a:ln w="15875">
            <a:solidFill>
              <a:srgbClr val="EE0000"/>
            </a:solidFill>
            <a:tailEnd type="triangle" w="med" len="med"/>
          </a:ln>
        </p:spPr>
      </p:cxnSp>
      <p:sp>
        <p:nvSpPr>
          <p:cNvPr id="200" name="gal 200"/>
          <p:cNvSpPr/>
          <p:nvPr/>
        </p:nvSpPr>
        <p:spPr>
          <a:xfrm>
            <a:off x="5349240" y="405993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3</a:t>
            </a:r>
          </a:p>
        </p:txBody>
      </p:sp>
      <p:sp>
        <p:nvSpPr>
          <p:cNvPr id="201" name="gal 201"/>
          <p:cNvSpPr/>
          <p:nvPr/>
        </p:nvSpPr>
        <p:spPr>
          <a:xfrm>
            <a:off x="7150608" y="2560320"/>
            <a:ext cx="1929384" cy="59436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Synthetic data</a:t>
            </a:r>
            <a:r>
              <a:rPr lang="en-US" sz="800" b="1" dirty="0">
                <a:solidFill>
                  <a:srgbClr val="F5B700"/>
                </a:solidFill>
                <a:latin typeface="Arial"/>
                <a:ea typeface="Arial"/>
                <a:cs typeface="Arial"/>
              </a:rPr>
              <a:t>  P2</a:t>
            </a:r>
          </a:p>
          <a:p>
            <a:pPr algn="l" marL="0" indent="0">
              <a:lnSpc>
                <a:spcPct val="90000"/>
              </a:lnSpc>
              <a:buNone/>
            </a:pPr>
            <a:r>
              <a:rPr lang="en-US" sz="800" dirty="0">
                <a:solidFill>
                  <a:srgbClr val="F3E6D6"/>
                </a:solidFill>
                <a:latin typeface="Arial"/>
                <a:ea typeface="Arial"/>
                <a:cs typeface="Arial"/>
              </a:rPr>
              <a:t>Distilabel · DeepEval Synthesizer, seeded by HALO failure modes [155][156]</a:t>
            </a:r>
          </a:p>
        </p:txBody>
      </p:sp>
      <p:sp>
        <p:nvSpPr>
          <p:cNvPr id="202" name="gal 202"/>
          <p:cNvSpPr/>
          <p:nvPr/>
        </p:nvSpPr>
        <p:spPr>
          <a:xfrm>
            <a:off x="7150608" y="3291840"/>
            <a:ext cx="1929384" cy="66751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Simulator</a:t>
            </a:r>
            <a:r>
              <a:rPr lang="en-US" sz="800" b="1" dirty="0">
                <a:solidFill>
                  <a:srgbClr val="F5B700"/>
                </a:solidFill>
                <a:latin typeface="Arial"/>
                <a:ea typeface="Arial"/>
                <a:cs typeface="Arial"/>
              </a:rPr>
              <a:t>  P1</a:t>
            </a:r>
          </a:p>
          <a:p>
            <a:pPr algn="l" marL="0" indent="0">
              <a:lnSpc>
                <a:spcPct val="90000"/>
              </a:lnSpc>
              <a:buNone/>
            </a:pPr>
            <a:r>
              <a:rPr lang="en-US" sz="800" dirty="0">
                <a:solidFill>
                  <a:srgbClr val="F3E6D6"/>
                </a:solidFill>
                <a:latin typeface="Arial"/>
                <a:ea typeface="Arial"/>
                <a:cs typeface="Arial"/>
              </a:rPr>
              <a:t>Strands ActorSimulator [144] · LangWatch Scenario [154] · τ²-bench tasks [153]; tool mocks</a:t>
            </a:r>
          </a:p>
        </p:txBody>
      </p:sp>
      <p:sp>
        <p:nvSpPr>
          <p:cNvPr id="203" name="gal 203"/>
          <p:cNvSpPr/>
          <p:nvPr/>
        </p:nvSpPr>
        <p:spPr>
          <a:xfrm>
            <a:off x="7150608" y="4096512"/>
            <a:ext cx="1929384"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Reward</a:t>
            </a:r>
            <a:r>
              <a:rPr lang="en-US" sz="800" b="1" dirty="0">
                <a:solidFill>
                  <a:srgbClr val="F5B700"/>
                </a:solidFill>
                <a:latin typeface="Arial"/>
                <a:ea typeface="Arial"/>
                <a:cs typeface="Arial"/>
              </a:rPr>
              <a:t>  P2</a:t>
            </a:r>
          </a:p>
          <a:p>
            <a:pPr algn="l" marL="0" indent="0">
              <a:lnSpc>
                <a:spcPct val="90000"/>
              </a:lnSpc>
              <a:buNone/>
            </a:pPr>
            <a:r>
              <a:rPr lang="en-US" sz="800" dirty="0">
                <a:solidFill>
                  <a:srgbClr val="F3E6D6"/>
                </a:solidFill>
                <a:latin typeface="Arial"/>
                <a:ea typeface="Arial"/>
                <a:cs typeface="Arial"/>
              </a:rPr>
              <a:t>verifier + judge per task, pass^k; same evaluator as the gate</a:t>
            </a:r>
          </a:p>
        </p:txBody>
      </p:sp>
      <p:cxnSp>
        <p:nvCxnSpPr>
          <p:cNvPr id="204" name="g2 flow 204"/>
          <p:cNvCxnSpPr/>
          <p:nvPr/>
        </p:nvCxnSpPr>
        <p:spPr>
          <a:xfrm>
            <a:off x="8115300" y="3154680"/>
            <a:ext cx="0" cy="137160"/>
          </a:xfrm>
          <a:prstGeom prst="line">
            <a:avLst/>
          </a:prstGeom>
          <a:ln w="15875">
            <a:solidFill>
              <a:srgbClr val="EE0000"/>
            </a:solidFill>
            <a:tailEnd type="triangle" w="med" len="med"/>
          </a:ln>
        </p:spPr>
      </p:cxnSp>
      <p:cxnSp>
        <p:nvCxnSpPr>
          <p:cNvPr id="205" name="g2 flow 205"/>
          <p:cNvCxnSpPr/>
          <p:nvPr/>
        </p:nvCxnSpPr>
        <p:spPr>
          <a:xfrm>
            <a:off x="8115300" y="3959352"/>
            <a:ext cx="0" cy="137160"/>
          </a:xfrm>
          <a:prstGeom prst="line">
            <a:avLst/>
          </a:prstGeom>
          <a:ln w="15875">
            <a:solidFill>
              <a:srgbClr val="EE0000"/>
            </a:solidFill>
            <a:tailEnd type="triangle" w="med" len="med"/>
          </a:ln>
        </p:spPr>
      </p:cxnSp>
      <p:cxnSp>
        <p:nvCxnSpPr>
          <p:cNvPr id="206" name="g2 flow 206"/>
          <p:cNvCxnSpPr/>
          <p:nvPr/>
        </p:nvCxnSpPr>
        <p:spPr>
          <a:xfrm>
            <a:off x="6793992" y="3456432"/>
            <a:ext cx="356616" cy="0"/>
          </a:xfrm>
          <a:prstGeom prst="line">
            <a:avLst/>
          </a:prstGeom>
          <a:ln w="15875">
            <a:solidFill>
              <a:srgbClr val="EE0000"/>
            </a:solidFill>
            <a:tailEnd type="triangle" w="med" len="med"/>
          </a:ln>
        </p:spPr>
      </p:cxnSp>
      <p:cxnSp>
        <p:nvCxnSpPr>
          <p:cNvPr id="207" name="g2 flow 207"/>
          <p:cNvCxnSpPr/>
          <p:nvPr/>
        </p:nvCxnSpPr>
        <p:spPr>
          <a:xfrm flipH="1">
            <a:off x="6793992" y="3639312"/>
            <a:ext cx="356616" cy="0"/>
          </a:xfrm>
          <a:prstGeom prst="line">
            <a:avLst/>
          </a:prstGeom>
          <a:ln w="15875">
            <a:solidFill>
              <a:srgbClr val="EE0000"/>
            </a:solidFill>
            <a:prstDash val="dash"/>
            <a:tailEnd type="triangle" w="med" len="med"/>
          </a:ln>
        </p:spPr>
      </p:cxnSp>
      <p:sp>
        <p:nvSpPr>
          <p:cNvPr id="208" name="gal 208"/>
          <p:cNvSpPr/>
          <p:nvPr/>
        </p:nvSpPr>
        <p:spPr>
          <a:xfrm>
            <a:off x="6867144" y="3154680"/>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4</a:t>
            </a:r>
          </a:p>
        </p:txBody>
      </p:sp>
      <p:cxnSp>
        <p:nvCxnSpPr>
          <p:cNvPr id="209" name="g2 flow 209"/>
          <p:cNvCxnSpPr/>
          <p:nvPr/>
        </p:nvCxnSpPr>
        <p:spPr>
          <a:xfrm>
            <a:off x="6793992" y="4224528"/>
            <a:ext cx="155448" cy="0"/>
          </a:xfrm>
          <a:prstGeom prst="line">
            <a:avLst/>
          </a:prstGeom>
          <a:ln w="15875">
            <a:solidFill>
              <a:srgbClr val="EE0000"/>
            </a:solidFill>
          </a:ln>
        </p:spPr>
      </p:cxnSp>
      <p:cxnSp>
        <p:nvCxnSpPr>
          <p:cNvPr id="210" name="g2 flow 210"/>
          <p:cNvCxnSpPr/>
          <p:nvPr/>
        </p:nvCxnSpPr>
        <p:spPr>
          <a:xfrm flipV="1">
            <a:off x="6949440" y="3840480"/>
            <a:ext cx="0" cy="384048"/>
          </a:xfrm>
          <a:prstGeom prst="line">
            <a:avLst/>
          </a:prstGeom>
          <a:ln w="15875">
            <a:solidFill>
              <a:srgbClr val="EE0000"/>
            </a:solidFill>
          </a:ln>
        </p:spPr>
      </p:cxnSp>
      <p:cxnSp>
        <p:nvCxnSpPr>
          <p:cNvPr id="211" name="g2 flow 211"/>
          <p:cNvCxnSpPr/>
          <p:nvPr/>
        </p:nvCxnSpPr>
        <p:spPr>
          <a:xfrm>
            <a:off x="6949440" y="3840480"/>
            <a:ext cx="201168" cy="0"/>
          </a:xfrm>
          <a:prstGeom prst="line">
            <a:avLst/>
          </a:prstGeom>
          <a:ln w="15875">
            <a:solidFill>
              <a:srgbClr val="EE0000"/>
            </a:solidFill>
            <a:tailEnd type="triangle" w="med" len="med"/>
          </a:ln>
        </p:spPr>
      </p:cxnSp>
      <p:sp>
        <p:nvSpPr>
          <p:cNvPr id="212" name="gal 212"/>
          <p:cNvSpPr/>
          <p:nvPr/>
        </p:nvSpPr>
        <p:spPr>
          <a:xfrm>
            <a:off x="9436608" y="2560320"/>
            <a:ext cx="2139696" cy="594360"/>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Insights to use-case teams</a:t>
            </a:r>
            <a:r>
              <a:rPr lang="en-US" sz="800" b="1" dirty="0">
                <a:solidFill>
                  <a:srgbClr val="F5B700"/>
                </a:solidFill>
                <a:latin typeface="Arial"/>
                <a:ea typeface="Arial"/>
                <a:cs typeface="Arial"/>
              </a:rPr>
              <a:t>  P1</a:t>
            </a:r>
          </a:p>
          <a:p>
            <a:pPr algn="l" marL="0" indent="0">
              <a:lnSpc>
                <a:spcPct val="90000"/>
              </a:lnSpc>
              <a:buNone/>
            </a:pPr>
            <a:r>
              <a:rPr lang="en-US" sz="800" dirty="0">
                <a:solidFill>
                  <a:srgbClr val="F3E6D6"/>
                </a:solidFill>
                <a:latin typeface="Arial"/>
                <a:ea typeface="Arial"/>
                <a:cs typeface="Arial"/>
              </a:rPr>
              <a:t>failure modes, cost hotspots, fixes per use_case_id</a:t>
            </a:r>
          </a:p>
        </p:txBody>
      </p:sp>
      <p:sp>
        <p:nvSpPr>
          <p:cNvPr id="213" name="gal 213"/>
          <p:cNvSpPr/>
          <p:nvPr/>
        </p:nvSpPr>
        <p:spPr>
          <a:xfrm>
            <a:off x="9436608" y="3291840"/>
            <a:ext cx="2139696" cy="667512"/>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Held-out + red-team gate</a:t>
            </a:r>
            <a:r>
              <a:rPr lang="en-US" sz="800" b="1" dirty="0">
                <a:solidFill>
                  <a:srgbClr val="F5B700"/>
                </a:solidFill>
                <a:latin typeface="Arial"/>
                <a:ea typeface="Arial"/>
                <a:cs typeface="Arial"/>
              </a:rPr>
              <a:t>  REUSE</a:t>
            </a:r>
          </a:p>
          <a:p>
            <a:pPr algn="l" marL="0" indent="0">
              <a:lnSpc>
                <a:spcPct val="90000"/>
              </a:lnSpc>
              <a:buNone/>
            </a:pPr>
            <a:r>
              <a:rPr lang="en-US" sz="800" dirty="0">
                <a:solidFill>
                  <a:srgbClr val="F3E6D6"/>
                </a:solidFill>
                <a:latin typeface="Arial"/>
                <a:ea typeface="Arial"/>
                <a:cs typeface="Arial"/>
              </a:rPr>
              <a:t>best candidate only; ship via Kairos canary (slides 22, 24)</a:t>
            </a:r>
          </a:p>
        </p:txBody>
      </p:sp>
      <p:sp>
        <p:nvSpPr>
          <p:cNvPr id="214" name="gal 214"/>
          <p:cNvSpPr/>
          <p:nvPr/>
        </p:nvSpPr>
        <p:spPr>
          <a:xfrm>
            <a:off x="9436608" y="4096512"/>
            <a:ext cx="2139696"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Fine-tuning, last</a:t>
            </a:r>
            <a:r>
              <a:rPr lang="en-US" sz="800" b="1" dirty="0">
                <a:solidFill>
                  <a:srgbClr val="F5B700"/>
                </a:solidFill>
                <a:latin typeface="Arial"/>
                <a:ea typeface="Arial"/>
                <a:cs typeface="Arial"/>
              </a:rPr>
              <a:t>  P3</a:t>
            </a:r>
          </a:p>
          <a:p>
            <a:pPr algn="l" marL="0" indent="0">
              <a:lnSpc>
                <a:spcPct val="90000"/>
              </a:lnSpc>
              <a:buNone/>
            </a:pPr>
            <a:r>
              <a:rPr lang="en-US" sz="800" dirty="0">
                <a:solidFill>
                  <a:srgbClr val="F3E6D6"/>
                </a:solidFill>
                <a:latin typeface="Arial"/>
                <a:ea typeface="Arial"/>
                <a:cs typeface="Arial"/>
              </a:rPr>
              <a:t>TRL, Unsloth (SFT / DPO); verl, OpenRLHF, Agent Lightning (reward RL) [157]–[160][152]</a:t>
            </a:r>
          </a:p>
        </p:txBody>
      </p:sp>
      <p:cxnSp>
        <p:nvCxnSpPr>
          <p:cNvPr id="215" name="g2 flow 215"/>
          <p:cNvCxnSpPr/>
          <p:nvPr/>
        </p:nvCxnSpPr>
        <p:spPr>
          <a:xfrm>
            <a:off x="9079992" y="4261104"/>
            <a:ext cx="155448" cy="0"/>
          </a:xfrm>
          <a:prstGeom prst="line">
            <a:avLst/>
          </a:prstGeom>
          <a:ln w="15875">
            <a:solidFill>
              <a:srgbClr val="EE0000"/>
            </a:solidFill>
          </a:ln>
        </p:spPr>
      </p:cxnSp>
      <p:cxnSp>
        <p:nvCxnSpPr>
          <p:cNvPr id="216" name="g2 flow 216"/>
          <p:cNvCxnSpPr/>
          <p:nvPr/>
        </p:nvCxnSpPr>
        <p:spPr>
          <a:xfrm flipV="1">
            <a:off x="9235440" y="3630168"/>
            <a:ext cx="0" cy="630936"/>
          </a:xfrm>
          <a:prstGeom prst="line">
            <a:avLst/>
          </a:prstGeom>
          <a:ln w="15875">
            <a:solidFill>
              <a:srgbClr val="EE0000"/>
            </a:solidFill>
          </a:ln>
        </p:spPr>
      </p:cxnSp>
      <p:cxnSp>
        <p:nvCxnSpPr>
          <p:cNvPr id="217" name="g2 flow 217"/>
          <p:cNvCxnSpPr/>
          <p:nvPr/>
        </p:nvCxnSpPr>
        <p:spPr>
          <a:xfrm>
            <a:off x="9235440" y="3630168"/>
            <a:ext cx="201168" cy="0"/>
          </a:xfrm>
          <a:prstGeom prst="line">
            <a:avLst/>
          </a:prstGeom>
          <a:ln w="15875">
            <a:solidFill>
              <a:srgbClr val="EE0000"/>
            </a:solidFill>
            <a:tailEnd type="triangle" w="med" len="med"/>
          </a:ln>
        </p:spPr>
      </p:cxnSp>
      <p:sp>
        <p:nvSpPr>
          <p:cNvPr id="218" name="gal 218"/>
          <p:cNvSpPr/>
          <p:nvPr/>
        </p:nvSpPr>
        <p:spPr>
          <a:xfrm>
            <a:off x="9134856" y="3831336"/>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5</a:t>
            </a:r>
          </a:p>
        </p:txBody>
      </p:sp>
      <p:cxnSp>
        <p:nvCxnSpPr>
          <p:cNvPr id="219" name="g2 flow 219"/>
          <p:cNvCxnSpPr/>
          <p:nvPr/>
        </p:nvCxnSpPr>
        <p:spPr>
          <a:xfrm>
            <a:off x="9079992" y="4572000"/>
            <a:ext cx="356616" cy="0"/>
          </a:xfrm>
          <a:prstGeom prst="line">
            <a:avLst/>
          </a:prstGeom>
          <a:ln w="15875">
            <a:solidFill>
              <a:srgbClr val="EE0000"/>
            </a:solidFill>
            <a:prstDash val="dash"/>
            <a:tailEnd type="triangle" w="med" len="med"/>
          </a:ln>
        </p:spPr>
      </p:cxnSp>
      <p:sp>
        <p:nvSpPr>
          <p:cNvPr id="220" name="gal 220"/>
          <p:cNvSpPr/>
          <p:nvPr/>
        </p:nvSpPr>
        <p:spPr>
          <a:xfrm>
            <a:off x="9116568" y="4608576"/>
            <a:ext cx="365760" cy="155448"/>
          </a:xfrm>
          <a:prstGeom prst="rect">
            <a:avLst/>
          </a:prstGeom>
          <a:noFill/>
          <a:ln>
            <a:noFill/>
          </a:ln>
        </p:spPr>
        <p:txBody>
          <a:bodyPr wrap="square" lIns="0" tIns="0" rIns="0" bIns="0" rtlCol="0" anchor="ctr">
            <a:noAutofit/>
          </a:bodyPr>
          <a:lstStyle/>
          <a:p>
            <a:pPr algn="ctr" marL="0" indent="0">
              <a:buNone/>
            </a:pPr>
            <a:r>
              <a:rPr lang="en-US" sz="800" b="1" dirty="0">
                <a:solidFill>
                  <a:srgbClr val="F5B700"/>
                </a:solidFill>
                <a:latin typeface="Arial"/>
                <a:ea typeface="Arial"/>
                <a:cs typeface="Arial"/>
              </a:rPr>
              <a:t>7</a:t>
            </a:r>
          </a:p>
        </p:txBody>
      </p:sp>
      <p:cxnSp>
        <p:nvCxnSpPr>
          <p:cNvPr id="221" name="g2 flow 221"/>
          <p:cNvCxnSpPr/>
          <p:nvPr/>
        </p:nvCxnSpPr>
        <p:spPr>
          <a:xfrm flipV="1">
            <a:off x="5413248" y="2487168"/>
            <a:ext cx="0" cy="73152"/>
          </a:xfrm>
          <a:prstGeom prst="line">
            <a:avLst/>
          </a:prstGeom>
          <a:ln w="15875">
            <a:solidFill>
              <a:srgbClr val="EE0000"/>
            </a:solidFill>
          </a:ln>
        </p:spPr>
      </p:cxnSp>
      <p:cxnSp>
        <p:nvCxnSpPr>
          <p:cNvPr id="222" name="g2 flow 222"/>
          <p:cNvCxnSpPr/>
          <p:nvPr/>
        </p:nvCxnSpPr>
        <p:spPr>
          <a:xfrm>
            <a:off x="5413248" y="2487168"/>
            <a:ext cx="5093208" cy="0"/>
          </a:xfrm>
          <a:prstGeom prst="line">
            <a:avLst/>
          </a:prstGeom>
          <a:ln w="15875">
            <a:solidFill>
              <a:srgbClr val="EE0000"/>
            </a:solidFill>
          </a:ln>
        </p:spPr>
      </p:cxnSp>
      <p:cxnSp>
        <p:nvCxnSpPr>
          <p:cNvPr id="223" name="g2 flow 223"/>
          <p:cNvCxnSpPr/>
          <p:nvPr/>
        </p:nvCxnSpPr>
        <p:spPr>
          <a:xfrm>
            <a:off x="10506456" y="2487168"/>
            <a:ext cx="0" cy="73152"/>
          </a:xfrm>
          <a:prstGeom prst="line">
            <a:avLst/>
          </a:prstGeom>
          <a:ln w="15875">
            <a:solidFill>
              <a:srgbClr val="EE0000"/>
            </a:solidFill>
            <a:tailEnd type="triangle" w="med" len="med"/>
          </a:ln>
        </p:spPr>
      </p:cxnSp>
      <p:sp>
        <p:nvSpPr>
          <p:cNvPr id="224" name="gal 224"/>
          <p:cNvSpPr/>
          <p:nvPr/>
        </p:nvSpPr>
        <p:spPr>
          <a:xfrm>
            <a:off x="9153144" y="2386584"/>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6</a:t>
            </a:r>
          </a:p>
        </p:txBody>
      </p:sp>
      <p:sp>
        <p:nvSpPr>
          <p:cNvPr id="225" name="gal 225"/>
          <p:cNvSpPr/>
          <p:nvPr/>
        </p:nvSpPr>
        <p:spPr>
          <a:xfrm>
            <a:off x="612648" y="5029200"/>
            <a:ext cx="1280160" cy="685800"/>
          </a:xfrm>
          <a:prstGeom prst="rect">
            <a:avLst/>
          </a:prstGeom>
          <a:noFill/>
          <a:ln>
            <a:noFill/>
          </a:ln>
        </p:spPr>
        <p:txBody>
          <a:bodyPr wrap="square" lIns="0" tIns="0" rIns="0" bIns="0" rtlCol="0" anchor="ctr">
            <a:noAutofit/>
          </a:bodyPr>
          <a:lstStyle/>
          <a:p>
            <a:pPr algn="l" marL="0" indent="0">
              <a:lnSpc>
                <a:spcPct val="95000"/>
              </a:lnSpc>
              <a:buNone/>
            </a:pPr>
            <a:r>
              <a:rPr lang="en-US" sz="800" b="1" dirty="0">
                <a:solidFill>
                  <a:srgbClr val="D9B48A"/>
                </a:solidFill>
                <a:latin typeface="Arial"/>
                <a:ea typeface="Arial"/>
                <a:cs typeface="Arial"/>
              </a:rPr>
              <a:t>PARALLEL LANE</a:t>
            </a:r>
          </a:p>
          <a:p>
            <a:pPr algn="l" marL="0" indent="0">
              <a:lnSpc>
                <a:spcPct val="95000"/>
              </a:lnSpc>
              <a:buNone/>
            </a:pPr>
            <a:r>
              <a:rPr lang="en-US" sz="800" dirty="0">
                <a:solidFill>
                  <a:srgbClr val="F3E6D6"/>
                </a:solidFill>
                <a:latin typeface="Arial"/>
                <a:ea typeface="Arial"/>
                <a:cs typeface="Arial"/>
              </a:rPr>
              <a:t>memory per agent, runs beside the loop</a:t>
            </a:r>
          </a:p>
        </p:txBody>
      </p:sp>
      <p:sp>
        <p:nvSpPr>
          <p:cNvPr id="226" name="gal 226"/>
          <p:cNvSpPr/>
          <p:nvPr/>
        </p:nvSpPr>
        <p:spPr>
          <a:xfrm>
            <a:off x="2212848" y="5047488"/>
            <a:ext cx="1472184"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Memory builder</a:t>
            </a:r>
            <a:r>
              <a:rPr lang="en-US" sz="800" b="1" dirty="0">
                <a:solidFill>
                  <a:srgbClr val="F5B700"/>
                </a:solidFill>
                <a:latin typeface="Arial"/>
                <a:ea typeface="Arial"/>
                <a:cs typeface="Arial"/>
              </a:rPr>
              <a:t>  P2</a:t>
            </a:r>
          </a:p>
          <a:p>
            <a:pPr algn="l" marL="0" indent="0">
              <a:lnSpc>
                <a:spcPct val="90000"/>
              </a:lnSpc>
              <a:buNone/>
            </a:pPr>
            <a:r>
              <a:rPr lang="en-US" sz="800" dirty="0">
                <a:solidFill>
                  <a:srgbClr val="F3E6D6"/>
                </a:solidFill>
                <a:latin typeface="Arial"/>
                <a:ea typeface="Arial"/>
                <a:cs typeface="Arial"/>
              </a:rPr>
              <a:t>batch job per agent_id over OTel / Galileo / gateway traces</a:t>
            </a:r>
          </a:p>
        </p:txBody>
      </p:sp>
      <p:sp>
        <p:nvSpPr>
          <p:cNvPr id="227" name="gal 227"/>
          <p:cNvSpPr/>
          <p:nvPr/>
        </p:nvSpPr>
        <p:spPr>
          <a:xfrm>
            <a:off x="4041648" y="5047488"/>
            <a:ext cx="2752344"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Mem0 OSS · self-hosted</a:t>
            </a:r>
            <a:r>
              <a:rPr lang="en-US" sz="800" b="1" dirty="0">
                <a:solidFill>
                  <a:srgbClr val="F5B700"/>
                </a:solidFill>
                <a:latin typeface="Arial"/>
                <a:ea typeface="Arial"/>
                <a:cs typeface="Arial"/>
              </a:rPr>
              <a:t>  P2</a:t>
            </a:r>
          </a:p>
          <a:p>
            <a:pPr algn="l" marL="0" indent="0">
              <a:lnSpc>
                <a:spcPct val="90000"/>
              </a:lnSpc>
              <a:buNone/>
            </a:pPr>
            <a:r>
              <a:rPr lang="en-US" sz="800" dirty="0">
                <a:solidFill>
                  <a:srgbClr val="F3E6D6"/>
                </a:solidFill>
                <a:latin typeface="Arial"/>
                <a:ea typeface="Arial"/>
                <a:cs typeface="Arial"/>
              </a:rPr>
              <a:t>add() extracts facts + entities; search() filtered by agent; Apache-2.0 [140][141]</a:t>
            </a:r>
          </a:p>
          <a:p>
            <a:pPr algn="l" marL="0" indent="0">
              <a:lnSpc>
                <a:spcPct val="90000"/>
              </a:lnSpc>
              <a:buNone/>
            </a:pPr>
            <a:r>
              <a:rPr lang="en-US" sz="800" dirty="0">
                <a:solidFill>
                  <a:srgbClr val="F3E6D6"/>
                </a:solidFill>
                <a:latin typeface="Arial"/>
                <a:ea typeface="Arial"/>
                <a:cs typeface="Arial"/>
              </a:rPr>
              <a:t>platform-only optimisations are not in OSS</a:t>
            </a:r>
          </a:p>
        </p:txBody>
      </p:sp>
      <p:sp>
        <p:nvSpPr>
          <p:cNvPr id="228" name="gal 228"/>
          <p:cNvSpPr/>
          <p:nvPr/>
        </p:nvSpPr>
        <p:spPr>
          <a:xfrm>
            <a:off x="7150608" y="5047488"/>
            <a:ext cx="1929384"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Memory store</a:t>
            </a:r>
          </a:p>
          <a:p>
            <a:pPr algn="l" marL="0" indent="0">
              <a:lnSpc>
                <a:spcPct val="90000"/>
              </a:lnSpc>
              <a:buNone/>
            </a:pPr>
            <a:r>
              <a:rPr lang="en-US" sz="800" dirty="0">
                <a:solidFill>
                  <a:srgbClr val="F3E6D6"/>
                </a:solidFill>
                <a:latin typeface="Arial"/>
                <a:ea typeface="Arial"/>
                <a:cs typeface="Arial"/>
              </a:rPr>
              <a:t>vector store behind Mem0</a:t>
            </a:r>
          </a:p>
          <a:p>
            <a:pPr algn="l" marL="0" indent="0">
              <a:lnSpc>
                <a:spcPct val="90000"/>
              </a:lnSpc>
              <a:buNone/>
            </a:pPr>
            <a:r>
              <a:rPr lang="en-US" sz="800" dirty="0">
                <a:solidFill>
                  <a:srgbClr val="F3E6D6"/>
                </a:solidFill>
                <a:latin typeface="Arial"/>
                <a:ea typeface="Arial"/>
                <a:cs typeface="Arial"/>
              </a:rPr>
              <a:t>engine choice </a:t>
            </a:r>
            <a:r>
              <a:rPr lang="en-US" sz="800" b="1" dirty="0">
                <a:solidFill>
                  <a:srgbClr val="F5B700"/>
                </a:solidFill>
                <a:latin typeface="Arial"/>
                <a:ea typeface="Arial"/>
                <a:cs typeface="Arial"/>
              </a:rPr>
              <a:t>VERIFY</a:t>
            </a:r>
          </a:p>
        </p:txBody>
      </p:sp>
      <p:sp>
        <p:nvSpPr>
          <p:cNvPr id="229" name="gal 229"/>
          <p:cNvSpPr/>
          <p:nvPr/>
        </p:nvSpPr>
        <p:spPr>
          <a:xfrm>
            <a:off x="9436608" y="5047488"/>
            <a:ext cx="2139696" cy="658368"/>
          </a:xfrm>
          <a:prstGeom prst="roundRect">
            <a:avLst>
              <a:gd name="adj" fmla="val 10000"/>
            </a:avLst>
          </a:prstGeom>
          <a:solidFill>
            <a:srgbClr val="1E1412"/>
          </a:solidFill>
          <a:ln w="12700">
            <a:solidFill>
              <a:srgbClr val="D9B48A"/>
            </a:solidFill>
            <a:prstDash val="dash"/>
          </a:ln>
        </p:spPr>
        <p:txBody>
          <a:bodyPr wrap="square" lIns="64008" tIns="36576" rIns="45720" bIns="27432" rtlCol="0" anchor="ctr">
            <a:noAutofit/>
          </a:bodyPr>
          <a:lstStyle/>
          <a:p>
            <a:pPr algn="l" marL="0" indent="0">
              <a:lnSpc>
                <a:spcPct val="90000"/>
              </a:lnSpc>
              <a:buNone/>
            </a:pPr>
            <a:r>
              <a:rPr lang="en-US" sz="900" b="1" dirty="0">
                <a:solidFill>
                  <a:srgbClr val="FFFFFF"/>
                </a:solidFill>
                <a:latin typeface="Arial"/>
                <a:ea typeface="Arial"/>
                <a:cs typeface="Arial"/>
              </a:rPr>
              <a:t>Agents read memory</a:t>
            </a:r>
          </a:p>
          <a:p>
            <a:pPr algn="l" marL="0" indent="0">
              <a:lnSpc>
                <a:spcPct val="90000"/>
              </a:lnSpc>
              <a:buNone/>
            </a:pPr>
            <a:r>
              <a:rPr lang="en-US" sz="800" dirty="0">
                <a:solidFill>
                  <a:srgbClr val="F3E6D6"/>
                </a:solidFill>
                <a:latin typeface="Arial"/>
                <a:ea typeface="Arial"/>
                <a:cs typeface="Arial"/>
              </a:rPr>
              <a:t>Strands mem0_memory tool [145]; memory quality scored in path 4</a:t>
            </a:r>
          </a:p>
        </p:txBody>
      </p:sp>
      <p:cxnSp>
        <p:nvCxnSpPr>
          <p:cNvPr id="230" name="g2 flow 230"/>
          <p:cNvCxnSpPr/>
          <p:nvPr/>
        </p:nvCxnSpPr>
        <p:spPr>
          <a:xfrm>
            <a:off x="2944368" y="4754880"/>
            <a:ext cx="0" cy="292608"/>
          </a:xfrm>
          <a:prstGeom prst="line">
            <a:avLst/>
          </a:prstGeom>
          <a:ln w="15875">
            <a:solidFill>
              <a:srgbClr val="EE0000"/>
            </a:solidFill>
            <a:tailEnd type="triangle" w="med" len="med"/>
          </a:ln>
        </p:spPr>
      </p:cxnSp>
      <p:sp>
        <p:nvSpPr>
          <p:cNvPr id="231" name="gal 231"/>
          <p:cNvSpPr/>
          <p:nvPr/>
        </p:nvSpPr>
        <p:spPr>
          <a:xfrm>
            <a:off x="3008376" y="4809744"/>
            <a:ext cx="201168" cy="201168"/>
          </a:xfrm>
          <a:prstGeom prst="ellipse">
            <a:avLst/>
          </a:prstGeom>
          <a:solidFill>
            <a:srgbClr val="F5B700"/>
          </a:solidFill>
          <a:ln>
            <a:noFill/>
          </a:ln>
        </p:spPr>
        <p:txBody>
          <a:bodyPr wrap="square" lIns="0" tIns="0" rIns="0" bIns="0" rtlCol="0" anchor="ctr">
            <a:noAutofit/>
          </a:bodyPr>
          <a:lstStyle/>
          <a:p>
            <a:pPr algn="ctr" marL="0" indent="0">
              <a:buNone/>
            </a:pPr>
            <a:r>
              <a:rPr lang="en-US" sz="800" b="1" dirty="0">
                <a:solidFill>
                  <a:srgbClr val="141010"/>
                </a:solidFill>
                <a:latin typeface="Arial"/>
                <a:ea typeface="Arial"/>
                <a:cs typeface="Arial"/>
              </a:rPr>
              <a:t>M</a:t>
            </a:r>
          </a:p>
        </p:txBody>
      </p:sp>
      <p:cxnSp>
        <p:nvCxnSpPr>
          <p:cNvPr id="232" name="g2 flow 232"/>
          <p:cNvCxnSpPr/>
          <p:nvPr/>
        </p:nvCxnSpPr>
        <p:spPr>
          <a:xfrm>
            <a:off x="3685032" y="5376672"/>
            <a:ext cx="356616" cy="0"/>
          </a:xfrm>
          <a:prstGeom prst="line">
            <a:avLst/>
          </a:prstGeom>
          <a:ln w="15875">
            <a:solidFill>
              <a:srgbClr val="EE0000"/>
            </a:solidFill>
            <a:tailEnd type="triangle" w="med" len="med"/>
          </a:ln>
        </p:spPr>
      </p:cxnSp>
      <p:cxnSp>
        <p:nvCxnSpPr>
          <p:cNvPr id="233" name="g2 flow 233"/>
          <p:cNvCxnSpPr/>
          <p:nvPr/>
        </p:nvCxnSpPr>
        <p:spPr>
          <a:xfrm>
            <a:off x="6793992" y="5376672"/>
            <a:ext cx="356616" cy="0"/>
          </a:xfrm>
          <a:prstGeom prst="line">
            <a:avLst/>
          </a:prstGeom>
          <a:ln w="15875">
            <a:solidFill>
              <a:srgbClr val="EE0000"/>
            </a:solidFill>
            <a:tailEnd type="triangle" w="med" len="med"/>
          </a:ln>
        </p:spPr>
      </p:cxnSp>
      <p:cxnSp>
        <p:nvCxnSpPr>
          <p:cNvPr id="234" name="g2 flow 234"/>
          <p:cNvCxnSpPr/>
          <p:nvPr/>
        </p:nvCxnSpPr>
        <p:spPr>
          <a:xfrm>
            <a:off x="9079992" y="5376672"/>
            <a:ext cx="356616" cy="0"/>
          </a:xfrm>
          <a:prstGeom prst="line">
            <a:avLst/>
          </a:prstGeom>
          <a:ln w="15875">
            <a:solidFill>
              <a:srgbClr val="EE0000"/>
            </a:solidFill>
            <a:tailEnd type="triangle" w="med" len="med"/>
          </a:ln>
        </p:spPr>
      </p:cxnSp>
      <p:sp>
        <p:nvSpPr>
          <p:cNvPr id="235" name="gal 235"/>
          <p:cNvSpPr/>
          <p:nvPr/>
        </p:nvSpPr>
        <p:spPr>
          <a:xfrm>
            <a:off x="548640" y="5870448"/>
            <a:ext cx="3624072" cy="420624"/>
          </a:xfrm>
          <a:prstGeom prst="roundRect">
            <a:avLst>
              <a:gd name="adj" fmla="val 10000"/>
            </a:avLst>
          </a:prstGeom>
          <a:solidFill>
            <a:srgbClr val="F5B700"/>
          </a:solidFill>
          <a:ln>
            <a:noFill/>
          </a:ln>
        </p:spPr>
        <p:txBody>
          <a:bodyPr wrap="square" lIns="82296" tIns="27432" rIns="64008" bIns="27432" rtlCol="0" anchor="ctr">
            <a:noAutofit/>
          </a:bodyPr>
          <a:lstStyle/>
          <a:p>
            <a:pPr algn="l" marL="0" indent="0">
              <a:lnSpc>
                <a:spcPct val="92000"/>
              </a:lnSpc>
              <a:buNone/>
            </a:pPr>
            <a:r>
              <a:rPr lang="en-US" sz="850" b="1" dirty="0">
                <a:solidFill>
                  <a:srgbClr val="141010"/>
                </a:solidFill>
                <a:latin typeface="Arial"/>
                <a:ea typeface="Arial"/>
                <a:cs typeface="Arial"/>
              </a:rPr>
              <a:t>PHASE 1 · day one  </a:t>
            </a:r>
            <a:r>
              <a:rPr lang="en-US" sz="800" dirty="0">
                <a:solidFill>
                  <a:srgbClr val="141010"/>
                </a:solidFill>
                <a:latin typeface="Arial"/>
                <a:ea typeface="Arial"/>
                <a:cs typeface="Arial"/>
              </a:rPr>
              <a:t>REUSE collector, Langfuse, gateway, gates. ADD trace adapter, HALO reports, cost SQL, GEPA, simulators, insights.</a:t>
            </a:r>
          </a:p>
        </p:txBody>
      </p:sp>
      <p:sp>
        <p:nvSpPr>
          <p:cNvPr id="236" name="gal 236"/>
          <p:cNvSpPr/>
          <p:nvPr/>
        </p:nvSpPr>
        <p:spPr>
          <a:xfrm>
            <a:off x="4282440" y="5870448"/>
            <a:ext cx="3624072" cy="420624"/>
          </a:xfrm>
          <a:prstGeom prst="roundRect">
            <a:avLst>
              <a:gd name="adj" fmla="val 10000"/>
            </a:avLst>
          </a:prstGeom>
          <a:solidFill>
            <a:srgbClr val="1E1412"/>
          </a:solidFill>
          <a:ln w="12700">
            <a:solidFill>
              <a:srgbClr val="D9B48A"/>
            </a:solidFill>
            <a:prstDash val="dash"/>
          </a:ln>
        </p:spPr>
        <p:txBody>
          <a:bodyPr wrap="square" lIns="82296" tIns="27432" rIns="64008" bIns="27432" rtlCol="0" anchor="ctr">
            <a:noAutofit/>
          </a:bodyPr>
          <a:lstStyle/>
          <a:p>
            <a:pPr algn="l" marL="0" indent="0">
              <a:lnSpc>
                <a:spcPct val="92000"/>
              </a:lnSpc>
              <a:buNone/>
            </a:pPr>
            <a:r>
              <a:rPr lang="en-US" sz="850" b="1" dirty="0">
                <a:solidFill>
                  <a:srgbClr val="F5B700"/>
                </a:solidFill>
                <a:latin typeface="Arial"/>
                <a:ea typeface="Arial"/>
                <a:cs typeface="Arial"/>
              </a:rPr>
              <a:t>PHASE 2  </a:t>
            </a:r>
            <a:r>
              <a:rPr lang="en-US" sz="800" dirty="0">
                <a:solidFill>
                  <a:srgbClr val="F3E6D6"/>
                </a:solidFill>
                <a:latin typeface="Arial"/>
                <a:ea typeface="Arial"/>
                <a:cs typeface="Arial"/>
              </a:rPr>
              <a:t>Mem0 lane, synthetic data, reward per task, Future AGI UI pilot (licence of ee/ features VERIFY).</a:t>
            </a:r>
          </a:p>
        </p:txBody>
      </p:sp>
      <p:sp>
        <p:nvSpPr>
          <p:cNvPr id="237" name="gal 237"/>
          <p:cNvSpPr/>
          <p:nvPr/>
        </p:nvSpPr>
        <p:spPr>
          <a:xfrm>
            <a:off x="8016240" y="5870448"/>
            <a:ext cx="3624072" cy="420624"/>
          </a:xfrm>
          <a:prstGeom prst="roundRect">
            <a:avLst>
              <a:gd name="adj" fmla="val 10000"/>
            </a:avLst>
          </a:prstGeom>
          <a:solidFill>
            <a:srgbClr val="1E1412"/>
          </a:solidFill>
          <a:ln w="12700">
            <a:solidFill>
              <a:srgbClr val="D9B48A"/>
            </a:solidFill>
            <a:prstDash val="dash"/>
          </a:ln>
        </p:spPr>
        <p:txBody>
          <a:bodyPr wrap="square" lIns="82296" tIns="27432" rIns="64008" bIns="27432" rtlCol="0" anchor="ctr">
            <a:noAutofit/>
          </a:bodyPr>
          <a:lstStyle/>
          <a:p>
            <a:pPr algn="l" marL="0" indent="0">
              <a:lnSpc>
                <a:spcPct val="92000"/>
              </a:lnSpc>
              <a:buNone/>
            </a:pPr>
            <a:r>
              <a:rPr lang="en-US" sz="850" b="1" dirty="0">
                <a:solidFill>
                  <a:srgbClr val="F5B700"/>
                </a:solidFill>
                <a:latin typeface="Arial"/>
                <a:ea typeface="Arial"/>
                <a:cs typeface="Arial"/>
              </a:rPr>
              <a:t>PHASE 3 · last  </a:t>
            </a:r>
            <a:r>
              <a:rPr lang="en-US" sz="800" dirty="0">
                <a:solidFill>
                  <a:srgbClr val="F3E6D6"/>
                </a:solidFill>
                <a:latin typeface="Arial"/>
                <a:ea typeface="Arial"/>
                <a:cs typeface="Arial"/>
              </a:rPr>
              <a:t>fine-tune only on a plateau: TRL / Unsloth first, then reward RL (verl, OpenRLHF, Agent Lightning).</a:t>
            </a:r>
          </a:p>
        </p:txBody>
      </p:sp>
      <p:sp>
        <p:nvSpPr>
          <p:cNvPr id="238" name="gal 238"/>
          <p:cNvSpPr/>
          <p:nvPr/>
        </p:nvSpPr>
        <p:spPr>
          <a:xfrm>
            <a:off x="548640" y="6355080"/>
            <a:ext cx="11091672" cy="292608"/>
          </a:xfrm>
          <a:prstGeom prst="rect">
            <a:avLst/>
          </a:prstGeom>
          <a:noFill/>
          <a:ln>
            <a:noFill/>
          </a:ln>
        </p:spPr>
        <p:txBody>
          <a:bodyPr wrap="square" lIns="0" tIns="0" rIns="0" bIns="0" rtlCol="0" anchor="ctr">
            <a:noAutofit/>
          </a:bodyPr>
          <a:lstStyle/>
          <a:p>
            <a:pPr algn="l" marL="0" indent="0">
              <a:buNone/>
            </a:pPr>
            <a:r>
              <a:rPr lang="en-US" sz="800" dirty="0">
                <a:solidFill>
                  <a:srgbClr val="D9B48A"/>
                </a:solidFill>
                <a:latin typeface="Arial"/>
                <a:ea typeface="Arial"/>
                <a:cs typeface="Arial"/>
              </a:rPr>
              <a:t>Paths: 1 ingest · 2 analyse · 3 propose · 4 simulate ↔ optimise · 5 select · 6 report · 7 fine-tune (dashed = only on a plateau) · M memory. System view of the slide 22 loop. Licences from GitHub, 15 Oct 2026 [137]–[165]; Arize Phoenix (Elastic 2.0) and TextGrad (inactive since Jul 2025) left out.</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141010"/>
            </a:gs>
            <a:gs pos="55000">
              <a:srgbClr val="1F0C0E"/>
            </a:gs>
            <a:gs pos="100000">
              <a:srgbClr val="4A0E14"/>
            </a:gs>
          </a:gsLst>
          <a:lin ang="2700000" scaled="0"/>
        </a:gradFill>
        <a:effectLst/>
      </p:bgPr>
    </p:bg>
    <p:spTree>
      <p:nvGrpSpPr>
        <p:cNvPr id="1" name=""/>
        <p:cNvGrpSpPr/>
        <p:nvPr/>
      </p:nvGrpSpPr>
      <p:grpSpPr>
        <a:xfrm>
          <a:off x="0" y="0"/>
          <a:ext cx="0" cy="0"/>
          <a:chOff x="0" y="0"/>
          <a:chExt cx="0" cy="0"/>
        </a:xfrm>
      </p:grpSpPr>
      <p:sp>
        <p:nvSpPr>
          <p:cNvPr id="2" name="Shape 0"/>
          <p:cNvSpPr/>
          <p:nvPr/>
        </p:nvSpPr>
        <p:spPr>
          <a:xfrm>
            <a:off x="-5895137" y="-303581"/>
            <a:ext cx="8621878" cy="8621878"/>
          </a:xfrm>
          <a:prstGeom prst="ellipse">
            <a:avLst/>
          </a:prstGeom>
          <a:solidFill>
            <a:srgbClr val="8A0F1A">
              <a:alpha val="2547"/>
            </a:srgbClr>
          </a:solidFill>
          <a:ln/>
        </p:spPr>
      </p:sp>
      <p:sp>
        <p:nvSpPr>
          <p:cNvPr id="3" name="Shape 1"/>
          <p:cNvSpPr/>
          <p:nvPr/>
        </p:nvSpPr>
        <p:spPr>
          <a:xfrm>
            <a:off x="-5715514" y="-123958"/>
            <a:ext cx="8262633" cy="8262633"/>
          </a:xfrm>
          <a:prstGeom prst="ellipse">
            <a:avLst/>
          </a:prstGeom>
          <a:solidFill>
            <a:srgbClr val="8A0F1A">
              <a:alpha val="4218"/>
            </a:srgbClr>
          </a:solidFill>
          <a:ln/>
        </p:spPr>
      </p:sp>
      <p:sp>
        <p:nvSpPr>
          <p:cNvPr id="4" name="Shape 2"/>
          <p:cNvSpPr/>
          <p:nvPr/>
        </p:nvSpPr>
        <p:spPr>
          <a:xfrm>
            <a:off x="-5535892" y="55664"/>
            <a:ext cx="7903388" cy="7903388"/>
          </a:xfrm>
          <a:prstGeom prst="ellipse">
            <a:avLst/>
          </a:prstGeom>
          <a:solidFill>
            <a:srgbClr val="8A0F1A">
              <a:alpha val="4138"/>
            </a:srgbClr>
          </a:solidFill>
          <a:ln/>
        </p:spPr>
      </p:sp>
      <p:sp>
        <p:nvSpPr>
          <p:cNvPr id="5" name="Shape 3"/>
          <p:cNvSpPr/>
          <p:nvPr/>
        </p:nvSpPr>
        <p:spPr>
          <a:xfrm>
            <a:off x="-5356269" y="235287"/>
            <a:ext cx="7544143" cy="7544143"/>
          </a:xfrm>
          <a:prstGeom prst="ellipse">
            <a:avLst/>
          </a:prstGeom>
          <a:solidFill>
            <a:srgbClr val="8A0F1A">
              <a:alpha val="2636"/>
            </a:srgbClr>
          </a:solidFill>
          <a:ln/>
        </p:spPr>
      </p:sp>
      <p:sp>
        <p:nvSpPr>
          <p:cNvPr id="6" name="Shape 4"/>
          <p:cNvSpPr/>
          <p:nvPr/>
        </p:nvSpPr>
        <p:spPr>
          <a:xfrm>
            <a:off x="-5176647" y="414909"/>
            <a:ext cx="7184898" cy="7184898"/>
          </a:xfrm>
          <a:prstGeom prst="ellipse">
            <a:avLst/>
          </a:prstGeom>
          <a:solidFill>
            <a:srgbClr val="8A0F1A">
              <a:alpha val="2661"/>
            </a:srgbClr>
          </a:solidFill>
          <a:ln/>
        </p:spPr>
      </p:sp>
      <p:sp>
        <p:nvSpPr>
          <p:cNvPr id="7" name="Shape 5"/>
          <p:cNvSpPr/>
          <p:nvPr/>
        </p:nvSpPr>
        <p:spPr>
          <a:xfrm>
            <a:off x="-4997025" y="594531"/>
            <a:ext cx="6825653" cy="6825653"/>
          </a:xfrm>
          <a:prstGeom prst="ellipse">
            <a:avLst/>
          </a:prstGeom>
          <a:solidFill>
            <a:srgbClr val="8A0F1A">
              <a:alpha val="3304"/>
            </a:srgbClr>
          </a:solidFill>
          <a:ln/>
        </p:spPr>
      </p:sp>
      <p:sp>
        <p:nvSpPr>
          <p:cNvPr id="8" name="Shape 6"/>
          <p:cNvSpPr/>
          <p:nvPr/>
        </p:nvSpPr>
        <p:spPr>
          <a:xfrm>
            <a:off x="-4817402" y="774154"/>
            <a:ext cx="6466408" cy="6466408"/>
          </a:xfrm>
          <a:prstGeom prst="ellipse">
            <a:avLst/>
          </a:prstGeom>
          <a:solidFill>
            <a:srgbClr val="8A0F1A">
              <a:alpha val="3622"/>
            </a:srgbClr>
          </a:solidFill>
          <a:ln/>
        </p:spPr>
      </p:sp>
      <p:sp>
        <p:nvSpPr>
          <p:cNvPr id="9" name="Shape 7"/>
          <p:cNvSpPr/>
          <p:nvPr/>
        </p:nvSpPr>
        <p:spPr>
          <a:xfrm>
            <a:off x="-4637780" y="953776"/>
            <a:ext cx="6107163" cy="6107163"/>
          </a:xfrm>
          <a:prstGeom prst="ellipse">
            <a:avLst/>
          </a:prstGeom>
          <a:solidFill>
            <a:srgbClr val="8A0F1A">
              <a:alpha val="3650"/>
            </a:srgbClr>
          </a:solidFill>
          <a:ln/>
        </p:spPr>
      </p:sp>
      <p:sp>
        <p:nvSpPr>
          <p:cNvPr id="10" name="Shape 8"/>
          <p:cNvSpPr/>
          <p:nvPr/>
        </p:nvSpPr>
        <p:spPr>
          <a:xfrm>
            <a:off x="-4458157" y="1133399"/>
            <a:ext cx="5747918" cy="5747918"/>
          </a:xfrm>
          <a:prstGeom prst="ellipse">
            <a:avLst/>
          </a:prstGeom>
          <a:solidFill>
            <a:srgbClr val="8A0F1A">
              <a:alpha val="3631"/>
            </a:srgbClr>
          </a:solidFill>
          <a:ln/>
        </p:spPr>
      </p:sp>
      <p:sp>
        <p:nvSpPr>
          <p:cNvPr id="11" name="Shape 9"/>
          <p:cNvSpPr/>
          <p:nvPr/>
        </p:nvSpPr>
        <p:spPr>
          <a:xfrm>
            <a:off x="-4278535" y="1313021"/>
            <a:ext cx="5388674" cy="5388674"/>
          </a:xfrm>
          <a:prstGeom prst="ellipse">
            <a:avLst/>
          </a:prstGeom>
          <a:solidFill>
            <a:srgbClr val="8A0F1A">
              <a:alpha val="3693"/>
            </a:srgbClr>
          </a:solidFill>
          <a:ln/>
        </p:spPr>
      </p:sp>
      <p:sp>
        <p:nvSpPr>
          <p:cNvPr id="12" name="Shape 10"/>
          <p:cNvSpPr/>
          <p:nvPr/>
        </p:nvSpPr>
        <p:spPr>
          <a:xfrm>
            <a:off x="-4098912" y="1492644"/>
            <a:ext cx="5029429" cy="5029429"/>
          </a:xfrm>
          <a:prstGeom prst="ellipse">
            <a:avLst/>
          </a:prstGeom>
          <a:solidFill>
            <a:srgbClr val="8A0F1A">
              <a:alpha val="4536"/>
            </a:srgbClr>
          </a:solidFill>
          <a:ln/>
        </p:spPr>
      </p:sp>
      <p:sp>
        <p:nvSpPr>
          <p:cNvPr id="13" name="Shape 11"/>
          <p:cNvSpPr/>
          <p:nvPr/>
        </p:nvSpPr>
        <p:spPr>
          <a:xfrm>
            <a:off x="-3919290" y="1672266"/>
            <a:ext cx="4670184" cy="4670184"/>
          </a:xfrm>
          <a:prstGeom prst="ellipse">
            <a:avLst/>
          </a:prstGeom>
          <a:solidFill>
            <a:srgbClr val="8A0F1A">
              <a:alpha val="4737"/>
            </a:srgbClr>
          </a:solidFill>
          <a:ln/>
        </p:spPr>
      </p:sp>
      <p:sp>
        <p:nvSpPr>
          <p:cNvPr id="14" name="Shape 12"/>
          <p:cNvSpPr/>
          <p:nvPr/>
        </p:nvSpPr>
        <p:spPr>
          <a:xfrm>
            <a:off x="-3739667" y="1851889"/>
            <a:ext cx="4310939" cy="4310939"/>
          </a:xfrm>
          <a:prstGeom prst="ellipse">
            <a:avLst/>
          </a:prstGeom>
          <a:solidFill>
            <a:srgbClr val="8A0F1A">
              <a:alpha val="4994"/>
            </a:srgbClr>
          </a:solidFill>
          <a:ln/>
        </p:spPr>
      </p:sp>
      <p:sp>
        <p:nvSpPr>
          <p:cNvPr id="15" name="Shape 13"/>
          <p:cNvSpPr/>
          <p:nvPr/>
        </p:nvSpPr>
        <p:spPr>
          <a:xfrm>
            <a:off x="-3560045" y="2031511"/>
            <a:ext cx="3951694" cy="3951694"/>
          </a:xfrm>
          <a:prstGeom prst="ellipse">
            <a:avLst/>
          </a:prstGeom>
          <a:solidFill>
            <a:srgbClr val="8A0F1A">
              <a:alpha val="5272"/>
            </a:srgbClr>
          </a:solidFill>
          <a:ln/>
        </p:spPr>
      </p:sp>
      <p:sp>
        <p:nvSpPr>
          <p:cNvPr id="16" name="Shape 14"/>
          <p:cNvSpPr/>
          <p:nvPr/>
        </p:nvSpPr>
        <p:spPr>
          <a:xfrm>
            <a:off x="-3380423" y="2211134"/>
            <a:ext cx="3592449" cy="3592449"/>
          </a:xfrm>
          <a:prstGeom prst="ellipse">
            <a:avLst/>
          </a:prstGeom>
          <a:solidFill>
            <a:srgbClr val="8A0F1A">
              <a:alpha val="5521"/>
            </a:srgbClr>
          </a:solidFill>
          <a:ln/>
        </p:spPr>
      </p:sp>
      <p:sp>
        <p:nvSpPr>
          <p:cNvPr id="17" name="Shape 15"/>
          <p:cNvSpPr/>
          <p:nvPr/>
        </p:nvSpPr>
        <p:spPr>
          <a:xfrm>
            <a:off x="-3200800" y="2390756"/>
            <a:ext cx="3233204" cy="3233204"/>
          </a:xfrm>
          <a:prstGeom prst="ellipse">
            <a:avLst/>
          </a:prstGeom>
          <a:solidFill>
            <a:srgbClr val="8A0F1A">
              <a:alpha val="6496"/>
            </a:srgbClr>
          </a:solidFill>
          <a:ln/>
        </p:spPr>
      </p:sp>
      <p:sp>
        <p:nvSpPr>
          <p:cNvPr id="18" name="Shape 16"/>
          <p:cNvSpPr/>
          <p:nvPr/>
        </p:nvSpPr>
        <p:spPr>
          <a:xfrm>
            <a:off x="-3021178" y="2570378"/>
            <a:ext cx="2873959" cy="2873959"/>
          </a:xfrm>
          <a:prstGeom prst="ellipse">
            <a:avLst/>
          </a:prstGeom>
          <a:solidFill>
            <a:srgbClr val="8A0F1A">
              <a:alpha val="6768"/>
            </a:srgbClr>
          </a:solidFill>
          <a:ln/>
        </p:spPr>
      </p:sp>
      <p:sp>
        <p:nvSpPr>
          <p:cNvPr id="19" name="Shape 17"/>
          <p:cNvSpPr/>
          <p:nvPr/>
        </p:nvSpPr>
        <p:spPr>
          <a:xfrm>
            <a:off x="-2841555" y="2750001"/>
            <a:ext cx="2514714" cy="2514714"/>
          </a:xfrm>
          <a:prstGeom prst="ellipse">
            <a:avLst/>
          </a:prstGeom>
          <a:solidFill>
            <a:srgbClr val="8A0F1A">
              <a:alpha val="7123"/>
            </a:srgbClr>
          </a:solidFill>
          <a:ln/>
        </p:spPr>
      </p:sp>
      <p:sp>
        <p:nvSpPr>
          <p:cNvPr id="20" name="Shape 18"/>
          <p:cNvSpPr/>
          <p:nvPr/>
        </p:nvSpPr>
        <p:spPr>
          <a:xfrm>
            <a:off x="-2661933" y="2929623"/>
            <a:ext cx="2155469" cy="2155469"/>
          </a:xfrm>
          <a:prstGeom prst="ellipse">
            <a:avLst/>
          </a:prstGeom>
          <a:solidFill>
            <a:srgbClr val="8A0F1A">
              <a:alpha val="7486"/>
            </a:srgbClr>
          </a:solidFill>
          <a:ln/>
        </p:spPr>
      </p:sp>
      <p:sp>
        <p:nvSpPr>
          <p:cNvPr id="21" name="Shape 19"/>
          <p:cNvSpPr/>
          <p:nvPr/>
        </p:nvSpPr>
        <p:spPr>
          <a:xfrm>
            <a:off x="-2482310" y="3109246"/>
            <a:ext cx="1796225" cy="1796225"/>
          </a:xfrm>
          <a:prstGeom prst="ellipse">
            <a:avLst/>
          </a:prstGeom>
          <a:solidFill>
            <a:srgbClr val="8A0F1A">
              <a:alpha val="8191"/>
            </a:srgbClr>
          </a:solidFill>
          <a:ln/>
        </p:spPr>
      </p:sp>
      <p:sp>
        <p:nvSpPr>
          <p:cNvPr id="22" name="Shape 20"/>
          <p:cNvSpPr/>
          <p:nvPr/>
        </p:nvSpPr>
        <p:spPr>
          <a:xfrm>
            <a:off x="-2302688" y="3288868"/>
            <a:ext cx="1436980" cy="1436980"/>
          </a:xfrm>
          <a:prstGeom prst="ellipse">
            <a:avLst/>
          </a:prstGeom>
          <a:solidFill>
            <a:srgbClr val="8A0F1A">
              <a:alpha val="9466"/>
            </a:srgbClr>
          </a:solidFill>
          <a:ln/>
        </p:spPr>
      </p:sp>
      <p:sp>
        <p:nvSpPr>
          <p:cNvPr id="23" name="Shape 21"/>
          <p:cNvSpPr/>
          <p:nvPr/>
        </p:nvSpPr>
        <p:spPr>
          <a:xfrm>
            <a:off x="-2123065" y="3468491"/>
            <a:ext cx="1077735" cy="1077735"/>
          </a:xfrm>
          <a:prstGeom prst="ellipse">
            <a:avLst/>
          </a:prstGeom>
          <a:solidFill>
            <a:srgbClr val="8A0F1A">
              <a:alpha val="10120"/>
            </a:srgbClr>
          </a:solidFill>
          <a:ln/>
        </p:spPr>
      </p:sp>
      <p:sp>
        <p:nvSpPr>
          <p:cNvPr id="24" name="Shape 22"/>
          <p:cNvSpPr/>
          <p:nvPr/>
        </p:nvSpPr>
        <p:spPr>
          <a:xfrm>
            <a:off x="-1943443" y="3648113"/>
            <a:ext cx="718490" cy="718490"/>
          </a:xfrm>
          <a:prstGeom prst="ellipse">
            <a:avLst/>
          </a:prstGeom>
          <a:solidFill>
            <a:srgbClr val="8A0F1A">
              <a:alpha val="10280"/>
            </a:srgbClr>
          </a:solidFill>
          <a:ln/>
        </p:spPr>
      </p:sp>
      <p:sp>
        <p:nvSpPr>
          <p:cNvPr id="25" name="Shape 23"/>
          <p:cNvSpPr/>
          <p:nvPr/>
        </p:nvSpPr>
        <p:spPr>
          <a:xfrm>
            <a:off x="-1763820" y="3827736"/>
            <a:ext cx="359245" cy="359245"/>
          </a:xfrm>
          <a:prstGeom prst="ellipse">
            <a:avLst/>
          </a:prstGeom>
          <a:solidFill>
            <a:srgbClr val="8A0F1A">
              <a:alpha val="10999"/>
            </a:srgbClr>
          </a:solidFill>
          <a:ln/>
        </p:spPr>
      </p:sp>
      <p:sp>
        <p:nvSpPr>
          <p:cNvPr id="26" name="Shape 24"/>
          <p:cNvSpPr/>
          <p:nvPr/>
        </p:nvSpPr>
        <p:spPr>
          <a:xfrm>
            <a:off x="6768389" y="3611880"/>
            <a:ext cx="8621878" cy="8621878"/>
          </a:xfrm>
          <a:prstGeom prst="ellipse">
            <a:avLst/>
          </a:prstGeom>
          <a:solidFill>
            <a:srgbClr val="8A0F1A">
              <a:alpha val="2547"/>
            </a:srgbClr>
          </a:solidFill>
          <a:ln/>
        </p:spPr>
      </p:sp>
      <p:sp>
        <p:nvSpPr>
          <p:cNvPr id="27" name="Shape 25"/>
          <p:cNvSpPr/>
          <p:nvPr/>
        </p:nvSpPr>
        <p:spPr>
          <a:xfrm>
            <a:off x="6948011" y="3791502"/>
            <a:ext cx="8262633" cy="8262633"/>
          </a:xfrm>
          <a:prstGeom prst="ellipse">
            <a:avLst/>
          </a:prstGeom>
          <a:solidFill>
            <a:srgbClr val="8A0F1A">
              <a:alpha val="4218"/>
            </a:srgbClr>
          </a:solidFill>
          <a:ln/>
        </p:spPr>
      </p:sp>
      <p:sp>
        <p:nvSpPr>
          <p:cNvPr id="28" name="Shape 26"/>
          <p:cNvSpPr/>
          <p:nvPr/>
        </p:nvSpPr>
        <p:spPr>
          <a:xfrm>
            <a:off x="7127634" y="3971125"/>
            <a:ext cx="7903388" cy="7903388"/>
          </a:xfrm>
          <a:prstGeom prst="ellipse">
            <a:avLst/>
          </a:prstGeom>
          <a:solidFill>
            <a:srgbClr val="8A0F1A">
              <a:alpha val="4138"/>
            </a:srgbClr>
          </a:solidFill>
          <a:ln/>
        </p:spPr>
      </p:sp>
      <p:sp>
        <p:nvSpPr>
          <p:cNvPr id="29" name="Shape 27"/>
          <p:cNvSpPr/>
          <p:nvPr/>
        </p:nvSpPr>
        <p:spPr>
          <a:xfrm>
            <a:off x="7307256" y="4150747"/>
            <a:ext cx="7544143" cy="7544143"/>
          </a:xfrm>
          <a:prstGeom prst="ellipse">
            <a:avLst/>
          </a:prstGeom>
          <a:solidFill>
            <a:srgbClr val="8A0F1A">
              <a:alpha val="2636"/>
            </a:srgbClr>
          </a:solidFill>
          <a:ln/>
        </p:spPr>
      </p:sp>
      <p:sp>
        <p:nvSpPr>
          <p:cNvPr id="30" name="Shape 28"/>
          <p:cNvSpPr/>
          <p:nvPr/>
        </p:nvSpPr>
        <p:spPr>
          <a:xfrm>
            <a:off x="7486879" y="4330370"/>
            <a:ext cx="7184898" cy="7184898"/>
          </a:xfrm>
          <a:prstGeom prst="ellipse">
            <a:avLst/>
          </a:prstGeom>
          <a:solidFill>
            <a:srgbClr val="8A0F1A">
              <a:alpha val="2661"/>
            </a:srgbClr>
          </a:solidFill>
          <a:ln/>
        </p:spPr>
      </p:sp>
      <p:sp>
        <p:nvSpPr>
          <p:cNvPr id="31" name="Shape 29"/>
          <p:cNvSpPr/>
          <p:nvPr/>
        </p:nvSpPr>
        <p:spPr>
          <a:xfrm>
            <a:off x="7666501" y="4509992"/>
            <a:ext cx="6825653" cy="6825653"/>
          </a:xfrm>
          <a:prstGeom prst="ellipse">
            <a:avLst/>
          </a:prstGeom>
          <a:solidFill>
            <a:srgbClr val="8A0F1A">
              <a:alpha val="3304"/>
            </a:srgbClr>
          </a:solidFill>
          <a:ln/>
        </p:spPr>
      </p:sp>
      <p:sp>
        <p:nvSpPr>
          <p:cNvPr id="32" name="Shape 30"/>
          <p:cNvSpPr/>
          <p:nvPr/>
        </p:nvSpPr>
        <p:spPr>
          <a:xfrm>
            <a:off x="7846124" y="4689615"/>
            <a:ext cx="6466408" cy="6466408"/>
          </a:xfrm>
          <a:prstGeom prst="ellipse">
            <a:avLst/>
          </a:prstGeom>
          <a:solidFill>
            <a:srgbClr val="8A0F1A">
              <a:alpha val="3622"/>
            </a:srgbClr>
          </a:solidFill>
          <a:ln/>
        </p:spPr>
      </p:sp>
      <p:sp>
        <p:nvSpPr>
          <p:cNvPr id="33" name="Shape 31"/>
          <p:cNvSpPr/>
          <p:nvPr/>
        </p:nvSpPr>
        <p:spPr>
          <a:xfrm>
            <a:off x="8025746" y="4869237"/>
            <a:ext cx="6107163" cy="6107163"/>
          </a:xfrm>
          <a:prstGeom prst="ellipse">
            <a:avLst/>
          </a:prstGeom>
          <a:solidFill>
            <a:srgbClr val="8A0F1A">
              <a:alpha val="3650"/>
            </a:srgbClr>
          </a:solidFill>
          <a:ln/>
        </p:spPr>
      </p:sp>
      <p:sp>
        <p:nvSpPr>
          <p:cNvPr id="34" name="Shape 32"/>
          <p:cNvSpPr/>
          <p:nvPr/>
        </p:nvSpPr>
        <p:spPr>
          <a:xfrm>
            <a:off x="8205368" y="5048860"/>
            <a:ext cx="5747918" cy="5747918"/>
          </a:xfrm>
          <a:prstGeom prst="ellipse">
            <a:avLst/>
          </a:prstGeom>
          <a:solidFill>
            <a:srgbClr val="8A0F1A">
              <a:alpha val="3631"/>
            </a:srgbClr>
          </a:solidFill>
          <a:ln/>
        </p:spPr>
      </p:sp>
      <p:sp>
        <p:nvSpPr>
          <p:cNvPr id="35" name="Shape 33"/>
          <p:cNvSpPr/>
          <p:nvPr/>
        </p:nvSpPr>
        <p:spPr>
          <a:xfrm>
            <a:off x="8384991" y="5228482"/>
            <a:ext cx="5388674" cy="5388674"/>
          </a:xfrm>
          <a:prstGeom prst="ellipse">
            <a:avLst/>
          </a:prstGeom>
          <a:solidFill>
            <a:srgbClr val="8A0F1A">
              <a:alpha val="3693"/>
            </a:srgbClr>
          </a:solidFill>
          <a:ln/>
        </p:spPr>
      </p:sp>
      <p:sp>
        <p:nvSpPr>
          <p:cNvPr id="36" name="Shape 34"/>
          <p:cNvSpPr/>
          <p:nvPr/>
        </p:nvSpPr>
        <p:spPr>
          <a:xfrm>
            <a:off x="8564613" y="5408105"/>
            <a:ext cx="5029429" cy="5029429"/>
          </a:xfrm>
          <a:prstGeom prst="ellipse">
            <a:avLst/>
          </a:prstGeom>
          <a:solidFill>
            <a:srgbClr val="8A0F1A">
              <a:alpha val="4536"/>
            </a:srgbClr>
          </a:solidFill>
          <a:ln/>
        </p:spPr>
      </p:sp>
      <p:sp>
        <p:nvSpPr>
          <p:cNvPr id="37" name="Shape 35"/>
          <p:cNvSpPr/>
          <p:nvPr/>
        </p:nvSpPr>
        <p:spPr>
          <a:xfrm>
            <a:off x="8744236" y="5587727"/>
            <a:ext cx="4670184" cy="4670184"/>
          </a:xfrm>
          <a:prstGeom prst="ellipse">
            <a:avLst/>
          </a:prstGeom>
          <a:solidFill>
            <a:srgbClr val="8A0F1A">
              <a:alpha val="4737"/>
            </a:srgbClr>
          </a:solidFill>
          <a:ln/>
        </p:spPr>
      </p:sp>
      <p:sp>
        <p:nvSpPr>
          <p:cNvPr id="38" name="Shape 36"/>
          <p:cNvSpPr/>
          <p:nvPr/>
        </p:nvSpPr>
        <p:spPr>
          <a:xfrm>
            <a:off x="8923858" y="5767349"/>
            <a:ext cx="4310939" cy="4310939"/>
          </a:xfrm>
          <a:prstGeom prst="ellipse">
            <a:avLst/>
          </a:prstGeom>
          <a:solidFill>
            <a:srgbClr val="8A0F1A">
              <a:alpha val="4994"/>
            </a:srgbClr>
          </a:solidFill>
          <a:ln/>
        </p:spPr>
      </p:sp>
      <p:sp>
        <p:nvSpPr>
          <p:cNvPr id="39" name="Shape 37"/>
          <p:cNvSpPr/>
          <p:nvPr/>
        </p:nvSpPr>
        <p:spPr>
          <a:xfrm>
            <a:off x="9103481" y="5946972"/>
            <a:ext cx="3951694" cy="3951694"/>
          </a:xfrm>
          <a:prstGeom prst="ellipse">
            <a:avLst/>
          </a:prstGeom>
          <a:solidFill>
            <a:srgbClr val="8A0F1A">
              <a:alpha val="5272"/>
            </a:srgbClr>
          </a:solidFill>
          <a:ln/>
        </p:spPr>
      </p:sp>
      <p:sp>
        <p:nvSpPr>
          <p:cNvPr id="40" name="Shape 38"/>
          <p:cNvSpPr/>
          <p:nvPr/>
        </p:nvSpPr>
        <p:spPr>
          <a:xfrm>
            <a:off x="9283103" y="6126594"/>
            <a:ext cx="3592449" cy="3592449"/>
          </a:xfrm>
          <a:prstGeom prst="ellipse">
            <a:avLst/>
          </a:prstGeom>
          <a:solidFill>
            <a:srgbClr val="8A0F1A">
              <a:alpha val="5521"/>
            </a:srgbClr>
          </a:solidFill>
          <a:ln/>
        </p:spPr>
      </p:sp>
      <p:sp>
        <p:nvSpPr>
          <p:cNvPr id="41" name="Shape 39"/>
          <p:cNvSpPr/>
          <p:nvPr/>
        </p:nvSpPr>
        <p:spPr>
          <a:xfrm>
            <a:off x="9462726" y="6306217"/>
            <a:ext cx="3233204" cy="3233204"/>
          </a:xfrm>
          <a:prstGeom prst="ellipse">
            <a:avLst/>
          </a:prstGeom>
          <a:solidFill>
            <a:srgbClr val="8A0F1A">
              <a:alpha val="6496"/>
            </a:srgbClr>
          </a:solidFill>
          <a:ln/>
        </p:spPr>
      </p:sp>
      <p:sp>
        <p:nvSpPr>
          <p:cNvPr id="42" name="Shape 40"/>
          <p:cNvSpPr/>
          <p:nvPr/>
        </p:nvSpPr>
        <p:spPr>
          <a:xfrm>
            <a:off x="9642348" y="6485839"/>
            <a:ext cx="2873959" cy="2873959"/>
          </a:xfrm>
          <a:prstGeom prst="ellipse">
            <a:avLst/>
          </a:prstGeom>
          <a:solidFill>
            <a:srgbClr val="8A0F1A">
              <a:alpha val="6768"/>
            </a:srgbClr>
          </a:solidFill>
          <a:ln/>
        </p:spPr>
      </p:sp>
      <p:sp>
        <p:nvSpPr>
          <p:cNvPr id="43" name="Shape 41"/>
          <p:cNvSpPr/>
          <p:nvPr/>
        </p:nvSpPr>
        <p:spPr>
          <a:xfrm>
            <a:off x="9821970" y="6665462"/>
            <a:ext cx="2514714" cy="2514714"/>
          </a:xfrm>
          <a:prstGeom prst="ellipse">
            <a:avLst/>
          </a:prstGeom>
          <a:solidFill>
            <a:srgbClr val="8A0F1A">
              <a:alpha val="7123"/>
            </a:srgbClr>
          </a:solidFill>
          <a:ln/>
        </p:spPr>
      </p:sp>
      <p:sp>
        <p:nvSpPr>
          <p:cNvPr id="44" name="Shape 42"/>
          <p:cNvSpPr/>
          <p:nvPr/>
        </p:nvSpPr>
        <p:spPr>
          <a:xfrm>
            <a:off x="10001593" y="6845084"/>
            <a:ext cx="2155469" cy="2155469"/>
          </a:xfrm>
          <a:prstGeom prst="ellipse">
            <a:avLst/>
          </a:prstGeom>
          <a:solidFill>
            <a:srgbClr val="8A0F1A">
              <a:alpha val="7486"/>
            </a:srgbClr>
          </a:solidFill>
          <a:ln/>
        </p:spPr>
      </p:sp>
      <p:sp>
        <p:nvSpPr>
          <p:cNvPr id="45" name="Shape 43"/>
          <p:cNvSpPr/>
          <p:nvPr/>
        </p:nvSpPr>
        <p:spPr>
          <a:xfrm>
            <a:off x="10181215" y="7024707"/>
            <a:ext cx="1796225" cy="1796225"/>
          </a:xfrm>
          <a:prstGeom prst="ellipse">
            <a:avLst/>
          </a:prstGeom>
          <a:solidFill>
            <a:srgbClr val="8A0F1A">
              <a:alpha val="8191"/>
            </a:srgbClr>
          </a:solidFill>
          <a:ln/>
        </p:spPr>
      </p:sp>
      <p:sp>
        <p:nvSpPr>
          <p:cNvPr id="46" name="Shape 44"/>
          <p:cNvSpPr/>
          <p:nvPr/>
        </p:nvSpPr>
        <p:spPr>
          <a:xfrm>
            <a:off x="10360838" y="7204329"/>
            <a:ext cx="1436980" cy="1436980"/>
          </a:xfrm>
          <a:prstGeom prst="ellipse">
            <a:avLst/>
          </a:prstGeom>
          <a:solidFill>
            <a:srgbClr val="8A0F1A">
              <a:alpha val="9466"/>
            </a:srgbClr>
          </a:solidFill>
          <a:ln/>
        </p:spPr>
      </p:sp>
      <p:sp>
        <p:nvSpPr>
          <p:cNvPr id="47" name="Shape 45"/>
          <p:cNvSpPr/>
          <p:nvPr/>
        </p:nvSpPr>
        <p:spPr>
          <a:xfrm>
            <a:off x="10540460" y="7383951"/>
            <a:ext cx="1077735" cy="1077735"/>
          </a:xfrm>
          <a:prstGeom prst="ellipse">
            <a:avLst/>
          </a:prstGeom>
          <a:solidFill>
            <a:srgbClr val="8A0F1A">
              <a:alpha val="10120"/>
            </a:srgbClr>
          </a:solidFill>
          <a:ln/>
        </p:spPr>
      </p:sp>
      <p:sp>
        <p:nvSpPr>
          <p:cNvPr id="48" name="Shape 46"/>
          <p:cNvSpPr/>
          <p:nvPr/>
        </p:nvSpPr>
        <p:spPr>
          <a:xfrm>
            <a:off x="10720083" y="7563574"/>
            <a:ext cx="718490" cy="718490"/>
          </a:xfrm>
          <a:prstGeom prst="ellipse">
            <a:avLst/>
          </a:prstGeom>
          <a:solidFill>
            <a:srgbClr val="8A0F1A">
              <a:alpha val="10280"/>
            </a:srgbClr>
          </a:solidFill>
          <a:ln/>
        </p:spPr>
      </p:sp>
      <p:sp>
        <p:nvSpPr>
          <p:cNvPr id="49" name="Shape 47"/>
          <p:cNvSpPr/>
          <p:nvPr/>
        </p:nvSpPr>
        <p:spPr>
          <a:xfrm>
            <a:off x="10899705" y="7743196"/>
            <a:ext cx="359245" cy="359245"/>
          </a:xfrm>
          <a:prstGeom prst="ellipse">
            <a:avLst/>
          </a:prstGeom>
          <a:solidFill>
            <a:srgbClr val="8A0F1A">
              <a:alpha val="10999"/>
            </a:srgbClr>
          </a:solidFill>
          <a:ln/>
        </p:spPr>
      </p:sp>
      <p:sp>
        <p:nvSpPr>
          <p:cNvPr id="118" name="vz kicker"/>
          <p:cNvSpPr txBox="1"/>
          <p:nvPr/>
        </p:nvSpPr>
        <p:spPr>
          <a:xfrm>
            <a:off x="548640" y="128016"/>
            <a:ext cx="3657600" cy="256032"/>
          </a:xfrm>
          <a:prstGeom prst="rect">
            <a:avLst/>
          </a:prstGeom>
          <a:noFill/>
        </p:spPr>
        <p:txBody>
          <a:bodyPr wrap="none" lIns="0" tIns="0" rIns="0" bIns="0" anchor="ctr">
            <a:noAutofit/>
          </a:bodyPr>
          <a:lstStyle/>
          <a:p>
            <a:pPr algn="l"/>
            <a:r>
              <a:rPr lang="en-US" sz="900" b="1" dirty="0">
                <a:solidFill>
                  <a:srgbClr val="F5B700"/>
                </a:solidFill>
                <a:latin typeface="Arial"/>
                <a:cs typeface="Arial"/>
              </a:rPr>
              <a:t>VERIZON AI CoE  ·  44 / 44</a:t>
            </a:r>
          </a:p>
        </p:txBody>
      </p:sp>
      <p:sp>
        <p:nvSpPr>
          <p:cNvPr id="119" name="vz wordmark"/>
          <p:cNvSpPr txBox="1"/>
          <p:nvPr/>
        </p:nvSpPr>
        <p:spPr>
          <a:xfrm>
            <a:off x="10451592" y="91440"/>
            <a:ext cx="1188720" cy="329184"/>
          </a:xfrm>
          <a:prstGeom prst="rect">
            <a:avLst/>
          </a:prstGeom>
          <a:noFill/>
        </p:spPr>
        <p:txBody>
          <a:bodyPr wrap="none" lIns="0" tIns="0" rIns="0" bIns="0" anchor="ctr">
            <a:noAutofit/>
          </a:bodyPr>
          <a:lstStyle/>
          <a:p>
            <a:pPr algn="r"/>
            <a:r>
              <a:rPr lang="en-US" sz="2000" b="1" dirty="0">
                <a:solidFill>
                  <a:srgbClr val="FFFFFF"/>
                </a:solidFill>
                <a:latin typeface="Arial"/>
                <a:cs typeface="Arial"/>
              </a:rPr>
              <a:t>verizon</a:t>
            </a:r>
          </a:p>
        </p:txBody>
      </p:sp>
      <p:cxnSp>
        <p:nvCxnSpPr>
          <p:cNvPr id="120" name="vz rule"/>
          <p:cNvCxnSpPr/>
          <p:nvPr/>
        </p:nvCxnSpPr>
        <p:spPr>
          <a:xfrm>
            <a:off x="10908792" y="457200"/>
            <a:ext cx="731520" cy="0"/>
          </a:xfrm>
          <a:prstGeom prst="line">
            <a:avLst/>
          </a:prstGeom>
          <a:ln w="28575">
            <a:solidFill>
              <a:srgbClr val="EE0000"/>
            </a:solidFill>
          </a:ln>
        </p:spPr>
      </p:cxnSp>
      <p:sp>
        <p:nvSpPr>
          <p:cNvPr id="154" name="gal 154"/>
          <p:cNvSpPr/>
          <p:nvPr/>
        </p:nvSpPr>
        <p:spPr>
          <a:xfrm>
            <a:off x="548640" y="566928"/>
            <a:ext cx="7315200" cy="292608"/>
          </a:xfrm>
          <a:prstGeom prst="rect">
            <a:avLst/>
          </a:prstGeom>
          <a:noFill/>
          <a:ln>
            <a:noFill/>
          </a:ln>
        </p:spPr>
        <p:txBody>
          <a:bodyPr wrap="square" lIns="0" tIns="0" rIns="0" bIns="0" rtlCol="0" anchor="ctr">
            <a:noAutofit/>
          </a:bodyPr>
          <a:lstStyle/>
          <a:p>
            <a:pPr algn="l" marL="0" indent="0">
              <a:buNone/>
            </a:pPr>
            <a:r>
              <a:rPr lang="en-US" sz="1400" dirty="0">
                <a:solidFill>
                  <a:srgbClr val="F3E6D6"/>
                </a:solidFill>
                <a:latin typeface="Arial"/>
                <a:ea typeface="Arial"/>
                <a:cs typeface="Arial"/>
              </a:rPr>
              <a:t>References</a:t>
            </a:r>
          </a:p>
        </p:txBody>
      </p:sp>
      <p:sp>
        <p:nvSpPr>
          <p:cNvPr id="155" name="gal 155"/>
          <p:cNvSpPr/>
          <p:nvPr/>
        </p:nvSpPr>
        <p:spPr>
          <a:xfrm>
            <a:off x="548640" y="868680"/>
            <a:ext cx="11064240" cy="457200"/>
          </a:xfrm>
          <a:prstGeom prst="rect">
            <a:avLst/>
          </a:prstGeom>
          <a:noFill/>
          <a:ln>
            <a:noFill/>
          </a:ln>
        </p:spPr>
        <p:txBody>
          <a:bodyPr wrap="square" lIns="0" tIns="0" rIns="0" bIns="0" rtlCol="0" anchor="ctr">
            <a:noAutofit/>
          </a:bodyPr>
          <a:lstStyle/>
          <a:p>
            <a:pPr algn="l" marL="0" indent="0">
              <a:buNone/>
            </a:pPr>
            <a:r>
              <a:rPr lang="en-US" sz="2600" b="1" dirty="0">
                <a:solidFill>
                  <a:srgbClr val="FFFFFF"/>
                </a:solidFill>
                <a:latin typeface="Arial"/>
                <a:ea typeface="Arial"/>
                <a:cs typeface="Arial"/>
              </a:rPr>
              <a:t>Sources for slides 3–4 and 23 (8 of 8):</a:t>
            </a:r>
          </a:p>
        </p:txBody>
      </p:sp>
      <p:sp>
        <p:nvSpPr>
          <p:cNvPr id="156" name="gal 156"/>
          <p:cNvSpPr/>
          <p:nvPr/>
        </p:nvSpPr>
        <p:spPr>
          <a:xfrm>
            <a:off x="548640" y="1325880"/>
            <a:ext cx="11064240" cy="457200"/>
          </a:xfrm>
          <a:prstGeom prst="rect">
            <a:avLst/>
          </a:prstGeom>
          <a:noFill/>
          <a:ln>
            <a:noFill/>
          </a:ln>
        </p:spPr>
        <p:txBody>
          <a:bodyPr wrap="square" lIns="0" tIns="0" rIns="0" bIns="0" rtlCol="0" anchor="ctr">
            <a:noAutofit/>
          </a:bodyPr>
          <a:lstStyle/>
          <a:p>
            <a:pPr algn="l" marL="0" indent="0">
              <a:buNone/>
            </a:pPr>
            <a:r>
              <a:rPr lang="en-US" sz="2400" b="1" dirty="0">
                <a:solidFill>
                  <a:srgbClr val="EE0000"/>
                </a:solidFill>
                <a:latin typeface="Arial"/>
                <a:ea typeface="Arial"/>
                <a:cs typeface="Arial"/>
              </a:rPr>
              <a:t>harness optimisation, memory, simulation, fine-tuning</a:t>
            </a:r>
          </a:p>
        </p:txBody>
      </p:sp>
      <p:cxnSp>
        <p:nvCxnSpPr>
          <p:cNvPr id="157" name="g1 rule 157"/>
          <p:cNvCxnSpPr/>
          <p:nvPr/>
        </p:nvCxnSpPr>
        <p:spPr>
          <a:xfrm>
            <a:off x="548640" y="1874520"/>
            <a:ext cx="731520" cy="0"/>
          </a:xfrm>
          <a:prstGeom prst="line">
            <a:avLst/>
          </a:prstGeom>
          <a:ln w="28575">
            <a:solidFill>
              <a:srgbClr val="EE0000"/>
            </a:solidFill>
          </a:ln>
        </p:spPr>
      </p:cxnSp>
      <p:sp>
        <p:nvSpPr>
          <p:cNvPr id="158" name="ref 158"/>
          <p:cNvSpPr/>
          <p:nvPr/>
        </p:nvSpPr>
        <p:spPr>
          <a:xfrm>
            <a:off x="548640" y="2057400"/>
            <a:ext cx="5468112" cy="4069080"/>
          </a:xfrm>
          <a:prstGeom prst="roundRect">
            <a:avLst>
              <a:gd name="adj" fmla="val 3000"/>
            </a:avLst>
          </a:prstGeom>
          <a:solidFill>
            <a:srgbClr val="2A1A16"/>
          </a:solidFill>
          <a:ln w="9525">
            <a:solidFill>
              <a:srgbClr val="D9B48A"/>
            </a:solidFill>
          </a:ln>
        </p:spPr>
        <p:txBody>
          <a:bodyPr wrap="square" lIns="128016" tIns="73152" rIns="109728" bIns="36576" rtlCol="0" anchor="t">
            <a:noAutofit/>
          </a:bodyPr>
          <a:lstStyle/>
          <a:p>
            <a:pPr algn="l" marL="0" indent="0">
              <a:lnSpc>
                <a:spcPct val="100000"/>
              </a:lnSpc>
              <a:buNone/>
            </a:pPr>
            <a:r>
              <a:rPr lang="en-US" sz="850" b="1" dirty="0">
                <a:solidFill>
                  <a:srgbClr val="F5B700"/>
                </a:solidFill>
                <a:latin typeface="Arial"/>
                <a:ea typeface="Arial"/>
                <a:cs typeface="Arial"/>
              </a:rPr>
              <a:t>[137]  </a:t>
            </a:r>
            <a:r>
              <a:rPr lang="en-US" sz="850" b="1" dirty="0" u="sng">
                <a:solidFill>
                  <a:srgbClr val="FFFFFF"/>
                </a:solidFill>
                <a:latin typeface="Arial"/>
                <a:ea typeface="Arial"/>
                <a:cs typeface="Arial"/>
                <a:hlinkClick r:id="rIdL1"/>
              </a:rPr>
              <a:t>HALO: Hierarchal Agent Loop Optimizer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2"/>
              </a:rPr>
              <a:t>github.com/context-labs/HALO</a:t>
            </a:r>
          </a:p>
          <a:p>
            <a:pPr algn="l" marL="0" indent="0">
              <a:lnSpc>
                <a:spcPct val="100000"/>
              </a:lnSpc>
              <a:buNone/>
            </a:pPr>
            <a:r>
              <a:rPr lang="en-US" sz="850" b="1" dirty="0">
                <a:solidFill>
                  <a:srgbClr val="F5B700"/>
                </a:solidFill>
                <a:latin typeface="Arial"/>
                <a:ea typeface="Arial"/>
                <a:cs typeface="Arial"/>
              </a:rPr>
              <a:t>[138]  </a:t>
            </a:r>
            <a:r>
              <a:rPr lang="en-US" sz="850" b="1" dirty="0" u="sng">
                <a:solidFill>
                  <a:srgbClr val="FFFFFF"/>
                </a:solidFill>
                <a:latin typeface="Arial"/>
                <a:ea typeface="Arial"/>
                <a:cs typeface="Arial"/>
                <a:hlinkClick r:id="rIdL3"/>
              </a:rPr>
              <a:t>halo-engine on PyPI</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4"/>
              </a:rPr>
              <a:t>pypi.org/project/halo-engine</a:t>
            </a:r>
          </a:p>
          <a:p>
            <a:pPr algn="l" marL="0" indent="0">
              <a:lnSpc>
                <a:spcPct val="100000"/>
              </a:lnSpc>
              <a:buNone/>
            </a:pPr>
            <a:r>
              <a:rPr lang="en-US" sz="850" b="1" dirty="0">
                <a:solidFill>
                  <a:srgbClr val="F5B700"/>
                </a:solidFill>
                <a:latin typeface="Arial"/>
                <a:ea typeface="Arial"/>
                <a:cs typeface="Arial"/>
              </a:rPr>
              <a:t>[139]  </a:t>
            </a:r>
            <a:r>
              <a:rPr lang="en-US" sz="850" b="1" dirty="0" u="sng">
                <a:solidFill>
                  <a:srgbClr val="FFFFFF"/>
                </a:solidFill>
                <a:latin typeface="Arial"/>
                <a:ea typeface="Arial"/>
                <a:cs typeface="Arial"/>
                <a:hlinkClick r:id="rIdL5"/>
              </a:rPr>
              <a:t>RLM: Recursive Language Models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6"/>
              </a:rPr>
              <a:t>github.com/alexzhang13/rlm</a:t>
            </a:r>
          </a:p>
          <a:p>
            <a:pPr algn="l" marL="0" indent="0">
              <a:lnSpc>
                <a:spcPct val="100000"/>
              </a:lnSpc>
              <a:buNone/>
            </a:pPr>
            <a:r>
              <a:rPr lang="en-US" sz="850" b="1" dirty="0">
                <a:solidFill>
                  <a:srgbClr val="F5B700"/>
                </a:solidFill>
                <a:latin typeface="Arial"/>
                <a:ea typeface="Arial"/>
                <a:cs typeface="Arial"/>
              </a:rPr>
              <a:t>[140]  </a:t>
            </a:r>
            <a:r>
              <a:rPr lang="en-US" sz="850" b="1" dirty="0" u="sng">
                <a:solidFill>
                  <a:srgbClr val="FFFFFF"/>
                </a:solidFill>
                <a:latin typeface="Arial"/>
                <a:ea typeface="Arial"/>
                <a:cs typeface="Arial"/>
                <a:hlinkClick r:id="rIdL7"/>
              </a:rPr>
              <a:t>Mem0 (GitHub, Apache-2.0)</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8"/>
              </a:rPr>
              <a:t>github.com/mem0ai/mem0</a:t>
            </a:r>
          </a:p>
          <a:p>
            <a:pPr algn="l" marL="0" indent="0">
              <a:lnSpc>
                <a:spcPct val="100000"/>
              </a:lnSpc>
              <a:buNone/>
            </a:pPr>
            <a:r>
              <a:rPr lang="en-US" sz="850" b="1" dirty="0">
                <a:solidFill>
                  <a:srgbClr val="F5B700"/>
                </a:solidFill>
                <a:latin typeface="Arial"/>
                <a:ea typeface="Arial"/>
                <a:cs typeface="Arial"/>
              </a:rPr>
              <a:t>[141]  </a:t>
            </a:r>
            <a:r>
              <a:rPr lang="en-US" sz="850" b="1" dirty="0" u="sng">
                <a:solidFill>
                  <a:srgbClr val="FFFFFF"/>
                </a:solidFill>
                <a:latin typeface="Arial"/>
                <a:ea typeface="Arial"/>
                <a:cs typeface="Arial"/>
                <a:hlinkClick r:id="rIdL9"/>
              </a:rPr>
              <a:t>Mem0 open-source overview</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10"/>
              </a:rPr>
              <a:t>docs.mem0.ai/open-source/overview</a:t>
            </a:r>
          </a:p>
          <a:p>
            <a:pPr algn="l" marL="0" indent="0">
              <a:lnSpc>
                <a:spcPct val="100000"/>
              </a:lnSpc>
              <a:buNone/>
            </a:pPr>
            <a:r>
              <a:rPr lang="en-US" sz="850" b="1" dirty="0">
                <a:solidFill>
                  <a:srgbClr val="F5B700"/>
                </a:solidFill>
                <a:latin typeface="Arial"/>
                <a:ea typeface="Arial"/>
                <a:cs typeface="Arial"/>
              </a:rPr>
              <a:t>[142]  </a:t>
            </a:r>
            <a:r>
              <a:rPr lang="en-US" sz="850" b="1" dirty="0" u="sng">
                <a:solidFill>
                  <a:srgbClr val="FFFFFF"/>
                </a:solidFill>
                <a:latin typeface="Arial"/>
                <a:ea typeface="Arial"/>
                <a:cs typeface="Arial"/>
                <a:hlinkClick r:id="rIdL11"/>
              </a:rPr>
              <a:t>Strands Agents harness SDK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12"/>
              </a:rPr>
              <a:t>github.com/strands-agents/harness-sdk</a:t>
            </a:r>
          </a:p>
          <a:p>
            <a:pPr algn="l" marL="0" indent="0">
              <a:lnSpc>
                <a:spcPct val="100000"/>
              </a:lnSpc>
              <a:buNone/>
            </a:pPr>
            <a:r>
              <a:rPr lang="en-US" sz="850" b="1" dirty="0">
                <a:solidFill>
                  <a:srgbClr val="F5B700"/>
                </a:solidFill>
                <a:latin typeface="Arial"/>
                <a:ea typeface="Arial"/>
                <a:cs typeface="Arial"/>
              </a:rPr>
              <a:t>[143]  </a:t>
            </a:r>
            <a:r>
              <a:rPr lang="en-US" sz="850" b="1" dirty="0" u="sng">
                <a:solidFill>
                  <a:srgbClr val="FFFFFF"/>
                </a:solidFill>
                <a:latin typeface="Arial"/>
                <a:ea typeface="Arial"/>
                <a:cs typeface="Arial"/>
                <a:hlinkClick r:id="rIdL13"/>
              </a:rPr>
              <a:t>Strands: traces with OpenTelemetry</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14"/>
              </a:rPr>
              <a:t>strandsagents.com/docs/user-guide/sdk/observability-evaluation/traces</a:t>
            </a:r>
          </a:p>
          <a:p>
            <a:pPr algn="l" marL="0" indent="0">
              <a:lnSpc>
                <a:spcPct val="100000"/>
              </a:lnSpc>
              <a:buNone/>
            </a:pPr>
            <a:r>
              <a:rPr lang="en-US" sz="850" b="1" dirty="0">
                <a:solidFill>
                  <a:srgbClr val="F5B700"/>
                </a:solidFill>
                <a:latin typeface="Arial"/>
                <a:ea typeface="Arial"/>
                <a:cs typeface="Arial"/>
              </a:rPr>
              <a:t>[144]  </a:t>
            </a:r>
            <a:r>
              <a:rPr lang="en-US" sz="850" b="1" dirty="0" u="sng">
                <a:solidFill>
                  <a:srgbClr val="FFFFFF"/>
                </a:solidFill>
                <a:latin typeface="Arial"/>
                <a:ea typeface="Arial"/>
                <a:cs typeface="Arial"/>
                <a:hlinkClick r:id="rIdL15"/>
              </a:rPr>
              <a:t>Strands Evals: user simulation (ActorSimulator)</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16"/>
              </a:rPr>
              <a:t>strandsagents.com/docs/user-guide/evals-sdk/simulators/user_simulation</a:t>
            </a:r>
          </a:p>
          <a:p>
            <a:pPr algn="l" marL="0" indent="0">
              <a:lnSpc>
                <a:spcPct val="100000"/>
              </a:lnSpc>
              <a:buNone/>
            </a:pPr>
            <a:r>
              <a:rPr lang="en-US" sz="850" b="1" dirty="0">
                <a:solidFill>
                  <a:srgbClr val="F5B700"/>
                </a:solidFill>
                <a:latin typeface="Arial"/>
                <a:ea typeface="Arial"/>
                <a:cs typeface="Arial"/>
              </a:rPr>
              <a:t>[145]  </a:t>
            </a:r>
            <a:r>
              <a:rPr lang="en-US" sz="850" b="1" dirty="0" u="sng">
                <a:solidFill>
                  <a:srgbClr val="FFFFFF"/>
                </a:solidFill>
                <a:latin typeface="Arial"/>
                <a:ea typeface="Arial"/>
                <a:cs typeface="Arial"/>
                <a:hlinkClick r:id="rIdL17"/>
              </a:rPr>
              <a:t>Strands tools: mem0_memory</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18"/>
              </a:rPr>
              <a:t>github.com/strands-agents/tools/blob/main/src/strands_tools/mem0_me…</a:t>
            </a:r>
          </a:p>
          <a:p>
            <a:pPr algn="l" marL="0" indent="0">
              <a:lnSpc>
                <a:spcPct val="100000"/>
              </a:lnSpc>
              <a:buNone/>
            </a:pPr>
            <a:r>
              <a:rPr lang="en-US" sz="850" b="1" dirty="0">
                <a:solidFill>
                  <a:srgbClr val="F5B700"/>
                </a:solidFill>
                <a:latin typeface="Arial"/>
                <a:ea typeface="Arial"/>
                <a:cs typeface="Arial"/>
              </a:rPr>
              <a:t>[146]  </a:t>
            </a:r>
            <a:r>
              <a:rPr lang="en-US" sz="850" b="1" dirty="0" u="sng">
                <a:solidFill>
                  <a:srgbClr val="FFFFFF"/>
                </a:solidFill>
                <a:latin typeface="Arial"/>
                <a:ea typeface="Arial"/>
                <a:cs typeface="Arial"/>
                <a:hlinkClick r:id="rIdL19"/>
              </a:rPr>
              <a:t>Future AGI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20"/>
              </a:rPr>
              <a:t>github.com/future-agi/future-agi</a:t>
            </a:r>
          </a:p>
          <a:p>
            <a:pPr algn="l" marL="0" indent="0">
              <a:lnSpc>
                <a:spcPct val="100000"/>
              </a:lnSpc>
              <a:buNone/>
            </a:pPr>
            <a:r>
              <a:rPr lang="en-US" sz="850" b="1" dirty="0">
                <a:solidFill>
                  <a:srgbClr val="F5B700"/>
                </a:solidFill>
                <a:latin typeface="Arial"/>
                <a:ea typeface="Arial"/>
                <a:cs typeface="Arial"/>
              </a:rPr>
              <a:t>[147]  </a:t>
            </a:r>
            <a:r>
              <a:rPr lang="en-US" sz="850" b="1" dirty="0" u="sng">
                <a:solidFill>
                  <a:srgbClr val="FFFFFF"/>
                </a:solidFill>
                <a:latin typeface="Arial"/>
                <a:ea typeface="Arial"/>
                <a:cs typeface="Arial"/>
                <a:hlinkClick r:id="rIdL21"/>
              </a:rPr>
              <a:t>Future AGI enterprise licence (ee/)</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22"/>
              </a:rPr>
              <a:t>github.com/future-agi/future-agi/blob/main/LICENSE-EE</a:t>
            </a:r>
          </a:p>
          <a:p>
            <a:pPr algn="l" marL="0" indent="0">
              <a:lnSpc>
                <a:spcPct val="100000"/>
              </a:lnSpc>
              <a:buNone/>
            </a:pPr>
            <a:r>
              <a:rPr lang="en-US" sz="850" b="1" dirty="0">
                <a:solidFill>
                  <a:srgbClr val="F5B700"/>
                </a:solidFill>
                <a:latin typeface="Arial"/>
                <a:ea typeface="Arial"/>
                <a:cs typeface="Arial"/>
              </a:rPr>
              <a:t>[148]  </a:t>
            </a:r>
            <a:r>
              <a:rPr lang="en-US" sz="850" b="1" dirty="0" u="sng">
                <a:solidFill>
                  <a:srgbClr val="FFFFFF"/>
                </a:solidFill>
                <a:latin typeface="Arial"/>
                <a:ea typeface="Arial"/>
                <a:cs typeface="Arial"/>
                <a:hlinkClick r:id="rIdL23"/>
              </a:rPr>
              <a:t>GEPA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24"/>
              </a:rPr>
              <a:t>github.com/gepa-ai/gepa</a:t>
            </a:r>
          </a:p>
          <a:p>
            <a:pPr algn="l" marL="0" indent="0">
              <a:lnSpc>
                <a:spcPct val="100000"/>
              </a:lnSpc>
              <a:buNone/>
            </a:pPr>
            <a:r>
              <a:rPr lang="en-US" sz="850" b="1" dirty="0">
                <a:solidFill>
                  <a:srgbClr val="F5B700"/>
                </a:solidFill>
                <a:latin typeface="Arial"/>
                <a:ea typeface="Arial"/>
                <a:cs typeface="Arial"/>
              </a:rPr>
              <a:t>[149]  </a:t>
            </a:r>
            <a:r>
              <a:rPr lang="en-US" sz="850" b="1" dirty="0" u="sng">
                <a:solidFill>
                  <a:srgbClr val="FFFFFF"/>
                </a:solidFill>
                <a:latin typeface="Arial"/>
                <a:ea typeface="Arial"/>
                <a:cs typeface="Arial"/>
                <a:hlinkClick r:id="rIdL25"/>
              </a:rPr>
              <a:t>DSPy: GEPA optimizer</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26"/>
              </a:rPr>
              <a:t>dspy.ai/api/optimizers/GEPA/overview</a:t>
            </a:r>
          </a:p>
          <a:p>
            <a:pPr algn="l" marL="0" indent="0">
              <a:lnSpc>
                <a:spcPct val="100000"/>
              </a:lnSpc>
              <a:buNone/>
            </a:pPr>
            <a:r>
              <a:rPr lang="en-US" sz="850" b="1" dirty="0">
                <a:solidFill>
                  <a:srgbClr val="F5B700"/>
                </a:solidFill>
                <a:latin typeface="Arial"/>
                <a:ea typeface="Arial"/>
                <a:cs typeface="Arial"/>
              </a:rPr>
              <a:t>[150]  </a:t>
            </a:r>
            <a:r>
              <a:rPr lang="en-US" sz="850" b="1" dirty="0" u="sng">
                <a:solidFill>
                  <a:srgbClr val="FFFFFF"/>
                </a:solidFill>
                <a:latin typeface="Arial"/>
                <a:ea typeface="Arial"/>
                <a:cs typeface="Arial"/>
                <a:hlinkClick r:id="rIdL27"/>
              </a:rPr>
              <a:t>TextGrad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28"/>
              </a:rPr>
              <a:t>github.com/zou-group/textgrad</a:t>
            </a:r>
          </a:p>
          <a:p>
            <a:pPr algn="l" marL="0" indent="0">
              <a:lnSpc>
                <a:spcPct val="100000"/>
              </a:lnSpc>
              <a:buNone/>
            </a:pPr>
            <a:r>
              <a:rPr lang="en-US" sz="850" b="1" dirty="0">
                <a:solidFill>
                  <a:srgbClr val="F5B700"/>
                </a:solidFill>
                <a:latin typeface="Arial"/>
                <a:ea typeface="Arial"/>
                <a:cs typeface="Arial"/>
              </a:rPr>
              <a:t>[151]  </a:t>
            </a:r>
            <a:r>
              <a:rPr lang="en-US" sz="850" b="1" dirty="0" u="sng">
                <a:solidFill>
                  <a:srgbClr val="FFFFFF"/>
                </a:solidFill>
                <a:latin typeface="Arial"/>
                <a:ea typeface="Arial"/>
                <a:cs typeface="Arial"/>
                <a:hlinkClick r:id="rIdL29"/>
              </a:rPr>
              <a:t>Microsoft Trace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30"/>
              </a:rPr>
              <a:t>github.com/microsoft/Trace</a:t>
            </a:r>
          </a:p>
        </p:txBody>
      </p:sp>
      <p:sp>
        <p:nvSpPr>
          <p:cNvPr id="159" name="ref 159"/>
          <p:cNvSpPr/>
          <p:nvPr/>
        </p:nvSpPr>
        <p:spPr>
          <a:xfrm>
            <a:off x="6172200" y="2057400"/>
            <a:ext cx="5468112" cy="4069080"/>
          </a:xfrm>
          <a:prstGeom prst="roundRect">
            <a:avLst>
              <a:gd name="adj" fmla="val 3000"/>
            </a:avLst>
          </a:prstGeom>
          <a:solidFill>
            <a:srgbClr val="2A1A16"/>
          </a:solidFill>
          <a:ln w="9525">
            <a:solidFill>
              <a:srgbClr val="D9B48A"/>
            </a:solidFill>
          </a:ln>
        </p:spPr>
        <p:txBody>
          <a:bodyPr wrap="square" lIns="128016" tIns="73152" rIns="109728" bIns="36576" rtlCol="0" anchor="t">
            <a:noAutofit/>
          </a:bodyPr>
          <a:lstStyle/>
          <a:p>
            <a:pPr algn="l" marL="0" indent="0">
              <a:lnSpc>
                <a:spcPct val="100000"/>
              </a:lnSpc>
              <a:buNone/>
            </a:pPr>
            <a:r>
              <a:rPr lang="en-US" sz="850" b="1" dirty="0">
                <a:solidFill>
                  <a:srgbClr val="F5B700"/>
                </a:solidFill>
                <a:latin typeface="Arial"/>
                <a:ea typeface="Arial"/>
                <a:cs typeface="Arial"/>
              </a:rPr>
              <a:t>[152]  </a:t>
            </a:r>
            <a:r>
              <a:rPr lang="en-US" sz="850" b="1" dirty="0" u="sng">
                <a:solidFill>
                  <a:srgbClr val="FFFFFF"/>
                </a:solidFill>
                <a:latin typeface="Arial"/>
                <a:ea typeface="Arial"/>
                <a:cs typeface="Arial"/>
                <a:hlinkClick r:id="rIdL31"/>
              </a:rPr>
              <a:t>Microsoft Agent Lightning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32"/>
              </a:rPr>
              <a:t>github.com/microsoft/agent-lightning</a:t>
            </a:r>
          </a:p>
          <a:p>
            <a:pPr algn="l" marL="0" indent="0">
              <a:lnSpc>
                <a:spcPct val="100000"/>
              </a:lnSpc>
              <a:buNone/>
            </a:pPr>
            <a:r>
              <a:rPr lang="en-US" sz="850" b="1" dirty="0">
                <a:solidFill>
                  <a:srgbClr val="F5B700"/>
                </a:solidFill>
                <a:latin typeface="Arial"/>
                <a:ea typeface="Arial"/>
                <a:cs typeface="Arial"/>
              </a:rPr>
              <a:t>[153]  </a:t>
            </a:r>
            <a:r>
              <a:rPr lang="en-US" sz="850" b="1" dirty="0" u="sng">
                <a:solidFill>
                  <a:srgbClr val="FFFFFF"/>
                </a:solidFill>
                <a:latin typeface="Arial"/>
                <a:ea typeface="Arial"/>
                <a:cs typeface="Arial"/>
                <a:hlinkClick r:id="rIdL33"/>
              </a:rPr>
              <a:t>τ²-bench (Sierra,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34"/>
              </a:rPr>
              <a:t>github.com/sierra-research/tau2-bench</a:t>
            </a:r>
          </a:p>
          <a:p>
            <a:pPr algn="l" marL="0" indent="0">
              <a:lnSpc>
                <a:spcPct val="100000"/>
              </a:lnSpc>
              <a:buNone/>
            </a:pPr>
            <a:r>
              <a:rPr lang="en-US" sz="850" b="1" dirty="0">
                <a:solidFill>
                  <a:srgbClr val="F5B700"/>
                </a:solidFill>
                <a:latin typeface="Arial"/>
                <a:ea typeface="Arial"/>
                <a:cs typeface="Arial"/>
              </a:rPr>
              <a:t>[154]  </a:t>
            </a:r>
            <a:r>
              <a:rPr lang="en-US" sz="850" b="1" dirty="0" u="sng">
                <a:solidFill>
                  <a:srgbClr val="FFFFFF"/>
                </a:solidFill>
                <a:latin typeface="Arial"/>
                <a:ea typeface="Arial"/>
                <a:cs typeface="Arial"/>
                <a:hlinkClick r:id="rIdL35"/>
              </a:rPr>
              <a:t>LangWatch Scenario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36"/>
              </a:rPr>
              <a:t>github.com/langwatch/scenario</a:t>
            </a:r>
          </a:p>
          <a:p>
            <a:pPr algn="l" marL="0" indent="0">
              <a:lnSpc>
                <a:spcPct val="100000"/>
              </a:lnSpc>
              <a:buNone/>
            </a:pPr>
            <a:r>
              <a:rPr lang="en-US" sz="850" b="1" dirty="0">
                <a:solidFill>
                  <a:srgbClr val="F5B700"/>
                </a:solidFill>
                <a:latin typeface="Arial"/>
                <a:ea typeface="Arial"/>
                <a:cs typeface="Arial"/>
              </a:rPr>
              <a:t>[155]  </a:t>
            </a:r>
            <a:r>
              <a:rPr lang="en-US" sz="850" b="1" dirty="0" u="sng">
                <a:solidFill>
                  <a:srgbClr val="FFFFFF"/>
                </a:solidFill>
                <a:latin typeface="Arial"/>
                <a:ea typeface="Arial"/>
                <a:cs typeface="Arial"/>
                <a:hlinkClick r:id="rIdL37"/>
              </a:rPr>
              <a:t>Distilabel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38"/>
              </a:rPr>
              <a:t>github.com/argilla-io/distilabel</a:t>
            </a:r>
          </a:p>
          <a:p>
            <a:pPr algn="l" marL="0" indent="0">
              <a:lnSpc>
                <a:spcPct val="100000"/>
              </a:lnSpc>
              <a:buNone/>
            </a:pPr>
            <a:r>
              <a:rPr lang="en-US" sz="850" b="1" dirty="0">
                <a:solidFill>
                  <a:srgbClr val="F5B700"/>
                </a:solidFill>
                <a:latin typeface="Arial"/>
                <a:ea typeface="Arial"/>
                <a:cs typeface="Arial"/>
              </a:rPr>
              <a:t>[156]  </a:t>
            </a:r>
            <a:r>
              <a:rPr lang="en-US" sz="850" b="1" dirty="0" u="sng">
                <a:solidFill>
                  <a:srgbClr val="FFFFFF"/>
                </a:solidFill>
                <a:latin typeface="Arial"/>
                <a:ea typeface="Arial"/>
                <a:cs typeface="Arial"/>
                <a:hlinkClick r:id="rIdL39"/>
              </a:rPr>
              <a:t>DeepEval Synthesizer docs</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40"/>
              </a:rPr>
              <a:t>deepeval.com/docs/synthesizer-introduction</a:t>
            </a:r>
          </a:p>
          <a:p>
            <a:pPr algn="l" marL="0" indent="0">
              <a:lnSpc>
                <a:spcPct val="100000"/>
              </a:lnSpc>
              <a:buNone/>
            </a:pPr>
            <a:r>
              <a:rPr lang="en-US" sz="850" b="1" dirty="0">
                <a:solidFill>
                  <a:srgbClr val="F5B700"/>
                </a:solidFill>
                <a:latin typeface="Arial"/>
                <a:ea typeface="Arial"/>
                <a:cs typeface="Arial"/>
              </a:rPr>
              <a:t>[157]  </a:t>
            </a:r>
            <a:r>
              <a:rPr lang="en-US" sz="850" b="1" dirty="0" u="sng">
                <a:solidFill>
                  <a:srgbClr val="FFFFFF"/>
                </a:solidFill>
                <a:latin typeface="Arial"/>
                <a:ea typeface="Arial"/>
                <a:cs typeface="Arial"/>
                <a:hlinkClick r:id="rIdL41"/>
              </a:rPr>
              <a:t>TRL (Hugging Face,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42"/>
              </a:rPr>
              <a:t>github.com/huggingface/trl</a:t>
            </a:r>
          </a:p>
          <a:p>
            <a:pPr algn="l" marL="0" indent="0">
              <a:lnSpc>
                <a:spcPct val="100000"/>
              </a:lnSpc>
              <a:buNone/>
            </a:pPr>
            <a:r>
              <a:rPr lang="en-US" sz="850" b="1" dirty="0">
                <a:solidFill>
                  <a:srgbClr val="F5B700"/>
                </a:solidFill>
                <a:latin typeface="Arial"/>
                <a:ea typeface="Arial"/>
                <a:cs typeface="Arial"/>
              </a:rPr>
              <a:t>[158]  </a:t>
            </a:r>
            <a:r>
              <a:rPr lang="en-US" sz="850" b="1" dirty="0" u="sng">
                <a:solidFill>
                  <a:srgbClr val="FFFFFF"/>
                </a:solidFill>
                <a:latin typeface="Arial"/>
                <a:ea typeface="Arial"/>
                <a:cs typeface="Arial"/>
                <a:hlinkClick r:id="rIdL43"/>
              </a:rPr>
              <a:t>Unsloth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44"/>
              </a:rPr>
              <a:t>github.com/unslothai/unsloth</a:t>
            </a:r>
          </a:p>
          <a:p>
            <a:pPr algn="l" marL="0" indent="0">
              <a:lnSpc>
                <a:spcPct val="100000"/>
              </a:lnSpc>
              <a:buNone/>
            </a:pPr>
            <a:r>
              <a:rPr lang="en-US" sz="850" b="1" dirty="0">
                <a:solidFill>
                  <a:srgbClr val="F5B700"/>
                </a:solidFill>
                <a:latin typeface="Arial"/>
                <a:ea typeface="Arial"/>
                <a:cs typeface="Arial"/>
              </a:rPr>
              <a:t>[159]  </a:t>
            </a:r>
            <a:r>
              <a:rPr lang="en-US" sz="850" b="1" dirty="0" u="sng">
                <a:solidFill>
                  <a:srgbClr val="FFFFFF"/>
                </a:solidFill>
                <a:latin typeface="Arial"/>
                <a:ea typeface="Arial"/>
                <a:cs typeface="Arial"/>
                <a:hlinkClick r:id="rIdL45"/>
              </a:rPr>
              <a:t>verl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46"/>
              </a:rPr>
              <a:t>github.com/verl-project/verl</a:t>
            </a:r>
          </a:p>
          <a:p>
            <a:pPr algn="l" marL="0" indent="0">
              <a:lnSpc>
                <a:spcPct val="100000"/>
              </a:lnSpc>
              <a:buNone/>
            </a:pPr>
            <a:r>
              <a:rPr lang="en-US" sz="850" b="1" dirty="0">
                <a:solidFill>
                  <a:srgbClr val="F5B700"/>
                </a:solidFill>
                <a:latin typeface="Arial"/>
                <a:ea typeface="Arial"/>
                <a:cs typeface="Arial"/>
              </a:rPr>
              <a:t>[160]  </a:t>
            </a:r>
            <a:r>
              <a:rPr lang="en-US" sz="850" b="1" dirty="0" u="sng">
                <a:solidFill>
                  <a:srgbClr val="FFFFFF"/>
                </a:solidFill>
                <a:latin typeface="Arial"/>
                <a:ea typeface="Arial"/>
                <a:cs typeface="Arial"/>
                <a:hlinkClick r:id="rIdL47"/>
              </a:rPr>
              <a:t>OpenRLHF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48"/>
              </a:rPr>
              <a:t>github.com/OpenRLHF/OpenRLHF</a:t>
            </a:r>
          </a:p>
          <a:p>
            <a:pPr algn="l" marL="0" indent="0">
              <a:lnSpc>
                <a:spcPct val="100000"/>
              </a:lnSpc>
              <a:buNone/>
            </a:pPr>
            <a:r>
              <a:rPr lang="en-US" sz="850" b="1" dirty="0">
                <a:solidFill>
                  <a:srgbClr val="F5B700"/>
                </a:solidFill>
                <a:latin typeface="Arial"/>
                <a:ea typeface="Arial"/>
                <a:cs typeface="Arial"/>
              </a:rPr>
              <a:t>[161]  </a:t>
            </a:r>
            <a:r>
              <a:rPr lang="en-US" sz="850" b="1" dirty="0" u="sng">
                <a:solidFill>
                  <a:srgbClr val="FFFFFF"/>
                </a:solidFill>
                <a:latin typeface="Arial"/>
                <a:ea typeface="Arial"/>
                <a:cs typeface="Arial"/>
                <a:hlinkClick r:id="rIdL49"/>
              </a:rPr>
              <a:t>Opik (Comet,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50"/>
              </a:rPr>
              <a:t>github.com/comet-ml/opik</a:t>
            </a:r>
          </a:p>
          <a:p>
            <a:pPr algn="l" marL="0" indent="0">
              <a:lnSpc>
                <a:spcPct val="100000"/>
              </a:lnSpc>
              <a:buNone/>
            </a:pPr>
            <a:r>
              <a:rPr lang="en-US" sz="850" b="1" dirty="0">
                <a:solidFill>
                  <a:srgbClr val="F5B700"/>
                </a:solidFill>
                <a:latin typeface="Arial"/>
                <a:ea typeface="Arial"/>
                <a:cs typeface="Arial"/>
              </a:rPr>
              <a:t>[162]  </a:t>
            </a:r>
            <a:r>
              <a:rPr lang="en-US" sz="850" b="1" dirty="0" u="sng">
                <a:solidFill>
                  <a:srgbClr val="FFFFFF"/>
                </a:solidFill>
                <a:latin typeface="Arial"/>
                <a:ea typeface="Arial"/>
                <a:cs typeface="Arial"/>
                <a:hlinkClick r:id="rIdL51"/>
              </a:rPr>
              <a:t>Arize Phoenix licence (Elastic 2.0)</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52"/>
              </a:rPr>
              <a:t>github.com/Arize-ai/phoenix/blob/main/LICENSE</a:t>
            </a:r>
          </a:p>
          <a:p>
            <a:pPr algn="l" marL="0" indent="0">
              <a:lnSpc>
                <a:spcPct val="100000"/>
              </a:lnSpc>
              <a:buNone/>
            </a:pPr>
            <a:r>
              <a:rPr lang="en-US" sz="850" b="1" dirty="0">
                <a:solidFill>
                  <a:srgbClr val="F5B700"/>
                </a:solidFill>
                <a:latin typeface="Arial"/>
                <a:ea typeface="Arial"/>
                <a:cs typeface="Arial"/>
              </a:rPr>
              <a:t>[163]  </a:t>
            </a:r>
            <a:r>
              <a:rPr lang="en-US" sz="850" b="1" dirty="0" u="sng">
                <a:solidFill>
                  <a:srgbClr val="FFFFFF"/>
                </a:solidFill>
                <a:latin typeface="Arial"/>
                <a:ea typeface="Arial"/>
                <a:cs typeface="Arial"/>
                <a:hlinkClick r:id="rIdL53"/>
              </a:rPr>
              <a:t>Langfuse licence (MIT core, ee/)</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54"/>
              </a:rPr>
              <a:t>github.com/langfuse/langfuse/blob/main/LICENSE</a:t>
            </a:r>
          </a:p>
          <a:p>
            <a:pPr algn="l" marL="0" indent="0">
              <a:lnSpc>
                <a:spcPct val="100000"/>
              </a:lnSpc>
              <a:buNone/>
            </a:pPr>
            <a:r>
              <a:rPr lang="en-US" sz="850" b="1" dirty="0">
                <a:solidFill>
                  <a:srgbClr val="F5B700"/>
                </a:solidFill>
                <a:latin typeface="Arial"/>
                <a:ea typeface="Arial"/>
                <a:cs typeface="Arial"/>
              </a:rPr>
              <a:t>[164]  </a:t>
            </a:r>
            <a:r>
              <a:rPr lang="en-US" sz="850" b="1" dirty="0" u="sng">
                <a:solidFill>
                  <a:srgbClr val="FFFFFF"/>
                </a:solidFill>
                <a:latin typeface="Arial"/>
                <a:ea typeface="Arial"/>
                <a:cs typeface="Arial"/>
                <a:hlinkClick r:id="rIdL55"/>
              </a:rPr>
              <a:t>OpenAI Agents SDK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56"/>
              </a:rPr>
              <a:t>github.com/openai/openai-agents-python</a:t>
            </a:r>
          </a:p>
          <a:p>
            <a:pPr algn="l" marL="0" indent="0">
              <a:lnSpc>
                <a:spcPct val="100000"/>
              </a:lnSpc>
              <a:buNone/>
            </a:pPr>
            <a:r>
              <a:rPr lang="en-US" sz="850" b="1" dirty="0">
                <a:solidFill>
                  <a:srgbClr val="F5B700"/>
                </a:solidFill>
                <a:latin typeface="Arial"/>
                <a:ea typeface="Arial"/>
                <a:cs typeface="Arial"/>
              </a:rPr>
              <a:t>[165]  </a:t>
            </a:r>
            <a:r>
              <a:rPr lang="en-US" sz="850" b="1" dirty="0" u="sng">
                <a:solidFill>
                  <a:srgbClr val="FFFFFF"/>
                </a:solidFill>
                <a:latin typeface="Arial"/>
                <a:ea typeface="Arial"/>
                <a:cs typeface="Arial"/>
                <a:hlinkClick r:id="rIdL57"/>
              </a:rPr>
              <a:t>Future AGI agent-learning-kit (GitHub)</a:t>
            </a:r>
          </a:p>
          <a:p>
            <a:pPr algn="l" marL="0" indent="0">
              <a:lnSpc>
                <a:spcPct val="100000"/>
              </a:lnSpc>
              <a:buNone/>
            </a:pPr>
            <a:r>
              <a:rPr lang="en-US" sz="800" dirty="0">
                <a:solidFill>
                  <a:srgbClr val="FFFFFF"/>
                </a:solidFill>
                <a:latin typeface="Arial"/>
                <a:ea typeface="Arial"/>
                <a:cs typeface="Arial"/>
              </a:rPr>
              <a:t>         </a:t>
            </a:r>
            <a:r>
              <a:rPr lang="en-US" sz="800" dirty="0" u="sng">
                <a:solidFill>
                  <a:srgbClr val="F5B700"/>
                </a:solidFill>
                <a:latin typeface="Arial"/>
                <a:ea typeface="Arial"/>
                <a:cs typeface="Arial"/>
                <a:hlinkClick r:id="rIdL58"/>
              </a:rPr>
              <a:t>github.com/future-agi/agent-learning-kit</a:t>
            </a:r>
          </a:p>
        </p:txBody>
      </p:sp>
      <p:sp>
        <p:nvSpPr>
          <p:cNvPr id="160" name="gal 160"/>
          <p:cNvSpPr/>
          <p:nvPr/>
        </p:nvSpPr>
        <p:spPr>
          <a:xfrm>
            <a:off x="548640" y="6217920"/>
            <a:ext cx="11091672" cy="201168"/>
          </a:xfrm>
          <a:prstGeom prst="rect">
            <a:avLst/>
          </a:prstGeom>
          <a:noFill/>
          <a:ln>
            <a:noFill/>
          </a:ln>
        </p:spPr>
        <p:txBody>
          <a:bodyPr wrap="square" lIns="0" tIns="0" rIns="0" bIns="0" rtlCol="0" anchor="ctr">
            <a:noAutofit/>
          </a:bodyPr>
          <a:lstStyle/>
          <a:p>
            <a:pPr algn="l" marL="0" indent="0">
              <a:buNone/>
            </a:pPr>
            <a:r>
              <a:rPr lang="en-US" sz="900" dirty="0">
                <a:solidFill>
                  <a:srgbClr val="D9B48A"/>
                </a:solidFill>
                <a:latin typeface="Arial"/>
                <a:ea typeface="Arial"/>
                <a:cs typeface="Arial"/>
              </a:rPr>
              <a:t>Links checked 15 Oct 2026; all return 200. Reused: [42] OTel GenAI semantic conventions.</a:t>
            </a:r>
          </a:p>
        </p:txBody>
      </p:sp>
    </p:spTree>
  </p:cSld>
  <p:clrMapOvr>
    <a:masterClrMapping/>
  </p:clrMapOvr>
</p:sld>
</file>

<file path=ppt/theme/theme1.xml><?xml version="1.0" encoding="utf-8"?>
<a:theme xmlns:a="http://schemas.openxmlformats.org/drawingml/2006/main" name="Office Theme">
  <a:themeElements>
    <a:clrScheme name="Verizon Warm">
      <a:dk1>
        <a:sysClr val="windowText" lastClr="000000"/>
      </a:dk1>
      <a:lt1>
        <a:sysClr val="window" lastClr="FFFFFF"/>
      </a:lt1>
      <a:dk2>
        <a:srgbClr val="141010"/>
      </a:dk2>
      <a:lt2>
        <a:srgbClr val="F3E6D6"/>
      </a:lt2>
      <a:accent1>
        <a:srgbClr val="EE0000"/>
      </a:accent1>
      <a:accent2>
        <a:srgbClr val="F5B700"/>
      </a:accent2>
      <a:accent3>
        <a:srgbClr val="7A4A2A"/>
      </a:accent3>
      <a:accent4>
        <a:srgbClr val="4A0E14"/>
      </a:accent4>
      <a:accent5>
        <a:srgbClr val="D9B48A"/>
      </a:accent5>
      <a:accent6>
        <a:srgbClr val="A0704A"/>
      </a:accent6>
      <a:hlink>
        <a:srgbClr val="F5B700"/>
      </a:hlink>
      <a:folHlink>
        <a:srgbClr val="D9B48A"/>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2026-10-13T22:29:45Z</dcterms:created>
  <dcterms:modified xsi:type="dcterms:W3CDTF">2026-10-13T22:29:45Z</dcterms:modified>
</cp:coreProperties>
</file>