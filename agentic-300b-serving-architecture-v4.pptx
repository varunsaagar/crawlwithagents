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KV GiB</c:v>
                </c:pt>
              </c:strCache>
            </c:strRef>
          </c:tx>
          <c:spPr>
            <a:solidFill>
              <a:srgbClr val="1B232E"/>
            </a:solidFill>
            <a:effectLst/>
          </c:spPr>
          <c:invertIfNegative val="0"/>
          <c:dLbls>
            <c:numFmt formatCode="0&quot; GiB&quot;" sourceLinked="0"/>
            <c:txPr>
              <a:bodyPr/>
              <a:lstStyle/>
              <a:p>
                <a:pPr>
                  <a:defRPr b="0" i="0" strike="noStrike" sz="1400" u="none">
                    <a:solidFill>
                      <a:srgbClr val="1B232E"/>
                    </a:solidFill>
                    <a:latin typeface="Inter"/>
                  </a:defRPr>
                </a:pPr>
              </a:p>
            </c:txPr>
            <c:showLegendKey val="0"/>
            <c:showVal val="1"/>
            <c:showCatName val="0"/>
            <c:showSerName val="0"/>
            <c:showPercent val="0"/>
            <c:showBubbleSize val="0"/>
            <c:showLeaderLines val="0"/>
          </c:dLbls>
          <c:cat>
            <c:multiLvlStrRef>
              <c:f>Sheet1!$A$2:$A$4</c:f>
              <c:multiLvlStrCache>
                <c:ptCount val="3"/>
                <c:lvl>
                  <c:pt idx="0">
                    <c:v>All at 256K</c:v>
                  </c:pt>
                  <c:pt idx="1">
                    <c:v>Mixed 50K–256K</c:v>
                  </c:pt>
                  <c:pt idx="2">
                    <c:v>50K average</c:v>
                  </c:pt>
                </c:lvl>
              </c:multiLvlStrCache>
            </c:multiLvlStrRef>
          </c:cat>
          <c:val>
            <c:numRef>
              <c:f>Sheet1!$B$2:$B$4</c:f>
              <c:numCache>
                <c:formatCode>General</c:formatCode>
                <c:ptCount val="3"/>
                <c:pt idx="0">
                  <c:v>400</c:v>
                </c:pt>
                <c:pt idx="1">
                  <c:v>220</c:v>
                </c:pt>
                <c:pt idx="2">
                  <c:v>75</c:v>
                </c:pt>
              </c:numCache>
            </c:numRef>
          </c:val>
        </c:ser>
        <c:dLbls>
          <c:numFmt formatCode="0&quot; GiB&quot;" sourceLinked="0"/>
          <c:txPr>
            <a:bodyPr/>
            <a:lstStyle/>
            <a:p>
              <a:pPr>
                <a:defRPr b="0" i="0" strike="noStrike" sz="1400" u="none">
                  <a:solidFill>
                    <a:srgbClr val="1B232E"/>
                  </a:solidFill>
                  <a:latin typeface="Inter"/>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32E"/>
                </a:solidFill>
                <a:latin typeface="Inter"/>
              </a:defRPr>
            </a:pPr>
            <a:endParaRPr lang="en-US"/>
          </a:p>
        </c:txPr>
        <c:crossAx val="2094734552"/>
        <c:crosses val="autoZero"/>
        <c:auto val="1"/>
        <c:lblAlgn val="ctr"/>
        <c:noMultiLvlLbl val="1"/>
      </c:catAx>
      <c:valAx>
        <c:axId val="2094734552"/>
        <c:scaling>
          <c:orientation val="minMax"/>
          <c:max val="4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"This is a production design for serving two ~1T-class open MoE models, Thinking Machines Inkling and Meta Muse Spark Open, to agents on 10 to 20 Blackwell or Hopper GPUs. The lead engine is vLLM tuned the way the vLLM × AgentX work recommends, with SGLang as the challenger."</a:t>
            </a:r>
          </a:p>
          <a:p/>
          <a:p>
            <a:r>
              <a:t>(2) WALK-THROUGH</a:t>
            </a:r>
          </a:p>
          <a:p>
            <a:r>
              <a:t>- Navy panel: 20 squares, one per GPU. 16 are the large-model GPUs (blue top rows, navy below) and the 4 muted squares are the small-model pool, matching the 20-GPU plan on slide 10.</a:t>
            </a:r>
          </a:p>
          <a:p>
            <a:r>
              <a:t>- Title, blue rule (the single accent colour: blue = our design emphasis, routing and tool-call path).</a:t>
            </a:r>
          </a:p>
          <a:p>
            <a:r>
              <a:t>- Subtitle, line 1: the two models. Line 2: engines. Line 3: GPU SKUs and fleet size.</a:t>
            </a:r>
          </a:p>
          <a:p/>
          <a:p>
            <a:r>
              <a:t>(3) TECHNICAL FRAMING</a:t>
            </a:r>
          </a:p>
          <a:p>
            <a:r>
              <a:t>- "inkiling" in the request = Thinking Machines Inkling (released 15 Jul 2026): MoE transformer, 975B total / 41B active, 256 routed + 2 shared experts with 6 routed active per token, sliding-window and global attention interleaved 5:1 with 8 KV heads, context up to 1M tokens, multimodal (text, image, audio), controllable thinking effort. Weights on Hugging Face as the original checkpoint and an NVFP4 checkpoint for Blackwell. Thinking Machines worked with RadixArk on SGLang support and with Inferact on vLLM support.</a:t>
            </a:r>
          </a:p>
          <a:p>
            <a:r>
              <a:t>- "muse" = Meta Muse Spark Open: ~816B total / ~42B active, 1M context, BF16 and NVFP4 checkpoints (released 15 Oct 2026).</a:t>
            </a:r>
          </a:p>
          <a:p>
            <a:r>
              <a:t>- Ling-2.6-1T (inclusionAI) stays in the deck only as an alternative model (slide 3).</a:t>
            </a:r>
          </a:p>
          <a:p>
            <a:r>
              <a:t>- "vLLM (AgentX-tuned)": AgentX is SemiAnalysis's public agentic benchmark built from real coding-agent traces. The vLLM team's 8 Sep 2026 blog describes how they tuned vLLM on it. AgentX is not a separate vLLM product; we use the tuned settings.</a:t>
            </a:r>
          </a:p>
          <a:p/>
          <a:p>
            <a:r>
              <a:t>(4) LIKELY QUESTIONS</a:t>
            </a:r>
          </a:p>
          <a:p>
            <a:r>
              <a:t>Q: Is "AgentX" something we install? A: The benchmark harness is installable (pip agentx-harness, command agentx) to replay traces against our endpoint. The serving side is plain vLLM plus routers (llm-d / Dynamo) and Mooncake Store, configured as the blog describes.</a:t>
            </a:r>
          </a:p>
          <a:p>
            <a:r>
              <a:t>Q: Why Inkling? A: It is the model the requester named; its tool-use training and NVFP4 checkpoint suit agent serving. Fit on our GPUs is on slide 3.</a:t>
            </a:r>
          </a:p>
          <a:p>
            <a:r>
              <a:t>Q: Is 20 GPUs enough? A: Yes for one ~1T model per node at FP4/FP8 on Blackwell; Hopper is tighter (slide 3).</a:t>
            </a:r>
          </a:p>
          <a:p/>
          <a:p>
            <a:r>
              <a:t>(5) SOURCES</a:t>
            </a:r>
          </a:p>
          <a:p>
            <a:r>
              <a:t>https://thinkingmachines.ai/news/introducing-inkling/ ; https://huggingface.co/blog/meta-muse-spark-open ; https://vllm.ai/blog/2026-09-08-vllm-agentx ; https://github.com/SemiAnalysisAI/agentx-harness ; https://inferencex.semianalysis.com/agentx ; https://huggingface.co/inclusionAI/Ling-2.6-1T</a:t>
            </a:r>
          </a:p>
          <a:p>
            <a:r>
              <a:t>Model sizes are reported by the model publishers. The 16 + 4 split is our proposal.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"Agents re-send almost the same prompt every step, so the serving win comes from reusing the prefix and cutting time per step — not from raw decode speed."</a:t>
            </a:r>
          </a:p>
          <a:p/>
          <a:p>
            <a:r>
              <a:t>(2) WALK-THROUGH</a:t>
            </a:r>
          </a:p>
          <a:p>
            <a:r>
              <a:t>- Left: the agent loop. Four light-blue boxes (Plan → Tool call → Observe → Re-plan) connected clockwise by blue arrows around a dashed ring; the navy oval in the centre says the loop runs until the task is done.</a:t>
            </a:r>
          </a:p>
          <a:p>
            <a:r>
              <a:t>- Middle: an ILLUSTRATIVE stacked bar chart (not measured). Each bar S1–S6 is the prompt at one step. Grey = prefix already seen (cache hit); blue = new tokens that need prefill. The grey part grows every step; the blue part stays small.</a:t>
            </a:r>
          </a:p>
          <a:p>
            <a:r>
              <a:t>- Right: three numbered takeaways — prefix reuse, short decodes, session affinity.</a:t>
            </a:r>
          </a:p>
          <a:p/>
          <a:p>
            <a:r>
              <a:t>(3) TECHNICAL DEEP DIVE</a:t>
            </a:r>
          </a:p>
          <a:p>
            <a:r>
              <a:t>- Each step's prompt = system prompt + tool schemas + full history + the latest tool result. Without caching, prefill cost grows with the whole history every step; with prefix caching only the new tail is computed, because the KV cache for an identical token prefix is identical.</a:t>
            </a:r>
          </a:p>
          <a:p>
            <a:r>
              <a:t>- Outputs per step are short (a tool call in JSON, a next action), so most wall-clock time per step is queueing + prefill (TTFT) plus a short decode. That is why time-to-first-token per step is the SLO that matters.</a:t>
            </a:r>
          </a:p>
          <a:p>
            <a:r>
              <a:t>- Prefix caching only pays if the request lands where the KV already lives: session/prefix-aware routing (SGLang router, llm-d precise prefix routing that indexes KV events from vLLM or SGLang) keeps a session on its warm replica. When HBM fills, tiering KV to CPU DRAM/SSD (SGLang HiCache, LMCache, Mooncake) keeps long agent histories reusable instead of evicting them.</a:t>
            </a:r>
          </a:p>
          <a:p>
            <a:r>
              <a:t>- Reasoning models add hidden "thinking" tokens per step; Muse Spark Open cannot turn reasoning off (lowest setting "low"), which raises decode per step — another reason to budget latency per step.</a:t>
            </a:r>
          </a:p>
          <a:p/>
          <a:p>
            <a:r>
              <a:t>(4) LIKELY QUESTIONS</a:t>
            </a:r>
          </a:p>
          <a:p>
            <a:r>
              <a:t>Q: How much cache hit can we expect? A: We will measure it on replayed traces. DeepSeek reports ~95% for its own service (DeepInfer, per the reference context); that is their claim, not our target.</a:t>
            </a:r>
          </a:p>
          <a:p>
            <a:r>
              <a:t>Q: Does streaming help? A: For users, yes; for agent-to-tool steps, the full tool call must finish first, so step latency still rules.</a:t>
            </a:r>
          </a:p>
          <a:p>
            <a:r>
              <a:t>Q: Why not a bigger batch? A: Bigger batches raise throughput but add queue time per step; agents feel latency per step.</a:t>
            </a:r>
          </a:p>
          <a:p/>
          <a:p>
            <a:r>
              <a:t>(5) SOURCES</a:t>
            </a:r>
          </a:p>
          <a:p>
            <a:r>
              <a:t>https://docs.sglang.io/docs/advanced_features/hicache_design ; https://llm-d.ai/docs/dev/architecture/advanced/kv-management/prefix-cache-aware-routing ; https://github.com/deepseek-ai/DeepInfer (only the landing page could be read; the 95% figure comes from the brief's prior context) ; https://huggingface.co/blog/meta-muse-spark-open (reasoning cannot be turned off).</a:t>
            </a:r>
          </a:p>
          <a:p>
            <a:r>
              <a:t>Chart = illustrative only. No numbers on this slide are measurements.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"Inkling and Muse each fit on one 8-GPU Blackwell node. On Hopper (H200), Inkling needs its FP4 checkpoint or a second node, because FP8 weights leave almost no room for KV cache."</a:t>
            </a:r>
          </a:p>
          <a:p/>
          <a:p>
            <a:r>
              <a:t>(2) WALK-THROUGH</a:t>
            </a:r>
          </a:p>
          <a:p>
            <a:r>
              <a:t>- Table rows = models (total / active parameters); columns = estimated weight size at FP8 and FP4, then one 8-GPU node of H200, B100 and B200 with its total HBM.</a:t>
            </a:r>
          </a:p>
          <a:p>
            <a:r>
              <a:t>- Navy cell = fits with KV room; light-blue cell = tight (fits only at FP4, or needs 16 GPUs); estimates are footnoted.</a:t>
            </a:r>
          </a:p>
          <a:p>
            <a:r>
              <a:t>- Order: Inkling (primary), Muse Spark Open (primary), DeepSeek-V3.x (reference point), Ling-2.6-1T (alternative).</a:t>
            </a:r>
          </a:p>
          <a:p>
            <a:r>
              <a:t>- Right: parallelism map. Inside a node use TP8 / EP8 over NVLink; across nodes use a PD split (KV over RDMA) or PP2 / EP16.</a:t>
            </a:r>
          </a:p>
          <a:p/>
          <a:p>
            <a:r>
              <a:t>(3) TECHNICAL DEEP DIVE</a:t>
            </a:r>
          </a:p>
          <a:p>
            <a:r>
              <a:t>- Estimates (ours): FP8 ≈ 1 byte/param; NVFP4 ≈ 0.56 byte/param including scales. Inkling 975B → ~0.98 TB FP8, ~0.55 TB FP4. On 8× H200 (1.13 TB) FP8 leaves ~0.15 TB for KV, activations and CUDA graphs: "tight". Thinking Machines publishes an NVFP4 checkpoint "for efficient inference on NVIDIA Blackwell"; on Hopper FP4 weights need weight-only (W4A16) kernels.</a:t>
            </a:r>
          </a:p>
          <a:p>
            <a:r>
              <a:t>- Inkling KV: 5:1 sliding-window to global attention with 8 KV heads, so only the global layers grow with context. This is a hybrid KV layout, exactly the case the vLLM hybrid KV cache manager (slide 5) is built for.</a:t>
            </a:r>
          </a:p>
          <a:p>
            <a:r>
              <a:t>- Muse Spark Open: NVFP4 runs on a single B200 node and on 8× H200 per Hugging Face's endpoint recipe (reported).</a:t>
            </a:r>
          </a:p>
          <a:p>
            <a:r>
              <a:t>- Ling-2.6-1T kept as an alternative: 1T params, hybrid MLA + linear attention, official SGLang/vLLM TP8 examples.</a:t>
            </a:r>
          </a:p>
          <a:p>
            <a:r>
              <a:t>- Weight precision and KV precision are separate settings (@jaga_prasanna); size KV for the real context mix.</a:t>
            </a:r>
          </a:p>
          <a:p/>
          <a:p>
            <a:r>
              <a:t>(4) LIKELY QUESTIONS</a:t>
            </a:r>
          </a:p>
          <a:p>
            <a:r>
              <a:t>Q: Will Inkling at FP4 lose quality? A: Thinking Machines ships the NVFP4 checkpoint themselves; we will still run our eval set against BF16/FP8 in the pilot.</a:t>
            </a:r>
          </a:p>
          <a:p>
            <a:r>
              <a:t>Q: Why not BF16? A: ~1.95 TB of weights (estimate) needs two nodes on any SKU here.</a:t>
            </a:r>
          </a:p>
          <a:p>
            <a:r>
              <a:t>Q: Do these numbers include KV cache? A: No, weights only; KV is sized separately per context mix.</a:t>
            </a:r>
          </a:p>
          <a:p/>
          <a:p>
            <a:r>
              <a:t>(5) SOURCES</a:t>
            </a:r>
          </a:p>
          <a:p>
            <a:r>
              <a:t>https://thinkingmachines.ai/news/introducing-inkling/ (975B/41B, architecture, NVFP4 checkpoint) ; https://huggingface.co/blog/meta-muse-spark-open ; https://huggingface.co/deepseek-ai/DeepSeek-V3 ; https://huggingface.co/inclusionAI/Ling-2.6-1T ; https://www.nvidia.com/en-us/data-center/h200/ ; https://www.nvidia.com/en-us/data-center/dgx-b200/ ; https://x.com/jaga_prasanna/status/2105999099921383543</a:t>
            </a:r>
          </a:p>
          <a:p>
            <a:r>
              <a:t>All TB figures are ESTIMATES; parameter counts are REPORTED by the publishers.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"Our serving layer is vLLM configured the way the vLLM × AgentX work recommends: keep each agent session on the replica that holds its cache, back every replica with a shared KV pool, and cap long prefills so short turns are not blocked."</a:t>
            </a:r>
          </a:p>
          <a:p/>
          <a:p>
            <a:r>
              <a:t>(2) WALK-THROUGH</a:t>
            </a:r>
          </a:p>
          <a:p>
            <a:r>
              <a:t>- Left: agent orchestrator with tool sandbox and memory store. Tools execute here, outside the inference servers.</a:t>
            </a:r>
          </a:p>
          <a:p>
            <a:r>
              <a:t>- Navy column: gateway (auth, RPM/TPM quotas, admission queue, retries, breakers). The blue block inside it is the session-sticky router (llm-d or NVIDIA Dynamo) and is the routing highlight.</a:t>
            </a:r>
          </a:p>
          <a:p>
            <a:r>
              <a:t>- Grey panel: large-model pool on vLLM. The light-blue bar is the API server with tool-call and reasoning parsers, which is the tool-call highlight. Below it, prefill (prefill cap, prefill context parallelism) hands KV to decode (DEP = data + expert parallel, speculative decoding).</a:t>
            </a:r>
          </a:p>
          <a:p>
            <a:r>
              <a:t>- Small-model pool: intent, guard/PII, summary models.</a:t>
            </a:r>
          </a:p>
          <a:p>
            <a:r>
              <a:t>- Right: shared KV pool tiers L1 GPU HBM → L2 CPU DRAM → L3 disk, implemented with Mooncake Store; hybrid KV manager inside the engine.</a:t>
            </a:r>
          </a:p>
          <a:p>
            <a:r>
              <a:t>- Bottom: observability. P90 interactivity (tokens/s per user) is the blog's latency metric.</a:t>
            </a:r>
          </a:p>
          <a:p/>
          <a:p>
            <a:r>
              <a:t>(3) TECHNICAL DEEP DIVE (from the vLLM × AgentX blog unless noted)</a:t>
            </a:r>
          </a:p>
          <a:p>
            <a:r>
              <a:t>- Routing: on AgentX traces, queue-depth, running-token and KV-utilisation balancing "all underperformed simple session-aware sticky routing", because the next turn usually arrives while its prefix is still on the previous GPU. Moving a session forces a KV fetch whose prefetched blocks occupy GPU KV capacity.</a:t>
            </a:r>
          </a:p>
          <a:p>
            <a:r>
              <a:t>- Shared KV pool: Mooncake Store as a distributed KV cache pool; standalone-store mode lets an external Mooncake client own the CPU and disk tiers, with vLLM workers as pure requesters. It is integrated with Dynamo and llm-d routers "so requests can get cache hits on any instance".</a:t>
            </a:r>
          </a:p>
          <a:p>
            <a:r>
              <a:t>- Session-aware retention for hybrid models: interval-based retention at each turn's prompt end, plus Marconi-style selective retention when a prefix is seen a second time.</a:t>
            </a:r>
          </a:p>
          <a:p>
            <a:r>
              <a:t>- Scheduling: --long-prefill-token-threshold caps per-step tokens of one request (512 in their example); --prefill-schedule-interval aligns prefills across DEP ranks.</a:t>
            </a:r>
          </a:p>
          <a:p>
            <a:r>
              <a:t>- Parallelism follows the model: DEP is the default for DeepSeek V4, DCP for Kimi K3 on 8 GPUs, PCP for long prefills on prefill workers. Pipeline parallelism does not suit warm agent turns.</a:t>
            </a:r>
          </a:p>
          <a:p>
            <a:r>
              <a:t>- Tool calling is NOT covered by the blog. The parsers box comes from vLLM docs (--enable-auto-tool-choice, --tool-call-parser, --reasoning-parser; strict tools via structural tags).</a:t>
            </a:r>
          </a:p>
          <a:p/>
          <a:p>
            <a:r>
              <a:t>(4) LIKELY QUESTIONS</a:t>
            </a:r>
          </a:p>
          <a:p>
            <a:r>
              <a:t>Q: Dynamo or llm-d? A: Both are named in the blog as integrated with the shared pool. llm-d v1.0.0 adds session affinity and turn-priority scheduling and fits Kubernetes. Pick in the pilot.</a:t>
            </a:r>
          </a:p>
          <a:p>
            <a:r>
              <a:t>Q: Do we still need SGLang? A: As challenger on the same traces (slide 6). The architecture is engine-agnostic behind one OpenAI API.</a:t>
            </a:r>
          </a:p>
          <a:p>
            <a:r>
              <a:t>Q: Does vLLM execute tools or MCP servers here? A: Not in this design; the orchestrator runs tools in the sandbox. The AgentX blog does not describe server-side tool execution.</a:t>
            </a:r>
          </a:p>
          <a:p/>
          <a:p>
            <a:r>
              <a:t>(5) SOURCES</a:t>
            </a:r>
          </a:p>
          <a:p>
            <a:r>
              <a:t>https://vllm.ai/blog/2026-09-08-vllm-agentx ; https://docs.vllm.ai/en/latest/features/mooncake_store_connector_usage/ ; https://github.com/ai-dynamo/dynamo ; https://github.com/llm-d/llm-d/releases/tag/v1.0.0 ; https://docs.vllm.ai/en/latest/features/tool_calling.html ; https://x.com/AyushSarode07/status/2112952239077937334 (gateway pattern)</a:t>
            </a:r>
          </a:p>
          <a:p>
            <a:r>
              <a:t>No numbers on this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"vLLM's agentic serving work, validated on SemiAnalysis's AgentX benchmark, is organised in three planes. The control plane keeps each agent session on a warm cache, the execution plane generates tokens fast, and the data plane keeps KV caches warm and close."</a:t>
            </a:r>
          </a:p>
          <a:p/>
          <a:p>
            <a:r>
              <a:t>(2) WALK-THROUGH</a:t>
            </a:r>
          </a:p>
          <a:p>
            <a:r>
              <a:t>- Top row = one agent turn left to right. The turn arrives with the tool result appended, session routing (blue) sends it to the replica holding its prefix, and the API server (light blue) applies tool and reasoning parsers. The scheduler then caps long prefills and aligns prefill steps, and prefill hands off to decode at a rate-matched P/D ratio.</a:t>
            </a:r>
          </a:p>
          <a:p>
            <a:r>
              <a:t>- Three bands = the blog's Figure 3, with component names exactly as published. Control plane: session routing, cache affinity (blue = routing), P/D disagg. Execution plane: parallelism, kernels, spec decode. Data plane: hybrid KV manager, KV connector, distributed KV pool.</a:t>
            </a:r>
          </a:p>
          <a:p>
            <a:r>
              <a:t>- Bottom line: the AgentX trace statistics the design responds to (reported), and a reminder that AgentX is the benchmark.</a:t>
            </a:r>
          </a:p>
          <a:p/>
          <a:p>
            <a:r>
              <a:t>(3) TECHNICAL DEEP DIVE</a:t>
            </a:r>
          </a:p>
          <a:p>
            <a:r>
              <a:t>- Workload (reported, AgentX traces): median 43 turns per session; median input 142K tokens, output 444 tokens; prefix-cache hit rate above 96%; 44% of sessions have at least one subagent (median four rollouts).</a:t>
            </a:r>
          </a:p>
          <a:p>
            <a:r>
              <a:t>- Control plane: session-aware sticky routing beat load-balancing policies on AgentX. P/D ratio is found by two-phase rate matching: (1) saturation-profile prefill-only and decode-only deployments across parallelism and size (8/16/32 GPUs); (2) derive the ratio and sweep concurrency on the combined deployment.</a:t>
            </a:r>
          </a:p>
          <a:p>
            <a:r>
              <a:t>- Scheduler: --long-prefill-token-threshold (512 in their tests) let short turns join every step. Reported on DeepSeek V4 Pro / B300: up to 93% higher total tokens per GPU-second and ~2.3× better P90 interactivity, at the cost of higher TTFT for the long request. --prefill-schedule-interval admits prefill only every Nth step, with the counter aligned across DEP ranks.</a:t>
            </a:r>
          </a:p>
          <a:p>
            <a:r>
              <a:t>- Execution plane: DCP for Kimi K3 (symmetric-memory kernels cut ~13% per layer, reported), wide-EP/DEP on NVL72, PCP8 2.65× prefill speedup over TP8 at 32K on DeepSeek V4 (reported). PP is not used for warm turns.</a:t>
            </a:r>
          </a:p>
          <a:p>
            <a:r>
              <a:t>- Data plane: one page size and one shared block pool for all attention types. The packed layout replaces 92 tensors with one allocation for DeepSeek V4 (~10% KV memory saved, reported). Mooncake Store standalone-store adds CPU and disk tiers. Interval plus Marconi-style selective retention keeps hybrid-model prefixes reusable.</a:t>
            </a:r>
          </a:p>
          <a:p>
            <a:r>
              <a:t>- Headline results (reported, AgentX, P90 &gt; 50 tok/s/user): DeepSeek V4 Pro 83K TPGS at 58.3 tok/s on 12 GB300 / 256 sessions; MiniMax M3 70K TPGS at 74.2 tok/s on 2 B300; Kimi K3 11.8K TPGS at 62.7 tok/s on 16 GB300. Cost vs Opus 5 API pricing: 14.6×–106× (vLLM's comparison, serving cost only). None of these models is ours; we will re-measure Inkling and Muse.</a:t>
            </a:r>
          </a:p>
          <a:p>
            <a:r>
              <a:t>- NOT in the blog: tool-call parsing, server-side tool execution, MCP, Responses API, or a named "AgentX" vLLM component or flag. The API server box comes from vLLM docs.</a:t>
            </a:r>
          </a:p>
          <a:p>
            <a:r>
              <a:t>- Future work named in the blog (not shipped): agent hints via standard APIs, programmable KV cache, session-based KV prefetch between turns, and separate routing for first-turn and later-turn requests.</a:t>
            </a:r>
          </a:p>
          <a:p/>
          <a:p>
            <a:r>
              <a:t>(4) LIKELY QUESTIONS</a:t>
            </a:r>
          </a:p>
          <a:p>
            <a:r>
              <a:t>Q: What do we deploy for "AgentX"? A: vLLM with the scheduler flags above, a sticky/cache-aware router (llm-d or Dynamo), and Mooncake Store. AgentX itself is the benchmark harness we use to replay traces.</a:t>
            </a:r>
          </a:p>
          <a:p>
            <a:r>
              <a:t>Q: Will we get 83K TPGS? A: Unknown. That is DeepSeek V4 Pro on GB300 as reported. Our models and GPUs differ, so we will measure.</a:t>
            </a:r>
          </a:p>
          <a:p>
            <a:r>
              <a:t>Q: What does it mean for tool calls? A: The tool round-trip creates the short, prefix-heavy next turn that this design makes cheap. Parsing is unchanged (slide 8).</a:t>
            </a:r>
          </a:p>
          <a:p/>
          <a:p>
            <a:r>
              <a:t>(5) SOURCES</a:t>
            </a:r>
          </a:p>
          <a:p>
            <a:r>
              <a:t>https://vllm.ai/blog/2026-09-08-vllm-agentx (Fig. 3 full-stack overview: https://vllm.ai/blog-assets/figures/2026-09-08-vllm-agentx/full-stack-overview.png) ; post source: https://raw.githubusercontent.com/vllm-project/vllm-project.github.io/refs/heads/main/_posts/2026-09-08-vllm-agentx.md ; https://inferencex.semianalysis.com/agentx ; https://inferencex.semianalysis.com/agentx/optimizations/vllm ; https://github.com/SemiAnalysisAI/agentx-harness (pip agentx-harness==1.0.7, command agentx)</a:t>
            </a:r>
          </a:p>
          <a:p>
            <a:r>
              <a:t>All figures are REPORTED by vLLM / SemiAnalysis.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"Both engines cover what agents need. vLLM now has published, AgentX-validated tuning for agent traffic, and SGLang ships its own cache-aware router. We lead the pilot with vLLM and keep SGLang as challenger on the same traces."</a:t>
            </a:r>
          </a:p>
          <a:p/>
          <a:p>
            <a:r>
              <a:t>(2) WALK-THROUGH</a:t>
            </a:r>
          </a:p>
          <a:p>
            <a:r>
              <a:t>- Columns: vLLM (AgentX-tuned) first, then SGLang. Blue text marks the two rows that matter most for agents: session routing and tools / structured output.</a:t>
            </a:r>
          </a:p>
          <a:p>
            <a:r>
              <a:t>- Rows: session routing, prefix reuse, long-prefill control, tools, parallelism, PD disaggregation, support for our models.</a:t>
            </a:r>
          </a:p>
          <a:p>
            <a:r>
              <a:t>- Blue bar: the recommendation, which changed in v4 from "SGLang first".</a:t>
            </a:r>
          </a:p>
          <a:p/>
          <a:p>
            <a:r>
              <a:t>(3) TECHNICAL DEEP DIVE</a:t>
            </a:r>
          </a:p>
          <a:p>
            <a:r>
              <a:t>- Session routing: vLLM blog finds sticky routing beats load balancing on AgentX; routers named are llm-d and Dynamo (llm-d v1.0.0 adds session affinity and turn priority). SGLang Model Gateway: cache_aware policy with an approximate radix tree per worker (default --cache-threshold 0.3), PD mode; v0.5.22 unified session and cache affinity.</a:t>
            </a:r>
          </a:p>
          <a:p>
            <a:r>
              <a:t>- Prefix reuse: vLLM hybrid KV cache manager (one page size, one shared block pool) plus Mooncake Store distributed pool (standalone-store adds CPU and disk tiers); session-aware retention for hybrid models. SGLang RadixAttention plus HiCache (GPU → host → L3).</a:t>
            </a:r>
          </a:p>
          <a:p>
            <a:r>
              <a:t>- Long-prefill control: vLLM --long-prefill-token-threshold and --prefill-schedule-interval (DEP cadence). SGLang has chunked prefill (--chunked-prefill-size); we did not find an AgentX-specific SGLang equivalent in our sources.</a:t>
            </a:r>
          </a:p>
          <a:p>
            <a:r>
              <a:t>- Tools: vLLM strict tools via structural tags (strict: true / --tool-strict-level); SGLang enforces required or named tool_choice with EBNF on xgrammar. Both have per-model tool and reasoning parsers.</a:t>
            </a:r>
          </a:p>
          <a:p>
            <a:r>
              <a:t>- Parallelism: vLLM uses DEP by default for DeepSeek V4 and DCP/PCP where the architecture suits; SGLang EP + DP-attention with DeepEP.</a:t>
            </a:r>
          </a:p>
          <a:p>
            <a:r>
              <a:t>- Models: Inkling supported in vLLM (Thinking Machines worked with Inferact; vLLM v0.27 adds an Inkling MTP-8 speculator) and day-0 in SGLang (--tool-call-parser inkling --reasoning-parser inkling). Muse: vLLM reference plugin and muse parser; SGLang recipe.</a:t>
            </a:r>
          </a:p>
          <a:p>
            <a:r>
              <a:t>- Rationale for the new recommendation: vLLM's published AgentX work targets exactly our traffic shape (multi-turn, long prefix, short output) with concrete flags and a reproducible harness. SGLang is also an AgentX partner per SemiAnalysis, so it stays as a real challenger, not a fallback.</a:t>
            </a:r>
          </a:p>
          <a:p/>
          <a:p>
            <a:r>
              <a:t>(4) LIKELY QUESTIONS</a:t>
            </a:r>
          </a:p>
          <a:p>
            <a:r>
              <a:t>Q: Is vLLM faster than SGLang on AgentX? A: We are not claiming that. The InferenceX dashboard shows per-engine results; we will compare on our traces.</a:t>
            </a:r>
          </a:p>
          <a:p>
            <a:r>
              <a:t>Q: Why change the recommendation? A: The AgentX work gives vLLM a documented, measured agent configuration. The final pick is still gated on our pilot (G1).</a:t>
            </a:r>
          </a:p>
          <a:p>
            <a:r>
              <a:t>Q: What is DEP / DCP / PCP? A: Data + expert parallel; decode context parallel (KV sharded by sequence); prefill context parallel (prompt sharded across ranks).</a:t>
            </a:r>
          </a:p>
          <a:p/>
          <a:p>
            <a:r>
              <a:t>(5) SOURCES</a:t>
            </a:r>
          </a:p>
          <a:p>
            <a:r>
              <a:t>https://vllm.ai/blog/2026-09-08-vllm-agentx ; https://inferencex.semianalysis.com/agentx ; https://github.com/llm-d/llm-d/releases/tag/v1.0.0 ; https://docs.sglang.io/docs/advanced_features/sgl_model_gateway ; https://github.com/sgl-project/sglang/releases/tag/v0.5.22 ; https://docs.vllm.ai/en/latest/features/tool_calling.html ; https://docs.sglang.io/docs/advanced_features/tool_parser ; https://docs.sglang.io/docs/advanced_features/hicache_design ; https://thinkingmachines.ai/news/introducing-inkling/ ; https://huggingface.co/blog/meta-muse-spark-open</a:t>
            </a:r>
          </a:p>
          <a:p>
            <a:r>
              <a:t>Qualitative comparison; no benchmark numbers on this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"Both stacks move a request the same way and both route by session. The AgentX-tuned vLLM stack adds a distributed KV pool behind the engine, so a session that has to move still finds its cache."</a:t>
            </a:r>
          </a:p>
          <a:p/>
          <a:p>
            <a:r>
              <a:t>(2) WALK-THROUGH</a:t>
            </a:r>
          </a:p>
          <a:p>
            <a:r>
              <a:t>- Two lanes, read left to right: vLLM (AgentX-tuned) on top, SGLang below.</a:t>
            </a:r>
          </a:p>
          <a:p>
            <a:r>
              <a:t>- Blue boxes = routing: the session router (sticky, llm-d or Dynamo) vs SGLang's Model Gateway (cache-aware radix tree, PD mode).</a:t>
            </a:r>
          </a:p>
          <a:p>
            <a:r>
              <a:t>- Light-blue boxes = tool-call path: the API servers with tool-call and reasoning parsers.</a:t>
            </a:r>
          </a:p>
          <a:p>
            <a:r>
              <a:t>- Grey = engine core: vLLM engine (hybrid KV manager, prefill cap) vs SGLang runtime (RadixAttention, HiCache).</a:t>
            </a:r>
          </a:p>
          <a:p>
            <a:r>
              <a:t>- Right end: Mooncake Store distributed KV pool vs SGLang PD transfer (Mooncake, NIXL).</a:t>
            </a:r>
          </a:p>
          <a:p/>
          <a:p>
            <a:r>
              <a:t>(3) TECHNICAL DEEP DIVE</a:t>
            </a:r>
          </a:p>
          <a:p>
            <a:r>
              <a:t>- vLLM lane: llm-d's router (Endpoint Picker on the Gateway API Inference Extension) indexes KV events, and v1.0.0 adds session-state-producer, session affinity and turn-priority scheduling. Dynamo is NVIDIA's distributed serving framework with KV-aware routing. The AgentX blog names both as integrated with the shared KV pool. Engine: hybrid KV cache manager and --long-prefill-token-threshold. Pool: Mooncake Store (standalone-store for CPU and disk tiers).</a:t>
            </a:r>
          </a:p>
          <a:p>
            <a:r>
              <a:t>- Why the pool matters: the blog found that moving a session to a less-loaded rank costs a KV fetch and GPU capacity. The pool keeps that fetch possible (cache hit on any instance) while sticky routing makes it rare.</a:t>
            </a:r>
          </a:p>
          <a:p>
            <a:r>
              <a:t>- SGLang lane: Model Gateway cache_aware policy (approximate radix tree per worker, threshold 0.3, falls back to shortest queue under imbalance); v0.5.22 adds retries on another worker, --dp-aware routing and unified session and cache affinity. HiCache provides GPU → host → L3 (Mooncake / 3FS / NIXL) tiers.</a:t>
            </a:r>
          </a:p>
          <a:p>
            <a:r>
              <a:t>- Tool parsing is equivalent in both: OpenAI-compatible tool_calls produced by model-specific parsers (slide 8).</a:t>
            </a:r>
          </a:p>
          <a:p/>
          <a:p>
            <a:r>
              <a:t>(4) LIKELY QUESTIONS</a:t>
            </a:r>
          </a:p>
          <a:p>
            <a:r>
              <a:t>Q: Can llm-d front SGLang too? A: Yes, llm-d has SGLang overlays (prefix routing then needs a vLLM render pool for tokenisation).</a:t>
            </a:r>
          </a:p>
          <a:p>
            <a:r>
              <a:t>Q: Does SGLang have a shared pool? A: HiCache L3 can be Mooncake, so yes in principle; the vLLM blog's AgentX numbers are for vLLM only.</a:t>
            </a:r>
          </a:p>
          <a:p>
            <a:r>
              <a:t>Q: Single point of failure in the router? A: llm-d v1.0.0 adds router HA; SGLang's gateway supports multiple replicas.</a:t>
            </a:r>
          </a:p>
          <a:p/>
          <a:p>
            <a:r>
              <a:t>(5) SOURCES</a:t>
            </a:r>
          </a:p>
          <a:p>
            <a:r>
              <a:t>https://vllm.ai/blog/2026-09-08-vllm-agentx ; https://github.com/llm-d/llm-d/releases/tag/v1.0.0 ; https://github.com/ai-dynamo/dynamo ; https://docs.vllm.ai/en/latest/features/mooncake_store_connector_usage/ ; https://docs.sglang.io/docs/advanced_features/sgl_model_gateway ; https://github.com/sgl-project/sglang/releases/tag/v0.5.22 ; https://docs.sglang.io/docs/advanced_features/hicache_design</a:t>
            </a:r>
          </a:p>
          <a:p>
            <a:r>
              <a:t>No numbers on this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"A tool call is made valid by the engine's parser and grammar; the agent then runs the tool and sends the result back. AgentX tuning makes that next turn cheap with a sticky route, a prefix hit and a short, capped prefill."</a:t>
            </a:r>
          </a:p>
          <a:p/>
          <a:p>
            <a:r>
              <a:t>(2) WALK-THROUGH</a:t>
            </a:r>
          </a:p>
          <a:p>
            <a:r>
              <a:t>- Chevrons = one agent turn: request with tool schemas → chat template → decode with grammar (if strict) → tool-call parser → the agent runs the tool → sticky next turn.</a:t>
            </a:r>
          </a:p>
          <a:p>
            <a:r>
              <a:t>- Blue chevrons: the two tool-call steps where engines differ, and the routing step that AgentX tuning optimises.</a:t>
            </a:r>
          </a:p>
          <a:p>
            <a:r>
              <a:t>- Dashed loop: the tool result is appended, the prefix hits cache and only a short prefill is needed.</a:t>
            </a:r>
          </a:p>
          <a:p>
            <a:r>
              <a:t>- Table: enable flags, strict arguments, parsers for our models, and the next-turn path (vLLM AgentX-tuned vs SGLang).</a:t>
            </a:r>
          </a:p>
          <a:p/>
          <a:p>
            <a:r>
              <a:t>(3) TECHNICAL DEEP DIVE</a:t>
            </a:r>
          </a:p>
          <a:p>
            <a:r>
              <a:t>- Where tools run: in the agent or harness (our orchestrator + sandbox). The vLLM × AgentX blog does not describe server-side tool execution, MCP, or the Responses API; it treats the tool result as appended context ("each turn appends the latest tool result to the accumulated context and sends the whole thing back").</a:t>
            </a:r>
          </a:p>
          <a:p>
            <a:r>
              <a:t>- vLLM: --enable-auto-tool-choice plus --tool-call-parser (Muse: muse / musespark1x; DeepSeek: deepseek_v3 / v31; Qwen: hermes / qwen3_xml). Use --reasoning-parser for thinking models. Strict arguments via structural tags: per-tool strict: true or --tool-strict-level (auto | function | parameter). v0.32.0 checks parser compatibility at startup and streams tool_choice=required. The Inkling parser name on vLLM was not found in our sources; confirm from the vLLM recipe.</a:t>
            </a:r>
          </a:p>
          <a:p>
            <a:r>
              <a:t>- SGLang: --tool-call-parser (Inkling: inkling with --reasoning-parser inkling; Ling-2.6: qwen25). required or named tool_choice is enforced with EBNF on xgrammar.</a:t>
            </a:r>
          </a:p>
          <a:p>
            <a:r>
              <a:t>- Next turn (AgentX): sticky session keeps the prefix resident. --long-prefill-token-threshold (512 in the blog) stops another session's long first-turn prefill from blocking this short append. SGLang equivalent levers: cache-aware gateway and chunked prefill.</a:t>
            </a:r>
          </a:p>
          <a:p>
            <a:r>
              <a:t>- Hybrid models with grammar: SGLang v0.5.22 fixed wrong state resume when spec decoding and structured output are combined. vLLM v0.27 notes grammar advancing across the reasoning boundary with spec decode. Inkling's sliding/global attention makes this relevant.</a:t>
            </a:r>
          </a:p>
          <a:p/>
          <a:p>
            <a:r>
              <a:t>(4) LIKELY QUESTIONS</a:t>
            </a:r>
          </a:p>
          <a:p>
            <a:r>
              <a:t>Q: Can vLLM call MCP tools itself? A: Not covered by the AgentX blog and not used in this design; tools stay in our sandbox for security.</a:t>
            </a:r>
          </a:p>
          <a:p>
            <a:r>
              <a:t>Q: Does a capped prefill hurt? A: Yes for the long request's TTFT (the blog says so); tune the threshold upward for TTFT-sensitive traffic.</a:t>
            </a:r>
          </a:p>
          <a:p>
            <a:r>
              <a:t>Q: How do we guarantee valid JSON? A: Server-side strictness plus schema validation at the gateway.</a:t>
            </a:r>
          </a:p>
          <a:p/>
          <a:p>
            <a:r>
              <a:t>(5) SOURCES</a:t>
            </a:r>
          </a:p>
          <a:p>
            <a:r>
              <a:t>https://vllm.ai/blog/2026-09-08-vllm-agentx ; https://docs.vllm.ai/en/latest/features/tool_calling.html ; https://docs.sglang.io/docs/advanced_features/tool_parser ; https://github.com/vllm-project/vllm/releases/tag/v0.32.0 ; https://github.com/sgl-project/sglang/releases/tag/v0.5.22 ; https://github.com/sgl-project/sglang/issues/31359 ; https://huggingface.co/blog/meta-muse-spark-open ; vLLM Office Hours #56 deck https://docs.google.com/presentation/d/1GdxjSmHvwM-X6sylRrbHo9-0UYQOSpJMNvhxqFUXZSY</a:t>
            </a:r>
          </a:p>
          <a:p>
            <a:r>
              <a:t>No numbers on this slide besides the blog's example threshold.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"The October releases of vLLM, SGLang and llm-d all moved toward agents: session-aware routing, stricter tool calls and safer retries."</a:t>
            </a:r>
          </a:p>
          <a:p/>
          <a:p>
            <a:r>
              <a:t>(2) WALK-THROUGH</a:t>
            </a:r>
          </a:p>
          <a:p>
            <a:r>
              <a:t>- Three columns, each with the project, the release number in large type, its date (from GitHub releases, UTC) and four items that matter for agents. The coloured rule on top matches each stack's colour; blue dots are list markers.</a:t>
            </a:r>
          </a:p>
          <a:p>
            <a:r>
              <a:t>- Footnote: the SGLang PD number is reported by the release notes, not measured by us.</a:t>
            </a:r>
          </a:p>
          <a:p/>
          <a:p>
            <a:r>
              <a:t>(3) TECHNICAL DEEP DIVE</a:t>
            </a:r>
          </a:p>
          <a:p>
            <a:r>
              <a:t>- vLLM v0.32.0 (18 Oct 2026): tool-calling section lists parallel_tool_calls=false enforced, tool_choice="required" streaming, native XML parsers; "tool parser compatibility checked at startup" (fails fast on a wrong --tool-call-parser); new metrics vllm:prompt_tokens_cached_by_source_total and vllm:admission_rejections_total (feed our cache-hit and admission dashboards); also NVFP4 KV cache on SM90 and KV-connector work for NIXL and Mooncake, and least-loaded API worker selection.</a:t>
            </a:r>
          </a:p>
          <a:p>
            <a:r>
              <a:t>- SGLang v0.5.22 (19 Oct 2026): router retries a failed dispatch on another worker with back-off and a time-to-headers bound; unified session and cache affinity; --dp-aware routing; fail fast and cancel decode when prefill fails. Release headline: "PD disaggregation gets up to 27% more throughput and half the p95 TTFT on long-prompt workloads" (reported). Important fix: hybrid linear models could resume from wrong mamba states when speculative decoding and structured output were used together. OpenAI API fixes: honour tool_choice=none in DeepSeek encoders; omit absent tool_calls.</a:t>
            </a:r>
          </a:p>
          <a:p>
            <a:r>
              <a:t>- llm-d v1.0.0 (20 Oct 2026): "agent-aware serving" — session-state-producer plugin, session affinity, turn-priority scheduling; Responses API with previous_response_id; router HA with hot standby; router config API v1; DisaggregatedSet manages prefill/decode replicas as one unit; guides enable tool-calling and reasoning parsers.</a:t>
            </a:r>
          </a:p>
          <a:p>
            <a:r>
              <a:t>- Context from the user's vLLM deck (Office Hours #56, 20 Aug 2026): GuideLLM v0.7 benchmarks reasoning, tool calling and agentic traces (trace replay, multi-turn, subagents) — useful for our pilot.</a:t>
            </a:r>
          </a:p>
          <a:p/>
          <a:p>
            <a:r>
              <a:t>(4) LIKELY QUESTIONS</a:t>
            </a:r>
          </a:p>
          <a:p>
            <a:r>
              <a:t>Q: Should we pin versions? A: Yes — pin per environment and re-test parsers on upgrade; these releases change tool-call behaviour.</a:t>
            </a:r>
          </a:p>
          <a:p>
            <a:r>
              <a:t>Q: Is 27% / half p95 TTFT what we will see? A: Unknown; it is SGLang's reported result on long prompts. We will measure.</a:t>
            </a:r>
          </a:p>
          <a:p>
            <a:r>
              <a:t>Q: Breaking changes? A: vLLM v0.32 drops Python 3.10 and renames Responses reasoning stream events.</a:t>
            </a:r>
          </a:p>
          <a:p/>
          <a:p>
            <a:r>
              <a:t>(5) SOURCES</a:t>
            </a:r>
          </a:p>
          <a:p>
            <a:r>
              <a:t>https://github.com/vllm-project/vllm/releases/tag/v0.32.0 ; https://github.com/sgl-project/sglang/releases/tag/v0.5.22 ; https://github.com/llm-d/llm-d/releases/tag/v1.0.0 ; https://docs.google.com/presentation/d/1GdxjSmHvwM-X6sylRrbHo9-0UYQOSpJMNvhxqFUXZSY (vLLM Office Hours #56)</a:t>
            </a:r>
          </a:p>
          <a:p>
            <a:r>
              <a:t>Versions and dates from the GitHub releases API (22 Oct 2026). The PD figure is reported, not ours.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"With 10 GPUs, run one 8-GPU node for the big model plus 2 GPUs for small models; at 20, give prefill and decode a node each — but only if the nodes share an RDMA fabric."</a:t>
            </a:r>
          </a:p>
          <a:p/>
          <a:p>
            <a:r>
              <a:t>(2) WALK-THROUGH</a:t>
            </a:r>
          </a:p>
          <a:p>
            <a:r>
              <a:t>- Left panel, "10": 8 navy squares = one NVLink node running the large model with TP8/EP8; 2 blue squares = the small pool on a second host. Bottom: B200 vs H200 variants.</a:t>
            </a:r>
          </a:p>
          <a:p>
            <a:r>
              <a:t>- Right panel, "20": 8 navy = prefill node (chunked prefill), 8 slate = decode node (batch tuned), 4 blue = small pool plus a canary on a third host. Bottom: B200 runs 1T FP8 with a PD split only with RDMA; H200 runs 1T FP8 as one 16-GPU instance.</a:t>
            </a:r>
          </a:p>
          <a:p>
            <a:r>
              <a:t>- Colours match slide 4: navy/slate = large pool, blue = small pool.</a:t>
            </a:r>
          </a:p>
          <a:p/>
          <a:p>
            <a:r>
              <a:t>(3) TECHNICAL DEEP DIVE</a:t>
            </a:r>
          </a:p>
          <a:p>
            <a:r>
              <a:t>- Partial nodes: never stretch a TP/EP group over a partial host — TP all-reduce and EP all-to-all need NVLink. Use spare GPUs for small models and the canary.</a:t>
            </a:r>
          </a:p>
          <a:p>
            <a:r>
              <a:t>- 10 GPUs on B200 (1.44 TB): ~1T at FP4 (~0.56 TB est.) leaves large KV room; FP8 (~1.0 TB est.) leaves less. Prefill and decode share the node; chunked prefill splits long prompts so decodes keep flowing. On H200 (1.13 TB): 671B-class at FP8 fits; Muse NVFP4 on 8× H200 is a published Hugging Face recipe.</a:t>
            </a:r>
          </a:p>
          <a:p>
            <a:r>
              <a:t>- 20 GPUs, B200: PD. Prefill is tuned for token throughput (chunked prefill, larger --max-num-batched-tokens in vLLM / --chunked-prefill-size in SGLang); decode for concurrency (--max-num-seqs in vLLM / --max-running-requests in SGLang), Wide-EP/DP-attention and speculative decoding. KV moves over RDMA via NIXL/Mooncake.</a:t>
            </a:r>
          </a:p>
          <a:p>
            <a:r>
              <a:t>- Why RDMA: a long agent context means gigabytes of KV per request; over PCIe or a normal network the transfer becomes the bottleneck. @jaga_prasanna keeps prefill and decode together on PCIe-only cards and scales out replicas behind a KV-aware balancer instead. Our fallback without RDMA: two combined 8-GPU replicas.</a:t>
            </a:r>
          </a:p>
          <a:p>
            <a:r>
              <a:t>- 20 GPUs, H200: one node cannot hold 1T at FP8 with KV room (estimate), so run one 16-GPU instance (TP8 × PP2, or EP16 with DP-attention) instead of PD.</a:t>
            </a:r>
          </a:p>
          <a:p/>
          <a:p>
            <a:r>
              <a:t>(4) LIKELY QUESTIONS</a:t>
            </a:r>
          </a:p>
          <a:p>
            <a:r>
              <a:t>Q: What is the right prefill:decode ratio? A: 1:1 is a starting point; tune it from measured TTFT vs TPOT in the pilot.</a:t>
            </a:r>
          </a:p>
          <a:p>
            <a:r>
              <a:t>Q: Can the small pool fail over to the big model? A: Yes, but with a latency cost; and the reverse (big → small) is our SLO fallback.</a:t>
            </a:r>
          </a:p>
          <a:p>
            <a:r>
              <a:t>Q: Why not 2 independent replicas at 20? A: That is the no-RDMA option, and it is a valid choice if PD doesn't win in the pilot.</a:t>
            </a:r>
          </a:p>
          <a:p/>
          <a:p>
            <a:r>
              <a:t>(5) SOURCES</a:t>
            </a:r>
          </a:p>
          <a:p>
            <a:r>
              <a:t>https://huggingface.co/blog/meta-muse-spark-open ; https://huggingface.co/inclusionAI/Ling-2.6-1T ; https://llm-d.ai/docs/well-lit-paths/foundations/pd-disaggregation ; https://docs.sglang.io/docs/advanced_features/hicache_best_practices ; https://x.com/jaga_prasanna/status/2105999099921383543</a:t>
            </a:r>
          </a:p>
          <a:p>
            <a:r>
              <a:t>All allocations and fit judgements are our design proposals and estimates, not benchmarks.</a:t>
            </a:r>
          </a:p>
          <a:p/>
          <a:p>
            <a:r>
              <a:t>v4 note: Inkling (975B / 41B) replaces Ling as the primary ~1T model; the same B200 / H200 reasoning applies (FP4 on H200, see slide 3). AgentX-tuned vLLM settings (sticky routing, shared Mooncake pool, prefill cap) apply to both plans. https://vllm.ai/blog/2026-09-08-vllm-agentx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"Every agent step — not just the first user turn — passes the same six control points, and we judge the platform on step-level SLOs."</a:t>
            </a:r>
          </a:p>
          <a:p/>
          <a:p>
            <a:r>
              <a:t>(2) WALK-THROUGH</a:t>
            </a:r>
          </a:p>
          <a:p>
            <a:r>
              <a:t>- Top row, left to right with blue arrows: AuthN/RBAC (identity) → Input guard (PII redaction) → Router (policy) → Model pool (navy, SGLang/vLLM) → Tool sandbox (least privilege) → Output guard (audit log).</a:t>
            </a:r>
          </a:p>
          <a:p>
            <a:r>
              <a:t>- "SLOs per task": four KPIs under blue bars — time to first step (TTFT p95), step latency (p95 per tool turn), cost per task (GPU-seconds per task), task success (eval pass rate). The italic line says targets come from the pilot baseline; no numbers are proposed.</a:t>
            </a:r>
          </a:p>
          <a:p>
            <a:r>
              <a:t>- Right, "Release &amp; resilience": canary 5% → 25% → 100%; fallback to a smaller model on SLO breach; breakers (retries, failover, 429); autoscale on queue depth + TTFT; OpenTelemetry tracing per step.</a:t>
            </a:r>
          </a:p>
          <a:p>
            <a:r>
              <a:t>- Grey box: compliance stance — self-hosted weights, data stays in the VPC, PII redacted before logging, retention per policy.</a:t>
            </a:r>
          </a:p>
          <a:p/>
          <a:p>
            <a:r>
              <a:t>(3) TECHNICAL DEEP DIVE</a:t>
            </a:r>
          </a:p>
          <a:p>
            <a:r>
              <a:t>- Why per step: tool results re-enter the prompt, so a web page or document can carry an injected instruction (indirect prompt injection). Guards and schema validation must run on every step; tool calls are validated against their JSON schema (structured outputs) before execution.</a:t>
            </a:r>
          </a:p>
          <a:p>
            <a:r>
              <a:t>- Tool sandbox: isolated containers/VMs, egress allow-list, short-lived least-privilege credentials, human approval for destructive actions.</a:t>
            </a:r>
          </a:p>
          <a:p>
            <a:r>
              <a:t>- Autoscaling: GPU utilisation sits at 100% long before users feel the queue (@ai_neuralwire), so scale on queue depth and TTFT. @jaga_prasanna's loop scrapes KV cache %, queue depth and TTFT into Prometheus and drives KEDA/HPA. With a fixed 10–20 GPU fleet we scale the small pool and gateway, and use admission control (queue or 429) on the large pool.</a:t>
            </a:r>
          </a:p>
          <a:p>
            <a:r>
              <a:t>- Circuit breakers: after repeated errors/timeouts to a replica, stop sending to it for a cool-down, retry elsewhere, then probe it back (@AyushSarode07's resilience layer).</a:t>
            </a:r>
          </a:p>
          <a:p>
            <a:r>
              <a:t>- Engine metrics: SGLang --enable-metrics / cache reports and vLLM's Prometheus endpoint expose TTFT, queue time and cache hit rate.</a:t>
            </a:r>
          </a:p>
          <a:p/>
          <a:p>
            <a:r>
              <a:t>(4) LIKELY QUESTIONS</a:t>
            </a:r>
          </a:p>
          <a:p>
            <a:r>
              <a:t>Q: What are the SLO numbers? A: Set after the pilot baseline — we won't guess.</a:t>
            </a:r>
          </a:p>
          <a:p>
            <a:r>
              <a:t>Q: CPNI and retention? A: To be confirmed with legal/security; not assumed here.</a:t>
            </a:r>
          </a:p>
          <a:p>
            <a:r>
              <a:t>Q: What triggers fallback? A: A sustained p95 step-latency or error-rate breach; the router sends traffic to the smaller model until it recovers.</a:t>
            </a:r>
          </a:p>
          <a:p/>
          <a:p>
            <a:r>
              <a:t>(5) SOURCES</a:t>
            </a:r>
          </a:p>
          <a:p>
            <a:r>
              <a:t>https://x.com/jaga_prasanna/status/2105999099921383543 ; https://x.com/ai_neuralwire/status/2106071625753891256 ; https://x.com/AyushSarode07/status/2112952239077937334 ; https://docs.vllm.ai/en/latest/features/structured_outputs.html ; https://docs.sglang.io/docs/advanced_features/hicache_best_practices (metrics flags in examples)</a:t>
            </a:r>
          </a:p>
          <a:p>
            <a:r>
              <a:t>Canary percentages are a proposal. No measured numbers.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"Practitioners' lessons: size KV for the real mix of context lengths, scale on queues not utilisation, use PD only over fast links, and lock SLOs before benchmarking."</a:t>
            </a:r>
          </a:p>
          <a:p/>
          <a:p>
            <a:r>
              <a:t>(2) WALK-THROUGH</a:t>
            </a:r>
          </a:p>
          <a:p>
            <a:r>
              <a:t>- Left: a navy bar chart of FP8 KV cache for 50 agent users, quoted from @jaga_prasanna's worked example (Qwen-3.8 27B, a hybrid model) — 400 GiB if all users sit at 256K, 220 GiB for a mixed 50K–256K load, 75 GiB at a 50K average. The caption names the model and source; it is a reported illustration, not our sizing.</a:t>
            </a:r>
          </a:p>
          <a:p>
            <a:r>
              <a:t>- Right: four numbered lessons in blue — weight ≠ KV precision; scale on queue + TTFT; PD needs NVLink/RDMA; lock SLOs first, then stress prefill and decode.</a:t>
            </a:r>
          </a:p>
          <a:p/>
          <a:p>
            <a:r>
              <a:t>(3) TECHNICAL DEEP DIVE</a:t>
            </a:r>
          </a:p>
          <a:p>
            <a:r>
              <a:t>- The chart's message: worst-case sizing (users × max context) over-buys memory by several times; size for the measured context mix and keep headroom for bursts. In his example, FP8 KV per user at 256K is 8 GiB; the mixed load is 20 users @ 50K, 10 @ 100K, 20 @ 256K. FP4 KV halves these (~110 GiB for the mix).</a:t>
            </a:r>
          </a:p>
          <a:p>
            <a:r>
              <a:t>- Weight vs KV precision: an NVFP4 checkpoint does not make the KV cache FP4; set the KV dtype explicitly (e.g. FP8 KV with NVFP4 weights).</a:t>
            </a:r>
          </a:p>
          <a:p>
            <a:r>
              <a:t>- Hybrid attention: only full-attention layers grow KV with tokens; linear-attention layers keep fixed-size state (his model: ~144 MiB per user). This is relevant to Ling-2.6-1T's MLA + linear-attention design.</a:t>
            </a:r>
          </a:p>
          <a:p>
            <a:r>
              <a:t>- Benchmark protocol: real-traffic mix, a prefill stress test (long input, short output → TTFT) and a decode stress test (short input, long output → TPOT); loop profile → optimise → benchmark.</a:t>
            </a:r>
          </a:p>
          <a:p>
            <a:r>
              <a:t>- Day-2: watch KV hit rate, queue depth and NIXL/RDMA transfer bandwidth.</a:t>
            </a:r>
          </a:p>
          <a:p/>
          <a:p>
            <a:r>
              <a:t>(4) LIKELY QUESTIONS</a:t>
            </a:r>
          </a:p>
          <a:p>
            <a:r>
              <a:t>Q: Do these 27B numbers apply to our 1T model? A: No — the method applies, the numbers don't. We will redo the math with our model's KV shape (e.g. Muse ≈ 250 KB per token in BF16, as reported by Hugging Face).</a:t>
            </a:r>
          </a:p>
          <a:p>
            <a:r>
              <a:t>Q: Who are the sources? A: Public practitioner posts on X (Oct 2026), credited below; useful field input, not vendor documentation.</a:t>
            </a:r>
          </a:p>
          <a:p>
            <a:r>
              <a:t>Q: What did we not adopt? A: Cloud pricing, response caching and request merging — not relevant to our fleet or agent traffic.</a:t>
            </a:r>
          </a:p>
          <a:p/>
          <a:p>
            <a:r>
              <a:t>(5) SOURCES</a:t>
            </a:r>
          </a:p>
          <a:p>
            <a:r>
              <a:t>@jaga_prasanna (prasanna), "think Like an inference engineer", 2 Oct 2026: https://x.com/jaga_prasanna/status/2105999099921383543</a:t>
            </a:r>
          </a:p>
          <a:p>
            <a:r>
              <a:t>@ai_neuralwire reply: https://x.com/ai_neuralwire/status/2106071625753891256</a:t>
            </a:r>
          </a:p>
          <a:p>
            <a:r>
              <a:t>@AyushSarode07 (Ayush), inference gateway design, 21 Oct 2026: https://x.com/AyushSarode07/status/2112952239077937334</a:t>
            </a:r>
          </a:p>
          <a:p>
            <a:r>
              <a:t>Muse KV: https://huggingface.co/blog/meta-muse-spark-open</a:t>
            </a:r>
          </a:p>
          <a:p>
            <a:r>
              <a:t>All chart numbers are REPORTED by @jaga_prasanna for a 27B model; none are our measurements.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"Ninety days to production in three 30-day phases, each ending in a go/no-go gate."</a:t>
            </a:r>
          </a:p>
          <a:p/>
          <a:p>
            <a:r>
              <a:t>(2) WALK-THROUGH</a:t>
            </a:r>
          </a:p>
          <a:p>
            <a:r>
              <a:t>- Navy timeline from a start dot through three blue diamonds (gates).</a:t>
            </a:r>
          </a:p>
          <a:p>
            <a:r>
              <a:t>- Days 0–30, Pilot: one node, two candidate models, trace replay plus prefill/decode stress tests. Gate G1: model + engine meet the locked SLOs.</a:t>
            </a:r>
          </a:p>
          <a:p>
            <a:r>
              <a:t>- Days 31–60, Harden: guards, sandbox, RBAC, tracing, SLO baseline. Gate G2: security and SLO sign-off.</a:t>
            </a:r>
          </a:p>
          <a:p>
            <a:r>
              <a:t>- Days 61–90, Scale: PD on two nodes, KV tiers, canary to production. Gate G3: production go-live.</a:t>
            </a:r>
          </a:p>
          <a:p>
            <a:r>
              <a:t>- Grey box: next steps — confirm GPU SKU and count; shortlist Inkling and Muse Spark Open; capture ~1,000 agent traces for evaluation (a proposed size).</a:t>
            </a:r>
          </a:p>
          <a:p/>
          <a:p>
            <a:r>
              <a:t>(3) TECHNICAL DEEP DIVE</a:t>
            </a:r>
          </a:p>
          <a:p>
            <a:r>
              <a:t>- Pilot method (from @jaga_prasanna): write pass/fail SLOs first, then run three workloads — replayed real traces, prefill stress, decode stress. Compare SGLang and vLLM on the same traces: cache-hit rate, TTFT, TPOT, step latency, task success, GPU-seconds per task. Profile HBM saturation, KV usage/preemption, NCCL time and batching to find the real bottleneck before tuning.</a:t>
            </a:r>
          </a:p>
          <a:p>
            <a:r>
              <a:t>- Harden: add the gateway controls (quotas, admission queue, breakers), guard/PII models, tool sandbox and OpenTelemetry; set SLO targets from the pilot baseline; test fallback to the smaller model.</a:t>
            </a:r>
          </a:p>
          <a:p>
            <a:r>
              <a:t>- Scale: bring up the second node; choose PD (B200 with RDMA) or a 16-GPU instance (H200) or two replicas (no RDMA) based on pilot data; enable HiCache/LMCache tiers and session-aware routing; canary rollout.</a:t>
            </a:r>
          </a:p>
          <a:p>
            <a:r>
              <a:t>- Model shortlisting: Inkling (licence per its Hugging Face model card, to confirm) with Ling-2.6-1T (MIT per model card) as alternate; Muse Spark Open's licence has revenue-based conditions per a third-party summary — legal must confirm.</a:t>
            </a:r>
          </a:p>
          <a:p/>
          <a:p>
            <a:r>
              <a:t>(4) LIKELY QUESTIONS</a:t>
            </a:r>
          </a:p>
          <a:p>
            <a:r>
              <a:t>Q: What if neither model meets SLOs at G1? A: Fall back to a smaller 300B-class model (e.g. GLM-4.5 355B or DeepSeek-V3.x) or FP4 weights, and re-test.</a:t>
            </a:r>
          </a:p>
          <a:p>
            <a:r>
              <a:t>Q: Is 90 days realistic? A: It is a planning assumption; GPU availability and security review are the main risks.</a:t>
            </a:r>
          </a:p>
          <a:p>
            <a:r>
              <a:t>Q: Why 1,000 traces? A: A proposed starting set big enough to cover our task types; adjust once we see variance.</a:t>
            </a:r>
          </a:p>
          <a:p/>
          <a:p>
            <a:r>
              <a:t>(5) SOURCES</a:t>
            </a:r>
          </a:p>
          <a:p>
            <a:r>
              <a:t>https://x.com/jaga_prasanna/status/2105999099921383543 ; https://huggingface.co/inclusionAI/Ling-2.6-1T ; https://nlp.com.ai/models/muse-spark-open/ (licence summary, third party) ; https://huggingface.co/blog/meta-muse-spark-open</a:t>
            </a:r>
          </a:p>
          <a:p>
            <a:r>
              <a:t>Durations, gates, canary steps and the 1,000-trace figure are proposals, not measurements.</a:t>
            </a:r>
          </a:p>
          <a:p/>
          <a:p>
            <a:r>
              <a:t>v4 update: the pilot replays traces with the public AgentX harness (pip agentx-harness, command agentx) against our OpenAI endpoint, using vLLM's AgentX-tuned settings and SGLang on the same traces. https://github.com/SemiAnalysisAI/agentx-harness ; https://vllm.ai/blog/2026-09-08-vllm-agentx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32E"/>
          </a:solidFill>
          <a:ln w="12700">
            <a:solidFill>
              <a:srgbClr val="1B232E"/>
            </a:solidFill>
            <a:prstDash val="solid"/>
          </a:ln>
        </p:spPr>
      </p:sp>
      <p:sp>
        <p:nvSpPr>
          <p:cNvPr id="3" name="Shape 1"/>
          <p:cNvSpPr/>
          <p:nvPr/>
        </p:nvSpPr>
        <p:spPr>
          <a:xfrm>
            <a:off x="685800" y="1463040"/>
            <a:ext cx="502920" cy="502920"/>
          </a:xfrm>
          <a:prstGeom prst="rect">
            <a:avLst/>
          </a:prstGeom>
          <a:solidFill>
            <a:srgbClr val="2563EB"/>
          </a:solidFill>
          <a:ln w="9525">
            <a:solidFill>
              <a:srgbClr val="2563EB"/>
            </a:solidFill>
            <a:prstDash val="solid"/>
          </a:ln>
        </p:spPr>
      </p:sp>
      <p:sp>
        <p:nvSpPr>
          <p:cNvPr id="4" name="Shape 2"/>
          <p:cNvSpPr/>
          <p:nvPr/>
        </p:nvSpPr>
        <p:spPr>
          <a:xfrm>
            <a:off x="1371600" y="1463040"/>
            <a:ext cx="502920" cy="502920"/>
          </a:xfrm>
          <a:prstGeom prst="rect">
            <a:avLst/>
          </a:prstGeom>
          <a:solidFill>
            <a:srgbClr val="2563EB"/>
          </a:solidFill>
          <a:ln w="9525">
            <a:solidFill>
              <a:srgbClr val="2563EB"/>
            </a:solidFill>
            <a:prstDash val="solid"/>
          </a:ln>
        </p:spPr>
      </p:sp>
      <p:sp>
        <p:nvSpPr>
          <p:cNvPr id="5" name="Shape 3"/>
          <p:cNvSpPr/>
          <p:nvPr/>
        </p:nvSpPr>
        <p:spPr>
          <a:xfrm>
            <a:off x="2057400" y="1463040"/>
            <a:ext cx="502920" cy="502920"/>
          </a:xfrm>
          <a:prstGeom prst="rect">
            <a:avLst/>
          </a:prstGeom>
          <a:solidFill>
            <a:srgbClr val="2563EB"/>
          </a:solidFill>
          <a:ln w="9525">
            <a:solidFill>
              <a:srgbClr val="2563EB"/>
            </a:solidFill>
            <a:prstDash val="solid"/>
          </a:ln>
        </p:spPr>
      </p:sp>
      <p:sp>
        <p:nvSpPr>
          <p:cNvPr id="6" name="Shape 4"/>
          <p:cNvSpPr/>
          <p:nvPr/>
        </p:nvSpPr>
        <p:spPr>
          <a:xfrm>
            <a:off x="2743200" y="1463040"/>
            <a:ext cx="502920" cy="502920"/>
          </a:xfrm>
          <a:prstGeom prst="rect">
            <a:avLst/>
          </a:prstGeom>
          <a:solidFill>
            <a:srgbClr val="2563EB"/>
          </a:solidFill>
          <a:ln w="9525">
            <a:solidFill>
              <a:srgbClr val="2563EB"/>
            </a:solidFill>
            <a:prstDash val="solid"/>
          </a:ln>
        </p:spPr>
      </p:sp>
      <p:sp>
        <p:nvSpPr>
          <p:cNvPr id="7" name="Shape 5"/>
          <p:cNvSpPr/>
          <p:nvPr/>
        </p:nvSpPr>
        <p:spPr>
          <a:xfrm>
            <a:off x="685800" y="2148840"/>
            <a:ext cx="502920" cy="502920"/>
          </a:xfrm>
          <a:prstGeom prst="rect">
            <a:avLst/>
          </a:prstGeom>
          <a:solidFill>
            <a:srgbClr val="2563EB"/>
          </a:solidFill>
          <a:ln w="9525">
            <a:solidFill>
              <a:srgbClr val="2563EB"/>
            </a:solidFill>
            <a:prstDash val="solid"/>
          </a:ln>
        </p:spPr>
      </p:sp>
      <p:sp>
        <p:nvSpPr>
          <p:cNvPr id="8" name="Shape 6"/>
          <p:cNvSpPr/>
          <p:nvPr/>
        </p:nvSpPr>
        <p:spPr>
          <a:xfrm>
            <a:off x="1371600" y="2148840"/>
            <a:ext cx="502920" cy="502920"/>
          </a:xfrm>
          <a:prstGeom prst="rect">
            <a:avLst/>
          </a:prstGeom>
          <a:solidFill>
            <a:srgbClr val="2563EB"/>
          </a:solidFill>
          <a:ln w="9525">
            <a:solidFill>
              <a:srgbClr val="2563EB"/>
            </a:solidFill>
            <a:prstDash val="solid"/>
          </a:ln>
        </p:spPr>
      </p:sp>
      <p:sp>
        <p:nvSpPr>
          <p:cNvPr id="9" name="Shape 7"/>
          <p:cNvSpPr/>
          <p:nvPr/>
        </p:nvSpPr>
        <p:spPr>
          <a:xfrm>
            <a:off x="2057400" y="2148840"/>
            <a:ext cx="502920" cy="502920"/>
          </a:xfrm>
          <a:prstGeom prst="rect">
            <a:avLst/>
          </a:prstGeom>
          <a:solidFill>
            <a:srgbClr val="2563EB"/>
          </a:solidFill>
          <a:ln w="9525">
            <a:solidFill>
              <a:srgbClr val="2563EB"/>
            </a:solidFill>
            <a:prstDash val="solid"/>
          </a:ln>
        </p:spPr>
      </p:sp>
      <p:sp>
        <p:nvSpPr>
          <p:cNvPr id="10" name="Shape 8"/>
          <p:cNvSpPr/>
          <p:nvPr/>
        </p:nvSpPr>
        <p:spPr>
          <a:xfrm>
            <a:off x="2743200" y="2148840"/>
            <a:ext cx="502920" cy="502920"/>
          </a:xfrm>
          <a:prstGeom prst="rect">
            <a:avLst/>
          </a:prstGeom>
          <a:solidFill>
            <a:srgbClr val="2563EB"/>
          </a:solidFill>
          <a:ln w="9525">
            <a:solidFill>
              <a:srgbClr val="2563EB"/>
            </a:solidFill>
            <a:prstDash val="solid"/>
          </a:ln>
        </p:spPr>
      </p:sp>
      <p:sp>
        <p:nvSpPr>
          <p:cNvPr id="11" name="Shape 9"/>
          <p:cNvSpPr/>
          <p:nvPr/>
        </p:nvSpPr>
        <p:spPr>
          <a:xfrm>
            <a:off x="685800" y="2834640"/>
            <a:ext cx="502920" cy="502920"/>
          </a:xfrm>
          <a:prstGeom prst="rect">
            <a:avLst/>
          </a:prstGeom>
          <a:solidFill>
            <a:srgbClr val="2B384A"/>
          </a:solidFill>
          <a:ln w="9525">
            <a:solidFill>
              <a:srgbClr val="2563EB"/>
            </a:solidFill>
            <a:prstDash val="solid"/>
          </a:ln>
        </p:spPr>
      </p:sp>
      <p:sp>
        <p:nvSpPr>
          <p:cNvPr id="12" name="Shape 10"/>
          <p:cNvSpPr/>
          <p:nvPr/>
        </p:nvSpPr>
        <p:spPr>
          <a:xfrm>
            <a:off x="1371600" y="2834640"/>
            <a:ext cx="502920" cy="502920"/>
          </a:xfrm>
          <a:prstGeom prst="rect">
            <a:avLst/>
          </a:prstGeom>
          <a:solidFill>
            <a:srgbClr val="2B384A"/>
          </a:solidFill>
          <a:ln w="9525">
            <a:solidFill>
              <a:srgbClr val="2563EB"/>
            </a:solidFill>
            <a:prstDash val="solid"/>
          </a:ln>
        </p:spPr>
      </p:sp>
      <p:sp>
        <p:nvSpPr>
          <p:cNvPr id="13" name="Shape 11"/>
          <p:cNvSpPr/>
          <p:nvPr/>
        </p:nvSpPr>
        <p:spPr>
          <a:xfrm>
            <a:off x="2057400" y="2834640"/>
            <a:ext cx="502920" cy="502920"/>
          </a:xfrm>
          <a:prstGeom prst="rect">
            <a:avLst/>
          </a:prstGeom>
          <a:solidFill>
            <a:srgbClr val="2B384A"/>
          </a:solidFill>
          <a:ln w="9525">
            <a:solidFill>
              <a:srgbClr val="2563EB"/>
            </a:solidFill>
            <a:prstDash val="solid"/>
          </a:ln>
        </p:spPr>
      </p:sp>
      <p:sp>
        <p:nvSpPr>
          <p:cNvPr id="14" name="Shape 12"/>
          <p:cNvSpPr/>
          <p:nvPr/>
        </p:nvSpPr>
        <p:spPr>
          <a:xfrm>
            <a:off x="2743200" y="2834640"/>
            <a:ext cx="502920" cy="502920"/>
          </a:xfrm>
          <a:prstGeom prst="rect">
            <a:avLst/>
          </a:prstGeom>
          <a:solidFill>
            <a:srgbClr val="2B384A"/>
          </a:solidFill>
          <a:ln w="9525">
            <a:solidFill>
              <a:srgbClr val="2563EB"/>
            </a:solidFill>
            <a:prstDash val="solid"/>
          </a:ln>
        </p:spPr>
      </p:sp>
      <p:sp>
        <p:nvSpPr>
          <p:cNvPr id="15" name="Shape 13"/>
          <p:cNvSpPr/>
          <p:nvPr/>
        </p:nvSpPr>
        <p:spPr>
          <a:xfrm>
            <a:off x="685800" y="3520440"/>
            <a:ext cx="502920" cy="502920"/>
          </a:xfrm>
          <a:prstGeom prst="rect">
            <a:avLst/>
          </a:prstGeom>
          <a:solidFill>
            <a:srgbClr val="2B384A"/>
          </a:solidFill>
          <a:ln w="9525">
            <a:solidFill>
              <a:srgbClr val="2563EB"/>
            </a:solidFill>
            <a:prstDash val="solid"/>
          </a:ln>
        </p:spPr>
      </p:sp>
      <p:sp>
        <p:nvSpPr>
          <p:cNvPr id="16" name="Shape 14"/>
          <p:cNvSpPr/>
          <p:nvPr/>
        </p:nvSpPr>
        <p:spPr>
          <a:xfrm>
            <a:off x="1371600" y="3520440"/>
            <a:ext cx="502920" cy="502920"/>
          </a:xfrm>
          <a:prstGeom prst="rect">
            <a:avLst/>
          </a:prstGeom>
          <a:solidFill>
            <a:srgbClr val="2B384A"/>
          </a:solidFill>
          <a:ln w="9525">
            <a:solidFill>
              <a:srgbClr val="2563EB"/>
            </a:solidFill>
            <a:prstDash val="solid"/>
          </a:ln>
        </p:spPr>
      </p:sp>
      <p:sp>
        <p:nvSpPr>
          <p:cNvPr id="17" name="Shape 15"/>
          <p:cNvSpPr/>
          <p:nvPr/>
        </p:nvSpPr>
        <p:spPr>
          <a:xfrm>
            <a:off x="2057400" y="3520440"/>
            <a:ext cx="502920" cy="502920"/>
          </a:xfrm>
          <a:prstGeom prst="rect">
            <a:avLst/>
          </a:prstGeom>
          <a:solidFill>
            <a:srgbClr val="2B384A"/>
          </a:solidFill>
          <a:ln w="9525">
            <a:solidFill>
              <a:srgbClr val="2563EB"/>
            </a:solidFill>
            <a:prstDash val="solid"/>
          </a:ln>
        </p:spPr>
      </p:sp>
      <p:sp>
        <p:nvSpPr>
          <p:cNvPr id="18" name="Shape 16"/>
          <p:cNvSpPr/>
          <p:nvPr/>
        </p:nvSpPr>
        <p:spPr>
          <a:xfrm>
            <a:off x="2743200" y="3520440"/>
            <a:ext cx="502920" cy="502920"/>
          </a:xfrm>
          <a:prstGeom prst="rect">
            <a:avLst/>
          </a:prstGeom>
          <a:solidFill>
            <a:srgbClr val="2B384A"/>
          </a:solidFill>
          <a:ln w="9525">
            <a:solidFill>
              <a:srgbClr val="2563EB"/>
            </a:solidFill>
            <a:prstDash val="solid"/>
          </a:ln>
        </p:spPr>
      </p:sp>
      <p:sp>
        <p:nvSpPr>
          <p:cNvPr id="19" name="Shape 17"/>
          <p:cNvSpPr/>
          <p:nvPr/>
        </p:nvSpPr>
        <p:spPr>
          <a:xfrm>
            <a:off x="685800" y="4206240"/>
            <a:ext cx="502920" cy="502920"/>
          </a:xfrm>
          <a:prstGeom prst="rect">
            <a:avLst/>
          </a:prstGeom>
          <a:solidFill>
            <a:srgbClr val="3A4A60"/>
          </a:solidFill>
          <a:ln w="9525">
            <a:solidFill>
              <a:srgbClr val="5B6B80"/>
            </a:solidFill>
            <a:prstDash val="solid"/>
          </a:ln>
        </p:spPr>
      </p:sp>
      <p:sp>
        <p:nvSpPr>
          <p:cNvPr id="20" name="Shape 18"/>
          <p:cNvSpPr/>
          <p:nvPr/>
        </p:nvSpPr>
        <p:spPr>
          <a:xfrm>
            <a:off x="1371600" y="4206240"/>
            <a:ext cx="502920" cy="502920"/>
          </a:xfrm>
          <a:prstGeom prst="rect">
            <a:avLst/>
          </a:prstGeom>
          <a:solidFill>
            <a:srgbClr val="3A4A60"/>
          </a:solidFill>
          <a:ln w="9525">
            <a:solidFill>
              <a:srgbClr val="5B6B80"/>
            </a:solidFill>
            <a:prstDash val="solid"/>
          </a:ln>
        </p:spPr>
      </p:sp>
      <p:sp>
        <p:nvSpPr>
          <p:cNvPr id="21" name="Shape 19"/>
          <p:cNvSpPr/>
          <p:nvPr/>
        </p:nvSpPr>
        <p:spPr>
          <a:xfrm>
            <a:off x="2057400" y="4206240"/>
            <a:ext cx="502920" cy="502920"/>
          </a:xfrm>
          <a:prstGeom prst="rect">
            <a:avLst/>
          </a:prstGeom>
          <a:solidFill>
            <a:srgbClr val="3A4A60"/>
          </a:solidFill>
          <a:ln w="9525">
            <a:solidFill>
              <a:srgbClr val="5B6B80"/>
            </a:solidFill>
            <a:prstDash val="solid"/>
          </a:ln>
        </p:spPr>
      </p:sp>
      <p:sp>
        <p:nvSpPr>
          <p:cNvPr id="22" name="Shape 20"/>
          <p:cNvSpPr/>
          <p:nvPr/>
        </p:nvSpPr>
        <p:spPr>
          <a:xfrm>
            <a:off x="2743200" y="4206240"/>
            <a:ext cx="502920" cy="502920"/>
          </a:xfrm>
          <a:prstGeom prst="rect">
            <a:avLst/>
          </a:prstGeom>
          <a:solidFill>
            <a:srgbClr val="3A4A60"/>
          </a:solidFill>
          <a:ln w="9525">
            <a:solidFill>
              <a:srgbClr val="5B6B80"/>
            </a:solidFill>
            <a:prstDash val="solid"/>
          </a:ln>
        </p:spPr>
      </p:sp>
      <p:sp>
        <p:nvSpPr>
          <p:cNvPr id="23" name="Text 21"/>
          <p:cNvSpPr/>
          <p:nvPr/>
        </p:nvSpPr>
        <p:spPr>
          <a:xfrm>
            <a:off x="685800" y="4983480"/>
            <a:ext cx="2743200" cy="320040"/>
          </a:xfrm>
          <a:prstGeom prst="rect">
            <a:avLst/>
          </a:prstGeom>
          <a:noFill/>
          <a:ln/>
        </p:spPr>
        <p:txBody>
          <a:bodyPr wrap="square" lIns="0" tIns="0" rIns="0" bIns="0" rtlCol="0" anchor="ctr"/>
          <a:lstStyle/>
          <a:p>
            <a:pPr indent="0" marL="0">
              <a:buNone/>
            </a:pPr>
            <a:r>
              <a:rPr lang="en-US" sz="1400" dirty="0">
                <a:solidFill>
                  <a:srgbClr val="C8D2DF"/>
                </a:solidFill>
                <a:latin typeface="Inter" pitchFamily="34" charset="0"/>
                <a:ea typeface="Inter" pitchFamily="34" charset="-122"/>
                <a:cs typeface="Inter" pitchFamily="34" charset="-120"/>
              </a:rPr>
              <a:t>16 + 4 GPUs</a:t>
            </a:r>
            <a:endParaRPr lang="en-US" sz="1400" dirty="0"/>
          </a:p>
        </p:txBody>
      </p:sp>
      <p:sp>
        <p:nvSpPr>
          <p:cNvPr id="24" name="Text 22"/>
          <p:cNvSpPr/>
          <p:nvPr/>
        </p:nvSpPr>
        <p:spPr>
          <a:xfrm>
            <a:off x="4480560" y="1600200"/>
            <a:ext cx="7132320" cy="365760"/>
          </a:xfrm>
          <a:prstGeom prst="rect">
            <a:avLst/>
          </a:prstGeom>
          <a:noFill/>
          <a:ln/>
        </p:spPr>
        <p:txBody>
          <a:bodyPr wrap="square" lIns="0" tIns="0" rIns="0" bIns="0" rtlCol="0" anchor="ctr"/>
          <a:lstStyle/>
          <a:p>
            <a:pPr indent="0" marL="0">
              <a:buNone/>
            </a:pPr>
            <a:r>
              <a:rPr lang="en-US" sz="1400" b="1" spc="300" kern="0" dirty="0">
                <a:solidFill>
                  <a:srgbClr val="2563EB"/>
                </a:solidFill>
                <a:latin typeface="Inter" pitchFamily="34" charset="0"/>
                <a:ea typeface="Inter" pitchFamily="34" charset="-122"/>
                <a:cs typeface="Inter" pitchFamily="34" charset="-120"/>
              </a:rPr>
              <a:t>PRODUCTION ARCHITECTURE</a:t>
            </a:r>
            <a:endParaRPr lang="en-US" sz="1400" dirty="0"/>
          </a:p>
        </p:txBody>
      </p:sp>
      <p:sp>
        <p:nvSpPr>
          <p:cNvPr id="25" name="Text 23"/>
          <p:cNvSpPr/>
          <p:nvPr/>
        </p:nvSpPr>
        <p:spPr>
          <a:xfrm>
            <a:off x="4480560" y="2011680"/>
            <a:ext cx="7223760" cy="1737360"/>
          </a:xfrm>
          <a:prstGeom prst="rect">
            <a:avLst/>
          </a:prstGeom>
          <a:noFill/>
          <a:ln/>
        </p:spPr>
        <p:txBody>
          <a:bodyPr wrap="square" lIns="0" tIns="0" rIns="0" bIns="0" rtlCol="0" anchor="t"/>
          <a:lstStyle/>
          <a:p>
            <a:pPr indent="0" marL="0">
              <a:buNone/>
            </a:pPr>
            <a:r>
              <a:rPr lang="en-US" sz="4000" b="1" dirty="0">
                <a:solidFill>
                  <a:srgbClr val="1B232E"/>
                </a:solidFill>
                <a:latin typeface="Inter" pitchFamily="34" charset="0"/>
                <a:ea typeface="Inter" pitchFamily="34" charset="-122"/>
                <a:cs typeface="Inter" pitchFamily="34" charset="-120"/>
              </a:rPr>
              <a:t>Agentic Inference Platform for 300B+ Models</a:t>
            </a:r>
            <a:endParaRPr lang="en-US" sz="4000" dirty="0"/>
          </a:p>
        </p:txBody>
      </p:sp>
      <p:sp>
        <p:nvSpPr>
          <p:cNvPr id="26" name="Shape 24"/>
          <p:cNvSpPr/>
          <p:nvPr/>
        </p:nvSpPr>
        <p:spPr>
          <a:xfrm>
            <a:off x="4480560" y="3931920"/>
            <a:ext cx="1097280" cy="0"/>
          </a:xfrm>
          <a:prstGeom prst="line">
            <a:avLst/>
          </a:prstGeom>
          <a:noFill/>
          <a:ln w="38100">
            <a:solidFill>
              <a:srgbClr val="2563EB"/>
            </a:solidFill>
            <a:prstDash val="solid"/>
          </a:ln>
        </p:spPr>
      </p:sp>
      <p:sp>
        <p:nvSpPr>
          <p:cNvPr id="27" name="Text 25"/>
          <p:cNvSpPr/>
          <p:nvPr/>
        </p:nvSpPr>
        <p:spPr>
          <a:xfrm>
            <a:off x="4480560" y="4160520"/>
            <a:ext cx="7223760" cy="1188720"/>
          </a:xfrm>
          <a:prstGeom prst="rect">
            <a:avLst/>
          </a:prstGeom>
          <a:noFill/>
          <a:ln/>
        </p:spPr>
        <p:txBody>
          <a:bodyPr wrap="square" lIns="0" tIns="0" rIns="0" bIns="0" rtlCol="0" anchor="t"/>
          <a:lstStyle/>
          <a:p>
            <a:pPr indent="0" marL="0">
              <a:buNone/>
            </a:pPr>
            <a:r>
              <a:rPr lang="en-US" sz="1800" b="1" dirty="0">
                <a:solidFill>
                  <a:srgbClr val="1B232E"/>
                </a:solidFill>
                <a:latin typeface="Inter" pitchFamily="34" charset="0"/>
                <a:ea typeface="Inter" pitchFamily="34" charset="-122"/>
                <a:cs typeface="Inter" pitchFamily="34" charset="-120"/>
              </a:rPr>
              <a:t>Inkling · Muse Spark Open</a:t>
            </a:r>
            <a:endParaRPr lang="en-US" sz="1800" dirty="0"/>
          </a:p>
          <a:p>
            <a:pPr indent="0" marL="0">
              <a:buNone/>
            </a:pPr>
            <a:r>
              <a:rPr lang="en-US" sz="1800" dirty="0">
                <a:solidFill>
                  <a:srgbClr val="44546A"/>
                </a:solidFill>
                <a:latin typeface="Inter" pitchFamily="34" charset="0"/>
                <a:ea typeface="Inter" pitchFamily="34" charset="-122"/>
                <a:cs typeface="Inter" pitchFamily="34" charset="-120"/>
              </a:rPr>
              <a:t>vLLM (AgentX-tuned) or SGLang</a:t>
            </a:r>
            <a:endParaRPr lang="en-US" sz="1800" dirty="0"/>
          </a:p>
          <a:p>
            <a:pPr indent="0" marL="0">
              <a:buNone/>
            </a:pPr>
            <a:r>
              <a:rPr lang="en-US" sz="1800" dirty="0">
                <a:solidFill>
                  <a:srgbClr val="44546A"/>
                </a:solidFill>
                <a:latin typeface="Inter" pitchFamily="34" charset="0"/>
                <a:ea typeface="Inter" pitchFamily="34" charset="-122"/>
                <a:cs typeface="Inter" pitchFamily="34" charset="-120"/>
              </a:rPr>
              <a:t>B200 · B100 · H200 — 10 to 20 GPUs</a:t>
            </a:r>
            <a:endParaRPr lang="en-US" sz="1800" dirty="0"/>
          </a:p>
        </p:txBody>
      </p:sp>
      <p:sp>
        <p:nvSpPr>
          <p:cNvPr id="28" name="Text 26"/>
          <p:cNvSpPr/>
          <p:nvPr/>
        </p:nvSpPr>
        <p:spPr>
          <a:xfrm>
            <a:off x="4480560" y="5989320"/>
            <a:ext cx="722376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Verizon production leadership &amp; platform engineering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WORKLOAD</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Agents re-send a growing shared context every step — prefix reuse and per-step latency decide cost</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2</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1417320" y="2286000"/>
            <a:ext cx="3200400" cy="3200400"/>
          </a:xfrm>
          <a:prstGeom prst="ellipse">
            <a:avLst/>
          </a:prstGeom>
          <a:solidFill>
            <a:srgbClr val="FFFFFF"/>
          </a:solidFill>
          <a:ln w="25400">
            <a:solidFill>
              <a:srgbClr val="C8D2DF"/>
            </a:solidFill>
            <a:prstDash val="dash"/>
          </a:ln>
        </p:spPr>
      </p:sp>
      <p:sp>
        <p:nvSpPr>
          <p:cNvPr id="8" name="Shape 6"/>
          <p:cNvSpPr/>
          <p:nvPr/>
        </p:nvSpPr>
        <p:spPr>
          <a:xfrm>
            <a:off x="2148840" y="3337560"/>
            <a:ext cx="1737360" cy="1097280"/>
          </a:xfrm>
          <a:prstGeom prst="ellipse">
            <a:avLst/>
          </a:prstGeom>
          <a:solidFill>
            <a:srgbClr val="1B232E"/>
          </a:solidFill>
          <a:ln w="12700">
            <a:solidFill>
              <a:srgbClr val="1B232E"/>
            </a:solidFill>
            <a:prstDash val="solid"/>
          </a:ln>
        </p:spPr>
      </p:sp>
      <p:sp>
        <p:nvSpPr>
          <p:cNvPr id="9" name="Text 7"/>
          <p:cNvSpPr/>
          <p:nvPr/>
        </p:nvSpPr>
        <p:spPr>
          <a:xfrm>
            <a:off x="2148840" y="3337560"/>
            <a:ext cx="1737360"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Agent loop</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until task done</a:t>
            </a:r>
            <a:endParaRPr lang="en-US" sz="1400" dirty="0"/>
          </a:p>
        </p:txBody>
      </p:sp>
      <p:sp>
        <p:nvSpPr>
          <p:cNvPr id="10" name="Shape 8"/>
          <p:cNvSpPr/>
          <p:nvPr/>
        </p:nvSpPr>
        <p:spPr>
          <a:xfrm>
            <a:off x="2308860" y="2002536"/>
            <a:ext cx="1417320" cy="566928"/>
          </a:xfrm>
          <a:prstGeom prst="roundRect">
            <a:avLst>
              <a:gd name="adj" fmla="val 9677"/>
            </a:avLst>
          </a:prstGeom>
          <a:solidFill>
            <a:srgbClr val="DBE7FD"/>
          </a:solidFill>
          <a:ln w="12700">
            <a:solidFill>
              <a:srgbClr val="2563EB"/>
            </a:solidFill>
            <a:prstDash val="solid"/>
          </a:ln>
        </p:spPr>
      </p:sp>
      <p:sp>
        <p:nvSpPr>
          <p:cNvPr id="11" name="Text 9"/>
          <p:cNvSpPr/>
          <p:nvPr/>
        </p:nvSpPr>
        <p:spPr>
          <a:xfrm>
            <a:off x="2382012" y="2039112"/>
            <a:ext cx="1271016" cy="493776"/>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Plan</a:t>
            </a:r>
            <a:endParaRPr lang="en-US" sz="1400" dirty="0"/>
          </a:p>
        </p:txBody>
      </p:sp>
      <p:sp>
        <p:nvSpPr>
          <p:cNvPr id="12" name="Shape 10"/>
          <p:cNvSpPr/>
          <p:nvPr/>
        </p:nvSpPr>
        <p:spPr>
          <a:xfrm>
            <a:off x="3909060" y="3602736"/>
            <a:ext cx="1417320" cy="566928"/>
          </a:xfrm>
          <a:prstGeom prst="roundRect">
            <a:avLst>
              <a:gd name="adj" fmla="val 9677"/>
            </a:avLst>
          </a:prstGeom>
          <a:solidFill>
            <a:srgbClr val="DBE7FD"/>
          </a:solidFill>
          <a:ln w="12700">
            <a:solidFill>
              <a:srgbClr val="2563EB"/>
            </a:solidFill>
            <a:prstDash val="solid"/>
          </a:ln>
        </p:spPr>
      </p:sp>
      <p:sp>
        <p:nvSpPr>
          <p:cNvPr id="13" name="Text 11"/>
          <p:cNvSpPr/>
          <p:nvPr/>
        </p:nvSpPr>
        <p:spPr>
          <a:xfrm>
            <a:off x="3982212" y="3639312"/>
            <a:ext cx="1271016" cy="493776"/>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Tool call</a:t>
            </a:r>
            <a:endParaRPr lang="en-US" sz="1400" dirty="0"/>
          </a:p>
        </p:txBody>
      </p:sp>
      <p:sp>
        <p:nvSpPr>
          <p:cNvPr id="14" name="Shape 12"/>
          <p:cNvSpPr/>
          <p:nvPr/>
        </p:nvSpPr>
        <p:spPr>
          <a:xfrm>
            <a:off x="2308860" y="5202936"/>
            <a:ext cx="1417320" cy="566928"/>
          </a:xfrm>
          <a:prstGeom prst="roundRect">
            <a:avLst>
              <a:gd name="adj" fmla="val 9677"/>
            </a:avLst>
          </a:prstGeom>
          <a:solidFill>
            <a:srgbClr val="DBE7FD"/>
          </a:solidFill>
          <a:ln w="12700">
            <a:solidFill>
              <a:srgbClr val="2563EB"/>
            </a:solidFill>
            <a:prstDash val="solid"/>
          </a:ln>
        </p:spPr>
      </p:sp>
      <p:sp>
        <p:nvSpPr>
          <p:cNvPr id="15" name="Text 13"/>
          <p:cNvSpPr/>
          <p:nvPr/>
        </p:nvSpPr>
        <p:spPr>
          <a:xfrm>
            <a:off x="2382012" y="5239512"/>
            <a:ext cx="1271016" cy="493776"/>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Observe</a:t>
            </a:r>
            <a:endParaRPr lang="en-US" sz="1400" dirty="0"/>
          </a:p>
        </p:txBody>
      </p:sp>
      <p:sp>
        <p:nvSpPr>
          <p:cNvPr id="16" name="Shape 14"/>
          <p:cNvSpPr/>
          <p:nvPr/>
        </p:nvSpPr>
        <p:spPr>
          <a:xfrm>
            <a:off x="708660" y="3602736"/>
            <a:ext cx="1417320" cy="566928"/>
          </a:xfrm>
          <a:prstGeom prst="roundRect">
            <a:avLst>
              <a:gd name="adj" fmla="val 9677"/>
            </a:avLst>
          </a:prstGeom>
          <a:solidFill>
            <a:srgbClr val="DBE7FD"/>
          </a:solidFill>
          <a:ln w="12700">
            <a:solidFill>
              <a:srgbClr val="2563EB"/>
            </a:solidFill>
            <a:prstDash val="solid"/>
          </a:ln>
        </p:spPr>
      </p:sp>
      <p:sp>
        <p:nvSpPr>
          <p:cNvPr id="17" name="Text 15"/>
          <p:cNvSpPr/>
          <p:nvPr/>
        </p:nvSpPr>
        <p:spPr>
          <a:xfrm>
            <a:off x="781812" y="3639312"/>
            <a:ext cx="1271016" cy="493776"/>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Re-plan</a:t>
            </a:r>
            <a:endParaRPr lang="en-US" sz="1400" dirty="0"/>
          </a:p>
        </p:txBody>
      </p:sp>
      <p:sp>
        <p:nvSpPr>
          <p:cNvPr id="18" name="Shape 16"/>
          <p:cNvSpPr/>
          <p:nvPr/>
        </p:nvSpPr>
        <p:spPr>
          <a:xfrm>
            <a:off x="3749040" y="2331720"/>
            <a:ext cx="640080" cy="1234440"/>
          </a:xfrm>
          <a:prstGeom prst="line">
            <a:avLst/>
          </a:prstGeom>
          <a:noFill/>
          <a:ln w="19050">
            <a:solidFill>
              <a:srgbClr val="2563EB"/>
            </a:solidFill>
            <a:prstDash val="solid"/>
            <a:tailEnd type="triangle"/>
          </a:ln>
        </p:spPr>
      </p:sp>
      <p:sp>
        <p:nvSpPr>
          <p:cNvPr id="19" name="Shape 17"/>
          <p:cNvSpPr/>
          <p:nvPr/>
        </p:nvSpPr>
        <p:spPr>
          <a:xfrm flipH="1">
            <a:off x="3749040" y="4206240"/>
            <a:ext cx="640080" cy="1234440"/>
          </a:xfrm>
          <a:prstGeom prst="line">
            <a:avLst/>
          </a:prstGeom>
          <a:noFill/>
          <a:ln w="19050">
            <a:solidFill>
              <a:srgbClr val="2563EB"/>
            </a:solidFill>
            <a:prstDash val="solid"/>
            <a:tailEnd type="triangle"/>
          </a:ln>
        </p:spPr>
      </p:sp>
      <p:sp>
        <p:nvSpPr>
          <p:cNvPr id="20" name="Shape 18"/>
          <p:cNvSpPr/>
          <p:nvPr/>
        </p:nvSpPr>
        <p:spPr>
          <a:xfrm flipH="1" flipV="1">
            <a:off x="1645920" y="4206240"/>
            <a:ext cx="640080" cy="1234440"/>
          </a:xfrm>
          <a:prstGeom prst="line">
            <a:avLst/>
          </a:prstGeom>
          <a:noFill/>
          <a:ln w="19050">
            <a:solidFill>
              <a:srgbClr val="2563EB"/>
            </a:solidFill>
            <a:prstDash val="solid"/>
            <a:tailEnd type="triangle"/>
          </a:ln>
        </p:spPr>
      </p:sp>
      <p:sp>
        <p:nvSpPr>
          <p:cNvPr id="21" name="Shape 19"/>
          <p:cNvSpPr/>
          <p:nvPr/>
        </p:nvSpPr>
        <p:spPr>
          <a:xfrm flipV="1">
            <a:off x="1645920" y="2331720"/>
            <a:ext cx="640080" cy="1234440"/>
          </a:xfrm>
          <a:prstGeom prst="line">
            <a:avLst/>
          </a:prstGeom>
          <a:noFill/>
          <a:ln w="19050">
            <a:solidFill>
              <a:srgbClr val="2563EB"/>
            </a:solidFill>
            <a:prstDash val="solid"/>
            <a:tailEnd type="triangle"/>
          </a:ln>
        </p:spPr>
      </p:sp>
      <p:sp>
        <p:nvSpPr>
          <p:cNvPr id="22" name="Text 20"/>
          <p:cNvSpPr/>
          <p:nvPr/>
        </p:nvSpPr>
        <p:spPr>
          <a:xfrm>
            <a:off x="5760720" y="1600200"/>
            <a:ext cx="402336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Prompt size per step (illustrative)</a:t>
            </a:r>
            <a:endParaRPr lang="en-US" sz="1400" dirty="0"/>
          </a:p>
        </p:txBody>
      </p:sp>
      <p:sp>
        <p:nvSpPr>
          <p:cNvPr id="23" name="Shape 21"/>
          <p:cNvSpPr/>
          <p:nvPr/>
        </p:nvSpPr>
        <p:spPr>
          <a:xfrm>
            <a:off x="5760720" y="5303520"/>
            <a:ext cx="457200" cy="365760"/>
          </a:xfrm>
          <a:prstGeom prst="rect">
            <a:avLst/>
          </a:prstGeom>
          <a:solidFill>
            <a:srgbClr val="C8D2DF"/>
          </a:solidFill>
          <a:ln w="12700">
            <a:solidFill>
              <a:srgbClr val="C8D2DF"/>
            </a:solidFill>
            <a:prstDash val="solid"/>
          </a:ln>
        </p:spPr>
      </p:sp>
      <p:sp>
        <p:nvSpPr>
          <p:cNvPr id="24" name="Shape 22"/>
          <p:cNvSpPr/>
          <p:nvPr/>
        </p:nvSpPr>
        <p:spPr>
          <a:xfrm>
            <a:off x="5760720" y="4937760"/>
            <a:ext cx="457200" cy="365760"/>
          </a:xfrm>
          <a:prstGeom prst="rect">
            <a:avLst/>
          </a:prstGeom>
          <a:solidFill>
            <a:srgbClr val="2563EB"/>
          </a:solidFill>
          <a:ln w="12700">
            <a:solidFill>
              <a:srgbClr val="2563EB"/>
            </a:solidFill>
            <a:prstDash val="solid"/>
          </a:ln>
        </p:spPr>
      </p:sp>
      <p:sp>
        <p:nvSpPr>
          <p:cNvPr id="25" name="Text 23"/>
          <p:cNvSpPr/>
          <p:nvPr/>
        </p:nvSpPr>
        <p:spPr>
          <a:xfrm>
            <a:off x="5715000"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S1</a:t>
            </a:r>
            <a:endParaRPr lang="en-US" sz="1400" dirty="0"/>
          </a:p>
        </p:txBody>
      </p:sp>
      <p:sp>
        <p:nvSpPr>
          <p:cNvPr id="26" name="Shape 24"/>
          <p:cNvSpPr/>
          <p:nvPr/>
        </p:nvSpPr>
        <p:spPr>
          <a:xfrm>
            <a:off x="6419088" y="4937760"/>
            <a:ext cx="457200" cy="731520"/>
          </a:xfrm>
          <a:prstGeom prst="rect">
            <a:avLst/>
          </a:prstGeom>
          <a:solidFill>
            <a:srgbClr val="C8D2DF"/>
          </a:solidFill>
          <a:ln w="12700">
            <a:solidFill>
              <a:srgbClr val="C8D2DF"/>
            </a:solidFill>
            <a:prstDash val="solid"/>
          </a:ln>
        </p:spPr>
      </p:sp>
      <p:sp>
        <p:nvSpPr>
          <p:cNvPr id="27" name="Shape 25"/>
          <p:cNvSpPr/>
          <p:nvPr/>
        </p:nvSpPr>
        <p:spPr>
          <a:xfrm>
            <a:off x="6419088" y="4572000"/>
            <a:ext cx="457200" cy="365760"/>
          </a:xfrm>
          <a:prstGeom prst="rect">
            <a:avLst/>
          </a:prstGeom>
          <a:solidFill>
            <a:srgbClr val="2563EB"/>
          </a:solidFill>
          <a:ln w="12700">
            <a:solidFill>
              <a:srgbClr val="2563EB"/>
            </a:solidFill>
            <a:prstDash val="solid"/>
          </a:ln>
        </p:spPr>
      </p:sp>
      <p:sp>
        <p:nvSpPr>
          <p:cNvPr id="28" name="Text 26"/>
          <p:cNvSpPr/>
          <p:nvPr/>
        </p:nvSpPr>
        <p:spPr>
          <a:xfrm>
            <a:off x="6373368"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S2</a:t>
            </a:r>
            <a:endParaRPr lang="en-US" sz="1400" dirty="0"/>
          </a:p>
        </p:txBody>
      </p:sp>
      <p:sp>
        <p:nvSpPr>
          <p:cNvPr id="29" name="Shape 27"/>
          <p:cNvSpPr/>
          <p:nvPr/>
        </p:nvSpPr>
        <p:spPr>
          <a:xfrm>
            <a:off x="7077456" y="4572000"/>
            <a:ext cx="457200" cy="1097280"/>
          </a:xfrm>
          <a:prstGeom prst="rect">
            <a:avLst/>
          </a:prstGeom>
          <a:solidFill>
            <a:srgbClr val="C8D2DF"/>
          </a:solidFill>
          <a:ln w="12700">
            <a:solidFill>
              <a:srgbClr val="C8D2DF"/>
            </a:solidFill>
            <a:prstDash val="solid"/>
          </a:ln>
        </p:spPr>
      </p:sp>
      <p:sp>
        <p:nvSpPr>
          <p:cNvPr id="30" name="Shape 28"/>
          <p:cNvSpPr/>
          <p:nvPr/>
        </p:nvSpPr>
        <p:spPr>
          <a:xfrm>
            <a:off x="7077456" y="4206240"/>
            <a:ext cx="457200" cy="365760"/>
          </a:xfrm>
          <a:prstGeom prst="rect">
            <a:avLst/>
          </a:prstGeom>
          <a:solidFill>
            <a:srgbClr val="2563EB"/>
          </a:solidFill>
          <a:ln w="12700">
            <a:solidFill>
              <a:srgbClr val="2563EB"/>
            </a:solidFill>
            <a:prstDash val="solid"/>
          </a:ln>
        </p:spPr>
      </p:sp>
      <p:sp>
        <p:nvSpPr>
          <p:cNvPr id="31" name="Text 29"/>
          <p:cNvSpPr/>
          <p:nvPr/>
        </p:nvSpPr>
        <p:spPr>
          <a:xfrm>
            <a:off x="7031736"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S3</a:t>
            </a:r>
            <a:endParaRPr lang="en-US" sz="1400" dirty="0"/>
          </a:p>
        </p:txBody>
      </p:sp>
      <p:sp>
        <p:nvSpPr>
          <p:cNvPr id="32" name="Shape 30"/>
          <p:cNvSpPr/>
          <p:nvPr/>
        </p:nvSpPr>
        <p:spPr>
          <a:xfrm>
            <a:off x="7735824" y="4206240"/>
            <a:ext cx="457200" cy="1463040"/>
          </a:xfrm>
          <a:prstGeom prst="rect">
            <a:avLst/>
          </a:prstGeom>
          <a:solidFill>
            <a:srgbClr val="C8D2DF"/>
          </a:solidFill>
          <a:ln w="12700">
            <a:solidFill>
              <a:srgbClr val="C8D2DF"/>
            </a:solidFill>
            <a:prstDash val="solid"/>
          </a:ln>
        </p:spPr>
      </p:sp>
      <p:sp>
        <p:nvSpPr>
          <p:cNvPr id="33" name="Shape 31"/>
          <p:cNvSpPr/>
          <p:nvPr/>
        </p:nvSpPr>
        <p:spPr>
          <a:xfrm>
            <a:off x="7735824" y="3840480"/>
            <a:ext cx="457200" cy="365760"/>
          </a:xfrm>
          <a:prstGeom prst="rect">
            <a:avLst/>
          </a:prstGeom>
          <a:solidFill>
            <a:srgbClr val="2563EB"/>
          </a:solidFill>
          <a:ln w="12700">
            <a:solidFill>
              <a:srgbClr val="2563EB"/>
            </a:solidFill>
            <a:prstDash val="solid"/>
          </a:ln>
        </p:spPr>
      </p:sp>
      <p:sp>
        <p:nvSpPr>
          <p:cNvPr id="34" name="Text 32"/>
          <p:cNvSpPr/>
          <p:nvPr/>
        </p:nvSpPr>
        <p:spPr>
          <a:xfrm>
            <a:off x="7690104"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S4</a:t>
            </a:r>
            <a:endParaRPr lang="en-US" sz="1400" dirty="0"/>
          </a:p>
        </p:txBody>
      </p:sp>
      <p:sp>
        <p:nvSpPr>
          <p:cNvPr id="35" name="Shape 33"/>
          <p:cNvSpPr/>
          <p:nvPr/>
        </p:nvSpPr>
        <p:spPr>
          <a:xfrm>
            <a:off x="8394192" y="3840480"/>
            <a:ext cx="457200" cy="1828800"/>
          </a:xfrm>
          <a:prstGeom prst="rect">
            <a:avLst/>
          </a:prstGeom>
          <a:solidFill>
            <a:srgbClr val="C8D2DF"/>
          </a:solidFill>
          <a:ln w="12700">
            <a:solidFill>
              <a:srgbClr val="C8D2DF"/>
            </a:solidFill>
            <a:prstDash val="solid"/>
          </a:ln>
        </p:spPr>
      </p:sp>
      <p:sp>
        <p:nvSpPr>
          <p:cNvPr id="36" name="Shape 34"/>
          <p:cNvSpPr/>
          <p:nvPr/>
        </p:nvSpPr>
        <p:spPr>
          <a:xfrm>
            <a:off x="8394192" y="3401568"/>
            <a:ext cx="457200" cy="438912"/>
          </a:xfrm>
          <a:prstGeom prst="rect">
            <a:avLst/>
          </a:prstGeom>
          <a:solidFill>
            <a:srgbClr val="2563EB"/>
          </a:solidFill>
          <a:ln w="12700">
            <a:solidFill>
              <a:srgbClr val="2563EB"/>
            </a:solidFill>
            <a:prstDash val="solid"/>
          </a:ln>
        </p:spPr>
      </p:sp>
      <p:sp>
        <p:nvSpPr>
          <p:cNvPr id="37" name="Text 35"/>
          <p:cNvSpPr/>
          <p:nvPr/>
        </p:nvSpPr>
        <p:spPr>
          <a:xfrm>
            <a:off x="8348472"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S5</a:t>
            </a:r>
            <a:endParaRPr lang="en-US" sz="1400" dirty="0"/>
          </a:p>
        </p:txBody>
      </p:sp>
      <p:sp>
        <p:nvSpPr>
          <p:cNvPr id="38" name="Shape 36"/>
          <p:cNvSpPr/>
          <p:nvPr/>
        </p:nvSpPr>
        <p:spPr>
          <a:xfrm>
            <a:off x="9052560" y="3401568"/>
            <a:ext cx="457200" cy="2267712"/>
          </a:xfrm>
          <a:prstGeom prst="rect">
            <a:avLst/>
          </a:prstGeom>
          <a:solidFill>
            <a:srgbClr val="C8D2DF"/>
          </a:solidFill>
          <a:ln w="12700">
            <a:solidFill>
              <a:srgbClr val="C8D2DF"/>
            </a:solidFill>
            <a:prstDash val="solid"/>
          </a:ln>
        </p:spPr>
      </p:sp>
      <p:sp>
        <p:nvSpPr>
          <p:cNvPr id="39" name="Shape 37"/>
          <p:cNvSpPr/>
          <p:nvPr/>
        </p:nvSpPr>
        <p:spPr>
          <a:xfrm>
            <a:off x="9052560" y="3035808"/>
            <a:ext cx="457200" cy="365760"/>
          </a:xfrm>
          <a:prstGeom prst="rect">
            <a:avLst/>
          </a:prstGeom>
          <a:solidFill>
            <a:srgbClr val="2563EB"/>
          </a:solidFill>
          <a:ln w="12700">
            <a:solidFill>
              <a:srgbClr val="2563EB"/>
            </a:solidFill>
            <a:prstDash val="solid"/>
          </a:ln>
        </p:spPr>
      </p:sp>
      <p:sp>
        <p:nvSpPr>
          <p:cNvPr id="40" name="Text 38"/>
          <p:cNvSpPr/>
          <p:nvPr/>
        </p:nvSpPr>
        <p:spPr>
          <a:xfrm>
            <a:off x="9006840" y="5715000"/>
            <a:ext cx="548640" cy="274320"/>
          </a:xfrm>
          <a:prstGeom prst="rect">
            <a:avLst/>
          </a:prstGeom>
          <a:noFill/>
          <a:ln/>
        </p:spPr>
        <p:txBody>
          <a:bodyPr wrap="square" lIns="0" tIns="0" rIns="0" bIns="0" rtlCol="0" anchor="ctr"/>
          <a:lstStyle/>
          <a:p>
            <a:pPr algn="ctr" indent="0" marL="0">
              <a:buNone/>
            </a:pPr>
            <a:r>
              <a:rPr lang="en-US" sz="1400" dirty="0">
                <a:solidFill>
                  <a:srgbClr val="4A505A"/>
                </a:solidFill>
                <a:latin typeface="Inter" pitchFamily="34" charset="0"/>
                <a:ea typeface="Inter" pitchFamily="34" charset="-122"/>
                <a:cs typeface="Inter" pitchFamily="34" charset="-120"/>
              </a:rPr>
              <a:t>S6</a:t>
            </a:r>
            <a:endParaRPr lang="en-US" sz="1400" dirty="0"/>
          </a:p>
        </p:txBody>
      </p:sp>
      <p:sp>
        <p:nvSpPr>
          <p:cNvPr id="41" name="Shape 39"/>
          <p:cNvSpPr/>
          <p:nvPr/>
        </p:nvSpPr>
        <p:spPr>
          <a:xfrm>
            <a:off x="5669280" y="5669280"/>
            <a:ext cx="3931920" cy="0"/>
          </a:xfrm>
          <a:prstGeom prst="line">
            <a:avLst/>
          </a:prstGeom>
          <a:noFill/>
          <a:ln w="12700">
            <a:solidFill>
              <a:srgbClr val="7A808A"/>
            </a:solidFill>
            <a:prstDash val="solid"/>
          </a:ln>
        </p:spPr>
      </p:sp>
      <p:sp>
        <p:nvSpPr>
          <p:cNvPr id="42" name="Shape 40"/>
          <p:cNvSpPr/>
          <p:nvPr/>
        </p:nvSpPr>
        <p:spPr>
          <a:xfrm>
            <a:off x="5760720" y="2057400"/>
            <a:ext cx="201168" cy="201168"/>
          </a:xfrm>
          <a:prstGeom prst="rect">
            <a:avLst/>
          </a:prstGeom>
          <a:solidFill>
            <a:srgbClr val="C8D2DF"/>
          </a:solidFill>
          <a:ln w="12700">
            <a:solidFill>
              <a:srgbClr val="C8D2DF"/>
            </a:solidFill>
            <a:prstDash val="solid"/>
          </a:ln>
        </p:spPr>
      </p:sp>
      <p:sp>
        <p:nvSpPr>
          <p:cNvPr id="43" name="Text 41"/>
          <p:cNvSpPr/>
          <p:nvPr/>
        </p:nvSpPr>
        <p:spPr>
          <a:xfrm>
            <a:off x="6035040" y="1993392"/>
            <a:ext cx="3291840" cy="320040"/>
          </a:xfrm>
          <a:prstGeom prst="rect">
            <a:avLst/>
          </a:prstGeom>
          <a:noFill/>
          <a:ln/>
        </p:spPr>
        <p:txBody>
          <a:bodyPr wrap="square" lIns="0" tIns="0" rIns="0" bIns="0" rtlCol="0" anchor="ctr"/>
          <a:lstStyle/>
          <a:p>
            <a:pPr indent="0" marL="0">
              <a:buNone/>
            </a:pPr>
            <a:r>
              <a:rPr lang="en-US" sz="1400" dirty="0">
                <a:solidFill>
                  <a:srgbClr val="4A505A"/>
                </a:solidFill>
                <a:latin typeface="Inter" pitchFamily="34" charset="0"/>
                <a:ea typeface="Inter" pitchFamily="34" charset="-122"/>
                <a:cs typeface="Inter" pitchFamily="34" charset="-120"/>
              </a:rPr>
              <a:t>Shared prefix (cache hit)</a:t>
            </a:r>
            <a:endParaRPr lang="en-US" sz="1400" dirty="0"/>
          </a:p>
        </p:txBody>
      </p:sp>
      <p:sp>
        <p:nvSpPr>
          <p:cNvPr id="44" name="Shape 42"/>
          <p:cNvSpPr/>
          <p:nvPr/>
        </p:nvSpPr>
        <p:spPr>
          <a:xfrm>
            <a:off x="5760720" y="2395728"/>
            <a:ext cx="201168" cy="201168"/>
          </a:xfrm>
          <a:prstGeom prst="rect">
            <a:avLst/>
          </a:prstGeom>
          <a:solidFill>
            <a:srgbClr val="2563EB"/>
          </a:solidFill>
          <a:ln w="12700">
            <a:solidFill>
              <a:srgbClr val="2563EB"/>
            </a:solidFill>
            <a:prstDash val="solid"/>
          </a:ln>
        </p:spPr>
      </p:sp>
      <p:sp>
        <p:nvSpPr>
          <p:cNvPr id="45" name="Text 43"/>
          <p:cNvSpPr/>
          <p:nvPr/>
        </p:nvSpPr>
        <p:spPr>
          <a:xfrm>
            <a:off x="6035040" y="2331720"/>
            <a:ext cx="3291840" cy="320040"/>
          </a:xfrm>
          <a:prstGeom prst="rect">
            <a:avLst/>
          </a:prstGeom>
          <a:noFill/>
          <a:ln/>
        </p:spPr>
        <p:txBody>
          <a:bodyPr wrap="square" lIns="0" tIns="0" rIns="0" bIns="0" rtlCol="0" anchor="ctr"/>
          <a:lstStyle/>
          <a:p>
            <a:pPr indent="0" marL="0">
              <a:buNone/>
            </a:pPr>
            <a:r>
              <a:rPr lang="en-US" sz="1400" dirty="0">
                <a:solidFill>
                  <a:srgbClr val="4A505A"/>
                </a:solidFill>
                <a:latin typeface="Inter" pitchFamily="34" charset="0"/>
                <a:ea typeface="Inter" pitchFamily="34" charset="-122"/>
                <a:cs typeface="Inter" pitchFamily="34" charset="-120"/>
              </a:rPr>
              <a:t>New tokens (prefill)</a:t>
            </a:r>
            <a:endParaRPr lang="en-US" sz="1400" dirty="0"/>
          </a:p>
        </p:txBody>
      </p:sp>
      <p:sp>
        <p:nvSpPr>
          <p:cNvPr id="46" name="Shape 44"/>
          <p:cNvSpPr/>
          <p:nvPr/>
        </p:nvSpPr>
        <p:spPr>
          <a:xfrm>
            <a:off x="9829800" y="1691640"/>
            <a:ext cx="0" cy="4206240"/>
          </a:xfrm>
          <a:prstGeom prst="line">
            <a:avLst/>
          </a:prstGeom>
          <a:noFill/>
          <a:ln w="12700">
            <a:solidFill>
              <a:srgbClr val="D9DCE1"/>
            </a:solidFill>
            <a:prstDash val="solid"/>
          </a:ln>
        </p:spPr>
      </p:sp>
      <p:sp>
        <p:nvSpPr>
          <p:cNvPr id="47" name="Text 45"/>
          <p:cNvSpPr/>
          <p:nvPr/>
        </p:nvSpPr>
        <p:spPr>
          <a:xfrm>
            <a:off x="10058400" y="1783080"/>
            <a:ext cx="457200" cy="457200"/>
          </a:xfrm>
          <a:prstGeom prst="rect">
            <a:avLst/>
          </a:prstGeom>
          <a:noFill/>
          <a:ln/>
        </p:spPr>
        <p:txBody>
          <a:bodyPr wrap="square" lIns="0" tIns="0" rIns="0" bIns="0" rtlCol="0" anchor="t"/>
          <a:lstStyle/>
          <a:p>
            <a:pPr indent="0" marL="0">
              <a:buNone/>
            </a:pPr>
            <a:r>
              <a:rPr lang="en-US" sz="2400" b="1" dirty="0">
                <a:solidFill>
                  <a:srgbClr val="2563EB"/>
                </a:solidFill>
                <a:latin typeface="Inter" pitchFamily="34" charset="0"/>
                <a:ea typeface="Inter" pitchFamily="34" charset="-122"/>
                <a:cs typeface="Inter" pitchFamily="34" charset="-120"/>
              </a:rPr>
              <a:t>1</a:t>
            </a:r>
            <a:endParaRPr lang="en-US" sz="2400" dirty="0"/>
          </a:p>
        </p:txBody>
      </p:sp>
      <p:sp>
        <p:nvSpPr>
          <p:cNvPr id="48" name="Text 46"/>
          <p:cNvSpPr/>
          <p:nvPr/>
        </p:nvSpPr>
        <p:spPr>
          <a:xfrm>
            <a:off x="10058400" y="2240280"/>
            <a:ext cx="1783080" cy="77724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Prefix reuse</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cuts prefill per step</a:t>
            </a:r>
            <a:endParaRPr lang="en-US" sz="1400" dirty="0"/>
          </a:p>
        </p:txBody>
      </p:sp>
      <p:sp>
        <p:nvSpPr>
          <p:cNvPr id="49" name="Text 47"/>
          <p:cNvSpPr/>
          <p:nvPr/>
        </p:nvSpPr>
        <p:spPr>
          <a:xfrm>
            <a:off x="10058400" y="3154680"/>
            <a:ext cx="457200" cy="457200"/>
          </a:xfrm>
          <a:prstGeom prst="rect">
            <a:avLst/>
          </a:prstGeom>
          <a:noFill/>
          <a:ln/>
        </p:spPr>
        <p:txBody>
          <a:bodyPr wrap="square" lIns="0" tIns="0" rIns="0" bIns="0" rtlCol="0" anchor="t"/>
          <a:lstStyle/>
          <a:p>
            <a:pPr indent="0" marL="0">
              <a:buNone/>
            </a:pPr>
            <a:r>
              <a:rPr lang="en-US" sz="2400" b="1" dirty="0">
                <a:solidFill>
                  <a:srgbClr val="2563EB"/>
                </a:solidFill>
                <a:latin typeface="Inter" pitchFamily="34" charset="0"/>
                <a:ea typeface="Inter" pitchFamily="34" charset="-122"/>
                <a:cs typeface="Inter" pitchFamily="34" charset="-120"/>
              </a:rPr>
              <a:t>2</a:t>
            </a:r>
            <a:endParaRPr lang="en-US" sz="2400" dirty="0"/>
          </a:p>
        </p:txBody>
      </p:sp>
      <p:sp>
        <p:nvSpPr>
          <p:cNvPr id="50" name="Text 48"/>
          <p:cNvSpPr/>
          <p:nvPr/>
        </p:nvSpPr>
        <p:spPr>
          <a:xfrm>
            <a:off x="10058400" y="3611880"/>
            <a:ext cx="1783080" cy="77724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Short decodes</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make step latency the SLO</a:t>
            </a:r>
            <a:endParaRPr lang="en-US" sz="1400" dirty="0"/>
          </a:p>
        </p:txBody>
      </p:sp>
      <p:sp>
        <p:nvSpPr>
          <p:cNvPr id="51" name="Text 49"/>
          <p:cNvSpPr/>
          <p:nvPr/>
        </p:nvSpPr>
        <p:spPr>
          <a:xfrm>
            <a:off x="10058400" y="4526280"/>
            <a:ext cx="457200" cy="457200"/>
          </a:xfrm>
          <a:prstGeom prst="rect">
            <a:avLst/>
          </a:prstGeom>
          <a:noFill/>
          <a:ln/>
        </p:spPr>
        <p:txBody>
          <a:bodyPr wrap="square" lIns="0" tIns="0" rIns="0" bIns="0" rtlCol="0" anchor="t"/>
          <a:lstStyle/>
          <a:p>
            <a:pPr indent="0" marL="0">
              <a:buNone/>
            </a:pPr>
            <a:r>
              <a:rPr lang="en-US" sz="2400" b="1" dirty="0">
                <a:solidFill>
                  <a:srgbClr val="2563EB"/>
                </a:solidFill>
                <a:latin typeface="Inter" pitchFamily="34" charset="0"/>
                <a:ea typeface="Inter" pitchFamily="34" charset="-122"/>
                <a:cs typeface="Inter" pitchFamily="34" charset="-120"/>
              </a:rPr>
              <a:t>3</a:t>
            </a:r>
            <a:endParaRPr lang="en-US" sz="2400" dirty="0"/>
          </a:p>
        </p:txBody>
      </p:sp>
      <p:sp>
        <p:nvSpPr>
          <p:cNvPr id="52" name="Text 50"/>
          <p:cNvSpPr/>
          <p:nvPr/>
        </p:nvSpPr>
        <p:spPr>
          <a:xfrm>
            <a:off x="10058400" y="4983480"/>
            <a:ext cx="1783080" cy="77724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Session affinity</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keeps KV warm on one replica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MODEL &amp; TOPOLOGY</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One 8-GPU Blackwell node holds Inkling or Muse; Hopper needs FP4 or a second node</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3</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7863840" cy="914400"/>
        </p:xfrm>
        <a:graphic>
          <a:graphicData uri="http://schemas.openxmlformats.org/drawingml/2006/table">
            <a:tbl>
              <a:tblPr/>
              <a:tblGrid>
                <a:gridCol w="2286000"/>
                <a:gridCol w="1051560"/>
                <a:gridCol w="1051560"/>
                <a:gridCol w="1188720"/>
                <a:gridCol w="1143000"/>
                <a:gridCol w="1143000"/>
              </a:tblGrid>
              <a:tr h="685800">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Model (total / active)</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FP8 weights*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FP4 weights*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8× H200</a:t>
                      </a:r>
                      <a:endParaRPr lang="en-US" sz="1400" dirty="0">
                        <a:latin typeface="Inter" charset="0"/>
                        <a:ea typeface="Inter" charset="0"/>
                        <a:cs typeface="Inter" charset="0"/>
                      </a:endParaRPr>
                    </a:p>
                    <a:p>
                      <a:pPr algn="ctr" indent="0" marL="0">
                        <a:buNone/>
                      </a:pPr>
                      <a:r>
                        <a:rPr lang="en-US" sz="1400" b="1" dirty="0">
                          <a:solidFill>
                            <a:srgbClr val="FFFFFF"/>
                          </a:solidFill>
                          <a:latin typeface="Inter" pitchFamily="34" charset="0"/>
                          <a:ea typeface="Inter" pitchFamily="34" charset="-122"/>
                          <a:cs typeface="Inter" pitchFamily="34" charset="-120"/>
                        </a:rPr>
                        <a:t>1.13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8× B100</a:t>
                      </a:r>
                      <a:endParaRPr lang="en-US" sz="1400" dirty="0">
                        <a:latin typeface="Inter" charset="0"/>
                        <a:ea typeface="Inter" charset="0"/>
                        <a:cs typeface="Inter" charset="0"/>
                      </a:endParaRPr>
                    </a:p>
                    <a:p>
                      <a:pPr algn="ctr" indent="0" marL="0">
                        <a:buNone/>
                      </a:pPr>
                      <a:r>
                        <a:rPr lang="en-US" sz="1400" b="1" dirty="0">
                          <a:solidFill>
                            <a:srgbClr val="FFFFFF"/>
                          </a:solidFill>
                          <a:latin typeface="Inter" pitchFamily="34" charset="0"/>
                          <a:ea typeface="Inter" pitchFamily="34" charset="-122"/>
                          <a:cs typeface="Inter" pitchFamily="34" charset="-120"/>
                        </a:rPr>
                        <a:t>~1.5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8× B200</a:t>
                      </a:r>
                      <a:endParaRPr lang="en-US" sz="1400" dirty="0">
                        <a:latin typeface="Inter" charset="0"/>
                        <a:ea typeface="Inter" charset="0"/>
                        <a:cs typeface="Inter" charset="0"/>
                      </a:endParaRPr>
                    </a:p>
                    <a:p>
                      <a:pPr algn="ctr" indent="0" marL="0">
                        <a:buNone/>
                      </a:pPr>
                      <a:r>
                        <a:rPr lang="en-US" sz="1400" b="1" dirty="0">
                          <a:solidFill>
                            <a:srgbClr val="FFFFFF"/>
                          </a:solidFill>
                          <a:latin typeface="Inter" pitchFamily="34" charset="0"/>
                          <a:ea typeface="Inter" pitchFamily="34" charset="-122"/>
                          <a:cs typeface="Inter" pitchFamily="34" charset="-120"/>
                        </a:rPr>
                        <a:t>1.44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r>
              <a:tr h="749808">
                <a:tc>
                  <a:txBody>
                    <a:bodyPr/>
                    <a:lstStyle/>
                    <a:p>
                      <a:pPr indent="0" marL="0">
                        <a:buNone/>
                      </a:pPr>
                      <a:r>
                        <a:rPr lang="en-US" sz="1400" b="1" dirty="0">
                          <a:solidFill>
                            <a:srgbClr val="1B232E"/>
                          </a:solidFill>
                          <a:latin typeface="Inter" pitchFamily="34" charset="0"/>
                          <a:ea typeface="Inter" pitchFamily="34" charset="-122"/>
                          <a:cs typeface="Inter" pitchFamily="34" charset="-120"/>
                        </a:rPr>
                        <a:t>Inkling</a:t>
                      </a:r>
                      <a:endParaRPr lang="en-US" sz="1400" dirty="0">
                        <a:latin typeface="Inter" charset="0"/>
                        <a:ea typeface="Inter" charset="0"/>
                        <a:cs typeface="Inter" charset="0"/>
                      </a:endParaRPr>
                    </a:p>
                    <a:p>
                      <a:pPr indent="0" marL="0">
                        <a:buNone/>
                      </a:pPr>
                      <a:r>
                        <a:rPr lang="en-US" sz="1400" dirty="0">
                          <a:solidFill>
                            <a:srgbClr val="7A808A"/>
                          </a:solidFill>
                          <a:latin typeface="Inter" pitchFamily="34" charset="0"/>
                          <a:ea typeface="Inter" pitchFamily="34" charset="-122"/>
                          <a:cs typeface="Inter" pitchFamily="34" charset="-120"/>
                        </a:rPr>
                        <a:t>975B / 41B</a:t>
                      </a:r>
                      <a:endParaRPr lang="en-US" sz="1400" dirty="0">
                        <a:latin typeface="Inter" charset="0"/>
                        <a:ea typeface="Inter" charset="0"/>
                        <a:cs typeface="Inter" charset="0"/>
                      </a:endParaRPr>
                    </a:p>
                  </a:txBody>
                  <a:tcPr marL="54864" marR="54864" marT="54864" marB="5486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~0.98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~0.55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32E"/>
                          </a:solidFill>
                          <a:latin typeface="Inter" pitchFamily="34" charset="0"/>
                          <a:ea typeface="Inter" pitchFamily="34" charset="-122"/>
                          <a:cs typeface="Inter" pitchFamily="34" charset="-120"/>
                        </a:rPr>
                        <a:t>FP4 ✓ · FP8 tight</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7FD"/>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 FP8 / FP4</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r>
              <a:tr h="749808">
                <a:tc>
                  <a:txBody>
                    <a:bodyPr/>
                    <a:lstStyle/>
                    <a:p>
                      <a:pPr indent="0" marL="0">
                        <a:buNone/>
                      </a:pPr>
                      <a:r>
                        <a:rPr lang="en-US" sz="1400" b="1" dirty="0">
                          <a:solidFill>
                            <a:srgbClr val="1B232E"/>
                          </a:solidFill>
                          <a:latin typeface="Inter" pitchFamily="34" charset="0"/>
                          <a:ea typeface="Inter" pitchFamily="34" charset="-122"/>
                          <a:cs typeface="Inter" pitchFamily="34" charset="-120"/>
                        </a:rPr>
                        <a:t>Muse Spark Open</a:t>
                      </a:r>
                      <a:endParaRPr lang="en-US" sz="1400" dirty="0">
                        <a:latin typeface="Inter" charset="0"/>
                        <a:ea typeface="Inter" charset="0"/>
                        <a:cs typeface="Inter" charset="0"/>
                      </a:endParaRPr>
                    </a:p>
                    <a:p>
                      <a:pPr indent="0" marL="0">
                        <a:buNone/>
                      </a:pPr>
                      <a:r>
                        <a:rPr lang="en-US" sz="1400" dirty="0">
                          <a:solidFill>
                            <a:srgbClr val="7A808A"/>
                          </a:solidFill>
                          <a:latin typeface="Inter" pitchFamily="34" charset="0"/>
                          <a:ea typeface="Inter" pitchFamily="34" charset="-122"/>
                          <a:cs typeface="Inter" pitchFamily="34" charset="-120"/>
                        </a:rPr>
                        <a:t>816B / 42B</a:t>
                      </a:r>
                      <a:endParaRPr lang="en-US" sz="1400" dirty="0">
                        <a:latin typeface="Inter" charset="0"/>
                        <a:ea typeface="Inter" charset="0"/>
                        <a:cs typeface="Inter" charset="0"/>
                      </a:endParaRPr>
                    </a:p>
                  </a:txBody>
                  <a:tcPr marL="54864" marR="54864" marT="54864" marB="5486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~0.82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~0.46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NVFP4 ✓</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NVFP4 ✓</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r>
              <a:tr h="749808">
                <a:tc>
                  <a:txBody>
                    <a:bodyPr/>
                    <a:lstStyle/>
                    <a:p>
                      <a:pPr indent="0" marL="0">
                        <a:buNone/>
                      </a:pPr>
                      <a:r>
                        <a:rPr lang="en-US" sz="1400" b="1" dirty="0">
                          <a:solidFill>
                            <a:srgbClr val="1B232E"/>
                          </a:solidFill>
                          <a:latin typeface="Inter" pitchFamily="34" charset="0"/>
                          <a:ea typeface="Inter" pitchFamily="34" charset="-122"/>
                          <a:cs typeface="Inter" pitchFamily="34" charset="-120"/>
                        </a:rPr>
                        <a:t>DeepSeek-V3.x</a:t>
                      </a:r>
                      <a:endParaRPr lang="en-US" sz="1400" dirty="0">
                        <a:latin typeface="Inter" charset="0"/>
                        <a:ea typeface="Inter" charset="0"/>
                        <a:cs typeface="Inter" charset="0"/>
                      </a:endParaRPr>
                    </a:p>
                    <a:p>
                      <a:pPr indent="0" marL="0">
                        <a:buNone/>
                      </a:pPr>
                      <a:r>
                        <a:rPr lang="en-US" sz="1400" dirty="0">
                          <a:solidFill>
                            <a:srgbClr val="7A808A"/>
                          </a:solidFill>
                          <a:latin typeface="Inter" pitchFamily="34" charset="0"/>
                          <a:ea typeface="Inter" pitchFamily="34" charset="-122"/>
                          <a:cs typeface="Inter" pitchFamily="34" charset="-120"/>
                        </a:rPr>
                        <a:t>671B / 37B</a:t>
                      </a:r>
                      <a:endParaRPr lang="en-US" sz="1400" dirty="0">
                        <a:latin typeface="Inter" charset="0"/>
                        <a:ea typeface="Inter" charset="0"/>
                        <a:cs typeface="Inter" charset="0"/>
                      </a:endParaRPr>
                    </a:p>
                  </a:txBody>
                  <a:tcPr marL="54864" marR="54864" marT="54864" marB="5486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~0.69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~0.38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 FP8</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r>
              <a:tr h="749808">
                <a:tc>
                  <a:txBody>
                    <a:bodyPr/>
                    <a:lstStyle/>
                    <a:p>
                      <a:pPr indent="0" marL="0">
                        <a:buNone/>
                      </a:pPr>
                      <a:r>
                        <a:rPr lang="en-US" sz="1400" b="1" dirty="0">
                          <a:solidFill>
                            <a:srgbClr val="1B232E"/>
                          </a:solidFill>
                          <a:latin typeface="Inter" pitchFamily="34" charset="0"/>
                          <a:ea typeface="Inter" pitchFamily="34" charset="-122"/>
                          <a:cs typeface="Inter" pitchFamily="34" charset="-120"/>
                        </a:rPr>
                        <a:t>Ling-2.6-1T (alt.)</a:t>
                      </a:r>
                      <a:endParaRPr lang="en-US" sz="1400" dirty="0">
                        <a:latin typeface="Inter" charset="0"/>
                        <a:ea typeface="Inter" charset="0"/>
                        <a:cs typeface="Inter" charset="0"/>
                      </a:endParaRPr>
                    </a:p>
                    <a:p>
                      <a:pPr indent="0" marL="0">
                        <a:buNone/>
                      </a:pPr>
                      <a:r>
                        <a:rPr lang="en-US" sz="1400" dirty="0">
                          <a:solidFill>
                            <a:srgbClr val="7A808A"/>
                          </a:solidFill>
                          <a:latin typeface="Inter" pitchFamily="34" charset="0"/>
                          <a:ea typeface="Inter" pitchFamily="34" charset="-122"/>
                          <a:cs typeface="Inter" pitchFamily="34" charset="-120"/>
                        </a:rPr>
                        <a:t>~1T total</a:t>
                      </a:r>
                      <a:endParaRPr lang="en-US" sz="1400" dirty="0">
                        <a:latin typeface="Inter" charset="0"/>
                        <a:ea typeface="Inter" charset="0"/>
                        <a:cs typeface="Inter" charset="0"/>
                      </a:endParaRPr>
                    </a:p>
                  </a:txBody>
                  <a:tcPr marL="54864" marR="54864" marT="54864" marB="5486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~1.0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4A505A"/>
                          </a:solidFill>
                          <a:latin typeface="Inter" pitchFamily="34" charset="0"/>
                          <a:ea typeface="Inter" pitchFamily="34" charset="-122"/>
                          <a:cs typeface="Inter" pitchFamily="34" charset="-120"/>
                        </a:rPr>
                        <a:t>~0.56 TB</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32E"/>
                          </a:solidFill>
                          <a:latin typeface="Inter" pitchFamily="34" charset="0"/>
                          <a:ea typeface="Inter" pitchFamily="34" charset="-122"/>
                          <a:cs typeface="Inter" pitchFamily="34" charset="-120"/>
                        </a:rPr>
                        <a:t>Tight → 16 GPUs</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7FD"/>
                    </a:solidFill>
                  </a:tcPr>
                </a:tc>
                <a:tc>
                  <a:txBody>
                    <a:bodyPr/>
                    <a:lstStyle/>
                    <a:p>
                      <a:pPr algn="ctr" indent="0" marL="0">
                        <a:buNone/>
                      </a:pPr>
                      <a:r>
                        <a:rPr lang="en-US" sz="1400" b="1" dirty="0">
                          <a:solidFill>
                            <a:srgbClr val="1B232E"/>
                          </a:solidFill>
                          <a:latin typeface="Inter" pitchFamily="34" charset="0"/>
                          <a:ea typeface="Inter" pitchFamily="34" charset="-122"/>
                          <a:cs typeface="Inter" pitchFamily="34" charset="-120"/>
                        </a:rPr>
                        <a:t>FP8 tight · FP4</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7FD"/>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Fits FP8 / FP4</a:t>
                      </a:r>
                      <a:endParaRPr lang="en-US" sz="1400" dirty="0">
                        <a:latin typeface="Inter" charset="0"/>
                        <a:ea typeface="Inter" charset="0"/>
                        <a:cs typeface="Inter"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32E"/>
                    </a:solidFill>
                  </a:tcPr>
                </a:tc>
              </a:tr>
            </a:tbl>
          </a:graphicData>
        </a:graphic>
      </p:graphicFrame>
      <p:sp>
        <p:nvSpPr>
          <p:cNvPr id="8" name="Text 5"/>
          <p:cNvSpPr/>
          <p:nvPr/>
        </p:nvSpPr>
        <p:spPr>
          <a:xfrm>
            <a:off x="457200" y="5440680"/>
            <a:ext cx="7863840" cy="640080"/>
          </a:xfrm>
          <a:prstGeom prst="rect">
            <a:avLst/>
          </a:prstGeom>
          <a:noFill/>
          <a:ln/>
        </p:spPr>
        <p:txBody>
          <a:bodyPr wrap="square" lIns="0" tIns="0" rIns="0" bIns="0" rtlCol="0" anchor="t"/>
          <a:lstStyle/>
          <a:p>
            <a:pPr indent="0" marL="0">
              <a:buNone/>
            </a:pPr>
            <a:r>
              <a:rPr lang="en-US" sz="1400" dirty="0">
                <a:solidFill>
                  <a:srgbClr val="7A808A"/>
                </a:solidFill>
                <a:latin typeface="Inter" pitchFamily="34" charset="0"/>
                <a:ea typeface="Inter" pitchFamily="34" charset="-122"/>
                <a:cs typeface="Inter" pitchFamily="34" charset="-120"/>
              </a:rPr>
              <a:t>* Estimate: params × 1 B (FP8) or × 0.56 B (NVFP4 incl. scales). KV precision is a separate setting; size KV for the context mix.</a:t>
            </a:r>
            <a:endParaRPr lang="en-US" sz="1400" dirty="0"/>
          </a:p>
        </p:txBody>
      </p:sp>
      <p:sp>
        <p:nvSpPr>
          <p:cNvPr id="9" name="Text 6"/>
          <p:cNvSpPr/>
          <p:nvPr/>
        </p:nvSpPr>
        <p:spPr>
          <a:xfrm>
            <a:off x="8778240" y="1554480"/>
            <a:ext cx="297180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Parallelism map</a:t>
            </a:r>
            <a:endParaRPr lang="en-US" sz="1400" dirty="0"/>
          </a:p>
        </p:txBody>
      </p:sp>
      <p:sp>
        <p:nvSpPr>
          <p:cNvPr id="10" name="Shape 7"/>
          <p:cNvSpPr/>
          <p:nvPr/>
        </p:nvSpPr>
        <p:spPr>
          <a:xfrm>
            <a:off x="8778240" y="1965960"/>
            <a:ext cx="2971800" cy="1371600"/>
          </a:xfrm>
          <a:prstGeom prst="roundRect">
            <a:avLst>
              <a:gd name="adj" fmla="val 4000"/>
            </a:avLst>
          </a:prstGeom>
          <a:solidFill>
            <a:srgbClr val="F4F5F7"/>
          </a:solidFill>
          <a:ln w="12700">
            <a:solidFill>
              <a:srgbClr val="F4F5F7"/>
            </a:solidFill>
            <a:prstDash val="solid"/>
          </a:ln>
        </p:spPr>
      </p:sp>
      <p:sp>
        <p:nvSpPr>
          <p:cNvPr id="11" name="Text 8"/>
          <p:cNvSpPr/>
          <p:nvPr/>
        </p:nvSpPr>
        <p:spPr>
          <a:xfrm>
            <a:off x="8961120" y="2011680"/>
            <a:ext cx="2606040" cy="64008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Within a node</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TP8 / EP8 over NVLink</a:t>
            </a:r>
            <a:endParaRPr lang="en-US" sz="1400" dirty="0"/>
          </a:p>
        </p:txBody>
      </p:sp>
      <p:sp>
        <p:nvSpPr>
          <p:cNvPr id="12" name="Shape 9"/>
          <p:cNvSpPr/>
          <p:nvPr/>
        </p:nvSpPr>
        <p:spPr>
          <a:xfrm>
            <a:off x="8961120" y="2788920"/>
            <a:ext cx="256032" cy="256032"/>
          </a:xfrm>
          <a:prstGeom prst="rect">
            <a:avLst/>
          </a:prstGeom>
          <a:solidFill>
            <a:srgbClr val="1B232E"/>
          </a:solidFill>
          <a:ln w="12700">
            <a:solidFill>
              <a:srgbClr val="1B232E"/>
            </a:solidFill>
            <a:prstDash val="solid"/>
          </a:ln>
        </p:spPr>
      </p:sp>
      <p:sp>
        <p:nvSpPr>
          <p:cNvPr id="13" name="Shape 10"/>
          <p:cNvSpPr/>
          <p:nvPr/>
        </p:nvSpPr>
        <p:spPr>
          <a:xfrm>
            <a:off x="9290304" y="2788920"/>
            <a:ext cx="256032" cy="256032"/>
          </a:xfrm>
          <a:prstGeom prst="rect">
            <a:avLst/>
          </a:prstGeom>
          <a:solidFill>
            <a:srgbClr val="1B232E"/>
          </a:solidFill>
          <a:ln w="12700">
            <a:solidFill>
              <a:srgbClr val="1B232E"/>
            </a:solidFill>
            <a:prstDash val="solid"/>
          </a:ln>
        </p:spPr>
      </p:sp>
      <p:sp>
        <p:nvSpPr>
          <p:cNvPr id="14" name="Shape 11"/>
          <p:cNvSpPr/>
          <p:nvPr/>
        </p:nvSpPr>
        <p:spPr>
          <a:xfrm>
            <a:off x="9619488" y="2788920"/>
            <a:ext cx="256032" cy="256032"/>
          </a:xfrm>
          <a:prstGeom prst="rect">
            <a:avLst/>
          </a:prstGeom>
          <a:solidFill>
            <a:srgbClr val="1B232E"/>
          </a:solidFill>
          <a:ln w="12700">
            <a:solidFill>
              <a:srgbClr val="1B232E"/>
            </a:solidFill>
            <a:prstDash val="solid"/>
          </a:ln>
        </p:spPr>
      </p:sp>
      <p:sp>
        <p:nvSpPr>
          <p:cNvPr id="15" name="Shape 12"/>
          <p:cNvSpPr/>
          <p:nvPr/>
        </p:nvSpPr>
        <p:spPr>
          <a:xfrm>
            <a:off x="9948672" y="2788920"/>
            <a:ext cx="256032" cy="256032"/>
          </a:xfrm>
          <a:prstGeom prst="rect">
            <a:avLst/>
          </a:prstGeom>
          <a:solidFill>
            <a:srgbClr val="1B232E"/>
          </a:solidFill>
          <a:ln w="12700">
            <a:solidFill>
              <a:srgbClr val="1B232E"/>
            </a:solidFill>
            <a:prstDash val="solid"/>
          </a:ln>
        </p:spPr>
      </p:sp>
      <p:sp>
        <p:nvSpPr>
          <p:cNvPr id="16" name="Shape 13"/>
          <p:cNvSpPr/>
          <p:nvPr/>
        </p:nvSpPr>
        <p:spPr>
          <a:xfrm>
            <a:off x="10277856" y="2788920"/>
            <a:ext cx="256032" cy="256032"/>
          </a:xfrm>
          <a:prstGeom prst="rect">
            <a:avLst/>
          </a:prstGeom>
          <a:solidFill>
            <a:srgbClr val="1B232E"/>
          </a:solidFill>
          <a:ln w="12700">
            <a:solidFill>
              <a:srgbClr val="1B232E"/>
            </a:solidFill>
            <a:prstDash val="solid"/>
          </a:ln>
        </p:spPr>
      </p:sp>
      <p:sp>
        <p:nvSpPr>
          <p:cNvPr id="17" name="Shape 14"/>
          <p:cNvSpPr/>
          <p:nvPr/>
        </p:nvSpPr>
        <p:spPr>
          <a:xfrm>
            <a:off x="10607040" y="2788920"/>
            <a:ext cx="256032" cy="256032"/>
          </a:xfrm>
          <a:prstGeom prst="rect">
            <a:avLst/>
          </a:prstGeom>
          <a:solidFill>
            <a:srgbClr val="1B232E"/>
          </a:solidFill>
          <a:ln w="12700">
            <a:solidFill>
              <a:srgbClr val="1B232E"/>
            </a:solidFill>
            <a:prstDash val="solid"/>
          </a:ln>
        </p:spPr>
      </p:sp>
      <p:sp>
        <p:nvSpPr>
          <p:cNvPr id="18" name="Shape 15"/>
          <p:cNvSpPr/>
          <p:nvPr/>
        </p:nvSpPr>
        <p:spPr>
          <a:xfrm>
            <a:off x="10936224" y="2788920"/>
            <a:ext cx="256032" cy="256032"/>
          </a:xfrm>
          <a:prstGeom prst="rect">
            <a:avLst/>
          </a:prstGeom>
          <a:solidFill>
            <a:srgbClr val="1B232E"/>
          </a:solidFill>
          <a:ln w="12700">
            <a:solidFill>
              <a:srgbClr val="1B232E"/>
            </a:solidFill>
            <a:prstDash val="solid"/>
          </a:ln>
        </p:spPr>
      </p:sp>
      <p:sp>
        <p:nvSpPr>
          <p:cNvPr id="19" name="Shape 16"/>
          <p:cNvSpPr/>
          <p:nvPr/>
        </p:nvSpPr>
        <p:spPr>
          <a:xfrm>
            <a:off x="11265408" y="2788920"/>
            <a:ext cx="256032" cy="256032"/>
          </a:xfrm>
          <a:prstGeom prst="rect">
            <a:avLst/>
          </a:prstGeom>
          <a:solidFill>
            <a:srgbClr val="1B232E"/>
          </a:solidFill>
          <a:ln w="12700">
            <a:solidFill>
              <a:srgbClr val="1B232E"/>
            </a:solidFill>
            <a:prstDash val="solid"/>
          </a:ln>
        </p:spPr>
      </p:sp>
      <p:sp>
        <p:nvSpPr>
          <p:cNvPr id="20" name="Shape 17"/>
          <p:cNvSpPr/>
          <p:nvPr/>
        </p:nvSpPr>
        <p:spPr>
          <a:xfrm>
            <a:off x="10264140" y="3383280"/>
            <a:ext cx="914" cy="365760"/>
          </a:xfrm>
          <a:prstGeom prst="line">
            <a:avLst/>
          </a:prstGeom>
          <a:noFill/>
          <a:ln w="19050">
            <a:solidFill>
              <a:srgbClr val="2563EB"/>
            </a:solidFill>
            <a:prstDash val="solid"/>
            <a:headEnd type="triangle"/>
            <a:tailEnd type="triangle"/>
          </a:ln>
        </p:spPr>
      </p:sp>
      <p:sp>
        <p:nvSpPr>
          <p:cNvPr id="21" name="Shape 18"/>
          <p:cNvSpPr/>
          <p:nvPr/>
        </p:nvSpPr>
        <p:spPr>
          <a:xfrm>
            <a:off x="8778240" y="3794760"/>
            <a:ext cx="2971800" cy="1508760"/>
          </a:xfrm>
          <a:prstGeom prst="roundRect">
            <a:avLst>
              <a:gd name="adj" fmla="val 3636"/>
            </a:avLst>
          </a:prstGeom>
          <a:solidFill>
            <a:srgbClr val="F4F5F7"/>
          </a:solidFill>
          <a:ln w="12700">
            <a:solidFill>
              <a:srgbClr val="F4F5F7"/>
            </a:solidFill>
            <a:prstDash val="solid"/>
          </a:ln>
        </p:spPr>
      </p:sp>
      <p:sp>
        <p:nvSpPr>
          <p:cNvPr id="22" name="Text 19"/>
          <p:cNvSpPr/>
          <p:nvPr/>
        </p:nvSpPr>
        <p:spPr>
          <a:xfrm>
            <a:off x="8961120" y="3840480"/>
            <a:ext cx="2606040" cy="91440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Across nodes</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PD split (KV over RDMA)</a:t>
            </a:r>
            <a:endParaRPr lang="en-US" sz="1400" dirty="0"/>
          </a:p>
          <a:p>
            <a:pPr indent="0" marL="0">
              <a:buNone/>
            </a:pPr>
            <a:r>
              <a:rPr lang="en-US" sz="1400" dirty="0">
                <a:solidFill>
                  <a:srgbClr val="4A505A"/>
                </a:solidFill>
                <a:latin typeface="Inter" pitchFamily="34" charset="0"/>
                <a:ea typeface="Inter" pitchFamily="34" charset="-122"/>
                <a:cs typeface="Inter" pitchFamily="34" charset="-120"/>
              </a:rPr>
              <a:t>or PP2 / EP16</a:t>
            </a:r>
            <a:endParaRPr lang="en-US" sz="1400" dirty="0"/>
          </a:p>
        </p:txBody>
      </p:sp>
      <p:sp>
        <p:nvSpPr>
          <p:cNvPr id="23" name="Shape 20"/>
          <p:cNvSpPr/>
          <p:nvPr/>
        </p:nvSpPr>
        <p:spPr>
          <a:xfrm>
            <a:off x="8961120" y="4846320"/>
            <a:ext cx="118872" cy="256032"/>
          </a:xfrm>
          <a:prstGeom prst="rect">
            <a:avLst/>
          </a:prstGeom>
          <a:solidFill>
            <a:srgbClr val="1B232E"/>
          </a:solidFill>
          <a:ln w="12700">
            <a:solidFill>
              <a:srgbClr val="1B232E"/>
            </a:solidFill>
            <a:prstDash val="solid"/>
          </a:ln>
        </p:spPr>
      </p:sp>
      <p:sp>
        <p:nvSpPr>
          <p:cNvPr id="24" name="Shape 21"/>
          <p:cNvSpPr/>
          <p:nvPr/>
        </p:nvSpPr>
        <p:spPr>
          <a:xfrm>
            <a:off x="9125712" y="4846320"/>
            <a:ext cx="118872" cy="256032"/>
          </a:xfrm>
          <a:prstGeom prst="rect">
            <a:avLst/>
          </a:prstGeom>
          <a:solidFill>
            <a:srgbClr val="1B232E"/>
          </a:solidFill>
          <a:ln w="12700">
            <a:solidFill>
              <a:srgbClr val="1B232E"/>
            </a:solidFill>
            <a:prstDash val="solid"/>
          </a:ln>
        </p:spPr>
      </p:sp>
      <p:sp>
        <p:nvSpPr>
          <p:cNvPr id="25" name="Shape 22"/>
          <p:cNvSpPr/>
          <p:nvPr/>
        </p:nvSpPr>
        <p:spPr>
          <a:xfrm>
            <a:off x="9290304" y="4846320"/>
            <a:ext cx="118872" cy="256032"/>
          </a:xfrm>
          <a:prstGeom prst="rect">
            <a:avLst/>
          </a:prstGeom>
          <a:solidFill>
            <a:srgbClr val="1B232E"/>
          </a:solidFill>
          <a:ln w="12700">
            <a:solidFill>
              <a:srgbClr val="1B232E"/>
            </a:solidFill>
            <a:prstDash val="solid"/>
          </a:ln>
        </p:spPr>
      </p:sp>
      <p:sp>
        <p:nvSpPr>
          <p:cNvPr id="26" name="Shape 23"/>
          <p:cNvSpPr/>
          <p:nvPr/>
        </p:nvSpPr>
        <p:spPr>
          <a:xfrm>
            <a:off x="9454896" y="4846320"/>
            <a:ext cx="118872" cy="256032"/>
          </a:xfrm>
          <a:prstGeom prst="rect">
            <a:avLst/>
          </a:prstGeom>
          <a:solidFill>
            <a:srgbClr val="1B232E"/>
          </a:solidFill>
          <a:ln w="12700">
            <a:solidFill>
              <a:srgbClr val="1B232E"/>
            </a:solidFill>
            <a:prstDash val="solid"/>
          </a:ln>
        </p:spPr>
      </p:sp>
      <p:sp>
        <p:nvSpPr>
          <p:cNvPr id="27" name="Shape 24"/>
          <p:cNvSpPr/>
          <p:nvPr/>
        </p:nvSpPr>
        <p:spPr>
          <a:xfrm>
            <a:off x="9619488" y="4846320"/>
            <a:ext cx="118872" cy="256032"/>
          </a:xfrm>
          <a:prstGeom prst="rect">
            <a:avLst/>
          </a:prstGeom>
          <a:solidFill>
            <a:srgbClr val="1B232E"/>
          </a:solidFill>
          <a:ln w="12700">
            <a:solidFill>
              <a:srgbClr val="1B232E"/>
            </a:solidFill>
            <a:prstDash val="solid"/>
          </a:ln>
        </p:spPr>
      </p:sp>
      <p:sp>
        <p:nvSpPr>
          <p:cNvPr id="28" name="Shape 25"/>
          <p:cNvSpPr/>
          <p:nvPr/>
        </p:nvSpPr>
        <p:spPr>
          <a:xfrm>
            <a:off x="9784080" y="4846320"/>
            <a:ext cx="118872" cy="256032"/>
          </a:xfrm>
          <a:prstGeom prst="rect">
            <a:avLst/>
          </a:prstGeom>
          <a:solidFill>
            <a:srgbClr val="1B232E"/>
          </a:solidFill>
          <a:ln w="12700">
            <a:solidFill>
              <a:srgbClr val="1B232E"/>
            </a:solidFill>
            <a:prstDash val="solid"/>
          </a:ln>
        </p:spPr>
      </p:sp>
      <p:sp>
        <p:nvSpPr>
          <p:cNvPr id="29" name="Shape 26"/>
          <p:cNvSpPr/>
          <p:nvPr/>
        </p:nvSpPr>
        <p:spPr>
          <a:xfrm>
            <a:off x="9948672" y="4846320"/>
            <a:ext cx="118872" cy="256032"/>
          </a:xfrm>
          <a:prstGeom prst="rect">
            <a:avLst/>
          </a:prstGeom>
          <a:solidFill>
            <a:srgbClr val="1B232E"/>
          </a:solidFill>
          <a:ln w="12700">
            <a:solidFill>
              <a:srgbClr val="1B232E"/>
            </a:solidFill>
            <a:prstDash val="solid"/>
          </a:ln>
        </p:spPr>
      </p:sp>
      <p:sp>
        <p:nvSpPr>
          <p:cNvPr id="30" name="Shape 27"/>
          <p:cNvSpPr/>
          <p:nvPr/>
        </p:nvSpPr>
        <p:spPr>
          <a:xfrm>
            <a:off x="10113264" y="4846320"/>
            <a:ext cx="118872" cy="256032"/>
          </a:xfrm>
          <a:prstGeom prst="rect">
            <a:avLst/>
          </a:prstGeom>
          <a:solidFill>
            <a:srgbClr val="1B232E"/>
          </a:solidFill>
          <a:ln w="12700">
            <a:solidFill>
              <a:srgbClr val="1B232E"/>
            </a:solidFill>
            <a:prstDash val="solid"/>
          </a:ln>
        </p:spPr>
      </p:sp>
      <p:sp>
        <p:nvSpPr>
          <p:cNvPr id="31" name="Shape 28"/>
          <p:cNvSpPr/>
          <p:nvPr/>
        </p:nvSpPr>
        <p:spPr>
          <a:xfrm>
            <a:off x="10332720" y="4846320"/>
            <a:ext cx="118872" cy="256032"/>
          </a:xfrm>
          <a:prstGeom prst="rect">
            <a:avLst/>
          </a:prstGeom>
          <a:solidFill>
            <a:srgbClr val="44546A"/>
          </a:solidFill>
          <a:ln w="12700">
            <a:solidFill>
              <a:srgbClr val="44546A"/>
            </a:solidFill>
            <a:prstDash val="solid"/>
          </a:ln>
        </p:spPr>
      </p:sp>
      <p:sp>
        <p:nvSpPr>
          <p:cNvPr id="32" name="Shape 29"/>
          <p:cNvSpPr/>
          <p:nvPr/>
        </p:nvSpPr>
        <p:spPr>
          <a:xfrm>
            <a:off x="10497312" y="4846320"/>
            <a:ext cx="118872" cy="256032"/>
          </a:xfrm>
          <a:prstGeom prst="rect">
            <a:avLst/>
          </a:prstGeom>
          <a:solidFill>
            <a:srgbClr val="44546A"/>
          </a:solidFill>
          <a:ln w="12700">
            <a:solidFill>
              <a:srgbClr val="44546A"/>
            </a:solidFill>
            <a:prstDash val="solid"/>
          </a:ln>
        </p:spPr>
      </p:sp>
      <p:sp>
        <p:nvSpPr>
          <p:cNvPr id="33" name="Shape 30"/>
          <p:cNvSpPr/>
          <p:nvPr/>
        </p:nvSpPr>
        <p:spPr>
          <a:xfrm>
            <a:off x="10661904" y="4846320"/>
            <a:ext cx="118872" cy="256032"/>
          </a:xfrm>
          <a:prstGeom prst="rect">
            <a:avLst/>
          </a:prstGeom>
          <a:solidFill>
            <a:srgbClr val="44546A"/>
          </a:solidFill>
          <a:ln w="12700">
            <a:solidFill>
              <a:srgbClr val="44546A"/>
            </a:solidFill>
            <a:prstDash val="solid"/>
          </a:ln>
        </p:spPr>
      </p:sp>
      <p:sp>
        <p:nvSpPr>
          <p:cNvPr id="34" name="Shape 31"/>
          <p:cNvSpPr/>
          <p:nvPr/>
        </p:nvSpPr>
        <p:spPr>
          <a:xfrm>
            <a:off x="10826496" y="4846320"/>
            <a:ext cx="118872" cy="256032"/>
          </a:xfrm>
          <a:prstGeom prst="rect">
            <a:avLst/>
          </a:prstGeom>
          <a:solidFill>
            <a:srgbClr val="44546A"/>
          </a:solidFill>
          <a:ln w="12700">
            <a:solidFill>
              <a:srgbClr val="44546A"/>
            </a:solidFill>
            <a:prstDash val="solid"/>
          </a:ln>
        </p:spPr>
      </p:sp>
      <p:sp>
        <p:nvSpPr>
          <p:cNvPr id="35" name="Shape 32"/>
          <p:cNvSpPr/>
          <p:nvPr/>
        </p:nvSpPr>
        <p:spPr>
          <a:xfrm>
            <a:off x="10991088" y="4846320"/>
            <a:ext cx="118872" cy="256032"/>
          </a:xfrm>
          <a:prstGeom prst="rect">
            <a:avLst/>
          </a:prstGeom>
          <a:solidFill>
            <a:srgbClr val="44546A"/>
          </a:solidFill>
          <a:ln w="12700">
            <a:solidFill>
              <a:srgbClr val="44546A"/>
            </a:solidFill>
            <a:prstDash val="solid"/>
          </a:ln>
        </p:spPr>
      </p:sp>
      <p:sp>
        <p:nvSpPr>
          <p:cNvPr id="36" name="Shape 33"/>
          <p:cNvSpPr/>
          <p:nvPr/>
        </p:nvSpPr>
        <p:spPr>
          <a:xfrm>
            <a:off x="11155680" y="4846320"/>
            <a:ext cx="118872" cy="256032"/>
          </a:xfrm>
          <a:prstGeom prst="rect">
            <a:avLst/>
          </a:prstGeom>
          <a:solidFill>
            <a:srgbClr val="44546A"/>
          </a:solidFill>
          <a:ln w="12700">
            <a:solidFill>
              <a:srgbClr val="44546A"/>
            </a:solidFill>
            <a:prstDash val="solid"/>
          </a:ln>
        </p:spPr>
      </p:sp>
      <p:sp>
        <p:nvSpPr>
          <p:cNvPr id="37" name="Shape 34"/>
          <p:cNvSpPr/>
          <p:nvPr/>
        </p:nvSpPr>
        <p:spPr>
          <a:xfrm>
            <a:off x="11320272" y="4846320"/>
            <a:ext cx="118872" cy="256032"/>
          </a:xfrm>
          <a:prstGeom prst="rect">
            <a:avLst/>
          </a:prstGeom>
          <a:solidFill>
            <a:srgbClr val="44546A"/>
          </a:solidFill>
          <a:ln w="12700">
            <a:solidFill>
              <a:srgbClr val="44546A"/>
            </a:solidFill>
            <a:prstDash val="solid"/>
          </a:ln>
        </p:spPr>
      </p:sp>
      <p:sp>
        <p:nvSpPr>
          <p:cNvPr id="38" name="Shape 35"/>
          <p:cNvSpPr/>
          <p:nvPr/>
        </p:nvSpPr>
        <p:spPr>
          <a:xfrm>
            <a:off x="11484864" y="4846320"/>
            <a:ext cx="118872" cy="256032"/>
          </a:xfrm>
          <a:prstGeom prst="rect">
            <a:avLst/>
          </a:prstGeom>
          <a:solidFill>
            <a:srgbClr val="44546A"/>
          </a:solidFill>
          <a:ln w="12700">
            <a:solidFill>
              <a:srgbClr val="44546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TARGET ARCHITECTURE</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Serve agents on vLLM's AgentX-tuned stack: sticky sessions, a shared KV pool, capped prefills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4</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457200" y="1600200"/>
            <a:ext cx="2011680" cy="1097280"/>
          </a:xfrm>
          <a:prstGeom prst="roundRect">
            <a:avLst>
              <a:gd name="adj" fmla="val 5000"/>
            </a:avLst>
          </a:prstGeom>
          <a:solidFill>
            <a:srgbClr val="FFFFFF"/>
          </a:solidFill>
          <a:ln w="19050">
            <a:solidFill>
              <a:srgbClr val="1B232E"/>
            </a:solidFill>
            <a:prstDash val="solid"/>
          </a:ln>
        </p:spPr>
      </p:sp>
      <p:sp>
        <p:nvSpPr>
          <p:cNvPr id="8" name="Text 6"/>
          <p:cNvSpPr/>
          <p:nvPr/>
        </p:nvSpPr>
        <p:spPr>
          <a:xfrm>
            <a:off x="530352" y="1636776"/>
            <a:ext cx="1865376" cy="10241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Agent orchestrator</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LangGraph / custom</a:t>
            </a:r>
            <a:endParaRPr lang="en-US" sz="1400" dirty="0"/>
          </a:p>
        </p:txBody>
      </p:sp>
      <p:sp>
        <p:nvSpPr>
          <p:cNvPr id="9" name="Shape 7"/>
          <p:cNvSpPr/>
          <p:nvPr/>
        </p:nvSpPr>
        <p:spPr>
          <a:xfrm>
            <a:off x="457200" y="3291840"/>
            <a:ext cx="2011680" cy="777240"/>
          </a:xfrm>
          <a:prstGeom prst="roundRect">
            <a:avLst>
              <a:gd name="adj" fmla="val 7059"/>
            </a:avLst>
          </a:prstGeom>
          <a:solidFill>
            <a:srgbClr val="F4F5F7"/>
          </a:solidFill>
          <a:ln w="12700">
            <a:solidFill>
              <a:srgbClr val="D9DCE1"/>
            </a:solidFill>
            <a:prstDash val="solid"/>
          </a:ln>
        </p:spPr>
      </p:sp>
      <p:sp>
        <p:nvSpPr>
          <p:cNvPr id="10" name="Text 8"/>
          <p:cNvSpPr/>
          <p:nvPr/>
        </p:nvSpPr>
        <p:spPr>
          <a:xfrm>
            <a:off x="530352" y="3328416"/>
            <a:ext cx="1865376" cy="70408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Tool sandbox</a:t>
            </a:r>
            <a:endParaRPr lang="en-US" sz="1400" dirty="0"/>
          </a:p>
        </p:txBody>
      </p:sp>
      <p:sp>
        <p:nvSpPr>
          <p:cNvPr id="11" name="Shape 9"/>
          <p:cNvSpPr/>
          <p:nvPr/>
        </p:nvSpPr>
        <p:spPr>
          <a:xfrm>
            <a:off x="457200" y="4343400"/>
            <a:ext cx="2011680" cy="777240"/>
          </a:xfrm>
          <a:prstGeom prst="roundRect">
            <a:avLst>
              <a:gd name="adj" fmla="val 7059"/>
            </a:avLst>
          </a:prstGeom>
          <a:solidFill>
            <a:srgbClr val="F4F5F7"/>
          </a:solidFill>
          <a:ln w="12700">
            <a:solidFill>
              <a:srgbClr val="D9DCE1"/>
            </a:solidFill>
            <a:prstDash val="solid"/>
          </a:ln>
        </p:spPr>
      </p:sp>
      <p:sp>
        <p:nvSpPr>
          <p:cNvPr id="12" name="Text 10"/>
          <p:cNvSpPr/>
          <p:nvPr/>
        </p:nvSpPr>
        <p:spPr>
          <a:xfrm>
            <a:off x="530352" y="4379976"/>
            <a:ext cx="1865376" cy="70408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Memory store</a:t>
            </a:r>
            <a:endParaRPr lang="en-US" sz="1400" dirty="0"/>
          </a:p>
        </p:txBody>
      </p:sp>
      <p:sp>
        <p:nvSpPr>
          <p:cNvPr id="13" name="Shape 11"/>
          <p:cNvSpPr/>
          <p:nvPr/>
        </p:nvSpPr>
        <p:spPr>
          <a:xfrm>
            <a:off x="1463040" y="2697480"/>
            <a:ext cx="914" cy="594360"/>
          </a:xfrm>
          <a:prstGeom prst="line">
            <a:avLst/>
          </a:prstGeom>
          <a:noFill/>
          <a:ln w="19050">
            <a:solidFill>
              <a:srgbClr val="44546A"/>
            </a:solidFill>
            <a:prstDash val="solid"/>
            <a:headEnd type="triangle"/>
            <a:tailEnd type="triangle"/>
          </a:ln>
        </p:spPr>
      </p:sp>
      <p:sp>
        <p:nvSpPr>
          <p:cNvPr id="14" name="Shape 12"/>
          <p:cNvSpPr/>
          <p:nvPr/>
        </p:nvSpPr>
        <p:spPr>
          <a:xfrm>
            <a:off x="320040" y="2148840"/>
            <a:ext cx="0" cy="2578608"/>
          </a:xfrm>
          <a:prstGeom prst="line">
            <a:avLst/>
          </a:prstGeom>
          <a:noFill/>
          <a:ln w="19050">
            <a:solidFill>
              <a:srgbClr val="44546A"/>
            </a:solidFill>
            <a:prstDash val="solid"/>
          </a:ln>
        </p:spPr>
      </p:sp>
      <p:sp>
        <p:nvSpPr>
          <p:cNvPr id="15" name="Shape 13"/>
          <p:cNvSpPr/>
          <p:nvPr/>
        </p:nvSpPr>
        <p:spPr>
          <a:xfrm>
            <a:off x="320040" y="2148840"/>
            <a:ext cx="137160" cy="0"/>
          </a:xfrm>
          <a:prstGeom prst="line">
            <a:avLst/>
          </a:prstGeom>
          <a:noFill/>
          <a:ln w="19050">
            <a:solidFill>
              <a:srgbClr val="44546A"/>
            </a:solidFill>
            <a:prstDash val="solid"/>
          </a:ln>
        </p:spPr>
      </p:sp>
      <p:sp>
        <p:nvSpPr>
          <p:cNvPr id="16" name="Shape 14"/>
          <p:cNvSpPr/>
          <p:nvPr/>
        </p:nvSpPr>
        <p:spPr>
          <a:xfrm>
            <a:off x="320040" y="4727448"/>
            <a:ext cx="137160" cy="914"/>
          </a:xfrm>
          <a:prstGeom prst="line">
            <a:avLst/>
          </a:prstGeom>
          <a:noFill/>
          <a:ln w="19050">
            <a:solidFill>
              <a:srgbClr val="44546A"/>
            </a:solidFill>
            <a:prstDash val="solid"/>
            <a:tailEnd type="triangle"/>
          </a:ln>
        </p:spPr>
      </p:sp>
      <p:sp>
        <p:nvSpPr>
          <p:cNvPr id="17" name="Shape 15"/>
          <p:cNvSpPr/>
          <p:nvPr/>
        </p:nvSpPr>
        <p:spPr>
          <a:xfrm>
            <a:off x="2880360" y="1600200"/>
            <a:ext cx="1828800" cy="3520440"/>
          </a:xfrm>
          <a:prstGeom prst="roundRect">
            <a:avLst>
              <a:gd name="adj" fmla="val 3000"/>
            </a:avLst>
          </a:prstGeom>
          <a:solidFill>
            <a:srgbClr val="1B232E"/>
          </a:solidFill>
          <a:ln w="12700">
            <a:solidFill>
              <a:srgbClr val="1B232E"/>
            </a:solidFill>
            <a:prstDash val="solid"/>
          </a:ln>
        </p:spPr>
      </p:sp>
      <p:sp>
        <p:nvSpPr>
          <p:cNvPr id="18" name="Text 16"/>
          <p:cNvSpPr/>
          <p:nvPr/>
        </p:nvSpPr>
        <p:spPr>
          <a:xfrm>
            <a:off x="2926080" y="1691640"/>
            <a:ext cx="1737360" cy="1600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Gateway</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auth · RPM/TPM</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admission queue</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retries · breakers</a:t>
            </a:r>
            <a:endParaRPr lang="en-US" sz="1400" dirty="0"/>
          </a:p>
        </p:txBody>
      </p:sp>
      <p:sp>
        <p:nvSpPr>
          <p:cNvPr id="19" name="Shape 17"/>
          <p:cNvSpPr/>
          <p:nvPr/>
        </p:nvSpPr>
        <p:spPr>
          <a:xfrm>
            <a:off x="3017520" y="3429000"/>
            <a:ext cx="1554480" cy="1508760"/>
          </a:xfrm>
          <a:prstGeom prst="roundRect">
            <a:avLst>
              <a:gd name="adj" fmla="val 3636"/>
            </a:avLst>
          </a:prstGeom>
          <a:solidFill>
            <a:srgbClr val="2563EB"/>
          </a:solidFill>
          <a:ln w="12700">
            <a:solidFill>
              <a:srgbClr val="2563EB"/>
            </a:solidFill>
            <a:prstDash val="solid"/>
          </a:ln>
        </p:spPr>
      </p:sp>
      <p:sp>
        <p:nvSpPr>
          <p:cNvPr id="20" name="Text 18"/>
          <p:cNvSpPr/>
          <p:nvPr/>
        </p:nvSpPr>
        <p:spPr>
          <a:xfrm>
            <a:off x="3090672" y="3465576"/>
            <a:ext cx="1408176" cy="143560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Session-sticky router</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llm-d / Dynamo</a:t>
            </a:r>
            <a:endParaRPr lang="en-US" sz="1400" dirty="0"/>
          </a:p>
        </p:txBody>
      </p:sp>
      <p:sp>
        <p:nvSpPr>
          <p:cNvPr id="21" name="Shape 19"/>
          <p:cNvSpPr/>
          <p:nvPr/>
        </p:nvSpPr>
        <p:spPr>
          <a:xfrm>
            <a:off x="2468880" y="2148840"/>
            <a:ext cx="411480" cy="914"/>
          </a:xfrm>
          <a:prstGeom prst="line">
            <a:avLst/>
          </a:prstGeom>
          <a:noFill/>
          <a:ln w="19050">
            <a:solidFill>
              <a:srgbClr val="44546A"/>
            </a:solidFill>
            <a:prstDash val="solid"/>
            <a:headEnd type="triangle"/>
            <a:tailEnd type="triangle"/>
          </a:ln>
        </p:spPr>
      </p:sp>
      <p:sp>
        <p:nvSpPr>
          <p:cNvPr id="22" name="Shape 20"/>
          <p:cNvSpPr/>
          <p:nvPr/>
        </p:nvSpPr>
        <p:spPr>
          <a:xfrm>
            <a:off x="5120640" y="1463040"/>
            <a:ext cx="4434840" cy="2423160"/>
          </a:xfrm>
          <a:prstGeom prst="rect">
            <a:avLst>
              <a:gd name="adj" fmla="val 2264"/>
            </a:avLst>
          </a:prstGeom>
          <a:solidFill>
            <a:srgbClr val="E3E8EF"/>
          </a:solidFill>
          <a:ln w="12700">
            <a:solidFill>
              <a:srgbClr val="E3E8EF"/>
            </a:solidFill>
            <a:prstDash val="solid"/>
          </a:ln>
        </p:spPr>
      </p:sp>
      <p:sp>
        <p:nvSpPr>
          <p:cNvPr id="23" name="Text 21"/>
          <p:cNvSpPr/>
          <p:nvPr/>
        </p:nvSpPr>
        <p:spPr>
          <a:xfrm>
            <a:off x="5257800" y="1517904"/>
            <a:ext cx="4206240" cy="36576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Large-model pool · vLLM (AgentX-tuned)</a:t>
            </a:r>
            <a:endParaRPr lang="en-US" sz="1400" dirty="0"/>
          </a:p>
        </p:txBody>
      </p:sp>
      <p:sp>
        <p:nvSpPr>
          <p:cNvPr id="24" name="Shape 22"/>
          <p:cNvSpPr/>
          <p:nvPr/>
        </p:nvSpPr>
        <p:spPr>
          <a:xfrm>
            <a:off x="5303520" y="1938528"/>
            <a:ext cx="4069080" cy="548640"/>
          </a:xfrm>
          <a:prstGeom prst="roundRect">
            <a:avLst>
              <a:gd name="adj" fmla="val 10000"/>
            </a:avLst>
          </a:prstGeom>
          <a:solidFill>
            <a:srgbClr val="DBE7FD"/>
          </a:solidFill>
          <a:ln w="15875">
            <a:solidFill>
              <a:srgbClr val="2563EB"/>
            </a:solidFill>
            <a:prstDash val="solid"/>
          </a:ln>
        </p:spPr>
      </p:sp>
      <p:sp>
        <p:nvSpPr>
          <p:cNvPr id="25" name="Text 23"/>
          <p:cNvSpPr/>
          <p:nvPr/>
        </p:nvSpPr>
        <p:spPr>
          <a:xfrm>
            <a:off x="5376672" y="1975104"/>
            <a:ext cx="3922776" cy="47548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API server  </a:t>
            </a:r>
            <a:r>
              <a:rPr lang="en-US" sz="1400" dirty="0">
                <a:solidFill>
                  <a:srgbClr val="1B232E"/>
                </a:solidFill>
                <a:latin typeface="Inter" pitchFamily="34" charset="0"/>
                <a:ea typeface="Inter" pitchFamily="34" charset="-122"/>
                <a:cs typeface="Inter" pitchFamily="34" charset="-120"/>
              </a:rPr>
              <a:t>tool + reasoning parsers</a:t>
            </a:r>
            <a:endParaRPr lang="en-US" sz="1400" dirty="0"/>
          </a:p>
        </p:txBody>
      </p:sp>
      <p:sp>
        <p:nvSpPr>
          <p:cNvPr id="26" name="Shape 24"/>
          <p:cNvSpPr/>
          <p:nvPr/>
        </p:nvSpPr>
        <p:spPr>
          <a:xfrm>
            <a:off x="5303520" y="2651760"/>
            <a:ext cx="1874520" cy="1097280"/>
          </a:xfrm>
          <a:prstGeom prst="roundRect">
            <a:avLst>
              <a:gd name="adj" fmla="val 5000"/>
            </a:avLst>
          </a:prstGeom>
          <a:solidFill>
            <a:srgbClr val="FFFFFF"/>
          </a:solidFill>
          <a:ln w="12700">
            <a:solidFill>
              <a:srgbClr val="1B232E"/>
            </a:solidFill>
            <a:prstDash val="solid"/>
          </a:ln>
        </p:spPr>
      </p:sp>
      <p:sp>
        <p:nvSpPr>
          <p:cNvPr id="27" name="Text 25"/>
          <p:cNvSpPr/>
          <p:nvPr/>
        </p:nvSpPr>
        <p:spPr>
          <a:xfrm>
            <a:off x="5376672" y="2688336"/>
            <a:ext cx="1728216" cy="10241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Prefill</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prefill cap · PCP</a:t>
            </a:r>
            <a:endParaRPr lang="en-US" sz="1400" dirty="0"/>
          </a:p>
        </p:txBody>
      </p:sp>
      <p:sp>
        <p:nvSpPr>
          <p:cNvPr id="28" name="Shape 26"/>
          <p:cNvSpPr/>
          <p:nvPr/>
        </p:nvSpPr>
        <p:spPr>
          <a:xfrm>
            <a:off x="7498080" y="2651760"/>
            <a:ext cx="1874520" cy="1097280"/>
          </a:xfrm>
          <a:prstGeom prst="roundRect">
            <a:avLst>
              <a:gd name="adj" fmla="val 5000"/>
            </a:avLst>
          </a:prstGeom>
          <a:solidFill>
            <a:srgbClr val="FFFFFF"/>
          </a:solidFill>
          <a:ln w="12700">
            <a:solidFill>
              <a:srgbClr val="1B232E"/>
            </a:solidFill>
            <a:prstDash val="solid"/>
          </a:ln>
        </p:spPr>
      </p:sp>
      <p:sp>
        <p:nvSpPr>
          <p:cNvPr id="29" name="Text 27"/>
          <p:cNvSpPr/>
          <p:nvPr/>
        </p:nvSpPr>
        <p:spPr>
          <a:xfrm>
            <a:off x="7571232" y="2688336"/>
            <a:ext cx="1728216" cy="10241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Decode</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DEP · spec decode</a:t>
            </a:r>
            <a:endParaRPr lang="en-US" sz="1400" dirty="0"/>
          </a:p>
        </p:txBody>
      </p:sp>
      <p:sp>
        <p:nvSpPr>
          <p:cNvPr id="30" name="Shape 28"/>
          <p:cNvSpPr/>
          <p:nvPr/>
        </p:nvSpPr>
        <p:spPr>
          <a:xfrm>
            <a:off x="7178040" y="3200400"/>
            <a:ext cx="320040" cy="914"/>
          </a:xfrm>
          <a:prstGeom prst="line">
            <a:avLst/>
          </a:prstGeom>
          <a:noFill/>
          <a:ln w="25400">
            <a:solidFill>
              <a:srgbClr val="2563EB"/>
            </a:solidFill>
            <a:prstDash val="solid"/>
            <a:tailEnd type="triangle"/>
          </a:ln>
        </p:spPr>
      </p:sp>
      <p:sp>
        <p:nvSpPr>
          <p:cNvPr id="31" name="Shape 29"/>
          <p:cNvSpPr/>
          <p:nvPr/>
        </p:nvSpPr>
        <p:spPr>
          <a:xfrm>
            <a:off x="5120640" y="4114800"/>
            <a:ext cx="4434840" cy="1005840"/>
          </a:xfrm>
          <a:prstGeom prst="rect">
            <a:avLst>
              <a:gd name="adj" fmla="val 5455"/>
            </a:avLst>
          </a:prstGeom>
          <a:solidFill>
            <a:srgbClr val="F4F5F7"/>
          </a:solidFill>
          <a:ln w="12700">
            <a:solidFill>
              <a:srgbClr val="F4F5F7"/>
            </a:solidFill>
            <a:prstDash val="solid"/>
          </a:ln>
        </p:spPr>
      </p:sp>
      <p:sp>
        <p:nvSpPr>
          <p:cNvPr id="32" name="Text 30"/>
          <p:cNvSpPr/>
          <p:nvPr/>
        </p:nvSpPr>
        <p:spPr>
          <a:xfrm>
            <a:off x="5257800" y="4160520"/>
            <a:ext cx="274320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Small-model pool</a:t>
            </a:r>
            <a:endParaRPr lang="en-US" sz="1400" dirty="0"/>
          </a:p>
        </p:txBody>
      </p:sp>
      <p:sp>
        <p:nvSpPr>
          <p:cNvPr id="33" name="Shape 31"/>
          <p:cNvSpPr/>
          <p:nvPr/>
        </p:nvSpPr>
        <p:spPr>
          <a:xfrm>
            <a:off x="5257800" y="4526280"/>
            <a:ext cx="1325880" cy="457200"/>
          </a:xfrm>
          <a:prstGeom prst="roundRect">
            <a:avLst>
              <a:gd name="adj" fmla="val 12000"/>
            </a:avLst>
          </a:prstGeom>
          <a:solidFill>
            <a:srgbClr val="FFFFFF"/>
          </a:solidFill>
          <a:ln w="12700">
            <a:solidFill>
              <a:srgbClr val="D9DCE1"/>
            </a:solidFill>
            <a:prstDash val="solid"/>
          </a:ln>
        </p:spPr>
      </p:sp>
      <p:sp>
        <p:nvSpPr>
          <p:cNvPr id="34" name="Text 32"/>
          <p:cNvSpPr/>
          <p:nvPr/>
        </p:nvSpPr>
        <p:spPr>
          <a:xfrm>
            <a:off x="5330952" y="4562856"/>
            <a:ext cx="1179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Intent</a:t>
            </a:r>
            <a:endParaRPr lang="en-US" sz="1400" dirty="0"/>
          </a:p>
        </p:txBody>
      </p:sp>
      <p:sp>
        <p:nvSpPr>
          <p:cNvPr id="35" name="Shape 33"/>
          <p:cNvSpPr/>
          <p:nvPr/>
        </p:nvSpPr>
        <p:spPr>
          <a:xfrm>
            <a:off x="6693408" y="4526280"/>
            <a:ext cx="1325880" cy="457200"/>
          </a:xfrm>
          <a:prstGeom prst="roundRect">
            <a:avLst>
              <a:gd name="adj" fmla="val 12000"/>
            </a:avLst>
          </a:prstGeom>
          <a:solidFill>
            <a:srgbClr val="FFFFFF"/>
          </a:solidFill>
          <a:ln w="12700">
            <a:solidFill>
              <a:srgbClr val="D9DCE1"/>
            </a:solidFill>
            <a:prstDash val="solid"/>
          </a:ln>
        </p:spPr>
      </p:sp>
      <p:sp>
        <p:nvSpPr>
          <p:cNvPr id="36" name="Text 34"/>
          <p:cNvSpPr/>
          <p:nvPr/>
        </p:nvSpPr>
        <p:spPr>
          <a:xfrm>
            <a:off x="6766560" y="4562856"/>
            <a:ext cx="1179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Guard / PII</a:t>
            </a:r>
            <a:endParaRPr lang="en-US" sz="1400" dirty="0"/>
          </a:p>
        </p:txBody>
      </p:sp>
      <p:sp>
        <p:nvSpPr>
          <p:cNvPr id="37" name="Shape 35"/>
          <p:cNvSpPr/>
          <p:nvPr/>
        </p:nvSpPr>
        <p:spPr>
          <a:xfrm>
            <a:off x="8129016" y="4526280"/>
            <a:ext cx="1325880" cy="457200"/>
          </a:xfrm>
          <a:prstGeom prst="roundRect">
            <a:avLst>
              <a:gd name="adj" fmla="val 12000"/>
            </a:avLst>
          </a:prstGeom>
          <a:solidFill>
            <a:srgbClr val="FFFFFF"/>
          </a:solidFill>
          <a:ln w="12700">
            <a:solidFill>
              <a:srgbClr val="D9DCE1"/>
            </a:solidFill>
            <a:prstDash val="solid"/>
          </a:ln>
        </p:spPr>
      </p:sp>
      <p:sp>
        <p:nvSpPr>
          <p:cNvPr id="38" name="Text 36"/>
          <p:cNvSpPr/>
          <p:nvPr/>
        </p:nvSpPr>
        <p:spPr>
          <a:xfrm>
            <a:off x="8202168" y="4562856"/>
            <a:ext cx="1179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Summary</a:t>
            </a:r>
            <a:endParaRPr lang="en-US" sz="1400" dirty="0"/>
          </a:p>
        </p:txBody>
      </p:sp>
      <p:sp>
        <p:nvSpPr>
          <p:cNvPr id="39" name="Shape 37"/>
          <p:cNvSpPr/>
          <p:nvPr/>
        </p:nvSpPr>
        <p:spPr>
          <a:xfrm>
            <a:off x="4709160" y="2651760"/>
            <a:ext cx="411480" cy="914"/>
          </a:xfrm>
          <a:prstGeom prst="line">
            <a:avLst/>
          </a:prstGeom>
          <a:noFill/>
          <a:ln w="25400">
            <a:solidFill>
              <a:srgbClr val="2563EB"/>
            </a:solidFill>
            <a:prstDash val="solid"/>
            <a:tailEnd type="triangle"/>
          </a:ln>
        </p:spPr>
      </p:sp>
      <p:sp>
        <p:nvSpPr>
          <p:cNvPr id="40" name="Shape 38"/>
          <p:cNvSpPr/>
          <p:nvPr/>
        </p:nvSpPr>
        <p:spPr>
          <a:xfrm>
            <a:off x="4709160" y="4617720"/>
            <a:ext cx="411480" cy="914"/>
          </a:xfrm>
          <a:prstGeom prst="line">
            <a:avLst/>
          </a:prstGeom>
          <a:noFill/>
          <a:ln w="25400">
            <a:solidFill>
              <a:srgbClr val="44546A"/>
            </a:solidFill>
            <a:prstDash val="solid"/>
            <a:tailEnd type="triangle"/>
          </a:ln>
        </p:spPr>
      </p:sp>
      <p:sp>
        <p:nvSpPr>
          <p:cNvPr id="41" name="Text 39"/>
          <p:cNvSpPr/>
          <p:nvPr/>
        </p:nvSpPr>
        <p:spPr>
          <a:xfrm>
            <a:off x="9966960" y="1463040"/>
            <a:ext cx="1783080" cy="36576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Shared KV pool</a:t>
            </a:r>
            <a:endParaRPr lang="en-US" sz="1400" dirty="0"/>
          </a:p>
        </p:txBody>
      </p:sp>
      <p:sp>
        <p:nvSpPr>
          <p:cNvPr id="42" name="Shape 40"/>
          <p:cNvSpPr/>
          <p:nvPr/>
        </p:nvSpPr>
        <p:spPr>
          <a:xfrm>
            <a:off x="9966960" y="1874520"/>
            <a:ext cx="1783080" cy="731520"/>
          </a:xfrm>
          <a:prstGeom prst="rect">
            <a:avLst>
              <a:gd name="adj" fmla="val 7500"/>
            </a:avLst>
          </a:prstGeom>
          <a:solidFill>
            <a:srgbClr val="1B232E"/>
          </a:solidFill>
          <a:ln w="12700">
            <a:solidFill>
              <a:srgbClr val="1B232E"/>
            </a:solidFill>
            <a:prstDash val="solid"/>
          </a:ln>
        </p:spPr>
      </p:sp>
      <p:sp>
        <p:nvSpPr>
          <p:cNvPr id="43" name="Text 41"/>
          <p:cNvSpPr/>
          <p:nvPr/>
        </p:nvSpPr>
        <p:spPr>
          <a:xfrm>
            <a:off x="10040112" y="1911096"/>
            <a:ext cx="1636776"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L1  </a:t>
            </a:r>
            <a:r>
              <a:rPr lang="en-US" sz="1400" dirty="0">
                <a:solidFill>
                  <a:srgbClr val="FFFFFF"/>
                </a:solidFill>
                <a:latin typeface="Inter" pitchFamily="34" charset="0"/>
                <a:ea typeface="Inter" pitchFamily="34" charset="-122"/>
                <a:cs typeface="Inter" pitchFamily="34" charset="-120"/>
              </a:rPr>
              <a:t>GPU HBM</a:t>
            </a:r>
            <a:endParaRPr lang="en-US" sz="1400" dirty="0"/>
          </a:p>
        </p:txBody>
      </p:sp>
      <p:sp>
        <p:nvSpPr>
          <p:cNvPr id="44" name="Shape 42"/>
          <p:cNvSpPr/>
          <p:nvPr/>
        </p:nvSpPr>
        <p:spPr>
          <a:xfrm>
            <a:off x="9966960" y="2743200"/>
            <a:ext cx="1783080" cy="731520"/>
          </a:xfrm>
          <a:prstGeom prst="rect">
            <a:avLst>
              <a:gd name="adj" fmla="val 7500"/>
            </a:avLst>
          </a:prstGeom>
          <a:solidFill>
            <a:srgbClr val="44546A"/>
          </a:solidFill>
          <a:ln w="12700">
            <a:solidFill>
              <a:srgbClr val="44546A"/>
            </a:solidFill>
            <a:prstDash val="solid"/>
          </a:ln>
        </p:spPr>
      </p:sp>
      <p:sp>
        <p:nvSpPr>
          <p:cNvPr id="45" name="Text 43"/>
          <p:cNvSpPr/>
          <p:nvPr/>
        </p:nvSpPr>
        <p:spPr>
          <a:xfrm>
            <a:off x="10040112" y="2779776"/>
            <a:ext cx="1636776"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L2  </a:t>
            </a:r>
            <a:r>
              <a:rPr lang="en-US" sz="1400" dirty="0">
                <a:solidFill>
                  <a:srgbClr val="FFFFFF"/>
                </a:solidFill>
                <a:latin typeface="Inter" pitchFamily="34" charset="0"/>
                <a:ea typeface="Inter" pitchFamily="34" charset="-122"/>
                <a:cs typeface="Inter" pitchFamily="34" charset="-120"/>
              </a:rPr>
              <a:t>CPU DRAM</a:t>
            </a:r>
            <a:endParaRPr lang="en-US" sz="1400" dirty="0"/>
          </a:p>
        </p:txBody>
      </p:sp>
      <p:sp>
        <p:nvSpPr>
          <p:cNvPr id="46" name="Shape 44"/>
          <p:cNvSpPr/>
          <p:nvPr/>
        </p:nvSpPr>
        <p:spPr>
          <a:xfrm>
            <a:off x="9966960" y="3611880"/>
            <a:ext cx="1783080" cy="731520"/>
          </a:xfrm>
          <a:prstGeom prst="rect">
            <a:avLst>
              <a:gd name="adj" fmla="val 7500"/>
            </a:avLst>
          </a:prstGeom>
          <a:solidFill>
            <a:srgbClr val="C8D2DF"/>
          </a:solidFill>
          <a:ln w="12700">
            <a:solidFill>
              <a:srgbClr val="C8D2DF"/>
            </a:solidFill>
            <a:prstDash val="solid"/>
          </a:ln>
        </p:spPr>
      </p:sp>
      <p:sp>
        <p:nvSpPr>
          <p:cNvPr id="47" name="Text 45"/>
          <p:cNvSpPr/>
          <p:nvPr/>
        </p:nvSpPr>
        <p:spPr>
          <a:xfrm>
            <a:off x="10040112" y="3648456"/>
            <a:ext cx="1636776" cy="6583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L3  </a:t>
            </a:r>
            <a:r>
              <a:rPr lang="en-US" sz="1400" dirty="0">
                <a:solidFill>
                  <a:srgbClr val="1B232E"/>
                </a:solidFill>
                <a:latin typeface="Inter" pitchFamily="34" charset="0"/>
                <a:ea typeface="Inter" pitchFamily="34" charset="-122"/>
                <a:cs typeface="Inter" pitchFamily="34" charset="-120"/>
              </a:rPr>
              <a:t>Disk</a:t>
            </a:r>
            <a:endParaRPr lang="en-US" sz="1400" dirty="0"/>
          </a:p>
        </p:txBody>
      </p:sp>
      <p:sp>
        <p:nvSpPr>
          <p:cNvPr id="48" name="Text 46"/>
          <p:cNvSpPr/>
          <p:nvPr/>
        </p:nvSpPr>
        <p:spPr>
          <a:xfrm>
            <a:off x="9966960" y="4526280"/>
            <a:ext cx="1783080" cy="594360"/>
          </a:xfrm>
          <a:prstGeom prst="rect">
            <a:avLst/>
          </a:prstGeom>
          <a:noFill/>
          <a:ln/>
        </p:spPr>
        <p:txBody>
          <a:bodyPr wrap="square" lIns="0" tIns="0" rIns="0" bIns="0" rtlCol="0" anchor="t"/>
          <a:lstStyle/>
          <a:p>
            <a:pPr indent="0" marL="0">
              <a:buNone/>
            </a:pPr>
            <a:r>
              <a:rPr lang="en-US" sz="1400" dirty="0">
                <a:solidFill>
                  <a:srgbClr val="7A808A"/>
                </a:solidFill>
                <a:latin typeface="Inter" pitchFamily="34" charset="0"/>
                <a:ea typeface="Inter" pitchFamily="34" charset="-122"/>
                <a:cs typeface="Inter" pitchFamily="34" charset="-120"/>
              </a:rPr>
              <a:t>Mooncake Store · hybrid KV manager</a:t>
            </a:r>
            <a:endParaRPr lang="en-US" sz="1400" dirty="0"/>
          </a:p>
        </p:txBody>
      </p:sp>
      <p:sp>
        <p:nvSpPr>
          <p:cNvPr id="49" name="Shape 47"/>
          <p:cNvSpPr/>
          <p:nvPr/>
        </p:nvSpPr>
        <p:spPr>
          <a:xfrm>
            <a:off x="9555480" y="2651760"/>
            <a:ext cx="411480" cy="914"/>
          </a:xfrm>
          <a:prstGeom prst="line">
            <a:avLst/>
          </a:prstGeom>
          <a:noFill/>
          <a:ln w="25400">
            <a:solidFill>
              <a:srgbClr val="2563EB"/>
            </a:solidFill>
            <a:prstDash val="solid"/>
            <a:headEnd type="triangle"/>
            <a:tailEnd type="triangle"/>
          </a:ln>
        </p:spPr>
      </p:sp>
      <p:sp>
        <p:nvSpPr>
          <p:cNvPr id="50" name="Shape 48"/>
          <p:cNvSpPr/>
          <p:nvPr/>
        </p:nvSpPr>
        <p:spPr>
          <a:xfrm>
            <a:off x="457200" y="5440680"/>
            <a:ext cx="11292840" cy="685800"/>
          </a:xfrm>
          <a:prstGeom prst="rect">
            <a:avLst>
              <a:gd name="adj" fmla="val 8000"/>
            </a:avLst>
          </a:prstGeom>
          <a:solidFill>
            <a:srgbClr val="44546A"/>
          </a:solidFill>
          <a:ln w="12700">
            <a:solidFill>
              <a:srgbClr val="44546A"/>
            </a:solidFill>
            <a:prstDash val="solid"/>
          </a:ln>
        </p:spPr>
      </p:sp>
      <p:sp>
        <p:nvSpPr>
          <p:cNvPr id="51" name="Text 49"/>
          <p:cNvSpPr/>
          <p:nvPr/>
        </p:nvSpPr>
        <p:spPr>
          <a:xfrm>
            <a:off x="530352" y="5477256"/>
            <a:ext cx="11146536" cy="6126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Observability  </a:t>
            </a:r>
            <a:r>
              <a:rPr lang="en-US" sz="1400" dirty="0">
                <a:solidFill>
                  <a:srgbClr val="C8D2DF"/>
                </a:solidFill>
                <a:latin typeface="Inter" pitchFamily="34" charset="0"/>
                <a:ea typeface="Inter" pitchFamily="34" charset="-122"/>
                <a:cs typeface="Inter" pitchFamily="34" charset="-120"/>
              </a:rPr>
              <a:t>per-step traces · TTFT · P90 interactivity · KV use · prefix hits · cost/task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VLLM × AGENTX</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Three planes keep each agent session on a warm cache and stop long prefills blocking short turns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5</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457200" y="1554480"/>
            <a:ext cx="1965960" cy="868680"/>
          </a:xfrm>
          <a:prstGeom prst="roundRect">
            <a:avLst>
              <a:gd name="adj" fmla="val 6316"/>
            </a:avLst>
          </a:prstGeom>
          <a:solidFill>
            <a:srgbClr val="FFFFFF"/>
          </a:solidFill>
          <a:ln w="15875">
            <a:solidFill>
              <a:srgbClr val="1B232E"/>
            </a:solidFill>
            <a:prstDash val="solid"/>
          </a:ln>
        </p:spPr>
      </p:sp>
      <p:sp>
        <p:nvSpPr>
          <p:cNvPr id="8" name="Text 6"/>
          <p:cNvSpPr/>
          <p:nvPr/>
        </p:nvSpPr>
        <p:spPr>
          <a:xfrm>
            <a:off x="530352" y="1591056"/>
            <a:ext cx="1819656" cy="7955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Agent turn</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 tool result</a:t>
            </a:r>
            <a:endParaRPr lang="en-US" sz="1400" dirty="0"/>
          </a:p>
        </p:txBody>
      </p:sp>
      <p:sp>
        <p:nvSpPr>
          <p:cNvPr id="9" name="Shape 7"/>
          <p:cNvSpPr/>
          <p:nvPr/>
        </p:nvSpPr>
        <p:spPr>
          <a:xfrm>
            <a:off x="2423160" y="1988820"/>
            <a:ext cx="365760" cy="914"/>
          </a:xfrm>
          <a:prstGeom prst="line">
            <a:avLst/>
          </a:prstGeom>
          <a:noFill/>
          <a:ln w="22225">
            <a:solidFill>
              <a:srgbClr val="44546A"/>
            </a:solidFill>
            <a:prstDash val="solid"/>
            <a:tailEnd type="triangle"/>
          </a:ln>
        </p:spPr>
      </p:sp>
      <p:sp>
        <p:nvSpPr>
          <p:cNvPr id="10" name="Shape 8"/>
          <p:cNvSpPr/>
          <p:nvPr/>
        </p:nvSpPr>
        <p:spPr>
          <a:xfrm>
            <a:off x="2788920" y="1554480"/>
            <a:ext cx="1965960" cy="868680"/>
          </a:xfrm>
          <a:prstGeom prst="roundRect">
            <a:avLst>
              <a:gd name="adj" fmla="val 6316"/>
            </a:avLst>
          </a:prstGeom>
          <a:solidFill>
            <a:srgbClr val="2563EB"/>
          </a:solidFill>
          <a:ln w="15875">
            <a:solidFill>
              <a:srgbClr val="2563EB"/>
            </a:solidFill>
            <a:prstDash val="solid"/>
          </a:ln>
        </p:spPr>
      </p:sp>
      <p:sp>
        <p:nvSpPr>
          <p:cNvPr id="11" name="Text 9"/>
          <p:cNvSpPr/>
          <p:nvPr/>
        </p:nvSpPr>
        <p:spPr>
          <a:xfrm>
            <a:off x="2862072" y="1591056"/>
            <a:ext cx="1819656" cy="79552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Session routing</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sticky · cache affinity</a:t>
            </a:r>
            <a:endParaRPr lang="en-US" sz="1400" dirty="0"/>
          </a:p>
        </p:txBody>
      </p:sp>
      <p:sp>
        <p:nvSpPr>
          <p:cNvPr id="12" name="Shape 10"/>
          <p:cNvSpPr/>
          <p:nvPr/>
        </p:nvSpPr>
        <p:spPr>
          <a:xfrm>
            <a:off x="4754880" y="1988820"/>
            <a:ext cx="365760" cy="914"/>
          </a:xfrm>
          <a:prstGeom prst="line">
            <a:avLst/>
          </a:prstGeom>
          <a:noFill/>
          <a:ln w="22225">
            <a:solidFill>
              <a:srgbClr val="44546A"/>
            </a:solidFill>
            <a:prstDash val="solid"/>
            <a:tailEnd type="triangle"/>
          </a:ln>
        </p:spPr>
      </p:sp>
      <p:sp>
        <p:nvSpPr>
          <p:cNvPr id="13" name="Shape 11"/>
          <p:cNvSpPr/>
          <p:nvPr/>
        </p:nvSpPr>
        <p:spPr>
          <a:xfrm>
            <a:off x="5120640" y="1554480"/>
            <a:ext cx="1965960" cy="868680"/>
          </a:xfrm>
          <a:prstGeom prst="roundRect">
            <a:avLst>
              <a:gd name="adj" fmla="val 6316"/>
            </a:avLst>
          </a:prstGeom>
          <a:solidFill>
            <a:srgbClr val="DBE7FD"/>
          </a:solidFill>
          <a:ln w="15875">
            <a:solidFill>
              <a:srgbClr val="2563EB"/>
            </a:solidFill>
            <a:prstDash val="solid"/>
          </a:ln>
        </p:spPr>
      </p:sp>
      <p:sp>
        <p:nvSpPr>
          <p:cNvPr id="14" name="Text 12"/>
          <p:cNvSpPr/>
          <p:nvPr/>
        </p:nvSpPr>
        <p:spPr>
          <a:xfrm>
            <a:off x="5193792" y="1591056"/>
            <a:ext cx="1819656" cy="7955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API server</a:t>
            </a:r>
            <a:endParaRPr lang="en-US" sz="1400" dirty="0"/>
          </a:p>
          <a:p>
            <a:pPr algn="ctr" indent="0" marL="0">
              <a:buNone/>
            </a:pPr>
            <a:r>
              <a:rPr lang="en-US" sz="1400" dirty="0">
                <a:solidFill>
                  <a:srgbClr val="1B232E"/>
                </a:solidFill>
                <a:latin typeface="Inter" pitchFamily="34" charset="0"/>
                <a:ea typeface="Inter" pitchFamily="34" charset="-122"/>
                <a:cs typeface="Inter" pitchFamily="34" charset="-120"/>
              </a:rPr>
              <a:t>tool + reasoning parsers</a:t>
            </a:r>
            <a:endParaRPr lang="en-US" sz="1400" dirty="0"/>
          </a:p>
        </p:txBody>
      </p:sp>
      <p:sp>
        <p:nvSpPr>
          <p:cNvPr id="15" name="Shape 13"/>
          <p:cNvSpPr/>
          <p:nvPr/>
        </p:nvSpPr>
        <p:spPr>
          <a:xfrm>
            <a:off x="7086600" y="1988820"/>
            <a:ext cx="365760" cy="914"/>
          </a:xfrm>
          <a:prstGeom prst="line">
            <a:avLst/>
          </a:prstGeom>
          <a:noFill/>
          <a:ln w="22225">
            <a:solidFill>
              <a:srgbClr val="44546A"/>
            </a:solidFill>
            <a:prstDash val="solid"/>
            <a:tailEnd type="triangle"/>
          </a:ln>
        </p:spPr>
      </p:sp>
      <p:sp>
        <p:nvSpPr>
          <p:cNvPr id="16" name="Shape 14"/>
          <p:cNvSpPr/>
          <p:nvPr/>
        </p:nvSpPr>
        <p:spPr>
          <a:xfrm>
            <a:off x="7452360" y="1554480"/>
            <a:ext cx="1965960" cy="868680"/>
          </a:xfrm>
          <a:prstGeom prst="roundRect">
            <a:avLst>
              <a:gd name="adj" fmla="val 6316"/>
            </a:avLst>
          </a:prstGeom>
          <a:solidFill>
            <a:srgbClr val="FFFFFF"/>
          </a:solidFill>
          <a:ln w="15875">
            <a:solidFill>
              <a:srgbClr val="1B232E"/>
            </a:solidFill>
            <a:prstDash val="solid"/>
          </a:ln>
        </p:spPr>
      </p:sp>
      <p:sp>
        <p:nvSpPr>
          <p:cNvPr id="17" name="Text 15"/>
          <p:cNvSpPr/>
          <p:nvPr/>
        </p:nvSpPr>
        <p:spPr>
          <a:xfrm>
            <a:off x="7525512" y="1591056"/>
            <a:ext cx="1819656" cy="7955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Scheduler</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prefill cap · DEP cadence</a:t>
            </a:r>
            <a:endParaRPr lang="en-US" sz="1400" dirty="0"/>
          </a:p>
        </p:txBody>
      </p:sp>
      <p:sp>
        <p:nvSpPr>
          <p:cNvPr id="18" name="Shape 16"/>
          <p:cNvSpPr/>
          <p:nvPr/>
        </p:nvSpPr>
        <p:spPr>
          <a:xfrm>
            <a:off x="9418320" y="1988820"/>
            <a:ext cx="365760" cy="914"/>
          </a:xfrm>
          <a:prstGeom prst="line">
            <a:avLst/>
          </a:prstGeom>
          <a:noFill/>
          <a:ln w="22225">
            <a:solidFill>
              <a:srgbClr val="44546A"/>
            </a:solidFill>
            <a:prstDash val="solid"/>
            <a:tailEnd type="triangle"/>
          </a:ln>
        </p:spPr>
      </p:sp>
      <p:sp>
        <p:nvSpPr>
          <p:cNvPr id="19" name="Shape 17"/>
          <p:cNvSpPr/>
          <p:nvPr/>
        </p:nvSpPr>
        <p:spPr>
          <a:xfrm>
            <a:off x="9784080" y="1554480"/>
            <a:ext cx="1965960" cy="868680"/>
          </a:xfrm>
          <a:prstGeom prst="roundRect">
            <a:avLst>
              <a:gd name="adj" fmla="val 6316"/>
            </a:avLst>
          </a:prstGeom>
          <a:solidFill>
            <a:srgbClr val="FFFFFF"/>
          </a:solidFill>
          <a:ln w="15875">
            <a:solidFill>
              <a:srgbClr val="1B232E"/>
            </a:solidFill>
            <a:prstDash val="solid"/>
          </a:ln>
        </p:spPr>
      </p:sp>
      <p:sp>
        <p:nvSpPr>
          <p:cNvPr id="20" name="Text 18"/>
          <p:cNvSpPr/>
          <p:nvPr/>
        </p:nvSpPr>
        <p:spPr>
          <a:xfrm>
            <a:off x="9857232" y="1591056"/>
            <a:ext cx="1819656" cy="79552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Prefill → Decode</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rate-matched P/D</a:t>
            </a:r>
            <a:endParaRPr lang="en-US" sz="1400" dirty="0"/>
          </a:p>
        </p:txBody>
      </p:sp>
      <p:sp>
        <p:nvSpPr>
          <p:cNvPr id="21" name="Shape 19"/>
          <p:cNvSpPr/>
          <p:nvPr/>
        </p:nvSpPr>
        <p:spPr>
          <a:xfrm>
            <a:off x="457200" y="2697480"/>
            <a:ext cx="11292840" cy="713232"/>
          </a:xfrm>
          <a:prstGeom prst="rect">
            <a:avLst/>
          </a:prstGeom>
          <a:solidFill>
            <a:srgbClr val="F4F5F7"/>
          </a:solidFill>
          <a:ln w="12700">
            <a:solidFill>
              <a:srgbClr val="F4F5F7"/>
            </a:solidFill>
            <a:prstDash val="solid"/>
          </a:ln>
        </p:spPr>
      </p:sp>
      <p:sp>
        <p:nvSpPr>
          <p:cNvPr id="22" name="Shape 20"/>
          <p:cNvSpPr/>
          <p:nvPr/>
        </p:nvSpPr>
        <p:spPr>
          <a:xfrm>
            <a:off x="457200" y="2697480"/>
            <a:ext cx="73152" cy="713232"/>
          </a:xfrm>
          <a:prstGeom prst="rect">
            <a:avLst/>
          </a:prstGeom>
          <a:solidFill>
            <a:srgbClr val="2563EB"/>
          </a:solidFill>
          <a:ln w="12700">
            <a:solidFill>
              <a:srgbClr val="FFFFFF"/>
            </a:solidFill>
            <a:prstDash val="solid"/>
          </a:ln>
        </p:spPr>
      </p:sp>
      <p:sp>
        <p:nvSpPr>
          <p:cNvPr id="23" name="Text 21"/>
          <p:cNvSpPr/>
          <p:nvPr/>
        </p:nvSpPr>
        <p:spPr>
          <a:xfrm>
            <a:off x="685800" y="2697480"/>
            <a:ext cx="2743200" cy="713232"/>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Control plane</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P/D deployment</a:t>
            </a:r>
            <a:endParaRPr lang="en-US" sz="1400" dirty="0"/>
          </a:p>
        </p:txBody>
      </p:sp>
      <p:sp>
        <p:nvSpPr>
          <p:cNvPr id="24" name="Shape 22"/>
          <p:cNvSpPr/>
          <p:nvPr/>
        </p:nvSpPr>
        <p:spPr>
          <a:xfrm>
            <a:off x="3794760" y="2825496"/>
            <a:ext cx="2468880" cy="457200"/>
          </a:xfrm>
          <a:prstGeom prst="roundRect">
            <a:avLst>
              <a:gd name="adj" fmla="val 12000"/>
            </a:avLst>
          </a:prstGeom>
          <a:solidFill>
            <a:srgbClr val="2563EB"/>
          </a:solidFill>
          <a:ln w="12700">
            <a:solidFill>
              <a:srgbClr val="2563EB"/>
            </a:solidFill>
            <a:prstDash val="solid"/>
          </a:ln>
        </p:spPr>
      </p:sp>
      <p:sp>
        <p:nvSpPr>
          <p:cNvPr id="25" name="Text 23"/>
          <p:cNvSpPr/>
          <p:nvPr/>
        </p:nvSpPr>
        <p:spPr>
          <a:xfrm>
            <a:off x="3867912" y="2862072"/>
            <a:ext cx="2322576"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session routing</a:t>
            </a:r>
            <a:endParaRPr lang="en-US" sz="1400" dirty="0"/>
          </a:p>
        </p:txBody>
      </p:sp>
      <p:sp>
        <p:nvSpPr>
          <p:cNvPr id="26" name="Shape 24"/>
          <p:cNvSpPr/>
          <p:nvPr/>
        </p:nvSpPr>
        <p:spPr>
          <a:xfrm>
            <a:off x="6492240" y="2825496"/>
            <a:ext cx="2468880" cy="457200"/>
          </a:xfrm>
          <a:prstGeom prst="roundRect">
            <a:avLst>
              <a:gd name="adj" fmla="val 12000"/>
            </a:avLst>
          </a:prstGeom>
          <a:solidFill>
            <a:srgbClr val="2563EB"/>
          </a:solidFill>
          <a:ln w="12700">
            <a:solidFill>
              <a:srgbClr val="2563EB"/>
            </a:solidFill>
            <a:prstDash val="solid"/>
          </a:ln>
        </p:spPr>
      </p:sp>
      <p:sp>
        <p:nvSpPr>
          <p:cNvPr id="27" name="Text 25"/>
          <p:cNvSpPr/>
          <p:nvPr/>
        </p:nvSpPr>
        <p:spPr>
          <a:xfrm>
            <a:off x="6565392" y="2862072"/>
            <a:ext cx="2322576"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cache affinity</a:t>
            </a:r>
            <a:endParaRPr lang="en-US" sz="1400" dirty="0"/>
          </a:p>
        </p:txBody>
      </p:sp>
      <p:sp>
        <p:nvSpPr>
          <p:cNvPr id="28" name="Shape 26"/>
          <p:cNvSpPr/>
          <p:nvPr/>
        </p:nvSpPr>
        <p:spPr>
          <a:xfrm>
            <a:off x="9189720" y="2825496"/>
            <a:ext cx="2468880" cy="457200"/>
          </a:xfrm>
          <a:prstGeom prst="roundRect">
            <a:avLst>
              <a:gd name="adj" fmla="val 12000"/>
            </a:avLst>
          </a:prstGeom>
          <a:solidFill>
            <a:srgbClr val="FFFFFF"/>
          </a:solidFill>
          <a:ln w="12700">
            <a:solidFill>
              <a:srgbClr val="D9DCE1"/>
            </a:solidFill>
            <a:prstDash val="solid"/>
          </a:ln>
        </p:spPr>
      </p:sp>
      <p:sp>
        <p:nvSpPr>
          <p:cNvPr id="29" name="Text 27"/>
          <p:cNvSpPr/>
          <p:nvPr/>
        </p:nvSpPr>
        <p:spPr>
          <a:xfrm>
            <a:off x="9262872" y="286207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P/D disagg</a:t>
            </a:r>
            <a:endParaRPr lang="en-US" sz="1400" dirty="0"/>
          </a:p>
        </p:txBody>
      </p:sp>
      <p:sp>
        <p:nvSpPr>
          <p:cNvPr id="30" name="Shape 28"/>
          <p:cNvSpPr/>
          <p:nvPr/>
        </p:nvSpPr>
        <p:spPr>
          <a:xfrm>
            <a:off x="457200" y="3520440"/>
            <a:ext cx="11292840" cy="713232"/>
          </a:xfrm>
          <a:prstGeom prst="rect">
            <a:avLst/>
          </a:prstGeom>
          <a:solidFill>
            <a:srgbClr val="F4F5F7"/>
          </a:solidFill>
          <a:ln w="12700">
            <a:solidFill>
              <a:srgbClr val="F4F5F7"/>
            </a:solidFill>
            <a:prstDash val="solid"/>
          </a:ln>
        </p:spPr>
      </p:sp>
      <p:sp>
        <p:nvSpPr>
          <p:cNvPr id="31" name="Shape 29"/>
          <p:cNvSpPr/>
          <p:nvPr/>
        </p:nvSpPr>
        <p:spPr>
          <a:xfrm>
            <a:off x="457200" y="3520440"/>
            <a:ext cx="73152" cy="713232"/>
          </a:xfrm>
          <a:prstGeom prst="rect">
            <a:avLst/>
          </a:prstGeom>
          <a:solidFill>
            <a:srgbClr val="44546A"/>
          </a:solidFill>
          <a:ln w="12700">
            <a:solidFill>
              <a:srgbClr val="FFFFFF"/>
            </a:solidFill>
            <a:prstDash val="solid"/>
          </a:ln>
        </p:spPr>
      </p:sp>
      <p:sp>
        <p:nvSpPr>
          <p:cNvPr id="32" name="Text 30"/>
          <p:cNvSpPr/>
          <p:nvPr/>
        </p:nvSpPr>
        <p:spPr>
          <a:xfrm>
            <a:off x="685800" y="3520440"/>
            <a:ext cx="2743200" cy="713232"/>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Execution plane</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tokens fast</a:t>
            </a:r>
            <a:endParaRPr lang="en-US" sz="1400" dirty="0"/>
          </a:p>
        </p:txBody>
      </p:sp>
      <p:sp>
        <p:nvSpPr>
          <p:cNvPr id="33" name="Shape 31"/>
          <p:cNvSpPr/>
          <p:nvPr/>
        </p:nvSpPr>
        <p:spPr>
          <a:xfrm>
            <a:off x="3794760" y="3648456"/>
            <a:ext cx="2468880" cy="457200"/>
          </a:xfrm>
          <a:prstGeom prst="roundRect">
            <a:avLst>
              <a:gd name="adj" fmla="val 12000"/>
            </a:avLst>
          </a:prstGeom>
          <a:solidFill>
            <a:srgbClr val="FFFFFF"/>
          </a:solidFill>
          <a:ln w="12700">
            <a:solidFill>
              <a:srgbClr val="D9DCE1"/>
            </a:solidFill>
            <a:prstDash val="solid"/>
          </a:ln>
        </p:spPr>
      </p:sp>
      <p:sp>
        <p:nvSpPr>
          <p:cNvPr id="34" name="Text 32"/>
          <p:cNvSpPr/>
          <p:nvPr/>
        </p:nvSpPr>
        <p:spPr>
          <a:xfrm>
            <a:off x="3867912" y="368503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parallelism</a:t>
            </a:r>
            <a:endParaRPr lang="en-US" sz="1400" dirty="0"/>
          </a:p>
        </p:txBody>
      </p:sp>
      <p:sp>
        <p:nvSpPr>
          <p:cNvPr id="35" name="Shape 33"/>
          <p:cNvSpPr/>
          <p:nvPr/>
        </p:nvSpPr>
        <p:spPr>
          <a:xfrm>
            <a:off x="6492240" y="3648456"/>
            <a:ext cx="2468880" cy="457200"/>
          </a:xfrm>
          <a:prstGeom prst="roundRect">
            <a:avLst>
              <a:gd name="adj" fmla="val 12000"/>
            </a:avLst>
          </a:prstGeom>
          <a:solidFill>
            <a:srgbClr val="FFFFFF"/>
          </a:solidFill>
          <a:ln w="12700">
            <a:solidFill>
              <a:srgbClr val="D9DCE1"/>
            </a:solidFill>
            <a:prstDash val="solid"/>
          </a:ln>
        </p:spPr>
      </p:sp>
      <p:sp>
        <p:nvSpPr>
          <p:cNvPr id="36" name="Text 34"/>
          <p:cNvSpPr/>
          <p:nvPr/>
        </p:nvSpPr>
        <p:spPr>
          <a:xfrm>
            <a:off x="6565392" y="368503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kernels</a:t>
            </a:r>
            <a:endParaRPr lang="en-US" sz="1400" dirty="0"/>
          </a:p>
        </p:txBody>
      </p:sp>
      <p:sp>
        <p:nvSpPr>
          <p:cNvPr id="37" name="Shape 35"/>
          <p:cNvSpPr/>
          <p:nvPr/>
        </p:nvSpPr>
        <p:spPr>
          <a:xfrm>
            <a:off x="9189720" y="3648456"/>
            <a:ext cx="2468880" cy="457200"/>
          </a:xfrm>
          <a:prstGeom prst="roundRect">
            <a:avLst>
              <a:gd name="adj" fmla="val 12000"/>
            </a:avLst>
          </a:prstGeom>
          <a:solidFill>
            <a:srgbClr val="FFFFFF"/>
          </a:solidFill>
          <a:ln w="12700">
            <a:solidFill>
              <a:srgbClr val="D9DCE1"/>
            </a:solidFill>
            <a:prstDash val="solid"/>
          </a:ln>
        </p:spPr>
      </p:sp>
      <p:sp>
        <p:nvSpPr>
          <p:cNvPr id="38" name="Text 36"/>
          <p:cNvSpPr/>
          <p:nvPr/>
        </p:nvSpPr>
        <p:spPr>
          <a:xfrm>
            <a:off x="9262872" y="368503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spec decode</a:t>
            </a:r>
            <a:endParaRPr lang="en-US" sz="1400" dirty="0"/>
          </a:p>
        </p:txBody>
      </p:sp>
      <p:sp>
        <p:nvSpPr>
          <p:cNvPr id="39" name="Shape 37"/>
          <p:cNvSpPr/>
          <p:nvPr/>
        </p:nvSpPr>
        <p:spPr>
          <a:xfrm>
            <a:off x="457200" y="4343400"/>
            <a:ext cx="11292840" cy="713232"/>
          </a:xfrm>
          <a:prstGeom prst="rect">
            <a:avLst/>
          </a:prstGeom>
          <a:solidFill>
            <a:srgbClr val="F4F5F7"/>
          </a:solidFill>
          <a:ln w="12700">
            <a:solidFill>
              <a:srgbClr val="F4F5F7"/>
            </a:solidFill>
            <a:prstDash val="solid"/>
          </a:ln>
        </p:spPr>
      </p:sp>
      <p:sp>
        <p:nvSpPr>
          <p:cNvPr id="40" name="Shape 38"/>
          <p:cNvSpPr/>
          <p:nvPr/>
        </p:nvSpPr>
        <p:spPr>
          <a:xfrm>
            <a:off x="457200" y="4343400"/>
            <a:ext cx="73152" cy="713232"/>
          </a:xfrm>
          <a:prstGeom prst="rect">
            <a:avLst/>
          </a:prstGeom>
          <a:solidFill>
            <a:srgbClr val="44546A"/>
          </a:solidFill>
          <a:ln w="12700">
            <a:solidFill>
              <a:srgbClr val="FFFFFF"/>
            </a:solidFill>
            <a:prstDash val="solid"/>
          </a:ln>
        </p:spPr>
      </p:sp>
      <p:sp>
        <p:nvSpPr>
          <p:cNvPr id="41" name="Text 39"/>
          <p:cNvSpPr/>
          <p:nvPr/>
        </p:nvSpPr>
        <p:spPr>
          <a:xfrm>
            <a:off x="685800" y="4343400"/>
            <a:ext cx="2743200" cy="713232"/>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Data plane</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KV warm + close</a:t>
            </a:r>
            <a:endParaRPr lang="en-US" sz="1400" dirty="0"/>
          </a:p>
        </p:txBody>
      </p:sp>
      <p:sp>
        <p:nvSpPr>
          <p:cNvPr id="42" name="Shape 40"/>
          <p:cNvSpPr/>
          <p:nvPr/>
        </p:nvSpPr>
        <p:spPr>
          <a:xfrm>
            <a:off x="3794760" y="4471416"/>
            <a:ext cx="2468880" cy="457200"/>
          </a:xfrm>
          <a:prstGeom prst="roundRect">
            <a:avLst>
              <a:gd name="adj" fmla="val 12000"/>
            </a:avLst>
          </a:prstGeom>
          <a:solidFill>
            <a:srgbClr val="FFFFFF"/>
          </a:solidFill>
          <a:ln w="12700">
            <a:solidFill>
              <a:srgbClr val="D9DCE1"/>
            </a:solidFill>
            <a:prstDash val="solid"/>
          </a:ln>
        </p:spPr>
      </p:sp>
      <p:sp>
        <p:nvSpPr>
          <p:cNvPr id="43" name="Text 41"/>
          <p:cNvSpPr/>
          <p:nvPr/>
        </p:nvSpPr>
        <p:spPr>
          <a:xfrm>
            <a:off x="3867912" y="450799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hybrid KV manager</a:t>
            </a:r>
            <a:endParaRPr lang="en-US" sz="1400" dirty="0"/>
          </a:p>
        </p:txBody>
      </p:sp>
      <p:sp>
        <p:nvSpPr>
          <p:cNvPr id="44" name="Shape 42"/>
          <p:cNvSpPr/>
          <p:nvPr/>
        </p:nvSpPr>
        <p:spPr>
          <a:xfrm>
            <a:off x="6492240" y="4471416"/>
            <a:ext cx="2468880" cy="457200"/>
          </a:xfrm>
          <a:prstGeom prst="roundRect">
            <a:avLst>
              <a:gd name="adj" fmla="val 12000"/>
            </a:avLst>
          </a:prstGeom>
          <a:solidFill>
            <a:srgbClr val="FFFFFF"/>
          </a:solidFill>
          <a:ln w="12700">
            <a:solidFill>
              <a:srgbClr val="D9DCE1"/>
            </a:solidFill>
            <a:prstDash val="solid"/>
          </a:ln>
        </p:spPr>
      </p:sp>
      <p:sp>
        <p:nvSpPr>
          <p:cNvPr id="45" name="Text 43"/>
          <p:cNvSpPr/>
          <p:nvPr/>
        </p:nvSpPr>
        <p:spPr>
          <a:xfrm>
            <a:off x="6565392" y="450799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KV connector</a:t>
            </a:r>
            <a:endParaRPr lang="en-US" sz="1400" dirty="0"/>
          </a:p>
        </p:txBody>
      </p:sp>
      <p:sp>
        <p:nvSpPr>
          <p:cNvPr id="46" name="Shape 44"/>
          <p:cNvSpPr/>
          <p:nvPr/>
        </p:nvSpPr>
        <p:spPr>
          <a:xfrm>
            <a:off x="9189720" y="4471416"/>
            <a:ext cx="2468880" cy="457200"/>
          </a:xfrm>
          <a:prstGeom prst="roundRect">
            <a:avLst>
              <a:gd name="adj" fmla="val 12000"/>
            </a:avLst>
          </a:prstGeom>
          <a:solidFill>
            <a:srgbClr val="FFFFFF"/>
          </a:solidFill>
          <a:ln w="12700">
            <a:solidFill>
              <a:srgbClr val="D9DCE1"/>
            </a:solidFill>
            <a:prstDash val="solid"/>
          </a:ln>
        </p:spPr>
      </p:sp>
      <p:sp>
        <p:nvSpPr>
          <p:cNvPr id="47" name="Text 45"/>
          <p:cNvSpPr/>
          <p:nvPr/>
        </p:nvSpPr>
        <p:spPr>
          <a:xfrm>
            <a:off x="9262872" y="4507992"/>
            <a:ext cx="2322576" cy="384048"/>
          </a:xfrm>
          <a:prstGeom prst="rect">
            <a:avLst/>
          </a:prstGeom>
          <a:noFill/>
          <a:ln/>
        </p:spPr>
        <p:txBody>
          <a:bodyPr wrap="square" lIns="0" tIns="0" rIns="0" bIns="0" rtlCol="0" anchor="ctr"/>
          <a:lstStyle/>
          <a:p>
            <a:pPr algn="ctr" indent="0" marL="0">
              <a:buNone/>
            </a:pPr>
            <a:r>
              <a:rPr lang="en-US" sz="1400" dirty="0">
                <a:solidFill>
                  <a:srgbClr val="1B232E"/>
                </a:solidFill>
                <a:latin typeface="Inter" pitchFamily="34" charset="0"/>
                <a:ea typeface="Inter" pitchFamily="34" charset="-122"/>
                <a:cs typeface="Inter" pitchFamily="34" charset="-120"/>
              </a:rPr>
              <a:t>distributed KV pool</a:t>
            </a:r>
            <a:endParaRPr lang="en-US" sz="1400" dirty="0"/>
          </a:p>
        </p:txBody>
      </p:sp>
      <p:sp>
        <p:nvSpPr>
          <p:cNvPr id="48" name="Text 46"/>
          <p:cNvSpPr/>
          <p:nvPr/>
        </p:nvSpPr>
        <p:spPr>
          <a:xfrm>
            <a:off x="457200" y="5257800"/>
            <a:ext cx="11292840" cy="41148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AgentX traces (reported)  </a:t>
            </a:r>
            <a:r>
              <a:rPr lang="en-US" sz="1400" dirty="0">
                <a:solidFill>
                  <a:srgbClr val="4A505A"/>
                </a:solidFill>
                <a:latin typeface="Inter" pitchFamily="34" charset="0"/>
                <a:ea typeface="Inter" pitchFamily="34" charset="-122"/>
                <a:cs typeface="Inter" pitchFamily="34" charset="-120"/>
              </a:rPr>
              <a:t>median 43 turns · 142K input · 444 output tokens · &gt;96% prefix-cache hit</a:t>
            </a:r>
            <a:endParaRPr lang="en-US" sz="1400" dirty="0"/>
          </a:p>
        </p:txBody>
      </p:sp>
      <p:sp>
        <p:nvSpPr>
          <p:cNvPr id="49" name="Text 47"/>
          <p:cNvSpPr/>
          <p:nvPr/>
        </p:nvSpPr>
        <p:spPr>
          <a:xfrm>
            <a:off x="457200" y="5715000"/>
            <a:ext cx="11292840" cy="365760"/>
          </a:xfrm>
          <a:prstGeom prst="rect">
            <a:avLst/>
          </a:prstGeom>
          <a:noFill/>
          <a:ln/>
        </p:spPr>
        <p:txBody>
          <a:bodyPr wrap="square" lIns="0" tIns="0" rIns="0" bIns="0" rtlCol="0" anchor="ctr"/>
          <a:lstStyle/>
          <a:p>
            <a:pPr indent="0" marL="0">
              <a:buNone/>
            </a:pPr>
            <a:r>
              <a:rPr lang="en-US" sz="1400" i="1" dirty="0">
                <a:solidFill>
                  <a:srgbClr val="7A808A"/>
                </a:solidFill>
                <a:latin typeface="Inter" pitchFamily="34" charset="0"/>
                <a:ea typeface="Inter" pitchFamily="34" charset="-122"/>
                <a:cs typeface="Inter" pitchFamily="34" charset="-120"/>
              </a:rPr>
              <a:t>AgentX = SemiAnalysis public benchmark; plane names from the vLLM blog (Fig. 3).</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ENGINE CHOICE</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Both engines cover the agent feature set; vLLM has published AgentX tuning, SGLang ships its own router</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6</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92840" cy="914400"/>
        </p:xfrm>
        <a:graphic>
          <a:graphicData uri="http://schemas.openxmlformats.org/drawingml/2006/table">
            <a:tbl>
              <a:tblPr/>
              <a:tblGrid>
                <a:gridCol w="2423160"/>
                <a:gridCol w="4434840"/>
                <a:gridCol w="4434840"/>
              </a:tblGrid>
              <a:tr h="484632">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Capability</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1B232E"/>
                    </a:solidFill>
                  </a:tcPr>
                </a:tc>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vLLM (AgentX-tuned)</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44546A"/>
                    </a:solidFill>
                  </a:tcPr>
                </a:tc>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SGLang</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1B232E"/>
                    </a:solidFill>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Session routing</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Sticky sessions; llm-d / Dynamo</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Model Gateway: cache-aware radix tree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Prefix reuse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Hybrid KV manager + Mooncake Store pool</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RadixAttention + HiCache (GPU→CPU→L3)</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Long-prefill control</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--long-prefill-token-threshold; DEP cadence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Chunked prefill (--chunked-prefill-size)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Tools / structured</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Strict tools via structural tags; parsers</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EBNF (xgrammar) for forced tools; parsers</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Parallelism</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DEP default; DCP / PCP per model</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EP + DP-attention, DeepEP</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PD disaggregation</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NIXL / Mooncake; rate-matched P/D ratio</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Mooncake / NIXL transfer; Gateway PD mode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484632">
                <a:tc>
                  <a:txBody>
                    <a:bodyPr/>
                    <a:lstStyle/>
                    <a:p>
                      <a:pPr indent="0" marL="0">
                        <a:buNone/>
                      </a:pPr>
                      <a:r>
                        <a:rPr lang="en-US" sz="1400" b="1" dirty="0">
                          <a:solidFill>
                            <a:srgbClr val="1B232E"/>
                          </a:solidFill>
                          <a:latin typeface="Inter" pitchFamily="34" charset="0"/>
                          <a:ea typeface="Inter" pitchFamily="34" charset="-122"/>
                          <a:cs typeface="Inter" pitchFamily="34" charset="-120"/>
                        </a:rPr>
                        <a:t>Inkling · Muse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Inkling supported (Inferact); Muse plugin</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Inkling day-0; Muse recipe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bl>
          </a:graphicData>
        </a:graphic>
      </p:graphicFrame>
      <p:sp>
        <p:nvSpPr>
          <p:cNvPr id="8" name="Shape 5"/>
          <p:cNvSpPr/>
          <p:nvPr/>
        </p:nvSpPr>
        <p:spPr>
          <a:xfrm>
            <a:off x="457200" y="5532120"/>
            <a:ext cx="11292840" cy="685800"/>
          </a:xfrm>
          <a:prstGeom prst="rect">
            <a:avLst>
              <a:gd name="adj" fmla="val 8000"/>
            </a:avLst>
          </a:prstGeom>
          <a:solidFill>
            <a:srgbClr val="DBE7FD"/>
          </a:solidFill>
          <a:ln w="12700">
            <a:solidFill>
              <a:srgbClr val="DBE7FD"/>
            </a:solidFill>
            <a:prstDash val="solid"/>
          </a:ln>
        </p:spPr>
      </p:sp>
      <p:sp>
        <p:nvSpPr>
          <p:cNvPr id="9" name="Shape 6"/>
          <p:cNvSpPr/>
          <p:nvPr/>
        </p:nvSpPr>
        <p:spPr>
          <a:xfrm>
            <a:off x="457200" y="5532120"/>
            <a:ext cx="73152" cy="685800"/>
          </a:xfrm>
          <a:prstGeom prst="rect">
            <a:avLst/>
          </a:prstGeom>
          <a:solidFill>
            <a:srgbClr val="2563EB"/>
          </a:solidFill>
          <a:ln w="12700">
            <a:solidFill>
              <a:srgbClr val="2563EB"/>
            </a:solidFill>
            <a:prstDash val="solid"/>
          </a:ln>
        </p:spPr>
      </p:sp>
      <p:sp>
        <p:nvSpPr>
          <p:cNvPr id="10" name="Text 7"/>
          <p:cNvSpPr/>
          <p:nvPr/>
        </p:nvSpPr>
        <p:spPr>
          <a:xfrm>
            <a:off x="685800" y="5532120"/>
            <a:ext cx="10972800" cy="6858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Recommendation  </a:t>
            </a:r>
            <a:r>
              <a:rPr lang="en-US" sz="1400" dirty="0">
                <a:solidFill>
                  <a:srgbClr val="1B232E"/>
                </a:solidFill>
                <a:latin typeface="Inter" pitchFamily="34" charset="0"/>
                <a:ea typeface="Inter" pitchFamily="34" charset="-122"/>
                <a:cs typeface="Inter" pitchFamily="34" charset="-120"/>
              </a:rPr>
              <a:t>Lead the pilot with vLLM's AgentX-tuned settings; run SGLang on the same traces as challenger. One OpenAI API keeps both swappable.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SERVING STACKS</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Both stacks route by session; vLLM's AgentX tuning adds a shared KV pool behind the engine</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7</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Text 5"/>
          <p:cNvSpPr/>
          <p:nvPr/>
        </p:nvSpPr>
        <p:spPr>
          <a:xfrm>
            <a:off x="457200" y="1627632"/>
            <a:ext cx="5486400" cy="329184"/>
          </a:xfrm>
          <a:prstGeom prst="rect">
            <a:avLst/>
          </a:prstGeom>
          <a:noFill/>
          <a:ln/>
        </p:spPr>
        <p:txBody>
          <a:bodyPr wrap="square" lIns="0" tIns="0" rIns="0" bIns="0" rtlCol="0" anchor="ctr"/>
          <a:lstStyle/>
          <a:p>
            <a:pPr indent="0" marL="0">
              <a:buNone/>
            </a:pPr>
            <a:r>
              <a:rPr lang="en-US" sz="1600" b="1" dirty="0">
                <a:solidFill>
                  <a:srgbClr val="1B232E"/>
                </a:solidFill>
                <a:latin typeface="Inter" pitchFamily="34" charset="0"/>
                <a:ea typeface="Inter" pitchFamily="34" charset="-122"/>
                <a:cs typeface="Inter" pitchFamily="34" charset="-120"/>
              </a:rPr>
              <a:t>vLLM · AgentX-tuned</a:t>
            </a:r>
            <a:endParaRPr lang="en-US" sz="1600" dirty="0"/>
          </a:p>
        </p:txBody>
      </p:sp>
      <p:sp>
        <p:nvSpPr>
          <p:cNvPr id="8" name="Shape 6"/>
          <p:cNvSpPr/>
          <p:nvPr/>
        </p:nvSpPr>
        <p:spPr>
          <a:xfrm>
            <a:off x="457200" y="2011680"/>
            <a:ext cx="1965960" cy="1188720"/>
          </a:xfrm>
          <a:prstGeom prst="roundRect">
            <a:avLst>
              <a:gd name="adj" fmla="val 4615"/>
            </a:avLst>
          </a:prstGeom>
          <a:solidFill>
            <a:srgbClr val="FFFFFF"/>
          </a:solidFill>
          <a:ln w="15875">
            <a:solidFill>
              <a:srgbClr val="1B232E"/>
            </a:solidFill>
            <a:prstDash val="solid"/>
          </a:ln>
        </p:spPr>
      </p:sp>
      <p:sp>
        <p:nvSpPr>
          <p:cNvPr id="9" name="Text 7"/>
          <p:cNvSpPr/>
          <p:nvPr/>
        </p:nvSpPr>
        <p:spPr>
          <a:xfrm>
            <a:off x="530352" y="204825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Agent client</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Chat · Responses</a:t>
            </a:r>
            <a:endParaRPr lang="en-US" sz="1400" dirty="0"/>
          </a:p>
        </p:txBody>
      </p:sp>
      <p:sp>
        <p:nvSpPr>
          <p:cNvPr id="10" name="Shape 8"/>
          <p:cNvSpPr/>
          <p:nvPr/>
        </p:nvSpPr>
        <p:spPr>
          <a:xfrm>
            <a:off x="2423160" y="2606040"/>
            <a:ext cx="365760" cy="914"/>
          </a:xfrm>
          <a:prstGeom prst="line">
            <a:avLst/>
          </a:prstGeom>
          <a:noFill/>
          <a:ln w="22225">
            <a:solidFill>
              <a:srgbClr val="44546A"/>
            </a:solidFill>
            <a:prstDash val="solid"/>
            <a:tailEnd type="triangle"/>
          </a:ln>
        </p:spPr>
      </p:sp>
      <p:sp>
        <p:nvSpPr>
          <p:cNvPr id="11" name="Shape 9"/>
          <p:cNvSpPr/>
          <p:nvPr/>
        </p:nvSpPr>
        <p:spPr>
          <a:xfrm>
            <a:off x="2788920" y="2011680"/>
            <a:ext cx="1965960" cy="1188720"/>
          </a:xfrm>
          <a:prstGeom prst="roundRect">
            <a:avLst>
              <a:gd name="adj" fmla="val 4615"/>
            </a:avLst>
          </a:prstGeom>
          <a:solidFill>
            <a:srgbClr val="2563EB"/>
          </a:solidFill>
          <a:ln w="15875">
            <a:solidFill>
              <a:srgbClr val="2563EB"/>
            </a:solidFill>
            <a:prstDash val="solid"/>
          </a:ln>
        </p:spPr>
      </p:sp>
      <p:sp>
        <p:nvSpPr>
          <p:cNvPr id="12" name="Text 10"/>
          <p:cNvSpPr/>
          <p:nvPr/>
        </p:nvSpPr>
        <p:spPr>
          <a:xfrm>
            <a:off x="2862072" y="2048256"/>
            <a:ext cx="1819656" cy="111556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Session router</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sticky · llm-d / Dynamo</a:t>
            </a:r>
            <a:endParaRPr lang="en-US" sz="1400" dirty="0"/>
          </a:p>
        </p:txBody>
      </p:sp>
      <p:sp>
        <p:nvSpPr>
          <p:cNvPr id="13" name="Shape 11"/>
          <p:cNvSpPr/>
          <p:nvPr/>
        </p:nvSpPr>
        <p:spPr>
          <a:xfrm>
            <a:off x="4754880" y="2606040"/>
            <a:ext cx="365760" cy="914"/>
          </a:xfrm>
          <a:prstGeom prst="line">
            <a:avLst/>
          </a:prstGeom>
          <a:noFill/>
          <a:ln w="22225">
            <a:solidFill>
              <a:srgbClr val="44546A"/>
            </a:solidFill>
            <a:prstDash val="solid"/>
            <a:tailEnd type="triangle"/>
          </a:ln>
        </p:spPr>
      </p:sp>
      <p:sp>
        <p:nvSpPr>
          <p:cNvPr id="14" name="Shape 12"/>
          <p:cNvSpPr/>
          <p:nvPr/>
        </p:nvSpPr>
        <p:spPr>
          <a:xfrm>
            <a:off x="5120640" y="2011680"/>
            <a:ext cx="1965960" cy="1188720"/>
          </a:xfrm>
          <a:prstGeom prst="roundRect">
            <a:avLst>
              <a:gd name="adj" fmla="val 4615"/>
            </a:avLst>
          </a:prstGeom>
          <a:solidFill>
            <a:srgbClr val="DBE7FD"/>
          </a:solidFill>
          <a:ln w="15875">
            <a:solidFill>
              <a:srgbClr val="2563EB"/>
            </a:solidFill>
            <a:prstDash val="solid"/>
          </a:ln>
        </p:spPr>
      </p:sp>
      <p:sp>
        <p:nvSpPr>
          <p:cNvPr id="15" name="Text 13"/>
          <p:cNvSpPr/>
          <p:nvPr/>
        </p:nvSpPr>
        <p:spPr>
          <a:xfrm>
            <a:off x="5193792" y="204825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vLLM API server</a:t>
            </a:r>
            <a:endParaRPr lang="en-US" sz="1400" dirty="0"/>
          </a:p>
          <a:p>
            <a:pPr algn="ctr" indent="0" marL="0">
              <a:buNone/>
            </a:pPr>
            <a:r>
              <a:rPr lang="en-US" sz="1400" dirty="0">
                <a:solidFill>
                  <a:srgbClr val="1B232E"/>
                </a:solidFill>
                <a:latin typeface="Inter" pitchFamily="34" charset="0"/>
                <a:ea typeface="Inter" pitchFamily="34" charset="-122"/>
                <a:cs typeface="Inter" pitchFamily="34" charset="-120"/>
              </a:rPr>
              <a:t>tool + reasoning parsers</a:t>
            </a:r>
            <a:endParaRPr lang="en-US" sz="1400" dirty="0"/>
          </a:p>
        </p:txBody>
      </p:sp>
      <p:sp>
        <p:nvSpPr>
          <p:cNvPr id="16" name="Shape 14"/>
          <p:cNvSpPr/>
          <p:nvPr/>
        </p:nvSpPr>
        <p:spPr>
          <a:xfrm>
            <a:off x="7086600" y="2606040"/>
            <a:ext cx="365760" cy="914"/>
          </a:xfrm>
          <a:prstGeom prst="line">
            <a:avLst/>
          </a:prstGeom>
          <a:noFill/>
          <a:ln w="22225">
            <a:solidFill>
              <a:srgbClr val="44546A"/>
            </a:solidFill>
            <a:prstDash val="solid"/>
            <a:tailEnd type="triangle"/>
          </a:ln>
        </p:spPr>
      </p:sp>
      <p:sp>
        <p:nvSpPr>
          <p:cNvPr id="17" name="Shape 15"/>
          <p:cNvSpPr/>
          <p:nvPr/>
        </p:nvSpPr>
        <p:spPr>
          <a:xfrm>
            <a:off x="7452360" y="2011680"/>
            <a:ext cx="1965960" cy="1188720"/>
          </a:xfrm>
          <a:prstGeom prst="roundRect">
            <a:avLst>
              <a:gd name="adj" fmla="val 4615"/>
            </a:avLst>
          </a:prstGeom>
          <a:solidFill>
            <a:srgbClr val="F4F5F7"/>
          </a:solidFill>
          <a:ln w="15875">
            <a:solidFill>
              <a:srgbClr val="1B232E"/>
            </a:solidFill>
            <a:prstDash val="solid"/>
          </a:ln>
        </p:spPr>
      </p:sp>
      <p:sp>
        <p:nvSpPr>
          <p:cNvPr id="18" name="Text 16"/>
          <p:cNvSpPr/>
          <p:nvPr/>
        </p:nvSpPr>
        <p:spPr>
          <a:xfrm>
            <a:off x="7525512" y="204825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vLLM engine</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hybrid KV · prefill cap</a:t>
            </a:r>
            <a:endParaRPr lang="en-US" sz="1400" dirty="0"/>
          </a:p>
        </p:txBody>
      </p:sp>
      <p:sp>
        <p:nvSpPr>
          <p:cNvPr id="19" name="Shape 17"/>
          <p:cNvSpPr/>
          <p:nvPr/>
        </p:nvSpPr>
        <p:spPr>
          <a:xfrm>
            <a:off x="9418320" y="2606040"/>
            <a:ext cx="365760" cy="914"/>
          </a:xfrm>
          <a:prstGeom prst="line">
            <a:avLst/>
          </a:prstGeom>
          <a:noFill/>
          <a:ln w="22225">
            <a:solidFill>
              <a:srgbClr val="44546A"/>
            </a:solidFill>
            <a:prstDash val="solid"/>
            <a:tailEnd type="triangle"/>
          </a:ln>
        </p:spPr>
      </p:sp>
      <p:sp>
        <p:nvSpPr>
          <p:cNvPr id="20" name="Shape 18"/>
          <p:cNvSpPr/>
          <p:nvPr/>
        </p:nvSpPr>
        <p:spPr>
          <a:xfrm>
            <a:off x="9784080" y="2011680"/>
            <a:ext cx="1965960" cy="1188720"/>
          </a:xfrm>
          <a:prstGeom prst="roundRect">
            <a:avLst>
              <a:gd name="adj" fmla="val 4615"/>
            </a:avLst>
          </a:prstGeom>
          <a:solidFill>
            <a:srgbClr val="FFFFFF"/>
          </a:solidFill>
          <a:ln w="15875">
            <a:solidFill>
              <a:srgbClr val="1B232E"/>
            </a:solidFill>
            <a:prstDash val="solid"/>
          </a:ln>
        </p:spPr>
      </p:sp>
      <p:sp>
        <p:nvSpPr>
          <p:cNvPr id="21" name="Text 19"/>
          <p:cNvSpPr/>
          <p:nvPr/>
        </p:nvSpPr>
        <p:spPr>
          <a:xfrm>
            <a:off x="9857232" y="204825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Mooncake Store</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distributed KV pool</a:t>
            </a:r>
            <a:endParaRPr lang="en-US" sz="1400" dirty="0"/>
          </a:p>
        </p:txBody>
      </p:sp>
      <p:sp>
        <p:nvSpPr>
          <p:cNvPr id="22" name="Text 20"/>
          <p:cNvSpPr/>
          <p:nvPr/>
        </p:nvSpPr>
        <p:spPr>
          <a:xfrm>
            <a:off x="457200" y="3593592"/>
            <a:ext cx="5486400" cy="329184"/>
          </a:xfrm>
          <a:prstGeom prst="rect">
            <a:avLst/>
          </a:prstGeom>
          <a:noFill/>
          <a:ln/>
        </p:spPr>
        <p:txBody>
          <a:bodyPr wrap="square" lIns="0" tIns="0" rIns="0" bIns="0" rtlCol="0" anchor="ctr"/>
          <a:lstStyle/>
          <a:p>
            <a:pPr indent="0" marL="0">
              <a:buNone/>
            </a:pPr>
            <a:r>
              <a:rPr lang="en-US" sz="1600" b="1" dirty="0">
                <a:solidFill>
                  <a:srgbClr val="1B232E"/>
                </a:solidFill>
                <a:latin typeface="Inter" pitchFamily="34" charset="0"/>
                <a:ea typeface="Inter" pitchFamily="34" charset="-122"/>
                <a:cs typeface="Inter" pitchFamily="34" charset="-120"/>
              </a:rPr>
              <a:t>SGLang</a:t>
            </a:r>
            <a:endParaRPr lang="en-US" sz="1600" dirty="0"/>
          </a:p>
        </p:txBody>
      </p:sp>
      <p:sp>
        <p:nvSpPr>
          <p:cNvPr id="23" name="Shape 21"/>
          <p:cNvSpPr/>
          <p:nvPr/>
        </p:nvSpPr>
        <p:spPr>
          <a:xfrm>
            <a:off x="457200" y="3977640"/>
            <a:ext cx="1965960" cy="1188720"/>
          </a:xfrm>
          <a:prstGeom prst="roundRect">
            <a:avLst>
              <a:gd name="adj" fmla="val 4615"/>
            </a:avLst>
          </a:prstGeom>
          <a:solidFill>
            <a:srgbClr val="FFFFFF"/>
          </a:solidFill>
          <a:ln w="15875">
            <a:solidFill>
              <a:srgbClr val="1B232E"/>
            </a:solidFill>
            <a:prstDash val="solid"/>
          </a:ln>
        </p:spPr>
      </p:sp>
      <p:sp>
        <p:nvSpPr>
          <p:cNvPr id="24" name="Text 22"/>
          <p:cNvSpPr/>
          <p:nvPr/>
        </p:nvSpPr>
        <p:spPr>
          <a:xfrm>
            <a:off x="530352" y="401421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Agent client</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Chat · Responses</a:t>
            </a:r>
            <a:endParaRPr lang="en-US" sz="1400" dirty="0"/>
          </a:p>
        </p:txBody>
      </p:sp>
      <p:sp>
        <p:nvSpPr>
          <p:cNvPr id="25" name="Shape 23"/>
          <p:cNvSpPr/>
          <p:nvPr/>
        </p:nvSpPr>
        <p:spPr>
          <a:xfrm>
            <a:off x="2423160" y="4572000"/>
            <a:ext cx="365760" cy="914"/>
          </a:xfrm>
          <a:prstGeom prst="line">
            <a:avLst/>
          </a:prstGeom>
          <a:noFill/>
          <a:ln w="22225">
            <a:solidFill>
              <a:srgbClr val="44546A"/>
            </a:solidFill>
            <a:prstDash val="solid"/>
            <a:tailEnd type="triangle"/>
          </a:ln>
        </p:spPr>
      </p:sp>
      <p:sp>
        <p:nvSpPr>
          <p:cNvPr id="26" name="Shape 24"/>
          <p:cNvSpPr/>
          <p:nvPr/>
        </p:nvSpPr>
        <p:spPr>
          <a:xfrm>
            <a:off x="2788920" y="3977640"/>
            <a:ext cx="1965960" cy="1188720"/>
          </a:xfrm>
          <a:prstGeom prst="roundRect">
            <a:avLst>
              <a:gd name="adj" fmla="val 4615"/>
            </a:avLst>
          </a:prstGeom>
          <a:solidFill>
            <a:srgbClr val="2563EB"/>
          </a:solidFill>
          <a:ln w="15875">
            <a:solidFill>
              <a:srgbClr val="2563EB"/>
            </a:solidFill>
            <a:prstDash val="solid"/>
          </a:ln>
        </p:spPr>
      </p:sp>
      <p:sp>
        <p:nvSpPr>
          <p:cNvPr id="27" name="Text 25"/>
          <p:cNvSpPr/>
          <p:nvPr/>
        </p:nvSpPr>
        <p:spPr>
          <a:xfrm>
            <a:off x="2862072" y="4014216"/>
            <a:ext cx="1819656" cy="111556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Model Gateway</a:t>
            </a:r>
            <a:endParaRPr lang="en-US" sz="1400" dirty="0"/>
          </a:p>
          <a:p>
            <a:pPr algn="ctr" indent="0" marL="0">
              <a:buNone/>
            </a:pPr>
            <a:r>
              <a:rPr lang="en-US" sz="1400" dirty="0">
                <a:solidFill>
                  <a:srgbClr val="FFFFFF"/>
                </a:solidFill>
                <a:latin typeface="Inter" pitchFamily="34" charset="0"/>
                <a:ea typeface="Inter" pitchFamily="34" charset="-122"/>
                <a:cs typeface="Inter" pitchFamily="34" charset="-120"/>
              </a:rPr>
              <a:t>cache-aware radix tree · PD</a:t>
            </a:r>
            <a:endParaRPr lang="en-US" sz="1400" dirty="0"/>
          </a:p>
        </p:txBody>
      </p:sp>
      <p:sp>
        <p:nvSpPr>
          <p:cNvPr id="28" name="Shape 26"/>
          <p:cNvSpPr/>
          <p:nvPr/>
        </p:nvSpPr>
        <p:spPr>
          <a:xfrm>
            <a:off x="4754880" y="4572000"/>
            <a:ext cx="365760" cy="914"/>
          </a:xfrm>
          <a:prstGeom prst="line">
            <a:avLst/>
          </a:prstGeom>
          <a:noFill/>
          <a:ln w="22225">
            <a:solidFill>
              <a:srgbClr val="44546A"/>
            </a:solidFill>
            <a:prstDash val="solid"/>
            <a:tailEnd type="triangle"/>
          </a:ln>
        </p:spPr>
      </p:sp>
      <p:sp>
        <p:nvSpPr>
          <p:cNvPr id="29" name="Shape 27"/>
          <p:cNvSpPr/>
          <p:nvPr/>
        </p:nvSpPr>
        <p:spPr>
          <a:xfrm>
            <a:off x="5120640" y="3977640"/>
            <a:ext cx="1965960" cy="1188720"/>
          </a:xfrm>
          <a:prstGeom prst="roundRect">
            <a:avLst>
              <a:gd name="adj" fmla="val 4615"/>
            </a:avLst>
          </a:prstGeom>
          <a:solidFill>
            <a:srgbClr val="DBE7FD"/>
          </a:solidFill>
          <a:ln w="15875">
            <a:solidFill>
              <a:srgbClr val="2563EB"/>
            </a:solidFill>
            <a:prstDash val="solid"/>
          </a:ln>
        </p:spPr>
      </p:sp>
      <p:sp>
        <p:nvSpPr>
          <p:cNvPr id="30" name="Text 28"/>
          <p:cNvSpPr/>
          <p:nvPr/>
        </p:nvSpPr>
        <p:spPr>
          <a:xfrm>
            <a:off x="5193792" y="401421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SGLang server</a:t>
            </a:r>
            <a:endParaRPr lang="en-US" sz="1400" dirty="0"/>
          </a:p>
          <a:p>
            <a:pPr algn="ctr" indent="0" marL="0">
              <a:buNone/>
            </a:pPr>
            <a:r>
              <a:rPr lang="en-US" sz="1400" dirty="0">
                <a:solidFill>
                  <a:srgbClr val="1B232E"/>
                </a:solidFill>
                <a:latin typeface="Inter" pitchFamily="34" charset="0"/>
                <a:ea typeface="Inter" pitchFamily="34" charset="-122"/>
                <a:cs typeface="Inter" pitchFamily="34" charset="-120"/>
              </a:rPr>
              <a:t>tool + reasoning parsers</a:t>
            </a:r>
            <a:endParaRPr lang="en-US" sz="1400" dirty="0"/>
          </a:p>
        </p:txBody>
      </p:sp>
      <p:sp>
        <p:nvSpPr>
          <p:cNvPr id="31" name="Shape 29"/>
          <p:cNvSpPr/>
          <p:nvPr/>
        </p:nvSpPr>
        <p:spPr>
          <a:xfrm>
            <a:off x="7086600" y="4572000"/>
            <a:ext cx="365760" cy="914"/>
          </a:xfrm>
          <a:prstGeom prst="line">
            <a:avLst/>
          </a:prstGeom>
          <a:noFill/>
          <a:ln w="22225">
            <a:solidFill>
              <a:srgbClr val="44546A"/>
            </a:solidFill>
            <a:prstDash val="solid"/>
            <a:tailEnd type="triangle"/>
          </a:ln>
        </p:spPr>
      </p:sp>
      <p:sp>
        <p:nvSpPr>
          <p:cNvPr id="32" name="Shape 30"/>
          <p:cNvSpPr/>
          <p:nvPr/>
        </p:nvSpPr>
        <p:spPr>
          <a:xfrm>
            <a:off x="7452360" y="3977640"/>
            <a:ext cx="1965960" cy="1188720"/>
          </a:xfrm>
          <a:prstGeom prst="roundRect">
            <a:avLst>
              <a:gd name="adj" fmla="val 4615"/>
            </a:avLst>
          </a:prstGeom>
          <a:solidFill>
            <a:srgbClr val="F4F5F7"/>
          </a:solidFill>
          <a:ln w="15875">
            <a:solidFill>
              <a:srgbClr val="1B232E"/>
            </a:solidFill>
            <a:prstDash val="solid"/>
          </a:ln>
        </p:spPr>
      </p:sp>
      <p:sp>
        <p:nvSpPr>
          <p:cNvPr id="33" name="Text 31"/>
          <p:cNvSpPr/>
          <p:nvPr/>
        </p:nvSpPr>
        <p:spPr>
          <a:xfrm>
            <a:off x="7525512" y="401421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SGLang runtime</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RadixAttention · HiCache</a:t>
            </a:r>
            <a:endParaRPr lang="en-US" sz="1400" dirty="0"/>
          </a:p>
        </p:txBody>
      </p:sp>
      <p:sp>
        <p:nvSpPr>
          <p:cNvPr id="34" name="Shape 32"/>
          <p:cNvSpPr/>
          <p:nvPr/>
        </p:nvSpPr>
        <p:spPr>
          <a:xfrm>
            <a:off x="9418320" y="4572000"/>
            <a:ext cx="365760" cy="914"/>
          </a:xfrm>
          <a:prstGeom prst="line">
            <a:avLst/>
          </a:prstGeom>
          <a:noFill/>
          <a:ln w="22225">
            <a:solidFill>
              <a:srgbClr val="44546A"/>
            </a:solidFill>
            <a:prstDash val="solid"/>
            <a:tailEnd type="triangle"/>
          </a:ln>
        </p:spPr>
      </p:sp>
      <p:sp>
        <p:nvSpPr>
          <p:cNvPr id="35" name="Shape 33"/>
          <p:cNvSpPr/>
          <p:nvPr/>
        </p:nvSpPr>
        <p:spPr>
          <a:xfrm>
            <a:off x="9784080" y="3977640"/>
            <a:ext cx="1965960" cy="1188720"/>
          </a:xfrm>
          <a:prstGeom prst="roundRect">
            <a:avLst>
              <a:gd name="adj" fmla="val 4615"/>
            </a:avLst>
          </a:prstGeom>
          <a:solidFill>
            <a:srgbClr val="FFFFFF"/>
          </a:solidFill>
          <a:ln w="15875">
            <a:solidFill>
              <a:srgbClr val="1B232E"/>
            </a:solidFill>
            <a:prstDash val="solid"/>
          </a:ln>
        </p:spPr>
      </p:sp>
      <p:sp>
        <p:nvSpPr>
          <p:cNvPr id="36" name="Text 34"/>
          <p:cNvSpPr/>
          <p:nvPr/>
        </p:nvSpPr>
        <p:spPr>
          <a:xfrm>
            <a:off x="9857232" y="4014216"/>
            <a:ext cx="1819656" cy="11155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PD transfer</a:t>
            </a:r>
            <a:endParaRPr lang="en-US" sz="1400" dirty="0"/>
          </a:p>
          <a:p>
            <a:pPr algn="ctr" indent="0" marL="0">
              <a:buNone/>
            </a:pPr>
            <a:r>
              <a:rPr lang="en-US" sz="1400" dirty="0">
                <a:solidFill>
                  <a:srgbClr val="4A505A"/>
                </a:solidFill>
                <a:latin typeface="Inter" pitchFamily="34" charset="0"/>
                <a:ea typeface="Inter" pitchFamily="34" charset="-122"/>
                <a:cs typeface="Inter" pitchFamily="34" charset="-120"/>
              </a:rPr>
              <a:t>Mooncake · NIXL</a:t>
            </a:r>
            <a:endParaRPr lang="en-US" sz="1400" dirty="0"/>
          </a:p>
        </p:txBody>
      </p:sp>
      <p:sp>
        <p:nvSpPr>
          <p:cNvPr id="37" name="Shape 35"/>
          <p:cNvSpPr/>
          <p:nvPr/>
        </p:nvSpPr>
        <p:spPr>
          <a:xfrm>
            <a:off x="457200" y="5486400"/>
            <a:ext cx="73152" cy="640080"/>
          </a:xfrm>
          <a:prstGeom prst="rect">
            <a:avLst/>
          </a:prstGeom>
          <a:solidFill>
            <a:srgbClr val="2563EB"/>
          </a:solidFill>
          <a:ln w="12700">
            <a:solidFill>
              <a:srgbClr val="2563EB"/>
            </a:solidFill>
            <a:prstDash val="solid"/>
          </a:ln>
        </p:spPr>
      </p:sp>
      <p:sp>
        <p:nvSpPr>
          <p:cNvPr id="38" name="Text 36"/>
          <p:cNvSpPr/>
          <p:nvPr/>
        </p:nvSpPr>
        <p:spPr>
          <a:xfrm>
            <a:off x="685800" y="5486400"/>
            <a:ext cx="11064240" cy="640080"/>
          </a:xfrm>
          <a:prstGeom prst="rect">
            <a:avLst/>
          </a:prstGeom>
          <a:noFill/>
          <a:ln/>
        </p:spPr>
        <p:txBody>
          <a:bodyPr wrap="square" lIns="0" tIns="0" rIns="0" bIns="0" rtlCol="0" anchor="ctr"/>
          <a:lstStyle/>
          <a:p>
            <a:pPr indent="0" marL="0">
              <a:buNone/>
            </a:pPr>
            <a:r>
              <a:rPr lang="en-US" sz="1600" b="1" dirty="0">
                <a:solidFill>
                  <a:srgbClr val="2563EB"/>
                </a:solidFill>
                <a:latin typeface="Inter" pitchFamily="34" charset="0"/>
                <a:ea typeface="Inter" pitchFamily="34" charset="-122"/>
                <a:cs typeface="Inter" pitchFamily="34" charset="-120"/>
              </a:rPr>
              <a:t>Blue = routing; light blue = tool-call path.  </a:t>
            </a:r>
            <a:r>
              <a:rPr lang="en-US" sz="1600" dirty="0">
                <a:solidFill>
                  <a:srgbClr val="1B232E"/>
                </a:solidFill>
                <a:latin typeface="Inter" pitchFamily="34" charset="0"/>
                <a:ea typeface="Inter" pitchFamily="34" charset="-122"/>
                <a:cs typeface="Inter" pitchFamily="34" charset="-120"/>
              </a:rPr>
              <a:t>A shared pool lets a moved session still hit cache.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TOOL CALLING</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Parsers make each tool call valid; AgentX tuning makes the turn after it cheap</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8</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457200" y="1554480"/>
            <a:ext cx="1755648" cy="868680"/>
          </a:xfrm>
          <a:prstGeom prst="homePlate">
            <a:avLst/>
          </a:prstGeom>
          <a:solidFill>
            <a:srgbClr val="1B232E"/>
          </a:solidFill>
          <a:ln w="12700">
            <a:solidFill>
              <a:srgbClr val="1B232E"/>
            </a:solidFill>
            <a:prstDash val="solid"/>
          </a:ln>
        </p:spPr>
      </p:sp>
      <p:sp>
        <p:nvSpPr>
          <p:cNvPr id="8" name="Text 6"/>
          <p:cNvSpPr/>
          <p:nvPr/>
        </p:nvSpPr>
        <p:spPr>
          <a:xfrm>
            <a:off x="566928"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Request + tools</a:t>
            </a:r>
            <a:endParaRPr lang="en-US" sz="1400" dirty="0"/>
          </a:p>
        </p:txBody>
      </p:sp>
      <p:sp>
        <p:nvSpPr>
          <p:cNvPr id="9" name="Shape 7"/>
          <p:cNvSpPr/>
          <p:nvPr/>
        </p:nvSpPr>
        <p:spPr>
          <a:xfrm>
            <a:off x="2368296" y="1554480"/>
            <a:ext cx="1755648" cy="868680"/>
          </a:xfrm>
          <a:prstGeom prst="chevron">
            <a:avLst/>
          </a:prstGeom>
          <a:solidFill>
            <a:srgbClr val="1B232E"/>
          </a:solidFill>
          <a:ln w="12700">
            <a:solidFill>
              <a:srgbClr val="1B232E"/>
            </a:solidFill>
            <a:prstDash val="solid"/>
          </a:ln>
        </p:spPr>
      </p:sp>
      <p:sp>
        <p:nvSpPr>
          <p:cNvPr id="10" name="Text 8"/>
          <p:cNvSpPr/>
          <p:nvPr/>
        </p:nvSpPr>
        <p:spPr>
          <a:xfrm>
            <a:off x="2697480"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Chat template</a:t>
            </a:r>
            <a:endParaRPr lang="en-US" sz="1400" dirty="0"/>
          </a:p>
        </p:txBody>
      </p:sp>
      <p:sp>
        <p:nvSpPr>
          <p:cNvPr id="11" name="Shape 9"/>
          <p:cNvSpPr/>
          <p:nvPr/>
        </p:nvSpPr>
        <p:spPr>
          <a:xfrm>
            <a:off x="4279392" y="1554480"/>
            <a:ext cx="1755648" cy="868680"/>
          </a:xfrm>
          <a:prstGeom prst="chevron">
            <a:avLst/>
          </a:prstGeom>
          <a:solidFill>
            <a:srgbClr val="2563EB"/>
          </a:solidFill>
          <a:ln w="12700">
            <a:solidFill>
              <a:srgbClr val="2563EB"/>
            </a:solidFill>
            <a:prstDash val="solid"/>
          </a:ln>
        </p:spPr>
      </p:sp>
      <p:sp>
        <p:nvSpPr>
          <p:cNvPr id="12" name="Text 10"/>
          <p:cNvSpPr/>
          <p:nvPr/>
        </p:nvSpPr>
        <p:spPr>
          <a:xfrm>
            <a:off x="4608576"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Decode + grammar</a:t>
            </a:r>
            <a:endParaRPr lang="en-US" sz="1400" dirty="0"/>
          </a:p>
        </p:txBody>
      </p:sp>
      <p:sp>
        <p:nvSpPr>
          <p:cNvPr id="13" name="Shape 11"/>
          <p:cNvSpPr/>
          <p:nvPr/>
        </p:nvSpPr>
        <p:spPr>
          <a:xfrm>
            <a:off x="6190488" y="1554480"/>
            <a:ext cx="1755648" cy="868680"/>
          </a:xfrm>
          <a:prstGeom prst="chevron">
            <a:avLst/>
          </a:prstGeom>
          <a:solidFill>
            <a:srgbClr val="2563EB"/>
          </a:solidFill>
          <a:ln w="12700">
            <a:solidFill>
              <a:srgbClr val="2563EB"/>
            </a:solidFill>
            <a:prstDash val="solid"/>
          </a:ln>
        </p:spPr>
      </p:sp>
      <p:sp>
        <p:nvSpPr>
          <p:cNvPr id="14" name="Text 12"/>
          <p:cNvSpPr/>
          <p:nvPr/>
        </p:nvSpPr>
        <p:spPr>
          <a:xfrm>
            <a:off x="6519672"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Tool-call parser</a:t>
            </a:r>
            <a:endParaRPr lang="en-US" sz="1400" dirty="0"/>
          </a:p>
        </p:txBody>
      </p:sp>
      <p:sp>
        <p:nvSpPr>
          <p:cNvPr id="15" name="Shape 13"/>
          <p:cNvSpPr/>
          <p:nvPr/>
        </p:nvSpPr>
        <p:spPr>
          <a:xfrm>
            <a:off x="8101584" y="1554480"/>
            <a:ext cx="1755648" cy="868680"/>
          </a:xfrm>
          <a:prstGeom prst="chevron">
            <a:avLst/>
          </a:prstGeom>
          <a:solidFill>
            <a:srgbClr val="1B232E"/>
          </a:solidFill>
          <a:ln w="12700">
            <a:solidFill>
              <a:srgbClr val="1B232E"/>
            </a:solidFill>
            <a:prstDash val="solid"/>
          </a:ln>
        </p:spPr>
      </p:sp>
      <p:sp>
        <p:nvSpPr>
          <p:cNvPr id="16" name="Text 14"/>
          <p:cNvSpPr/>
          <p:nvPr/>
        </p:nvSpPr>
        <p:spPr>
          <a:xfrm>
            <a:off x="8430768"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Agent runs tool</a:t>
            </a:r>
            <a:endParaRPr lang="en-US" sz="1400" dirty="0"/>
          </a:p>
        </p:txBody>
      </p:sp>
      <p:sp>
        <p:nvSpPr>
          <p:cNvPr id="17" name="Shape 15"/>
          <p:cNvSpPr/>
          <p:nvPr/>
        </p:nvSpPr>
        <p:spPr>
          <a:xfrm>
            <a:off x="10012680" y="1554480"/>
            <a:ext cx="1755648" cy="868680"/>
          </a:xfrm>
          <a:prstGeom prst="chevron">
            <a:avLst/>
          </a:prstGeom>
          <a:solidFill>
            <a:srgbClr val="2563EB"/>
          </a:solidFill>
          <a:ln w="12700">
            <a:solidFill>
              <a:srgbClr val="2563EB"/>
            </a:solidFill>
            <a:prstDash val="solid"/>
          </a:ln>
        </p:spPr>
      </p:sp>
      <p:sp>
        <p:nvSpPr>
          <p:cNvPr id="18" name="Text 16"/>
          <p:cNvSpPr/>
          <p:nvPr/>
        </p:nvSpPr>
        <p:spPr>
          <a:xfrm>
            <a:off x="10341864" y="1554480"/>
            <a:ext cx="1207008"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Sticky next turn</a:t>
            </a:r>
            <a:endParaRPr lang="en-US" sz="1400" dirty="0"/>
          </a:p>
        </p:txBody>
      </p:sp>
      <p:sp>
        <p:nvSpPr>
          <p:cNvPr id="19" name="Shape 17"/>
          <p:cNvSpPr/>
          <p:nvPr/>
        </p:nvSpPr>
        <p:spPr>
          <a:xfrm>
            <a:off x="10881360" y="2423160"/>
            <a:ext cx="0" cy="274320"/>
          </a:xfrm>
          <a:prstGeom prst="line">
            <a:avLst/>
          </a:prstGeom>
          <a:noFill/>
          <a:ln w="19050">
            <a:solidFill>
              <a:srgbClr val="44546A"/>
            </a:solidFill>
            <a:prstDash val="solid"/>
          </a:ln>
        </p:spPr>
      </p:sp>
      <p:sp>
        <p:nvSpPr>
          <p:cNvPr id="20" name="Shape 18"/>
          <p:cNvSpPr/>
          <p:nvPr/>
        </p:nvSpPr>
        <p:spPr>
          <a:xfrm>
            <a:off x="1280160" y="2697480"/>
            <a:ext cx="9601200" cy="0"/>
          </a:xfrm>
          <a:prstGeom prst="line">
            <a:avLst/>
          </a:prstGeom>
          <a:noFill/>
          <a:ln w="19050">
            <a:solidFill>
              <a:srgbClr val="44546A"/>
            </a:solidFill>
            <a:prstDash val="dash"/>
          </a:ln>
        </p:spPr>
      </p:sp>
      <p:sp>
        <p:nvSpPr>
          <p:cNvPr id="21" name="Shape 19"/>
          <p:cNvSpPr/>
          <p:nvPr/>
        </p:nvSpPr>
        <p:spPr>
          <a:xfrm flipV="1">
            <a:off x="1280160" y="2423160"/>
            <a:ext cx="914" cy="274320"/>
          </a:xfrm>
          <a:prstGeom prst="line">
            <a:avLst/>
          </a:prstGeom>
          <a:noFill/>
          <a:ln w="19050">
            <a:solidFill>
              <a:srgbClr val="44546A"/>
            </a:solidFill>
            <a:prstDash val="solid"/>
            <a:tailEnd type="triangle"/>
          </a:ln>
        </p:spPr>
      </p:sp>
      <p:sp>
        <p:nvSpPr>
          <p:cNvPr id="22" name="Text 20"/>
          <p:cNvSpPr/>
          <p:nvPr/>
        </p:nvSpPr>
        <p:spPr>
          <a:xfrm>
            <a:off x="3108960" y="2724912"/>
            <a:ext cx="6035040" cy="292608"/>
          </a:xfrm>
          <a:prstGeom prst="rect">
            <a:avLst/>
          </a:prstGeom>
          <a:noFill/>
          <a:ln/>
        </p:spPr>
        <p:txBody>
          <a:bodyPr wrap="square" lIns="0" tIns="0" rIns="0" bIns="0" rtlCol="0" anchor="ctr"/>
          <a:lstStyle/>
          <a:p>
            <a:pPr algn="ctr" indent="0" marL="0">
              <a:buNone/>
            </a:pPr>
            <a:r>
              <a:rPr lang="en-US" sz="1400" i="1" dirty="0">
                <a:solidFill>
                  <a:srgbClr val="7A808A"/>
                </a:solidFill>
                <a:latin typeface="Inter" pitchFamily="34" charset="0"/>
                <a:ea typeface="Inter" pitchFamily="34" charset="-122"/>
                <a:cs typeface="Inter" pitchFamily="34" charset="-120"/>
              </a:rPr>
              <a:t>tool result appended → prefix hit → short, capped prefill</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92840" cy="914400"/>
        </p:xfrm>
        <a:graphic>
          <a:graphicData uri="http://schemas.openxmlformats.org/drawingml/2006/table">
            <a:tbl>
              <a:tblPr/>
              <a:tblGrid>
                <a:gridCol w="2240280"/>
                <a:gridCol w="4526280"/>
                <a:gridCol w="4526280"/>
              </a:tblGrid>
              <a:tr h="548640">
                <a:tc>
                  <a:txBody>
                    <a:bodyPr/>
                    <a:lstStyle/>
                    <a:p>
                      <a:pPr indent="0" marL="0">
                        <a:buNone/>
                      </a:pPr>
                      <a:r>
                        <a:rPr lang="en-US" sz="1400" b="1" dirty="0">
                          <a:solidFill>
                            <a:srgbClr val="FFFFFF"/>
                          </a:solidFill>
                          <a:latin typeface="Inter" pitchFamily="34" charset="0"/>
                          <a:ea typeface="Inter" pitchFamily="34" charset="-122"/>
                          <a:cs typeface="Inter" pitchFamily="34" charset="-120"/>
                        </a:rPr>
                        <a:t>Where they differ</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1B232E"/>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vLLM (AgentX-tuned)</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44546A"/>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SGLang</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1B232E"/>
                    </a:solidFill>
                  </a:tcPr>
                </a:tc>
              </a:tr>
              <a:tr h="548640">
                <a:tc>
                  <a:txBody>
                    <a:bodyPr/>
                    <a:lstStyle/>
                    <a:p>
                      <a:pPr indent="0" marL="0">
                        <a:buNone/>
                      </a:pPr>
                      <a:r>
                        <a:rPr lang="en-US" sz="1400" b="1" dirty="0">
                          <a:solidFill>
                            <a:srgbClr val="1B232E"/>
                          </a:solidFill>
                          <a:latin typeface="Inter" pitchFamily="34" charset="0"/>
                          <a:ea typeface="Inter" pitchFamily="34" charset="-122"/>
                          <a:cs typeface="Inter" pitchFamily="34" charset="-120"/>
                        </a:rPr>
                        <a:t>Enable</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--enable-auto-tool-choice + --tool-call-parser</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--tool-call-parser</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548640">
                <a:tc>
                  <a:txBody>
                    <a:bodyPr/>
                    <a:lstStyle/>
                    <a:p>
                      <a:pPr indent="0" marL="0">
                        <a:buNone/>
                      </a:pPr>
                      <a:r>
                        <a:rPr lang="en-US" sz="1400" b="1" dirty="0">
                          <a:solidFill>
                            <a:srgbClr val="1B232E"/>
                          </a:solidFill>
                          <a:latin typeface="Inter" pitchFamily="34" charset="0"/>
                          <a:ea typeface="Inter" pitchFamily="34" charset="-122"/>
                          <a:cs typeface="Inter" pitchFamily="34" charset="-120"/>
                        </a:rPr>
                        <a:t>Strict arguments</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strict: true or --tool-strict-level</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required / named tools via EBNF (xgrammar)</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548640">
                <a:tc>
                  <a:txBody>
                    <a:bodyPr/>
                    <a:lstStyle/>
                    <a:p>
                      <a:pPr indent="0" marL="0">
                        <a:buNone/>
                      </a:pPr>
                      <a:r>
                        <a:rPr lang="en-US" sz="1400" b="1" dirty="0">
                          <a:solidFill>
                            <a:srgbClr val="1B232E"/>
                          </a:solidFill>
                          <a:latin typeface="Inter" pitchFamily="34" charset="0"/>
                          <a:ea typeface="Inter" pitchFamily="34" charset="-122"/>
                          <a:cs typeface="Inter" pitchFamily="34" charset="-120"/>
                        </a:rPr>
                        <a:t>Our models</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Muse: muse · reasoning: --reasoning-parser</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4A505A"/>
                          </a:solidFill>
                          <a:latin typeface="Inter" pitchFamily="34" charset="0"/>
                          <a:ea typeface="Inter" pitchFamily="34" charset="-122"/>
                          <a:cs typeface="Inter" pitchFamily="34" charset="-120"/>
                        </a:rPr>
                        <a:t>Inkling: inkling (tool + reasoning)</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r h="548640">
                <a:tc>
                  <a:txBody>
                    <a:bodyPr/>
                    <a:lstStyle/>
                    <a:p>
                      <a:pPr indent="0" marL="0">
                        <a:buNone/>
                      </a:pPr>
                      <a:r>
                        <a:rPr lang="en-US" sz="1400" b="1" dirty="0">
                          <a:solidFill>
                            <a:srgbClr val="1B232E"/>
                          </a:solidFill>
                          <a:latin typeface="Inter" pitchFamily="34" charset="0"/>
                          <a:ea typeface="Inter" pitchFamily="34" charset="-122"/>
                          <a:cs typeface="Inter" pitchFamily="34" charset="-120"/>
                        </a:rPr>
                        <a:t>Next turn</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sticky session · --long-prefill-token-threshold</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2563EB"/>
                          </a:solidFill>
                          <a:latin typeface="Inter" pitchFamily="34" charset="0"/>
                          <a:ea typeface="Inter" pitchFamily="34" charset="-122"/>
                          <a:cs typeface="Inter" pitchFamily="34" charset="-120"/>
                        </a:rPr>
                        <a:t>cache-aware gateway · chunked prefill</a:t>
                      </a:r>
                      <a:endParaRPr lang="en-US" sz="1400" dirty="0">
                        <a:latin typeface="Inter" charset="0"/>
                        <a:ea typeface="Inter" charset="0"/>
                        <a:cs typeface="Inter" charset="0"/>
                      </a:endParaRPr>
                    </a:p>
                  </a:txBody>
                  <a:tcPr marL="109728" marR="109728" marT="36576" marB="36576" anchor="ctr">
                    <a:lnL w="12700" cap="flat" cmpd="sng" algn="ctr">
                      <a:solidFill>
                        <a:srgbClr val="D9DCE1"/>
                      </a:solidFill>
                      <a:prstDash val="solid"/>
                      <a:round/>
                      <a:headEnd type="none" w="med" len="med"/>
                      <a:tailEnd type="none" w="med" len="med"/>
                    </a:lnL>
                    <a:lnR w="12700" cap="flat" cmpd="sng" algn="ctr">
                      <a:solidFill>
                        <a:srgbClr val="D9DCE1"/>
                      </a:solidFill>
                      <a:prstDash val="solid"/>
                      <a:round/>
                      <a:headEnd type="none" w="med" len="med"/>
                      <a:tailEnd type="none" w="med" len="med"/>
                    </a:lnR>
                    <a:lnT w="12700" cap="flat" cmpd="sng" algn="ctr">
                      <a:solidFill>
                        <a:srgbClr val="D9DCE1"/>
                      </a:solidFill>
                      <a:prstDash val="solid"/>
                      <a:round/>
                      <a:headEnd type="none" w="med" len="med"/>
                      <a:tailEnd type="none" w="med" len="med"/>
                    </a:lnT>
                    <a:lnB w="12700" cap="flat" cmpd="sng" algn="ctr">
                      <a:solidFill>
                        <a:srgbClr val="D9DCE1"/>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LATEST RELEASES</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October releases add agent-aware routing, stricter tool calls and safer retries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9</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457200" y="1600200"/>
            <a:ext cx="3520440" cy="54864"/>
          </a:xfrm>
          <a:prstGeom prst="rect">
            <a:avLst/>
          </a:prstGeom>
          <a:solidFill>
            <a:srgbClr val="44546A"/>
          </a:solidFill>
          <a:ln w="12700">
            <a:solidFill>
              <a:srgbClr val="FFFFFF"/>
            </a:solidFill>
            <a:prstDash val="solid"/>
          </a:ln>
        </p:spPr>
      </p:sp>
      <p:sp>
        <p:nvSpPr>
          <p:cNvPr id="8" name="Text 6"/>
          <p:cNvSpPr/>
          <p:nvPr/>
        </p:nvSpPr>
        <p:spPr>
          <a:xfrm>
            <a:off x="457200" y="1737360"/>
            <a:ext cx="3520440" cy="365760"/>
          </a:xfrm>
          <a:prstGeom prst="rect">
            <a:avLst/>
          </a:prstGeom>
          <a:noFill/>
          <a:ln/>
        </p:spPr>
        <p:txBody>
          <a:bodyPr wrap="square" lIns="0" tIns="0" rIns="0" bIns="0" rtlCol="0" anchor="ctr"/>
          <a:lstStyle/>
          <a:p>
            <a:pPr indent="0" marL="0">
              <a:buNone/>
            </a:pPr>
            <a:r>
              <a:rPr lang="en-US" sz="1600" b="1" dirty="0">
                <a:solidFill>
                  <a:srgbClr val="7A808A"/>
                </a:solidFill>
                <a:latin typeface="Inter" pitchFamily="34" charset="0"/>
                <a:ea typeface="Inter" pitchFamily="34" charset="-122"/>
                <a:cs typeface="Inter" pitchFamily="34" charset="-120"/>
              </a:rPr>
              <a:t>vLLM</a:t>
            </a:r>
            <a:endParaRPr lang="en-US" sz="1600" dirty="0"/>
          </a:p>
        </p:txBody>
      </p:sp>
      <p:sp>
        <p:nvSpPr>
          <p:cNvPr id="9" name="Text 7"/>
          <p:cNvSpPr/>
          <p:nvPr/>
        </p:nvSpPr>
        <p:spPr>
          <a:xfrm>
            <a:off x="457200" y="2103120"/>
            <a:ext cx="3520440" cy="685800"/>
          </a:xfrm>
          <a:prstGeom prst="rect">
            <a:avLst/>
          </a:prstGeom>
          <a:noFill/>
          <a:ln/>
        </p:spPr>
        <p:txBody>
          <a:bodyPr wrap="square" lIns="0" tIns="0" rIns="0" bIns="0" rtlCol="0" anchor="ctr"/>
          <a:lstStyle/>
          <a:p>
            <a:pPr indent="0" marL="0">
              <a:buNone/>
            </a:pPr>
            <a:r>
              <a:rPr lang="en-US" sz="3600" b="1" dirty="0">
                <a:solidFill>
                  <a:srgbClr val="1B232E"/>
                </a:solidFill>
                <a:latin typeface="Inter" pitchFamily="34" charset="0"/>
                <a:ea typeface="Inter" pitchFamily="34" charset="-122"/>
                <a:cs typeface="Inter" pitchFamily="34" charset="-120"/>
              </a:rPr>
              <a:t>v0.32.0</a:t>
            </a:r>
            <a:endParaRPr lang="en-US" sz="3600" dirty="0"/>
          </a:p>
        </p:txBody>
      </p:sp>
      <p:sp>
        <p:nvSpPr>
          <p:cNvPr id="10" name="Text 8"/>
          <p:cNvSpPr/>
          <p:nvPr/>
        </p:nvSpPr>
        <p:spPr>
          <a:xfrm>
            <a:off x="457200" y="2788920"/>
            <a:ext cx="352044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18 Oct 2026</a:t>
            </a:r>
            <a:endParaRPr lang="en-US" sz="1400" dirty="0"/>
          </a:p>
        </p:txBody>
      </p:sp>
      <p:sp>
        <p:nvSpPr>
          <p:cNvPr id="11" name="Shape 9"/>
          <p:cNvSpPr/>
          <p:nvPr/>
        </p:nvSpPr>
        <p:spPr>
          <a:xfrm>
            <a:off x="457200" y="3401568"/>
            <a:ext cx="128016" cy="128016"/>
          </a:xfrm>
          <a:prstGeom prst="ellipse">
            <a:avLst/>
          </a:prstGeom>
          <a:solidFill>
            <a:srgbClr val="2563EB"/>
          </a:solidFill>
          <a:ln w="12700">
            <a:solidFill>
              <a:srgbClr val="2563EB"/>
            </a:solidFill>
            <a:prstDash val="solid"/>
          </a:ln>
        </p:spPr>
      </p:sp>
      <p:sp>
        <p:nvSpPr>
          <p:cNvPr id="12" name="Text 10"/>
          <p:cNvSpPr/>
          <p:nvPr/>
        </p:nvSpPr>
        <p:spPr>
          <a:xfrm>
            <a:off x="713232" y="3291840"/>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Tool parser checked at startup</a:t>
            </a:r>
            <a:endParaRPr lang="en-US" sz="1500" dirty="0"/>
          </a:p>
        </p:txBody>
      </p:sp>
      <p:sp>
        <p:nvSpPr>
          <p:cNvPr id="13" name="Shape 11"/>
          <p:cNvSpPr/>
          <p:nvPr/>
        </p:nvSpPr>
        <p:spPr>
          <a:xfrm>
            <a:off x="457200" y="4023360"/>
            <a:ext cx="128016" cy="128016"/>
          </a:xfrm>
          <a:prstGeom prst="ellipse">
            <a:avLst/>
          </a:prstGeom>
          <a:solidFill>
            <a:srgbClr val="2563EB"/>
          </a:solidFill>
          <a:ln w="12700">
            <a:solidFill>
              <a:srgbClr val="2563EB"/>
            </a:solidFill>
            <a:prstDash val="solid"/>
          </a:ln>
        </p:spPr>
      </p:sp>
      <p:sp>
        <p:nvSpPr>
          <p:cNvPr id="14" name="Text 12"/>
          <p:cNvSpPr/>
          <p:nvPr/>
        </p:nvSpPr>
        <p:spPr>
          <a:xfrm>
            <a:off x="713232" y="3913632"/>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parallel_tool_calls=false enforced</a:t>
            </a:r>
            <a:endParaRPr lang="en-US" sz="1500" dirty="0"/>
          </a:p>
        </p:txBody>
      </p:sp>
      <p:sp>
        <p:nvSpPr>
          <p:cNvPr id="15" name="Shape 13"/>
          <p:cNvSpPr/>
          <p:nvPr/>
        </p:nvSpPr>
        <p:spPr>
          <a:xfrm>
            <a:off x="457200" y="4645152"/>
            <a:ext cx="128016" cy="128016"/>
          </a:xfrm>
          <a:prstGeom prst="ellipse">
            <a:avLst/>
          </a:prstGeom>
          <a:solidFill>
            <a:srgbClr val="2563EB"/>
          </a:solidFill>
          <a:ln w="12700">
            <a:solidFill>
              <a:srgbClr val="2563EB"/>
            </a:solidFill>
            <a:prstDash val="solid"/>
          </a:ln>
        </p:spPr>
      </p:sp>
      <p:sp>
        <p:nvSpPr>
          <p:cNvPr id="16" name="Text 14"/>
          <p:cNvSpPr/>
          <p:nvPr/>
        </p:nvSpPr>
        <p:spPr>
          <a:xfrm>
            <a:off x="713232" y="4535424"/>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tool_choice=required streams</a:t>
            </a:r>
            <a:endParaRPr lang="en-US" sz="1500" dirty="0"/>
          </a:p>
        </p:txBody>
      </p:sp>
      <p:sp>
        <p:nvSpPr>
          <p:cNvPr id="17" name="Shape 15"/>
          <p:cNvSpPr/>
          <p:nvPr/>
        </p:nvSpPr>
        <p:spPr>
          <a:xfrm>
            <a:off x="457200" y="5266944"/>
            <a:ext cx="128016" cy="128016"/>
          </a:xfrm>
          <a:prstGeom prst="ellipse">
            <a:avLst/>
          </a:prstGeom>
          <a:solidFill>
            <a:srgbClr val="2563EB"/>
          </a:solidFill>
          <a:ln w="12700">
            <a:solidFill>
              <a:srgbClr val="2563EB"/>
            </a:solidFill>
            <a:prstDash val="solid"/>
          </a:ln>
        </p:spPr>
      </p:sp>
      <p:sp>
        <p:nvSpPr>
          <p:cNvPr id="18" name="Text 16"/>
          <p:cNvSpPr/>
          <p:nvPr/>
        </p:nvSpPr>
        <p:spPr>
          <a:xfrm>
            <a:off x="713232" y="5157216"/>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Cache-hit &amp; admission metrics</a:t>
            </a:r>
            <a:endParaRPr lang="en-US" sz="1500" dirty="0"/>
          </a:p>
        </p:txBody>
      </p:sp>
      <p:sp>
        <p:nvSpPr>
          <p:cNvPr id="19" name="Shape 17"/>
          <p:cNvSpPr/>
          <p:nvPr/>
        </p:nvSpPr>
        <p:spPr>
          <a:xfrm>
            <a:off x="4343400" y="1600200"/>
            <a:ext cx="3520440" cy="54864"/>
          </a:xfrm>
          <a:prstGeom prst="rect">
            <a:avLst/>
          </a:prstGeom>
          <a:solidFill>
            <a:srgbClr val="1B232E"/>
          </a:solidFill>
          <a:ln w="12700">
            <a:solidFill>
              <a:srgbClr val="FFFFFF"/>
            </a:solidFill>
            <a:prstDash val="solid"/>
          </a:ln>
        </p:spPr>
      </p:sp>
      <p:sp>
        <p:nvSpPr>
          <p:cNvPr id="20" name="Text 18"/>
          <p:cNvSpPr/>
          <p:nvPr/>
        </p:nvSpPr>
        <p:spPr>
          <a:xfrm>
            <a:off x="4343400" y="1737360"/>
            <a:ext cx="3520440" cy="365760"/>
          </a:xfrm>
          <a:prstGeom prst="rect">
            <a:avLst/>
          </a:prstGeom>
          <a:noFill/>
          <a:ln/>
        </p:spPr>
        <p:txBody>
          <a:bodyPr wrap="square" lIns="0" tIns="0" rIns="0" bIns="0" rtlCol="0" anchor="ctr"/>
          <a:lstStyle/>
          <a:p>
            <a:pPr indent="0" marL="0">
              <a:buNone/>
            </a:pPr>
            <a:r>
              <a:rPr lang="en-US" sz="1600" b="1" dirty="0">
                <a:solidFill>
                  <a:srgbClr val="7A808A"/>
                </a:solidFill>
                <a:latin typeface="Inter" pitchFamily="34" charset="0"/>
                <a:ea typeface="Inter" pitchFamily="34" charset="-122"/>
                <a:cs typeface="Inter" pitchFamily="34" charset="-120"/>
              </a:rPr>
              <a:t>SGLang</a:t>
            </a:r>
            <a:endParaRPr lang="en-US" sz="1600" dirty="0"/>
          </a:p>
        </p:txBody>
      </p:sp>
      <p:sp>
        <p:nvSpPr>
          <p:cNvPr id="21" name="Text 19"/>
          <p:cNvSpPr/>
          <p:nvPr/>
        </p:nvSpPr>
        <p:spPr>
          <a:xfrm>
            <a:off x="4343400" y="2103120"/>
            <a:ext cx="3520440" cy="685800"/>
          </a:xfrm>
          <a:prstGeom prst="rect">
            <a:avLst/>
          </a:prstGeom>
          <a:noFill/>
          <a:ln/>
        </p:spPr>
        <p:txBody>
          <a:bodyPr wrap="square" lIns="0" tIns="0" rIns="0" bIns="0" rtlCol="0" anchor="ctr"/>
          <a:lstStyle/>
          <a:p>
            <a:pPr indent="0" marL="0">
              <a:buNone/>
            </a:pPr>
            <a:r>
              <a:rPr lang="en-US" sz="3600" b="1" dirty="0">
                <a:solidFill>
                  <a:srgbClr val="1B232E"/>
                </a:solidFill>
                <a:latin typeface="Inter" pitchFamily="34" charset="0"/>
                <a:ea typeface="Inter" pitchFamily="34" charset="-122"/>
                <a:cs typeface="Inter" pitchFamily="34" charset="-120"/>
              </a:rPr>
              <a:t>v0.5.22</a:t>
            </a:r>
            <a:endParaRPr lang="en-US" sz="3600" dirty="0"/>
          </a:p>
        </p:txBody>
      </p:sp>
      <p:sp>
        <p:nvSpPr>
          <p:cNvPr id="22" name="Text 20"/>
          <p:cNvSpPr/>
          <p:nvPr/>
        </p:nvSpPr>
        <p:spPr>
          <a:xfrm>
            <a:off x="4343400" y="2788920"/>
            <a:ext cx="352044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19 Oct 2026</a:t>
            </a:r>
            <a:endParaRPr lang="en-US" sz="1400" dirty="0"/>
          </a:p>
        </p:txBody>
      </p:sp>
      <p:sp>
        <p:nvSpPr>
          <p:cNvPr id="23" name="Shape 21"/>
          <p:cNvSpPr/>
          <p:nvPr/>
        </p:nvSpPr>
        <p:spPr>
          <a:xfrm>
            <a:off x="4343400" y="3401568"/>
            <a:ext cx="128016" cy="128016"/>
          </a:xfrm>
          <a:prstGeom prst="ellipse">
            <a:avLst/>
          </a:prstGeom>
          <a:solidFill>
            <a:srgbClr val="2563EB"/>
          </a:solidFill>
          <a:ln w="12700">
            <a:solidFill>
              <a:srgbClr val="2563EB"/>
            </a:solidFill>
            <a:prstDash val="solid"/>
          </a:ln>
        </p:spPr>
      </p:sp>
      <p:sp>
        <p:nvSpPr>
          <p:cNvPr id="24" name="Text 22"/>
          <p:cNvSpPr/>
          <p:nvPr/>
        </p:nvSpPr>
        <p:spPr>
          <a:xfrm>
            <a:off x="4599432" y="3291840"/>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Gateway retries on another worker</a:t>
            </a:r>
            <a:endParaRPr lang="en-US" sz="1500" dirty="0"/>
          </a:p>
        </p:txBody>
      </p:sp>
      <p:sp>
        <p:nvSpPr>
          <p:cNvPr id="25" name="Shape 23"/>
          <p:cNvSpPr/>
          <p:nvPr/>
        </p:nvSpPr>
        <p:spPr>
          <a:xfrm>
            <a:off x="4343400" y="4023360"/>
            <a:ext cx="128016" cy="128016"/>
          </a:xfrm>
          <a:prstGeom prst="ellipse">
            <a:avLst/>
          </a:prstGeom>
          <a:solidFill>
            <a:srgbClr val="2563EB"/>
          </a:solidFill>
          <a:ln w="12700">
            <a:solidFill>
              <a:srgbClr val="2563EB"/>
            </a:solidFill>
            <a:prstDash val="solid"/>
          </a:ln>
        </p:spPr>
      </p:sp>
      <p:sp>
        <p:nvSpPr>
          <p:cNvPr id="26" name="Text 24"/>
          <p:cNvSpPr/>
          <p:nvPr/>
        </p:nvSpPr>
        <p:spPr>
          <a:xfrm>
            <a:off x="4599432" y="3913632"/>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Session + cache affinity unified</a:t>
            </a:r>
            <a:endParaRPr lang="en-US" sz="1500" dirty="0"/>
          </a:p>
        </p:txBody>
      </p:sp>
      <p:sp>
        <p:nvSpPr>
          <p:cNvPr id="27" name="Shape 25"/>
          <p:cNvSpPr/>
          <p:nvPr/>
        </p:nvSpPr>
        <p:spPr>
          <a:xfrm>
            <a:off x="4343400" y="4645152"/>
            <a:ext cx="128016" cy="128016"/>
          </a:xfrm>
          <a:prstGeom prst="ellipse">
            <a:avLst/>
          </a:prstGeom>
          <a:solidFill>
            <a:srgbClr val="2563EB"/>
          </a:solidFill>
          <a:ln w="12700">
            <a:solidFill>
              <a:srgbClr val="2563EB"/>
            </a:solidFill>
            <a:prstDash val="solid"/>
          </a:ln>
        </p:spPr>
      </p:sp>
      <p:sp>
        <p:nvSpPr>
          <p:cNvPr id="28" name="Text 26"/>
          <p:cNvSpPr/>
          <p:nvPr/>
        </p:nvSpPr>
        <p:spPr>
          <a:xfrm>
            <a:off x="4599432" y="4535424"/>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PD: ½ p95 TTFT, long prompts*</a:t>
            </a:r>
            <a:endParaRPr lang="en-US" sz="1500" dirty="0"/>
          </a:p>
        </p:txBody>
      </p:sp>
      <p:sp>
        <p:nvSpPr>
          <p:cNvPr id="29" name="Shape 27"/>
          <p:cNvSpPr/>
          <p:nvPr/>
        </p:nvSpPr>
        <p:spPr>
          <a:xfrm>
            <a:off x="4343400" y="5266944"/>
            <a:ext cx="128016" cy="128016"/>
          </a:xfrm>
          <a:prstGeom prst="ellipse">
            <a:avLst/>
          </a:prstGeom>
          <a:solidFill>
            <a:srgbClr val="2563EB"/>
          </a:solidFill>
          <a:ln w="12700">
            <a:solidFill>
              <a:srgbClr val="2563EB"/>
            </a:solidFill>
            <a:prstDash val="solid"/>
          </a:ln>
        </p:spPr>
      </p:sp>
      <p:sp>
        <p:nvSpPr>
          <p:cNvPr id="30" name="Text 28"/>
          <p:cNvSpPr/>
          <p:nvPr/>
        </p:nvSpPr>
        <p:spPr>
          <a:xfrm>
            <a:off x="4599432" y="5157216"/>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Fix: spec + grammar, hybrid models</a:t>
            </a:r>
            <a:endParaRPr lang="en-US" sz="1500" dirty="0"/>
          </a:p>
        </p:txBody>
      </p:sp>
      <p:sp>
        <p:nvSpPr>
          <p:cNvPr id="31" name="Shape 29"/>
          <p:cNvSpPr/>
          <p:nvPr/>
        </p:nvSpPr>
        <p:spPr>
          <a:xfrm>
            <a:off x="8229600" y="1600200"/>
            <a:ext cx="3520440" cy="54864"/>
          </a:xfrm>
          <a:prstGeom prst="rect">
            <a:avLst/>
          </a:prstGeom>
          <a:solidFill>
            <a:srgbClr val="2563EB"/>
          </a:solidFill>
          <a:ln w="12700">
            <a:solidFill>
              <a:srgbClr val="FFFFFF"/>
            </a:solidFill>
            <a:prstDash val="solid"/>
          </a:ln>
        </p:spPr>
      </p:sp>
      <p:sp>
        <p:nvSpPr>
          <p:cNvPr id="32" name="Text 30"/>
          <p:cNvSpPr/>
          <p:nvPr/>
        </p:nvSpPr>
        <p:spPr>
          <a:xfrm>
            <a:off x="8229600" y="1737360"/>
            <a:ext cx="3520440" cy="365760"/>
          </a:xfrm>
          <a:prstGeom prst="rect">
            <a:avLst/>
          </a:prstGeom>
          <a:noFill/>
          <a:ln/>
        </p:spPr>
        <p:txBody>
          <a:bodyPr wrap="square" lIns="0" tIns="0" rIns="0" bIns="0" rtlCol="0" anchor="ctr"/>
          <a:lstStyle/>
          <a:p>
            <a:pPr indent="0" marL="0">
              <a:buNone/>
            </a:pPr>
            <a:r>
              <a:rPr lang="en-US" sz="1600" b="1" dirty="0">
                <a:solidFill>
                  <a:srgbClr val="7A808A"/>
                </a:solidFill>
                <a:latin typeface="Inter" pitchFamily="34" charset="0"/>
                <a:ea typeface="Inter" pitchFamily="34" charset="-122"/>
                <a:cs typeface="Inter" pitchFamily="34" charset="-120"/>
              </a:rPr>
              <a:t>llm-d</a:t>
            </a:r>
            <a:endParaRPr lang="en-US" sz="1600" dirty="0"/>
          </a:p>
        </p:txBody>
      </p:sp>
      <p:sp>
        <p:nvSpPr>
          <p:cNvPr id="33" name="Text 31"/>
          <p:cNvSpPr/>
          <p:nvPr/>
        </p:nvSpPr>
        <p:spPr>
          <a:xfrm>
            <a:off x="8229600" y="2103120"/>
            <a:ext cx="3520440" cy="685800"/>
          </a:xfrm>
          <a:prstGeom prst="rect">
            <a:avLst/>
          </a:prstGeom>
          <a:noFill/>
          <a:ln/>
        </p:spPr>
        <p:txBody>
          <a:bodyPr wrap="square" lIns="0" tIns="0" rIns="0" bIns="0" rtlCol="0" anchor="ctr"/>
          <a:lstStyle/>
          <a:p>
            <a:pPr indent="0" marL="0">
              <a:buNone/>
            </a:pPr>
            <a:r>
              <a:rPr lang="en-US" sz="3600" b="1" dirty="0">
                <a:solidFill>
                  <a:srgbClr val="1B232E"/>
                </a:solidFill>
                <a:latin typeface="Inter" pitchFamily="34" charset="0"/>
                <a:ea typeface="Inter" pitchFamily="34" charset="-122"/>
                <a:cs typeface="Inter" pitchFamily="34" charset="-120"/>
              </a:rPr>
              <a:t>v1.0.0</a:t>
            </a:r>
            <a:endParaRPr lang="en-US" sz="3600" dirty="0"/>
          </a:p>
        </p:txBody>
      </p:sp>
      <p:sp>
        <p:nvSpPr>
          <p:cNvPr id="34" name="Text 32"/>
          <p:cNvSpPr/>
          <p:nvPr/>
        </p:nvSpPr>
        <p:spPr>
          <a:xfrm>
            <a:off x="8229600" y="2788920"/>
            <a:ext cx="352044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20 Oct 2026</a:t>
            </a:r>
            <a:endParaRPr lang="en-US" sz="1400" dirty="0"/>
          </a:p>
        </p:txBody>
      </p:sp>
      <p:sp>
        <p:nvSpPr>
          <p:cNvPr id="35" name="Shape 33"/>
          <p:cNvSpPr/>
          <p:nvPr/>
        </p:nvSpPr>
        <p:spPr>
          <a:xfrm>
            <a:off x="8229600" y="3401568"/>
            <a:ext cx="128016" cy="128016"/>
          </a:xfrm>
          <a:prstGeom prst="ellipse">
            <a:avLst/>
          </a:prstGeom>
          <a:solidFill>
            <a:srgbClr val="2563EB"/>
          </a:solidFill>
          <a:ln w="12700">
            <a:solidFill>
              <a:srgbClr val="2563EB"/>
            </a:solidFill>
            <a:prstDash val="solid"/>
          </a:ln>
        </p:spPr>
      </p:sp>
      <p:sp>
        <p:nvSpPr>
          <p:cNvPr id="36" name="Text 34"/>
          <p:cNvSpPr/>
          <p:nvPr/>
        </p:nvSpPr>
        <p:spPr>
          <a:xfrm>
            <a:off x="8485632" y="3291840"/>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Session affinity, turn priority</a:t>
            </a:r>
            <a:endParaRPr lang="en-US" sz="1500" dirty="0"/>
          </a:p>
        </p:txBody>
      </p:sp>
      <p:sp>
        <p:nvSpPr>
          <p:cNvPr id="37" name="Shape 35"/>
          <p:cNvSpPr/>
          <p:nvPr/>
        </p:nvSpPr>
        <p:spPr>
          <a:xfrm>
            <a:off x="8229600" y="4023360"/>
            <a:ext cx="128016" cy="128016"/>
          </a:xfrm>
          <a:prstGeom prst="ellipse">
            <a:avLst/>
          </a:prstGeom>
          <a:solidFill>
            <a:srgbClr val="2563EB"/>
          </a:solidFill>
          <a:ln w="12700">
            <a:solidFill>
              <a:srgbClr val="2563EB"/>
            </a:solidFill>
            <a:prstDash val="solid"/>
          </a:ln>
        </p:spPr>
      </p:sp>
      <p:sp>
        <p:nvSpPr>
          <p:cNvPr id="38" name="Text 36"/>
          <p:cNvSpPr/>
          <p:nvPr/>
        </p:nvSpPr>
        <p:spPr>
          <a:xfrm>
            <a:off x="8485632" y="3913632"/>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Responses previous_response_id</a:t>
            </a:r>
            <a:endParaRPr lang="en-US" sz="1500" dirty="0"/>
          </a:p>
        </p:txBody>
      </p:sp>
      <p:sp>
        <p:nvSpPr>
          <p:cNvPr id="39" name="Shape 37"/>
          <p:cNvSpPr/>
          <p:nvPr/>
        </p:nvSpPr>
        <p:spPr>
          <a:xfrm>
            <a:off x="8229600" y="4645152"/>
            <a:ext cx="128016" cy="128016"/>
          </a:xfrm>
          <a:prstGeom prst="ellipse">
            <a:avLst/>
          </a:prstGeom>
          <a:solidFill>
            <a:srgbClr val="2563EB"/>
          </a:solidFill>
          <a:ln w="12700">
            <a:solidFill>
              <a:srgbClr val="2563EB"/>
            </a:solidFill>
            <a:prstDash val="solid"/>
          </a:ln>
        </p:spPr>
      </p:sp>
      <p:sp>
        <p:nvSpPr>
          <p:cNvPr id="40" name="Text 38"/>
          <p:cNvSpPr/>
          <p:nvPr/>
        </p:nvSpPr>
        <p:spPr>
          <a:xfrm>
            <a:off x="8485632" y="4535424"/>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Router HA, config API v1</a:t>
            </a:r>
            <a:endParaRPr lang="en-US" sz="1500" dirty="0"/>
          </a:p>
        </p:txBody>
      </p:sp>
      <p:sp>
        <p:nvSpPr>
          <p:cNvPr id="41" name="Shape 39"/>
          <p:cNvSpPr/>
          <p:nvPr/>
        </p:nvSpPr>
        <p:spPr>
          <a:xfrm>
            <a:off x="8229600" y="5266944"/>
            <a:ext cx="128016" cy="128016"/>
          </a:xfrm>
          <a:prstGeom prst="ellipse">
            <a:avLst/>
          </a:prstGeom>
          <a:solidFill>
            <a:srgbClr val="2563EB"/>
          </a:solidFill>
          <a:ln w="12700">
            <a:solidFill>
              <a:srgbClr val="2563EB"/>
            </a:solidFill>
            <a:prstDash val="solid"/>
          </a:ln>
        </p:spPr>
      </p:sp>
      <p:sp>
        <p:nvSpPr>
          <p:cNvPr id="42" name="Text 40"/>
          <p:cNvSpPr/>
          <p:nvPr/>
        </p:nvSpPr>
        <p:spPr>
          <a:xfrm>
            <a:off x="8485632" y="5157216"/>
            <a:ext cx="3264408" cy="365760"/>
          </a:xfrm>
          <a:prstGeom prst="rect">
            <a:avLst/>
          </a:prstGeom>
          <a:noFill/>
          <a:ln/>
        </p:spPr>
        <p:txBody>
          <a:bodyPr wrap="square" lIns="0" tIns="0" rIns="0" bIns="0" rtlCol="0" anchor="ctr"/>
          <a:lstStyle/>
          <a:p>
            <a:pPr indent="0" marL="0">
              <a:buNone/>
            </a:pPr>
            <a:r>
              <a:rPr lang="en-US" sz="1500" dirty="0">
                <a:solidFill>
                  <a:srgbClr val="1B232E"/>
                </a:solidFill>
                <a:latin typeface="Inter" pitchFamily="34" charset="0"/>
                <a:ea typeface="Inter" pitchFamily="34" charset="-122"/>
                <a:cs typeface="Inter" pitchFamily="34" charset="-120"/>
              </a:rPr>
              <a:t>DisaggregatedSet for P/D</a:t>
            </a:r>
            <a:endParaRPr lang="en-US" sz="1500" dirty="0"/>
          </a:p>
        </p:txBody>
      </p:sp>
      <p:sp>
        <p:nvSpPr>
          <p:cNvPr id="43" name="Text 41"/>
          <p:cNvSpPr/>
          <p:nvPr/>
        </p:nvSpPr>
        <p:spPr>
          <a:xfrm>
            <a:off x="457200" y="5897880"/>
            <a:ext cx="731520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 As reported in release notes; not measured by us.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GPU ALLOCATION</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Start with one node plus a small pool; at 20 GPUs split prefill and decode across two nodes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10</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Text 5"/>
          <p:cNvSpPr/>
          <p:nvPr/>
        </p:nvSpPr>
        <p:spPr>
          <a:xfrm>
            <a:off x="457200" y="1508760"/>
            <a:ext cx="1463040" cy="731520"/>
          </a:xfrm>
          <a:prstGeom prst="rect">
            <a:avLst/>
          </a:prstGeom>
          <a:noFill/>
          <a:ln/>
        </p:spPr>
        <p:txBody>
          <a:bodyPr wrap="square" lIns="0" tIns="0" rIns="0" bIns="0" rtlCol="0" anchor="ctr"/>
          <a:lstStyle/>
          <a:p>
            <a:pPr indent="0" marL="0">
              <a:buNone/>
            </a:pPr>
            <a:r>
              <a:rPr lang="en-US" sz="4000" b="1" dirty="0">
                <a:solidFill>
                  <a:srgbClr val="1B232E"/>
                </a:solidFill>
                <a:latin typeface="Inter" pitchFamily="34" charset="0"/>
                <a:ea typeface="Inter" pitchFamily="34" charset="-122"/>
                <a:cs typeface="Inter" pitchFamily="34" charset="-120"/>
              </a:rPr>
              <a:t>10</a:t>
            </a:r>
            <a:endParaRPr lang="en-US" sz="4000" dirty="0"/>
          </a:p>
        </p:txBody>
      </p:sp>
      <p:sp>
        <p:nvSpPr>
          <p:cNvPr id="8" name="Text 6"/>
          <p:cNvSpPr/>
          <p:nvPr/>
        </p:nvSpPr>
        <p:spPr>
          <a:xfrm>
            <a:off x="1965960" y="1508760"/>
            <a:ext cx="3840480" cy="73152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GPUs · 1 node + 2</a:t>
            </a:r>
            <a:endParaRPr lang="en-US" sz="1400" dirty="0"/>
          </a:p>
        </p:txBody>
      </p:sp>
      <p:sp>
        <p:nvSpPr>
          <p:cNvPr id="9" name="Shape 7"/>
          <p:cNvSpPr/>
          <p:nvPr/>
        </p:nvSpPr>
        <p:spPr>
          <a:xfrm>
            <a:off x="457200" y="2468880"/>
            <a:ext cx="347472" cy="347472"/>
          </a:xfrm>
          <a:prstGeom prst="rect">
            <a:avLst/>
          </a:prstGeom>
          <a:solidFill>
            <a:srgbClr val="1B232E"/>
          </a:solidFill>
          <a:ln w="12700">
            <a:solidFill>
              <a:srgbClr val="1B232E"/>
            </a:solidFill>
            <a:prstDash val="solid"/>
          </a:ln>
        </p:spPr>
      </p:sp>
      <p:sp>
        <p:nvSpPr>
          <p:cNvPr id="10" name="Shape 8"/>
          <p:cNvSpPr/>
          <p:nvPr/>
        </p:nvSpPr>
        <p:spPr>
          <a:xfrm>
            <a:off x="877824" y="2468880"/>
            <a:ext cx="347472" cy="347472"/>
          </a:xfrm>
          <a:prstGeom prst="rect">
            <a:avLst/>
          </a:prstGeom>
          <a:solidFill>
            <a:srgbClr val="1B232E"/>
          </a:solidFill>
          <a:ln w="12700">
            <a:solidFill>
              <a:srgbClr val="1B232E"/>
            </a:solidFill>
            <a:prstDash val="solid"/>
          </a:ln>
        </p:spPr>
      </p:sp>
      <p:sp>
        <p:nvSpPr>
          <p:cNvPr id="11" name="Shape 9"/>
          <p:cNvSpPr/>
          <p:nvPr/>
        </p:nvSpPr>
        <p:spPr>
          <a:xfrm>
            <a:off x="1298448" y="2468880"/>
            <a:ext cx="347472" cy="347472"/>
          </a:xfrm>
          <a:prstGeom prst="rect">
            <a:avLst/>
          </a:prstGeom>
          <a:solidFill>
            <a:srgbClr val="1B232E"/>
          </a:solidFill>
          <a:ln w="12700">
            <a:solidFill>
              <a:srgbClr val="1B232E"/>
            </a:solidFill>
            <a:prstDash val="solid"/>
          </a:ln>
        </p:spPr>
      </p:sp>
      <p:sp>
        <p:nvSpPr>
          <p:cNvPr id="12" name="Shape 10"/>
          <p:cNvSpPr/>
          <p:nvPr/>
        </p:nvSpPr>
        <p:spPr>
          <a:xfrm>
            <a:off x="1719072" y="2468880"/>
            <a:ext cx="347472" cy="347472"/>
          </a:xfrm>
          <a:prstGeom prst="rect">
            <a:avLst/>
          </a:prstGeom>
          <a:solidFill>
            <a:srgbClr val="1B232E"/>
          </a:solidFill>
          <a:ln w="12700">
            <a:solidFill>
              <a:srgbClr val="1B232E"/>
            </a:solidFill>
            <a:prstDash val="solid"/>
          </a:ln>
        </p:spPr>
      </p:sp>
      <p:sp>
        <p:nvSpPr>
          <p:cNvPr id="13" name="Shape 11"/>
          <p:cNvSpPr/>
          <p:nvPr/>
        </p:nvSpPr>
        <p:spPr>
          <a:xfrm>
            <a:off x="2139696" y="2468880"/>
            <a:ext cx="347472" cy="347472"/>
          </a:xfrm>
          <a:prstGeom prst="rect">
            <a:avLst/>
          </a:prstGeom>
          <a:solidFill>
            <a:srgbClr val="1B232E"/>
          </a:solidFill>
          <a:ln w="12700">
            <a:solidFill>
              <a:srgbClr val="1B232E"/>
            </a:solidFill>
            <a:prstDash val="solid"/>
          </a:ln>
        </p:spPr>
      </p:sp>
      <p:sp>
        <p:nvSpPr>
          <p:cNvPr id="14" name="Shape 12"/>
          <p:cNvSpPr/>
          <p:nvPr/>
        </p:nvSpPr>
        <p:spPr>
          <a:xfrm>
            <a:off x="2560320" y="2468880"/>
            <a:ext cx="347472" cy="347472"/>
          </a:xfrm>
          <a:prstGeom prst="rect">
            <a:avLst/>
          </a:prstGeom>
          <a:solidFill>
            <a:srgbClr val="1B232E"/>
          </a:solidFill>
          <a:ln w="12700">
            <a:solidFill>
              <a:srgbClr val="1B232E"/>
            </a:solidFill>
            <a:prstDash val="solid"/>
          </a:ln>
        </p:spPr>
      </p:sp>
      <p:sp>
        <p:nvSpPr>
          <p:cNvPr id="15" name="Shape 13"/>
          <p:cNvSpPr/>
          <p:nvPr/>
        </p:nvSpPr>
        <p:spPr>
          <a:xfrm>
            <a:off x="2980944" y="2468880"/>
            <a:ext cx="347472" cy="347472"/>
          </a:xfrm>
          <a:prstGeom prst="rect">
            <a:avLst/>
          </a:prstGeom>
          <a:solidFill>
            <a:srgbClr val="1B232E"/>
          </a:solidFill>
          <a:ln w="12700">
            <a:solidFill>
              <a:srgbClr val="1B232E"/>
            </a:solidFill>
            <a:prstDash val="solid"/>
          </a:ln>
        </p:spPr>
      </p:sp>
      <p:sp>
        <p:nvSpPr>
          <p:cNvPr id="16" name="Shape 14"/>
          <p:cNvSpPr/>
          <p:nvPr/>
        </p:nvSpPr>
        <p:spPr>
          <a:xfrm>
            <a:off x="3401568" y="2468880"/>
            <a:ext cx="347472" cy="347472"/>
          </a:xfrm>
          <a:prstGeom prst="rect">
            <a:avLst/>
          </a:prstGeom>
          <a:solidFill>
            <a:srgbClr val="1B232E"/>
          </a:solidFill>
          <a:ln w="12700">
            <a:solidFill>
              <a:srgbClr val="1B232E"/>
            </a:solidFill>
            <a:prstDash val="solid"/>
          </a:ln>
        </p:spPr>
      </p:sp>
      <p:sp>
        <p:nvSpPr>
          <p:cNvPr id="17" name="Text 15"/>
          <p:cNvSpPr/>
          <p:nvPr/>
        </p:nvSpPr>
        <p:spPr>
          <a:xfrm>
            <a:off x="3959352" y="2340864"/>
            <a:ext cx="2011680" cy="603504"/>
          </a:xfrm>
          <a:prstGeom prst="rect">
            <a:avLst/>
          </a:prstGeom>
          <a:noFill/>
          <a:ln/>
        </p:spPr>
        <p:txBody>
          <a:bodyPr wrap="square" lIns="0" tIns="0" rIns="0" bIns="0" rtlCol="0" anchor="ctr"/>
          <a:lstStyle/>
          <a:p>
            <a:pPr indent="0" marL="0">
              <a:buNone/>
            </a:pPr>
            <a:r>
              <a:rPr lang="en-US" sz="1400" dirty="0">
                <a:solidFill>
                  <a:srgbClr val="1B232E"/>
                </a:solidFill>
                <a:latin typeface="Inter" pitchFamily="34" charset="0"/>
                <a:ea typeface="Inter" pitchFamily="34" charset="-122"/>
                <a:cs typeface="Inter" pitchFamily="34" charset="-120"/>
              </a:rPr>
              <a:t>Large model · TP8/EP8</a:t>
            </a:r>
            <a:endParaRPr lang="en-US" sz="1400" dirty="0"/>
          </a:p>
        </p:txBody>
      </p:sp>
      <p:sp>
        <p:nvSpPr>
          <p:cNvPr id="18" name="Shape 16"/>
          <p:cNvSpPr/>
          <p:nvPr/>
        </p:nvSpPr>
        <p:spPr>
          <a:xfrm>
            <a:off x="457200" y="3218688"/>
            <a:ext cx="347472" cy="347472"/>
          </a:xfrm>
          <a:prstGeom prst="rect">
            <a:avLst/>
          </a:prstGeom>
          <a:solidFill>
            <a:srgbClr val="2563EB"/>
          </a:solidFill>
          <a:ln w="12700">
            <a:solidFill>
              <a:srgbClr val="2563EB"/>
            </a:solidFill>
            <a:prstDash val="solid"/>
          </a:ln>
        </p:spPr>
      </p:sp>
      <p:sp>
        <p:nvSpPr>
          <p:cNvPr id="19" name="Shape 17"/>
          <p:cNvSpPr/>
          <p:nvPr/>
        </p:nvSpPr>
        <p:spPr>
          <a:xfrm>
            <a:off x="877824" y="3218688"/>
            <a:ext cx="347472" cy="347472"/>
          </a:xfrm>
          <a:prstGeom prst="rect">
            <a:avLst/>
          </a:prstGeom>
          <a:solidFill>
            <a:srgbClr val="2563EB"/>
          </a:solidFill>
          <a:ln w="12700">
            <a:solidFill>
              <a:srgbClr val="2563EB"/>
            </a:solidFill>
            <a:prstDash val="solid"/>
          </a:ln>
        </p:spPr>
      </p:sp>
      <p:sp>
        <p:nvSpPr>
          <p:cNvPr id="20" name="Text 18"/>
          <p:cNvSpPr/>
          <p:nvPr/>
        </p:nvSpPr>
        <p:spPr>
          <a:xfrm>
            <a:off x="3959352" y="3090672"/>
            <a:ext cx="2011680" cy="603504"/>
          </a:xfrm>
          <a:prstGeom prst="rect">
            <a:avLst/>
          </a:prstGeom>
          <a:noFill/>
          <a:ln/>
        </p:spPr>
        <p:txBody>
          <a:bodyPr wrap="square" lIns="0" tIns="0" rIns="0" bIns="0" rtlCol="0" anchor="ctr"/>
          <a:lstStyle/>
          <a:p>
            <a:pPr indent="0" marL="0">
              <a:buNone/>
            </a:pPr>
            <a:r>
              <a:rPr lang="en-US" sz="1400" dirty="0">
                <a:solidFill>
                  <a:srgbClr val="1B232E"/>
                </a:solidFill>
                <a:latin typeface="Inter" pitchFamily="34" charset="0"/>
                <a:ea typeface="Inter" pitchFamily="34" charset="-122"/>
                <a:cs typeface="Inter" pitchFamily="34" charset="-120"/>
              </a:rPr>
              <a:t>Small pool · 2nd host</a:t>
            </a:r>
            <a:endParaRPr lang="en-US" sz="1400" dirty="0"/>
          </a:p>
        </p:txBody>
      </p:sp>
      <p:sp>
        <p:nvSpPr>
          <p:cNvPr id="21" name="Text 19"/>
          <p:cNvSpPr/>
          <p:nvPr/>
        </p:nvSpPr>
        <p:spPr>
          <a:xfrm>
            <a:off x="457200" y="4754880"/>
            <a:ext cx="868680" cy="548640"/>
          </a:xfrm>
          <a:prstGeom prst="rect">
            <a:avLst/>
          </a:prstGeom>
          <a:noFill/>
          <a:ln/>
        </p:spPr>
        <p:txBody>
          <a:bodyPr wrap="square" lIns="0" tIns="0" rIns="0" bIns="0" rtlCol="0" anchor="t"/>
          <a:lstStyle/>
          <a:p>
            <a:pPr indent="0" marL="0">
              <a:buNone/>
            </a:pPr>
            <a:r>
              <a:rPr lang="en-US" sz="1400" b="1" dirty="0">
                <a:solidFill>
                  <a:srgbClr val="2563EB"/>
                </a:solidFill>
                <a:latin typeface="Inter" pitchFamily="34" charset="0"/>
                <a:ea typeface="Inter" pitchFamily="34" charset="-122"/>
                <a:cs typeface="Inter" pitchFamily="34" charset="-120"/>
              </a:rPr>
              <a:t>B200</a:t>
            </a:r>
            <a:endParaRPr lang="en-US" sz="1400" dirty="0"/>
          </a:p>
        </p:txBody>
      </p:sp>
      <p:sp>
        <p:nvSpPr>
          <p:cNvPr id="22" name="Text 20"/>
          <p:cNvSpPr/>
          <p:nvPr/>
        </p:nvSpPr>
        <p:spPr>
          <a:xfrm>
            <a:off x="1325880" y="4754880"/>
            <a:ext cx="4434840" cy="54864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~1T at FP4, or FP8 with KV headroom</a:t>
            </a:r>
            <a:endParaRPr lang="en-US" sz="1400" dirty="0"/>
          </a:p>
        </p:txBody>
      </p:sp>
      <p:sp>
        <p:nvSpPr>
          <p:cNvPr id="23" name="Text 21"/>
          <p:cNvSpPr/>
          <p:nvPr/>
        </p:nvSpPr>
        <p:spPr>
          <a:xfrm>
            <a:off x="457200" y="5394960"/>
            <a:ext cx="868680" cy="548640"/>
          </a:xfrm>
          <a:prstGeom prst="rect">
            <a:avLst/>
          </a:prstGeom>
          <a:noFill/>
          <a:ln/>
        </p:spPr>
        <p:txBody>
          <a:bodyPr wrap="square" lIns="0" tIns="0" rIns="0" bIns="0" rtlCol="0" anchor="t"/>
          <a:lstStyle/>
          <a:p>
            <a:pPr indent="0" marL="0">
              <a:buNone/>
            </a:pPr>
            <a:r>
              <a:rPr lang="en-US" sz="1400" b="1" dirty="0">
                <a:solidFill>
                  <a:srgbClr val="2563EB"/>
                </a:solidFill>
                <a:latin typeface="Inter" pitchFamily="34" charset="0"/>
                <a:ea typeface="Inter" pitchFamily="34" charset="-122"/>
                <a:cs typeface="Inter" pitchFamily="34" charset="-120"/>
              </a:rPr>
              <a:t>H200</a:t>
            </a:r>
            <a:endParaRPr lang="en-US" sz="1400" dirty="0"/>
          </a:p>
        </p:txBody>
      </p:sp>
      <p:sp>
        <p:nvSpPr>
          <p:cNvPr id="24" name="Text 22"/>
          <p:cNvSpPr/>
          <p:nvPr/>
        </p:nvSpPr>
        <p:spPr>
          <a:xfrm>
            <a:off x="1325880" y="5394960"/>
            <a:ext cx="4434840" cy="54864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≤671B at FP8, or Muse NVFP4</a:t>
            </a:r>
            <a:endParaRPr lang="en-US" sz="1400" dirty="0"/>
          </a:p>
        </p:txBody>
      </p:sp>
      <p:sp>
        <p:nvSpPr>
          <p:cNvPr id="25" name="Shape 23"/>
          <p:cNvSpPr/>
          <p:nvPr/>
        </p:nvSpPr>
        <p:spPr>
          <a:xfrm>
            <a:off x="6080760" y="1600200"/>
            <a:ext cx="0" cy="4526280"/>
          </a:xfrm>
          <a:prstGeom prst="line">
            <a:avLst/>
          </a:prstGeom>
          <a:noFill/>
          <a:ln w="12700">
            <a:solidFill>
              <a:srgbClr val="D9DCE1"/>
            </a:solidFill>
            <a:prstDash val="solid"/>
          </a:ln>
        </p:spPr>
      </p:sp>
      <p:sp>
        <p:nvSpPr>
          <p:cNvPr id="26" name="Text 24"/>
          <p:cNvSpPr/>
          <p:nvPr/>
        </p:nvSpPr>
        <p:spPr>
          <a:xfrm>
            <a:off x="6355080" y="1508760"/>
            <a:ext cx="1463040" cy="731520"/>
          </a:xfrm>
          <a:prstGeom prst="rect">
            <a:avLst/>
          </a:prstGeom>
          <a:noFill/>
          <a:ln/>
        </p:spPr>
        <p:txBody>
          <a:bodyPr wrap="square" lIns="0" tIns="0" rIns="0" bIns="0" rtlCol="0" anchor="ctr"/>
          <a:lstStyle/>
          <a:p>
            <a:pPr indent="0" marL="0">
              <a:buNone/>
            </a:pPr>
            <a:r>
              <a:rPr lang="en-US" sz="4000" b="1" dirty="0">
                <a:solidFill>
                  <a:srgbClr val="1B232E"/>
                </a:solidFill>
                <a:latin typeface="Inter" pitchFamily="34" charset="0"/>
                <a:ea typeface="Inter" pitchFamily="34" charset="-122"/>
                <a:cs typeface="Inter" pitchFamily="34" charset="-120"/>
              </a:rPr>
              <a:t>20</a:t>
            </a:r>
            <a:endParaRPr lang="en-US" sz="4000" dirty="0"/>
          </a:p>
        </p:txBody>
      </p:sp>
      <p:sp>
        <p:nvSpPr>
          <p:cNvPr id="27" name="Text 25"/>
          <p:cNvSpPr/>
          <p:nvPr/>
        </p:nvSpPr>
        <p:spPr>
          <a:xfrm>
            <a:off x="7863840" y="1508760"/>
            <a:ext cx="3840480" cy="73152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GPUs · 2 nodes + 4</a:t>
            </a:r>
            <a:endParaRPr lang="en-US" sz="1400" dirty="0"/>
          </a:p>
        </p:txBody>
      </p:sp>
      <p:sp>
        <p:nvSpPr>
          <p:cNvPr id="28" name="Shape 26"/>
          <p:cNvSpPr/>
          <p:nvPr/>
        </p:nvSpPr>
        <p:spPr>
          <a:xfrm>
            <a:off x="6355080" y="2468880"/>
            <a:ext cx="347472" cy="347472"/>
          </a:xfrm>
          <a:prstGeom prst="rect">
            <a:avLst/>
          </a:prstGeom>
          <a:solidFill>
            <a:srgbClr val="1B232E"/>
          </a:solidFill>
          <a:ln w="12700">
            <a:solidFill>
              <a:srgbClr val="1B232E"/>
            </a:solidFill>
            <a:prstDash val="solid"/>
          </a:ln>
        </p:spPr>
      </p:sp>
      <p:sp>
        <p:nvSpPr>
          <p:cNvPr id="29" name="Shape 27"/>
          <p:cNvSpPr/>
          <p:nvPr/>
        </p:nvSpPr>
        <p:spPr>
          <a:xfrm>
            <a:off x="6775704" y="2468880"/>
            <a:ext cx="347472" cy="347472"/>
          </a:xfrm>
          <a:prstGeom prst="rect">
            <a:avLst/>
          </a:prstGeom>
          <a:solidFill>
            <a:srgbClr val="1B232E"/>
          </a:solidFill>
          <a:ln w="12700">
            <a:solidFill>
              <a:srgbClr val="1B232E"/>
            </a:solidFill>
            <a:prstDash val="solid"/>
          </a:ln>
        </p:spPr>
      </p:sp>
      <p:sp>
        <p:nvSpPr>
          <p:cNvPr id="30" name="Shape 28"/>
          <p:cNvSpPr/>
          <p:nvPr/>
        </p:nvSpPr>
        <p:spPr>
          <a:xfrm>
            <a:off x="7196328" y="2468880"/>
            <a:ext cx="347472" cy="347472"/>
          </a:xfrm>
          <a:prstGeom prst="rect">
            <a:avLst/>
          </a:prstGeom>
          <a:solidFill>
            <a:srgbClr val="1B232E"/>
          </a:solidFill>
          <a:ln w="12700">
            <a:solidFill>
              <a:srgbClr val="1B232E"/>
            </a:solidFill>
            <a:prstDash val="solid"/>
          </a:ln>
        </p:spPr>
      </p:sp>
      <p:sp>
        <p:nvSpPr>
          <p:cNvPr id="31" name="Shape 29"/>
          <p:cNvSpPr/>
          <p:nvPr/>
        </p:nvSpPr>
        <p:spPr>
          <a:xfrm>
            <a:off x="7616952" y="2468880"/>
            <a:ext cx="347472" cy="347472"/>
          </a:xfrm>
          <a:prstGeom prst="rect">
            <a:avLst/>
          </a:prstGeom>
          <a:solidFill>
            <a:srgbClr val="1B232E"/>
          </a:solidFill>
          <a:ln w="12700">
            <a:solidFill>
              <a:srgbClr val="1B232E"/>
            </a:solidFill>
            <a:prstDash val="solid"/>
          </a:ln>
        </p:spPr>
      </p:sp>
      <p:sp>
        <p:nvSpPr>
          <p:cNvPr id="32" name="Shape 30"/>
          <p:cNvSpPr/>
          <p:nvPr/>
        </p:nvSpPr>
        <p:spPr>
          <a:xfrm>
            <a:off x="8037576" y="2468880"/>
            <a:ext cx="347472" cy="347472"/>
          </a:xfrm>
          <a:prstGeom prst="rect">
            <a:avLst/>
          </a:prstGeom>
          <a:solidFill>
            <a:srgbClr val="1B232E"/>
          </a:solidFill>
          <a:ln w="12700">
            <a:solidFill>
              <a:srgbClr val="1B232E"/>
            </a:solidFill>
            <a:prstDash val="solid"/>
          </a:ln>
        </p:spPr>
      </p:sp>
      <p:sp>
        <p:nvSpPr>
          <p:cNvPr id="33" name="Shape 31"/>
          <p:cNvSpPr/>
          <p:nvPr/>
        </p:nvSpPr>
        <p:spPr>
          <a:xfrm>
            <a:off x="8458200" y="2468880"/>
            <a:ext cx="347472" cy="347472"/>
          </a:xfrm>
          <a:prstGeom prst="rect">
            <a:avLst/>
          </a:prstGeom>
          <a:solidFill>
            <a:srgbClr val="1B232E"/>
          </a:solidFill>
          <a:ln w="12700">
            <a:solidFill>
              <a:srgbClr val="1B232E"/>
            </a:solidFill>
            <a:prstDash val="solid"/>
          </a:ln>
        </p:spPr>
      </p:sp>
      <p:sp>
        <p:nvSpPr>
          <p:cNvPr id="34" name="Shape 32"/>
          <p:cNvSpPr/>
          <p:nvPr/>
        </p:nvSpPr>
        <p:spPr>
          <a:xfrm>
            <a:off x="8878824" y="2468880"/>
            <a:ext cx="347472" cy="347472"/>
          </a:xfrm>
          <a:prstGeom prst="rect">
            <a:avLst/>
          </a:prstGeom>
          <a:solidFill>
            <a:srgbClr val="1B232E"/>
          </a:solidFill>
          <a:ln w="12700">
            <a:solidFill>
              <a:srgbClr val="1B232E"/>
            </a:solidFill>
            <a:prstDash val="solid"/>
          </a:ln>
        </p:spPr>
      </p:sp>
      <p:sp>
        <p:nvSpPr>
          <p:cNvPr id="35" name="Shape 33"/>
          <p:cNvSpPr/>
          <p:nvPr/>
        </p:nvSpPr>
        <p:spPr>
          <a:xfrm>
            <a:off x="9299448" y="2468880"/>
            <a:ext cx="347472" cy="347472"/>
          </a:xfrm>
          <a:prstGeom prst="rect">
            <a:avLst/>
          </a:prstGeom>
          <a:solidFill>
            <a:srgbClr val="1B232E"/>
          </a:solidFill>
          <a:ln w="12700">
            <a:solidFill>
              <a:srgbClr val="1B232E"/>
            </a:solidFill>
            <a:prstDash val="solid"/>
          </a:ln>
        </p:spPr>
      </p:sp>
      <p:sp>
        <p:nvSpPr>
          <p:cNvPr id="36" name="Text 34"/>
          <p:cNvSpPr/>
          <p:nvPr/>
        </p:nvSpPr>
        <p:spPr>
          <a:xfrm>
            <a:off x="9857232" y="2340864"/>
            <a:ext cx="2011680" cy="603504"/>
          </a:xfrm>
          <a:prstGeom prst="rect">
            <a:avLst/>
          </a:prstGeom>
          <a:noFill/>
          <a:ln/>
        </p:spPr>
        <p:txBody>
          <a:bodyPr wrap="square" lIns="0" tIns="0" rIns="0" bIns="0" rtlCol="0" anchor="ctr"/>
          <a:lstStyle/>
          <a:p>
            <a:pPr indent="0" marL="0">
              <a:buNone/>
            </a:pPr>
            <a:r>
              <a:rPr lang="en-US" sz="1400" dirty="0">
                <a:solidFill>
                  <a:srgbClr val="1B232E"/>
                </a:solidFill>
                <a:latin typeface="Inter" pitchFamily="34" charset="0"/>
                <a:ea typeface="Inter" pitchFamily="34" charset="-122"/>
                <a:cs typeface="Inter" pitchFamily="34" charset="-120"/>
              </a:rPr>
              <a:t>Prefill · chunked prefill</a:t>
            </a:r>
            <a:endParaRPr lang="en-US" sz="1400" dirty="0"/>
          </a:p>
        </p:txBody>
      </p:sp>
      <p:sp>
        <p:nvSpPr>
          <p:cNvPr id="37" name="Shape 35"/>
          <p:cNvSpPr/>
          <p:nvPr/>
        </p:nvSpPr>
        <p:spPr>
          <a:xfrm>
            <a:off x="6355080" y="3218688"/>
            <a:ext cx="347472" cy="347472"/>
          </a:xfrm>
          <a:prstGeom prst="rect">
            <a:avLst/>
          </a:prstGeom>
          <a:solidFill>
            <a:srgbClr val="44546A"/>
          </a:solidFill>
          <a:ln w="12700">
            <a:solidFill>
              <a:srgbClr val="44546A"/>
            </a:solidFill>
            <a:prstDash val="solid"/>
          </a:ln>
        </p:spPr>
      </p:sp>
      <p:sp>
        <p:nvSpPr>
          <p:cNvPr id="38" name="Shape 36"/>
          <p:cNvSpPr/>
          <p:nvPr/>
        </p:nvSpPr>
        <p:spPr>
          <a:xfrm>
            <a:off x="6775704" y="3218688"/>
            <a:ext cx="347472" cy="347472"/>
          </a:xfrm>
          <a:prstGeom prst="rect">
            <a:avLst/>
          </a:prstGeom>
          <a:solidFill>
            <a:srgbClr val="44546A"/>
          </a:solidFill>
          <a:ln w="12700">
            <a:solidFill>
              <a:srgbClr val="44546A"/>
            </a:solidFill>
            <a:prstDash val="solid"/>
          </a:ln>
        </p:spPr>
      </p:sp>
      <p:sp>
        <p:nvSpPr>
          <p:cNvPr id="39" name="Shape 37"/>
          <p:cNvSpPr/>
          <p:nvPr/>
        </p:nvSpPr>
        <p:spPr>
          <a:xfrm>
            <a:off x="7196328" y="3218688"/>
            <a:ext cx="347472" cy="347472"/>
          </a:xfrm>
          <a:prstGeom prst="rect">
            <a:avLst/>
          </a:prstGeom>
          <a:solidFill>
            <a:srgbClr val="44546A"/>
          </a:solidFill>
          <a:ln w="12700">
            <a:solidFill>
              <a:srgbClr val="44546A"/>
            </a:solidFill>
            <a:prstDash val="solid"/>
          </a:ln>
        </p:spPr>
      </p:sp>
      <p:sp>
        <p:nvSpPr>
          <p:cNvPr id="40" name="Shape 38"/>
          <p:cNvSpPr/>
          <p:nvPr/>
        </p:nvSpPr>
        <p:spPr>
          <a:xfrm>
            <a:off x="7616952" y="3218688"/>
            <a:ext cx="347472" cy="347472"/>
          </a:xfrm>
          <a:prstGeom prst="rect">
            <a:avLst/>
          </a:prstGeom>
          <a:solidFill>
            <a:srgbClr val="44546A"/>
          </a:solidFill>
          <a:ln w="12700">
            <a:solidFill>
              <a:srgbClr val="44546A"/>
            </a:solidFill>
            <a:prstDash val="solid"/>
          </a:ln>
        </p:spPr>
      </p:sp>
      <p:sp>
        <p:nvSpPr>
          <p:cNvPr id="41" name="Shape 39"/>
          <p:cNvSpPr/>
          <p:nvPr/>
        </p:nvSpPr>
        <p:spPr>
          <a:xfrm>
            <a:off x="8037576" y="3218688"/>
            <a:ext cx="347472" cy="347472"/>
          </a:xfrm>
          <a:prstGeom prst="rect">
            <a:avLst/>
          </a:prstGeom>
          <a:solidFill>
            <a:srgbClr val="44546A"/>
          </a:solidFill>
          <a:ln w="12700">
            <a:solidFill>
              <a:srgbClr val="44546A"/>
            </a:solidFill>
            <a:prstDash val="solid"/>
          </a:ln>
        </p:spPr>
      </p:sp>
      <p:sp>
        <p:nvSpPr>
          <p:cNvPr id="42" name="Shape 40"/>
          <p:cNvSpPr/>
          <p:nvPr/>
        </p:nvSpPr>
        <p:spPr>
          <a:xfrm>
            <a:off x="8458200" y="3218688"/>
            <a:ext cx="347472" cy="347472"/>
          </a:xfrm>
          <a:prstGeom prst="rect">
            <a:avLst/>
          </a:prstGeom>
          <a:solidFill>
            <a:srgbClr val="44546A"/>
          </a:solidFill>
          <a:ln w="12700">
            <a:solidFill>
              <a:srgbClr val="44546A"/>
            </a:solidFill>
            <a:prstDash val="solid"/>
          </a:ln>
        </p:spPr>
      </p:sp>
      <p:sp>
        <p:nvSpPr>
          <p:cNvPr id="43" name="Shape 41"/>
          <p:cNvSpPr/>
          <p:nvPr/>
        </p:nvSpPr>
        <p:spPr>
          <a:xfrm>
            <a:off x="8878824" y="3218688"/>
            <a:ext cx="347472" cy="347472"/>
          </a:xfrm>
          <a:prstGeom prst="rect">
            <a:avLst/>
          </a:prstGeom>
          <a:solidFill>
            <a:srgbClr val="44546A"/>
          </a:solidFill>
          <a:ln w="12700">
            <a:solidFill>
              <a:srgbClr val="44546A"/>
            </a:solidFill>
            <a:prstDash val="solid"/>
          </a:ln>
        </p:spPr>
      </p:sp>
      <p:sp>
        <p:nvSpPr>
          <p:cNvPr id="44" name="Shape 42"/>
          <p:cNvSpPr/>
          <p:nvPr/>
        </p:nvSpPr>
        <p:spPr>
          <a:xfrm>
            <a:off x="9299448" y="3218688"/>
            <a:ext cx="347472" cy="347472"/>
          </a:xfrm>
          <a:prstGeom prst="rect">
            <a:avLst/>
          </a:prstGeom>
          <a:solidFill>
            <a:srgbClr val="44546A"/>
          </a:solidFill>
          <a:ln w="12700">
            <a:solidFill>
              <a:srgbClr val="44546A"/>
            </a:solidFill>
            <a:prstDash val="solid"/>
          </a:ln>
        </p:spPr>
      </p:sp>
      <p:sp>
        <p:nvSpPr>
          <p:cNvPr id="45" name="Text 43"/>
          <p:cNvSpPr/>
          <p:nvPr/>
        </p:nvSpPr>
        <p:spPr>
          <a:xfrm>
            <a:off x="9857232" y="3090672"/>
            <a:ext cx="2011680" cy="603504"/>
          </a:xfrm>
          <a:prstGeom prst="rect">
            <a:avLst/>
          </a:prstGeom>
          <a:noFill/>
          <a:ln/>
        </p:spPr>
        <p:txBody>
          <a:bodyPr wrap="square" lIns="0" tIns="0" rIns="0" bIns="0" rtlCol="0" anchor="ctr"/>
          <a:lstStyle/>
          <a:p>
            <a:pPr indent="0" marL="0">
              <a:buNone/>
            </a:pPr>
            <a:r>
              <a:rPr lang="en-US" sz="1400" dirty="0">
                <a:solidFill>
                  <a:srgbClr val="1B232E"/>
                </a:solidFill>
                <a:latin typeface="Inter" pitchFamily="34" charset="0"/>
                <a:ea typeface="Inter" pitchFamily="34" charset="-122"/>
                <a:cs typeface="Inter" pitchFamily="34" charset="-120"/>
              </a:rPr>
              <a:t>Decode · batch tuned</a:t>
            </a:r>
            <a:endParaRPr lang="en-US" sz="1400" dirty="0"/>
          </a:p>
        </p:txBody>
      </p:sp>
      <p:sp>
        <p:nvSpPr>
          <p:cNvPr id="46" name="Shape 44"/>
          <p:cNvSpPr/>
          <p:nvPr/>
        </p:nvSpPr>
        <p:spPr>
          <a:xfrm>
            <a:off x="6355080" y="3968496"/>
            <a:ext cx="347472" cy="347472"/>
          </a:xfrm>
          <a:prstGeom prst="rect">
            <a:avLst/>
          </a:prstGeom>
          <a:solidFill>
            <a:srgbClr val="2563EB"/>
          </a:solidFill>
          <a:ln w="12700">
            <a:solidFill>
              <a:srgbClr val="2563EB"/>
            </a:solidFill>
            <a:prstDash val="solid"/>
          </a:ln>
        </p:spPr>
      </p:sp>
      <p:sp>
        <p:nvSpPr>
          <p:cNvPr id="47" name="Shape 45"/>
          <p:cNvSpPr/>
          <p:nvPr/>
        </p:nvSpPr>
        <p:spPr>
          <a:xfrm>
            <a:off x="6775704" y="3968496"/>
            <a:ext cx="347472" cy="347472"/>
          </a:xfrm>
          <a:prstGeom prst="rect">
            <a:avLst/>
          </a:prstGeom>
          <a:solidFill>
            <a:srgbClr val="2563EB"/>
          </a:solidFill>
          <a:ln w="12700">
            <a:solidFill>
              <a:srgbClr val="2563EB"/>
            </a:solidFill>
            <a:prstDash val="solid"/>
          </a:ln>
        </p:spPr>
      </p:sp>
      <p:sp>
        <p:nvSpPr>
          <p:cNvPr id="48" name="Shape 46"/>
          <p:cNvSpPr/>
          <p:nvPr/>
        </p:nvSpPr>
        <p:spPr>
          <a:xfrm>
            <a:off x="7196328" y="3968496"/>
            <a:ext cx="347472" cy="347472"/>
          </a:xfrm>
          <a:prstGeom prst="rect">
            <a:avLst/>
          </a:prstGeom>
          <a:solidFill>
            <a:srgbClr val="2563EB"/>
          </a:solidFill>
          <a:ln w="12700">
            <a:solidFill>
              <a:srgbClr val="2563EB"/>
            </a:solidFill>
            <a:prstDash val="solid"/>
          </a:ln>
        </p:spPr>
      </p:sp>
      <p:sp>
        <p:nvSpPr>
          <p:cNvPr id="49" name="Shape 47"/>
          <p:cNvSpPr/>
          <p:nvPr/>
        </p:nvSpPr>
        <p:spPr>
          <a:xfrm>
            <a:off x="7616952" y="3968496"/>
            <a:ext cx="347472" cy="347472"/>
          </a:xfrm>
          <a:prstGeom prst="rect">
            <a:avLst/>
          </a:prstGeom>
          <a:solidFill>
            <a:srgbClr val="2563EB"/>
          </a:solidFill>
          <a:ln w="12700">
            <a:solidFill>
              <a:srgbClr val="2563EB"/>
            </a:solidFill>
            <a:prstDash val="solid"/>
          </a:ln>
        </p:spPr>
      </p:sp>
      <p:sp>
        <p:nvSpPr>
          <p:cNvPr id="50" name="Text 48"/>
          <p:cNvSpPr/>
          <p:nvPr/>
        </p:nvSpPr>
        <p:spPr>
          <a:xfrm>
            <a:off x="9857232" y="3840480"/>
            <a:ext cx="2011680" cy="603504"/>
          </a:xfrm>
          <a:prstGeom prst="rect">
            <a:avLst/>
          </a:prstGeom>
          <a:noFill/>
          <a:ln/>
        </p:spPr>
        <p:txBody>
          <a:bodyPr wrap="square" lIns="0" tIns="0" rIns="0" bIns="0" rtlCol="0" anchor="ctr"/>
          <a:lstStyle/>
          <a:p>
            <a:pPr indent="0" marL="0">
              <a:buNone/>
            </a:pPr>
            <a:r>
              <a:rPr lang="en-US" sz="1400" dirty="0">
                <a:solidFill>
                  <a:srgbClr val="1B232E"/>
                </a:solidFill>
                <a:latin typeface="Inter" pitchFamily="34" charset="0"/>
                <a:ea typeface="Inter" pitchFamily="34" charset="-122"/>
                <a:cs typeface="Inter" pitchFamily="34" charset="-120"/>
              </a:rPr>
              <a:t>Small pool + canary · 3rd host</a:t>
            </a:r>
            <a:endParaRPr lang="en-US" sz="1400" dirty="0"/>
          </a:p>
        </p:txBody>
      </p:sp>
      <p:sp>
        <p:nvSpPr>
          <p:cNvPr id="51" name="Text 49"/>
          <p:cNvSpPr/>
          <p:nvPr/>
        </p:nvSpPr>
        <p:spPr>
          <a:xfrm>
            <a:off x="6355080" y="4754880"/>
            <a:ext cx="868680" cy="548640"/>
          </a:xfrm>
          <a:prstGeom prst="rect">
            <a:avLst/>
          </a:prstGeom>
          <a:noFill/>
          <a:ln/>
        </p:spPr>
        <p:txBody>
          <a:bodyPr wrap="square" lIns="0" tIns="0" rIns="0" bIns="0" rtlCol="0" anchor="t"/>
          <a:lstStyle/>
          <a:p>
            <a:pPr indent="0" marL="0">
              <a:buNone/>
            </a:pPr>
            <a:r>
              <a:rPr lang="en-US" sz="1400" b="1" dirty="0">
                <a:solidFill>
                  <a:srgbClr val="2563EB"/>
                </a:solidFill>
                <a:latin typeface="Inter" pitchFamily="34" charset="0"/>
                <a:ea typeface="Inter" pitchFamily="34" charset="-122"/>
                <a:cs typeface="Inter" pitchFamily="34" charset="-120"/>
              </a:rPr>
              <a:t>B200</a:t>
            </a:r>
            <a:endParaRPr lang="en-US" sz="1400" dirty="0"/>
          </a:p>
        </p:txBody>
      </p:sp>
      <p:sp>
        <p:nvSpPr>
          <p:cNvPr id="52" name="Text 50"/>
          <p:cNvSpPr/>
          <p:nvPr/>
        </p:nvSpPr>
        <p:spPr>
          <a:xfrm>
            <a:off x="7223760" y="4754880"/>
            <a:ext cx="4434840" cy="54864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1T FP8, PD split only with RDMA</a:t>
            </a:r>
            <a:endParaRPr lang="en-US" sz="1400" dirty="0"/>
          </a:p>
        </p:txBody>
      </p:sp>
      <p:sp>
        <p:nvSpPr>
          <p:cNvPr id="53" name="Text 51"/>
          <p:cNvSpPr/>
          <p:nvPr/>
        </p:nvSpPr>
        <p:spPr>
          <a:xfrm>
            <a:off x="6355080" y="5394960"/>
            <a:ext cx="868680" cy="548640"/>
          </a:xfrm>
          <a:prstGeom prst="rect">
            <a:avLst/>
          </a:prstGeom>
          <a:noFill/>
          <a:ln/>
        </p:spPr>
        <p:txBody>
          <a:bodyPr wrap="square" lIns="0" tIns="0" rIns="0" bIns="0" rtlCol="0" anchor="t"/>
          <a:lstStyle/>
          <a:p>
            <a:pPr indent="0" marL="0">
              <a:buNone/>
            </a:pPr>
            <a:r>
              <a:rPr lang="en-US" sz="1400" b="1" dirty="0">
                <a:solidFill>
                  <a:srgbClr val="2563EB"/>
                </a:solidFill>
                <a:latin typeface="Inter" pitchFamily="34" charset="0"/>
                <a:ea typeface="Inter" pitchFamily="34" charset="-122"/>
                <a:cs typeface="Inter" pitchFamily="34" charset="-120"/>
              </a:rPr>
              <a:t>H200</a:t>
            </a:r>
            <a:endParaRPr lang="en-US" sz="1400" dirty="0"/>
          </a:p>
        </p:txBody>
      </p:sp>
      <p:sp>
        <p:nvSpPr>
          <p:cNvPr id="54" name="Text 52"/>
          <p:cNvSpPr/>
          <p:nvPr/>
        </p:nvSpPr>
        <p:spPr>
          <a:xfrm>
            <a:off x="7223760" y="5394960"/>
            <a:ext cx="4434840" cy="54864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1T FP8 as one 16-GPU instance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PRODUCTION CONTROLS</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Every agent step passes the same control points, measured against step-level SLOs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11</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457200" y="1691640"/>
            <a:ext cx="1691640" cy="960120"/>
          </a:xfrm>
          <a:prstGeom prst="roundRect">
            <a:avLst>
              <a:gd name="adj" fmla="val 5714"/>
            </a:avLst>
          </a:prstGeom>
          <a:solidFill>
            <a:srgbClr val="FFFFFF"/>
          </a:solidFill>
          <a:ln w="15875">
            <a:solidFill>
              <a:srgbClr val="1B232E"/>
            </a:solidFill>
            <a:prstDash val="solid"/>
          </a:ln>
        </p:spPr>
      </p:sp>
      <p:sp>
        <p:nvSpPr>
          <p:cNvPr id="8" name="Text 6"/>
          <p:cNvSpPr/>
          <p:nvPr/>
        </p:nvSpPr>
        <p:spPr>
          <a:xfrm>
            <a:off x="530352" y="1728216"/>
            <a:ext cx="1545336" cy="8869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AuthN / RBAC</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identity</a:t>
            </a:r>
            <a:endParaRPr lang="en-US" sz="1400" dirty="0"/>
          </a:p>
        </p:txBody>
      </p:sp>
      <p:sp>
        <p:nvSpPr>
          <p:cNvPr id="9" name="Shape 7"/>
          <p:cNvSpPr/>
          <p:nvPr/>
        </p:nvSpPr>
        <p:spPr>
          <a:xfrm>
            <a:off x="2148840" y="2171700"/>
            <a:ext cx="228600" cy="914"/>
          </a:xfrm>
          <a:prstGeom prst="line">
            <a:avLst/>
          </a:prstGeom>
          <a:noFill/>
          <a:ln w="25400">
            <a:solidFill>
              <a:srgbClr val="2563EB"/>
            </a:solidFill>
            <a:prstDash val="solid"/>
            <a:tailEnd type="triangle"/>
          </a:ln>
        </p:spPr>
      </p:sp>
      <p:sp>
        <p:nvSpPr>
          <p:cNvPr id="10" name="Shape 8"/>
          <p:cNvSpPr/>
          <p:nvPr/>
        </p:nvSpPr>
        <p:spPr>
          <a:xfrm>
            <a:off x="2377440" y="1691640"/>
            <a:ext cx="1691640" cy="960120"/>
          </a:xfrm>
          <a:prstGeom prst="roundRect">
            <a:avLst>
              <a:gd name="adj" fmla="val 5714"/>
            </a:avLst>
          </a:prstGeom>
          <a:solidFill>
            <a:srgbClr val="FFFFFF"/>
          </a:solidFill>
          <a:ln w="15875">
            <a:solidFill>
              <a:srgbClr val="1B232E"/>
            </a:solidFill>
            <a:prstDash val="solid"/>
          </a:ln>
        </p:spPr>
      </p:sp>
      <p:sp>
        <p:nvSpPr>
          <p:cNvPr id="11" name="Text 9"/>
          <p:cNvSpPr/>
          <p:nvPr/>
        </p:nvSpPr>
        <p:spPr>
          <a:xfrm>
            <a:off x="2450592" y="1728216"/>
            <a:ext cx="1545336" cy="8869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Input guard</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PII redact</a:t>
            </a:r>
            <a:endParaRPr lang="en-US" sz="1400" dirty="0"/>
          </a:p>
        </p:txBody>
      </p:sp>
      <p:sp>
        <p:nvSpPr>
          <p:cNvPr id="12" name="Shape 10"/>
          <p:cNvSpPr/>
          <p:nvPr/>
        </p:nvSpPr>
        <p:spPr>
          <a:xfrm>
            <a:off x="4069080" y="2171700"/>
            <a:ext cx="228600" cy="914"/>
          </a:xfrm>
          <a:prstGeom prst="line">
            <a:avLst/>
          </a:prstGeom>
          <a:noFill/>
          <a:ln w="25400">
            <a:solidFill>
              <a:srgbClr val="2563EB"/>
            </a:solidFill>
            <a:prstDash val="solid"/>
            <a:tailEnd type="triangle"/>
          </a:ln>
        </p:spPr>
      </p:sp>
      <p:sp>
        <p:nvSpPr>
          <p:cNvPr id="13" name="Shape 11"/>
          <p:cNvSpPr/>
          <p:nvPr/>
        </p:nvSpPr>
        <p:spPr>
          <a:xfrm>
            <a:off x="4297680" y="1691640"/>
            <a:ext cx="1691640" cy="960120"/>
          </a:xfrm>
          <a:prstGeom prst="roundRect">
            <a:avLst>
              <a:gd name="adj" fmla="val 5714"/>
            </a:avLst>
          </a:prstGeom>
          <a:solidFill>
            <a:srgbClr val="FFFFFF"/>
          </a:solidFill>
          <a:ln w="15875">
            <a:solidFill>
              <a:srgbClr val="1B232E"/>
            </a:solidFill>
            <a:prstDash val="solid"/>
          </a:ln>
        </p:spPr>
      </p:sp>
      <p:sp>
        <p:nvSpPr>
          <p:cNvPr id="14" name="Text 12"/>
          <p:cNvSpPr/>
          <p:nvPr/>
        </p:nvSpPr>
        <p:spPr>
          <a:xfrm>
            <a:off x="4370832" y="1728216"/>
            <a:ext cx="1545336" cy="8869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Router</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policy</a:t>
            </a:r>
            <a:endParaRPr lang="en-US" sz="1400" dirty="0"/>
          </a:p>
        </p:txBody>
      </p:sp>
      <p:sp>
        <p:nvSpPr>
          <p:cNvPr id="15" name="Shape 13"/>
          <p:cNvSpPr/>
          <p:nvPr/>
        </p:nvSpPr>
        <p:spPr>
          <a:xfrm>
            <a:off x="5989320" y="2171700"/>
            <a:ext cx="228600" cy="914"/>
          </a:xfrm>
          <a:prstGeom prst="line">
            <a:avLst/>
          </a:prstGeom>
          <a:noFill/>
          <a:ln w="25400">
            <a:solidFill>
              <a:srgbClr val="2563EB"/>
            </a:solidFill>
            <a:prstDash val="solid"/>
            <a:tailEnd type="triangle"/>
          </a:ln>
        </p:spPr>
      </p:sp>
      <p:sp>
        <p:nvSpPr>
          <p:cNvPr id="16" name="Shape 14"/>
          <p:cNvSpPr/>
          <p:nvPr/>
        </p:nvSpPr>
        <p:spPr>
          <a:xfrm>
            <a:off x="6217920" y="1691640"/>
            <a:ext cx="1691640" cy="960120"/>
          </a:xfrm>
          <a:prstGeom prst="roundRect">
            <a:avLst>
              <a:gd name="adj" fmla="val 5714"/>
            </a:avLst>
          </a:prstGeom>
          <a:solidFill>
            <a:srgbClr val="1B232E"/>
          </a:solidFill>
          <a:ln w="15875">
            <a:solidFill>
              <a:srgbClr val="1B232E"/>
            </a:solidFill>
            <a:prstDash val="solid"/>
          </a:ln>
        </p:spPr>
      </p:sp>
      <p:sp>
        <p:nvSpPr>
          <p:cNvPr id="17" name="Text 15"/>
          <p:cNvSpPr/>
          <p:nvPr/>
        </p:nvSpPr>
        <p:spPr>
          <a:xfrm>
            <a:off x="6291072" y="1728216"/>
            <a:ext cx="1545336" cy="88696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Model pool</a:t>
            </a:r>
            <a:endParaRPr lang="en-US" sz="1400" dirty="0"/>
          </a:p>
          <a:p>
            <a:pPr algn="ctr" indent="0" marL="0">
              <a:buNone/>
            </a:pPr>
            <a:r>
              <a:rPr lang="en-US" sz="1400" dirty="0">
                <a:solidFill>
                  <a:srgbClr val="C8D2DF"/>
                </a:solidFill>
                <a:latin typeface="Inter" pitchFamily="34" charset="0"/>
                <a:ea typeface="Inter" pitchFamily="34" charset="-122"/>
                <a:cs typeface="Inter" pitchFamily="34" charset="-120"/>
              </a:rPr>
              <a:t>SGLang / vLLM</a:t>
            </a:r>
            <a:endParaRPr lang="en-US" sz="1400" dirty="0"/>
          </a:p>
        </p:txBody>
      </p:sp>
      <p:sp>
        <p:nvSpPr>
          <p:cNvPr id="18" name="Shape 16"/>
          <p:cNvSpPr/>
          <p:nvPr/>
        </p:nvSpPr>
        <p:spPr>
          <a:xfrm>
            <a:off x="7909560" y="2171700"/>
            <a:ext cx="228600" cy="914"/>
          </a:xfrm>
          <a:prstGeom prst="line">
            <a:avLst/>
          </a:prstGeom>
          <a:noFill/>
          <a:ln w="25400">
            <a:solidFill>
              <a:srgbClr val="2563EB"/>
            </a:solidFill>
            <a:prstDash val="solid"/>
            <a:tailEnd type="triangle"/>
          </a:ln>
        </p:spPr>
      </p:sp>
      <p:sp>
        <p:nvSpPr>
          <p:cNvPr id="19" name="Shape 17"/>
          <p:cNvSpPr/>
          <p:nvPr/>
        </p:nvSpPr>
        <p:spPr>
          <a:xfrm>
            <a:off x="8138160" y="1691640"/>
            <a:ext cx="1691640" cy="960120"/>
          </a:xfrm>
          <a:prstGeom prst="roundRect">
            <a:avLst>
              <a:gd name="adj" fmla="val 5714"/>
            </a:avLst>
          </a:prstGeom>
          <a:solidFill>
            <a:srgbClr val="FFFFFF"/>
          </a:solidFill>
          <a:ln w="15875">
            <a:solidFill>
              <a:srgbClr val="1B232E"/>
            </a:solidFill>
            <a:prstDash val="solid"/>
          </a:ln>
        </p:spPr>
      </p:sp>
      <p:sp>
        <p:nvSpPr>
          <p:cNvPr id="20" name="Text 18"/>
          <p:cNvSpPr/>
          <p:nvPr/>
        </p:nvSpPr>
        <p:spPr>
          <a:xfrm>
            <a:off x="8211312" y="1728216"/>
            <a:ext cx="1545336" cy="8869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Tool sandbox</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least privilege</a:t>
            </a:r>
            <a:endParaRPr lang="en-US" sz="1400" dirty="0"/>
          </a:p>
        </p:txBody>
      </p:sp>
      <p:sp>
        <p:nvSpPr>
          <p:cNvPr id="21" name="Shape 19"/>
          <p:cNvSpPr/>
          <p:nvPr/>
        </p:nvSpPr>
        <p:spPr>
          <a:xfrm>
            <a:off x="9829800" y="2171700"/>
            <a:ext cx="228600" cy="914"/>
          </a:xfrm>
          <a:prstGeom prst="line">
            <a:avLst/>
          </a:prstGeom>
          <a:noFill/>
          <a:ln w="25400">
            <a:solidFill>
              <a:srgbClr val="2563EB"/>
            </a:solidFill>
            <a:prstDash val="solid"/>
            <a:tailEnd type="triangle"/>
          </a:ln>
        </p:spPr>
      </p:sp>
      <p:sp>
        <p:nvSpPr>
          <p:cNvPr id="22" name="Shape 20"/>
          <p:cNvSpPr/>
          <p:nvPr/>
        </p:nvSpPr>
        <p:spPr>
          <a:xfrm>
            <a:off x="10058400" y="1691640"/>
            <a:ext cx="1691640" cy="960120"/>
          </a:xfrm>
          <a:prstGeom prst="roundRect">
            <a:avLst>
              <a:gd name="adj" fmla="val 5714"/>
            </a:avLst>
          </a:prstGeom>
          <a:solidFill>
            <a:srgbClr val="FFFFFF"/>
          </a:solidFill>
          <a:ln w="15875">
            <a:solidFill>
              <a:srgbClr val="1B232E"/>
            </a:solidFill>
            <a:prstDash val="solid"/>
          </a:ln>
        </p:spPr>
      </p:sp>
      <p:sp>
        <p:nvSpPr>
          <p:cNvPr id="23" name="Text 21"/>
          <p:cNvSpPr/>
          <p:nvPr/>
        </p:nvSpPr>
        <p:spPr>
          <a:xfrm>
            <a:off x="10131552" y="1728216"/>
            <a:ext cx="1545336" cy="886968"/>
          </a:xfrm>
          <a:prstGeom prst="rect">
            <a:avLst/>
          </a:prstGeom>
          <a:noFill/>
          <a:ln/>
        </p:spPr>
        <p:txBody>
          <a:bodyPr wrap="square" lIns="0" tIns="0" rIns="0" bIns="0" rtlCol="0" anchor="ctr"/>
          <a:lstStyle/>
          <a:p>
            <a:pPr algn="ctr" indent="0" marL="0">
              <a:buNone/>
            </a:pPr>
            <a:r>
              <a:rPr lang="en-US" sz="1400" b="1" dirty="0">
                <a:solidFill>
                  <a:srgbClr val="1B232E"/>
                </a:solidFill>
                <a:latin typeface="Inter" pitchFamily="34" charset="0"/>
                <a:ea typeface="Inter" pitchFamily="34" charset="-122"/>
                <a:cs typeface="Inter" pitchFamily="34" charset="-120"/>
              </a:rPr>
              <a:t>Output guard</a:t>
            </a:r>
            <a:endParaRPr lang="en-US" sz="1400" dirty="0"/>
          </a:p>
          <a:p>
            <a:pPr algn="ctr" indent="0" marL="0">
              <a:buNone/>
            </a:pPr>
            <a:r>
              <a:rPr lang="en-US" sz="1400" dirty="0">
                <a:solidFill>
                  <a:srgbClr val="7A808A"/>
                </a:solidFill>
                <a:latin typeface="Inter" pitchFamily="34" charset="0"/>
                <a:ea typeface="Inter" pitchFamily="34" charset="-122"/>
                <a:cs typeface="Inter" pitchFamily="34" charset="-120"/>
              </a:rPr>
              <a:t>audit log</a:t>
            </a:r>
            <a:endParaRPr lang="en-US" sz="1400" dirty="0"/>
          </a:p>
        </p:txBody>
      </p:sp>
      <p:sp>
        <p:nvSpPr>
          <p:cNvPr id="24" name="Text 22"/>
          <p:cNvSpPr/>
          <p:nvPr/>
        </p:nvSpPr>
        <p:spPr>
          <a:xfrm>
            <a:off x="457200" y="3063240"/>
            <a:ext cx="548640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SLOs per task</a:t>
            </a:r>
            <a:endParaRPr lang="en-US" sz="1400" dirty="0"/>
          </a:p>
        </p:txBody>
      </p:sp>
      <p:sp>
        <p:nvSpPr>
          <p:cNvPr id="25" name="Shape 23"/>
          <p:cNvSpPr/>
          <p:nvPr/>
        </p:nvSpPr>
        <p:spPr>
          <a:xfrm>
            <a:off x="457200" y="3474720"/>
            <a:ext cx="1691640" cy="54864"/>
          </a:xfrm>
          <a:prstGeom prst="rect">
            <a:avLst/>
          </a:prstGeom>
          <a:solidFill>
            <a:srgbClr val="2563EB"/>
          </a:solidFill>
          <a:ln w="12700">
            <a:solidFill>
              <a:srgbClr val="2563EB"/>
            </a:solidFill>
            <a:prstDash val="solid"/>
          </a:ln>
        </p:spPr>
      </p:sp>
      <p:sp>
        <p:nvSpPr>
          <p:cNvPr id="26" name="Text 24"/>
          <p:cNvSpPr/>
          <p:nvPr/>
        </p:nvSpPr>
        <p:spPr>
          <a:xfrm>
            <a:off x="457200" y="3611880"/>
            <a:ext cx="1691640" cy="73152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Time to first step</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TTFT p95</a:t>
            </a:r>
            <a:endParaRPr lang="en-US" sz="1400" dirty="0"/>
          </a:p>
        </p:txBody>
      </p:sp>
      <p:sp>
        <p:nvSpPr>
          <p:cNvPr id="27" name="Shape 25"/>
          <p:cNvSpPr/>
          <p:nvPr/>
        </p:nvSpPr>
        <p:spPr>
          <a:xfrm>
            <a:off x="2286000" y="3474720"/>
            <a:ext cx="1691640" cy="54864"/>
          </a:xfrm>
          <a:prstGeom prst="rect">
            <a:avLst/>
          </a:prstGeom>
          <a:solidFill>
            <a:srgbClr val="2563EB"/>
          </a:solidFill>
          <a:ln w="12700">
            <a:solidFill>
              <a:srgbClr val="2563EB"/>
            </a:solidFill>
            <a:prstDash val="solid"/>
          </a:ln>
        </p:spPr>
      </p:sp>
      <p:sp>
        <p:nvSpPr>
          <p:cNvPr id="28" name="Text 26"/>
          <p:cNvSpPr/>
          <p:nvPr/>
        </p:nvSpPr>
        <p:spPr>
          <a:xfrm>
            <a:off x="2286000" y="3611880"/>
            <a:ext cx="1691640" cy="73152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Step latency</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p95 per tool turn</a:t>
            </a:r>
            <a:endParaRPr lang="en-US" sz="1400" dirty="0"/>
          </a:p>
        </p:txBody>
      </p:sp>
      <p:sp>
        <p:nvSpPr>
          <p:cNvPr id="29" name="Shape 27"/>
          <p:cNvSpPr/>
          <p:nvPr/>
        </p:nvSpPr>
        <p:spPr>
          <a:xfrm>
            <a:off x="4114800" y="3474720"/>
            <a:ext cx="1691640" cy="54864"/>
          </a:xfrm>
          <a:prstGeom prst="rect">
            <a:avLst/>
          </a:prstGeom>
          <a:solidFill>
            <a:srgbClr val="2563EB"/>
          </a:solidFill>
          <a:ln w="12700">
            <a:solidFill>
              <a:srgbClr val="2563EB"/>
            </a:solidFill>
            <a:prstDash val="solid"/>
          </a:ln>
        </p:spPr>
      </p:sp>
      <p:sp>
        <p:nvSpPr>
          <p:cNvPr id="30" name="Text 28"/>
          <p:cNvSpPr/>
          <p:nvPr/>
        </p:nvSpPr>
        <p:spPr>
          <a:xfrm>
            <a:off x="4114800" y="3611880"/>
            <a:ext cx="1691640" cy="73152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Cost per task</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GPU-sec / task</a:t>
            </a:r>
            <a:endParaRPr lang="en-US" sz="1400" dirty="0"/>
          </a:p>
        </p:txBody>
      </p:sp>
      <p:sp>
        <p:nvSpPr>
          <p:cNvPr id="31" name="Shape 29"/>
          <p:cNvSpPr/>
          <p:nvPr/>
        </p:nvSpPr>
        <p:spPr>
          <a:xfrm>
            <a:off x="5943600" y="3474720"/>
            <a:ext cx="1691640" cy="54864"/>
          </a:xfrm>
          <a:prstGeom prst="rect">
            <a:avLst/>
          </a:prstGeom>
          <a:solidFill>
            <a:srgbClr val="2563EB"/>
          </a:solidFill>
          <a:ln w="12700">
            <a:solidFill>
              <a:srgbClr val="2563EB"/>
            </a:solidFill>
            <a:prstDash val="solid"/>
          </a:ln>
        </p:spPr>
      </p:sp>
      <p:sp>
        <p:nvSpPr>
          <p:cNvPr id="32" name="Text 30"/>
          <p:cNvSpPr/>
          <p:nvPr/>
        </p:nvSpPr>
        <p:spPr>
          <a:xfrm>
            <a:off x="5943600" y="3611880"/>
            <a:ext cx="1691640" cy="731520"/>
          </a:xfrm>
          <a:prstGeom prst="rect">
            <a:avLst/>
          </a:prstGeom>
          <a:noFill/>
          <a:ln/>
        </p:spPr>
        <p:txBody>
          <a:bodyPr wrap="square" lIns="0" tIns="0" rIns="0" bIns="0" rtlCol="0" anchor="t"/>
          <a:lstStyle/>
          <a:p>
            <a:pPr indent="0" marL="0">
              <a:buNone/>
            </a:pPr>
            <a:r>
              <a:rPr lang="en-US" sz="1400" b="1" dirty="0">
                <a:solidFill>
                  <a:srgbClr val="1B232E"/>
                </a:solidFill>
                <a:latin typeface="Inter" pitchFamily="34" charset="0"/>
                <a:ea typeface="Inter" pitchFamily="34" charset="-122"/>
                <a:cs typeface="Inter" pitchFamily="34" charset="-120"/>
              </a:rPr>
              <a:t>Task success</a:t>
            </a:r>
            <a:endParaRPr lang="en-US" sz="1400" dirty="0"/>
          </a:p>
          <a:p>
            <a:pPr indent="0" marL="0">
              <a:buNone/>
            </a:pPr>
            <a:r>
              <a:rPr lang="en-US" sz="1400" dirty="0">
                <a:solidFill>
                  <a:srgbClr val="7A808A"/>
                </a:solidFill>
                <a:latin typeface="Inter" pitchFamily="34" charset="0"/>
                <a:ea typeface="Inter" pitchFamily="34" charset="-122"/>
                <a:cs typeface="Inter" pitchFamily="34" charset="-120"/>
              </a:rPr>
              <a:t>eval pass rate</a:t>
            </a:r>
            <a:endParaRPr lang="en-US" sz="1400" dirty="0"/>
          </a:p>
        </p:txBody>
      </p:sp>
      <p:sp>
        <p:nvSpPr>
          <p:cNvPr id="33" name="Text 31"/>
          <p:cNvSpPr/>
          <p:nvPr/>
        </p:nvSpPr>
        <p:spPr>
          <a:xfrm>
            <a:off x="457200" y="4434840"/>
            <a:ext cx="7132320" cy="320040"/>
          </a:xfrm>
          <a:prstGeom prst="rect">
            <a:avLst/>
          </a:prstGeom>
          <a:noFill/>
          <a:ln/>
        </p:spPr>
        <p:txBody>
          <a:bodyPr wrap="square" lIns="0" tIns="0" rIns="0" bIns="0" rtlCol="0" anchor="ctr"/>
          <a:lstStyle/>
          <a:p>
            <a:pPr indent="0" marL="0">
              <a:buNone/>
            </a:pPr>
            <a:r>
              <a:rPr lang="en-US" sz="1400" i="1" dirty="0">
                <a:solidFill>
                  <a:srgbClr val="7A808A"/>
                </a:solidFill>
                <a:latin typeface="Inter" pitchFamily="34" charset="0"/>
                <a:ea typeface="Inter" pitchFamily="34" charset="-122"/>
                <a:cs typeface="Inter" pitchFamily="34" charset="-120"/>
              </a:rPr>
              <a:t>Targets set from pilot baseline</a:t>
            </a:r>
            <a:endParaRPr lang="en-US" sz="1400" dirty="0"/>
          </a:p>
        </p:txBody>
      </p:sp>
      <p:sp>
        <p:nvSpPr>
          <p:cNvPr id="34" name="Shape 32"/>
          <p:cNvSpPr/>
          <p:nvPr/>
        </p:nvSpPr>
        <p:spPr>
          <a:xfrm>
            <a:off x="8001000" y="3108960"/>
            <a:ext cx="0" cy="3017520"/>
          </a:xfrm>
          <a:prstGeom prst="line">
            <a:avLst/>
          </a:prstGeom>
          <a:noFill/>
          <a:ln w="12700">
            <a:solidFill>
              <a:srgbClr val="D9DCE1"/>
            </a:solidFill>
            <a:prstDash val="solid"/>
          </a:ln>
        </p:spPr>
      </p:sp>
      <p:sp>
        <p:nvSpPr>
          <p:cNvPr id="35" name="Text 33"/>
          <p:cNvSpPr/>
          <p:nvPr/>
        </p:nvSpPr>
        <p:spPr>
          <a:xfrm>
            <a:off x="8275320" y="3063240"/>
            <a:ext cx="347472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Release &amp; resilience</a:t>
            </a:r>
            <a:endParaRPr lang="en-US" sz="1400" dirty="0"/>
          </a:p>
        </p:txBody>
      </p:sp>
      <p:sp>
        <p:nvSpPr>
          <p:cNvPr id="36" name="Text 34"/>
          <p:cNvSpPr/>
          <p:nvPr/>
        </p:nvSpPr>
        <p:spPr>
          <a:xfrm>
            <a:off x="8275320" y="3474720"/>
            <a:ext cx="3474720" cy="4572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Canary  </a:t>
            </a:r>
            <a:r>
              <a:rPr lang="en-US" sz="1400" dirty="0">
                <a:solidFill>
                  <a:srgbClr val="4A505A"/>
                </a:solidFill>
                <a:latin typeface="Inter" pitchFamily="34" charset="0"/>
                <a:ea typeface="Inter" pitchFamily="34" charset="-122"/>
                <a:cs typeface="Inter" pitchFamily="34" charset="-120"/>
              </a:rPr>
              <a:t>5% → 25% → 100%</a:t>
            </a:r>
            <a:endParaRPr lang="en-US" sz="1400" dirty="0"/>
          </a:p>
        </p:txBody>
      </p:sp>
      <p:sp>
        <p:nvSpPr>
          <p:cNvPr id="37" name="Text 35"/>
          <p:cNvSpPr/>
          <p:nvPr/>
        </p:nvSpPr>
        <p:spPr>
          <a:xfrm>
            <a:off x="8275320" y="3986784"/>
            <a:ext cx="3474720" cy="4572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Fallback  </a:t>
            </a:r>
            <a:r>
              <a:rPr lang="en-US" sz="1400" dirty="0">
                <a:solidFill>
                  <a:srgbClr val="4A505A"/>
                </a:solidFill>
                <a:latin typeface="Inter" pitchFamily="34" charset="0"/>
                <a:ea typeface="Inter" pitchFamily="34" charset="-122"/>
                <a:cs typeface="Inter" pitchFamily="34" charset="-120"/>
              </a:rPr>
              <a:t>smaller model on SLO breach</a:t>
            </a:r>
            <a:endParaRPr lang="en-US" sz="1400" dirty="0"/>
          </a:p>
        </p:txBody>
      </p:sp>
      <p:sp>
        <p:nvSpPr>
          <p:cNvPr id="38" name="Text 36"/>
          <p:cNvSpPr/>
          <p:nvPr/>
        </p:nvSpPr>
        <p:spPr>
          <a:xfrm>
            <a:off x="8275320" y="4498848"/>
            <a:ext cx="3474720" cy="4572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Breakers  </a:t>
            </a:r>
            <a:r>
              <a:rPr lang="en-US" sz="1400" dirty="0">
                <a:solidFill>
                  <a:srgbClr val="4A505A"/>
                </a:solidFill>
                <a:latin typeface="Inter" pitchFamily="34" charset="0"/>
                <a:ea typeface="Inter" pitchFamily="34" charset="-122"/>
                <a:cs typeface="Inter" pitchFamily="34" charset="-120"/>
              </a:rPr>
              <a:t>retries · failover · 429</a:t>
            </a:r>
            <a:endParaRPr lang="en-US" sz="1400" dirty="0"/>
          </a:p>
        </p:txBody>
      </p:sp>
      <p:sp>
        <p:nvSpPr>
          <p:cNvPr id="39" name="Text 37"/>
          <p:cNvSpPr/>
          <p:nvPr/>
        </p:nvSpPr>
        <p:spPr>
          <a:xfrm>
            <a:off x="8275320" y="5010912"/>
            <a:ext cx="3474720" cy="4572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Autoscale  </a:t>
            </a:r>
            <a:r>
              <a:rPr lang="en-US" sz="1400" dirty="0">
                <a:solidFill>
                  <a:srgbClr val="4A505A"/>
                </a:solidFill>
                <a:latin typeface="Inter" pitchFamily="34" charset="0"/>
                <a:ea typeface="Inter" pitchFamily="34" charset="-122"/>
                <a:cs typeface="Inter" pitchFamily="34" charset="-120"/>
              </a:rPr>
              <a:t>on queue depth + TTFT</a:t>
            </a:r>
            <a:endParaRPr lang="en-US" sz="1400" dirty="0"/>
          </a:p>
        </p:txBody>
      </p:sp>
      <p:sp>
        <p:nvSpPr>
          <p:cNvPr id="40" name="Text 38"/>
          <p:cNvSpPr/>
          <p:nvPr/>
        </p:nvSpPr>
        <p:spPr>
          <a:xfrm>
            <a:off x="8275320" y="5522976"/>
            <a:ext cx="3474720" cy="457200"/>
          </a:xfrm>
          <a:prstGeom prst="rect">
            <a:avLst/>
          </a:prstGeom>
          <a:noFill/>
          <a:ln/>
        </p:spPr>
        <p:txBody>
          <a:bodyPr wrap="square" lIns="0" tIns="0" rIns="0" bIns="0" rtlCol="0" anchor="ctr"/>
          <a:lstStyle/>
          <a:p>
            <a:pPr indent="0" marL="0">
              <a:buNone/>
            </a:pPr>
            <a:r>
              <a:rPr lang="en-US" sz="1400" b="1" dirty="0">
                <a:solidFill>
                  <a:srgbClr val="2563EB"/>
                </a:solidFill>
                <a:latin typeface="Inter" pitchFamily="34" charset="0"/>
                <a:ea typeface="Inter" pitchFamily="34" charset="-122"/>
                <a:cs typeface="Inter" pitchFamily="34" charset="-120"/>
              </a:rPr>
              <a:t>Tracing  </a:t>
            </a:r>
            <a:r>
              <a:rPr lang="en-US" sz="1400" dirty="0">
                <a:solidFill>
                  <a:srgbClr val="4A505A"/>
                </a:solidFill>
                <a:latin typeface="Inter" pitchFamily="34" charset="0"/>
                <a:ea typeface="Inter" pitchFamily="34" charset="-122"/>
                <a:cs typeface="Inter" pitchFamily="34" charset="-120"/>
              </a:rPr>
              <a:t>OpenTelemetry per step</a:t>
            </a:r>
            <a:endParaRPr lang="en-US" sz="1400" dirty="0"/>
          </a:p>
        </p:txBody>
      </p:sp>
      <p:sp>
        <p:nvSpPr>
          <p:cNvPr id="41" name="Shape 39"/>
          <p:cNvSpPr/>
          <p:nvPr/>
        </p:nvSpPr>
        <p:spPr>
          <a:xfrm>
            <a:off x="457200" y="5074920"/>
            <a:ext cx="7315200" cy="1051560"/>
          </a:xfrm>
          <a:prstGeom prst="rect">
            <a:avLst>
              <a:gd name="adj" fmla="val 5217"/>
            </a:avLst>
          </a:prstGeom>
          <a:solidFill>
            <a:srgbClr val="F4F5F7"/>
          </a:solidFill>
          <a:ln w="12700">
            <a:solidFill>
              <a:srgbClr val="F4F5F7"/>
            </a:solidFill>
            <a:prstDash val="solid"/>
          </a:ln>
        </p:spPr>
      </p:sp>
      <p:sp>
        <p:nvSpPr>
          <p:cNvPr id="42" name="Text 40"/>
          <p:cNvSpPr/>
          <p:nvPr/>
        </p:nvSpPr>
        <p:spPr>
          <a:xfrm>
            <a:off x="530352" y="5111496"/>
            <a:ext cx="7168896" cy="978408"/>
          </a:xfrm>
          <a:prstGeom prst="rect">
            <a:avLst/>
          </a:prstGeom>
          <a:noFill/>
          <a:ln/>
        </p:spPr>
        <p:txBody>
          <a:bodyPr wrap="square" lIns="0" tIns="0" rIns="0" bIns="0" rtlCol="0" anchor="ctr"/>
          <a:lstStyle/>
          <a:p>
            <a:pPr algn="l" indent="0" marL="0">
              <a:buNone/>
            </a:pPr>
            <a:r>
              <a:rPr lang="en-US" sz="1400" b="1" dirty="0">
                <a:solidFill>
                  <a:srgbClr val="1B232E"/>
                </a:solidFill>
                <a:latin typeface="Inter" pitchFamily="34" charset="0"/>
                <a:ea typeface="Inter" pitchFamily="34" charset="-122"/>
                <a:cs typeface="Inter" pitchFamily="34" charset="-120"/>
              </a:rPr>
              <a:t>Compliance  </a:t>
            </a:r>
            <a:r>
              <a:rPr lang="en-US" sz="1400" dirty="0">
                <a:solidFill>
                  <a:srgbClr val="4A505A"/>
                </a:solidFill>
                <a:latin typeface="Inter" pitchFamily="34" charset="0"/>
                <a:ea typeface="Inter" pitchFamily="34" charset="-122"/>
                <a:cs typeface="Inter" pitchFamily="34" charset="-120"/>
              </a:rPr>
              <a:t>self-hosted weights, no data leaves the VPC; PII redacted before logs; prompts and tool calls retained per policy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FIELD LESSONS</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Size KV for the real context mix, scale on queues, and use PD only over fast fabric</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12</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Text 5"/>
          <p:cNvSpPr/>
          <p:nvPr/>
        </p:nvSpPr>
        <p:spPr>
          <a:xfrm>
            <a:off x="457200" y="1600200"/>
            <a:ext cx="5669280" cy="32004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FP8 KV cache, 50 agent users — reported example</a:t>
            </a:r>
            <a:endParaRPr lang="en-US" sz="1400" dirty="0"/>
          </a:p>
        </p:txBody>
      </p:sp>
      <p:graphicFrame>
        <p:nvGraphicFramePr>
          <p:cNvPr id="8" name="Chart 0" descr=""/>
          <p:cNvGraphicFramePr/>
          <p:nvPr/>
        </p:nvGraphicFramePr>
        <p:xfrm>
          <a:off x="365760" y="1965960"/>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57200" y="5349240"/>
            <a:ext cx="5669280" cy="320040"/>
          </a:xfrm>
          <a:prstGeom prst="rect">
            <a:avLst/>
          </a:prstGeom>
          <a:noFill/>
          <a:ln/>
        </p:spPr>
        <p:txBody>
          <a:bodyPr wrap="square" lIns="0" tIns="0" rIns="0" bIns="0" rtlCol="0" anchor="ctr"/>
          <a:lstStyle/>
          <a:p>
            <a:pPr indent="0" marL="0">
              <a:buNone/>
            </a:pPr>
            <a:r>
              <a:rPr lang="en-US" sz="1400" dirty="0">
                <a:solidFill>
                  <a:srgbClr val="7A808A"/>
                </a:solidFill>
                <a:latin typeface="Inter" pitchFamily="34" charset="0"/>
                <a:ea typeface="Inter" pitchFamily="34" charset="-122"/>
                <a:cs typeface="Inter" pitchFamily="34" charset="-120"/>
              </a:rPr>
              <a:t>Qwen-3.8 27B hybrid; source: @jaga_prasanna</a:t>
            </a:r>
            <a:endParaRPr lang="en-US" sz="1400" dirty="0"/>
          </a:p>
        </p:txBody>
      </p:sp>
      <p:sp>
        <p:nvSpPr>
          <p:cNvPr id="10" name="Shape 7"/>
          <p:cNvSpPr/>
          <p:nvPr/>
        </p:nvSpPr>
        <p:spPr>
          <a:xfrm>
            <a:off x="6537960" y="1645920"/>
            <a:ext cx="0" cy="4206240"/>
          </a:xfrm>
          <a:prstGeom prst="line">
            <a:avLst/>
          </a:prstGeom>
          <a:noFill/>
          <a:ln w="12700">
            <a:solidFill>
              <a:srgbClr val="D9DCE1"/>
            </a:solidFill>
            <a:prstDash val="solid"/>
          </a:ln>
        </p:spPr>
      </p:sp>
      <p:sp>
        <p:nvSpPr>
          <p:cNvPr id="11" name="Text 8"/>
          <p:cNvSpPr/>
          <p:nvPr/>
        </p:nvSpPr>
        <p:spPr>
          <a:xfrm>
            <a:off x="6812280" y="1645920"/>
            <a:ext cx="457200" cy="822960"/>
          </a:xfrm>
          <a:prstGeom prst="rect">
            <a:avLst/>
          </a:prstGeom>
          <a:noFill/>
          <a:ln/>
        </p:spPr>
        <p:txBody>
          <a:bodyPr wrap="square" lIns="0" tIns="0" rIns="0" bIns="0" rtlCol="0" anchor="t"/>
          <a:lstStyle/>
          <a:p>
            <a:pPr indent="0" marL="0">
              <a:buNone/>
            </a:pPr>
            <a:r>
              <a:rPr lang="en-US" sz="2800" b="1" dirty="0">
                <a:solidFill>
                  <a:srgbClr val="2563EB"/>
                </a:solidFill>
                <a:latin typeface="Inter" pitchFamily="34" charset="0"/>
                <a:ea typeface="Inter" pitchFamily="34" charset="-122"/>
                <a:cs typeface="Inter" pitchFamily="34" charset="-120"/>
              </a:rPr>
              <a:t>1</a:t>
            </a:r>
            <a:endParaRPr lang="en-US" sz="2800" dirty="0"/>
          </a:p>
        </p:txBody>
      </p:sp>
      <p:sp>
        <p:nvSpPr>
          <p:cNvPr id="12" name="Text 9"/>
          <p:cNvSpPr/>
          <p:nvPr/>
        </p:nvSpPr>
        <p:spPr>
          <a:xfrm>
            <a:off x="7360920" y="1691640"/>
            <a:ext cx="4389120" cy="777240"/>
          </a:xfrm>
          <a:prstGeom prst="rect">
            <a:avLst/>
          </a:prstGeom>
          <a:noFill/>
          <a:ln/>
        </p:spPr>
        <p:txBody>
          <a:bodyPr wrap="square" lIns="0" tIns="0" rIns="0" bIns="0" rtlCol="0" anchor="t"/>
          <a:lstStyle/>
          <a:p>
            <a:pPr indent="0" marL="0">
              <a:buNone/>
            </a:pPr>
            <a:r>
              <a:rPr lang="en-US" sz="1600" b="1" dirty="0">
                <a:solidFill>
                  <a:srgbClr val="1B232E"/>
                </a:solidFill>
                <a:latin typeface="Inter" pitchFamily="34" charset="0"/>
                <a:ea typeface="Inter" pitchFamily="34" charset="-122"/>
                <a:cs typeface="Inter" pitchFamily="34" charset="-120"/>
              </a:rPr>
              <a:t>Weight ≠ KV precision</a:t>
            </a:r>
            <a:endParaRPr lang="en-US" sz="1600" dirty="0"/>
          </a:p>
          <a:p>
            <a:pPr indent="0" marL="0">
              <a:buNone/>
            </a:pPr>
            <a:r>
              <a:rPr lang="en-US" sz="1600" dirty="0">
                <a:solidFill>
                  <a:srgbClr val="4A505A"/>
                </a:solidFill>
                <a:latin typeface="Inter" pitchFamily="34" charset="0"/>
                <a:ea typeface="Inter" pitchFamily="34" charset="-122"/>
                <a:cs typeface="Inter" pitchFamily="34" charset="-120"/>
              </a:rPr>
              <a:t>set each explicitly</a:t>
            </a:r>
            <a:endParaRPr lang="en-US" sz="1600" dirty="0"/>
          </a:p>
        </p:txBody>
      </p:sp>
      <p:sp>
        <p:nvSpPr>
          <p:cNvPr id="13" name="Text 10"/>
          <p:cNvSpPr/>
          <p:nvPr/>
        </p:nvSpPr>
        <p:spPr>
          <a:xfrm>
            <a:off x="6812280" y="2715768"/>
            <a:ext cx="457200" cy="822960"/>
          </a:xfrm>
          <a:prstGeom prst="rect">
            <a:avLst/>
          </a:prstGeom>
          <a:noFill/>
          <a:ln/>
        </p:spPr>
        <p:txBody>
          <a:bodyPr wrap="square" lIns="0" tIns="0" rIns="0" bIns="0" rtlCol="0" anchor="t"/>
          <a:lstStyle/>
          <a:p>
            <a:pPr indent="0" marL="0">
              <a:buNone/>
            </a:pPr>
            <a:r>
              <a:rPr lang="en-US" sz="2800" b="1" dirty="0">
                <a:solidFill>
                  <a:srgbClr val="2563EB"/>
                </a:solidFill>
                <a:latin typeface="Inter" pitchFamily="34" charset="0"/>
                <a:ea typeface="Inter" pitchFamily="34" charset="-122"/>
                <a:cs typeface="Inter" pitchFamily="34" charset="-120"/>
              </a:rPr>
              <a:t>2</a:t>
            </a:r>
            <a:endParaRPr lang="en-US" sz="2800" dirty="0"/>
          </a:p>
        </p:txBody>
      </p:sp>
      <p:sp>
        <p:nvSpPr>
          <p:cNvPr id="14" name="Text 11"/>
          <p:cNvSpPr/>
          <p:nvPr/>
        </p:nvSpPr>
        <p:spPr>
          <a:xfrm>
            <a:off x="7360920" y="2761488"/>
            <a:ext cx="4389120" cy="777240"/>
          </a:xfrm>
          <a:prstGeom prst="rect">
            <a:avLst/>
          </a:prstGeom>
          <a:noFill/>
          <a:ln/>
        </p:spPr>
        <p:txBody>
          <a:bodyPr wrap="square" lIns="0" tIns="0" rIns="0" bIns="0" rtlCol="0" anchor="t"/>
          <a:lstStyle/>
          <a:p>
            <a:pPr indent="0" marL="0">
              <a:buNone/>
            </a:pPr>
            <a:r>
              <a:rPr lang="en-US" sz="1600" b="1" dirty="0">
                <a:solidFill>
                  <a:srgbClr val="1B232E"/>
                </a:solidFill>
                <a:latin typeface="Inter" pitchFamily="34" charset="0"/>
                <a:ea typeface="Inter" pitchFamily="34" charset="-122"/>
                <a:cs typeface="Inter" pitchFamily="34" charset="-120"/>
              </a:rPr>
              <a:t>Scale on queue + TTFT</a:t>
            </a:r>
            <a:endParaRPr lang="en-US" sz="1600" dirty="0"/>
          </a:p>
          <a:p>
            <a:pPr indent="0" marL="0">
              <a:buNone/>
            </a:pPr>
            <a:r>
              <a:rPr lang="en-US" sz="1600" dirty="0">
                <a:solidFill>
                  <a:srgbClr val="4A505A"/>
                </a:solidFill>
                <a:latin typeface="Inter" pitchFamily="34" charset="0"/>
                <a:ea typeface="Inter" pitchFamily="34" charset="-122"/>
                <a:cs typeface="Inter" pitchFamily="34" charset="-120"/>
              </a:rPr>
              <a:t>not GPU utilization</a:t>
            </a:r>
            <a:endParaRPr lang="en-US" sz="1600" dirty="0"/>
          </a:p>
        </p:txBody>
      </p:sp>
      <p:sp>
        <p:nvSpPr>
          <p:cNvPr id="15" name="Text 12"/>
          <p:cNvSpPr/>
          <p:nvPr/>
        </p:nvSpPr>
        <p:spPr>
          <a:xfrm>
            <a:off x="6812280" y="3785616"/>
            <a:ext cx="457200" cy="822960"/>
          </a:xfrm>
          <a:prstGeom prst="rect">
            <a:avLst/>
          </a:prstGeom>
          <a:noFill/>
          <a:ln/>
        </p:spPr>
        <p:txBody>
          <a:bodyPr wrap="square" lIns="0" tIns="0" rIns="0" bIns="0" rtlCol="0" anchor="t"/>
          <a:lstStyle/>
          <a:p>
            <a:pPr indent="0" marL="0">
              <a:buNone/>
            </a:pPr>
            <a:r>
              <a:rPr lang="en-US" sz="2800" b="1" dirty="0">
                <a:solidFill>
                  <a:srgbClr val="2563EB"/>
                </a:solidFill>
                <a:latin typeface="Inter" pitchFamily="34" charset="0"/>
                <a:ea typeface="Inter" pitchFamily="34" charset="-122"/>
                <a:cs typeface="Inter" pitchFamily="34" charset="-120"/>
              </a:rPr>
              <a:t>3</a:t>
            </a:r>
            <a:endParaRPr lang="en-US" sz="2800" dirty="0"/>
          </a:p>
        </p:txBody>
      </p:sp>
      <p:sp>
        <p:nvSpPr>
          <p:cNvPr id="16" name="Text 13"/>
          <p:cNvSpPr/>
          <p:nvPr/>
        </p:nvSpPr>
        <p:spPr>
          <a:xfrm>
            <a:off x="7360920" y="3831336"/>
            <a:ext cx="4389120" cy="777240"/>
          </a:xfrm>
          <a:prstGeom prst="rect">
            <a:avLst/>
          </a:prstGeom>
          <a:noFill/>
          <a:ln/>
        </p:spPr>
        <p:txBody>
          <a:bodyPr wrap="square" lIns="0" tIns="0" rIns="0" bIns="0" rtlCol="0" anchor="t"/>
          <a:lstStyle/>
          <a:p>
            <a:pPr indent="0" marL="0">
              <a:buNone/>
            </a:pPr>
            <a:r>
              <a:rPr lang="en-US" sz="1600" b="1" dirty="0">
                <a:solidFill>
                  <a:srgbClr val="1B232E"/>
                </a:solidFill>
                <a:latin typeface="Inter" pitchFamily="34" charset="0"/>
                <a:ea typeface="Inter" pitchFamily="34" charset="-122"/>
                <a:cs typeface="Inter" pitchFamily="34" charset="-120"/>
              </a:rPr>
              <a:t>PD needs NVLink/RDMA</a:t>
            </a:r>
            <a:endParaRPr lang="en-US" sz="1600" dirty="0"/>
          </a:p>
          <a:p>
            <a:pPr indent="0" marL="0">
              <a:buNone/>
            </a:pPr>
            <a:r>
              <a:rPr lang="en-US" sz="1600" dirty="0">
                <a:solidFill>
                  <a:srgbClr val="4A505A"/>
                </a:solidFill>
                <a:latin typeface="Inter" pitchFamily="34" charset="0"/>
                <a:ea typeface="Inter" pitchFamily="34" charset="-122"/>
                <a:cs typeface="Inter" pitchFamily="34" charset="-120"/>
              </a:rPr>
              <a:t>else aggregated replicas</a:t>
            </a:r>
            <a:endParaRPr lang="en-US" sz="1600" dirty="0"/>
          </a:p>
        </p:txBody>
      </p:sp>
      <p:sp>
        <p:nvSpPr>
          <p:cNvPr id="17" name="Text 14"/>
          <p:cNvSpPr/>
          <p:nvPr/>
        </p:nvSpPr>
        <p:spPr>
          <a:xfrm>
            <a:off x="6812280" y="4855464"/>
            <a:ext cx="457200" cy="822960"/>
          </a:xfrm>
          <a:prstGeom prst="rect">
            <a:avLst/>
          </a:prstGeom>
          <a:noFill/>
          <a:ln/>
        </p:spPr>
        <p:txBody>
          <a:bodyPr wrap="square" lIns="0" tIns="0" rIns="0" bIns="0" rtlCol="0" anchor="t"/>
          <a:lstStyle/>
          <a:p>
            <a:pPr indent="0" marL="0">
              <a:buNone/>
            </a:pPr>
            <a:r>
              <a:rPr lang="en-US" sz="2800" b="1" dirty="0">
                <a:solidFill>
                  <a:srgbClr val="2563EB"/>
                </a:solidFill>
                <a:latin typeface="Inter" pitchFamily="34" charset="0"/>
                <a:ea typeface="Inter" pitchFamily="34" charset="-122"/>
                <a:cs typeface="Inter" pitchFamily="34" charset="-120"/>
              </a:rPr>
              <a:t>4</a:t>
            </a:r>
            <a:endParaRPr lang="en-US" sz="2800" dirty="0"/>
          </a:p>
        </p:txBody>
      </p:sp>
      <p:sp>
        <p:nvSpPr>
          <p:cNvPr id="18" name="Text 15"/>
          <p:cNvSpPr/>
          <p:nvPr/>
        </p:nvSpPr>
        <p:spPr>
          <a:xfrm>
            <a:off x="7360920" y="4901184"/>
            <a:ext cx="4389120" cy="777240"/>
          </a:xfrm>
          <a:prstGeom prst="rect">
            <a:avLst/>
          </a:prstGeom>
          <a:noFill/>
          <a:ln/>
        </p:spPr>
        <p:txBody>
          <a:bodyPr wrap="square" lIns="0" tIns="0" rIns="0" bIns="0" rtlCol="0" anchor="t"/>
          <a:lstStyle/>
          <a:p>
            <a:pPr indent="0" marL="0">
              <a:buNone/>
            </a:pPr>
            <a:r>
              <a:rPr lang="en-US" sz="1600" b="1" dirty="0">
                <a:solidFill>
                  <a:srgbClr val="1B232E"/>
                </a:solidFill>
                <a:latin typeface="Inter" pitchFamily="34" charset="0"/>
                <a:ea typeface="Inter" pitchFamily="34" charset="-122"/>
                <a:cs typeface="Inter" pitchFamily="34" charset="-120"/>
              </a:rPr>
              <a:t>Lock SLOs first</a:t>
            </a:r>
            <a:endParaRPr lang="en-US" sz="1600" dirty="0"/>
          </a:p>
          <a:p>
            <a:pPr indent="0" marL="0">
              <a:buNone/>
            </a:pPr>
            <a:r>
              <a:rPr lang="en-US" sz="1600" dirty="0">
                <a:solidFill>
                  <a:srgbClr val="4A505A"/>
                </a:solidFill>
                <a:latin typeface="Inter" pitchFamily="34" charset="0"/>
                <a:ea typeface="Inter" pitchFamily="34" charset="-122"/>
                <a:cs typeface="Inter" pitchFamily="34" charset="-120"/>
              </a:rPr>
              <a:t>stress prefill and decode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73152" cy="868680"/>
          </a:xfrm>
          <a:prstGeom prst="rect">
            <a:avLst/>
          </a:prstGeom>
          <a:solidFill>
            <a:srgbClr val="2563EB"/>
          </a:solidFill>
          <a:ln w="12700">
            <a:solidFill>
              <a:srgbClr val="2563EB"/>
            </a:solidFill>
            <a:prstDash val="solid"/>
          </a:ln>
        </p:spPr>
      </p:sp>
      <p:sp>
        <p:nvSpPr>
          <p:cNvPr id="3" name="Text 1"/>
          <p:cNvSpPr/>
          <p:nvPr/>
        </p:nvSpPr>
        <p:spPr>
          <a:xfrm>
            <a:off x="658368" y="310896"/>
            <a:ext cx="9144000" cy="256032"/>
          </a:xfrm>
          <a:prstGeom prst="rect">
            <a:avLst/>
          </a:prstGeom>
          <a:noFill/>
          <a:ln/>
        </p:spPr>
        <p:txBody>
          <a:bodyPr wrap="square" lIns="0" tIns="0" rIns="0" bIns="0" rtlCol="0" anchor="ctr"/>
          <a:lstStyle/>
          <a:p>
            <a:pPr indent="0" marL="0">
              <a:buNone/>
            </a:pPr>
            <a:r>
              <a:rPr lang="en-US" sz="1300" b="1" spc="200" kern="0" dirty="0">
                <a:solidFill>
                  <a:srgbClr val="2563EB"/>
                </a:solidFill>
                <a:latin typeface="Inter" pitchFamily="34" charset="0"/>
                <a:ea typeface="Inter" pitchFamily="34" charset="-122"/>
                <a:cs typeface="Inter" pitchFamily="34" charset="-120"/>
              </a:rPr>
              <a:t>ROADMAP</a:t>
            </a:r>
            <a:endParaRPr lang="en-US" sz="1300" dirty="0"/>
          </a:p>
        </p:txBody>
      </p:sp>
      <p:sp>
        <p:nvSpPr>
          <p:cNvPr id="4" name="Text 2"/>
          <p:cNvSpPr/>
          <p:nvPr/>
        </p:nvSpPr>
        <p:spPr>
          <a:xfrm>
            <a:off x="658368" y="603504"/>
            <a:ext cx="11064240" cy="685800"/>
          </a:xfrm>
          <a:prstGeom prst="rect">
            <a:avLst/>
          </a:prstGeom>
          <a:noFill/>
          <a:ln/>
        </p:spPr>
        <p:txBody>
          <a:bodyPr wrap="square" lIns="0" tIns="0" rIns="0" bIns="0" rtlCol="0" anchor="t"/>
          <a:lstStyle/>
          <a:p>
            <a:pPr indent="0" marL="0">
              <a:buNone/>
            </a:pPr>
            <a:r>
              <a:rPr lang="en-US" sz="2600" b="1" dirty="0">
                <a:solidFill>
                  <a:srgbClr val="1B232E"/>
                </a:solidFill>
                <a:latin typeface="Inter" pitchFamily="34" charset="0"/>
                <a:ea typeface="Inter" pitchFamily="34" charset="-122"/>
                <a:cs typeface="Inter" pitchFamily="34" charset="-120"/>
              </a:rPr>
              <a:t>90 days to production, with a go/no-go gate every 30 days</a:t>
            </a:r>
            <a:endParaRPr lang="en-US" sz="2600" dirty="0"/>
          </a:p>
        </p:txBody>
      </p:sp>
      <p:sp>
        <p:nvSpPr>
          <p:cNvPr id="5" name="Text 3"/>
          <p:cNvSpPr/>
          <p:nvPr/>
        </p:nvSpPr>
        <p:spPr>
          <a:xfrm>
            <a:off x="11338560" y="6400800"/>
            <a:ext cx="411480" cy="274320"/>
          </a:xfrm>
          <a:prstGeom prst="rect">
            <a:avLst/>
          </a:prstGeom>
          <a:noFill/>
          <a:ln/>
        </p:spPr>
        <p:txBody>
          <a:bodyPr wrap="square" lIns="0" tIns="0" rIns="0" bIns="0" rtlCol="0" anchor="ctr"/>
          <a:lstStyle/>
          <a:p>
            <a:pPr algn="r" indent="0" marL="0">
              <a:buNone/>
            </a:pPr>
            <a:r>
              <a:rPr lang="en-US" sz="1200" dirty="0">
                <a:solidFill>
                  <a:srgbClr val="7A808A"/>
                </a:solidFill>
                <a:latin typeface="Inter" pitchFamily="34" charset="0"/>
                <a:ea typeface="Inter" pitchFamily="34" charset="-122"/>
                <a:cs typeface="Inter" pitchFamily="34" charset="-120"/>
              </a:rPr>
              <a:t>13</a:t>
            </a:r>
            <a:endParaRPr lang="en-US" sz="1200" dirty="0"/>
          </a:p>
        </p:txBody>
      </p:sp>
      <p:sp>
        <p:nvSpPr>
          <p:cNvPr id="6" name="Text 4"/>
          <p:cNvSpPr/>
          <p:nvPr/>
        </p:nvSpPr>
        <p:spPr>
          <a:xfrm>
            <a:off x="457200" y="6400800"/>
            <a:ext cx="4572000" cy="274320"/>
          </a:xfrm>
          <a:prstGeom prst="rect">
            <a:avLst/>
          </a:prstGeom>
          <a:noFill/>
          <a:ln/>
        </p:spPr>
        <p:txBody>
          <a:bodyPr wrap="square" lIns="0" tIns="0" rIns="0" bIns="0" rtlCol="0" anchor="ctr"/>
          <a:lstStyle/>
          <a:p>
            <a:pPr indent="0" marL="0">
              <a:buNone/>
            </a:pPr>
            <a:r>
              <a:rPr lang="en-US" sz="1200" dirty="0">
                <a:solidFill>
                  <a:srgbClr val="7A808A"/>
                </a:solidFill>
                <a:latin typeface="Inter" pitchFamily="34" charset="0"/>
                <a:ea typeface="Inter" pitchFamily="34" charset="-122"/>
                <a:cs typeface="Inter" pitchFamily="34" charset="-120"/>
              </a:rPr>
              <a:t>Agentic Inference Platform · 300B+</a:t>
            </a:r>
            <a:endParaRPr lang="en-US" sz="1200" dirty="0"/>
          </a:p>
        </p:txBody>
      </p:sp>
      <p:sp>
        <p:nvSpPr>
          <p:cNvPr id="7" name="Shape 5"/>
          <p:cNvSpPr/>
          <p:nvPr/>
        </p:nvSpPr>
        <p:spPr>
          <a:xfrm>
            <a:off x="731520" y="3246120"/>
            <a:ext cx="10698480" cy="0"/>
          </a:xfrm>
          <a:prstGeom prst="line">
            <a:avLst/>
          </a:prstGeom>
          <a:noFill/>
          <a:ln w="38100">
            <a:solidFill>
              <a:srgbClr val="1B232E"/>
            </a:solidFill>
            <a:prstDash val="solid"/>
          </a:ln>
        </p:spPr>
      </p:sp>
      <p:sp>
        <p:nvSpPr>
          <p:cNvPr id="8" name="Text 6"/>
          <p:cNvSpPr/>
          <p:nvPr/>
        </p:nvSpPr>
        <p:spPr>
          <a:xfrm>
            <a:off x="868680" y="1600200"/>
            <a:ext cx="3108960" cy="320040"/>
          </a:xfrm>
          <a:prstGeom prst="rect">
            <a:avLst/>
          </a:prstGeom>
          <a:noFill/>
          <a:ln/>
        </p:spPr>
        <p:txBody>
          <a:bodyPr wrap="square" lIns="0" tIns="0" rIns="0" bIns="0" rtlCol="0" anchor="ctr"/>
          <a:lstStyle/>
          <a:p>
            <a:pPr indent="0" marL="0">
              <a:buNone/>
            </a:pPr>
            <a:r>
              <a:rPr lang="en-US" sz="1400" b="1" spc="100" kern="0" dirty="0">
                <a:solidFill>
                  <a:srgbClr val="2563EB"/>
                </a:solidFill>
                <a:latin typeface="Inter" pitchFamily="34" charset="0"/>
                <a:ea typeface="Inter" pitchFamily="34" charset="-122"/>
                <a:cs typeface="Inter" pitchFamily="34" charset="-120"/>
              </a:rPr>
              <a:t>DAYS 0–30</a:t>
            </a:r>
            <a:endParaRPr lang="en-US" sz="1400" dirty="0"/>
          </a:p>
        </p:txBody>
      </p:sp>
      <p:sp>
        <p:nvSpPr>
          <p:cNvPr id="9" name="Text 7"/>
          <p:cNvSpPr/>
          <p:nvPr/>
        </p:nvSpPr>
        <p:spPr>
          <a:xfrm>
            <a:off x="868680" y="1920240"/>
            <a:ext cx="3108960" cy="457200"/>
          </a:xfrm>
          <a:prstGeom prst="rect">
            <a:avLst/>
          </a:prstGeom>
          <a:noFill/>
          <a:ln/>
        </p:spPr>
        <p:txBody>
          <a:bodyPr wrap="square" lIns="0" tIns="0" rIns="0" bIns="0" rtlCol="0" anchor="ctr"/>
          <a:lstStyle/>
          <a:p>
            <a:pPr indent="0" marL="0">
              <a:buNone/>
            </a:pPr>
            <a:r>
              <a:rPr lang="en-US" sz="2400" b="1" dirty="0">
                <a:solidFill>
                  <a:srgbClr val="1B232E"/>
                </a:solidFill>
                <a:latin typeface="Inter" pitchFamily="34" charset="0"/>
                <a:ea typeface="Inter" pitchFamily="34" charset="-122"/>
                <a:cs typeface="Inter" pitchFamily="34" charset="-120"/>
              </a:rPr>
              <a:t>Pilot</a:t>
            </a:r>
            <a:endParaRPr lang="en-US" sz="2400" dirty="0"/>
          </a:p>
        </p:txBody>
      </p:sp>
      <p:sp>
        <p:nvSpPr>
          <p:cNvPr id="10" name="Text 8"/>
          <p:cNvSpPr/>
          <p:nvPr/>
        </p:nvSpPr>
        <p:spPr>
          <a:xfrm>
            <a:off x="868680" y="2377440"/>
            <a:ext cx="3108960" cy="68580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1 node · 2 models · AgentX trace replay + stress tests</a:t>
            </a:r>
            <a:endParaRPr lang="en-US" sz="1400" dirty="0"/>
          </a:p>
        </p:txBody>
      </p:sp>
      <p:sp>
        <p:nvSpPr>
          <p:cNvPr id="11" name="Text 9"/>
          <p:cNvSpPr/>
          <p:nvPr/>
        </p:nvSpPr>
        <p:spPr>
          <a:xfrm>
            <a:off x="4434840" y="1600200"/>
            <a:ext cx="3108960" cy="320040"/>
          </a:xfrm>
          <a:prstGeom prst="rect">
            <a:avLst/>
          </a:prstGeom>
          <a:noFill/>
          <a:ln/>
        </p:spPr>
        <p:txBody>
          <a:bodyPr wrap="square" lIns="0" tIns="0" rIns="0" bIns="0" rtlCol="0" anchor="ctr"/>
          <a:lstStyle/>
          <a:p>
            <a:pPr indent="0" marL="0">
              <a:buNone/>
            </a:pPr>
            <a:r>
              <a:rPr lang="en-US" sz="1400" b="1" spc="100" kern="0" dirty="0">
                <a:solidFill>
                  <a:srgbClr val="2563EB"/>
                </a:solidFill>
                <a:latin typeface="Inter" pitchFamily="34" charset="0"/>
                <a:ea typeface="Inter" pitchFamily="34" charset="-122"/>
                <a:cs typeface="Inter" pitchFamily="34" charset="-120"/>
              </a:rPr>
              <a:t>DAYS 31–60</a:t>
            </a:r>
            <a:endParaRPr lang="en-US" sz="1400" dirty="0"/>
          </a:p>
        </p:txBody>
      </p:sp>
      <p:sp>
        <p:nvSpPr>
          <p:cNvPr id="12" name="Text 10"/>
          <p:cNvSpPr/>
          <p:nvPr/>
        </p:nvSpPr>
        <p:spPr>
          <a:xfrm>
            <a:off x="4434840" y="1920240"/>
            <a:ext cx="3108960" cy="457200"/>
          </a:xfrm>
          <a:prstGeom prst="rect">
            <a:avLst/>
          </a:prstGeom>
          <a:noFill/>
          <a:ln/>
        </p:spPr>
        <p:txBody>
          <a:bodyPr wrap="square" lIns="0" tIns="0" rIns="0" bIns="0" rtlCol="0" anchor="ctr"/>
          <a:lstStyle/>
          <a:p>
            <a:pPr indent="0" marL="0">
              <a:buNone/>
            </a:pPr>
            <a:r>
              <a:rPr lang="en-US" sz="2400" b="1" dirty="0">
                <a:solidFill>
                  <a:srgbClr val="1B232E"/>
                </a:solidFill>
                <a:latin typeface="Inter" pitchFamily="34" charset="0"/>
                <a:ea typeface="Inter" pitchFamily="34" charset="-122"/>
                <a:cs typeface="Inter" pitchFamily="34" charset="-120"/>
              </a:rPr>
              <a:t>Harden</a:t>
            </a:r>
            <a:endParaRPr lang="en-US" sz="2400" dirty="0"/>
          </a:p>
        </p:txBody>
      </p:sp>
      <p:sp>
        <p:nvSpPr>
          <p:cNvPr id="13" name="Text 11"/>
          <p:cNvSpPr/>
          <p:nvPr/>
        </p:nvSpPr>
        <p:spPr>
          <a:xfrm>
            <a:off x="4434840" y="2377440"/>
            <a:ext cx="3108960" cy="68580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Guards, sandbox, RBAC, tracing, SLO baseline</a:t>
            </a:r>
            <a:endParaRPr lang="en-US" sz="1400" dirty="0"/>
          </a:p>
        </p:txBody>
      </p:sp>
      <p:sp>
        <p:nvSpPr>
          <p:cNvPr id="14" name="Text 12"/>
          <p:cNvSpPr/>
          <p:nvPr/>
        </p:nvSpPr>
        <p:spPr>
          <a:xfrm>
            <a:off x="8001000" y="1600200"/>
            <a:ext cx="3108960" cy="320040"/>
          </a:xfrm>
          <a:prstGeom prst="rect">
            <a:avLst/>
          </a:prstGeom>
          <a:noFill/>
          <a:ln/>
        </p:spPr>
        <p:txBody>
          <a:bodyPr wrap="square" lIns="0" tIns="0" rIns="0" bIns="0" rtlCol="0" anchor="ctr"/>
          <a:lstStyle/>
          <a:p>
            <a:pPr indent="0" marL="0">
              <a:buNone/>
            </a:pPr>
            <a:r>
              <a:rPr lang="en-US" sz="1400" b="1" spc="100" kern="0" dirty="0">
                <a:solidFill>
                  <a:srgbClr val="2563EB"/>
                </a:solidFill>
                <a:latin typeface="Inter" pitchFamily="34" charset="0"/>
                <a:ea typeface="Inter" pitchFamily="34" charset="-122"/>
                <a:cs typeface="Inter" pitchFamily="34" charset="-120"/>
              </a:rPr>
              <a:t>DAYS 61–90</a:t>
            </a:r>
            <a:endParaRPr lang="en-US" sz="1400" dirty="0"/>
          </a:p>
        </p:txBody>
      </p:sp>
      <p:sp>
        <p:nvSpPr>
          <p:cNvPr id="15" name="Text 13"/>
          <p:cNvSpPr/>
          <p:nvPr/>
        </p:nvSpPr>
        <p:spPr>
          <a:xfrm>
            <a:off x="8001000" y="1920240"/>
            <a:ext cx="3108960" cy="457200"/>
          </a:xfrm>
          <a:prstGeom prst="rect">
            <a:avLst/>
          </a:prstGeom>
          <a:noFill/>
          <a:ln/>
        </p:spPr>
        <p:txBody>
          <a:bodyPr wrap="square" lIns="0" tIns="0" rIns="0" bIns="0" rtlCol="0" anchor="ctr"/>
          <a:lstStyle/>
          <a:p>
            <a:pPr indent="0" marL="0">
              <a:buNone/>
            </a:pPr>
            <a:r>
              <a:rPr lang="en-US" sz="2400" b="1" dirty="0">
                <a:solidFill>
                  <a:srgbClr val="1B232E"/>
                </a:solidFill>
                <a:latin typeface="Inter" pitchFamily="34" charset="0"/>
                <a:ea typeface="Inter" pitchFamily="34" charset="-122"/>
                <a:cs typeface="Inter" pitchFamily="34" charset="-120"/>
              </a:rPr>
              <a:t>Scale</a:t>
            </a:r>
            <a:endParaRPr lang="en-US" sz="2400" dirty="0"/>
          </a:p>
        </p:txBody>
      </p:sp>
      <p:sp>
        <p:nvSpPr>
          <p:cNvPr id="16" name="Text 14"/>
          <p:cNvSpPr/>
          <p:nvPr/>
        </p:nvSpPr>
        <p:spPr>
          <a:xfrm>
            <a:off x="8001000" y="2377440"/>
            <a:ext cx="3108960" cy="685800"/>
          </a:xfrm>
          <a:prstGeom prst="rect">
            <a:avLst/>
          </a:prstGeom>
          <a:noFill/>
          <a:ln/>
        </p:spPr>
        <p:txBody>
          <a:bodyPr wrap="square" lIns="0" tIns="0" rIns="0" bIns="0" rtlCol="0" anchor="t"/>
          <a:lstStyle/>
          <a:p>
            <a:pPr indent="0" marL="0">
              <a:buNone/>
            </a:pPr>
            <a:r>
              <a:rPr lang="en-US" sz="1400" dirty="0">
                <a:solidFill>
                  <a:srgbClr val="4A505A"/>
                </a:solidFill>
                <a:latin typeface="Inter" pitchFamily="34" charset="0"/>
                <a:ea typeface="Inter" pitchFamily="34" charset="-122"/>
                <a:cs typeface="Inter" pitchFamily="34" charset="-120"/>
              </a:rPr>
              <a:t>PD on 2 nodes · KV tiers · canary to prod</a:t>
            </a:r>
            <a:endParaRPr lang="en-US" sz="1400" dirty="0"/>
          </a:p>
        </p:txBody>
      </p:sp>
      <p:sp>
        <p:nvSpPr>
          <p:cNvPr id="17" name="Shape 15"/>
          <p:cNvSpPr/>
          <p:nvPr/>
        </p:nvSpPr>
        <p:spPr>
          <a:xfrm>
            <a:off x="4096512" y="3044952"/>
            <a:ext cx="402336" cy="402336"/>
          </a:xfrm>
          <a:prstGeom prst="diamond">
            <a:avLst/>
          </a:prstGeom>
          <a:solidFill>
            <a:srgbClr val="2563EB"/>
          </a:solidFill>
          <a:ln w="25400">
            <a:solidFill>
              <a:srgbClr val="FFFFFF"/>
            </a:solidFill>
            <a:prstDash val="solid"/>
          </a:ln>
        </p:spPr>
      </p:sp>
      <p:sp>
        <p:nvSpPr>
          <p:cNvPr id="18" name="Text 16"/>
          <p:cNvSpPr/>
          <p:nvPr/>
        </p:nvSpPr>
        <p:spPr>
          <a:xfrm>
            <a:off x="1051560" y="3566160"/>
            <a:ext cx="3108960" cy="548640"/>
          </a:xfrm>
          <a:prstGeom prst="rect">
            <a:avLst/>
          </a:prstGeom>
          <a:noFill/>
          <a:ln/>
        </p:spPr>
        <p:txBody>
          <a:bodyPr wrap="square" lIns="0" tIns="0" rIns="0" bIns="0" rtlCol="0" anchor="t"/>
          <a:lstStyle/>
          <a:p>
            <a:pPr algn="r" indent="0" marL="0">
              <a:buNone/>
            </a:pPr>
            <a:r>
              <a:rPr lang="en-US" sz="1400" b="1" dirty="0">
                <a:solidFill>
                  <a:srgbClr val="1B232E"/>
                </a:solidFill>
                <a:latin typeface="Inter" pitchFamily="34" charset="0"/>
                <a:ea typeface="Inter" pitchFamily="34" charset="-122"/>
                <a:cs typeface="Inter" pitchFamily="34" charset="-120"/>
              </a:rPr>
              <a:t>G1 · model + engine meet SLOs</a:t>
            </a:r>
            <a:endParaRPr lang="en-US" sz="1400" dirty="0"/>
          </a:p>
        </p:txBody>
      </p:sp>
      <p:sp>
        <p:nvSpPr>
          <p:cNvPr id="19" name="Shape 17"/>
          <p:cNvSpPr/>
          <p:nvPr/>
        </p:nvSpPr>
        <p:spPr>
          <a:xfrm>
            <a:off x="7662672" y="3044952"/>
            <a:ext cx="402336" cy="402336"/>
          </a:xfrm>
          <a:prstGeom prst="diamond">
            <a:avLst/>
          </a:prstGeom>
          <a:solidFill>
            <a:srgbClr val="2563EB"/>
          </a:solidFill>
          <a:ln w="25400">
            <a:solidFill>
              <a:srgbClr val="FFFFFF"/>
            </a:solidFill>
            <a:prstDash val="solid"/>
          </a:ln>
        </p:spPr>
      </p:sp>
      <p:sp>
        <p:nvSpPr>
          <p:cNvPr id="20" name="Text 18"/>
          <p:cNvSpPr/>
          <p:nvPr/>
        </p:nvSpPr>
        <p:spPr>
          <a:xfrm>
            <a:off x="4617720" y="3566160"/>
            <a:ext cx="3108960" cy="548640"/>
          </a:xfrm>
          <a:prstGeom prst="rect">
            <a:avLst/>
          </a:prstGeom>
          <a:noFill/>
          <a:ln/>
        </p:spPr>
        <p:txBody>
          <a:bodyPr wrap="square" lIns="0" tIns="0" rIns="0" bIns="0" rtlCol="0" anchor="t"/>
          <a:lstStyle/>
          <a:p>
            <a:pPr algn="r" indent="0" marL="0">
              <a:buNone/>
            </a:pPr>
            <a:r>
              <a:rPr lang="en-US" sz="1400" b="1" dirty="0">
                <a:solidFill>
                  <a:srgbClr val="1B232E"/>
                </a:solidFill>
                <a:latin typeface="Inter" pitchFamily="34" charset="0"/>
                <a:ea typeface="Inter" pitchFamily="34" charset="-122"/>
                <a:cs typeface="Inter" pitchFamily="34" charset="-120"/>
              </a:rPr>
              <a:t>G2 · security &amp; SLO sign-off</a:t>
            </a:r>
            <a:endParaRPr lang="en-US" sz="1400" dirty="0"/>
          </a:p>
        </p:txBody>
      </p:sp>
      <p:sp>
        <p:nvSpPr>
          <p:cNvPr id="21" name="Shape 19"/>
          <p:cNvSpPr/>
          <p:nvPr/>
        </p:nvSpPr>
        <p:spPr>
          <a:xfrm>
            <a:off x="11228832" y="3044952"/>
            <a:ext cx="402336" cy="402336"/>
          </a:xfrm>
          <a:prstGeom prst="diamond">
            <a:avLst/>
          </a:prstGeom>
          <a:solidFill>
            <a:srgbClr val="2563EB"/>
          </a:solidFill>
          <a:ln w="25400">
            <a:solidFill>
              <a:srgbClr val="FFFFFF"/>
            </a:solidFill>
            <a:prstDash val="solid"/>
          </a:ln>
        </p:spPr>
      </p:sp>
      <p:sp>
        <p:nvSpPr>
          <p:cNvPr id="22" name="Text 20"/>
          <p:cNvSpPr/>
          <p:nvPr/>
        </p:nvSpPr>
        <p:spPr>
          <a:xfrm>
            <a:off x="8183880" y="3566160"/>
            <a:ext cx="3108960" cy="548640"/>
          </a:xfrm>
          <a:prstGeom prst="rect">
            <a:avLst/>
          </a:prstGeom>
          <a:noFill/>
          <a:ln/>
        </p:spPr>
        <p:txBody>
          <a:bodyPr wrap="square" lIns="0" tIns="0" rIns="0" bIns="0" rtlCol="0" anchor="t"/>
          <a:lstStyle/>
          <a:p>
            <a:pPr algn="r" indent="0" marL="0">
              <a:buNone/>
            </a:pPr>
            <a:r>
              <a:rPr lang="en-US" sz="1400" b="1" dirty="0">
                <a:solidFill>
                  <a:srgbClr val="1B232E"/>
                </a:solidFill>
                <a:latin typeface="Inter" pitchFamily="34" charset="0"/>
                <a:ea typeface="Inter" pitchFamily="34" charset="-122"/>
                <a:cs typeface="Inter" pitchFamily="34" charset="-120"/>
              </a:rPr>
              <a:t>G3 · production go-live</a:t>
            </a:r>
            <a:endParaRPr lang="en-US" sz="1400" dirty="0"/>
          </a:p>
        </p:txBody>
      </p:sp>
      <p:sp>
        <p:nvSpPr>
          <p:cNvPr id="23" name="Shape 21"/>
          <p:cNvSpPr/>
          <p:nvPr/>
        </p:nvSpPr>
        <p:spPr>
          <a:xfrm>
            <a:off x="621792" y="3136392"/>
            <a:ext cx="219456" cy="219456"/>
          </a:xfrm>
          <a:prstGeom prst="ellipse">
            <a:avLst/>
          </a:prstGeom>
          <a:solidFill>
            <a:srgbClr val="1B232E"/>
          </a:solidFill>
          <a:ln w="12700">
            <a:solidFill>
              <a:srgbClr val="1B232E"/>
            </a:solidFill>
            <a:prstDash val="solid"/>
          </a:ln>
        </p:spPr>
      </p:sp>
      <p:sp>
        <p:nvSpPr>
          <p:cNvPr id="24" name="Shape 22"/>
          <p:cNvSpPr/>
          <p:nvPr/>
        </p:nvSpPr>
        <p:spPr>
          <a:xfrm>
            <a:off x="457200" y="4526280"/>
            <a:ext cx="11292840" cy="1600200"/>
          </a:xfrm>
          <a:prstGeom prst="rect">
            <a:avLst>
              <a:gd name="adj" fmla="val 3429"/>
            </a:avLst>
          </a:prstGeom>
          <a:solidFill>
            <a:srgbClr val="F4F5F7"/>
          </a:solidFill>
          <a:ln w="12700">
            <a:solidFill>
              <a:srgbClr val="F4F5F7"/>
            </a:solidFill>
            <a:prstDash val="solid"/>
          </a:ln>
        </p:spPr>
      </p:sp>
      <p:sp>
        <p:nvSpPr>
          <p:cNvPr id="25" name="Text 23"/>
          <p:cNvSpPr/>
          <p:nvPr/>
        </p:nvSpPr>
        <p:spPr>
          <a:xfrm>
            <a:off x="731520" y="4663440"/>
            <a:ext cx="2743200" cy="36576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Next steps</a:t>
            </a:r>
            <a:endParaRPr lang="en-US" sz="1400" dirty="0"/>
          </a:p>
        </p:txBody>
      </p:sp>
      <p:sp>
        <p:nvSpPr>
          <p:cNvPr id="26" name="Text 24"/>
          <p:cNvSpPr/>
          <p:nvPr/>
        </p:nvSpPr>
        <p:spPr>
          <a:xfrm>
            <a:off x="731520" y="5120640"/>
            <a:ext cx="457200" cy="640080"/>
          </a:xfrm>
          <a:prstGeom prst="rect">
            <a:avLst/>
          </a:prstGeom>
          <a:noFill/>
          <a:ln/>
        </p:spPr>
        <p:txBody>
          <a:bodyPr wrap="square" lIns="0" tIns="0" rIns="0" bIns="0" rtlCol="0" anchor="ctr"/>
          <a:lstStyle/>
          <a:p>
            <a:pPr indent="0" marL="0">
              <a:buNone/>
            </a:pPr>
            <a:r>
              <a:rPr lang="en-US" sz="2800" b="1" dirty="0">
                <a:solidFill>
                  <a:srgbClr val="2563EB"/>
                </a:solidFill>
                <a:latin typeface="Inter" pitchFamily="34" charset="0"/>
                <a:ea typeface="Inter" pitchFamily="34" charset="-122"/>
                <a:cs typeface="Inter" pitchFamily="34" charset="-120"/>
              </a:rPr>
              <a:t>1</a:t>
            </a:r>
            <a:endParaRPr lang="en-US" sz="2800" dirty="0"/>
          </a:p>
        </p:txBody>
      </p:sp>
      <p:sp>
        <p:nvSpPr>
          <p:cNvPr id="27" name="Text 25"/>
          <p:cNvSpPr/>
          <p:nvPr/>
        </p:nvSpPr>
        <p:spPr>
          <a:xfrm>
            <a:off x="1188720" y="5120640"/>
            <a:ext cx="3108960" cy="64008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Confirm GPU SKU and count</a:t>
            </a:r>
            <a:endParaRPr lang="en-US" sz="1400" dirty="0"/>
          </a:p>
        </p:txBody>
      </p:sp>
      <p:sp>
        <p:nvSpPr>
          <p:cNvPr id="28" name="Text 26"/>
          <p:cNvSpPr/>
          <p:nvPr/>
        </p:nvSpPr>
        <p:spPr>
          <a:xfrm>
            <a:off x="4434840" y="5120640"/>
            <a:ext cx="457200" cy="640080"/>
          </a:xfrm>
          <a:prstGeom prst="rect">
            <a:avLst/>
          </a:prstGeom>
          <a:noFill/>
          <a:ln/>
        </p:spPr>
        <p:txBody>
          <a:bodyPr wrap="square" lIns="0" tIns="0" rIns="0" bIns="0" rtlCol="0" anchor="ctr"/>
          <a:lstStyle/>
          <a:p>
            <a:pPr indent="0" marL="0">
              <a:buNone/>
            </a:pPr>
            <a:r>
              <a:rPr lang="en-US" sz="2800" b="1" dirty="0">
                <a:solidFill>
                  <a:srgbClr val="2563EB"/>
                </a:solidFill>
                <a:latin typeface="Inter" pitchFamily="34" charset="0"/>
                <a:ea typeface="Inter" pitchFamily="34" charset="-122"/>
                <a:cs typeface="Inter" pitchFamily="34" charset="-120"/>
              </a:rPr>
              <a:t>2</a:t>
            </a:r>
            <a:endParaRPr lang="en-US" sz="2800" dirty="0"/>
          </a:p>
        </p:txBody>
      </p:sp>
      <p:sp>
        <p:nvSpPr>
          <p:cNvPr id="29" name="Text 27"/>
          <p:cNvSpPr/>
          <p:nvPr/>
        </p:nvSpPr>
        <p:spPr>
          <a:xfrm>
            <a:off x="4892040" y="5120640"/>
            <a:ext cx="3108960" cy="64008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Shortlist Inkling and Muse Spark Open</a:t>
            </a:r>
            <a:endParaRPr lang="en-US" sz="1400" dirty="0"/>
          </a:p>
        </p:txBody>
      </p:sp>
      <p:sp>
        <p:nvSpPr>
          <p:cNvPr id="30" name="Text 28"/>
          <p:cNvSpPr/>
          <p:nvPr/>
        </p:nvSpPr>
        <p:spPr>
          <a:xfrm>
            <a:off x="8138160" y="5120640"/>
            <a:ext cx="457200" cy="640080"/>
          </a:xfrm>
          <a:prstGeom prst="rect">
            <a:avLst/>
          </a:prstGeom>
          <a:noFill/>
          <a:ln/>
        </p:spPr>
        <p:txBody>
          <a:bodyPr wrap="square" lIns="0" tIns="0" rIns="0" bIns="0" rtlCol="0" anchor="ctr"/>
          <a:lstStyle/>
          <a:p>
            <a:pPr indent="0" marL="0">
              <a:buNone/>
            </a:pPr>
            <a:r>
              <a:rPr lang="en-US" sz="2800" b="1" dirty="0">
                <a:solidFill>
                  <a:srgbClr val="2563EB"/>
                </a:solidFill>
                <a:latin typeface="Inter" pitchFamily="34" charset="0"/>
                <a:ea typeface="Inter" pitchFamily="34" charset="-122"/>
                <a:cs typeface="Inter" pitchFamily="34" charset="-120"/>
              </a:rPr>
              <a:t>3</a:t>
            </a:r>
            <a:endParaRPr lang="en-US" sz="2800" dirty="0"/>
          </a:p>
        </p:txBody>
      </p:sp>
      <p:sp>
        <p:nvSpPr>
          <p:cNvPr id="31" name="Text 29"/>
          <p:cNvSpPr/>
          <p:nvPr/>
        </p:nvSpPr>
        <p:spPr>
          <a:xfrm>
            <a:off x="8595360" y="5120640"/>
            <a:ext cx="3108960" cy="640080"/>
          </a:xfrm>
          <a:prstGeom prst="rect">
            <a:avLst/>
          </a:prstGeom>
          <a:noFill/>
          <a:ln/>
        </p:spPr>
        <p:txBody>
          <a:bodyPr wrap="square" lIns="0" tIns="0" rIns="0" bIns="0" rtlCol="0" anchor="ctr"/>
          <a:lstStyle/>
          <a:p>
            <a:pPr indent="0" marL="0">
              <a:buNone/>
            </a:pPr>
            <a:r>
              <a:rPr lang="en-US" sz="1400" b="1" dirty="0">
                <a:solidFill>
                  <a:srgbClr val="1B232E"/>
                </a:solidFill>
                <a:latin typeface="Inter" pitchFamily="34" charset="0"/>
                <a:ea typeface="Inter" pitchFamily="34" charset="-122"/>
                <a:cs typeface="Inter" pitchFamily="34" charset="-120"/>
              </a:rPr>
              <a:t>Capture ~1,000 agent traces for eval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Inference Platform for 300B+ Models</dc:title>
  <dc:subject>PptxGenJS Presentation</dc:subject>
  <dc:creator>Varun Saagar</dc:creator>
  <cp:lastModifiedBy>Varun Saagar</cp:lastModifiedBy>
  <cp:revision>1</cp:revision>
  <dcterms:created xsi:type="dcterms:W3CDTF">2026-10-22T07:55:27Z</dcterms:created>
  <dcterms:modified xsi:type="dcterms:W3CDTF">2026-10-22T07:55:27Z</dcterms:modified>
</cp:coreProperties>
</file>