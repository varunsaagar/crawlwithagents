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7.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00" r:id="rId29"/>
    <p:sldId id="316" r:id="rId38"/>
    <p:sldId id="301" r:id="rId30"/>
    <p:sldId id="302" r:id="rId11"/>
    <p:sldId id="303" r:id="rId23"/>
    <p:sldId id="304" r:id="rId22"/>
    <p:sldId id="305" r:id="rId8"/>
    <p:sldId id="306" r:id="rId14"/>
    <p:sldId id="307" r:id="rId28"/>
    <p:sldId id="308" r:id="rId31"/>
    <p:sldId id="309" r:id="rId32"/>
    <p:sldId id="310" r:id="rId33"/>
    <p:sldId id="311" r:id="rId34"/>
    <p:sldId id="312" r:id="rId35"/>
    <p:sldId id="313" r:id="rId36"/>
    <p:sldId id="314" r:id="rId37"/>
    <p:sldId id="315" r:id="rId25"/>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7.xml"/><Relationship Id="rId11" Type="http://schemas.openxmlformats.org/officeDocument/2006/relationships/slide" Target="slides/slide10.xml"/><Relationship Id="rId14"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5" Type="http://schemas.openxmlformats.org/officeDocument/2006/relationships/slide" Target="slides/slide19.xml"/><Relationship Id="rId28" Type="http://schemas.openxmlformats.org/officeDocument/2006/relationships/slide" Target="slides/slide22.xml"/><Relationship Id="rId29" Type="http://schemas.openxmlformats.org/officeDocument/2006/relationships/slide" Target="slides/slide105.xml"/><Relationship Id="rId30" Type="http://schemas.openxmlformats.org/officeDocument/2006/relationships/slide" Target="slides/slide117.xml"/><Relationship Id="rId31" Type="http://schemas.openxmlformats.org/officeDocument/2006/relationships/slide" Target="slides/slide107.xml"/><Relationship Id="rId32" Type="http://schemas.openxmlformats.org/officeDocument/2006/relationships/slide" Target="slides/slide104.xml"/><Relationship Id="rId33" Type="http://schemas.openxmlformats.org/officeDocument/2006/relationships/slide" Target="slides/slide116.xml"/><Relationship Id="rId34" Type="http://schemas.openxmlformats.org/officeDocument/2006/relationships/slide" Target="slides/slide108.xml"/><Relationship Id="rId35" Type="http://schemas.openxmlformats.org/officeDocument/2006/relationships/slide" Target="slides/slide121.xml"/><Relationship Id="rId36" Type="http://schemas.openxmlformats.org/officeDocument/2006/relationships/slide" Target="slides/slide113.xml"/><Relationship Id="rId37" Type="http://schemas.openxmlformats.org/officeDocument/2006/relationships/slide" Target="slides/slide120.xml"/><Relationship Id="rId38" Type="http://schemas.openxmlformats.org/officeDocument/2006/relationships/slide" Target="slides/slide2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Runtime policy &amp; agent control: policy defined once, enforced at three points, every decision logged, every agent has a revocable identity. Source: v2-research.md section 3.2 (our assessment; mirrors the NCCoE agent identity and authorisation concept paper https://csrc.nist.gov/pubs/other/2026/02/05/accelerating-the-adoption-of-software-and-ai-agent/ipd ).</a:t>
            </a:r>
          </a:p>
          <a:p>
            <a:r>
              <a:rPr lang="en-US"/>
              <a:t>Enforcement points: (a) our AI gateway for model traffic, calling NeMo Guardrails + Luna (https://docs.redhat.com/en/documentation/red_hat_openshift_ai_self-managed/3.5/html/enabling_ai_safety_with_guardrails/enabling-ai-safety-with-nemo-guardrails_nemo-guardrails ); (b) Galileo Agent Control in our SDK for step-level allow/deny/steer, deny wins, fail-open/closed configurable, runtime updates without redeploy (https://docs.agentcontrol.dev/concepts/controls ; https://galileo.ai/blog/announcing-agent-control ); (c) Red Hat MCP gateway (Connectivity Link 1.4) with Kuadrant AuthPolicy per tool (https://docs.redhat.com/en/documentation/red_hat_connectivity_link/1.4/html/registering_mcp_servers_and_creating_policies/mcp-gateway-authorization ). Tools disabled by default until the owner enables them follows Uber's MCP gateway pattern.</a:t>
            </a:r>
          </a:p>
          <a:p>
            <a:r>
              <a:rPr lang="en-US"/>
              <a:t>Policy repo: Cedar for tool authZ (CNCF Sandbox; default-deny, forbid overrides permit) https://www.cncf.io/projects/cedar/ ; OPA where the platform already uses it https://www.openpolicyagent.org/</a:t>
            </a:r>
          </a:p>
          <a:p>
            <a:r>
              <a:rPr lang="en-US"/>
              <a:t>Identity: SPIFFE/SPIRE + token exchange + Kagenti binding https://next.redhat.com/2026/06/10/wiring-zero-trust-identity-for-ai-agents-spiffe-token-exchange-and-kagenti/ ; Entra Agent ID https://learn.microsoft.com/en-us/entra/agent-id/whats-new-agent-id ; Okta for AI Agents https://www.okta.com/en-gb/blog/ai/okta-for-ai-agents-general-availability/</a:t>
            </a:r>
          </a:p>
          <a:p>
            <a:r>
              <a:rPr lang="en-US"/>
              <a:t>Kill switch runbook: revoke identity -&gt; gateway deny -&gt; MCP deny -&gt; Agent Control global deny. HITL mandatory for irreversible tools at medium and high tiers (our pick).</a:t>
            </a:r>
          </a:p>
          <a:p>
            <a:r>
              <a:rPr lang="en-US"/>
              <a:t>Runtime threat detection: Cisco AI Defense https://blogs.cisco.com/ai/security-for-the-agentic-era-cisco-ai-defense-breaks-new-ground ; Golf (YC S25) https://www.ycombinator.com/companies/golf</a:t>
            </a:r>
          </a:p>
          <a:p>
            <a:r>
              <a:rPr lang="en-US"/>
              <a:t>v3 edit: the decision log destination adds Arize (exploring) beside Galileo / Splunk AO. Decisions are OTel spans; Arize Phoenix and Arize AX accept OpenTelemetry / OpenInference traces, so the same spans could be sent to Arize during the exploration. This is an exploration, not a deployment: https://arize.com/docs/phoenix ; https://arize.com/</a:t>
            </a:r>
          </a:p>
          <a:p>
            <a:r>
              <a:rPr lang="en-US"/>
              <a:t>v4 edit (g2): latency-banded tiers and the rollout lifecycle, adopted from the user PDF. Source: /workspace/continuous-eval/v3-mods-research.md §1.2, §6.1, §6.2.</a:t>
            </a:r>
          </a:p>
          <a:p>
            <a:r>
              <a:rPr lang="en-US"/>
              <a:t>Tiers: deterministic (regex, SQL AST, JSON schema, OPA) → semi-semantic (NeMo Guardrails, small verifiers such as Luna) → deep-semantic async on the trace stream. OUR ASSESSMENT. The &lt;5 ms and &lt;25 ms figures are targets from the PDF, UNVERIFIED (research §1.3); no target is given for tier 3.</a:t>
            </a:r>
          </a:p>
          <a:p>
            <a:r>
              <a:rPr lang="en-US"/>
              <a:t>Rollout: backtest on 7 days of traces → WARN (shadow) → STEER / DENY. Central policy update without redeploy is a VERIFIED Agent Control capability (v2 refs 4, 5: https://galileo.ai/blog/announcing-agent-control); the rollout process itself is OUR ASSESSMENT.</a:t>
            </a:r>
          </a:p>
          <a:p>
            <a:r>
              <a:rPr lang="en-US"/>
              <a:t>Runtime threat detection line kept, moved to the right column.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stack: integrate, not replace. One open-source, one startup and one enterprise option per stage, plus our pick (our assessment). Source: v2-research.md section 2. Selection criteria: exists and verified, OSS-first, runs on OpenShift, plugs into OTel + gateway/SDK + Galileo.</a:t>
            </a:r>
          </a:p>
          <a:p>
            <a:r>
              <a:rPr lang="en-US"/>
              <a:t>Galileo / Splunk AO: https://docs.galileo.ai/release-notes ; https://agent-observability-docs.splunk.com/sdk-api/third-party-integrations/opentelemetry-and-openinference</a:t>
            </a:r>
          </a:p>
          <a:p>
            <a:r>
              <a:rPr lang="en-US"/>
              <a:t>Red Hat: Developer Hub https://developers.redhat.com/articles/2025/11/10/mcp-red-hat-developer-hub-chat-your-catalog ; SDG Hub https://github.com/Red-Hat-AI-Innovation-Team/sdg_hub/releases/tag/v0.9.1 ; EvalHub https://docs.redhat.com/en/documentation/red_hat_openshift_ai_self-managed/3.5/html/evaluating_ai_systems/evaluating-llms-with-evalhub_evaluate ; Training Hub https://ai-innovation.team/training_hub/ ; NeMo Guardrails https://developers.redhat.com/articles/2026/09/09/deploy-nemo-guardrails-on-red-hat-openshift-ai</a:t>
            </a:r>
          </a:p>
          <a:p>
            <a:r>
              <a:rPr lang="en-US"/>
              <a:t>Harness optimisation: GEPA https://arxiv.org/html/2507.19457 ; MLflow https://mlflow.org/docs/latest/genai/prompt-registry/optimize-prompts/ ; Meta-Harness https://arxiv.org/html/2603.28052 ; Databricks https://www.databricks.com/blog/building-state-art-enterprise-agents-90x-cheaper-automated-prompt-optimization ; Zenbase https://www.ycombinator.com/launches/Lmp-zenbase-continuous-prompt-optimization-from-dspy-core-contributors</a:t>
            </a:r>
          </a:p>
          <a:p>
            <a:r>
              <a:rPr lang="en-US"/>
              <a:t>Red teaming: garak https://github.com/NVIDIA/garak ; DeepTeam https://github.com/confident-ai/deepteam ; General Analysis https://generalanalysis.com/blog/general-analysis-raises-10m ; Cisco AI Defense https://blogs.cisco.com/ai/agent-validation-explorer-edition</a:t>
            </a:r>
          </a:p>
          <a:p>
            <a:r>
              <a:rPr lang="en-US"/>
              <a:t>Runtime control: Agent Control https://galileo.ai/blog/announcing-agent-control ; Golf https://www.ycombinator.com/companies/golf ; AWS AgentCore Policy https://aws.amazon.com/about-aws/whats-new/2026/03/policy-amazon-bedrock-agentcore-generally-available/</a:t>
            </a:r>
          </a:p>
          <a:p>
            <a:r>
              <a:rPr lang="en-US"/>
              <a:t>Governance: Kagenti https://github.com/kagenti/kagenti ; CycloneDX https://cyclonedx.org/capabilities/mlbom/ ; Credal https://www.ycombinator.com/companies/credal-ai ; watsonx.governance https://www.ibm.com/docs/en/watsonx/w-and-w/2.2.0?topic=ai-using-governed-agentic-catalog ; ServiceNow https://newsroom.servicenow.com/press-releases/details/2026/ServiceNow-expands-AI-Control-Tower-to-discover-observe-govern-secure-and-measure-AI-deployed-across-any-system-in-the-enterprise/default.aspx</a:t>
            </a:r>
          </a:p>
          <a:p>
            <a:r>
              <a:rPr lang="en-US"/>
              <a:t>Other startups: Laminar https://www.ycombinator.com/companies/laminar ; Confident AI https://www.ycombinator.com/companies/confident-ai ; Coval https://www.ycombinator.com/companies/coval ; Unsloth via Training Hub https://github.com/Red-Hat-AI-Innovation-Team/training_hub . Simulation enterprise: https://docs.cloud.google.com/gemini-enterprise-agent-platform/optimize/evaluation/evaluate-simulated</a:t>
            </a:r>
          </a:p>
          <a:p>
            <a:r>
              <a:rPr lang="en-US"/>
              <a:t>Caveats: YC batches for Zenbase and General Analysis unverified (v2-research.md section 7). Fine-tuning is optional; no managed fine-tuning commitments.</a:t>
            </a:r>
          </a:p>
          <a:p>
            <a:r>
              <a:rPr lang="en-US"/>
              <a:t>v3 edit: the matrix is now a native PowerPoint table. Observability and Scoring add Arize (exploring) beside Galileo. Arize Phoenix (open source) covers tracing and evals (LLM, code and human) on OpenTelemetry / OpenInference; Arize AX is the managed enterprise platform with online evals: https://arize.com/docs/phoenix ; https://arize.com/ . This is an exploration, not a pick change.</a:t>
            </a:r>
          </a:p>
          <a:p>
            <a:r>
              <a:rPr lang="en-US"/>
              <a:t>Harness opt.: startup Lucidic AI (exploring) trains harness and model together on simulations built from production traces, and integrates with LangChain, LangGraph, Langfuse, OpenAI and Anthropic: https://lucidic.ai . Open source adds AWS Strands Agents, an open-source agent SDK from AWS with OpenTelemetry traces (an agent framework to run harness candidates on, not an optimiser): https://aws.amazon.com/blogs/machine-learning/strands-agents-sdk-a-technical-deep-dive-into-agent-architectures-and-observability/ ; https://strandsagents.com/integrations/</a:t>
            </a:r>
          </a:p>
          <a:p>
            <a:r>
              <a:rPr lang="en-US"/>
              <a:t>v4 edit (g1): new Distribution row. Source: /workspace/continuous-eval/v3-mods-research.md §2.1, §3, §7, §8.1.</a:t>
            </a:r>
          </a:p>
          <a:p>
            <a:r>
              <a:rPr lang="en-US"/>
              <a:t>Open source: Agent Skills open standard (https://agentskills.io/) plus MCP. Enterprise: Claude Code plugin marketplaces and managed settings (https://code.claude.com/docs/en/plugins/org ; https://code.claude.com/docs/en/managed-settings). No credible startup option, so n/a.</a:t>
            </a:r>
          </a:p>
          <a:p>
            <a:r>
              <a:rPr lang="en-US"/>
              <a:t>Pick: Pillar Mods Hub, an internal marketplace on the Claude Code plugin format, with the portable core in Agent Skills + MCP + OTel (OUR ASSESSMENT, research §7).</a:t>
            </a:r>
          </a:p>
          <a:p>
            <a:r>
              <a:rPr lang="en-US"/>
              <a:t>Merge edit: baseline from the v4 slide "Strong base, three gaps" folded in here (left column). The three gaps are the workstreams of the gap register (slide 17) and of decision 02 (slide 17).</a:t>
            </a:r>
          </a:p>
          <a:p>
            <a:r>
              <a:rPr lang="en-US"/>
              <a:t>--- Merged from v4 pillar slide 2 (Where we are today) ---</a:t>
            </a:r>
          </a:p>
          <a:p>
            <a:r>
              <a:rPr lang="en-US"/>
              <a:t>Where we are today: an honest baseline.</a:t>
            </a:r>
          </a:p>
          <a:p>
            <a:r>
              <a:rPr lang="en-US"/>
              <a:t>In place: Galileo in production for observability and scoring for two years; governance onboarding and production scoring are fine. Harness optimisation is new. Simulation and fine-tuning are with Red Hat, open source and end to end required. Source: v2-research.md section 0 (user context is authoritative).</a:t>
            </a:r>
          </a:p>
          <a:p>
            <a:r>
              <a:rPr lang="en-US"/>
              <a:t>Gaps: red teaming unclear; runtime policy and agent control being explored; governance for agents unexplored (v2-research.md section 0). Needs per gap: v2-research.md sections 3.1-3.3. OWASP Top 10 for Agentic Applications: https://genai.owasp.org/2025/12/09/owasp-top-10-for-agentic-applications-the-benchmark-for-agentic-security-in-the-age-of-autonomous-ai/</a:t>
            </a:r>
          </a:p>
          <a:p>
            <a:r>
              <a:rPr lang="en-US"/>
              <a:t>Galileo rename to Splunk Agent Observability on 7 Aug 2026; OTel/OpenInference ingest; Cisco deal completed May 2026: https://docs.galileo.ai/release-notes ; https://agent-observability-docs.splunk.com/sdk-api/third-party-integrations/opentelemetry-and-openinference ; https://blogs.cisco.com/news/cisco-announces-the-intent-to-acquire-galileo</a:t>
            </a:r>
          </a:p>
          <a:p>
            <a:r>
              <a:rPr lang="en-US"/>
              <a:t>Open item: confirm contract, SKU and roadmap continuity with the account team (v2-research.md section 7).</a:t>
            </a:r>
          </a:p>
          <a:p>
            <a:r>
              <a:rPr lang="en-US"/>
              <a:t>v3 edit, Arize (exploring) beside Galileo for observability and scoring: an exploration, not a deployment. Arize AI offers Arize Phoenix, an open-source AI observability and evaluation tool built on OpenTelemetry and OpenInference (tracing, LLM-based, code-based and human evals, prompt management, datasets and experiments), and Arize AX, a managed enterprise platform with online evals: https://arize.com/docs/phoenix ; https://arize.com/ . OTel/OpenInference ingest matches what Galileo / Splunk AO already accepts (see the Splunk link above), so the comparison should cover trace portability and eval parity.</a:t>
            </a:r>
          </a:p>
          <a:p>
            <a:r>
              <a:rPr lang="en-US"/>
              <a:t>v3 edit, Harness opt.: Lucidic AI is being explored. Lucidic says it optimises the agents you already have (system prompts, memory, context, tools, guardrails, policies, and the model) through simulations on production traces, with evolutionary methods, RL and Bayesian optimisation; it works with LangChain, LangGraph, Langfuse, OpenAI and Anthropic, and does not build agents: https://lucidic.ai</a:t>
            </a:r>
          </a:p>
          <a:p>
            <a:r>
              <a:rPr lang="en-US"/>
              <a:t>v3 edit, AWS Strands Agents as the open-source suggestion: an open-source, model-driven agent SDK from AWS that emits OpenTelemetry traces of agent trajectories (model and tool calls): https://aws.amazon.com/blogs/machine-learning/strands-agents-sdk-a-technical-deep-dive-into-agent-architectures-and-observability/ . Its integrations list includes Langfuse and Braintrust tracing: https://strandsagents.com/integrations/ . Strands is a suggestion only; it is not in use or under evaluation today.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Agent governance: from unexplored to registry + tiers + evidence. Source: v2-research.md section 3.3 (minimum viable agent governance is our proposal).</a:t>
            </a:r>
          </a:p>
          <a:p>
            <a:r>
              <a:rPr lang="en-US"/>
              <a:t>Why model governance is not enough: agents add identity, permissions, autonomy, delegation, memory and inter-agent calls. JPMorgan's FSB response says validation must go beyond the model: https://www.fsb.org/uploads/JPMorgan-Chase.pdf</a:t>
            </a:r>
          </a:p>
          <a:p>
            <a:r>
              <a:rPr lang="en-US"/>
              <a:t>Registry fields, risk tiers (impact x autonomy), evidence bundle, lifecycle and audit: v2-research.md section 3.3. The 3x3 tier grid is illustrative. CycloneDX AI/ML-BOM for inventory export: https://cyclonedx.org/capabilities/mlbom/</a:t>
            </a:r>
          </a:p>
          <a:p>
            <a:r>
              <a:rPr lang="en-US"/>
              <a:t>GRC sync: IBM watsonx.governance Governed Agentic Catalog https://www.ibm.com/docs/en/watsonx/w-and-w/2.2.0?topic=ai-using-governed-agentic-catalog ; ServiceNow AI Control Tower https://newsroom.servicenow.com/press-releases/details/2026/ServiceNow-expands-AI-Control-Tower-to-discover-observe-govern-secure-and-measure-AI-deployed-across-any-system-in-the-enterprise/default.aspx . Use whichever the GRC team runs; no new purchase.</a:t>
            </a:r>
          </a:p>
          <a:p>
            <a:r>
              <a:rPr lang="en-US"/>
              <a:t>Frameworks: NIST AI RMF / AI 600-1 https://nvlpubs.nist.gov/nistpubs/ai/NIST.AI.600-1.pdf ; NCCoE concept paper https://csrc.nist.gov/pubs/other/2026/02/05/accelerating-the-adoption-of-software-and-ai-agent/ipd ; ISO/IEC 42001 https://www.iso.org/insights/iso-42001-explained ; EU AI Act after Regulation (EU) 2026/1744: Annex III high-risk from 2 Dec 2027, Annex I from 2 Aug 2028 https://eur-lex.europa.eu/eli/reg/2026/1744/oj/eng (confirm dates with Legal) ; OWASP Agentic Top 10 https://genai.owasp.org/2025/12/09/owasp-top-10-for-agentic-applications-the-benchmark-for-agentic-security-in-the-age-of-autonomous-ai/ ; Singapore IMDA agentic framework https://www.imda.gov.sg/assets/63438074-73f6-4dcc-a281-030f42642cf4.pdf</a:t>
            </a:r>
          </a:p>
          <a:p>
            <a:r>
              <a:rPr lang="en-US"/>
              <a:t>v3 edit: the 3x3 risk-tier heatmap is now a native PowerPoint table (labels, column heads and cells), with the same fills, outlines and text. The thin gaps are 0.04in spacer rows and columns, and the cells now have square corners. No content change; the sources above are unchanged.</a:t>
            </a:r>
          </a:p>
          <a:p>
            <a:r>
              <a:rPr lang="en-US"/>
              <a:t>v4 edit (g2): memory scope added to the registry record; new cards for memory and context hygiene and the policy-drafting agent. Source: /workspace/continuous-eval/v3-mods-research.md §1.2, §1.3, §6.1 (memory-hygiene mod), §7.2 (policy-author skill).</a:t>
            </a:r>
          </a:p>
          <a:p>
            <a:r>
              <a:rPr lang="en-US"/>
              <a:t>Memory and context hygiene: scope memory by user / session / app, purge stale or poisoned entries, redact PII before persisting. Need is VERIFIED via OWASP ASI06 memory poisoning (OWASP Top 10 for Agentic Applications, v2 ref 67: https://genai.owasp.org/). The control design is OUR ASSESSMENT.</a:t>
            </a:r>
          </a:p>
          <a:p>
            <a:r>
              <a:rPr lang="en-US"/>
              <a:t>Policy-drafting agent: requirement docs (DOCX/PDF/XLSX) + natural language → validated YAML / Rego + golden scenarios, with diffs and tests. OUR ASSESSMENT, from the user PDF; ships as the policy-author skill on the Pillar Mods Hub.</a:t>
            </a:r>
          </a:p>
          <a:p>
            <a:r>
              <a:rPr lang="en-US"/>
              <a:t>Real analogues for memory consolidation, if asked: Anthropic Managed Agents Dreams (research preview): https://platform.claude.com/docs/en/managed-agents/dreams</a:t>
            </a:r>
          </a:p>
          <a:p>
            <a:r>
              <a:rPr lang="en-US"/>
              <a:t>Merge edit: risk tiers now use Gartner autonomy levels L1 Observe, L2 Advise, L3 Act with approval, L4 Act autonomously [7]; autonomy level is a live registry field that can be promoted or demoted, plus retire (gap register G2, G13). Pattern-to-tier mapping and "highest tier wins" moved here from the cut five-pattern matrix (OUR ASSESSMENT).</a:t>
            </a:r>
          </a:p>
          <a:p>
            <a:r>
              <a:rPr lang="en-US"/>
              <a:t>Memory &amp; context hygiene and the policy-drafting agent cards moved to the gap register and to the P5 slide (memory-scope policy).</a:t>
            </a:r>
          </a:p>
          <a:p>
            <a:r>
              <a:rPr lang="en-US"/>
              <a:t>[7] https://www.gartner.com/en/newsroom/press-releases/2026-05-26-gartner-says-applying-uniform-governance-across-ai-agents-will-lead-to-enterprise-ai-agent-failure</a:t>
            </a:r>
          </a:p>
          <a:p>
            <a:r>
              <a:rPr lang="en-US"/>
              <a:t>--- Merged from agent-patterns slide 3 (five patterns matrix) ---</a:t>
            </a:r>
          </a:p>
          <a:p>
            <a:r>
              <a:rPr lang="en-US"/>
              <a:t>Five patterns: one loop, five profiles. P1 multi-agent (orchestrator + subagents, A2A), P2 user-facing conversational / voice, P3 business-facing back-office workflow, P4 critical real-time, P5 always-on autonomous background incl. coding agents.</a:t>
            </a:r>
          </a:p>
          <a:p>
            <a:r>
              <a:rPr lang="en-US"/>
              <a:t>Table compresses the research brief section 3.2 matrix to keywords. Governance tier row is highlighted: tiers follow Gartner autonomy levels L1 Observe, L2 Advise, L3 Act with approval, L4 Act autonomously [7]. A composite takes the highest tier of its parts (OUR ASSESSMENT, section 3.1).</a:t>
            </a:r>
          </a:p>
          <a:p>
            <a:r>
              <a:rPr lang="en-US"/>
              <a:t>Caveats: latency targets are UNVERIFIED; voice &lt; 800 ms speech-end to first audio and p95 &lt; 1.5 s come from a SECONDARY practitioner source [34]. P4 is not a vendor-guide pattern; derived from Gartner L4 controls [7] and Forrester AEGIS circuit breakers [17] (OUR ASSESSMENT).</a:t>
            </a:r>
          </a:p>
          <a:p>
            <a:r>
              <a:rPr lang="en-US"/>
              <a:t>Detail: MAST categories FC1 design, FC2 inter-agent, FC3 verification [21]; multi-agent ~15x chat tokens [22]; A2A v1.0 task states and signed Agent Cards [28]; W3C trace context in MCP _meta [29]; Microsoft v2 inter-agent trust escalation, session-context contamination, XPIA, HITL by reversibility [20]; OWASP ASI01-ASI10 [19]; tau3-bench voice [36]; EU AI Act Art. 50 disclosure from 2 Aug 2026 (v2 ref 66).</a:t>
            </a:r>
          </a:p>
          <a:p>
            <a:r>
              <a:rPr lang="en-US"/>
              <a:t>Source: /workspace/continuous-eval/v4-agent-patterns-research.md sections 3.1-3.3 and 8.</a:t>
            </a:r>
          </a:p>
          <a:p>
            <a:r>
              <a:rPr lang="en-US"/>
              <a:t>[7] https://www.gartner.com/en/newsroom/press-releases/2026-05-26-gartner-says-applying-uniform-governance-across-ai-agents-will-lead-to-enterprise-ai-agent-failure</a:t>
            </a:r>
          </a:p>
          <a:p>
            <a:r>
              <a:rPr lang="en-US"/>
              <a:t>[17] https://www.forrester.com/blogs/introducing-aegis-the-guardrails-cisos-need-for-the-agentic-enterprise/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[21] https://arxiv.org/abs/2503.13657 ; [22] https://www.anthropic.com/engineering/multi-agent-research-system</a:t>
            </a:r>
          </a:p>
          <a:p>
            <a:r>
              <a:rPr lang="en-US"/>
              <a:t>[28] https://a2a-protocol.org/v1.0.0/specification/ ; [29] https://modelcontextprotocol.io/specification/2026-07-28</a:t>
            </a:r>
          </a:p>
          <a:p>
            <a:r>
              <a:rPr lang="en-US"/>
              <a:t>[34] https://builder.aws.com/content/3JDFAfXBiuwPP5MPzgf4RUWSAIp/the-800ms-rule-budgeting-latency-for-a-real-time-voice-agent-on-aws (SECONDARY)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 teaming: from unclear to a repeatable pipeline, per release and on a schedule. Source: v2-research.md section 3.1.</a:t>
            </a:r>
          </a:p>
          <a:p>
            <a:r>
              <a:rPr lang="en-US"/>
              <a:t>Process: threat model from the manifest mapped to OWASP LLM Top 10 and OWASP Agentic Top 10 (ASI01-ASI10); attack pack by risk tier (low: garak scan; medium: + PyRIT Crescendo/TAP, DeepTeam OWASP ASI, promptfoo CI; high: + indirect injection via tool outputs/docs, tool-argument abuse, memory poisoning in the simulator + human red-team sprint); run in the simulation sandbox, never against production tools; score ASR per category, confirmed only with tool-call or state evidence; each confirmed finding becomes a regression scenario and a runtime control with an owner and SLA.</a:t>
            </a:r>
          </a:p>
          <a:p>
            <a:r>
              <a:rPr lang="en-US"/>
              <a:t>Cadence: pre-release (blocking for medium and high tiers), weekly scheduled runs, event-driven runs (new tool, model or MCP server).</a:t>
            </a:r>
          </a:p>
          <a:p>
            <a:r>
              <a:rPr lang="en-US"/>
              <a:t>Execution plane: OpenShift AI EvalHub (garak is a provider): https://docs.redhat.com/en/documentation/red_hat_openshift_ai_self-managed/3.5/html/evaluating_ai_systems/evaluating-llms-with-evalhub_evaluate ; https://github.com/opendatahub-io/llama-stack-provider-trustyai-garak</a:t>
            </a:r>
          </a:p>
          <a:p>
            <a:r>
              <a:rPr lang="en-US"/>
              <a:t>Engines: garak https://github.com/NVIDIA/garak ; PyRIT https://arxiv.org/pdf/2410.02828 ; promptfoo https://github.com/promptfoo/promptfoo/ ; DeepTeam OWASP ASI https://www.trydeepteam.com/docs/frameworks-owasp-top-10-for-agentic-applications ; OWASP Agentic Top 10 https://genai.owasp.org/2025/12/09/owasp-top-10-for-agentic-applications-the-benchmark-for-agentic-security-in-the-age-of-autonomous-ai/</a:t>
            </a:r>
          </a:p>
          <a:p>
            <a:r>
              <a:rPr lang="en-US"/>
              <a:t>Enterprise: Cisco AI Defense Agent Validation (tool routes, indirect channels, persistent state): https://blogs.cisco.com/ai/agent-validation-explorer-edition ; Red Hat Chatterbox Labs AIMI (plan to open-source): https://www.redhat.com/en/about/press-releases/red-hat-accelerates-ai-trust-and-security-chatterbox-labs-acquisition</a:t>
            </a:r>
          </a:p>
          <a:p>
            <a:r>
              <a:rPr lang="en-US"/>
              <a:t>Principles: Microsoft AI Red Team lessons from 100+ GenAI products (scope to capabilities, simple attacks often win, automate for coverage but keep human judgement): https://arxiv.org/html/2501.07238</a:t>
            </a:r>
          </a:p>
          <a:p>
            <a:r>
              <a:rPr lang="en-US"/>
              <a:t>Ownership split and the 4-week bake-off on two high-tier agents are our proposal (owner decision needed).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Harness optimisation: the new lever. Optimise the harness (prompt, tool descriptions, context/memory policy, model route, params) before touching weights. Source: v2-research.md section 2 (stage 5) and section 1.1.</a:t>
            </a:r>
          </a:p>
          <a:p>
            <a:r>
              <a:rPr lang="en-US"/>
              <a:t>Inner loop: GEPA via MLflow optimize_prompts (OpenShift AI EvalHub already tracks in MLflow) or the Red Hat Training Hub GEPA entry point; objective = Galileo metrics on simulation suites; candidates seeded from Galileo Signals. Meta-Harness pilot on one agent where harness code is the bottleneck.</a:t>
            </a:r>
          </a:p>
          <a:p>
            <a:r>
              <a:rPr lang="en-US"/>
              <a:t>GEPA evidence: across six tasks GEPA outperforms GRPO by 6% on average and up to 20% with up to 35x fewer rollouts (Agrawal et al., ICLR 2026): https://arxiv.org/abs/2507.19457 ; DSPy GEPA https://dspy.ai/api/optimizers/GEPA/overview/ ; MLflow https://mlflow.org/docs/latest/genai/prompt-registry/optimize-prompts/ ; Meta-Harness https://arxiv.org/html/2603.28052 ; Training Hub https://ai-innovation.team/training_hub/</a:t>
            </a:r>
          </a:p>
          <a:p>
            <a:r>
              <a:rPr lang="en-US"/>
              <a:t>Gate logic (our assessment): one evaluator definition used as monitor, objective and gate; keep held-out gate sets separate from optimisation sets to avoid grader/reward hacking: https://developers.openai.com/api/docs/guides/graders</a:t>
            </a:r>
          </a:p>
          <a:p>
            <a:r>
              <a:rPr lang="en-US"/>
              <a:t>Fine-tuning: only when harness optimisation has plateaued and a cost/latency case exists; output re-enters at simulation and passes the same gates (v2-research.md section 1.1, stage 9).</a:t>
            </a:r>
          </a:p>
          <a:p>
            <a:r>
              <a:rPr lang="en-US"/>
              <a:t>Pilot metric (one agent, Galileo score uplift on held-out scenarios) is our proposal.</a:t>
            </a:r>
          </a:p>
          <a:p>
            <a:r>
              <a:rPr lang="en-US"/>
              <a:t>v3 edit: the objective and online scoring read Galileo (Arize exploring). Arize Phoenix and Arize AX score traces and spans with LLM, code-based or human evaluators, and AX adds online evals: https://arize.com/docs/phoenix ; https://arize.com/</a:t>
            </a:r>
          </a:p>
          <a:p>
            <a:r>
              <a:rPr lang="en-US"/>
              <a:t>The optimiser card names Lucidic AI as a startup being explored. Lucidic searches harness configurations (prompts, tool orderings, context strategies) against a custom reward with evolutionary methods, RL and Bayesian optimisation: https://lucidic.ai . The candidate harness card names AWS Strands Agents as the OSS agent framework option (open-source, model-driven, with OpenTelemetry trajectory traces): https://aws.amazon.com/blogs/machine-learning/strands-agents-sdk-a-technical-deep-dive-into-agent-architectures-and-observability/ . It is a suggestion only.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Onboarding + 90-day plan. Onboarding steps and exit criteria: v2-research.md section 5.1 (target &lt;= 2 weeks for a low tier, proposed). Steps 0 Intake and 8 Operate in the research table are folded into Intake and the ongoing operate/recertify loop.</a:t>
            </a:r>
          </a:p>
          <a:p>
            <a:r>
              <a:rPr lang="en-US"/>
              <a:t>90-day milestones follow v2-research.md section 6 (slide 10 outline): 2 lighthouse agents fully through the pillar, red-team pipeline live, Agent Control + MCP gateway on 1 agent, registry v1, KPIs. The 30/60/90 split is our proposal.</a:t>
            </a:r>
          </a:p>
          <a:p>
            <a:r>
              <a:rPr lang="en-US"/>
              <a:t>Components behind the plan (BUILD / REUSE / OSS / PARTNER): v2-research.md section 5.2. Developer Hub templates: https://developers.redhat.com/articles/2024/11/12/template-ai-software-red-hat-developer-hub ; EvalHub: https://docs.redhat.com/en/documentation/red_hat_openshift_ai_self-managed/3.5/html/evaluating_ai_systems/evaluating-llms-with-evalhub_evaluate</a:t>
            </a:r>
          </a:p>
          <a:p>
            <a:r>
              <a:rPr lang="en-US"/>
              <a:t>Fine-tuning: optional, last; Red Hat Training Hub only after a harness plateau with a cost/latency case: https://ai-innovation.team/training_hub/</a:t>
            </a:r>
          </a:p>
          <a:p>
            <a:r>
              <a:rPr lang="en-US"/>
              <a:t>Open items before external use: Red Hat GA vs tech-preview status per component; Galileo / Splunk AO SKU continuity; EU AI Act dates with Legal (v2-research.md section 7).</a:t>
            </a:r>
          </a:p>
          <a:p>
            <a:r>
              <a:rPr lang="en-US"/>
              <a:t>v3 edit: the step 3 traces and the Days 0-30 lighthouse row add Arize (exploring) beside Galileo. Arize Phoenix is open-source AI observability and evaluation on OpenTelemetry / OpenInference; Arize AX is the managed enterprise platform: https://arize.com/docs/phoenix ; https://arize.com/ . Galileo stays the system of record.</a:t>
            </a:r>
          </a:p>
          <a:p>
            <a:r>
              <a:rPr lang="en-US"/>
              <a:t>v4 edit (g4): Days 31-60 Platform adds "Mods Hub v1 with pillar-governance + llmops-tracing on lighthouse agents"; KPI adds "% agents with governance mods loaded" (measured from the Claude Code plugin_loaded OTel event, https://code.claude.com/docs/en/monitoring-usage). Source: /workspace/continuous-eval/v3-mods-research.md §7.4, §8.1. Milestones are OUR ASSESSMENT; Mods are new (1 Oct 2026), so pilot on lighthouse agents only (§9.4).</a:t>
            </a:r>
          </a:p>
          <a:p>
            <a:r>
              <a:rPr lang="en-US"/>
              <a:t>Merge edit: the onboarding strip duplicated loop steps 1–6 (slide 3) and is replaced by the three leadership decisions from the v4 opening slide (cut). Decision 02 now names the top-3 gaps of the register (G3 A2A policy point; G2 + G13 autonomy level + retire; G4 MAST in the gate); G1 inventory and G9 vendor evidence contract are placed in the 90 days (OUR PROPOSAL).</a:t>
            </a:r>
          </a:p>
          <a:p>
            <a:r>
              <a:rPr lang="en-US"/>
              <a:t>The separate sources-and-caveats slide was cut; its caveats and full reference list follow below. Inline UNVERIFIED / SECONDARY labels stay on the slides.</a:t>
            </a:r>
          </a:p>
          <a:p>
            <a:r>
              <a:rPr lang="en-US"/>
              <a:t>--- Merged from v4 pillar slide 1 (the ask) ---</a:t>
            </a:r>
          </a:p>
          <a:p>
            <a:r>
              <a:rPr lang="en-US"/>
              <a:t>The ask. Three decisions, one pillar.</a:t>
            </a:r>
          </a:p>
          <a:p>
            <a:r>
              <a:rPr lang="en-US"/>
              <a:t>Pillar definition: every agent enters through one onboarding contract; it is then observed, scored, simulated, optimised, attacked, controlled at runtime and governed with the same IDs, evaluators and evidence trail. Fine-tuning is an optional exit ramp. Source: v2-research.md section 1.</a:t>
            </a:r>
          </a:p>
          <a:p>
            <a:r>
              <a:rPr lang="en-US"/>
              <a:t>Asks 1-3 follow v2-research.md section 6 (slide 1 outline). Ownership split for red teaming (security owns libraries and thresholds, platform owns the pipeline) is our proposal, v2-research.md section 3.1.</a:t>
            </a:r>
          </a:p>
          <a:p>
            <a:r>
              <a:rPr lang="en-US"/>
              <a:t>Manifest fields and join keys (agent_id, agent_version, use_case_id, tenant, risk_tier, trace_id): v2-research.md section 1.1. Backstage / Red Hat Developer Hub catalog: https://backstage.io/ ; https://developers.redhat.com/articles/2024/11/12/template-ai-software-red-hat-developer-hub</a:t>
            </a:r>
          </a:p>
          <a:p>
            <a:r>
              <a:rPr lang="en-US"/>
              <a:t>Principles in the pills are our assessment (v2-research.md sections 0 and 2).</a:t>
            </a:r>
          </a:p>
          <a:p>
            <a:r>
              <a:rPr lang="en-US"/>
              <a:t>--- Merged from agent-patterns slide 11 (sources and caveats) ---</a:t>
            </a:r>
          </a:p>
          <a:p>
            <a:r>
              <a:rPr lang="en-US"/>
              <a:t>Sources and caveats. Evidence labels: VERIFIED (checked against a primary source on 14 Oct 2026), VERIFIED (title/abstract) for paywalled analyst documents, VENDOR CLAIM, SECONDARY, UNVERIFIED, OUR ASSESSMENT.</a:t>
            </a:r>
          </a:p>
          <a:p>
            <a:r>
              <a:rPr lang="en-US"/>
              <a:t>Other open items (research section 6): vendor BYO-model through the Kairos gateway not checked; Forrester Agentic Control Plane Landscape Q2 2026 title only; Who&amp;When failure attribution cited via MAST; agentgateway A2A support and Galileo A2A tracing carried from v2, re-confirm; ServiceNow A2A v1.0 update is forward-looking; lighthouse agents per pattern and whether we already have P4 agents with actuation rights are UNVERIFIED and need confirmation with Varun.</a:t>
            </a:r>
          </a:p>
          <a:p>
            <a:r>
              <a:rPr lang="en-US"/>
              <a:t>References: [1] https://www.gartner.com/en/articles/hype-cycle-for-artificial-intelligence ; [2] https://www.gartner.com/en/articles/hype-cycle-for-agentic-ai ; [3] https://www.gartner.com/en/newsroom/press-releases/2025-06-25-gartner-predicts-over-40-percent-of-agentic-ai-projects-will-be-canceled-by-end-of-2027 ; [4] https://www.gartner.com/en/newsroom/press-releases/2025-06-11-gartner-predicts-that-guardian-agents-will-capture-10-15-percent-of-the-agentic-ai-market-by-2030 ; [5] https://www.gartner.com/en/documents/7509053 and https://thehackernews.com/2026/03/5-learnings-from-first-ever-gartner.html (SECONDARY)</a:t>
            </a:r>
          </a:p>
          <a:p>
            <a:r>
              <a:rPr lang="en-US"/>
              <a:t>[6] https://www.gartner.com/en/newsroom/press-releases/2026-04-28-gartner-identifies-six-steps-to-manage-artificial-intelligence-agent-sprawl ; [7] https://www.gartner.com/en/newsroom/press-releases/2026-05-26-gartner-says-applying-uniform-governance-across-ai-agents-will-lead-to-enterprise-ai-agent-failure ; [8] https://www.gartner.com/en/newsroom/press-releases/2026-03-11-gartner-announces-top-predictions-for-data-and-analytics-in-2026 ; [9] https://www.gartner.com/en/newsroom/press-releases/2026-02-17-gartner-global-ai-regulations-fuel-billion-dollar-market-for-ai-governance-platforms ; [10] https://www.gartner.com/en/articles/ai-governance-trism</a:t>
            </a:r>
          </a:p>
          <a:p>
            <a:r>
              <a:rPr lang="en-US"/>
              <a:t>[11] https://www.gartner.com/en/newsroom/press-releases/2025-08-26-gartner-predicts-40-percent-of-enterprise-apps-will-feature-task-specific-ai-agents-by-2026-up-from-less-than-5-percent-in-2025 ; [11b] https://www.gartner.com/en/newsroom/press-releases/2026-01-15-gartner-predicts-60-percent-of-brands-will-use-agentic-ai-to-deliver-streamlined-one-to-one-interactions-by-2028 ; [12] https://www.gartner.com/en/newsroom/press-releases/2026-09-29-gartner-predicts-70-percent-of-enterprises-will-abandon-agentic-ai-built-by-vendor-forward-deployed-engineering-by-2028 ; [13] https://www.gartner.com/en/documents/8012669 ; [14] https://www.gartner.com/en/newsroom/press-releases/2025-10-20-gartner-identifies-the-top-strategic-technology-trends-for-2026</a:t>
            </a:r>
          </a:p>
          <a:p>
            <a:r>
              <a:rPr lang="en-US"/>
              <a:t>[15] https://www.forrester.com/blogs/announcing-our-evaluation-of-the-agent-control-plane-market/ ; [16] https://www.forrester.com/report/the-agentic-control-plane-solutions-landscape-q2-2026/RES197170 and https://www.forrester.com/blogs/agent-control-planes-still-need-a-robust-standards-stack/ ; [17] https://www.forrester.com/blogs/introducing-aegis-the-guardrails-cisos-need-for-the-agentic-enterprise/ ; [19] https://genai.owasp.org/2025/12/09/owasp-top-10-for-agentic-applications-the-benchmark-for-agentic-security-in-the-age-of-autonomous-ai/</a:t>
            </a:r>
          </a:p>
          <a:p>
            <a:r>
              <a:rPr lang="en-US"/>
              <a:t>[20] https://www.microsoft.com/en-us/security/blog/2026/06/04/updating-taxonomy-failure-modes-agentic-ai-systems-year-red-teaming-taught-us/ ; [21] https://arxiv.org/abs/2503.13657 ; [22] https://www.anthropic.com/engineering/multi-agent-research-system ; [23] https://www.anthropic.com/research/building-effective-agents ; [24] https://cdn.openai.com/business-guides-and-resources/a-practical-guide-to-building-agents.pdf ; [25] https://docs.cloud.google.com/architecture/choose-design-pattern-agentic-ai-system ; [26] https://learn.microsoft.com/en-us/azure/architecture/ai-ml/guide/ai-agent-design-patterns ; [27] https://docs.aws.amazon.com/prescriptive-guidance/latest/agentic-ai-patterns/introduction.html</a:t>
            </a:r>
          </a:p>
          <a:p>
            <a:r>
              <a:rPr lang="en-US"/>
              <a:t>[28] https://a2a-protocol.org/v1.0.0/specification/ ; [29] https://modelcontextprotocol.io/specification/2026-07-28 ; [30] OpenTelemetry GenAI agent spans (v2 ref 24) ; [31] https://learn.microsoft.com/en-us/microsoft-agent-365/developer/direct-open-telemetry-integration ; [32] https://www.salesforce.com/blog/how-to-choose-integration-pattern-for-agentforce/ and https://developer.salesforce.com/docs/ai/agentforce/guide/otel-api.html ; [33] https://www.servicenow.com/community/servicenow-otto-articles/action-fabric-mcp-server-mcp-client-and-a2a-explained/ta-p/3557794 ; [34] https://builder.aws.com/content/3JDFAfXBiuwPP5MPzgf4RUWSAIp/the-800ms-rule-budgeting-latency-for-a-real-time-voice-agent-on-aws ; [35] Galileo / Agent Control (v2 refs 1, 4, 5) ; [36] Sierra tau3-bench (v3 ref 24).</a:t>
            </a:r>
          </a:p>
          <a:p>
            <a:r>
              <a:rPr lang="en-US"/>
              <a:t>Source: /workspace/continuous-eval/v4-agent-patterns-research.md sections 0, 6 and 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B (v4, g4): Pillar Mods Hub, the democratisation mechanism. Source: /workspace/continuous-eval/v3-mods-research.md §4, §7.1, §7.2, §7.3, §8.1. The hub design, names (vz-core, vz-hub) and trust tiers are OUR ASSESSMENT.</a:t>
            </a:r>
          </a:p>
          <a:p>
            <a:r>
              <a:rPr lang="en-US"/>
              <a:t>Flow: author (template + uploader skill) → publishing CI (claude plugin validate, claude plugin eval with baseline Δ, SAST / secret scan, signing) → hub registry → marketplaces (vz-core admin-only directory; vz-hub stable / early on different refs) → policy push via managed settings (MDM or Claude apps gateway group policy) → sessions → Kairos gateway / MCP gateway / OTel → Galileo / Splunk AO (Arize exploring) → back to the registry; SessionEnd gap classifier → issues → new skills.</a:t>
            </a:r>
          </a:p>
          <a:p>
            <a:r>
              <a:rPr lang="en-US"/>
              <a:t>VERIFIED mechanics: marketplaces and org controls https://code.claude.com/docs/en/plugins/org ; https://code.claude.com/docs/en/plugins/host-marketplace ; plugin evals (v2.1.269) https://code.claude.com/docs/en/plugin-evals ; managed settings https://code.claude.com/docs/en/managed-settings ; apps gateway policies https://code.claude.com/docs/en/claude-apps-gateway-config ; OTel https://code.claude.com/docs/en/monitoring-usage</a:t>
            </a:r>
          </a:p>
          <a:p>
            <a:r>
              <a:rPr lang="en-US"/>
              <a:t>Catalogue building blocks (VERIFIED): Arize coding-harness-tracing https://github.com/Arize-ai/coding-harness-tracing ; GEPA gskill https://gepa-ai.github.io/gepa/guides/gskill/ ; Strands agent-sop https://github.com/strands-agents/agent-sop ; SDG Hub v0.9.1 https://github.com/Red-Hat-AI-Innovation-Team/sdg_hub/releases/tag/v0.9.1 ; τ³-bench https://sierra.ai/blog/bench-advancing-agent-benchmarking-to-knowledge-and-voice ; Training Hub https://ai-innovation.team/training_hub/ ; Lucidic (exploring, vendor claims) https://lucidic.ai/ . Policy author is OUR ASSESSMENT (from the user PDF).</a:t>
            </a:r>
          </a:p>
          <a:p>
            <a:r>
              <a:rPr lang="en-US"/>
              <a:t>Proof strip: Intercom (SECONDARY) https://ideas.fin.ai/p/how-we-use-claude-code-today-at-intercom ; KDDI (VERIFIED) https://tech-note.kddi.com/n/nd3ff2fb0e55c?hl=en ; Uber (SECONDARY) https://aaif.io/blog/how-uber-runs-60000-ai-agent-tasks-per-week-with-mcp ; Stripe (VERIFIED) https://claude.com/customers/stripe</a:t>
            </a:r>
          </a:p>
          <a:p>
            <a:r>
              <a:rPr lang="en-US"/>
              <a:t>Open item: verify the Kairos gateway forwards the headers Claude Code needs (https://code.claude.com/docs/en/llm-gateway-protocol). Hub mods installed from git count as user-tier, so the core governance bundle must live in the admin-only directory marketplace (research §6.3).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P2 user-facing conversational / voice: guard inline, judge async. Columns are the three views: first-party, third-party, gap. Flow across the top is the first-party voice path.</a:t>
            </a:r>
          </a:p>
          <a:p>
            <a:r>
              <a:rPr lang="en-US"/>
              <a:t>(a) Channel (chat / IVR / SIP) -&gt; agent on Kairos SDK -&gt; Kairos gateway with inline Tier-1 (regex, schema, PII) + Tier-2 (NeMo / Luna) checks inside the latency budget; Tier-3 LLM judges run async on the trace stream and steer the next turn. Simulation gate: persona + voice sims (tau3-style [36]) scored in Galileo session metrics. Human-handoff tool; disclosure (EU AI Act Art. 50 from 2 Aug 2026, v2 ref 66).</a:t>
            </a:r>
          </a:p>
          <a:p>
            <a:r>
              <a:rPr lang="en-US"/>
              <a:t>(b) Contact-centre or CRM-embedded agents (Agentforce Service agents, Copilot Studio agents). We control knowledge and tools exposed via the MCP gateway, customer-data scopes, black-box sims through the channel, trace ingestion (Agentforce OTel session traces [32]; Copilot Studio / Agent 365 OTel [31]). We cannot insert inline guardrails or change prompts unless the vendor routes model calls through the Kairos gateway (UNVERIFIED per vendor). Salesforce details came from search snippets (fetch returned 403): re-check before external use.</a:t>
            </a:r>
          </a:p>
          <a:p>
            <a:r>
              <a:rPr lang="en-US"/>
              <a:t>(c) Missing in our stack: voice simulation and voice red-team harness; latency-SLO-aware guardrail tier (targets UNVERIFIED); cross-vendor session scoring. Missing in industry: consistent quality metrics across vendor bots. Why (Gartner): 60% of brands will use agentic AI for one-to-one interactions by 2028 [11b]; AI observability "consequential" but "fragmented" [1].</a:t>
            </a:r>
          </a:p>
          <a:p>
            <a:r>
              <a:rPr lang="en-US"/>
              <a:t>Voice &lt; 800 ms speech-end to first audio, p95 &lt; 1.5 s: SECONDARY [34]. Main failure mode: confident, polished output that misleads the human (OWASP ASI09) [19].</a:t>
            </a:r>
          </a:p>
          <a:p>
            <a:r>
              <a:rPr lang="en-US"/>
              <a:t>Source: /workspace/continuous-eval/v4-agent-patterns-research.md sections 3.3, 4.2 P2, 4.3 G11, 6.</a:t>
            </a:r>
          </a:p>
          <a:p>
            <a:r>
              <a:rPr lang="en-US"/>
              <a:t>[1] https://www.gartner.com/en/articles/hype-cycle-for-artificial-intelligence</a:t>
            </a:r>
          </a:p>
          <a:p>
            <a:r>
              <a:rPr lang="en-US"/>
              <a:t>[11b] https://www.gartner.com/en/newsroom/press-releases/2026-01-15-gartner-predicts-60-percent-of-brands-will-use-agentic-ai-to-deliver-streamlined-one-to-one-interactions-by-2028</a:t>
            </a:r>
          </a:p>
          <a:p>
            <a:r>
              <a:rPr lang="en-US"/>
              <a:t>[31] https://learn.microsoft.com/en-us/microsoft-agent-365/developer/direct-open-telemetry-integration</a:t>
            </a:r>
          </a:p>
          <a:p>
            <a:r>
              <a:rPr lang="en-US"/>
              <a:t>[32] https://developer.salesforce.com/docs/ai/agentforce/guide/otel-api.html</a:t>
            </a:r>
          </a:p>
          <a:p>
            <a:r>
              <a:rPr lang="en-US"/>
              <a:t>[34] https://builder.aws.com/content/3JDFAfXBiuwPP5MPzgf4RUWSAIp/the-800ms-rule-budgeting-latency-for-a-real-time-voice-agent-on-aws (SECONDARY)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now: control before capability. Opening slide for the agent-patterns deck.</a:t>
            </a:r>
          </a:p>
          <a:p>
            <a:r>
              <a:rPr lang="en-US"/>
              <a:t>Talk track: adoption is still early (17% deployed) but expected to jump (&gt;60% within two years). Gartner expects heavy attrition (&gt;40% of agentic projects cancelled by end-2027) and demotions (40% by 2027) where governance is uniform rather than proportional. So the pillar has to be re-cut around the agent.</a:t>
            </a:r>
          </a:p>
          <a:p>
            <a:r>
              <a:rPr lang="en-US"/>
              <a:t>Chips: governance and identity are named "prerequisite investments"; AI observability "one of the most consequential developments"; recommendations are intelligence tiering, dynamic session budgets with circuit breakers, cross-vendor cost controls [1].</a:t>
            </a:r>
          </a:p>
          <a:p>
            <a:r>
              <a:rPr lang="en-US"/>
              <a:t>Sources (research brief v4-agent-patterns-research.md, sections 0, 1 and 8; all VERIFIED 14 Oct 2026):</a:t>
            </a:r>
          </a:p>
          <a:p>
            <a:r>
              <a:rPr lang="en-US"/>
              <a:t>[1] Gartner, Hype Cycle for AI 2026 puts control ahead of capability (1 Oct 2026): https://www.gartner.com/en/articles/hype-cycle-for-artificial-intelligence</a:t>
            </a:r>
          </a:p>
          <a:p>
            <a:r>
              <a:rPr lang="en-US"/>
              <a:t>[2] Gartner, What the 2026 Hype Cycle for Agentic AI reveals (15 Apr 2026): https://www.gartner.com/en/articles/hype-cycle-for-agentic-ai</a:t>
            </a:r>
          </a:p>
          <a:p>
            <a:r>
              <a:rPr lang="en-US"/>
              <a:t>[3] Gartner press release, &gt;40% of agentic AI projects cancelled by end-2027 (25 Jun 2025): https://www.gartner.com/en/newsroom/press-releases/2025-06-25-gartner-predicts-over-40-percent-of-agentic-ai-projects-will-be-canceled-by-end-of-2027</a:t>
            </a:r>
          </a:p>
          <a:p>
            <a:r>
              <a:rPr lang="en-US"/>
              <a:t>[6] Gartner press release, Six steps to manage AI agent sprawl (28 Apr 2026; &gt;150,000 agents per F500 by 2028; 13% governed): https://www.gartner.com/en/newsroom/press-releases/2026-04-28-gartner-identifies-six-steps-to-manage-artificial-intelligence-agent-sprawl</a:t>
            </a:r>
          </a:p>
          <a:p>
            <a:r>
              <a:rPr lang="en-US"/>
              <a:t>[7] Gartner press release, Uniform governance across AI agents will lead to failure (26 May 2026; L1-L4; 40% demote by 2027): https://www.gartner.com/en/newsroom/press-releases/2026-05-26-gartner-says-applying-uniform-governance-across-ai-agents-will-lead-to-enterprise-ai-agent-failure</a:t>
            </a:r>
          </a:p>
          <a:p>
            <a:r>
              <a:rPr lang="en-US"/>
              <a:t>Merge edit: the outline chips now show peer proof from the v4 pillar deck slide "What Fortune 500 leaders do" (cut as a separate slide). Gartner recommendations dropped from the chips (intelligence tiering, session budgets + circuit breakers, cross-vendor cost controls) remain in the research [1].</a:t>
            </a:r>
          </a:p>
          <a:p>
            <a:r>
              <a:rPr lang="en-US"/>
              <a:t>All Gartner figures on this slide are stated only here in the merged deck; later slides cite them without restating.</a:t>
            </a:r>
          </a:p>
          <a:p>
            <a:r>
              <a:rPr lang="en-US"/>
              <a:t>--- Merged from v4 pillar slide 3 (What Fortune 500 leaders do) ---</a:t>
            </a:r>
          </a:p>
          <a:p>
            <a:r>
              <a:rPr lang="en-US"/>
              <a:t>What Fortune 500 leaders do: they put registry, identity and runtime control in place, then scale. One line per company, public sources. Source: v2-research.md section 4.</a:t>
            </a:r>
          </a:p>
          <a:p>
            <a:r>
              <a:rPr lang="en-US"/>
              <a:t>Verizon (intent, from a job posting): https://mycareer.verizon.com/jobs/r-1100572/principal-engineer-aiml-engineer/ ; https://www.verizon.com/about/investors/responsible-ai-program</a:t>
            </a:r>
          </a:p>
          <a:p>
            <a:r>
              <a:rPr lang="en-US"/>
              <a:t>AT&amp;T: https://venturebeat.com/orchestration/8-billion-tokens-a-day-forced-at-and-t-to-rethink-ai-orchestration-and-cut</a:t>
            </a:r>
          </a:p>
          <a:p>
            <a:r>
              <a:rPr lang="en-US"/>
              <a:t>JPMorgan Chase: https://www.fsb.org/uploads/JPMorgan-Chase.pdf ; https://www.jpmorganchase.com/about/technology/blog/fence-framework</a:t>
            </a:r>
          </a:p>
          <a:p>
            <a:r>
              <a:rPr lang="en-US"/>
              <a:t>Morgan Stanley: https://openai.com/customer-stories/morgan-stanley</a:t>
            </a:r>
          </a:p>
          <a:p>
            <a:r>
              <a:rPr lang="en-US"/>
              <a:t>Microsoft Agent 365 and Entra Agent ID: https://www.microsoft.com/en-us/security/blog/2026/05/01/microsoft-agent-365-now-generally-available-expands-capabilities-and-integrations/ ; https://learn.microsoft.com/en-us/entra/agent-id/whats-new-agent-id</a:t>
            </a:r>
          </a:p>
          <a:p>
            <a:r>
              <a:rPr lang="en-US"/>
              <a:t>Uber MCP gateway (secondary summary of Uber's Oct 2026 post; cite the primary before external use): https://platformengineering.com/features/what-ubers-800-server-mcp-gateway-means-for-platform-teams/</a:t>
            </a:r>
          </a:p>
          <a:p>
            <a:r>
              <a:rPr lang="en-US"/>
              <a:t>LinkedIn: https://www.linkedin.com/blog/engineering/generative-ai/the-linkedin-generative-ai-application-tech-stack-extending-to-build-ai-agents</a:t>
            </a:r>
          </a:p>
          <a:p>
            <a:r>
              <a:rPr lang="en-US"/>
              <a:t>Also in the research, not shown: Walmart (MCP + A2A under governance), Salesforce (Agentforce Observability).</a:t>
            </a:r>
          </a:p>
          <a:p>
            <a:r>
              <a:rPr lang="en-US"/>
              <a:t>v4 edit (g1): added a "Harness distribution" row, KDDI to Telco, Stripe to Finance (column renamed from Banking), Intercom to Tech; strengthened Uber. Source: /workspace/continuous-eval/v3-mods-research.md §4.1, §8.2 (refs 20-23).</a:t>
            </a:r>
          </a:p>
          <a:p>
            <a:r>
              <a:rPr lang="en-US"/>
              <a:t>KDDI, internal Claude Code marketplace on GHE + plugin-uploader plugin (VERIFIED, company tech blog): https://tech-note.kddi.com/n/nd3ff2fb0e55c?hl=en</a:t>
            </a:r>
          </a:p>
          <a:p>
            <a:r>
              <a:rPr lang="en-US"/>
              <a:t>Stripe, signed enterprise binary pre-configured for 1,370 engineers (VERIFIED, Anthropic case study): https://claude.com/customers/stripe</a:t>
            </a:r>
          </a:p>
          <a:p>
            <a:r>
              <a:rPr lang="en-US"/>
              <a:t>Intercom, 13 internal plugins, 100+ skills via JAMF/MDM, OTel on every lifecycle event, SessionEnd gap classifier files GitHub issues (SECONDARY, engineering blog): https://ideas.fin.ai/p/how-we-use-claude-code-today-at-intercom</a:t>
            </a:r>
          </a:p>
          <a:p>
            <a:r>
              <a:rPr lang="en-US"/>
              <a:t>Uber, MCP Gateway + Registry, tools off until owner approves, AIFX CLI installs MCP into Claude Code, Skills Registry with A/B-tested skill versions on the roadmap (SECONDARY, AAIF talk recap): https://aaif.io/blog/how-uber-runs-60000-ai-agent-tasks-per-week-with-mcp</a:t>
            </a:r>
          </a:p>
          <a:p>
            <a:r>
              <a:rPr lang="en-US"/>
              <a:t>Not used here: ServiceNow x Lucidic 65% vs 51.1% on EnterpriseOps-Gym is a VENDOR CLAIM (https://lucidic.ai/case-studies/servicenow/), left for the harness slide. Snowflake ExCoT execution-verified scoring (VERIFIED, https://www.snowflake.com/en/blog/engineering/arctic-text2sql-excot-sql-generation-accuracy/) is a backup for Evals as gates. Misattributed or unverified rows from the PDF are not used (§1.3).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P1 multi-agent (orchestrator + subagents, A2A): score the system, not the agent. Three views: (a) first-party, (b) third-party, (c) gap.</a:t>
            </a:r>
          </a:p>
          <a:p>
            <a:r>
              <a:rPr lang="en-US"/>
              <a:t>(a) Each subagent has its own agent_id, identity and manifest. Model calls go through the Kairos gateway, tool calls through the MCP gateway, agent-to-agent calls through A2A with signed Agent Cards. Agent Control on each step; trace context propagates across hops into Galileo; MAST annotator scores sessions; fan-out / depth / budget limits per trace.</a:t>
            </a:r>
          </a:p>
          <a:p>
            <a:r>
              <a:rPr lang="en-US"/>
              <a:t>(b) A vendor agent acts as a subagent (ServiceNow or Agentforce over A2A), or a vendor orchestrator calls our agents. We control the A2A edge (authN, allowed skills, task states, artifact schema), trace correlation (shared conversation ID), budgets and timeouts. We cannot see the vendor agent reasoning or tools.</a:t>
            </a:r>
          </a:p>
          <a:p>
            <a:r>
              <a:rPr lang="en-US"/>
              <a:t>(c) Missing in our stack: A2A policy enforcement point (agentgateway OSS supports A2A, v2 ref 55, to re-confirm), Agent Card signing / verification, MAST in the gate, per-trace budget breaker across agents. Missing in industry: vendor-neutral A2A governance. Why (Gartner): 70% of AI apps multi-agent by 2028 [4]; coordination mechanisms least mature guardian approach [5, SECONDARY summary]; 50% of deployment failures by 2030 tied to runtime enforcement and multisystem interoperability [8].</a:t>
            </a:r>
          </a:p>
          <a:p>
            <a:r>
              <a:rPr lang="en-US"/>
              <a:t>Labels: architecture is OUR ASSESSMENT; facts VERIFIED unless marked. Source: /workspace/continuous-eval/v4-agent-patterns-research.md sections 3.3, 4.2 P1, 4.3 G3/G4.</a:t>
            </a:r>
          </a:p>
          <a:p>
            <a:r>
              <a:rPr lang="en-US"/>
              <a:t>[4] https://www.gartner.com/en/newsroom/press-releases/2025-06-11-gartner-predicts-that-guardian-agents-will-capture-10-15-percent-of-the-agentic-ai-market-by-2030</a:t>
            </a:r>
          </a:p>
          <a:p>
            <a:r>
              <a:rPr lang="en-US"/>
              <a:t>[8] https://www.gartner.com/en/newsroom/press-releases/2026-03-11-gartner-announces-top-predictions-for-data-and-analytics-in-2026</a:t>
            </a:r>
          </a:p>
          <a:p>
            <a:r>
              <a:rPr lang="en-US"/>
              <a:t>[16] https://www.forrester.com/blogs/agent-control-planes-still-need-a-robust-standards-stack/</a:t>
            </a:r>
          </a:p>
          <a:p>
            <a:r>
              <a:rPr lang="en-US"/>
              <a:t>[20] https://www.microsoft.com/en-us/security/blog/2026/06/04/updating-taxonomy-failure-modes-agentic-ai-systems-year-red-teaming-taught-us/</a:t>
            </a:r>
          </a:p>
          <a:p>
            <a:r>
              <a:rPr lang="en-US"/>
              <a:t>[21] https://arxiv.org/abs/2503.13657 ; [22] https://www.anthropic.com/engineering/multi-agent-research-system</a:t>
            </a:r>
          </a:p>
          <a:p>
            <a:r>
              <a:rPr lang="en-US"/>
              <a:t>[28] https://a2a-protocol.org/v1.0.0/specification/ ; [33] https://www.servicenow.com/community/servicenow-otto-articles/action-fabric-mcp-server-mcp-client-and-a2a-explained/ta-p/3557794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P4 critical real-time (network fault mitigation, fraud / SIM-swap blocking, outage triage): LLM advises, guard acts. Three views in the frame: (a) first-party, (b) third-party, (c) gap.</a:t>
            </a:r>
          </a:p>
          <a:p>
            <a:r>
              <a:rPr lang="en-US"/>
              <a:t>(a) Event stream -&gt; detector (rules / SLM) -&gt; LLM agent proposes an action (advisory) -&gt; deterministic policy guard at the actuation API (pre-approved playbooks, blast-radius limits, two-person rule) -&gt; actuation -&gt; verifier checks the outcome -&gt; automatic rollback on breach. Circuit breaker halts the agent on threshold violation [7]. Digital-twin replay is the release gate. Fail-closed for actions, fail-open for advice (OUR ASSESSMENT).</a:t>
            </a:r>
          </a:p>
          <a:p>
            <a:r>
              <a:rPr lang="en-US"/>
              <a:t>(b) Vendor-embedded AIOps / security agents (network vendors, SOC tools). OUR ASSESSMENT: no third-party agent gets direct actuation in a critical loop; integrate as advisory via A2A/MCP into our guarded path; require replayable decision logs and a pause API by contract.</a:t>
            </a:r>
          </a:p>
          <a:p>
            <a:r>
              <a:rPr lang="en-US"/>
              <a:t>(c) Missing in our stack: actuation-API guard service with playbooks and blast-radius policy; deterministic replay harness; circuit breaker / rollback wired to registry autonomy demotion; latency SLOs per policy tier (targets UNVERIFIED). Missing in industry: platforms optimise for task completion, not bounded actuation. Why (Gartner): Level 4 needs "circuit breakers ... rapid rollback ... clear ownership"; 40% will demote or decommission autonomous agents by 2027 [7]. AEGIS circuit breakers and least agency [17]; session budgets with circuit breakers [1].</a:t>
            </a:r>
          </a:p>
          <a:p>
            <a:r>
              <a:rPr lang="en-US"/>
              <a:t>P4 is not a vendor-guide pattern; derived from Gartner L4 controls and AEGIS. Open item: whether we already have P4 agents with actuation rights is UNVERIFIED (research section 6 item 10).</a:t>
            </a:r>
          </a:p>
          <a:p>
            <a:r>
              <a:rPr lang="en-US"/>
              <a:t>Source: /workspace/continuous-eval/v4-agent-patterns-research.md sections 3.3, 4.2 P4, 4.3 G10.</a:t>
            </a:r>
          </a:p>
          <a:p>
            <a:r>
              <a:rPr lang="en-US"/>
              <a:t>[1] https://www.gartner.com/en/articles/hype-cycle-for-artificial-intelligence</a:t>
            </a:r>
          </a:p>
          <a:p>
            <a:r>
              <a:rPr lang="en-US"/>
              <a:t>[7] https://www.gartner.com/en/newsroom/press-releases/2026-05-26-gartner-says-applying-uniform-governance-across-ai-agents-will-lead-to-enterprise-ai-agent-failure</a:t>
            </a:r>
          </a:p>
          <a:p>
            <a:r>
              <a:rPr lang="en-US"/>
              <a:t>[17] https://www.forrester.com/blogs/introducing-aegis-the-guardrails-cisos-need-for-the-agentic-enterprise/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first-party vs third-party lets us control. Control-surface matrix from research section 4.1: first-party (built on the Kairos platform (gateway + SDK)) has full control on every surface; third-party (vendor-built) / embedded agents (Agentforce, ServiceNow, Microsoft Copilot / Agent 365, other SaaS) give partial, boundary-only, black-box or no control.</a:t>
            </a:r>
          </a:p>
          <a:p>
            <a:r>
              <a:rPr lang="en-US"/>
              <a:t>Integration for third-party: IdP federation and scoped OAuth (Entra Agent ID where supported, v2 ref 61); BYO-LLM via contract where offered (UNVERIFIED per vendor); Red Hat MCP gateway AuthPolicy per tool; A2A at a policy point we own with signed Agent Cards [28]; vendor kill switch, e.g. ServiceNow AI Control Tower pause for MCP [33]; Agentforce Session Trace OTel API [32] and Agent 365 OTLP ingest [31]; vendor test centres (Agentforce Testing Center, v2 ref 80).</a:t>
            </a:r>
          </a:p>
          <a:p>
            <a:r>
              <a:rPr lang="en-US"/>
              <a:t>Eight contract clauses (OUR ASSESSMENT): 1 OTLP trace export with gen_ai.* attributes, our join keys and a retention SLA; 2 eval evidence per release; 3 right to red-team the endpoint; 4 kill-switch / pause API and incident notification SLA; 5 data residency and no training on our data; 6 agent identity and scope documentation; 7 A2A/MCP protocol versions and deprecation policy; 8 exit and IP terms.</a:t>
            </a:r>
          </a:p>
          <a:p>
            <a:r>
              <a:rPr lang="en-US"/>
              <a:t>Clause 8: Gartner predicts 70% of enterprises will abandon agentic AI built by vendor forward-deployed engineering by 2028 and urges governance, ownership, knowledge-transfer and exit terms from day one [12].</a:t>
            </a:r>
          </a:p>
          <a:p>
            <a:r>
              <a:rPr lang="en-US"/>
              <a:t>Source: /workspace/continuous-eval/v4-agent-patterns-research.md section 4.1.</a:t>
            </a:r>
          </a:p>
          <a:p>
            <a:r>
              <a:rPr lang="en-US"/>
              <a:t>[12] https://www.gartner.com/en/newsroom/press-releases/2026-09-29-gartner-predicts-70-percent-of-enterprises-will-abandon-agentic-ai-built-by-vendor-forward-deployed-engineering-by-2028</a:t>
            </a:r>
          </a:p>
          <a:p>
            <a:r>
              <a:rPr lang="en-US"/>
              <a:t>[28] https://a2a-protocol.org/v1.0.0/specification/ ; [31] https://learn.microsoft.com/en-us/microsoft-agent-365/developer/direct-open-telemetry-integration</a:t>
            </a:r>
          </a:p>
          <a:p>
            <a:r>
              <a:rPr lang="en-US"/>
              <a:t>[32] https://developer.salesforce.com/docs/ai/agentforce/guide/otel-api.html (search-snippet verified) ; [33] https://www.servicenow.com/community/servicenow-otto-articles/action-fabric-mcp-server-mcp-client-and-a2a-explained/ta-p/3557794</a:t>
            </a:r>
          </a:p>
          <a:p>
            <a:r>
              <a:rPr lang="en-US"/>
              <a:t>Definition (user, merge edit): third-party agents = agents built or outsourced by external vendors that run for us, e.g. CES, Google, CRA (names as given by the user). Vendor platforms (ServiceNow, Agentforce, Agent 365) appear only where a fact about the platform those agents may run on is cited.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P3 business-facing back-office / workflow: skeleton first. Three views left to right inside the frame: (a) first-party, (b) third-party, (c) gap.</a:t>
            </a:r>
          </a:p>
          <a:p>
            <a:r>
              <a:rPr lang="en-US"/>
              <a:t>(a) Deterministic workflow skeleton (Strands / LangGraph graph) with agentic steps only where needed. Reversible actions go straight to the MCP gateway; irreversible ones go to HITL approval tiered by reversibility. Tools via the MCP gateway with Cedar/OPA per tool; idempotency keys. End-state verifiers check the final state in simulation and production (case-level). GEPA tunes prompts and tool descriptions (Anthropic: -40% task time from rewritten tool descriptions [22]).</a:t>
            </a:r>
          </a:p>
          <a:p>
            <a:r>
              <a:rPr lang="en-US"/>
              <a:t>(b) ServiceNow / Agentforce / SAP workflow agents acting on our systems. We control our MCP tools they call (scopes, rate limits, data masking), service accounts, approvals in our systems, audit. ServiceNow AI Control Tower can approve, pause and audit MCP connections [33], so our registry should sync with it, not duplicate it. We cannot control their workflow logic.</a:t>
            </a:r>
          </a:p>
          <a:p>
            <a:r>
              <a:rPr lang="en-US"/>
              <a:t>(c) Missing in our stack: case-level end-state verifiers as a reusable library; reversibility metadata on tools (needed for tiered HITL); a third-party agent inventory feed (ServiceNow / Agentforce / Agent 365 -&gt; our registry). Missing in industry: most governance platforms see only their own agents. Why (Gartner): 40% of enterprise apps will have task-specific agents by end-2026 [11]; F500 heading to 150k agents and only 13% governed [6]; governance platforms must cover "third-party and embedded systems" [9].</a:t>
            </a:r>
          </a:p>
          <a:p>
            <a:r>
              <a:rPr lang="en-US"/>
              <a:t>Source: /workspace/continuous-eval/v4-agent-patterns-research.md sections 3.3, 4.2 P3, 4.3 G1/G9.</a:t>
            </a:r>
          </a:p>
          <a:p>
            <a:r>
              <a:rPr lang="en-US"/>
              <a:t>[6] https://www.gartner.com/en/newsroom/press-releases/2026-04-28-gartner-identifies-six-steps-to-manage-artificial-intelligence-agent-sprawl</a:t>
            </a:r>
          </a:p>
          <a:p>
            <a:r>
              <a:rPr lang="en-US"/>
              <a:t>[9] https://www.gartner.com/en/newsroom/press-releases/2026-02-17-gartner-global-ai-regulations-fuel-billion-dollar-market-for-ai-governance-platforms</a:t>
            </a:r>
          </a:p>
          <a:p>
            <a:r>
              <a:rPr lang="en-US"/>
              <a:t>[11] https://www.gartner.com/en/newsroom/press-releases/2025-08-26-gartner-predicts-40-percent-of-enterprise-apps-will-feature-task-specific-ai-agents-by-2026-up-from-less-than-5-percent-in-2025</a:t>
            </a:r>
          </a:p>
          <a:p>
            <a:r>
              <a:rPr lang="en-US"/>
              <a:t>[20] https://www.microsoft.com/en-us/security/blog/2026/06/04/updating-taxonomy-failure-modes-agentic-ai-systems-year-red-teaming-taught-us/</a:t>
            </a:r>
          </a:p>
          <a:p>
            <a:r>
              <a:rPr lang="en-US"/>
              <a:t>[22] https://www.anthropic.com/engineering/multi-agent-research-system ; [23] https://www.anthropic.com/research/building-effective-agents ; [25] https://docs.cloud.google.com/architecture/choose-design-pattern-agentic-ai-system</a:t>
            </a:r>
          </a:p>
          <a:p>
            <a:r>
              <a:rPr lang="en-US"/>
              <a:t>[33] https://www.servicenow.com/community/servicenow-otto-articles/action-fabric-mcp-server-mcp-client-and-a2a-explained/ta-p/3557794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loop for every agent: design to retire. 11 steps; new steps Build (2), Deploy via gateway (6) and Retire (11) are filled.</a:t>
            </a:r>
          </a:p>
          <a:p>
            <a:r>
              <a:rPr lang="en-US"/>
              <a:t>Each box shows our components and the artefact it hands on (arrow line): manifest@v, harness bundle + agent SBOM, scenario suite + run report, eval results + gate receipt, ASR receipt, deployment record, decision spans, failure clusters, candidate harness@v+1, agent record, decommission record.</a:t>
            </a:r>
          </a:p>
          <a:p>
            <a:r>
              <a:rPr lang="en-US"/>
              <a:t>Feedback: red-team findings become runtime controls (5-&gt;7); a candidate harness goes back through simulation, never straight to production (9-&gt;3); governance recertifies or demotes autonomy (10-&gt;4); breaches and incidents go to governance (8-&gt;10). Failure clusters from step 8 seed the simulation suite.</a:t>
            </a:r>
          </a:p>
          <a:p>
            <a:r>
              <a:rPr lang="en-US"/>
              <a:t>Mapping from the v4 deck 9 stages: onboarding-&gt;1, observability+scoring-&gt;4 and 8, simulation-&gt;3, harness optimisation-&gt;9, red teaming-&gt;5, runtime control-&gt;7, governance-&gt;10, fine-tuning inside 9, last.</a:t>
            </a:r>
          </a:p>
          <a:p>
            <a:r>
              <a:rPr lang="en-US"/>
              <a:t>Labels: loop and rules are OUR ASSESSMENT (research brief section 2). Rainbow/canary deploys: Anthropic [22]. Retire step and inventory metric: Gartner sprawl step 3 [6]. Autonomy level as a movable registry field: Gartner proportional governance [7]. Join keys on OTel GenAI spans [30]; Agent 365 caller-agent attributes [31]. Agent SBOM / tool descriptions as code: Microsoft v2 [20]. MAST annotator [21]. Threat model OWASP ASI [19].</a:t>
            </a:r>
          </a:p>
          <a:p>
            <a:r>
              <a:rPr lang="en-US"/>
              <a:t>Source: /workspace/continuous-eval/v4-agent-patterns-research.md sections 2.1-2.2 and 8.</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[21] https://arxiv.org/abs/2503.13657</a:t>
            </a:r>
          </a:p>
          <a:p>
            <a:r>
              <a:rPr lang="en-US"/>
              <a:t>[22] https://www.anthropic.com/engineering/multi-agent-research-system</a:t>
            </a:r>
          </a:p>
          <a:p>
            <a:r>
              <a:rPr lang="en-US"/>
              <a:t>[30] OpenTelemetry GenAI agent spans (v2 ref 24); [31] https://learn.microsoft.com/en-us/microsoft-agent-365/developer/direct-open-telemetry-integration</a:t>
            </a:r>
          </a:p>
          <a:p>
            <a:r>
              <a:rPr lang="en-US"/>
              <a:t>Merge edit: this 11-step loop replaces the v4 nine-stage spine. Onboarding target ≤ 2 weeks for a low-tier agent (v2-research.md section 5.1, proposed) moved here from the onboarding strip of the plan slide.</a:t>
            </a:r>
          </a:p>
          <a:p>
            <a:r>
              <a:rPr lang="en-US"/>
              <a:t>--- Merged from v4 pillar slide 4 (Nine stages, one spine: shared backend and runs-on rows) ---</a:t>
            </a:r>
          </a:p>
          <a:p>
            <a:r>
              <a:rPr lang="en-US"/>
              <a:t>The pillar as one flow: nine stages, each producing a versioned artifact (data contract) for the next. Source: v2-research.md section 1 and 1.1.</a:t>
            </a:r>
          </a:p>
          <a:p>
            <a:r>
              <a:rPr lang="en-US"/>
              <a:t>Artifacts: agent manifest -&gt; OTel GenAI spans -&gt; evaluation results -&gt; scenario spec + run report (pass^k) -&gt; harness config @version -&gt; attack-pack results (ASR) -&gt; policy bundle @version -&gt; agent record in the registry. Fine-tuning is optional and last; its output re-enters at simulation and passes the same gates.</a:t>
            </a:r>
          </a:p>
          <a:p>
            <a:r>
              <a:rPr lang="en-US"/>
              <a:t>Feedback loops: scoring failures -&gt; versioned datasets -&gt; simulation; red-team findings -&gt; runtime controls + regression tests; policy decisions and violations logged as spans back to observability; revocation is the kill switch.</a:t>
            </a:r>
          </a:p>
          <a:p>
            <a:r>
              <a:rPr lang="en-US"/>
              <a:t>Join keys: agent_id, agent_version, use_case_id, tenant, risk_tier, plus OTel trace_id / session_id. OTel GenAI semconv: https://github.com/open-telemetry/semantic-conventions-genai/blob/main/docs/gen-ai/gen-ai-agent-spans.md</a:t>
            </a:r>
          </a:p>
          <a:p>
            <a:r>
              <a:rPr lang="en-US"/>
              <a:t>Placement: Developer Hub https://developers.redhat.com/articles/2024/11/12/template-ai-software-red-hat-developer-hub ; Galileo / Splunk AO https://docs.galileo.ai/release-notes ; OpenShift AI EvalHub https://docs.redhat.com/en/documentation/red_hat_openshift_ai_self-managed/3.5/html/evaluating_ai_systems/evaluating-llms-with-evalhub_evaluate ; SDG Hub https://github.com/Red-Hat-AI-Innovation-Team/sdg_hub/releases/tag/v0.9.1 ; MLflow GEPA https://mlflow.org/docs/latest/genai/prompt-registry/optimize-prompts/ ; Agent Control https://docs.agentcontrol.dev/concepts/architecture ; MCP gateway https://docs.redhat.com/en/documentation/red_hat_connectivity_link/1.4/html/mcp_gateway/mcp-gateway-introduction</a:t>
            </a:r>
          </a:p>
          <a:p>
            <a:r>
              <a:rPr lang="en-US"/>
              <a:t>Backend components and BUILD / REUSE / OSS / PARTNER calls: v2-research.md section 5.2 (our assessment).</a:t>
            </a:r>
          </a:p>
          <a:p>
            <a:r>
              <a:rPr lang="en-US"/>
              <a:t>v3 edit: the Galileo / Splunk AO box adds Arize (exploring), and stage 5 notes Lucidic AI (exploring) and AWS Strands Agents (OSS suggestion). Arize Phoenix is open-source AI observability and evaluation on OpenTelemetry / OpenInference; Arize AX is the managed enterprise platform: https://arize.com/docs/phoenix ; https://arize.com/</a:t>
            </a:r>
          </a:p>
          <a:p>
            <a:r>
              <a:rPr lang="en-US"/>
              <a:t>Lucidic AI optimises an existing agent's harness (prompts, memory, context, tools, guardrails, policies) and model through simulations on production traces: https://lucidic.ai . AWS Strands Agents is an open-source, model-driven agent SDK that emits OpenTelemetry traces: https://aws.amazon.com/blogs/machine-learning/strands-agents-sdk-a-technical-deep-dive-into-agent-architectures-and-observability/ ; https://strandsagents.com/integrations/ . Both are being explored or suggested, not in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Gap register G1-G14 (research section 4.3): required component, patterns, our stack today, typical industry today, long-term analyst rationale, evidence label. Highlighted rows G2, G3, G4, G13 are the recommended first three moves (OUR ASSESSMENT): G3 A2A policy point (biggest blind spot for P1 and third-party agents); G2 + G13 autonomy-level field with demote / retire (cheap; Gartner explicit failure mode); G4 MAST in the eval gate (open source; uses traces we already collect). G1 and G9 go in the next 90-day plan.</a:t>
            </a:r>
          </a:p>
          <a:p>
            <a:r>
              <a:rPr lang="en-US"/>
              <a:t>Labels: G1 VERIFIED rationale, status OUR ASSESSMENT; G5 VERIFIED (title) / SECONDARY quote; G9 VERIFIED vendor APIs, contract OUR ASSESSMENT; G11 benchmarks VERIFIED, tooling UNVERIFIED; others VERIFIED.</a:t>
            </a:r>
          </a:p>
          <a:p>
            <a:r>
              <a:rPr lang="en-US"/>
              <a:t>Source: /workspace/continuous-eval/v4-agent-patterns-research.md section 4.3 and refs section 8.</a:t>
            </a:r>
          </a:p>
          <a:p>
            <a:r>
              <a:rPr lang="en-US"/>
              <a:t>[1] https://www.gartner.com/en/articles/hype-cycle-for-artificial-intelligence ; [2] https://www.gartner.com/en/articles/hype-cycle-for-agentic-ai</a:t>
            </a:r>
          </a:p>
          <a:p>
            <a:r>
              <a:rPr lang="en-US"/>
              <a:t>[4] https://www.gartner.com/en/newsroom/press-releases/2025-06-11-gartner-predicts-that-guardian-agents-will-capture-10-15-percent-of-the-agentic-ai-market-by-2030</a:t>
            </a:r>
          </a:p>
          <a:p>
            <a:r>
              <a:rPr lang="en-US"/>
              <a:t>[5] https://www.gartner.com/en/documents/7509053 ; summary (SECONDARY): https://thehackernews.com/2026/03/5-learnings-from-first-ever-gartner.html</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[8] https://www.gartner.com/en/newsroom/press-releases/2026-03-11-gartner-announces-top-predictions-for-data-and-analytics-in-2026</a:t>
            </a:r>
          </a:p>
          <a:p>
            <a:r>
              <a:rPr lang="en-US"/>
              <a:t>[9] https://www.gartner.com/en/newsroom/press-releases/2026-02-17-gartner-global-ai-regulations-fuel-billion-dollar-market-for-ai-governance-platforms</a:t>
            </a:r>
          </a:p>
          <a:p>
            <a:r>
              <a:rPr lang="en-US"/>
              <a:t>[11b] https://www.gartner.com/en/newsroom/press-releases/2026-01-15-gartner-predicts-60-percent-of-brands-will-use-agentic-ai-to-deliver-streamlined-one-to-one-interactions-by-2028</a:t>
            </a:r>
          </a:p>
          <a:p>
            <a:r>
              <a:rPr lang="en-US"/>
              <a:t>[12] https://www.gartner.com/en/newsroom/press-releases/2026-09-29-gartner-predicts-70-percent-of-enterprises-will-abandon-agentic-ai-built-by-vendor-forward-deployed-engineering-by-2028</a:t>
            </a:r>
          </a:p>
          <a:p>
            <a:r>
              <a:rPr lang="en-US"/>
              <a:t>[14] https://www.gartner.com/en/newsroom/press-releases/2025-10-20-gartner-identifies-the-top-strategic-technology-trends-for-2026</a:t>
            </a:r>
          </a:p>
          <a:p>
            <a:r>
              <a:rPr lang="en-US"/>
              <a:t>[15] https://www.forrester.com/blogs/announcing-our-evaluation-of-the-agent-control-plane-market/ ; [16] https://www.forrester.com/blogs/agent-control-planes-still-need-a-robust-standards-stack/ ; [17] https://www.forrester.com/blogs/introducing-aegis-the-guardrails-cisos-need-for-the-agentic-enterprise/</a:t>
            </a:r>
          </a:p>
          <a:p>
            <a:r>
              <a:rPr lang="en-US"/>
              <a:t>[19] https://genai.owasp.org/2025/12/09/owasp-top-10-for-agentic-applications-the-benchmark-for-agentic-security-in-the-age-of-autonomous-ai/ ; [20] https://www.microsoft.com/en-us/security/blog/2026/06/04/updating-taxonomy-failure-modes-agentic-ai-systems-year-red-teaming-taught-us/ ; [21] https://arxiv.org/abs/2503.13657</a:t>
            </a:r>
          </a:p>
          <a:p>
            <a:r>
              <a:rPr lang="en-US"/>
              <a:t>[31] https://learn.microsoft.com/en-us/microsoft-agent-365/developer/direct-open-telemetry-integration ; [32] https://www.salesforce.com/blog/how-to-choose-integration-pattern-for-agentforce/ ; [33] https://www.servicenow.com/platform/action-fabric.html</a:t>
            </a:r>
          </a:p>
          <a:p>
            <a:r>
              <a:rPr lang="en-US"/>
              <a:t>Merge edit: this is the single gap list of the merged deck. The three v4 workstreams group the rows: red teaming (multi-agent eval, SBOM / provenance), runtime control (A2A policy point G3, guardian layer, actuation guard), agent governance (inventory G1, autonomy field G2, retire G13, third-party evidence G9). Gartner figures are cited, not restated (stated on slide 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P5 always-on autonomous background (always-on agents; incl. coding agents: Claude Code Routines / /loop, scheduled data-quality agents, PR-fixing agents): always on, always owned. Three views: (a) first-party, (b) third-party, (c) gap.</a:t>
            </a:r>
          </a:p>
          <a:p>
            <a:r>
              <a:rPr lang="en-US"/>
              <a:t>(a) Claude Code / Agent SDK / Kairos SDK agents with the pillar-governance bundle (managed hooks + gov-guard, autonomy-guard, memory-hygiene, kill-switch; v3 section 6), Kairos gateway spend limits, MCP gateway scopes, OTel ticks into Galileo, memory-scope policy; periodic permission re-check vs manifest, spend/turn caps, quiet hours.</a:t>
            </a:r>
          </a:p>
          <a:p>
            <a:r>
              <a:rPr lang="en-US"/>
              <a:t>(b) Embedded SaaS background agents and vendor coding agents (Copilot agents, vendor Routines). We control managed settings where the product supports them (Claude Code), MCP tools and tokens we grant, the registry (Agent 365 is Microsoft registry / control plane for tenant agents, v2 ref 60), revoke. Little visibility into scheduling and memory.</a:t>
            </a:r>
          </a:p>
          <a:p>
            <a:r>
              <a:rPr lang="en-US"/>
              <a:t>(c) Missing in our stack: shadow / embedded agent discovery (we only see agents that onboard); memory governance across vendors; periodic permission recertification automation. Missing in industry: memory and trigger controls are product-specific. Why (Gartner): sprawl steps 2-3 (inventory, life cycle) [6]; L4 needs clear ownership [7]; agentic AI governance, security and FinOps are Hype Cycle profiles [2]. Memory poisoning via XPIA "requires only a single successful injection" [20]; OWASP ASI06 / ASI10 [19].</a:t>
            </a:r>
          </a:p>
          <a:p>
            <a:r>
              <a:rPr lang="en-US"/>
              <a:t>Note: Claude Code’s leaked always-on mode is unreleased; Routines, Channels and /loop per v3 sections 5-6.</a:t>
            </a:r>
          </a:p>
          <a:p>
            <a:r>
              <a:rPr lang="en-US"/>
              <a:t>Source: /workspace/continuous-eval/v4-agent-patterns-research.md sections 3.3, 4.2 P5, 4.3 G1/G12.</a:t>
            </a:r>
          </a:p>
          <a:p>
            <a:r>
              <a:rPr lang="en-US"/>
              <a:t>[2] https://www.gartner.com/en/articles/hype-cycle-for-agentic-ai</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Naming: "Kairos" is our unified platform (Kairos gateway + Kairos SDK). Claude Code’s leaked, unreleased always-on mode is described here only by what it does; the slide says "always-on agents".</a:t>
            </a:r>
          </a:p>
          <a:p>
            <a:r>
              <a:rPr lang="en-US"/>
              <a:t>Merge edit: the five risks (numbered 1–5 on the first-party stack) and the hard layer strip come from the v4 slides "always-on: what changes" and "Governance, built in", both cut. Risk → control: 1 triggers → channel allowlist + autonomy-guard; 2 unattended → pillar-governance bundle, HITL for irreversible tools; 3 grants → permission re-check vs manifest + MCP scopes; 4 memory → memory-scope policy (memory-hygiene); 5 spend → Kairos gateway spend limits + turn caps (OUR ASSESSMENT).</a:t>
            </a:r>
          </a:p>
          <a:p>
            <a:r>
              <a:rPr lang="en-US"/>
              <a:t>--- Merged from v4 pillar slide 10 (always-on agents) ---</a:t>
            </a:r>
          </a:p>
          <a:p>
            <a:r>
              <a:rPr lang="en-US"/>
              <a:t>New slide C (v4, g3): always-on agents add five risks that one-shot sessions do not have; each gets a pillar control (mod) and a hard backstop. Source: /workspace/continuous-eval/v3-mods-research.md §5, §6.1, §8.1. Risks and controls are OUR ASSESSMENT.</a:t>
            </a:r>
          </a:p>
          <a:p>
            <a:r>
              <a:rPr lang="en-US"/>
              <a:t>Verified vs rumoured (§5). LEAKED: an always-on compile-time flag found in the Claude Code v2.1.88 npm source map (31 Mar 2026): tick prompts, SleepTool, daily logs, autoDream memory consolidation, push notifications, PR subscriptions. https://codepointer.substack.com/p/claude-code-architecture-of-kairos ; https://decodethefuture.org/en/kairos-always-on-ai-agent-claude-code-leaked/ . NOT announced or shipped as of 14 Oct 2026 (absent from docs and changelog: https://code.claude.com/docs/en/changelog). RUMOURED: "Operon" platform under the leaked always-on mode (single blog, uncorroborated).</a:t>
            </a:r>
          </a:p>
          <a:p>
            <a:r>
              <a:rPr lang="en-US"/>
              <a:t>SHIPPED (VERIFIED): Routines (research preview) https://code.claude.com/docs/en/routines ; /loop and scheduled tasks https://code.claude.com/docs/en/scheduled-tasks ; Channels (research preview; must be enabled for Team/Enterprise) https://code.claude.com/docs/en/channels ; background subagents, auto mode default (Aug 2026); Managed Agents Dreams (research preview) https://platform.claude.com/docs/en/managed-agents/dreams</a:t>
            </a:r>
          </a:p>
          <a:p>
            <a:r>
              <a:rPr lang="en-US"/>
              <a:t>Backstops: channelsEnabled / allowedChannelPlugins (https://code.claude.com/docs/en/channels); managed PreToolUse hooks (https://code.claude.com/docs/en/hooks); gateway spend limits (https://code.claude.com/docs/en/claude-apps-gateway-spend-limits). Controls autonomy-guard and memory-hygiene are proposed mods in research §6.1.</a:t>
            </a:r>
          </a:p>
          <a:p>
            <a:r>
              <a:rPr lang="en-US"/>
              <a:t>Resolved: Kairos is our internal platform; the leaked Claude Code always-on mode is described, not named, in this deck (research §9.1).</a:t>
            </a:r>
          </a:p>
          <a:p>
            <a:r>
              <a:rPr lang="en-US"/>
              <a:t>--- Merged from v4 pillar slide 11 (governance mods) ---</a:t>
            </a:r>
          </a:p>
          <a:p>
            <a:r>
              <a:rPr lang="en-US"/>
              <a:t>New slide A (v4, g3): governance mods built into every agent harness, with a hard layer underneath. Source: /workspace/continuous-eval/v3-mods-research.md §2.2, §3, §6.1, §6.2, §8.1. The bundle design (gov-guard, manifest-check, mod-vetting, eval-gate, redteam-gate, audit-evidence, kill-switch) is OUR ASSESSMENT.</a:t>
            </a:r>
          </a:p>
          <a:p>
            <a:r>
              <a:rPr lang="en-US"/>
              <a:t>VERIFIED: Claude Mods added in Claude Code v2.1.287 (1 Oct 2026) https://code.claude.com/docs/en/changelog ; https://claude.com/resources/articles/claude-code-mods ; https://code.claude.com/docs/en/plugins/mods/overview . Built-in sec-default, allowManagedModsOnly, prependPlugins, disableSideloadFlags: https://code.claude.com/docs/en/plugins/mods/admin</a:t>
            </a:r>
          </a:p>
          <a:p>
            <a:r>
              <a:rPr lang="en-US"/>
              <a:t>VERIFIED: --safe-mode disables managed plugins (so org mods, managed skills, managed MCP) but keeps managed hooks and permissions https://code.claude.com/docs/en/cli-reference . Managed PreToolUse hooks run before any mod and their block is final https://code.claude.com/docs/en/hooks . Mods are not sandboxed: vet with plugin.register and claude plugin validate.</a:t>
            </a:r>
          </a:p>
          <a:p>
            <a:r>
              <a:rPr lang="en-US"/>
              <a:t>Hooks and mods also run in subagents, -p, the Agent SDK and cloud sessions, so one bundle covers interactive, headless and SDK-built agents (research §2.2). Strands / LangGraph agents get the portable part via MCP + skills + OTel, not mod code.</a:t>
            </a:r>
          </a:p>
          <a:p>
            <a:r>
              <a:rPr lang="en-US"/>
              <a:t>Rollout (§6.2): observe in WARN mode and replay 7 days of traces → HITL at medium / high tier → enforce by flipping policy centrally with no redeploy → recertify by tier. Mods are two weeks old: pilot on lighthouse agents only (§9.4).</a:t>
            </a:r>
          </a:p>
          <a:p>
            <a:r>
              <a:rPr lang="en-US"/>
              <a:t>Footnote: Claude Code’s leaked, unreleased always-on mode; we govern the always-on class using shipped Routines, Channels and /loop (see slide 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(v4): market context. YC’s last four batches (W26, P26 Spring, S26 Summer, F26 Fall, in progress) show money moving from agent apps to the control layers our pillar owns: simulation, evals, runtime guardrails, identity, fleet runtime.</a:t>
            </a:r>
          </a:p>
          <a:p>
            <a:r>
              <a:rPr lang="en-US"/>
              <a:t>Source: /workspace/continuous-eval/yc-ai-intake-research.md sections 2-4. Batch calendar: W26 Demo Day 24 Mar 2026; P26 16 Jun; S26 10 Sep; F26 2 Dec 2026 (TLDL tracker [4], citing YC).</a:t>
            </a:r>
          </a:p>
          <a:p>
            <a:r>
              <a:rPr lang="en-US"/>
              <a:t>Stat 1 (VERIFIED, article read in full): 60% of P26 one-liners mention AI or agents; 190+ startups. Ollie Forsyth, New Economies, "Y Combinator Spring 2026 Batch" [1] https://www.neweconomies.co/p/y-combinator-spring-2026-batch</a:t>
            </a:r>
          </a:p>
          <a:p>
            <a:r>
              <a:rPr lang="en-US"/>
              <a:t>Stat 2 (THIRD-PARTY ANALYSIS, search snippet only, translated): S26 application layer 55% → 39%; RL-environment companies 1 (P26) → 7 (S26). elsewhere.news [3] https://elsewhere.news/en/crossing/yc-236 . Not YC data.</a:t>
            </a:r>
          </a:p>
          <a:p>
            <a:r>
              <a:rPr lang="en-US"/>
              <a:t>Startups (YC pages fetched 14 Oct 2026): Polymath W26 https://www.ycombinator.com/companies/polymath ; Arga Labs P26 https://www.ycombinator.com/companies/arga-labs ; Archal S26 https://www.ycombinator.com/companies/archal ; Olam Labs S26 https://www.ycombinator.com/companies/olam-labs ; Agnost AI S26 https://www.ycombinator.com/companies/agnost-ai ; CoArena S26 https://www.ycombinator.com/companies/coarena ; Salus W26 https://www.ycombinator.com/companies/salus ; Decawork S26 https://www.ycombinator.com/companies/decawork ; Silmaril P26 https://www.ycombinator.com/companies/silmaril ; Inkbox S26 https://www.ycombinator.com/companies/inkbox ; Clawvisor P26 https://www.ycombinator.com/companies/clawvisor ; Maritime F26 https://www.ycombinator.com/companies/maritime ; Agent Relay F26 https://www.ycombinator.com/companies/agent-relay</a:t>
            </a:r>
          </a:p>
          <a:p>
            <a:r>
              <a:rPr lang="en-US"/>
              <a:t>Other sources: [2] https://www.neweconomies.co/p/y-combinator-summer-26-batch (snippet) ; [4] https://www.tldl.io/blog/yc-ai-startups-2026 ; [6] F26 list https://www.gpagent.ai/yc/batch/fall-2026</a:t>
            </a:r>
          </a:p>
          <a:p>
            <a:r>
              <a:rPr lang="en-US"/>
              <a:t>Takeaway (OUR ASSESSMENT): build identity, policy and eval in-house on the Kairos platform (gateway + SDK); pilot 1–2 sandbox / guardrail startups as thin, swappable add-ons. Mapping of categories to loop steps (slide 3) is our assessment. Caveat: early-stage companies, watchlist / pilot pool only.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slide7.xml><?xml version="1.0" encoding="utf-8"?>
<p:sld xmlns:a="http://schemas.openxmlformats.org/drawingml/2006/main" xmlns:r="http://schemas.openxmlformats.org/officeDocument/2006/relationships" xmlns:p="http://schemas.openxmlformats.org/presentationml/2006/main">
  <p:cSld name="Slide 7">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Text 0"/>
          <p:cNvSpPr/>
          <p:nvPr/>
        </p:nvSpPr>
        <p:spPr>
          <a:xfrm>
            <a:off x="685800" y="987552"/>
            <a:ext cx="41148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FFFFF"/>
                </a:solidFill>
                <a:latin typeface="Arial" pitchFamily="34" charset="0"/>
                <a:ea typeface="Arial" pitchFamily="34" charset="-122"/>
                <a:cs typeface="Arial" pitchFamily="34" charset="-120"/>
              </a:rPr>
              <a:t>Runtime policy &amp; agent control</a:t>
            </a:r>
          </a:p>
        </p:txBody>
      </p:sp>
      <p:sp>
        <p:nvSpPr>
          <p:cNvPr id="3" name="Text 1"/>
          <p:cNvSpPr/>
          <p:nvPr/>
        </p:nvSpPr>
        <p:spPr>
          <a:xfrm>
            <a:off x="685800" y="1216152"/>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One policy,</a:t>
            </a:r>
          </a:p>
        </p:txBody>
      </p:sp>
      <p:sp>
        <p:nvSpPr>
          <p:cNvPr id="4" name="Shape 2"/>
          <p:cNvSpPr/>
          <p:nvPr/>
        </p:nvSpPr>
        <p:spPr>
          <a:xfrm rot="16200000">
            <a:off x="2926080" y="1344168"/>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 name="Text 3"/>
          <p:cNvSpPr/>
          <p:nvPr/>
        </p:nvSpPr>
        <p:spPr>
          <a:xfrm>
            <a:off x="3337560" y="1216152"/>
            <a:ext cx="393192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three checkpoints</a:t>
            </a:r>
          </a:p>
        </p:txBody>
      </p:sp>
      <p:sp>
        <p:nvSpPr>
          <p:cNvPr id="6" name="Shape 4"/>
          <p:cNvSpPr/>
          <p:nvPr/>
        </p:nvSpPr>
        <p:spPr>
          <a:xfrm>
            <a:off x="8302752" y="1325880"/>
            <a:ext cx="3299155" cy="1280160"/>
          </a:xfrm>
          <a:prstGeom prst="roundRect">
            <a:avLst>
              <a:gd name="adj" fmla="val 15847"/>
            </a:avLst>
          </a:prstGeom>
          <a:solidFill>
            <a:srgbClr val="F5B700"/>
          </a:solidFill>
          <a:ln/>
        </p:spPr>
      </p:sp>
      <p:sp>
        <p:nvSpPr>
          <p:cNvPr id="7" name="Shape 5"/>
          <p:cNvSpPr/>
          <p:nvPr/>
        </p:nvSpPr>
        <p:spPr>
          <a:xfrm>
            <a:off x="8482889" y="1481328"/>
            <a:ext cx="1005840" cy="374904"/>
          </a:xfrm>
          <a:prstGeom prst="roundRect">
            <a:avLst>
              <a:gd name="adj" fmla="val 50000"/>
            </a:avLst>
          </a:prstGeom>
          <a:solidFill>
            <a:srgbClr val="FFF1CC">
              </a:srgbClr>
          </a:solidFill>
          <a:ln w="6350">
            <a:solidFill>
              <a:srgbClr val="141010"/>
            </a:solidFill>
            <a:prstDash val="solid"/>
          </a:ln>
        </p:spPr>
      </p:sp>
      <p:sp>
        <p:nvSpPr>
          <p:cNvPr id="8" name="Text 6"/>
          <p:cNvSpPr/>
          <p:nvPr/>
        </p:nvSpPr>
        <p:spPr>
          <a:xfrm>
            <a:off x="8482889" y="148132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Identity</a:t>
            </a:r>
          </a:p>
        </p:txBody>
      </p:sp>
      <p:sp>
        <p:nvSpPr>
          <p:cNvPr id="9" name="Text 7"/>
          <p:cNvSpPr/>
          <p:nvPr/>
        </p:nvSpPr>
        <p:spPr>
          <a:xfrm>
            <a:off x="8532266" y="1874520"/>
            <a:ext cx="3124505" cy="338328"/>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Every agent is a principal</a:t>
            </a:r>
          </a:p>
        </p:txBody>
      </p:sp>
      <p:sp>
        <p:nvSpPr>
          <p:cNvPr id="11" name="Shape 9"/>
          <p:cNvSpPr/>
          <p:nvPr/>
        </p:nvSpPr>
        <p:spPr>
          <a:xfrm>
            <a:off x="8302752" y="2743200"/>
            <a:ext cx="3299155" cy="1280160"/>
          </a:xfrm>
          <a:prstGeom prst="roundRect">
            <a:avLst>
              <a:gd name="adj" fmla="val 15847"/>
            </a:avLst>
          </a:prstGeom>
          <a:ln w="9525">
            <a:solidFill>
              <a:srgbClr val="D9B48A"/>
            </a:solidFill>
            <a:prstDash val="solid"/>
          </a:ln>
        </p:spPr>
      </p:sp>
      <p:sp>
        <p:nvSpPr>
          <p:cNvPr id="12" name="Shape 10"/>
          <p:cNvSpPr/>
          <p:nvPr/>
        </p:nvSpPr>
        <p:spPr>
          <a:xfrm>
            <a:off x="8482889" y="2898648"/>
            <a:ext cx="1005840" cy="374904"/>
          </a:xfrm>
          <a:prstGeom prst="roundRect">
            <a:avLst>
              <a:gd name="adj" fmla="val 50000"/>
            </a:avLst>
          </a:prstGeom>
          <a:solidFill>
            <a:srgbClr val="8A0F1A">
              <a:alpha val="15600"/>
            </a:srgbClr>
          </a:solidFill>
          <a:ln w="6350">
            <a:solidFill>
              <a:srgbClr val="D9B48A"/>
            </a:solidFill>
            <a:prstDash val="solid"/>
          </a:ln>
        </p:spPr>
      </p:sp>
      <p:sp>
        <p:nvSpPr>
          <p:cNvPr id="13" name="Text 11"/>
          <p:cNvSpPr/>
          <p:nvPr/>
        </p:nvSpPr>
        <p:spPr>
          <a:xfrm>
            <a:off x="8482889" y="289864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Decisions</a:t>
            </a:r>
          </a:p>
        </p:txBody>
      </p:sp>
      <p:sp>
        <p:nvSpPr>
          <p:cNvPr id="14" name="Text 12"/>
          <p:cNvSpPr/>
          <p:nvPr/>
        </p:nvSpPr>
        <p:spPr>
          <a:xfrm>
            <a:off x="8532266" y="329184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Allow, deny or steer</a:t>
            </a:r>
          </a:p>
        </p:txBody>
      </p:sp>
      <p:sp>
        <p:nvSpPr>
          <p:cNvPr id="16" name="Shape 14"/>
          <p:cNvSpPr/>
          <p:nvPr/>
        </p:nvSpPr>
        <p:spPr>
          <a:xfrm>
            <a:off x="8302752" y="4160520"/>
            <a:ext cx="3299155" cy="1280160"/>
          </a:xfrm>
          <a:prstGeom prst="roundRect">
            <a:avLst>
              <a:gd name="adj" fmla="val 15847"/>
            </a:avLst>
          </a:prstGeom>
          <a:ln w="9525">
            <a:solidFill>
              <a:srgbClr val="D9B48A"/>
            </a:solidFill>
            <a:prstDash val="solid"/>
          </a:ln>
        </p:spPr>
      </p:sp>
      <p:sp>
        <p:nvSpPr>
          <p:cNvPr id="17" name="Shape 15"/>
          <p:cNvSpPr/>
          <p:nvPr/>
        </p:nvSpPr>
        <p:spPr>
          <a:xfrm>
            <a:off x="8482889" y="4315968"/>
            <a:ext cx="1005840" cy="374904"/>
          </a:xfrm>
          <a:prstGeom prst="roundRect">
            <a:avLst>
              <a:gd name="adj" fmla="val 50000"/>
            </a:avLst>
          </a:prstGeom>
          <a:solidFill>
            <a:srgbClr val="8A0F1A">
              <a:alpha val="15600"/>
            </a:srgbClr>
          </a:solidFill>
          <a:ln w="6350">
            <a:solidFill>
              <a:srgbClr val="D9B48A"/>
            </a:solidFill>
            <a:prstDash val="solid"/>
          </a:ln>
        </p:spPr>
      </p:sp>
      <p:sp>
        <p:nvSpPr>
          <p:cNvPr id="18" name="Text 16"/>
          <p:cNvSpPr/>
          <p:nvPr/>
        </p:nvSpPr>
        <p:spPr>
          <a:xfrm>
            <a:off x="8482889" y="431596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Kill switch</a:t>
            </a:r>
          </a:p>
        </p:txBody>
      </p:sp>
      <p:sp>
        <p:nvSpPr>
          <p:cNvPr id="19" name="Text 17"/>
          <p:cNvSpPr/>
          <p:nvPr/>
        </p:nvSpPr>
        <p:spPr>
          <a:xfrm>
            <a:off x="8532266" y="470916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One runbook, four steps</a:t>
            </a:r>
          </a:p>
        </p:txBody>
      </p:sp>
      <p:sp>
        <p:nvSpPr>
          <p:cNvPr id="21" name="Shape 19"/>
          <p:cNvSpPr/>
          <p:nvPr/>
        </p:nvSpPr>
        <p:spPr>
          <a:xfrm>
            <a:off x="8411566" y="5897880"/>
            <a:ext cx="3190342" cy="0"/>
          </a:xfrm>
          <a:prstGeom prst="line">
            <a:avLst/>
          </a:prstGeom>
          <a:noFill/>
          <a:ln w="12700">
            <a:solidFill>
              <a:srgbClr val="D9B48A"/>
            </a:solidFill>
            <a:prstDash val="solid"/>
            <a:tailEnd type="triangle"/>
          </a:ln>
        </p:spPr>
      </p:sp>
      <p:sp>
        <p:nvSpPr>
          <p:cNvPr id="73" name="v2 73"/>
          <p:cNvSpPr/>
          <p:nvPr/>
        </p:nvSpPr>
        <p:spPr>
          <a:xfrm>
            <a:off x="8531352" y="2194560"/>
            <a:ext cx="2971800" cy="411480"/>
          </a:xfrm>
          <a:prstGeom prst="rect">
            <a:avLst/>
          </a:prstGeom>
          <a:noFill/>
          <a:ln>
            <a:noFill/>
          </a:ln>
        </p:spPr>
        <p:txBody>
          <a:bodyPr wrap="square" lIns="0" tIns="0" rIns="0" bIns="0" rtlCol="0" anchor="t">
            <a:noAutofit/>
          </a:bodyPr>
          <a:lstStyle/>
          <a:p>
            <a:pPr algn="l" marL="0" indent="0">
              <a:lnSpc>
                <a:spcPct val="105000"/>
              </a:lnSpc>
              <a:buNone/>
            </a:pPr>
            <a:r>
              <a:rPr lang="en-US" sz="950" dirty="0">
                <a:solidFill>
                  <a:srgbClr val="141010"/>
                </a:solidFill>
                <a:latin typeface="Arial"/>
                <a:ea typeface="Arial"/>
                <a:cs typeface="Arial"/>
              </a:rPr>
              <a:t>SPIFFE for workloads; Entra or Okta for the agent-as-principal and user delegation. No shared API keys.</a:t>
            </a:r>
          </a:p>
        </p:txBody>
      </p:sp>
      <p:sp>
        <p:nvSpPr>
          <p:cNvPr id="74" name="v2 74"/>
          <p:cNvSpPr/>
          <p:nvPr/>
        </p:nvSpPr>
        <p:spPr>
          <a:xfrm>
            <a:off x="8531352" y="3611880"/>
            <a:ext cx="2971800" cy="411480"/>
          </a:xfrm>
          <a:prstGeom prst="rect">
            <a:avLst/>
          </a:prstGeom>
          <a:noFill/>
          <a:ln>
            <a:noFill/>
          </a:ln>
        </p:spPr>
        <p:txBody>
          <a:bodyPr wrap="square" lIns="0" tIns="0" rIns="0" bIns="0" rtlCol="0" anchor="t">
            <a:noAutofit/>
          </a:bodyPr>
          <a:lstStyle/>
          <a:p>
            <a:pPr algn="l" marL="0" indent="0">
              <a:lnSpc>
                <a:spcPct val="105000"/>
              </a:lnSpc>
              <a:buNone/>
            </a:pPr>
            <a:r>
              <a:rPr lang="en-US" sz="950" dirty="0">
                <a:solidFill>
                  <a:srgbClr val="F3E6D6"/>
                </a:solidFill>
                <a:latin typeface="Arial"/>
                <a:ea typeface="Arial"/>
                <a:cs typeface="Arial"/>
              </a:rPr>
              <a:t>Deny wins. Human approval for irreversible tools at medium and high tier.</a:t>
            </a:r>
          </a:p>
        </p:txBody>
      </p:sp>
      <p:sp>
        <p:nvSpPr>
          <p:cNvPr id="75" name="v2 75"/>
          <p:cNvSpPr/>
          <p:nvPr/>
        </p:nvSpPr>
        <p:spPr>
          <a:xfrm>
            <a:off x="8531352" y="5029200"/>
            <a:ext cx="2971800" cy="411480"/>
          </a:xfrm>
          <a:prstGeom prst="rect">
            <a:avLst/>
          </a:prstGeom>
          <a:noFill/>
          <a:ln>
            <a:noFill/>
          </a:ln>
        </p:spPr>
        <p:txBody>
          <a:bodyPr wrap="square" lIns="0" tIns="0" rIns="0" bIns="0" rtlCol="0" anchor="t">
            <a:noAutofit/>
          </a:bodyPr>
          <a:lstStyle/>
          <a:p>
            <a:pPr algn="l" marL="0" indent="0">
              <a:lnSpc>
                <a:spcPct val="105000"/>
              </a:lnSpc>
              <a:buNone/>
            </a:pPr>
            <a:r>
              <a:rPr lang="en-US" sz="950" dirty="0">
                <a:solidFill>
                  <a:srgbClr val="F3E6D6"/>
                </a:solidFill>
                <a:latin typeface="Arial"/>
                <a:ea typeface="Arial"/>
                <a:cs typeface="Arial"/>
              </a:rPr>
              <a:t>Revoke identity → gateway deny → MCP deny → Agent Control global deny.</a:t>
            </a:r>
          </a:p>
        </p:txBody>
      </p:sp>
      <p:sp>
        <p:nvSpPr>
          <p:cNvPr id="76" name="g2 76"/>
          <p:cNvSpPr/>
          <p:nvPr/>
        </p:nvSpPr>
        <p:spPr>
          <a:xfrm>
            <a:off x="8412480" y="5559552"/>
            <a:ext cx="3191256" cy="274320"/>
          </a:xfrm>
          <a:prstGeom prst="rect">
            <a:avLst/>
          </a:prstGeom>
          <a:noFill/>
          <a:ln>
            <a:noFill/>
          </a:ln>
        </p:spPr>
        <p:txBody>
          <a:bodyPr wrap="square" lIns="0" tIns="0" rIns="0" bIns="0" rtlCol="0" anchor="ctr">
            <a:noAutofit/>
          </a:bodyPr>
          <a:lstStyle/>
          <a:p>
            <a:pPr algn="l" marL="0" indent="0">
              <a:buNone/>
            </a:pPr>
            <a:r>
              <a:rPr lang="en-US" sz="1000" dirty="0">
                <a:solidFill>
                  <a:srgbClr val="F3E6D6"/>
                </a:solidFill>
                <a:latin typeface="Arial"/>
                <a:ea typeface="Arial"/>
                <a:cs typeface="Arial"/>
              </a:rPr>
              <a:t>Fail-open or fail-closed is configurable per control</a:t>
            </a:r>
          </a:p>
        </p:txBody>
      </p:sp>
      <p:sp>
        <p:nvSpPr>
          <p:cNvPr id="77" name="g2 77"/>
          <p:cNvSpPr/>
          <p:nvPr/>
        </p:nvSpPr>
        <p:spPr>
          <a:xfrm>
            <a:off x="548640" y="2103120"/>
            <a:ext cx="7452360" cy="5029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Policy repo: one source, versioned bundles</a:t>
            </a:r>
          </a:p>
          <a:p>
            <a:pPr algn="l" marL="0" indent="0">
              <a:lnSpc>
                <a:spcPct val="100000"/>
              </a:lnSpc>
              <a:buNone/>
            </a:pPr>
            <a:r>
              <a:rPr lang="en-US" sz="850" dirty="0">
                <a:solidFill>
                  <a:srgbClr val="141010"/>
                </a:solidFill>
                <a:latin typeface="Arial"/>
                <a:ea typeface="Arial"/>
                <a:cs typeface="Arial"/>
              </a:rPr>
              <a:t>Cedar for tool authZ (default-deny) · OPA where already used · NeMo Guardrails configs · Agent Control policies</a:t>
            </a:r>
          </a:p>
        </p:txBody>
      </p:sp>
      <p:cxnSp>
        <p:nvCxnSpPr>
          <p:cNvPr id="78" name="g2 flow 78"/>
          <p:cNvCxnSpPr/>
          <p:nvPr/>
        </p:nvCxnSpPr>
        <p:spPr>
          <a:xfrm>
            <a:off x="1645920" y="2606040"/>
            <a:ext cx="0" cy="365760"/>
          </a:xfrm>
          <a:prstGeom prst="line">
            <a:avLst/>
          </a:prstGeom>
          <a:ln w="12700">
            <a:solidFill>
              <a:srgbClr val="EE0000"/>
            </a:solidFill>
            <a:tailEnd type="triangle" w="med" len="med"/>
          </a:ln>
        </p:spPr>
      </p:cxnSp>
      <p:cxnSp>
        <p:nvCxnSpPr>
          <p:cNvPr id="79" name="g2 flow 79"/>
          <p:cNvCxnSpPr/>
          <p:nvPr/>
        </p:nvCxnSpPr>
        <p:spPr>
          <a:xfrm>
            <a:off x="4274820" y="2606040"/>
            <a:ext cx="0" cy="365760"/>
          </a:xfrm>
          <a:prstGeom prst="line">
            <a:avLst/>
          </a:prstGeom>
          <a:ln w="12700">
            <a:solidFill>
              <a:srgbClr val="EE0000"/>
            </a:solidFill>
            <a:tailEnd type="triangle" w="med" len="med"/>
          </a:ln>
        </p:spPr>
      </p:cxnSp>
      <p:cxnSp>
        <p:nvCxnSpPr>
          <p:cNvPr id="80" name="g2 flow 80"/>
          <p:cNvCxnSpPr/>
          <p:nvPr/>
        </p:nvCxnSpPr>
        <p:spPr>
          <a:xfrm>
            <a:off x="6903720" y="2606040"/>
            <a:ext cx="0" cy="365760"/>
          </a:xfrm>
          <a:prstGeom prst="line">
            <a:avLst/>
          </a:prstGeom>
          <a:ln w="12700">
            <a:solidFill>
              <a:srgbClr val="EE0000"/>
            </a:solidFill>
            <a:tailEnd type="triangle" w="med" len="med"/>
          </a:ln>
        </p:spPr>
      </p:cxnSp>
      <p:sp>
        <p:nvSpPr>
          <p:cNvPr id="81" name="g2 81"/>
          <p:cNvSpPr/>
          <p:nvPr/>
        </p:nvSpPr>
        <p:spPr>
          <a:xfrm>
            <a:off x="1719072" y="2697480"/>
            <a:ext cx="91440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bundle @v</a:t>
            </a:r>
          </a:p>
        </p:txBody>
      </p:sp>
      <p:sp>
        <p:nvSpPr>
          <p:cNvPr id="82" name="g2 82"/>
          <p:cNvSpPr/>
          <p:nvPr/>
        </p:nvSpPr>
        <p:spPr>
          <a:xfrm>
            <a:off x="548640" y="2971800"/>
            <a:ext cx="2194560" cy="91440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Our AI gateway</a:t>
            </a:r>
          </a:p>
          <a:p>
            <a:pPr algn="l" marL="0" indent="0">
              <a:lnSpc>
                <a:spcPct val="100000"/>
              </a:lnSpc>
              <a:buNone/>
            </a:pPr>
            <a:r>
              <a:rPr lang="en-US" sz="850" dirty="0">
                <a:solidFill>
                  <a:srgbClr val="F3E6D6"/>
                </a:solidFill>
                <a:latin typeface="Arial"/>
                <a:ea typeface="Arial"/>
                <a:cs typeface="Arial"/>
              </a:rPr>
              <a:t>model traffic · PII, injection and topic guardrails (NeMo Guardrails + Luna)</a:t>
            </a:r>
          </a:p>
        </p:txBody>
      </p:sp>
      <p:sp>
        <p:nvSpPr>
          <p:cNvPr id="83" name="g2 83"/>
          <p:cNvSpPr/>
          <p:nvPr/>
        </p:nvSpPr>
        <p:spPr>
          <a:xfrm>
            <a:off x="3177540" y="2971800"/>
            <a:ext cx="2194560" cy="9144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Galileo Agent Control (SDK)</a:t>
            </a:r>
          </a:p>
          <a:p>
            <a:pPr algn="l" marL="0" indent="0">
              <a:lnSpc>
                <a:spcPct val="100000"/>
              </a:lnSpc>
              <a:buNone/>
            </a:pPr>
            <a:r>
              <a:rPr lang="en-US" sz="850" dirty="0">
                <a:solidFill>
                  <a:srgbClr val="F3E6D6"/>
                </a:solidFill>
                <a:latin typeface="Arial"/>
                <a:ea typeface="Arial"/>
                <a:cs typeface="Arial"/>
              </a:rPr>
              <a:t>@control on every LLM and tool step · Apache-2.0</a:t>
            </a:r>
          </a:p>
        </p:txBody>
      </p:sp>
      <p:sp>
        <p:nvSpPr>
          <p:cNvPr id="84" name="g2 84"/>
          <p:cNvSpPr/>
          <p:nvPr/>
        </p:nvSpPr>
        <p:spPr>
          <a:xfrm>
            <a:off x="5806440" y="2971800"/>
            <a:ext cx="2194560" cy="9144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Red Hat MCP gateway</a:t>
            </a:r>
          </a:p>
          <a:p>
            <a:pPr algn="l" marL="0" indent="0">
              <a:lnSpc>
                <a:spcPct val="100000"/>
              </a:lnSpc>
              <a:buNone/>
            </a:pPr>
            <a:r>
              <a:rPr lang="en-US" sz="850" dirty="0">
                <a:solidFill>
                  <a:srgbClr val="F3E6D6"/>
                </a:solidFill>
                <a:latin typeface="Arial"/>
                <a:ea typeface="Arial"/>
                <a:cs typeface="Arial"/>
              </a:rPr>
              <a:t>tool-level AuthPolicy · tools off until the owner enables them</a:t>
            </a:r>
          </a:p>
        </p:txBody>
      </p:sp>
      <p:cxnSp>
        <p:nvCxnSpPr>
          <p:cNvPr id="85" name="g2 flow 85"/>
          <p:cNvCxnSpPr/>
          <p:nvPr/>
        </p:nvCxnSpPr>
        <p:spPr>
          <a:xfrm flipH="1">
            <a:off x="2743200" y="3429000"/>
            <a:ext cx="434340" cy="0"/>
          </a:xfrm>
          <a:prstGeom prst="line">
            <a:avLst/>
          </a:prstGeom>
          <a:ln w="12700">
            <a:solidFill>
              <a:srgbClr val="EE0000"/>
            </a:solidFill>
            <a:tailEnd type="triangle" w="med" len="med"/>
          </a:ln>
        </p:spPr>
      </p:cxnSp>
      <p:sp>
        <p:nvSpPr>
          <p:cNvPr id="86" name="g2 86"/>
          <p:cNvSpPr/>
          <p:nvPr/>
        </p:nvSpPr>
        <p:spPr>
          <a:xfrm>
            <a:off x="2743200" y="3218688"/>
            <a:ext cx="434340" cy="201168"/>
          </a:xfrm>
          <a:prstGeom prst="rect">
            <a:avLst/>
          </a:prstGeom>
          <a:noFill/>
          <a:ln>
            <a:noFill/>
          </a:ln>
        </p:spPr>
        <p:txBody>
          <a:bodyPr wrap="square" lIns="0" tIns="0" rIns="0" bIns="0" rtlCol="0" anchor="ctr">
            <a:noAutofit/>
          </a:bodyPr>
          <a:lstStyle/>
          <a:p>
            <a:pPr algn="ctr" marL="0" indent="0">
              <a:buNone/>
            </a:pPr>
            <a:r>
              <a:rPr lang="en-US" sz="750" dirty="0">
                <a:solidFill>
                  <a:srgbClr val="F5B700"/>
                </a:solidFill>
                <a:latin typeface="Arial"/>
                <a:ea typeface="Arial"/>
                <a:cs typeface="Arial"/>
              </a:rPr>
              <a:t>LLM</a:t>
            </a:r>
          </a:p>
        </p:txBody>
      </p:sp>
      <p:cxnSp>
        <p:nvCxnSpPr>
          <p:cNvPr id="87" name="g2 flow 87"/>
          <p:cNvCxnSpPr/>
          <p:nvPr/>
        </p:nvCxnSpPr>
        <p:spPr>
          <a:xfrm>
            <a:off x="5372100" y="3429000"/>
            <a:ext cx="434340" cy="0"/>
          </a:xfrm>
          <a:prstGeom prst="line">
            <a:avLst/>
          </a:prstGeom>
          <a:ln w="12700">
            <a:solidFill>
              <a:srgbClr val="EE0000"/>
            </a:solidFill>
            <a:tailEnd type="triangle" w="med" len="med"/>
          </a:ln>
        </p:spPr>
      </p:cxnSp>
      <p:sp>
        <p:nvSpPr>
          <p:cNvPr id="88" name="g2 88"/>
          <p:cNvSpPr/>
          <p:nvPr/>
        </p:nvSpPr>
        <p:spPr>
          <a:xfrm>
            <a:off x="5372100" y="3218688"/>
            <a:ext cx="434340" cy="201168"/>
          </a:xfrm>
          <a:prstGeom prst="rect">
            <a:avLst/>
          </a:prstGeom>
          <a:noFill/>
          <a:ln>
            <a:noFill/>
          </a:ln>
        </p:spPr>
        <p:txBody>
          <a:bodyPr wrap="square" lIns="0" tIns="0" rIns="0" bIns="0" rtlCol="0" anchor="ctr">
            <a:noAutofit/>
          </a:bodyPr>
          <a:lstStyle/>
          <a:p>
            <a:pPr algn="ctr" marL="0" indent="0">
              <a:buNone/>
            </a:pPr>
            <a:r>
              <a:rPr lang="en-US" sz="750" dirty="0">
                <a:solidFill>
                  <a:srgbClr val="F5B700"/>
                </a:solidFill>
                <a:latin typeface="Arial"/>
                <a:ea typeface="Arial"/>
                <a:cs typeface="Arial"/>
              </a:rPr>
              <a:t>tools</a:t>
            </a:r>
          </a:p>
        </p:txBody>
      </p:sp>
      <p:sp>
        <p:nvSpPr>
          <p:cNvPr id="89" name="g2 89"/>
          <p:cNvSpPr/>
          <p:nvPr/>
        </p:nvSpPr>
        <p:spPr>
          <a:xfrm>
            <a:off x="548640" y="4206240"/>
            <a:ext cx="21945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Models</a:t>
            </a:r>
          </a:p>
          <a:p>
            <a:pPr algn="l" marL="0" indent="0">
              <a:lnSpc>
                <a:spcPct val="100000"/>
              </a:lnSpc>
              <a:buNone/>
            </a:pPr>
            <a:r>
              <a:rPr lang="en-US" sz="850" dirty="0">
                <a:solidFill>
                  <a:srgbClr val="F3E6D6"/>
                </a:solidFill>
                <a:latin typeface="Arial"/>
                <a:ea typeface="Arial"/>
                <a:cs typeface="Arial"/>
              </a:rPr>
              <a:t>hosted + self-hosted behind the gateway</a:t>
            </a:r>
          </a:p>
        </p:txBody>
      </p:sp>
      <p:sp>
        <p:nvSpPr>
          <p:cNvPr id="90" name="g2 90"/>
          <p:cNvSpPr/>
          <p:nvPr/>
        </p:nvSpPr>
        <p:spPr>
          <a:xfrm>
            <a:off x="3177540" y="4206240"/>
            <a:ext cx="2194560" cy="5029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Agent with identity</a:t>
            </a:r>
          </a:p>
          <a:p>
            <a:pPr algn="l" marL="0" indent="0">
              <a:lnSpc>
                <a:spcPct val="100000"/>
              </a:lnSpc>
              <a:buNone/>
            </a:pPr>
            <a:r>
              <a:rPr lang="en-US" sz="850" dirty="0">
                <a:solidFill>
                  <a:srgbClr val="141010"/>
                </a:solidFill>
                <a:latin typeface="Arial"/>
                <a:ea typeface="Arial"/>
                <a:cs typeface="Arial"/>
              </a:rPr>
              <a:t>SPIFFE ID or IdP principal</a:t>
            </a:r>
          </a:p>
        </p:txBody>
      </p:sp>
      <p:sp>
        <p:nvSpPr>
          <p:cNvPr id="91" name="g2 91"/>
          <p:cNvSpPr/>
          <p:nvPr/>
        </p:nvSpPr>
        <p:spPr>
          <a:xfrm>
            <a:off x="5806440" y="4206240"/>
            <a:ext cx="21945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Tools / MCP servers</a:t>
            </a:r>
          </a:p>
          <a:p>
            <a:pPr algn="l" marL="0" indent="0">
              <a:lnSpc>
                <a:spcPct val="100000"/>
              </a:lnSpc>
              <a:buNone/>
            </a:pPr>
            <a:r>
              <a:rPr lang="en-US" sz="850" dirty="0">
                <a:solidFill>
                  <a:srgbClr val="F3E6D6"/>
                </a:solidFill>
                <a:latin typeface="Arial"/>
                <a:ea typeface="Arial"/>
                <a:cs typeface="Arial"/>
              </a:rPr>
              <a:t>scoped per agent</a:t>
            </a:r>
          </a:p>
        </p:txBody>
      </p:sp>
      <p:cxnSp>
        <p:nvCxnSpPr>
          <p:cNvPr id="92" name="g2 flow 92"/>
          <p:cNvCxnSpPr/>
          <p:nvPr/>
        </p:nvCxnSpPr>
        <p:spPr>
          <a:xfrm>
            <a:off x="1645920" y="3886200"/>
            <a:ext cx="0" cy="320040"/>
          </a:xfrm>
          <a:prstGeom prst="line">
            <a:avLst/>
          </a:prstGeom>
          <a:ln w="12700">
            <a:solidFill>
              <a:srgbClr val="EE0000"/>
            </a:solidFill>
            <a:tailEnd type="triangle" w="med" len="med"/>
          </a:ln>
        </p:spPr>
      </p:cxnSp>
      <p:cxnSp>
        <p:nvCxnSpPr>
          <p:cNvPr id="93" name="g2 flow 93"/>
          <p:cNvCxnSpPr/>
          <p:nvPr/>
        </p:nvCxnSpPr>
        <p:spPr>
          <a:xfrm>
            <a:off x="6903720" y="3886200"/>
            <a:ext cx="0" cy="320040"/>
          </a:xfrm>
          <a:prstGeom prst="line">
            <a:avLst/>
          </a:prstGeom>
          <a:ln w="12700">
            <a:solidFill>
              <a:srgbClr val="EE0000"/>
            </a:solidFill>
            <a:tailEnd type="triangle" w="med" len="med"/>
          </a:ln>
        </p:spPr>
      </p:cxnSp>
      <p:cxnSp>
        <p:nvCxnSpPr>
          <p:cNvPr id="94" name="g2 flow 94"/>
          <p:cNvCxnSpPr/>
          <p:nvPr/>
        </p:nvCxnSpPr>
        <p:spPr>
          <a:xfrm flipV="1">
            <a:off x="4274820" y="3886200"/>
            <a:ext cx="0" cy="320040"/>
          </a:xfrm>
          <a:prstGeom prst="line">
            <a:avLst/>
          </a:prstGeom>
          <a:ln w="12700">
            <a:solidFill>
              <a:srgbClr val="EE0000"/>
            </a:solidFill>
            <a:tailEnd type="triangle" w="med" len="med"/>
          </a:ln>
        </p:spPr>
      </p:cxnSp>
      <p:sp>
        <p:nvSpPr>
          <p:cNvPr id="95" name="g2 95"/>
          <p:cNvSpPr/>
          <p:nvPr/>
        </p:nvSpPr>
        <p:spPr>
          <a:xfrm>
            <a:off x="4347972" y="3950208"/>
            <a:ext cx="109728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every step</a:t>
            </a:r>
          </a:p>
        </p:txBody>
      </p:sp>
      <p:cxnSp>
        <p:nvCxnSpPr>
          <p:cNvPr id="96" name="g2 flow 96"/>
          <p:cNvCxnSpPr/>
          <p:nvPr/>
        </p:nvCxnSpPr>
        <p:spPr>
          <a:xfrm>
            <a:off x="1645920" y="4709160"/>
            <a:ext cx="0" cy="274320"/>
          </a:xfrm>
          <a:prstGeom prst="line">
            <a:avLst/>
          </a:prstGeom>
          <a:ln w="9525">
            <a:solidFill>
              <a:srgbClr val="A0704A"/>
            </a:solidFill>
          </a:ln>
        </p:spPr>
      </p:cxnSp>
      <p:cxnSp>
        <p:nvCxnSpPr>
          <p:cNvPr id="97" name="g2 flow 97"/>
          <p:cNvCxnSpPr/>
          <p:nvPr/>
        </p:nvCxnSpPr>
        <p:spPr>
          <a:xfrm>
            <a:off x="4274820" y="4709160"/>
            <a:ext cx="0" cy="274320"/>
          </a:xfrm>
          <a:prstGeom prst="line">
            <a:avLst/>
          </a:prstGeom>
          <a:ln w="9525">
            <a:solidFill>
              <a:srgbClr val="A0704A"/>
            </a:solidFill>
          </a:ln>
        </p:spPr>
      </p:cxnSp>
      <p:cxnSp>
        <p:nvCxnSpPr>
          <p:cNvPr id="98" name="g2 flow 98"/>
          <p:cNvCxnSpPr/>
          <p:nvPr/>
        </p:nvCxnSpPr>
        <p:spPr>
          <a:xfrm>
            <a:off x="6903720" y="4709160"/>
            <a:ext cx="0" cy="274320"/>
          </a:xfrm>
          <a:prstGeom prst="line">
            <a:avLst/>
          </a:prstGeom>
          <a:ln w="9525">
            <a:solidFill>
              <a:srgbClr val="A0704A"/>
            </a:solidFill>
          </a:ln>
        </p:spPr>
      </p:cxnSp>
      <p:sp>
        <p:nvSpPr>
          <p:cNvPr id="99" name="g2 99"/>
          <p:cNvSpPr/>
          <p:nvPr/>
        </p:nvSpPr>
        <p:spPr>
          <a:xfrm>
            <a:off x="548640" y="4983480"/>
            <a:ext cx="74523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Decision log</a:t>
            </a:r>
          </a:p>
          <a:p>
            <a:pPr algn="l" marL="0" indent="0">
              <a:lnSpc>
                <a:spcPct val="100000"/>
              </a:lnSpc>
              <a:buNone/>
            </a:pPr>
            <a:r>
              <a:rPr lang="en-US" sz="850" dirty="0">
                <a:solidFill>
                  <a:srgbClr val="F3E6D6"/>
                </a:solidFill>
                <a:latin typeface="Arial"/>
                <a:ea typeface="Arial"/>
                <a:cs typeface="Arial"/>
              </a:rPr>
              <a:t>every allow / deny / steer is an OTel span → Galileo / Splunk AO (Arize exploring) and the SIEM; violations feed red teaming and governance</a:t>
            </a:r>
          </a:p>
        </p:txBody>
      </p:sp>
      <p:sp>
        <p:nvSpPr>
          <p:cNvPr id="200" name="g2 200"/>
          <p:cNvSpPr/>
          <p:nvPr/>
        </p:nvSpPr>
        <p:spPr>
          <a:xfrm>
            <a:off x="548640" y="5559552"/>
            <a:ext cx="2194560"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5B700"/>
                </a:solidFill>
                <a:latin typeface="Arial"/>
                <a:ea typeface="Arial"/>
                <a:cs typeface="Arial"/>
              </a:rPr>
              <a:t>Tier 1 · deterministic</a:t>
            </a:r>
          </a:p>
          <a:p>
            <a:pPr algn="l" marL="0" indent="0">
              <a:lnSpc>
                <a:spcPct val="100000"/>
              </a:lnSpc>
              <a:buNone/>
            </a:pPr>
            <a:r>
              <a:rPr lang="en-US" sz="850" dirty="0">
                <a:solidFill>
                  <a:srgbClr val="F3E6D6"/>
                </a:solidFill>
                <a:latin typeface="Arial"/>
                <a:ea typeface="Arial"/>
                <a:cs typeface="Arial"/>
              </a:rPr>
              <a:t>&lt;5 ms target · regex, SQL AST, JSON schema, OPA</a:t>
            </a:r>
          </a:p>
        </p:txBody>
      </p:sp>
      <p:sp>
        <p:nvSpPr>
          <p:cNvPr id="201" name="g2 201"/>
          <p:cNvSpPr/>
          <p:nvPr/>
        </p:nvSpPr>
        <p:spPr>
          <a:xfrm>
            <a:off x="3177540" y="5559552"/>
            <a:ext cx="2194560"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5B700"/>
                </a:solidFill>
                <a:latin typeface="Arial"/>
                <a:ea typeface="Arial"/>
                <a:cs typeface="Arial"/>
              </a:rPr>
              <a:t>Tier 2 · semi-semantic</a:t>
            </a:r>
          </a:p>
          <a:p>
            <a:pPr algn="l" marL="0" indent="0">
              <a:lnSpc>
                <a:spcPct val="100000"/>
              </a:lnSpc>
              <a:buNone/>
            </a:pPr>
            <a:r>
              <a:rPr lang="en-US" sz="850" dirty="0">
                <a:solidFill>
                  <a:srgbClr val="F3E6D6"/>
                </a:solidFill>
                <a:latin typeface="Arial"/>
                <a:ea typeface="Arial"/>
                <a:cs typeface="Arial"/>
              </a:rPr>
              <a:t>&lt;25 ms target · NeMo Guardrails, small verifiers</a:t>
            </a:r>
          </a:p>
        </p:txBody>
      </p:sp>
      <p:sp>
        <p:nvSpPr>
          <p:cNvPr id="202" name="g2 202"/>
          <p:cNvSpPr/>
          <p:nvPr/>
        </p:nvSpPr>
        <p:spPr>
          <a:xfrm>
            <a:off x="5806440" y="5559552"/>
            <a:ext cx="2194560"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5B700"/>
                </a:solidFill>
                <a:latin typeface="Arial"/>
                <a:ea typeface="Arial"/>
                <a:cs typeface="Arial"/>
              </a:rPr>
              <a:t>Tier 3 · deep-semantic</a:t>
            </a:r>
          </a:p>
          <a:p>
            <a:pPr algn="l" marL="0" indent="0">
              <a:lnSpc>
                <a:spcPct val="100000"/>
              </a:lnSpc>
              <a:buNone/>
            </a:pPr>
            <a:r>
              <a:rPr lang="en-US" sz="850" dirty="0">
                <a:solidFill>
                  <a:srgbClr val="F3E6D6"/>
                </a:solidFill>
                <a:latin typeface="Arial"/>
                <a:ea typeface="Arial"/>
                <a:cs typeface="Arial"/>
              </a:rPr>
              <a:t>async on the trace stream · LLM judges steer the next turn</a:t>
            </a:r>
          </a:p>
        </p:txBody>
      </p:sp>
      <p:sp>
        <p:nvSpPr>
          <p:cNvPr id="210" name="g2 210"/>
          <p:cNvSpPr/>
          <p:nvPr/>
        </p:nvSpPr>
        <p:spPr>
          <a:xfrm>
            <a:off x="8412480" y="6016752"/>
            <a:ext cx="3191256" cy="38404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Runtime threat detection (Cisco AI Defense, Golf) is evaluated only after these controls are live.</a:t>
            </a:r>
          </a:p>
        </p:txBody>
      </p:sp>
      <p:sp>
        <p:nvSpPr>
          <p:cNvPr id="100" name="g2 100"/>
          <p:cNvSpPr/>
          <p:nvPr/>
        </p:nvSpPr>
        <p:spPr>
          <a:xfrm>
            <a:off x="548640" y="6181344"/>
            <a:ext cx="7452360" cy="274320"/>
          </a:xfrm>
          <a:prstGeom prst="rect">
            <a:avLst/>
          </a:prstGeom>
          <a:noFill/>
          <a:ln>
            <a:noFill/>
          </a:ln>
        </p:spPr>
        <p:txBody>
          <a:bodyPr wrap="square" lIns="0" tIns="0" rIns="0" bIns="0" rtlCol="0" anchor="ctr">
            <a:noAutofit/>
          </a:bodyPr>
          <a:lstStyle/>
          <a:p>
            <a:pPr algn="l" marL="0" indent="0">
              <a:buNone/>
            </a:pPr>
            <a:r>
              <a:rPr lang="en-US" sz="950" dirty="0" b="1">
                <a:solidFill>
                  <a:srgbClr val="F5B700"/>
                </a:solidFill>
                <a:latin typeface="Arial"/>
                <a:ea typeface="Arial"/>
                <a:cs typeface="Arial"/>
              </a:rPr>
              <a:t>Rollout  </a:t>
            </a:r>
            <a:r>
              <a:rPr lang="en-US" sz="950" dirty="0">
                <a:solidFill>
                  <a:srgbClr val="F3E6D6"/>
                </a:solidFill>
                <a:latin typeface="Arial"/>
                <a:ea typeface="Arial"/>
                <a:cs typeface="Arial"/>
              </a:rPr>
              <a:t>backtest each rule on 7 days of traces → WARN (shadow) → STEER / DENY, flipped centrally with no redeploy</a:t>
            </a:r>
          </a:p>
        </p:txBody>
      </p:sp>
      <p:sp>
        <p:nvSpPr>
          <p:cNvPr id="21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07 / 17</a:t>
            </a:r>
          </a:p>
        </p:txBody>
      </p:sp>
      <p:sp>
        <p:nvSpPr>
          <p:cNvPr id="21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1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717036" y="-5362956"/>
            <a:ext cx="8621878" cy="8621878"/>
          </a:xfrm>
          <a:prstGeom prst="ellipse">
            <a:avLst/>
          </a:prstGeom>
          <a:solidFill>
            <a:srgbClr val="8A0F1A">
              <a:alpha val="2547"/>
            </a:srgbClr>
          </a:solidFill>
          <a:ln/>
        </p:spPr>
      </p:sp>
      <p:sp>
        <p:nvSpPr>
          <p:cNvPr id="3" name="Shape 1"/>
          <p:cNvSpPr/>
          <p:nvPr/>
        </p:nvSpPr>
        <p:spPr>
          <a:xfrm>
            <a:off x="-3537414" y="-5183334"/>
            <a:ext cx="8262633" cy="8262633"/>
          </a:xfrm>
          <a:prstGeom prst="ellipse">
            <a:avLst/>
          </a:prstGeom>
          <a:solidFill>
            <a:srgbClr val="8A0F1A">
              <a:alpha val="4218"/>
            </a:srgbClr>
          </a:solidFill>
          <a:ln/>
        </p:spPr>
      </p:sp>
      <p:sp>
        <p:nvSpPr>
          <p:cNvPr id="4" name="Shape 2"/>
          <p:cNvSpPr/>
          <p:nvPr/>
        </p:nvSpPr>
        <p:spPr>
          <a:xfrm>
            <a:off x="-3357791" y="-5003711"/>
            <a:ext cx="7903388" cy="7903388"/>
          </a:xfrm>
          <a:prstGeom prst="ellipse">
            <a:avLst/>
          </a:prstGeom>
          <a:solidFill>
            <a:srgbClr val="8A0F1A">
              <a:alpha val="4138"/>
            </a:srgbClr>
          </a:solidFill>
          <a:ln/>
        </p:spPr>
      </p:sp>
      <p:sp>
        <p:nvSpPr>
          <p:cNvPr id="5" name="Shape 3"/>
          <p:cNvSpPr/>
          <p:nvPr/>
        </p:nvSpPr>
        <p:spPr>
          <a:xfrm>
            <a:off x="-3178169" y="-4824089"/>
            <a:ext cx="7544143" cy="7544143"/>
          </a:xfrm>
          <a:prstGeom prst="ellipse">
            <a:avLst/>
          </a:prstGeom>
          <a:solidFill>
            <a:srgbClr val="8A0F1A">
              <a:alpha val="2636"/>
            </a:srgbClr>
          </a:solidFill>
          <a:ln/>
        </p:spPr>
      </p:sp>
      <p:sp>
        <p:nvSpPr>
          <p:cNvPr id="6" name="Shape 4"/>
          <p:cNvSpPr/>
          <p:nvPr/>
        </p:nvSpPr>
        <p:spPr>
          <a:xfrm>
            <a:off x="-2998546" y="-4644466"/>
            <a:ext cx="7184898" cy="7184898"/>
          </a:xfrm>
          <a:prstGeom prst="ellipse">
            <a:avLst/>
          </a:prstGeom>
          <a:solidFill>
            <a:srgbClr val="8A0F1A">
              <a:alpha val="2661"/>
            </a:srgbClr>
          </a:solidFill>
          <a:ln/>
        </p:spPr>
      </p:sp>
      <p:sp>
        <p:nvSpPr>
          <p:cNvPr id="7" name="Shape 5"/>
          <p:cNvSpPr/>
          <p:nvPr/>
        </p:nvSpPr>
        <p:spPr>
          <a:xfrm>
            <a:off x="-2818924" y="-4464844"/>
            <a:ext cx="6825653" cy="6825653"/>
          </a:xfrm>
          <a:prstGeom prst="ellipse">
            <a:avLst/>
          </a:prstGeom>
          <a:solidFill>
            <a:srgbClr val="8A0F1A">
              <a:alpha val="3304"/>
            </a:srgbClr>
          </a:solidFill>
          <a:ln/>
        </p:spPr>
      </p:sp>
      <p:sp>
        <p:nvSpPr>
          <p:cNvPr id="8" name="Shape 6"/>
          <p:cNvSpPr/>
          <p:nvPr/>
        </p:nvSpPr>
        <p:spPr>
          <a:xfrm>
            <a:off x="-2639301" y="-4285221"/>
            <a:ext cx="6466408" cy="6466408"/>
          </a:xfrm>
          <a:prstGeom prst="ellipse">
            <a:avLst/>
          </a:prstGeom>
          <a:solidFill>
            <a:srgbClr val="8A0F1A">
              <a:alpha val="3622"/>
            </a:srgbClr>
          </a:solidFill>
          <a:ln/>
        </p:spPr>
      </p:sp>
      <p:sp>
        <p:nvSpPr>
          <p:cNvPr id="9" name="Shape 7"/>
          <p:cNvSpPr/>
          <p:nvPr/>
        </p:nvSpPr>
        <p:spPr>
          <a:xfrm>
            <a:off x="-2459679" y="-4105599"/>
            <a:ext cx="6107163" cy="6107163"/>
          </a:xfrm>
          <a:prstGeom prst="ellipse">
            <a:avLst/>
          </a:prstGeom>
          <a:solidFill>
            <a:srgbClr val="8A0F1A">
              <a:alpha val="3650"/>
            </a:srgbClr>
          </a:solidFill>
          <a:ln/>
        </p:spPr>
      </p:sp>
      <p:sp>
        <p:nvSpPr>
          <p:cNvPr id="10" name="Shape 8"/>
          <p:cNvSpPr/>
          <p:nvPr/>
        </p:nvSpPr>
        <p:spPr>
          <a:xfrm>
            <a:off x="-2280056" y="-3925976"/>
            <a:ext cx="5747918" cy="5747918"/>
          </a:xfrm>
          <a:prstGeom prst="ellipse">
            <a:avLst/>
          </a:prstGeom>
          <a:solidFill>
            <a:srgbClr val="8A0F1A">
              <a:alpha val="3631"/>
            </a:srgbClr>
          </a:solidFill>
          <a:ln/>
        </p:spPr>
      </p:sp>
      <p:sp>
        <p:nvSpPr>
          <p:cNvPr id="11" name="Shape 9"/>
          <p:cNvSpPr/>
          <p:nvPr/>
        </p:nvSpPr>
        <p:spPr>
          <a:xfrm>
            <a:off x="-2100434" y="-3746354"/>
            <a:ext cx="5388674" cy="5388674"/>
          </a:xfrm>
          <a:prstGeom prst="ellipse">
            <a:avLst/>
          </a:prstGeom>
          <a:solidFill>
            <a:srgbClr val="8A0F1A">
              <a:alpha val="3693"/>
            </a:srgbClr>
          </a:solidFill>
          <a:ln/>
        </p:spPr>
      </p:sp>
      <p:sp>
        <p:nvSpPr>
          <p:cNvPr id="12" name="Shape 10"/>
          <p:cNvSpPr/>
          <p:nvPr/>
        </p:nvSpPr>
        <p:spPr>
          <a:xfrm>
            <a:off x="-1920812" y="-3566731"/>
            <a:ext cx="5029429" cy="5029429"/>
          </a:xfrm>
          <a:prstGeom prst="ellipse">
            <a:avLst/>
          </a:prstGeom>
          <a:solidFill>
            <a:srgbClr val="8A0F1A">
              <a:alpha val="4536"/>
            </a:srgbClr>
          </a:solidFill>
          <a:ln/>
        </p:spPr>
      </p:sp>
      <p:sp>
        <p:nvSpPr>
          <p:cNvPr id="13" name="Shape 11"/>
          <p:cNvSpPr/>
          <p:nvPr/>
        </p:nvSpPr>
        <p:spPr>
          <a:xfrm>
            <a:off x="-1741189" y="-3387109"/>
            <a:ext cx="4670184" cy="4670184"/>
          </a:xfrm>
          <a:prstGeom prst="ellipse">
            <a:avLst/>
          </a:prstGeom>
          <a:solidFill>
            <a:srgbClr val="8A0F1A">
              <a:alpha val="4737"/>
            </a:srgbClr>
          </a:solidFill>
          <a:ln/>
        </p:spPr>
      </p:sp>
      <p:sp>
        <p:nvSpPr>
          <p:cNvPr id="14" name="Shape 12"/>
          <p:cNvSpPr/>
          <p:nvPr/>
        </p:nvSpPr>
        <p:spPr>
          <a:xfrm>
            <a:off x="-1561567" y="-3207487"/>
            <a:ext cx="4310939" cy="4310939"/>
          </a:xfrm>
          <a:prstGeom prst="ellipse">
            <a:avLst/>
          </a:prstGeom>
          <a:solidFill>
            <a:srgbClr val="8A0F1A">
              <a:alpha val="4994"/>
            </a:srgbClr>
          </a:solidFill>
          <a:ln/>
        </p:spPr>
      </p:sp>
      <p:sp>
        <p:nvSpPr>
          <p:cNvPr id="15" name="Shape 13"/>
          <p:cNvSpPr/>
          <p:nvPr/>
        </p:nvSpPr>
        <p:spPr>
          <a:xfrm>
            <a:off x="-1381944" y="-3027864"/>
            <a:ext cx="3951694" cy="3951694"/>
          </a:xfrm>
          <a:prstGeom prst="ellipse">
            <a:avLst/>
          </a:prstGeom>
          <a:solidFill>
            <a:srgbClr val="8A0F1A">
              <a:alpha val="5272"/>
            </a:srgbClr>
          </a:solidFill>
          <a:ln/>
        </p:spPr>
      </p:sp>
      <p:sp>
        <p:nvSpPr>
          <p:cNvPr id="16" name="Shape 14"/>
          <p:cNvSpPr/>
          <p:nvPr/>
        </p:nvSpPr>
        <p:spPr>
          <a:xfrm>
            <a:off x="-1202322" y="-2848242"/>
            <a:ext cx="3592449" cy="3592449"/>
          </a:xfrm>
          <a:prstGeom prst="ellipse">
            <a:avLst/>
          </a:prstGeom>
          <a:solidFill>
            <a:srgbClr val="8A0F1A">
              <a:alpha val="5521"/>
            </a:srgbClr>
          </a:solidFill>
          <a:ln/>
        </p:spPr>
      </p:sp>
      <p:sp>
        <p:nvSpPr>
          <p:cNvPr id="17" name="Shape 15"/>
          <p:cNvSpPr/>
          <p:nvPr/>
        </p:nvSpPr>
        <p:spPr>
          <a:xfrm>
            <a:off x="-1022699" y="-2668619"/>
            <a:ext cx="3233204" cy="3233204"/>
          </a:xfrm>
          <a:prstGeom prst="ellipse">
            <a:avLst/>
          </a:prstGeom>
          <a:solidFill>
            <a:srgbClr val="8A0F1A">
              <a:alpha val="6496"/>
            </a:srgbClr>
          </a:solidFill>
          <a:ln/>
        </p:spPr>
      </p:sp>
      <p:sp>
        <p:nvSpPr>
          <p:cNvPr id="18" name="Shape 16"/>
          <p:cNvSpPr/>
          <p:nvPr/>
        </p:nvSpPr>
        <p:spPr>
          <a:xfrm>
            <a:off x="-843077" y="-2488997"/>
            <a:ext cx="2873959" cy="2873959"/>
          </a:xfrm>
          <a:prstGeom prst="ellipse">
            <a:avLst/>
          </a:prstGeom>
          <a:solidFill>
            <a:srgbClr val="8A0F1A">
              <a:alpha val="6768"/>
            </a:srgbClr>
          </a:solidFill>
          <a:ln/>
        </p:spPr>
      </p:sp>
      <p:sp>
        <p:nvSpPr>
          <p:cNvPr id="19" name="Shape 17"/>
          <p:cNvSpPr/>
          <p:nvPr/>
        </p:nvSpPr>
        <p:spPr>
          <a:xfrm>
            <a:off x="-663454" y="-2309374"/>
            <a:ext cx="2514714" cy="2514714"/>
          </a:xfrm>
          <a:prstGeom prst="ellipse">
            <a:avLst/>
          </a:prstGeom>
          <a:solidFill>
            <a:srgbClr val="8A0F1A">
              <a:alpha val="7123"/>
            </a:srgbClr>
          </a:solidFill>
          <a:ln/>
        </p:spPr>
      </p:sp>
      <p:sp>
        <p:nvSpPr>
          <p:cNvPr id="20" name="Shape 18"/>
          <p:cNvSpPr/>
          <p:nvPr/>
        </p:nvSpPr>
        <p:spPr>
          <a:xfrm>
            <a:off x="-483832" y="-2129752"/>
            <a:ext cx="2155469" cy="2155469"/>
          </a:xfrm>
          <a:prstGeom prst="ellipse">
            <a:avLst/>
          </a:prstGeom>
          <a:solidFill>
            <a:srgbClr val="8A0F1A">
              <a:alpha val="7486"/>
            </a:srgbClr>
          </a:solidFill>
          <a:ln/>
        </p:spPr>
      </p:sp>
      <p:sp>
        <p:nvSpPr>
          <p:cNvPr id="21" name="Shape 19"/>
          <p:cNvSpPr/>
          <p:nvPr/>
        </p:nvSpPr>
        <p:spPr>
          <a:xfrm>
            <a:off x="-304209" y="-1950129"/>
            <a:ext cx="1796225" cy="1796225"/>
          </a:xfrm>
          <a:prstGeom prst="ellipse">
            <a:avLst/>
          </a:prstGeom>
          <a:solidFill>
            <a:srgbClr val="8A0F1A">
              <a:alpha val="8191"/>
            </a:srgbClr>
          </a:solidFill>
          <a:ln/>
        </p:spPr>
      </p:sp>
      <p:sp>
        <p:nvSpPr>
          <p:cNvPr id="22" name="Shape 20"/>
          <p:cNvSpPr/>
          <p:nvPr/>
        </p:nvSpPr>
        <p:spPr>
          <a:xfrm>
            <a:off x="-124587" y="-1770507"/>
            <a:ext cx="1436980" cy="1436980"/>
          </a:xfrm>
          <a:prstGeom prst="ellipse">
            <a:avLst/>
          </a:prstGeom>
          <a:solidFill>
            <a:srgbClr val="8A0F1A">
              <a:alpha val="9466"/>
            </a:srgbClr>
          </a:solidFill>
          <a:ln/>
        </p:spPr>
      </p:sp>
      <p:sp>
        <p:nvSpPr>
          <p:cNvPr id="23" name="Shape 21"/>
          <p:cNvSpPr/>
          <p:nvPr/>
        </p:nvSpPr>
        <p:spPr>
          <a:xfrm>
            <a:off x="55035" y="-1590885"/>
            <a:ext cx="1077735" cy="1077735"/>
          </a:xfrm>
          <a:prstGeom prst="ellipse">
            <a:avLst/>
          </a:prstGeom>
          <a:solidFill>
            <a:srgbClr val="8A0F1A">
              <a:alpha val="10120"/>
            </a:srgbClr>
          </a:solidFill>
          <a:ln/>
        </p:spPr>
      </p:sp>
      <p:sp>
        <p:nvSpPr>
          <p:cNvPr id="24" name="Shape 22"/>
          <p:cNvSpPr/>
          <p:nvPr/>
        </p:nvSpPr>
        <p:spPr>
          <a:xfrm>
            <a:off x="234658" y="-1411262"/>
            <a:ext cx="718490" cy="718490"/>
          </a:xfrm>
          <a:prstGeom prst="ellipse">
            <a:avLst/>
          </a:prstGeom>
          <a:solidFill>
            <a:srgbClr val="8A0F1A">
              <a:alpha val="10280"/>
            </a:srgbClr>
          </a:solidFill>
          <a:ln/>
        </p:spPr>
      </p:sp>
      <p:sp>
        <p:nvSpPr>
          <p:cNvPr id="25" name="Shape 23"/>
          <p:cNvSpPr/>
          <p:nvPr/>
        </p:nvSpPr>
        <p:spPr>
          <a:xfrm>
            <a:off x="414280" y="-1231640"/>
            <a:ext cx="359245" cy="359245"/>
          </a:xfrm>
          <a:prstGeom prst="ellipse">
            <a:avLst/>
          </a:prstGeom>
          <a:solidFill>
            <a:srgbClr val="8A0F1A">
              <a:alpha val="10999"/>
            </a:srgbClr>
          </a:solidFill>
          <a:ln/>
        </p:spPr>
      </p:sp>
      <p:sp>
        <p:nvSpPr>
          <p:cNvPr id="26" name="Shape 24"/>
          <p:cNvSpPr/>
          <p:nvPr/>
        </p:nvSpPr>
        <p:spPr>
          <a:xfrm>
            <a:off x="895198" y="3602736"/>
            <a:ext cx="8621878" cy="8621878"/>
          </a:xfrm>
          <a:prstGeom prst="ellipse">
            <a:avLst/>
          </a:prstGeom>
          <a:solidFill>
            <a:srgbClr val="8A0F1A">
              <a:alpha val="2547"/>
            </a:srgbClr>
          </a:solidFill>
          <a:ln/>
        </p:spPr>
      </p:sp>
      <p:sp>
        <p:nvSpPr>
          <p:cNvPr id="27" name="Shape 25"/>
          <p:cNvSpPr/>
          <p:nvPr/>
        </p:nvSpPr>
        <p:spPr>
          <a:xfrm>
            <a:off x="1074820" y="3782358"/>
            <a:ext cx="8262633" cy="8262633"/>
          </a:xfrm>
          <a:prstGeom prst="ellipse">
            <a:avLst/>
          </a:prstGeom>
          <a:solidFill>
            <a:srgbClr val="8A0F1A">
              <a:alpha val="4218"/>
            </a:srgbClr>
          </a:solidFill>
          <a:ln/>
        </p:spPr>
      </p:sp>
      <p:sp>
        <p:nvSpPr>
          <p:cNvPr id="28" name="Shape 26"/>
          <p:cNvSpPr/>
          <p:nvPr/>
        </p:nvSpPr>
        <p:spPr>
          <a:xfrm>
            <a:off x="1254443" y="3961981"/>
            <a:ext cx="7903388" cy="7903388"/>
          </a:xfrm>
          <a:prstGeom prst="ellipse">
            <a:avLst/>
          </a:prstGeom>
          <a:solidFill>
            <a:srgbClr val="8A0F1A">
              <a:alpha val="4138"/>
            </a:srgbClr>
          </a:solidFill>
          <a:ln/>
        </p:spPr>
      </p:sp>
      <p:sp>
        <p:nvSpPr>
          <p:cNvPr id="29" name="Shape 27"/>
          <p:cNvSpPr/>
          <p:nvPr/>
        </p:nvSpPr>
        <p:spPr>
          <a:xfrm>
            <a:off x="1434065" y="4141603"/>
            <a:ext cx="7544143" cy="7544143"/>
          </a:xfrm>
          <a:prstGeom prst="ellipse">
            <a:avLst/>
          </a:prstGeom>
          <a:solidFill>
            <a:srgbClr val="8A0F1A">
              <a:alpha val="2636"/>
            </a:srgbClr>
          </a:solidFill>
          <a:ln/>
        </p:spPr>
      </p:sp>
      <p:sp>
        <p:nvSpPr>
          <p:cNvPr id="30" name="Shape 28"/>
          <p:cNvSpPr/>
          <p:nvPr/>
        </p:nvSpPr>
        <p:spPr>
          <a:xfrm>
            <a:off x="1613687" y="4321226"/>
            <a:ext cx="7184898" cy="7184898"/>
          </a:xfrm>
          <a:prstGeom prst="ellipse">
            <a:avLst/>
          </a:prstGeom>
          <a:solidFill>
            <a:srgbClr val="8A0F1A">
              <a:alpha val="2661"/>
            </a:srgbClr>
          </a:solidFill>
          <a:ln/>
        </p:spPr>
      </p:sp>
      <p:sp>
        <p:nvSpPr>
          <p:cNvPr id="31" name="Shape 29"/>
          <p:cNvSpPr/>
          <p:nvPr/>
        </p:nvSpPr>
        <p:spPr>
          <a:xfrm>
            <a:off x="1793310" y="4500848"/>
            <a:ext cx="6825653" cy="6825653"/>
          </a:xfrm>
          <a:prstGeom prst="ellipse">
            <a:avLst/>
          </a:prstGeom>
          <a:solidFill>
            <a:srgbClr val="8A0F1A">
              <a:alpha val="3304"/>
            </a:srgbClr>
          </a:solidFill>
          <a:ln/>
        </p:spPr>
      </p:sp>
      <p:sp>
        <p:nvSpPr>
          <p:cNvPr id="32" name="Shape 30"/>
          <p:cNvSpPr/>
          <p:nvPr/>
        </p:nvSpPr>
        <p:spPr>
          <a:xfrm>
            <a:off x="1972932" y="4680471"/>
            <a:ext cx="6466408" cy="6466408"/>
          </a:xfrm>
          <a:prstGeom prst="ellipse">
            <a:avLst/>
          </a:prstGeom>
          <a:solidFill>
            <a:srgbClr val="8A0F1A">
              <a:alpha val="3622"/>
            </a:srgbClr>
          </a:solidFill>
          <a:ln/>
        </p:spPr>
      </p:sp>
      <p:sp>
        <p:nvSpPr>
          <p:cNvPr id="33" name="Shape 31"/>
          <p:cNvSpPr/>
          <p:nvPr/>
        </p:nvSpPr>
        <p:spPr>
          <a:xfrm>
            <a:off x="2152555" y="4860093"/>
            <a:ext cx="6107163" cy="6107163"/>
          </a:xfrm>
          <a:prstGeom prst="ellipse">
            <a:avLst/>
          </a:prstGeom>
          <a:solidFill>
            <a:srgbClr val="8A0F1A">
              <a:alpha val="3650"/>
            </a:srgbClr>
          </a:solidFill>
          <a:ln/>
        </p:spPr>
      </p:sp>
      <p:sp>
        <p:nvSpPr>
          <p:cNvPr id="34" name="Shape 32"/>
          <p:cNvSpPr/>
          <p:nvPr/>
        </p:nvSpPr>
        <p:spPr>
          <a:xfrm>
            <a:off x="2332177" y="5039716"/>
            <a:ext cx="5747918" cy="5747918"/>
          </a:xfrm>
          <a:prstGeom prst="ellipse">
            <a:avLst/>
          </a:prstGeom>
          <a:solidFill>
            <a:srgbClr val="8A0F1A">
              <a:alpha val="3631"/>
            </a:srgbClr>
          </a:solidFill>
          <a:ln/>
        </p:spPr>
      </p:sp>
      <p:sp>
        <p:nvSpPr>
          <p:cNvPr id="35" name="Shape 33"/>
          <p:cNvSpPr/>
          <p:nvPr/>
        </p:nvSpPr>
        <p:spPr>
          <a:xfrm>
            <a:off x="2511800" y="5219338"/>
            <a:ext cx="5388674" cy="5388674"/>
          </a:xfrm>
          <a:prstGeom prst="ellipse">
            <a:avLst/>
          </a:prstGeom>
          <a:solidFill>
            <a:srgbClr val="8A0F1A">
              <a:alpha val="3693"/>
            </a:srgbClr>
          </a:solidFill>
          <a:ln/>
        </p:spPr>
      </p:sp>
      <p:sp>
        <p:nvSpPr>
          <p:cNvPr id="36" name="Shape 34"/>
          <p:cNvSpPr/>
          <p:nvPr/>
        </p:nvSpPr>
        <p:spPr>
          <a:xfrm>
            <a:off x="2691422" y="5398961"/>
            <a:ext cx="5029429" cy="5029429"/>
          </a:xfrm>
          <a:prstGeom prst="ellipse">
            <a:avLst/>
          </a:prstGeom>
          <a:solidFill>
            <a:srgbClr val="8A0F1A">
              <a:alpha val="4536"/>
            </a:srgbClr>
          </a:solidFill>
          <a:ln/>
        </p:spPr>
      </p:sp>
      <p:sp>
        <p:nvSpPr>
          <p:cNvPr id="37" name="Shape 35"/>
          <p:cNvSpPr/>
          <p:nvPr/>
        </p:nvSpPr>
        <p:spPr>
          <a:xfrm>
            <a:off x="2871045" y="5578583"/>
            <a:ext cx="4670184" cy="4670184"/>
          </a:xfrm>
          <a:prstGeom prst="ellipse">
            <a:avLst/>
          </a:prstGeom>
          <a:solidFill>
            <a:srgbClr val="8A0F1A">
              <a:alpha val="4737"/>
            </a:srgbClr>
          </a:solidFill>
          <a:ln/>
        </p:spPr>
      </p:sp>
      <p:sp>
        <p:nvSpPr>
          <p:cNvPr id="38" name="Shape 36"/>
          <p:cNvSpPr/>
          <p:nvPr/>
        </p:nvSpPr>
        <p:spPr>
          <a:xfrm>
            <a:off x="3050667" y="5758205"/>
            <a:ext cx="4310939" cy="4310939"/>
          </a:xfrm>
          <a:prstGeom prst="ellipse">
            <a:avLst/>
          </a:prstGeom>
          <a:solidFill>
            <a:srgbClr val="8A0F1A">
              <a:alpha val="4994"/>
            </a:srgbClr>
          </a:solidFill>
          <a:ln/>
        </p:spPr>
      </p:sp>
      <p:sp>
        <p:nvSpPr>
          <p:cNvPr id="39" name="Shape 37"/>
          <p:cNvSpPr/>
          <p:nvPr/>
        </p:nvSpPr>
        <p:spPr>
          <a:xfrm>
            <a:off x="3230289" y="5937828"/>
            <a:ext cx="3951694" cy="3951694"/>
          </a:xfrm>
          <a:prstGeom prst="ellipse">
            <a:avLst/>
          </a:prstGeom>
          <a:solidFill>
            <a:srgbClr val="8A0F1A">
              <a:alpha val="5272"/>
            </a:srgbClr>
          </a:solidFill>
          <a:ln/>
        </p:spPr>
      </p:sp>
      <p:sp>
        <p:nvSpPr>
          <p:cNvPr id="40" name="Shape 38"/>
          <p:cNvSpPr/>
          <p:nvPr/>
        </p:nvSpPr>
        <p:spPr>
          <a:xfrm>
            <a:off x="3409912" y="6117450"/>
            <a:ext cx="3592449" cy="3592449"/>
          </a:xfrm>
          <a:prstGeom prst="ellipse">
            <a:avLst/>
          </a:prstGeom>
          <a:solidFill>
            <a:srgbClr val="8A0F1A">
              <a:alpha val="5521"/>
            </a:srgbClr>
          </a:solidFill>
          <a:ln/>
        </p:spPr>
      </p:sp>
      <p:sp>
        <p:nvSpPr>
          <p:cNvPr id="41" name="Shape 39"/>
          <p:cNvSpPr/>
          <p:nvPr/>
        </p:nvSpPr>
        <p:spPr>
          <a:xfrm>
            <a:off x="3589534" y="6297073"/>
            <a:ext cx="3233204" cy="3233204"/>
          </a:xfrm>
          <a:prstGeom prst="ellipse">
            <a:avLst/>
          </a:prstGeom>
          <a:solidFill>
            <a:srgbClr val="8A0F1A">
              <a:alpha val="6496"/>
            </a:srgbClr>
          </a:solidFill>
          <a:ln/>
        </p:spPr>
      </p:sp>
      <p:sp>
        <p:nvSpPr>
          <p:cNvPr id="42" name="Shape 40"/>
          <p:cNvSpPr/>
          <p:nvPr/>
        </p:nvSpPr>
        <p:spPr>
          <a:xfrm>
            <a:off x="3769157" y="6476695"/>
            <a:ext cx="2873959" cy="2873959"/>
          </a:xfrm>
          <a:prstGeom prst="ellipse">
            <a:avLst/>
          </a:prstGeom>
          <a:solidFill>
            <a:srgbClr val="8A0F1A">
              <a:alpha val="6768"/>
            </a:srgbClr>
          </a:solidFill>
          <a:ln/>
        </p:spPr>
      </p:sp>
      <p:sp>
        <p:nvSpPr>
          <p:cNvPr id="43" name="Shape 41"/>
          <p:cNvSpPr/>
          <p:nvPr/>
        </p:nvSpPr>
        <p:spPr>
          <a:xfrm>
            <a:off x="3948779" y="6656318"/>
            <a:ext cx="2514714" cy="2514714"/>
          </a:xfrm>
          <a:prstGeom prst="ellipse">
            <a:avLst/>
          </a:prstGeom>
          <a:solidFill>
            <a:srgbClr val="8A0F1A">
              <a:alpha val="7123"/>
            </a:srgbClr>
          </a:solidFill>
          <a:ln/>
        </p:spPr>
      </p:sp>
      <p:sp>
        <p:nvSpPr>
          <p:cNvPr id="44" name="Shape 42"/>
          <p:cNvSpPr/>
          <p:nvPr/>
        </p:nvSpPr>
        <p:spPr>
          <a:xfrm>
            <a:off x="4128402" y="6835940"/>
            <a:ext cx="2155469" cy="2155469"/>
          </a:xfrm>
          <a:prstGeom prst="ellipse">
            <a:avLst/>
          </a:prstGeom>
          <a:solidFill>
            <a:srgbClr val="8A0F1A">
              <a:alpha val="7486"/>
            </a:srgbClr>
          </a:solidFill>
          <a:ln/>
        </p:spPr>
      </p:sp>
      <p:sp>
        <p:nvSpPr>
          <p:cNvPr id="45" name="Shape 43"/>
          <p:cNvSpPr/>
          <p:nvPr/>
        </p:nvSpPr>
        <p:spPr>
          <a:xfrm>
            <a:off x="4308024" y="7015563"/>
            <a:ext cx="1796225" cy="1796225"/>
          </a:xfrm>
          <a:prstGeom prst="ellipse">
            <a:avLst/>
          </a:prstGeom>
          <a:solidFill>
            <a:srgbClr val="8A0F1A">
              <a:alpha val="8191"/>
            </a:srgbClr>
          </a:solidFill>
          <a:ln/>
        </p:spPr>
      </p:sp>
      <p:sp>
        <p:nvSpPr>
          <p:cNvPr id="46" name="Shape 44"/>
          <p:cNvSpPr/>
          <p:nvPr/>
        </p:nvSpPr>
        <p:spPr>
          <a:xfrm>
            <a:off x="4487647" y="7195185"/>
            <a:ext cx="1436980" cy="1436980"/>
          </a:xfrm>
          <a:prstGeom prst="ellipse">
            <a:avLst/>
          </a:prstGeom>
          <a:solidFill>
            <a:srgbClr val="8A0F1A">
              <a:alpha val="9466"/>
            </a:srgbClr>
          </a:solidFill>
          <a:ln/>
        </p:spPr>
      </p:sp>
      <p:sp>
        <p:nvSpPr>
          <p:cNvPr id="47" name="Shape 45"/>
          <p:cNvSpPr/>
          <p:nvPr/>
        </p:nvSpPr>
        <p:spPr>
          <a:xfrm>
            <a:off x="4667269" y="7374807"/>
            <a:ext cx="1077735" cy="1077735"/>
          </a:xfrm>
          <a:prstGeom prst="ellipse">
            <a:avLst/>
          </a:prstGeom>
          <a:solidFill>
            <a:srgbClr val="8A0F1A">
              <a:alpha val="10120"/>
            </a:srgbClr>
          </a:solidFill>
          <a:ln/>
        </p:spPr>
      </p:sp>
      <p:sp>
        <p:nvSpPr>
          <p:cNvPr id="48" name="Shape 46"/>
          <p:cNvSpPr/>
          <p:nvPr/>
        </p:nvSpPr>
        <p:spPr>
          <a:xfrm>
            <a:off x="4846892" y="7554430"/>
            <a:ext cx="718490" cy="718490"/>
          </a:xfrm>
          <a:prstGeom prst="ellipse">
            <a:avLst/>
          </a:prstGeom>
          <a:solidFill>
            <a:srgbClr val="8A0F1A">
              <a:alpha val="10280"/>
            </a:srgbClr>
          </a:solidFill>
          <a:ln/>
        </p:spPr>
      </p:sp>
      <p:sp>
        <p:nvSpPr>
          <p:cNvPr id="49" name="Shape 47"/>
          <p:cNvSpPr/>
          <p:nvPr/>
        </p:nvSpPr>
        <p:spPr>
          <a:xfrm>
            <a:off x="5026514" y="7734052"/>
            <a:ext cx="359245" cy="359245"/>
          </a:xfrm>
          <a:prstGeom prst="ellipse">
            <a:avLst/>
          </a:prstGeom>
          <a:solidFill>
            <a:srgbClr val="8A0F1A">
              <a:alpha val="10999"/>
            </a:srgbClr>
          </a:solidFill>
          <a:ln/>
        </p:spPr>
      </p:sp>
      <p:sp>
        <p:nvSpPr>
          <p:cNvPr id="50" name="Text 48"/>
          <p:cNvSpPr/>
          <p:nvPr/>
        </p:nvSpPr>
        <p:spPr>
          <a:xfrm>
            <a:off x="678485" y="1051560"/>
            <a:ext cx="301752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Our stack</a:t>
            </a:r>
          </a:p>
        </p:txBody>
      </p:sp>
      <p:sp>
        <p:nvSpPr>
          <p:cNvPr id="51" name="Text 49"/>
          <p:cNvSpPr/>
          <p:nvPr/>
        </p:nvSpPr>
        <p:spPr>
          <a:xfrm>
            <a:off x="678485" y="1280160"/>
            <a:ext cx="31089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Integrate,</a:t>
            </a:r>
          </a:p>
        </p:txBody>
      </p:sp>
      <p:sp>
        <p:nvSpPr>
          <p:cNvPr id="52" name="Text 50"/>
          <p:cNvSpPr/>
          <p:nvPr/>
        </p:nvSpPr>
        <p:spPr>
          <a:xfrm>
            <a:off x="1351483" y="1737360"/>
            <a:ext cx="2788920" cy="646481"/>
          </a:xfrm>
          <a:prstGeom prst="rect">
            <a:avLst/>
          </a:prstGeom>
          <a:noFill/>
          <a:ln/>
        </p:spPr>
        <p:txBody>
          <a:bodyPr wrap="none" lIns="91440" tIns="45720" rIns="91440" bIns="45720" rtlCol="0" anchor="t">
            <a:spAutoFit/>
          </a:bodyPr>
          <a:lstStyle/>
          <a:p>
            <a:pPr indent="0" marL="0">
              <a:buNone/>
            </a:pPr>
            <a:r>
              <a:rPr lang="en-US" sz="2550" dirty="0" b="1">
                <a:solidFill>
                  <a:srgbClr val="EE0000"/>
                </a:solidFill>
                <a:latin typeface="Arial" pitchFamily="34" charset="0"/>
                <a:ea typeface="Arial" pitchFamily="34" charset="-122"/>
                <a:cs typeface="Arial" pitchFamily="34" charset="-120"/>
              </a:rPr>
              <a:t>not replace</a:t>
            </a:r>
          </a:p>
        </p:txBody>
      </p:sp>
      <p:sp>
        <p:nvSpPr>
          <p:cNvPr id="53" name="Shape 51"/>
          <p:cNvSpPr/>
          <p:nvPr/>
        </p:nvSpPr>
        <p:spPr>
          <a:xfrm rot="16200000">
            <a:off x="938174" y="187452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717804" y="2606040"/>
            <a:ext cx="324612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Every stage has a verified open-source and enterprise option, and a startup where one exists. Our pick favours what already runs and builds only thin glue.</a:t>
            </a:r>
          </a:p>
        </p:txBody>
      </p:sp>
      <p:sp>
        <p:nvSpPr>
          <p:cNvPr id="55" name="Text 53"/>
          <p:cNvSpPr/>
          <p:nvPr/>
        </p:nvSpPr>
        <p:spPr>
          <a:xfrm>
            <a:off x="709574" y="4023360"/>
            <a:ext cx="3108960" cy="585216"/>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3 gaps</a:t>
            </a:r>
          </a:p>
        </p:txBody>
      </p:sp>
      <p:sp>
        <p:nvSpPr>
          <p:cNvPr id="56" name="Text 54"/>
          <p:cNvSpPr/>
          <p:nvPr/>
        </p:nvSpPr>
        <p:spPr>
          <a:xfrm>
            <a:off x="715061" y="4617720"/>
            <a:ext cx="3108960" cy="338328"/>
          </a:xfrm>
          <a:prstGeom prst="rect">
            <a:avLst/>
          </a:prstGeom>
          <a:noFill/>
          <a:ln/>
        </p:spPr>
        <p:txBody>
          <a:bodyPr wrap="squar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Six stages already run. Galileo (Splunk AO since 7 Aug 2026) has scored production agents for 2 years, Arize exploring; Red Hat OpenShift AI is the open-source partner. Gaps: red teaming, runtime control, agent governance.</a:t>
            </a:r>
          </a:p>
        </p:txBody>
      </p:sp>
      <p:graphicFrame>
        <p:nvGraphicFramePr>
          <p:cNvPr id="300" name="Stack matrix table"/>
          <p:cNvGraphicFramePr>
            <a:graphicFrameLocks noGrp="1"/>
          </p:cNvGraphicFramePr>
          <p:nvPr/>
        </p:nvGraphicFramePr>
        <p:xfrm>
          <a:off x="4160520" y="1005840"/>
          <a:ext cx="7726680" cy="4700016"/>
        </p:xfrm>
        <a:graphic>
          <a:graphicData uri="http://schemas.openxmlformats.org/drawingml/2006/table">
            <a:tbl>
              <a:tblPr firstRow="1"/>
              <a:tblGrid>
                <a:gridCol w="1188720"/>
                <a:gridCol w="1554480"/>
                <a:gridCol w="1325880"/>
                <a:gridCol w="1600200"/>
                <a:gridCol w="2057400"/>
              </a:tblGrid>
              <a:tr h="310896">
                <a:tc>
                  <a:txBody>
                    <a:bodyPr/>
                    <a:lstStyle/>
                    <a:p>
                      <a:pPr algn="l" marL="0" indent="0">
                        <a:buNone/>
                      </a:pPr>
                      <a:r>
                        <a:rPr lang="en-US" sz="950" b="1" dirty="0">
                          <a:solidFill>
                            <a:srgbClr val="F5B700"/>
                          </a:solidFill>
                          <a:latin typeface="Arial"/>
                          <a:ea typeface="Arial"/>
                          <a:cs typeface="Arial"/>
                        </a:rPr>
                        <a:t>Stage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Open source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Startup</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Enterprise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Our pick</a:t>
                      </a:r>
                    </a:p>
                  </a:txBody>
                  <a:tcPr marL="73152" marR="45720" marT="0" marB="0" anchor="ctr">
                    <a:lnL w="0">
                      <a:noFill/>
                    </a:lnL>
                    <a:lnR w="0">
                      <a:noFill/>
                    </a:lnR>
                    <a:lnT w="0">
                      <a:noFill/>
                    </a:lnT>
                    <a:lnB w="9525">
                      <a:solidFill>
                        <a:srgbClr val="D9B48A"/>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Onboarding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Backstage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Credal (YC W23)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Red Hat Developer Hub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Developer Hub template emits the manifest</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Observability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OTel GenAI + Collector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Laminar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Galileo / Splunk AO; Arize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Keep Galileo, Arize (exploring); OTel dual export to lake</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Scoring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DeepEval, Ragas, MLflow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Confident AI (YC W25)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Galileo Luna, session metrics; Arize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Galileo primary, Arize (exploring); calibrate before gating</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Simulation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Red Hat SDG Hub, τ²-bench</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Coval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Gemini Enterprise user sim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SDG Hub + thin persona simulator</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Harness opt.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DSPy GEPA, Meta-Harness; AWS Strands Agents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Zenbase; Lucidic AI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Databricks Agent Bricks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GEPA service via MLflow; Meta-Harness pilot</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Red teaming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garak, PyRIT, DeepTeam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General Analysis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Cisco AI Defense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OSS on EvalHub; Cisco bake-off</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Runtime control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Agent Control, NeMo Guardrails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Golf (YC S25)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AWS AgentCore Policy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Gateway + MCP gateway + Agent Control</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Agent governance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Kagenti, CycloneDX</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Credal (YC W23)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watsonx.governance, ServiceNow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Thin registry, synced to our GRC</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Distribution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Agent Skills standard + MCP</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n/a</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Claude Code plugin marketplaces + managed settings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Pillar Mods Hub on the plugin format</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D9B48A"/>
                          </a:solidFill>
                          <a:latin typeface="Arial"/>
                          <a:ea typeface="Arial"/>
                          <a:cs typeface="Arial"/>
                        </a:rPr>
                        <a:t>Fine-tuning (opt.)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Red Hat Training Hub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Unsloth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OpenShift AI</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Training Hub pilot, after a plateau only</a:t>
                      </a:r>
                    </a:p>
                  </a:txBody>
                  <a:tcPr marL="73152" marR="45720" marT="0" marB="0" anchor="ctr">
                    <a:lnL w="0">
                      <a:noFill/>
                    </a:lnL>
                    <a:lnR w="0">
                      <a:noFill/>
                    </a:lnR>
                    <a:lnT w="0">
                      <a:noFill/>
                    </a:lnT>
                    <a:lnB w="9525">
                      <a:solidFill>
                        <a:srgbClr val="5A3A2E"/>
                      </a:solidFill>
                    </a:lnB>
                    <a:solidFill>
                      <a:srgbClr val="2A1A16"/>
                    </a:solidFill>
                  </a:tcPr>
                </a:tc>
              </a:tr>
            </a:tbl>
          </a:graphicData>
        </a:graphic>
      </p:graphicFrame>
      <p:sp>
        <p:nvSpPr>
          <p:cNvPr id="225" name="v2 225"/>
          <p:cNvSpPr/>
          <p:nvPr/>
        </p:nvSpPr>
        <p:spPr>
          <a:xfrm>
            <a:off x="4160520" y="5815584"/>
            <a:ext cx="7726680" cy="329184"/>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Startup = YC company where a credible one exists (none for distribution); Zenbase and General Analysis batches unverified. Arize and Lucidic AI are being explored. Picks are our assessment.</a:t>
            </a:r>
          </a:p>
        </p:txBody>
      </p:sp>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04 / 17</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1172261" y="-5298948"/>
            <a:ext cx="8621878" cy="8621878"/>
          </a:xfrm>
          <a:prstGeom prst="ellipse">
            <a:avLst/>
          </a:prstGeom>
          <a:solidFill>
            <a:srgbClr val="8A0F1A">
              <a:alpha val="2547"/>
            </a:srgbClr>
          </a:solidFill>
          <a:ln/>
        </p:spPr>
      </p:sp>
      <p:sp>
        <p:nvSpPr>
          <p:cNvPr id="3" name="Shape 1"/>
          <p:cNvSpPr/>
          <p:nvPr/>
        </p:nvSpPr>
        <p:spPr>
          <a:xfrm>
            <a:off x="1351883" y="-5119326"/>
            <a:ext cx="8262633" cy="8262633"/>
          </a:xfrm>
          <a:prstGeom prst="ellipse">
            <a:avLst/>
          </a:prstGeom>
          <a:solidFill>
            <a:srgbClr val="8A0F1A">
              <a:alpha val="4218"/>
            </a:srgbClr>
          </a:solidFill>
          <a:ln/>
        </p:spPr>
      </p:sp>
      <p:sp>
        <p:nvSpPr>
          <p:cNvPr id="4" name="Shape 2"/>
          <p:cNvSpPr/>
          <p:nvPr/>
        </p:nvSpPr>
        <p:spPr>
          <a:xfrm>
            <a:off x="1531506" y="-4939703"/>
            <a:ext cx="7903388" cy="7903388"/>
          </a:xfrm>
          <a:prstGeom prst="ellipse">
            <a:avLst/>
          </a:prstGeom>
          <a:solidFill>
            <a:srgbClr val="8A0F1A">
              <a:alpha val="4138"/>
            </a:srgbClr>
          </a:solidFill>
          <a:ln/>
        </p:spPr>
      </p:sp>
      <p:sp>
        <p:nvSpPr>
          <p:cNvPr id="5" name="Shape 3"/>
          <p:cNvSpPr/>
          <p:nvPr/>
        </p:nvSpPr>
        <p:spPr>
          <a:xfrm>
            <a:off x="1711128" y="-4760081"/>
            <a:ext cx="7544143" cy="7544143"/>
          </a:xfrm>
          <a:prstGeom prst="ellipse">
            <a:avLst/>
          </a:prstGeom>
          <a:solidFill>
            <a:srgbClr val="8A0F1A">
              <a:alpha val="2636"/>
            </a:srgbClr>
          </a:solidFill>
          <a:ln/>
        </p:spPr>
      </p:sp>
      <p:sp>
        <p:nvSpPr>
          <p:cNvPr id="6" name="Shape 4"/>
          <p:cNvSpPr/>
          <p:nvPr/>
        </p:nvSpPr>
        <p:spPr>
          <a:xfrm>
            <a:off x="1890751" y="-4580458"/>
            <a:ext cx="7184898" cy="7184898"/>
          </a:xfrm>
          <a:prstGeom prst="ellipse">
            <a:avLst/>
          </a:prstGeom>
          <a:solidFill>
            <a:srgbClr val="8A0F1A">
              <a:alpha val="2661"/>
            </a:srgbClr>
          </a:solidFill>
          <a:ln/>
        </p:spPr>
      </p:sp>
      <p:sp>
        <p:nvSpPr>
          <p:cNvPr id="7" name="Shape 5"/>
          <p:cNvSpPr/>
          <p:nvPr/>
        </p:nvSpPr>
        <p:spPr>
          <a:xfrm>
            <a:off x="2070373" y="-4400836"/>
            <a:ext cx="6825653" cy="6825653"/>
          </a:xfrm>
          <a:prstGeom prst="ellipse">
            <a:avLst/>
          </a:prstGeom>
          <a:solidFill>
            <a:srgbClr val="8A0F1A">
              <a:alpha val="3304"/>
            </a:srgbClr>
          </a:solidFill>
          <a:ln/>
        </p:spPr>
      </p:sp>
      <p:sp>
        <p:nvSpPr>
          <p:cNvPr id="8" name="Shape 6"/>
          <p:cNvSpPr/>
          <p:nvPr/>
        </p:nvSpPr>
        <p:spPr>
          <a:xfrm>
            <a:off x="2249996" y="-4221213"/>
            <a:ext cx="6466408" cy="6466408"/>
          </a:xfrm>
          <a:prstGeom prst="ellipse">
            <a:avLst/>
          </a:prstGeom>
          <a:solidFill>
            <a:srgbClr val="8A0F1A">
              <a:alpha val="3622"/>
            </a:srgbClr>
          </a:solidFill>
          <a:ln/>
        </p:spPr>
      </p:sp>
      <p:sp>
        <p:nvSpPr>
          <p:cNvPr id="9" name="Shape 7"/>
          <p:cNvSpPr/>
          <p:nvPr/>
        </p:nvSpPr>
        <p:spPr>
          <a:xfrm>
            <a:off x="2429618" y="-4041591"/>
            <a:ext cx="6107163" cy="6107163"/>
          </a:xfrm>
          <a:prstGeom prst="ellipse">
            <a:avLst/>
          </a:prstGeom>
          <a:solidFill>
            <a:srgbClr val="8A0F1A">
              <a:alpha val="3650"/>
            </a:srgbClr>
          </a:solidFill>
          <a:ln/>
        </p:spPr>
      </p:sp>
      <p:sp>
        <p:nvSpPr>
          <p:cNvPr id="10" name="Shape 8"/>
          <p:cNvSpPr/>
          <p:nvPr/>
        </p:nvSpPr>
        <p:spPr>
          <a:xfrm>
            <a:off x="2609240" y="-3861968"/>
            <a:ext cx="5747918" cy="5747918"/>
          </a:xfrm>
          <a:prstGeom prst="ellipse">
            <a:avLst/>
          </a:prstGeom>
          <a:solidFill>
            <a:srgbClr val="8A0F1A">
              <a:alpha val="3631"/>
            </a:srgbClr>
          </a:solidFill>
          <a:ln/>
        </p:spPr>
      </p:sp>
      <p:sp>
        <p:nvSpPr>
          <p:cNvPr id="11" name="Shape 9"/>
          <p:cNvSpPr/>
          <p:nvPr/>
        </p:nvSpPr>
        <p:spPr>
          <a:xfrm>
            <a:off x="2788863" y="-3682346"/>
            <a:ext cx="5388674" cy="5388674"/>
          </a:xfrm>
          <a:prstGeom prst="ellipse">
            <a:avLst/>
          </a:prstGeom>
          <a:solidFill>
            <a:srgbClr val="8A0F1A">
              <a:alpha val="3693"/>
            </a:srgbClr>
          </a:solidFill>
          <a:ln/>
        </p:spPr>
      </p:sp>
      <p:sp>
        <p:nvSpPr>
          <p:cNvPr id="12" name="Shape 10"/>
          <p:cNvSpPr/>
          <p:nvPr/>
        </p:nvSpPr>
        <p:spPr>
          <a:xfrm>
            <a:off x="2968485" y="-3502723"/>
            <a:ext cx="5029429" cy="5029429"/>
          </a:xfrm>
          <a:prstGeom prst="ellipse">
            <a:avLst/>
          </a:prstGeom>
          <a:solidFill>
            <a:srgbClr val="8A0F1A">
              <a:alpha val="4536"/>
            </a:srgbClr>
          </a:solidFill>
          <a:ln/>
        </p:spPr>
      </p:sp>
      <p:sp>
        <p:nvSpPr>
          <p:cNvPr id="13" name="Shape 11"/>
          <p:cNvSpPr/>
          <p:nvPr/>
        </p:nvSpPr>
        <p:spPr>
          <a:xfrm>
            <a:off x="3148108" y="-3323101"/>
            <a:ext cx="4670184" cy="4670184"/>
          </a:xfrm>
          <a:prstGeom prst="ellipse">
            <a:avLst/>
          </a:prstGeom>
          <a:solidFill>
            <a:srgbClr val="8A0F1A">
              <a:alpha val="4737"/>
            </a:srgbClr>
          </a:solidFill>
          <a:ln/>
        </p:spPr>
      </p:sp>
      <p:sp>
        <p:nvSpPr>
          <p:cNvPr id="14" name="Shape 12"/>
          <p:cNvSpPr/>
          <p:nvPr/>
        </p:nvSpPr>
        <p:spPr>
          <a:xfrm>
            <a:off x="3327730" y="-3143479"/>
            <a:ext cx="4310939" cy="4310939"/>
          </a:xfrm>
          <a:prstGeom prst="ellipse">
            <a:avLst/>
          </a:prstGeom>
          <a:solidFill>
            <a:srgbClr val="8A0F1A">
              <a:alpha val="4994"/>
            </a:srgbClr>
          </a:solidFill>
          <a:ln/>
        </p:spPr>
      </p:sp>
      <p:sp>
        <p:nvSpPr>
          <p:cNvPr id="15" name="Shape 13"/>
          <p:cNvSpPr/>
          <p:nvPr/>
        </p:nvSpPr>
        <p:spPr>
          <a:xfrm>
            <a:off x="3507353" y="-2963856"/>
            <a:ext cx="3951694" cy="3951694"/>
          </a:xfrm>
          <a:prstGeom prst="ellipse">
            <a:avLst/>
          </a:prstGeom>
          <a:solidFill>
            <a:srgbClr val="8A0F1A">
              <a:alpha val="5272"/>
            </a:srgbClr>
          </a:solidFill>
          <a:ln/>
        </p:spPr>
      </p:sp>
      <p:sp>
        <p:nvSpPr>
          <p:cNvPr id="16" name="Shape 14"/>
          <p:cNvSpPr/>
          <p:nvPr/>
        </p:nvSpPr>
        <p:spPr>
          <a:xfrm>
            <a:off x="3686975" y="-2784234"/>
            <a:ext cx="3592449" cy="3592449"/>
          </a:xfrm>
          <a:prstGeom prst="ellipse">
            <a:avLst/>
          </a:prstGeom>
          <a:solidFill>
            <a:srgbClr val="8A0F1A">
              <a:alpha val="5521"/>
            </a:srgbClr>
          </a:solidFill>
          <a:ln/>
        </p:spPr>
      </p:sp>
      <p:sp>
        <p:nvSpPr>
          <p:cNvPr id="17" name="Shape 15"/>
          <p:cNvSpPr/>
          <p:nvPr/>
        </p:nvSpPr>
        <p:spPr>
          <a:xfrm>
            <a:off x="3866598" y="-2604611"/>
            <a:ext cx="3233204" cy="3233204"/>
          </a:xfrm>
          <a:prstGeom prst="ellipse">
            <a:avLst/>
          </a:prstGeom>
          <a:solidFill>
            <a:srgbClr val="8A0F1A">
              <a:alpha val="6496"/>
            </a:srgbClr>
          </a:solidFill>
          <a:ln/>
        </p:spPr>
      </p:sp>
      <p:sp>
        <p:nvSpPr>
          <p:cNvPr id="18" name="Shape 16"/>
          <p:cNvSpPr/>
          <p:nvPr/>
        </p:nvSpPr>
        <p:spPr>
          <a:xfrm>
            <a:off x="4046220" y="-2424989"/>
            <a:ext cx="2873959" cy="2873959"/>
          </a:xfrm>
          <a:prstGeom prst="ellipse">
            <a:avLst/>
          </a:prstGeom>
          <a:solidFill>
            <a:srgbClr val="8A0F1A">
              <a:alpha val="6768"/>
            </a:srgbClr>
          </a:solidFill>
          <a:ln/>
        </p:spPr>
      </p:sp>
      <p:sp>
        <p:nvSpPr>
          <p:cNvPr id="19" name="Shape 17"/>
          <p:cNvSpPr/>
          <p:nvPr/>
        </p:nvSpPr>
        <p:spPr>
          <a:xfrm>
            <a:off x="4225842" y="-2245366"/>
            <a:ext cx="2514714" cy="2514714"/>
          </a:xfrm>
          <a:prstGeom prst="ellipse">
            <a:avLst/>
          </a:prstGeom>
          <a:solidFill>
            <a:srgbClr val="8A0F1A">
              <a:alpha val="7123"/>
            </a:srgbClr>
          </a:solidFill>
          <a:ln/>
        </p:spPr>
      </p:sp>
      <p:sp>
        <p:nvSpPr>
          <p:cNvPr id="20" name="Shape 18"/>
          <p:cNvSpPr/>
          <p:nvPr/>
        </p:nvSpPr>
        <p:spPr>
          <a:xfrm>
            <a:off x="4405465" y="-2065744"/>
            <a:ext cx="2155469" cy="2155469"/>
          </a:xfrm>
          <a:prstGeom prst="ellipse">
            <a:avLst/>
          </a:prstGeom>
          <a:solidFill>
            <a:srgbClr val="8A0F1A">
              <a:alpha val="7486"/>
            </a:srgbClr>
          </a:solidFill>
          <a:ln/>
        </p:spPr>
      </p:sp>
      <p:sp>
        <p:nvSpPr>
          <p:cNvPr id="21" name="Shape 19"/>
          <p:cNvSpPr/>
          <p:nvPr/>
        </p:nvSpPr>
        <p:spPr>
          <a:xfrm>
            <a:off x="4585087" y="-1886121"/>
            <a:ext cx="1796225" cy="1796225"/>
          </a:xfrm>
          <a:prstGeom prst="ellipse">
            <a:avLst/>
          </a:prstGeom>
          <a:solidFill>
            <a:srgbClr val="8A0F1A">
              <a:alpha val="8191"/>
            </a:srgbClr>
          </a:solidFill>
          <a:ln/>
        </p:spPr>
      </p:sp>
      <p:sp>
        <p:nvSpPr>
          <p:cNvPr id="22" name="Shape 20"/>
          <p:cNvSpPr/>
          <p:nvPr/>
        </p:nvSpPr>
        <p:spPr>
          <a:xfrm>
            <a:off x="4764710" y="-1706499"/>
            <a:ext cx="1436980" cy="1436980"/>
          </a:xfrm>
          <a:prstGeom prst="ellipse">
            <a:avLst/>
          </a:prstGeom>
          <a:solidFill>
            <a:srgbClr val="8A0F1A">
              <a:alpha val="9466"/>
            </a:srgbClr>
          </a:solidFill>
          <a:ln/>
        </p:spPr>
      </p:sp>
      <p:sp>
        <p:nvSpPr>
          <p:cNvPr id="23" name="Shape 21"/>
          <p:cNvSpPr/>
          <p:nvPr/>
        </p:nvSpPr>
        <p:spPr>
          <a:xfrm>
            <a:off x="4944332" y="-1526877"/>
            <a:ext cx="1077735" cy="1077735"/>
          </a:xfrm>
          <a:prstGeom prst="ellipse">
            <a:avLst/>
          </a:prstGeom>
          <a:solidFill>
            <a:srgbClr val="8A0F1A">
              <a:alpha val="10120"/>
            </a:srgbClr>
          </a:solidFill>
          <a:ln/>
        </p:spPr>
      </p:sp>
      <p:sp>
        <p:nvSpPr>
          <p:cNvPr id="24" name="Shape 22"/>
          <p:cNvSpPr/>
          <p:nvPr/>
        </p:nvSpPr>
        <p:spPr>
          <a:xfrm>
            <a:off x="5123955" y="-1347254"/>
            <a:ext cx="718490" cy="718490"/>
          </a:xfrm>
          <a:prstGeom prst="ellipse">
            <a:avLst/>
          </a:prstGeom>
          <a:solidFill>
            <a:srgbClr val="8A0F1A">
              <a:alpha val="10280"/>
            </a:srgbClr>
          </a:solidFill>
          <a:ln/>
        </p:spPr>
      </p:sp>
      <p:sp>
        <p:nvSpPr>
          <p:cNvPr id="25" name="Shape 23"/>
          <p:cNvSpPr/>
          <p:nvPr/>
        </p:nvSpPr>
        <p:spPr>
          <a:xfrm>
            <a:off x="5303577" y="-1167632"/>
            <a:ext cx="359245" cy="359245"/>
          </a:xfrm>
          <a:prstGeom prst="ellipse">
            <a:avLst/>
          </a:prstGeom>
          <a:solidFill>
            <a:srgbClr val="8A0F1A">
              <a:alpha val="10999"/>
            </a:srgbClr>
          </a:solidFill>
          <a:ln/>
        </p:spPr>
      </p:sp>
      <p:sp>
        <p:nvSpPr>
          <p:cNvPr id="26" name="Shape 24"/>
          <p:cNvSpPr/>
          <p:nvPr/>
        </p:nvSpPr>
        <p:spPr>
          <a:xfrm>
            <a:off x="-4889297" y="3577133"/>
            <a:ext cx="8621878" cy="8621878"/>
          </a:xfrm>
          <a:prstGeom prst="ellipse">
            <a:avLst/>
          </a:prstGeom>
          <a:solidFill>
            <a:srgbClr val="8A0F1A">
              <a:alpha val="2547"/>
            </a:srgbClr>
          </a:solidFill>
          <a:ln/>
        </p:spPr>
      </p:sp>
      <p:sp>
        <p:nvSpPr>
          <p:cNvPr id="27" name="Shape 25"/>
          <p:cNvSpPr/>
          <p:nvPr/>
        </p:nvSpPr>
        <p:spPr>
          <a:xfrm>
            <a:off x="-4709674" y="3756755"/>
            <a:ext cx="8262633" cy="8262633"/>
          </a:xfrm>
          <a:prstGeom prst="ellipse">
            <a:avLst/>
          </a:prstGeom>
          <a:solidFill>
            <a:srgbClr val="8A0F1A">
              <a:alpha val="4218"/>
            </a:srgbClr>
          </a:solidFill>
          <a:ln/>
        </p:spPr>
      </p:sp>
      <p:sp>
        <p:nvSpPr>
          <p:cNvPr id="28" name="Shape 26"/>
          <p:cNvSpPr/>
          <p:nvPr/>
        </p:nvSpPr>
        <p:spPr>
          <a:xfrm>
            <a:off x="-4530052" y="3936378"/>
            <a:ext cx="7903388" cy="7903388"/>
          </a:xfrm>
          <a:prstGeom prst="ellipse">
            <a:avLst/>
          </a:prstGeom>
          <a:solidFill>
            <a:srgbClr val="8A0F1A">
              <a:alpha val="4138"/>
            </a:srgbClr>
          </a:solidFill>
          <a:ln/>
        </p:spPr>
      </p:sp>
      <p:sp>
        <p:nvSpPr>
          <p:cNvPr id="29" name="Shape 27"/>
          <p:cNvSpPr/>
          <p:nvPr/>
        </p:nvSpPr>
        <p:spPr>
          <a:xfrm>
            <a:off x="-4350429" y="4116000"/>
            <a:ext cx="7544143" cy="7544143"/>
          </a:xfrm>
          <a:prstGeom prst="ellipse">
            <a:avLst/>
          </a:prstGeom>
          <a:solidFill>
            <a:srgbClr val="8A0F1A">
              <a:alpha val="2636"/>
            </a:srgbClr>
          </a:solidFill>
          <a:ln/>
        </p:spPr>
      </p:sp>
      <p:sp>
        <p:nvSpPr>
          <p:cNvPr id="30" name="Shape 28"/>
          <p:cNvSpPr/>
          <p:nvPr/>
        </p:nvSpPr>
        <p:spPr>
          <a:xfrm>
            <a:off x="-4170807" y="4295623"/>
            <a:ext cx="7184898" cy="7184898"/>
          </a:xfrm>
          <a:prstGeom prst="ellipse">
            <a:avLst/>
          </a:prstGeom>
          <a:solidFill>
            <a:srgbClr val="8A0F1A">
              <a:alpha val="2661"/>
            </a:srgbClr>
          </a:solidFill>
          <a:ln/>
        </p:spPr>
      </p:sp>
      <p:sp>
        <p:nvSpPr>
          <p:cNvPr id="31" name="Shape 29"/>
          <p:cNvSpPr/>
          <p:nvPr/>
        </p:nvSpPr>
        <p:spPr>
          <a:xfrm>
            <a:off x="-3991185" y="4475245"/>
            <a:ext cx="6825653" cy="6825653"/>
          </a:xfrm>
          <a:prstGeom prst="ellipse">
            <a:avLst/>
          </a:prstGeom>
          <a:solidFill>
            <a:srgbClr val="8A0F1A">
              <a:alpha val="3304"/>
            </a:srgbClr>
          </a:solidFill>
          <a:ln/>
        </p:spPr>
      </p:sp>
      <p:sp>
        <p:nvSpPr>
          <p:cNvPr id="32" name="Shape 30"/>
          <p:cNvSpPr/>
          <p:nvPr/>
        </p:nvSpPr>
        <p:spPr>
          <a:xfrm>
            <a:off x="-3811562" y="4654868"/>
            <a:ext cx="6466408" cy="6466408"/>
          </a:xfrm>
          <a:prstGeom prst="ellipse">
            <a:avLst/>
          </a:prstGeom>
          <a:solidFill>
            <a:srgbClr val="8A0F1A">
              <a:alpha val="3622"/>
            </a:srgbClr>
          </a:solidFill>
          <a:ln/>
        </p:spPr>
      </p:sp>
      <p:sp>
        <p:nvSpPr>
          <p:cNvPr id="33" name="Shape 31"/>
          <p:cNvSpPr/>
          <p:nvPr/>
        </p:nvSpPr>
        <p:spPr>
          <a:xfrm>
            <a:off x="-3631940" y="4834490"/>
            <a:ext cx="6107163" cy="6107163"/>
          </a:xfrm>
          <a:prstGeom prst="ellipse">
            <a:avLst/>
          </a:prstGeom>
          <a:solidFill>
            <a:srgbClr val="8A0F1A">
              <a:alpha val="3650"/>
            </a:srgbClr>
          </a:solidFill>
          <a:ln/>
        </p:spPr>
      </p:sp>
      <p:sp>
        <p:nvSpPr>
          <p:cNvPr id="34" name="Shape 32"/>
          <p:cNvSpPr/>
          <p:nvPr/>
        </p:nvSpPr>
        <p:spPr>
          <a:xfrm>
            <a:off x="-3452317" y="5014112"/>
            <a:ext cx="5747918" cy="5747918"/>
          </a:xfrm>
          <a:prstGeom prst="ellipse">
            <a:avLst/>
          </a:prstGeom>
          <a:solidFill>
            <a:srgbClr val="8A0F1A">
              <a:alpha val="3631"/>
            </a:srgbClr>
          </a:solidFill>
          <a:ln/>
        </p:spPr>
      </p:sp>
      <p:sp>
        <p:nvSpPr>
          <p:cNvPr id="35" name="Shape 33"/>
          <p:cNvSpPr/>
          <p:nvPr/>
        </p:nvSpPr>
        <p:spPr>
          <a:xfrm>
            <a:off x="-3272695" y="5193735"/>
            <a:ext cx="5388674" cy="5388674"/>
          </a:xfrm>
          <a:prstGeom prst="ellipse">
            <a:avLst/>
          </a:prstGeom>
          <a:solidFill>
            <a:srgbClr val="8A0F1A">
              <a:alpha val="3693"/>
            </a:srgbClr>
          </a:solidFill>
          <a:ln/>
        </p:spPr>
      </p:sp>
      <p:sp>
        <p:nvSpPr>
          <p:cNvPr id="36" name="Shape 34"/>
          <p:cNvSpPr/>
          <p:nvPr/>
        </p:nvSpPr>
        <p:spPr>
          <a:xfrm>
            <a:off x="-3093072" y="5373357"/>
            <a:ext cx="5029429" cy="5029429"/>
          </a:xfrm>
          <a:prstGeom prst="ellipse">
            <a:avLst/>
          </a:prstGeom>
          <a:solidFill>
            <a:srgbClr val="8A0F1A">
              <a:alpha val="4536"/>
            </a:srgbClr>
          </a:solidFill>
          <a:ln/>
        </p:spPr>
      </p:sp>
      <p:sp>
        <p:nvSpPr>
          <p:cNvPr id="37" name="Shape 35"/>
          <p:cNvSpPr/>
          <p:nvPr/>
        </p:nvSpPr>
        <p:spPr>
          <a:xfrm>
            <a:off x="-2913450" y="5552980"/>
            <a:ext cx="4670184" cy="4670184"/>
          </a:xfrm>
          <a:prstGeom prst="ellipse">
            <a:avLst/>
          </a:prstGeom>
          <a:solidFill>
            <a:srgbClr val="8A0F1A">
              <a:alpha val="4737"/>
            </a:srgbClr>
          </a:solidFill>
          <a:ln/>
        </p:spPr>
      </p:sp>
      <p:sp>
        <p:nvSpPr>
          <p:cNvPr id="38" name="Shape 36"/>
          <p:cNvSpPr/>
          <p:nvPr/>
        </p:nvSpPr>
        <p:spPr>
          <a:xfrm>
            <a:off x="-2733827" y="5732602"/>
            <a:ext cx="4310939" cy="4310939"/>
          </a:xfrm>
          <a:prstGeom prst="ellipse">
            <a:avLst/>
          </a:prstGeom>
          <a:solidFill>
            <a:srgbClr val="8A0F1A">
              <a:alpha val="4994"/>
            </a:srgbClr>
          </a:solidFill>
          <a:ln/>
        </p:spPr>
      </p:sp>
      <p:sp>
        <p:nvSpPr>
          <p:cNvPr id="39" name="Shape 37"/>
          <p:cNvSpPr/>
          <p:nvPr/>
        </p:nvSpPr>
        <p:spPr>
          <a:xfrm>
            <a:off x="-2554205" y="5912225"/>
            <a:ext cx="3951694" cy="3951694"/>
          </a:xfrm>
          <a:prstGeom prst="ellipse">
            <a:avLst/>
          </a:prstGeom>
          <a:solidFill>
            <a:srgbClr val="8A0F1A">
              <a:alpha val="5272"/>
            </a:srgbClr>
          </a:solidFill>
          <a:ln/>
        </p:spPr>
      </p:sp>
      <p:sp>
        <p:nvSpPr>
          <p:cNvPr id="40" name="Shape 38"/>
          <p:cNvSpPr/>
          <p:nvPr/>
        </p:nvSpPr>
        <p:spPr>
          <a:xfrm>
            <a:off x="-2374583" y="6091847"/>
            <a:ext cx="3592449" cy="3592449"/>
          </a:xfrm>
          <a:prstGeom prst="ellipse">
            <a:avLst/>
          </a:prstGeom>
          <a:solidFill>
            <a:srgbClr val="8A0F1A">
              <a:alpha val="5521"/>
            </a:srgbClr>
          </a:solidFill>
          <a:ln/>
        </p:spPr>
      </p:sp>
      <p:sp>
        <p:nvSpPr>
          <p:cNvPr id="41" name="Shape 39"/>
          <p:cNvSpPr/>
          <p:nvPr/>
        </p:nvSpPr>
        <p:spPr>
          <a:xfrm>
            <a:off x="-2194960" y="6271470"/>
            <a:ext cx="3233204" cy="3233204"/>
          </a:xfrm>
          <a:prstGeom prst="ellipse">
            <a:avLst/>
          </a:prstGeom>
          <a:solidFill>
            <a:srgbClr val="8A0F1A">
              <a:alpha val="6496"/>
            </a:srgbClr>
          </a:solidFill>
          <a:ln/>
        </p:spPr>
      </p:sp>
      <p:sp>
        <p:nvSpPr>
          <p:cNvPr id="42" name="Shape 40"/>
          <p:cNvSpPr/>
          <p:nvPr/>
        </p:nvSpPr>
        <p:spPr>
          <a:xfrm>
            <a:off x="-2015338" y="6451092"/>
            <a:ext cx="2873959" cy="2873959"/>
          </a:xfrm>
          <a:prstGeom prst="ellipse">
            <a:avLst/>
          </a:prstGeom>
          <a:solidFill>
            <a:srgbClr val="8A0F1A">
              <a:alpha val="6768"/>
            </a:srgbClr>
          </a:solidFill>
          <a:ln/>
        </p:spPr>
      </p:sp>
      <p:sp>
        <p:nvSpPr>
          <p:cNvPr id="43" name="Shape 41"/>
          <p:cNvSpPr/>
          <p:nvPr/>
        </p:nvSpPr>
        <p:spPr>
          <a:xfrm>
            <a:off x="-1835715" y="6630714"/>
            <a:ext cx="2514714" cy="2514714"/>
          </a:xfrm>
          <a:prstGeom prst="ellipse">
            <a:avLst/>
          </a:prstGeom>
          <a:solidFill>
            <a:srgbClr val="8A0F1A">
              <a:alpha val="7123"/>
            </a:srgbClr>
          </a:solidFill>
          <a:ln/>
        </p:spPr>
      </p:sp>
      <p:sp>
        <p:nvSpPr>
          <p:cNvPr id="44" name="Shape 42"/>
          <p:cNvSpPr/>
          <p:nvPr/>
        </p:nvSpPr>
        <p:spPr>
          <a:xfrm>
            <a:off x="-1656093" y="6810337"/>
            <a:ext cx="2155469" cy="2155469"/>
          </a:xfrm>
          <a:prstGeom prst="ellipse">
            <a:avLst/>
          </a:prstGeom>
          <a:solidFill>
            <a:srgbClr val="8A0F1A">
              <a:alpha val="7486"/>
            </a:srgbClr>
          </a:solidFill>
          <a:ln/>
        </p:spPr>
      </p:sp>
      <p:sp>
        <p:nvSpPr>
          <p:cNvPr id="45" name="Shape 43"/>
          <p:cNvSpPr/>
          <p:nvPr/>
        </p:nvSpPr>
        <p:spPr>
          <a:xfrm>
            <a:off x="-1476470" y="6989959"/>
            <a:ext cx="1796225" cy="1796225"/>
          </a:xfrm>
          <a:prstGeom prst="ellipse">
            <a:avLst/>
          </a:prstGeom>
          <a:solidFill>
            <a:srgbClr val="8A0F1A">
              <a:alpha val="8191"/>
            </a:srgbClr>
          </a:solidFill>
          <a:ln/>
        </p:spPr>
      </p:sp>
      <p:sp>
        <p:nvSpPr>
          <p:cNvPr id="46" name="Shape 44"/>
          <p:cNvSpPr/>
          <p:nvPr/>
        </p:nvSpPr>
        <p:spPr>
          <a:xfrm>
            <a:off x="-1296848" y="7169582"/>
            <a:ext cx="1436980" cy="1436980"/>
          </a:xfrm>
          <a:prstGeom prst="ellipse">
            <a:avLst/>
          </a:prstGeom>
          <a:solidFill>
            <a:srgbClr val="8A0F1A">
              <a:alpha val="9466"/>
            </a:srgbClr>
          </a:solidFill>
          <a:ln/>
        </p:spPr>
      </p:sp>
      <p:sp>
        <p:nvSpPr>
          <p:cNvPr id="47" name="Shape 45"/>
          <p:cNvSpPr/>
          <p:nvPr/>
        </p:nvSpPr>
        <p:spPr>
          <a:xfrm>
            <a:off x="-1117225" y="7349204"/>
            <a:ext cx="1077735" cy="1077735"/>
          </a:xfrm>
          <a:prstGeom prst="ellipse">
            <a:avLst/>
          </a:prstGeom>
          <a:solidFill>
            <a:srgbClr val="8A0F1A">
              <a:alpha val="10120"/>
            </a:srgbClr>
          </a:solidFill>
          <a:ln/>
        </p:spPr>
      </p:sp>
      <p:sp>
        <p:nvSpPr>
          <p:cNvPr id="48" name="Shape 46"/>
          <p:cNvSpPr/>
          <p:nvPr/>
        </p:nvSpPr>
        <p:spPr>
          <a:xfrm>
            <a:off x="-937603" y="7528827"/>
            <a:ext cx="718490" cy="718490"/>
          </a:xfrm>
          <a:prstGeom prst="ellipse">
            <a:avLst/>
          </a:prstGeom>
          <a:solidFill>
            <a:srgbClr val="8A0F1A">
              <a:alpha val="10280"/>
            </a:srgbClr>
          </a:solidFill>
          <a:ln/>
        </p:spPr>
      </p:sp>
      <p:sp>
        <p:nvSpPr>
          <p:cNvPr id="49" name="Shape 47"/>
          <p:cNvSpPr/>
          <p:nvPr/>
        </p:nvSpPr>
        <p:spPr>
          <a:xfrm>
            <a:off x="-757980" y="7708449"/>
            <a:ext cx="359245" cy="359245"/>
          </a:xfrm>
          <a:prstGeom prst="ellipse">
            <a:avLst/>
          </a:prstGeom>
          <a:solidFill>
            <a:srgbClr val="8A0F1A">
              <a:alpha val="10999"/>
            </a:srgbClr>
          </a:solidFill>
          <a:ln/>
        </p:spPr>
      </p:sp>
      <p:sp>
        <p:nvSpPr>
          <p:cNvPr id="50" name="Text 48"/>
          <p:cNvSpPr/>
          <p:nvPr/>
        </p:nvSpPr>
        <p:spPr>
          <a:xfrm>
            <a:off x="830275" y="1394460"/>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Agent governance</a:t>
            </a:r>
          </a:p>
        </p:txBody>
      </p:sp>
      <p:sp>
        <p:nvSpPr>
          <p:cNvPr id="51" name="Text 49"/>
          <p:cNvSpPr/>
          <p:nvPr/>
        </p:nvSpPr>
        <p:spPr>
          <a:xfrm>
            <a:off x="829361" y="1623060"/>
            <a:ext cx="35661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Govern agents,</a:t>
            </a:r>
          </a:p>
        </p:txBody>
      </p:sp>
      <p:sp>
        <p:nvSpPr>
          <p:cNvPr id="52" name="Text 50"/>
          <p:cNvSpPr/>
          <p:nvPr/>
        </p:nvSpPr>
        <p:spPr>
          <a:xfrm>
            <a:off x="1502359" y="2115007"/>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not just models</a:t>
            </a:r>
          </a:p>
        </p:txBody>
      </p:sp>
      <p:sp>
        <p:nvSpPr>
          <p:cNvPr id="53" name="Shape 51"/>
          <p:cNvSpPr/>
          <p:nvPr/>
        </p:nvSpPr>
        <p:spPr>
          <a:xfrm rot="16200000">
            <a:off x="1089965" y="224028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Shape 52"/>
          <p:cNvSpPr/>
          <p:nvPr/>
        </p:nvSpPr>
        <p:spPr>
          <a:xfrm>
            <a:off x="869594" y="3094330"/>
            <a:ext cx="2743200" cy="325526"/>
          </a:xfrm>
          <a:prstGeom prst="roundRect">
            <a:avLst>
              <a:gd name="adj" fmla="val 50000"/>
            </a:avLst>
          </a:prstGeom>
          <a:solidFill>
            <a:srgbClr val="8A0F1A">
              <a:alpha val="15600"/>
            </a:srgbClr>
          </a:solidFill>
          <a:ln w="6350">
            <a:solidFill>
              <a:srgbClr val="D9B48A"/>
            </a:solidFill>
            <a:prstDash val="solid"/>
          </a:ln>
        </p:spPr>
      </p:sp>
      <p:sp>
        <p:nvSpPr>
          <p:cNvPr id="55" name="Text 53"/>
          <p:cNvSpPr/>
          <p:nvPr/>
        </p:nvSpPr>
        <p:spPr>
          <a:xfrm>
            <a:off x="1181405" y="3129991"/>
            <a:ext cx="2468880" cy="261518"/>
          </a:xfrm>
          <a:prstGeom prst="rect">
            <a:avLst/>
          </a:prstGeom>
          <a:noFill/>
          <a:ln/>
        </p:spPr>
        <p:txBody>
          <a:bodyPr wrap="non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Tier = impact × autonomy level</a:t>
            </a:r>
          </a:p>
        </p:txBody>
      </p:sp>
      <p:sp>
        <p:nvSpPr>
          <p:cNvPr id="56" name="Shape 54"/>
          <p:cNvSpPr/>
          <p:nvPr/>
        </p:nvSpPr>
        <p:spPr>
          <a:xfrm rot="19800000">
            <a:off x="1029614" y="3209544"/>
            <a:ext cx="95098" cy="95098"/>
          </a:xfrm>
          <a:prstGeom prst="rect">
            <a:avLst/>
          </a:prstGeom>
          <a:solidFill>
            <a:srgbClr val="CC0000"/>
          </a:solidFill>
          <a:ln/>
        </p:spPr>
      </p:sp>
      <p:sp>
        <p:nvSpPr>
          <p:cNvPr id="57" name="Text 55"/>
          <p:cNvSpPr/>
          <p:nvPr/>
        </p:nvSpPr>
        <p:spPr>
          <a:xfrm>
            <a:off x="869594" y="3577133"/>
            <a:ext cx="3885286"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Model cards miss identity, permissions, autonomy, delegation and memory. A thin registry, synced to our GRC (watsonx.governance or ServiceNow AI Control Tower), holds our agents and vendor-built ones.</a:t>
            </a:r>
          </a:p>
        </p:txBody>
      </p:sp>
      <p:sp>
        <p:nvSpPr>
          <p:cNvPr id="58" name="Text 56"/>
          <p:cNvSpPr/>
          <p:nvPr/>
        </p:nvSpPr>
        <p:spPr>
          <a:xfrm>
            <a:off x="869594" y="4709160"/>
            <a:ext cx="3885286" cy="571500"/>
          </a:xfrm>
          <a:prstGeom prst="rect">
            <a:avLst/>
          </a:prstGeom>
          <a:noFill/>
          <a:ln/>
        </p:spPr>
        <p:txBody>
          <a:bodyPr wrap="square" lIns="91440" tIns="45720" rIns="91440" bIns="45720" rtlCol="0" anchor="t">
            <a:spAutoFit/>
          </a:bodyPr>
          <a:lstStyle/>
          <a:p>
            <a:pPr indent="0" marL="0">
              <a:lnSpc>
                <a:spcPct val="150000"/>
              </a:lnSpc>
              <a:buNone/>
            </a:pPr>
            <a:r>
              <a:rPr lang="en-US" sz="950" dirty="0" b="1">
                <a:solidFill>
                  <a:srgbClr val="F5B700"/>
                </a:solidFill>
                <a:latin typeface="Arial" pitchFamily="34" charset="0"/>
                <a:ea typeface="Arial" pitchFamily="34" charset="-122"/>
                <a:cs typeface="Arial" pitchFamily="34" charset="-120"/>
              </a:rPr>
              <a:t>FRAMEWORK MAP</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NIST AI RMF + NCCoE  </a:t>
            </a:r>
            <a:r>
              <a:rPr lang="en-US" sz="900" dirty="0">
                <a:solidFill>
                  <a:srgbClr val="F3E6D6"/>
                </a:solidFill>
                <a:latin typeface="Arial" pitchFamily="34" charset="0"/>
                <a:ea typeface="Arial" pitchFamily="34" charset="-122"/>
                <a:cs typeface="Arial" pitchFamily="34" charset="-120"/>
              </a:rPr>
              <a:t>evidence → Measure / Manage; identity</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ISO/IEC 42001  </a:t>
            </a:r>
            <a:r>
              <a:rPr lang="en-US" sz="900" dirty="0">
                <a:solidFill>
                  <a:srgbClr val="F3E6D6"/>
                </a:solidFill>
                <a:latin typeface="Arial" pitchFamily="34" charset="0"/>
                <a:ea typeface="Arial" pitchFamily="34" charset="-122"/>
                <a:cs typeface="Arial" pitchFamily="34" charset="-120"/>
              </a:rPr>
              <a:t>registry + recertification as AIMS evidence</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EU AI Act  </a:t>
            </a:r>
            <a:r>
              <a:rPr lang="en-US" sz="900" dirty="0">
                <a:solidFill>
                  <a:srgbClr val="F3E6D6"/>
                </a:solidFill>
                <a:latin typeface="Arial" pitchFamily="34" charset="0"/>
                <a:ea typeface="Arial" pitchFamily="34" charset="-122"/>
                <a:cs typeface="Arial" pitchFamily="34" charset="-120"/>
              </a:rPr>
              <a:t>high-risk from 2 Dec 2027; tag EU-exposed agents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OWASP Agentic Top 10  </a:t>
            </a:r>
            <a:r>
              <a:rPr lang="en-US" sz="900" dirty="0">
                <a:solidFill>
                  <a:srgbClr val="F3E6D6"/>
                </a:solidFill>
                <a:latin typeface="Arial" pitchFamily="34" charset="0"/>
                <a:ea typeface="Arial" pitchFamily="34" charset="-122"/>
                <a:cs typeface="Arial" pitchFamily="34" charset="-120"/>
              </a:rPr>
              <a:t>one threat taxonomy for tests and controls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Singapore IMDA agentic  </a:t>
            </a:r>
            <a:r>
              <a:rPr lang="en-US" sz="900" dirty="0">
                <a:solidFill>
                  <a:srgbClr val="F3E6D6"/>
                </a:solidFill>
                <a:latin typeface="Arial" pitchFamily="34" charset="0"/>
                <a:ea typeface="Arial" pitchFamily="34" charset="-122"/>
                <a:cs typeface="Arial" pitchFamily="34" charset="-120"/>
              </a:rPr>
              <a:t>basis for tiers and human-in-the-loop rules</a:t>
            </a:r>
          </a:p>
        </p:txBody>
      </p:sp>
      <p:sp>
        <p:nvSpPr>
          <p:cNvPr id="59" name="Shape 57"/>
          <p:cNvSpPr/>
          <p:nvPr/>
        </p:nvSpPr>
        <p:spPr>
          <a:xfrm>
            <a:off x="5692140" y="1295705"/>
            <a:ext cx="6048756" cy="1384402"/>
          </a:xfrm>
          <a:prstGeom prst="roundRect">
            <a:avLst>
              <a:gd name="adj" fmla="val 15852"/>
            </a:avLst>
          </a:prstGeom>
          <a:solidFill>
            <a:srgbClr val="F5B700"/>
          </a:solidFill>
          <a:ln/>
        </p:spPr>
      </p:sp>
      <p:sp>
        <p:nvSpPr>
          <p:cNvPr id="60" name="Shape 58"/>
          <p:cNvSpPr/>
          <p:nvPr/>
        </p:nvSpPr>
        <p:spPr>
          <a:xfrm>
            <a:off x="5872277" y="1488643"/>
            <a:ext cx="1189634" cy="374904"/>
          </a:xfrm>
          <a:prstGeom prst="roundRect">
            <a:avLst>
              <a:gd name="adj" fmla="val 50000"/>
            </a:avLst>
          </a:prstGeom>
          <a:solidFill>
            <a:srgbClr val="FFF1CC">
              </a:srgbClr>
          </a:solidFill>
          <a:ln w="6350">
            <a:solidFill>
              <a:srgbClr val="141010"/>
            </a:solidFill>
            <a:prstDash val="solid"/>
          </a:ln>
        </p:spPr>
      </p:sp>
      <p:sp>
        <p:nvSpPr>
          <p:cNvPr id="61" name="Text 59"/>
          <p:cNvSpPr/>
          <p:nvPr/>
        </p:nvSpPr>
        <p:spPr>
          <a:xfrm>
            <a:off x="5800954" y="1488643"/>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Registry</a:t>
            </a:r>
          </a:p>
        </p:txBody>
      </p:sp>
      <p:sp>
        <p:nvSpPr>
          <p:cNvPr id="62" name="Text 60"/>
          <p:cNvSpPr/>
          <p:nvPr/>
        </p:nvSpPr>
        <p:spPr>
          <a:xfrm>
            <a:off x="5920740" y="1891894"/>
            <a:ext cx="2011680" cy="585216"/>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One record per agent</a:t>
            </a:r>
          </a:p>
        </p:txBody>
      </p:sp>
      <p:sp>
        <p:nvSpPr>
          <p:cNvPr id="64" name="Shape 62"/>
          <p:cNvSpPr/>
          <p:nvPr/>
        </p:nvSpPr>
        <p:spPr>
          <a:xfrm>
            <a:off x="5692140" y="2914193"/>
            <a:ext cx="6048756" cy="2031797"/>
          </a:xfrm>
          <a:prstGeom prst="roundRect">
            <a:avLst>
              <a:gd name="adj" fmla="val 11386"/>
            </a:avLst>
          </a:prstGeom>
          <a:ln w="9525">
            <a:solidFill>
              <a:srgbClr val="D9B48A"/>
            </a:solidFill>
            <a:prstDash val="solid"/>
          </a:ln>
        </p:spPr>
      </p:sp>
      <p:sp>
        <p:nvSpPr>
          <p:cNvPr id="65" name="Shape 63"/>
          <p:cNvSpPr/>
          <p:nvPr/>
        </p:nvSpPr>
        <p:spPr>
          <a:xfrm>
            <a:off x="5872277" y="3107131"/>
            <a:ext cx="1189634" cy="374904"/>
          </a:xfrm>
          <a:prstGeom prst="roundRect">
            <a:avLst>
              <a:gd name="adj" fmla="val 50000"/>
            </a:avLst>
          </a:prstGeom>
          <a:solidFill>
            <a:srgbClr val="8A0F1A">
              <a:alpha val="15600"/>
            </a:srgbClr>
          </a:solidFill>
          <a:ln w="6350">
            <a:solidFill>
              <a:srgbClr val="D9B48A"/>
            </a:solidFill>
            <a:prstDash val="solid"/>
          </a:ln>
        </p:spPr>
      </p:sp>
      <p:sp>
        <p:nvSpPr>
          <p:cNvPr id="66" name="Text 64"/>
          <p:cNvSpPr/>
          <p:nvPr/>
        </p:nvSpPr>
        <p:spPr>
          <a:xfrm>
            <a:off x="5800954" y="3107131"/>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Risk tiers</a:t>
            </a:r>
          </a:p>
        </p:txBody>
      </p:sp>
      <p:sp>
        <p:nvSpPr>
          <p:cNvPr id="67" name="Text 65"/>
          <p:cNvSpPr/>
          <p:nvPr/>
        </p:nvSpPr>
        <p:spPr>
          <a:xfrm>
            <a:off x="5920740" y="3577133"/>
            <a:ext cx="2103120" cy="831190"/>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Impact × autonomy sets the bar</a:t>
            </a:r>
          </a:p>
        </p:txBody>
      </p:sp>
      <p:sp>
        <p:nvSpPr>
          <p:cNvPr id="400" name="g2 400"/>
          <p:cNvSpPr/>
          <p:nvPr/>
        </p:nvSpPr>
        <p:spPr>
          <a:xfrm>
            <a:off x="5692140"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Evidence per version</a:t>
            </a:r>
          </a:p>
          <a:p>
            <a:pPr algn="l" marL="0" indent="0">
              <a:lnSpc>
                <a:spcPct val="100000"/>
              </a:lnSpc>
              <a:buNone/>
            </a:pPr>
            <a:r>
              <a:rPr lang="en-US" sz="900" dirty="0">
                <a:solidFill>
                  <a:srgbClr val="F3E6D6"/>
                </a:solidFill>
                <a:latin typeface="Arial"/>
                <a:ea typeface="Arial"/>
                <a:cs typeface="Arial"/>
              </a:rPr>
              <a:t>scores · pass^k · ASR · policy version · approvals · incidents; immutable audit log</a:t>
            </a:r>
          </a:p>
        </p:txBody>
      </p:sp>
      <p:sp>
        <p:nvSpPr>
          <p:cNvPr id="401" name="g2 401"/>
          <p:cNvSpPr/>
          <p:nvPr/>
        </p:nvSpPr>
        <p:spPr>
          <a:xfrm>
            <a:off x="7754112"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Autonomy moves</a:t>
            </a:r>
          </a:p>
          <a:p>
            <a:pPr algn="l" marL="0" indent="0">
              <a:lnSpc>
                <a:spcPct val="100000"/>
              </a:lnSpc>
              <a:buNone/>
            </a:pPr>
            <a:r>
              <a:rPr lang="en-US" sz="900" dirty="0">
                <a:solidFill>
                  <a:srgbClr val="F3E6D6"/>
                </a:solidFill>
                <a:latin typeface="Arial"/>
                <a:ea typeface="Arial"/>
                <a:cs typeface="Arial"/>
              </a:rPr>
              <a:t>promote or demote a level on evidence; L4 → L3 on incidents; uniform governance fails [7]</a:t>
            </a:r>
          </a:p>
        </p:txBody>
      </p:sp>
      <p:sp>
        <p:nvSpPr>
          <p:cNvPr id="402" name="g2 402"/>
          <p:cNvSpPr/>
          <p:nvPr/>
        </p:nvSpPr>
        <p:spPr>
          <a:xfrm>
            <a:off x="9816084"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Highest tier wins</a:t>
            </a:r>
          </a:p>
          <a:p>
            <a:pPr algn="l" marL="0" indent="0">
              <a:lnSpc>
                <a:spcPct val="100000"/>
              </a:lnSpc>
              <a:buNone/>
            </a:pPr>
            <a:r>
              <a:rPr lang="en-US" sz="900" dirty="0">
                <a:solidFill>
                  <a:srgbClr val="F3E6D6"/>
                </a:solidFill>
                <a:latin typeface="Arial"/>
                <a:ea typeface="Arial"/>
                <a:cs typeface="Arial"/>
              </a:rPr>
              <a:t>P1 L3–L4 · P2 L2–L3 · P3 L3 · P4 L4 only with breakers · P5 L4; a composite takes its highest part</a:t>
            </a:r>
          </a:p>
        </p:txBody>
      </p:sp>
      <p:sp>
        <p:nvSpPr>
          <p:cNvPr id="73" name="Shape 71"/>
          <p:cNvSpPr/>
          <p:nvPr/>
        </p:nvSpPr>
        <p:spPr>
          <a:xfrm>
            <a:off x="731520" y="6098134"/>
            <a:ext cx="10967314" cy="0"/>
          </a:xfrm>
          <a:prstGeom prst="line">
            <a:avLst/>
          </a:prstGeom>
          <a:noFill/>
          <a:ln w="12700">
            <a:solidFill>
              <a:srgbClr val="D9B48A"/>
            </a:solidFill>
            <a:prstDash val="solid"/>
            <a:tailEnd type="triangle"/>
          </a:ln>
        </p:spPr>
      </p:sp>
      <p:sp>
        <p:nvSpPr>
          <p:cNvPr id="110" name="v2 110"/>
          <p:cNvSpPr/>
          <p:nvPr/>
        </p:nvSpPr>
        <p:spPr>
          <a:xfrm>
            <a:off x="8092440" y="1463040"/>
            <a:ext cx="3520440" cy="1097280"/>
          </a:xfrm>
          <a:prstGeom prst="rect">
            <a:avLst/>
          </a:prstGeom>
          <a:noFill/>
          <a:ln>
            <a:noFill/>
          </a:ln>
        </p:spPr>
        <p:txBody>
          <a:bodyPr wrap="square" lIns="0" tIns="0" rIns="0" bIns="0" rtlCol="0" anchor="ctr">
            <a:noAutofit/>
          </a:bodyPr>
          <a:lstStyle/>
          <a:p>
            <a:pPr algn="l" marL="0" indent="0">
              <a:lnSpc>
                <a:spcPct val="105000"/>
              </a:lnSpc>
              <a:buNone/>
            </a:pPr>
            <a:r>
              <a:rPr lang="en-US" sz="1000" b="1" dirty="0">
                <a:solidFill>
                  <a:srgbClr val="141010"/>
                </a:solidFill>
                <a:latin typeface="Arial"/>
                <a:ea typeface="Arial"/>
                <a:cs typeface="Arial"/>
              </a:rPr>
              <a:t>From the onboarding manifest</a:t>
            </a:r>
          </a:p>
          <a:p>
            <a:pPr algn="l" marL="0" indent="0">
              <a:lnSpc>
                <a:spcPct val="105000"/>
              </a:lnSpc>
              <a:buNone/>
            </a:pPr>
            <a:r>
              <a:rPr lang="en-US" sz="900" dirty="0">
                <a:solidFill>
                  <a:srgbClr val="141010"/>
                </a:solidFill>
                <a:latin typeface="Arial"/>
                <a:ea typeface="Arial"/>
                <a:cs typeface="Arial"/>
              </a:rPr>
              <a:t>owner · vendor (third-party) · purpose · autonomy level L1–L4 · tools + scopes · data classes · memory scope · models · linked agents · risk tier · status · recert date</a:t>
            </a:r>
          </a:p>
          <a:p>
            <a:pPr algn="l" marL="0" indent="0">
              <a:lnSpc>
                <a:spcPct val="105000"/>
              </a:lnSpc>
              <a:buNone/>
            </a:pPr>
            <a:r>
              <a:rPr lang="en-US" sz="900" b="1" dirty="0">
                <a:solidFill>
                  <a:srgbClr val="141010"/>
                </a:solidFill>
                <a:latin typeface="Arial"/>
                <a:ea typeface="Arial"/>
                <a:cs typeface="Arial"/>
              </a:rPr>
              <a:t>onboard → approve → monitor → promote / demote → recertify → retire</a:t>
            </a:r>
          </a:p>
        </p:txBody>
      </p:sp>
      <p:sp>
        <p:nvSpPr>
          <p:cNvPr id="111" name="v2 111"/>
          <p:cNvSpPr/>
          <p:nvPr/>
        </p:nvSpPr>
        <p:spPr>
          <a:xfrm>
            <a:off x="5920740" y="4206240"/>
            <a:ext cx="2057400" cy="685800"/>
          </a:xfrm>
          <a:prstGeom prst="rect">
            <a:avLst/>
          </a:prstGeom>
          <a:noFill/>
          <a:ln>
            <a:noFill/>
          </a:ln>
        </p:spPr>
        <p:txBody>
          <a:bodyPr wrap="square" lIns="0" tIns="0" rIns="0" bIns="0" rtlCol="0" anchor="t">
            <a:noAutofit/>
          </a:bodyPr>
          <a:lstStyle/>
          <a:p>
            <a:pPr algn="l" marL="0" indent="0">
              <a:buNone/>
            </a:pPr>
            <a:r>
              <a:rPr lang="en-US" sz="900" dirty="0">
                <a:solidFill>
                  <a:srgbClr val="F3E6D6"/>
                </a:solidFill>
                <a:latin typeface="Arial"/>
                <a:ea typeface="Arial"/>
                <a:cs typeface="Arial"/>
              </a:rPr>
              <a:t>Tier sets the eval pack, red-team depth, required controls, approver and recert cadence.</a:t>
            </a:r>
          </a:p>
        </p:txBody>
      </p:sp>
      <p:graphicFrame>
        <p:nvGraphicFramePr>
          <p:cNvPr id="300" name="Risk tier heatmap table"/>
          <p:cNvGraphicFramePr>
            <a:graphicFrameLocks noGrp="1"/>
          </p:cNvGraphicFramePr>
          <p:nvPr/>
        </p:nvGraphicFramePr>
        <p:xfrm>
          <a:off x="8138160" y="3072384"/>
          <a:ext cx="3474720" cy="1554480"/>
        </p:xfrm>
        <a:graphic>
          <a:graphicData uri="http://schemas.openxmlformats.org/drawingml/2006/table">
            <a:tbl>
              <a:tblPr/>
              <a:tblGrid>
                <a:gridCol w="768096"/>
                <a:gridCol w="877824"/>
                <a:gridCol w="36576"/>
                <a:gridCol w="877824"/>
                <a:gridCol w="36576"/>
                <a:gridCol w="877824"/>
              </a:tblGrid>
              <a:tr h="329184">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L2 Advise</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L3 Approve</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L4 Act</a:t>
                      </a:r>
                    </a:p>
                  </a:txBody>
                  <a:tcPr marL="0" marR="0" marT="0" marB="0" anchor="ctr">
                    <a:lnL w="0">
                      <a:noFill/>
                    </a:lnL>
                    <a:lnR w="0">
                      <a:noFill/>
                    </a:lnR>
                    <a:lnT w="0">
                      <a:no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Low impact</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r>
              <a:tr h="36576">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Med impact</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r>
              <a:tr h="36576">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High impact</a:t>
                      </a:r>
                    </a:p>
                  </a:txBody>
                  <a:tcPr marL="0" marR="0" marT="0" marB="0" anchor="ctr">
                    <a:lnL w="0">
                      <a:no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r>
            </a:tbl>
          </a:graphicData>
        </a:graphic>
      </p:graphicFrame>
      <p:sp>
        <p:nvSpPr>
          <p:cNvPr id="127" name="g2 127"/>
          <p:cNvSpPr/>
          <p:nvPr/>
        </p:nvSpPr>
        <p:spPr>
          <a:xfrm>
            <a:off x="8138160" y="4681728"/>
            <a:ext cx="3474720" cy="182880"/>
          </a:xfrm>
          <a:prstGeom prst="rect">
            <a:avLst/>
          </a:prstGeom>
          <a:noFill/>
          <a:ln>
            <a:noFill/>
          </a:ln>
        </p:spPr>
        <p:txBody>
          <a:bodyPr wrap="square" lIns="0" tIns="0" rIns="0" bIns="0" rtlCol="0" anchor="ctr">
            <a:noAutofit/>
          </a:bodyPr>
          <a:lstStyle/>
          <a:p>
            <a:pPr algn="l" marL="0" indent="0">
              <a:buNone/>
            </a:pPr>
            <a:r>
              <a:rPr lang="en-US" sz="750" dirty="0">
                <a:solidFill>
                  <a:srgbClr val="F3E6D6"/>
                </a:solidFill>
                <a:latin typeface="Arial"/>
                <a:ea typeface="Arial"/>
                <a:cs typeface="Arial"/>
              </a:rPr>
              <a:t>Illustrative; L1 Observe = monitor only. Impact = data class, customer reach, financial or regulatory effect.</a:t>
            </a:r>
          </a:p>
        </p:txBody>
      </p:sp>
      <p:sp>
        <p:nvSpPr>
          <p:cNvPr id="403"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08 / 17</a:t>
            </a:r>
          </a:p>
        </p:txBody>
      </p:sp>
      <p:sp>
        <p:nvSpPr>
          <p:cNvPr id="404"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405"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Red teaming</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Every release,</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attacked</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Attack depth follows the risk tier in the manifest. Every confirmed finding leaves two things behind: a runtime control and a regression test.</a:t>
            </a:r>
          </a:p>
        </p:txBody>
      </p:sp>
      <p:sp>
        <p:nvSpPr>
          <p:cNvPr id="56" name="Text 54"/>
          <p:cNvSpPr/>
          <p:nvPr/>
        </p:nvSpPr>
        <p:spPr>
          <a:xfrm>
            <a:off x="689458" y="457200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Owners: </a:t>
            </a:r>
            <a:r>
              <a:rPr lang="en-US" sz="1100" dirty="0">
                <a:solidFill>
                  <a:srgbClr val="FFFFFF"/>
                </a:solidFill>
                <a:latin typeface="Arial" pitchFamily="34" charset="0"/>
                <a:ea typeface="Arial" pitchFamily="34" charset="-122"/>
                <a:cs typeface="Arial" pitchFamily="34" charset="-120"/>
              </a:rPr>
              <a:t>security owns attack libraries and thresholds; the platform owns the pipeline.</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Partner / OSS</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Build (thin)</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Existing / buy</a:t>
            </a:r>
          </a:p>
        </p:txBody>
      </p:sp>
      <p:sp>
        <p:nvSpPr>
          <p:cNvPr id="63" name="Shape 61"/>
          <p:cNvSpPr/>
          <p:nvPr/>
        </p:nvSpPr>
        <p:spPr>
          <a:xfrm rot="19800000">
            <a:off x="3895344" y="5657393"/>
            <a:ext cx="95098" cy="95098"/>
          </a:xfrm>
          <a:prstGeom prst="rect">
            <a:avLst/>
          </a:prstGeom>
          <a:solidFill>
            <a:srgbClr val="CC0000"/>
          </a:solidFill>
          <a:ln/>
        </p:spPr>
      </p:sp>
      <p:sp>
        <p:nvSpPr>
          <p:cNvPr id="129" name="g2 129"/>
          <p:cNvSpPr/>
          <p:nvPr/>
        </p:nvSpPr>
        <p:spPr>
          <a:xfrm>
            <a:off x="3749040" y="1243584"/>
            <a:ext cx="178308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INPUTS</a:t>
            </a:r>
          </a:p>
        </p:txBody>
      </p:sp>
      <p:sp>
        <p:nvSpPr>
          <p:cNvPr id="130" name="g2 130"/>
          <p:cNvSpPr/>
          <p:nvPr/>
        </p:nvSpPr>
        <p:spPr>
          <a:xfrm>
            <a:off x="5806440" y="1243584"/>
            <a:ext cx="19202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ATTACK DEPTH BY TIER</a:t>
            </a:r>
          </a:p>
        </p:txBody>
      </p:sp>
      <p:sp>
        <p:nvSpPr>
          <p:cNvPr id="131" name="g2 131"/>
          <p:cNvSpPr/>
          <p:nvPr/>
        </p:nvSpPr>
        <p:spPr>
          <a:xfrm>
            <a:off x="8001000" y="1243584"/>
            <a:ext cx="19202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RUN + SCORE</a:t>
            </a:r>
          </a:p>
        </p:txBody>
      </p:sp>
      <p:sp>
        <p:nvSpPr>
          <p:cNvPr id="132" name="g2 132"/>
          <p:cNvSpPr/>
          <p:nvPr/>
        </p:nvSpPr>
        <p:spPr>
          <a:xfrm>
            <a:off x="10195560" y="1243584"/>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CLOSE THE LOOP</a:t>
            </a:r>
          </a:p>
        </p:txBody>
      </p:sp>
      <p:sp>
        <p:nvSpPr>
          <p:cNvPr id="133" name="g2 133"/>
          <p:cNvSpPr/>
          <p:nvPr/>
        </p:nvSpPr>
        <p:spPr>
          <a:xfrm>
            <a:off x="3749040" y="1463040"/>
            <a:ext cx="178308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Agent manifest</a:t>
            </a:r>
          </a:p>
          <a:p>
            <a:pPr algn="l" marL="0" indent="0">
              <a:lnSpc>
                <a:spcPct val="100000"/>
              </a:lnSpc>
              <a:buNone/>
            </a:pPr>
            <a:r>
              <a:rPr lang="en-US" sz="850" dirty="0">
                <a:solidFill>
                  <a:srgbClr val="141010"/>
                </a:solidFill>
                <a:latin typeface="Arial"/>
                <a:ea typeface="Arial"/>
                <a:cs typeface="Arial"/>
              </a:rPr>
              <a:t>tools · data classes · autonomy · risk tier</a:t>
            </a:r>
          </a:p>
        </p:txBody>
      </p:sp>
      <p:sp>
        <p:nvSpPr>
          <p:cNvPr id="134" name="g2 134"/>
          <p:cNvSpPr/>
          <p:nvPr/>
        </p:nvSpPr>
        <p:spPr>
          <a:xfrm>
            <a:off x="3749040" y="2468880"/>
            <a:ext cx="178308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OWASP Agentic Top 10</a:t>
            </a:r>
          </a:p>
          <a:p>
            <a:pPr algn="l" marL="0" indent="0">
              <a:lnSpc>
                <a:spcPct val="100000"/>
              </a:lnSpc>
              <a:buNone/>
            </a:pPr>
            <a:r>
              <a:rPr lang="en-US" sz="850" dirty="0">
                <a:solidFill>
                  <a:srgbClr val="F3E6D6"/>
                </a:solidFill>
                <a:latin typeface="Arial"/>
                <a:ea typeface="Arial"/>
                <a:cs typeface="Arial"/>
              </a:rPr>
              <a:t>ASI01-10: goal hijack, tool misuse, memory poisoning, rogue agents ...</a:t>
            </a:r>
          </a:p>
        </p:txBody>
      </p:sp>
      <p:sp>
        <p:nvSpPr>
          <p:cNvPr id="135" name="g2 135"/>
          <p:cNvSpPr/>
          <p:nvPr/>
        </p:nvSpPr>
        <p:spPr>
          <a:xfrm>
            <a:off x="3749040" y="3474720"/>
            <a:ext cx="178308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Triggers</a:t>
            </a:r>
          </a:p>
          <a:p>
            <a:pPr algn="l" marL="0" indent="0">
              <a:lnSpc>
                <a:spcPct val="100000"/>
              </a:lnSpc>
              <a:buNone/>
            </a:pPr>
            <a:r>
              <a:rPr lang="en-US" sz="850" dirty="0">
                <a:solidFill>
                  <a:srgbClr val="141010"/>
                </a:solidFill>
                <a:latin typeface="Arial"/>
                <a:ea typeface="Arial"/>
                <a:cs typeface="Arial"/>
              </a:rPr>
              <a:t>pre-release · weekly · new tool, model or MCP server</a:t>
            </a:r>
          </a:p>
        </p:txBody>
      </p:sp>
      <p:sp>
        <p:nvSpPr>
          <p:cNvPr id="136" name="g2 136"/>
          <p:cNvSpPr/>
          <p:nvPr/>
        </p:nvSpPr>
        <p:spPr>
          <a:xfrm>
            <a:off x="5806440" y="146304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Low tier</a:t>
            </a:r>
          </a:p>
          <a:p>
            <a:pPr algn="l" marL="0" indent="0">
              <a:lnSpc>
                <a:spcPct val="100000"/>
              </a:lnSpc>
              <a:buNone/>
            </a:pPr>
            <a:r>
              <a:rPr lang="en-US" sz="850" dirty="0">
                <a:solidFill>
                  <a:srgbClr val="F3E6D6"/>
                </a:solidFill>
                <a:latin typeface="Arial"/>
                <a:ea typeface="Arial"/>
                <a:cs typeface="Arial"/>
              </a:rPr>
              <a:t>automated garak scan</a:t>
            </a:r>
          </a:p>
        </p:txBody>
      </p:sp>
      <p:sp>
        <p:nvSpPr>
          <p:cNvPr id="137" name="g2 137"/>
          <p:cNvSpPr/>
          <p:nvPr/>
        </p:nvSpPr>
        <p:spPr>
          <a:xfrm>
            <a:off x="5806440" y="246888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Medium tier</a:t>
            </a:r>
          </a:p>
          <a:p>
            <a:pPr algn="l" marL="0" indent="0">
              <a:lnSpc>
                <a:spcPct val="100000"/>
              </a:lnSpc>
              <a:buNone/>
            </a:pPr>
            <a:r>
              <a:rPr lang="en-US" sz="850" dirty="0">
                <a:solidFill>
                  <a:srgbClr val="F3E6D6"/>
                </a:solidFill>
                <a:latin typeface="Arial"/>
                <a:ea typeface="Arial"/>
                <a:cs typeface="Arial"/>
              </a:rPr>
              <a:t>+ PyRIT multi-turn, DeepTeam OWASP ASI, promptfoo in CI</a:t>
            </a:r>
          </a:p>
        </p:txBody>
      </p:sp>
      <p:sp>
        <p:nvSpPr>
          <p:cNvPr id="138" name="g2 138"/>
          <p:cNvSpPr/>
          <p:nvPr/>
        </p:nvSpPr>
        <p:spPr>
          <a:xfrm>
            <a:off x="5806440" y="347472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High tier</a:t>
            </a:r>
          </a:p>
          <a:p>
            <a:pPr algn="l" marL="0" indent="0">
              <a:lnSpc>
                <a:spcPct val="100000"/>
              </a:lnSpc>
              <a:buNone/>
            </a:pPr>
            <a:r>
              <a:rPr lang="en-US" sz="850" dirty="0">
                <a:solidFill>
                  <a:srgbClr val="F3E6D6"/>
                </a:solidFill>
                <a:latin typeface="Arial"/>
                <a:ea typeface="Arial"/>
                <a:cs typeface="Arial"/>
              </a:rPr>
              <a:t>+ indirect injection, tool abuse, memory poisoning + human sprint</a:t>
            </a:r>
          </a:p>
        </p:txBody>
      </p:sp>
      <p:sp>
        <p:nvSpPr>
          <p:cNvPr id="139" name="g2 139"/>
          <p:cNvSpPr/>
          <p:nvPr/>
        </p:nvSpPr>
        <p:spPr>
          <a:xfrm>
            <a:off x="8001000" y="146304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Red Hat EvalHub</a:t>
            </a:r>
          </a:p>
          <a:p>
            <a:pPr algn="l" marL="0" indent="0">
              <a:lnSpc>
                <a:spcPct val="100000"/>
              </a:lnSpc>
              <a:buNone/>
            </a:pPr>
            <a:r>
              <a:rPr lang="en-US" sz="850" dirty="0">
                <a:solidFill>
                  <a:srgbClr val="F3E6D6"/>
                </a:solidFill>
                <a:latin typeface="Arial"/>
                <a:ea typeface="Arial"/>
                <a:cs typeface="Arial"/>
              </a:rPr>
              <a:t>OpenShift AI execution plane; garak is a native provider</a:t>
            </a:r>
          </a:p>
        </p:txBody>
      </p:sp>
      <p:sp>
        <p:nvSpPr>
          <p:cNvPr id="140" name="g2 140"/>
          <p:cNvSpPr/>
          <p:nvPr/>
        </p:nvSpPr>
        <p:spPr>
          <a:xfrm>
            <a:off x="8001000" y="2468880"/>
            <a:ext cx="19202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Simulation sandbox</a:t>
            </a:r>
          </a:p>
          <a:p>
            <a:pPr algn="l" marL="0" indent="0">
              <a:lnSpc>
                <a:spcPct val="100000"/>
              </a:lnSpc>
              <a:buNone/>
            </a:pPr>
            <a:r>
              <a:rPr lang="en-US" sz="850" dirty="0">
                <a:solidFill>
                  <a:srgbClr val="141010"/>
                </a:solidFill>
                <a:latin typeface="Arial"/>
                <a:ea typeface="Arial"/>
                <a:cs typeface="Arial"/>
              </a:rPr>
              <a:t>stage-4 tool mocks; never production tools</a:t>
            </a:r>
          </a:p>
        </p:txBody>
      </p:sp>
      <p:sp>
        <p:nvSpPr>
          <p:cNvPr id="141" name="g2 141"/>
          <p:cNvSpPr/>
          <p:nvPr/>
        </p:nvSpPr>
        <p:spPr>
          <a:xfrm>
            <a:off x="8001000" y="3474720"/>
            <a:ext cx="19202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ASR per ASI category</a:t>
            </a:r>
          </a:p>
          <a:p>
            <a:pPr algn="l" marL="0" indent="0">
              <a:lnSpc>
                <a:spcPct val="100000"/>
              </a:lnSpc>
              <a:buNone/>
            </a:pPr>
            <a:r>
              <a:rPr lang="en-US" sz="850" dirty="0">
                <a:solidFill>
                  <a:srgbClr val="141010"/>
                </a:solidFill>
                <a:latin typeface="Arial"/>
                <a:ea typeface="Arial"/>
                <a:cs typeface="Arial"/>
              </a:rPr>
              <a:t>confirmed by tool-call or state evidence</a:t>
            </a:r>
          </a:p>
        </p:txBody>
      </p:sp>
      <p:sp>
        <p:nvSpPr>
          <p:cNvPr id="142" name="g2 142"/>
          <p:cNvSpPr/>
          <p:nvPr/>
        </p:nvSpPr>
        <p:spPr>
          <a:xfrm>
            <a:off x="10195560" y="146304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Runtime control</a:t>
            </a:r>
          </a:p>
          <a:p>
            <a:pPr algn="l" marL="0" indent="0">
              <a:lnSpc>
                <a:spcPct val="100000"/>
              </a:lnSpc>
              <a:buNone/>
            </a:pPr>
            <a:r>
              <a:rPr lang="en-US" sz="850" dirty="0">
                <a:solidFill>
                  <a:srgbClr val="141010"/>
                </a:solidFill>
                <a:latin typeface="Arial"/>
                <a:ea typeface="Arial"/>
                <a:cs typeface="Arial"/>
              </a:rPr>
              <a:t>each finding becomes a control, with owner + SLA</a:t>
            </a:r>
          </a:p>
        </p:txBody>
      </p:sp>
      <p:sp>
        <p:nvSpPr>
          <p:cNvPr id="143" name="g2 143"/>
          <p:cNvSpPr/>
          <p:nvPr/>
        </p:nvSpPr>
        <p:spPr>
          <a:xfrm>
            <a:off x="10195560" y="246888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Regression test</a:t>
            </a:r>
          </a:p>
          <a:p>
            <a:pPr algn="l" marL="0" indent="0">
              <a:lnSpc>
                <a:spcPct val="100000"/>
              </a:lnSpc>
              <a:buNone/>
            </a:pPr>
            <a:r>
              <a:rPr lang="en-US" sz="850" dirty="0">
                <a:solidFill>
                  <a:srgbClr val="141010"/>
                </a:solidFill>
                <a:latin typeface="Arial"/>
                <a:ea typeface="Arial"/>
                <a:cs typeface="Arial"/>
              </a:rPr>
              <a:t>each finding joins the simulation suite</a:t>
            </a:r>
          </a:p>
        </p:txBody>
      </p:sp>
      <p:sp>
        <p:nvSpPr>
          <p:cNvPr id="144" name="g2 144"/>
          <p:cNvSpPr/>
          <p:nvPr/>
        </p:nvSpPr>
        <p:spPr>
          <a:xfrm>
            <a:off x="10195560" y="347472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Promotion gate</a:t>
            </a:r>
          </a:p>
          <a:p>
            <a:pPr algn="l" marL="0" indent="0">
              <a:lnSpc>
                <a:spcPct val="100000"/>
              </a:lnSpc>
              <a:buNone/>
            </a:pPr>
            <a:r>
              <a:rPr lang="en-US" sz="850" dirty="0">
                <a:solidFill>
                  <a:srgbClr val="141010"/>
                </a:solidFill>
                <a:latin typeface="Arial"/>
                <a:ea typeface="Arial"/>
                <a:cs typeface="Arial"/>
              </a:rPr>
              <a:t>ASR under the tier threshold, then promote</a:t>
            </a:r>
          </a:p>
        </p:txBody>
      </p:sp>
      <p:cxnSp>
        <p:nvCxnSpPr>
          <p:cNvPr id="145" name="g2 flow 145"/>
          <p:cNvCxnSpPr/>
          <p:nvPr/>
        </p:nvCxnSpPr>
        <p:spPr>
          <a:xfrm>
            <a:off x="5532120" y="1897380"/>
            <a:ext cx="137160" cy="0"/>
          </a:xfrm>
          <a:prstGeom prst="line">
            <a:avLst/>
          </a:prstGeom>
          <a:ln w="9525">
            <a:solidFill>
              <a:srgbClr val="EE0000"/>
            </a:solidFill>
          </a:ln>
        </p:spPr>
      </p:cxnSp>
      <p:cxnSp>
        <p:nvCxnSpPr>
          <p:cNvPr id="146" name="g2 flow 146"/>
          <p:cNvCxnSpPr/>
          <p:nvPr/>
        </p:nvCxnSpPr>
        <p:spPr>
          <a:xfrm>
            <a:off x="5669280" y="1897380"/>
            <a:ext cx="137160" cy="0"/>
          </a:xfrm>
          <a:prstGeom prst="line">
            <a:avLst/>
          </a:prstGeom>
          <a:ln w="12700">
            <a:solidFill>
              <a:srgbClr val="EE0000"/>
            </a:solidFill>
            <a:tailEnd type="triangle" w="med" len="med"/>
          </a:ln>
        </p:spPr>
      </p:cxnSp>
      <p:cxnSp>
        <p:nvCxnSpPr>
          <p:cNvPr id="147" name="g2 flow 147"/>
          <p:cNvCxnSpPr/>
          <p:nvPr/>
        </p:nvCxnSpPr>
        <p:spPr>
          <a:xfrm>
            <a:off x="5532120" y="2903220"/>
            <a:ext cx="137160" cy="0"/>
          </a:xfrm>
          <a:prstGeom prst="line">
            <a:avLst/>
          </a:prstGeom>
          <a:ln w="9525">
            <a:solidFill>
              <a:srgbClr val="EE0000"/>
            </a:solidFill>
          </a:ln>
        </p:spPr>
      </p:cxnSp>
      <p:cxnSp>
        <p:nvCxnSpPr>
          <p:cNvPr id="148" name="g2 flow 148"/>
          <p:cNvCxnSpPr/>
          <p:nvPr/>
        </p:nvCxnSpPr>
        <p:spPr>
          <a:xfrm>
            <a:off x="5669280" y="2903220"/>
            <a:ext cx="137160" cy="0"/>
          </a:xfrm>
          <a:prstGeom prst="line">
            <a:avLst/>
          </a:prstGeom>
          <a:ln w="12700">
            <a:solidFill>
              <a:srgbClr val="EE0000"/>
            </a:solidFill>
            <a:tailEnd type="triangle" w="med" len="med"/>
          </a:ln>
        </p:spPr>
      </p:cxnSp>
      <p:cxnSp>
        <p:nvCxnSpPr>
          <p:cNvPr id="149" name="g2 flow 149"/>
          <p:cNvCxnSpPr/>
          <p:nvPr/>
        </p:nvCxnSpPr>
        <p:spPr>
          <a:xfrm>
            <a:off x="5532120" y="3909060"/>
            <a:ext cx="137160" cy="0"/>
          </a:xfrm>
          <a:prstGeom prst="line">
            <a:avLst/>
          </a:prstGeom>
          <a:ln w="9525">
            <a:solidFill>
              <a:srgbClr val="EE0000"/>
            </a:solidFill>
          </a:ln>
        </p:spPr>
      </p:cxnSp>
      <p:cxnSp>
        <p:nvCxnSpPr>
          <p:cNvPr id="150" name="g2 flow 150"/>
          <p:cNvCxnSpPr/>
          <p:nvPr/>
        </p:nvCxnSpPr>
        <p:spPr>
          <a:xfrm>
            <a:off x="5669280" y="3909060"/>
            <a:ext cx="137160" cy="0"/>
          </a:xfrm>
          <a:prstGeom prst="line">
            <a:avLst/>
          </a:prstGeom>
          <a:ln w="12700">
            <a:solidFill>
              <a:srgbClr val="EE0000"/>
            </a:solidFill>
            <a:tailEnd type="triangle" w="med" len="med"/>
          </a:ln>
        </p:spPr>
      </p:cxnSp>
      <p:cxnSp>
        <p:nvCxnSpPr>
          <p:cNvPr id="151" name="g2 flow 151"/>
          <p:cNvCxnSpPr/>
          <p:nvPr/>
        </p:nvCxnSpPr>
        <p:spPr>
          <a:xfrm>
            <a:off x="5669280" y="1897380"/>
            <a:ext cx="0" cy="2011680"/>
          </a:xfrm>
          <a:prstGeom prst="line">
            <a:avLst/>
          </a:prstGeom>
          <a:ln w="9525">
            <a:solidFill>
              <a:srgbClr val="EE0000"/>
            </a:solidFill>
          </a:ln>
        </p:spPr>
      </p:cxnSp>
      <p:cxnSp>
        <p:nvCxnSpPr>
          <p:cNvPr id="152" name="g2 flow 152"/>
          <p:cNvCxnSpPr/>
          <p:nvPr/>
        </p:nvCxnSpPr>
        <p:spPr>
          <a:xfrm>
            <a:off x="7726680" y="1897380"/>
            <a:ext cx="137160" cy="0"/>
          </a:xfrm>
          <a:prstGeom prst="line">
            <a:avLst/>
          </a:prstGeom>
          <a:ln w="9525">
            <a:solidFill>
              <a:srgbClr val="EE0000"/>
            </a:solidFill>
          </a:ln>
        </p:spPr>
      </p:cxnSp>
      <p:cxnSp>
        <p:nvCxnSpPr>
          <p:cNvPr id="153" name="g2 flow 153"/>
          <p:cNvCxnSpPr/>
          <p:nvPr/>
        </p:nvCxnSpPr>
        <p:spPr>
          <a:xfrm>
            <a:off x="7726680" y="2903220"/>
            <a:ext cx="137160" cy="0"/>
          </a:xfrm>
          <a:prstGeom prst="line">
            <a:avLst/>
          </a:prstGeom>
          <a:ln w="9525">
            <a:solidFill>
              <a:srgbClr val="EE0000"/>
            </a:solidFill>
          </a:ln>
        </p:spPr>
      </p:cxnSp>
      <p:cxnSp>
        <p:nvCxnSpPr>
          <p:cNvPr id="154" name="g2 flow 154"/>
          <p:cNvCxnSpPr/>
          <p:nvPr/>
        </p:nvCxnSpPr>
        <p:spPr>
          <a:xfrm>
            <a:off x="7726680" y="3909060"/>
            <a:ext cx="137160" cy="0"/>
          </a:xfrm>
          <a:prstGeom prst="line">
            <a:avLst/>
          </a:prstGeom>
          <a:ln w="9525">
            <a:solidFill>
              <a:srgbClr val="EE0000"/>
            </a:solidFill>
          </a:ln>
        </p:spPr>
      </p:cxnSp>
      <p:cxnSp>
        <p:nvCxnSpPr>
          <p:cNvPr id="155" name="g2 flow 155"/>
          <p:cNvCxnSpPr/>
          <p:nvPr/>
        </p:nvCxnSpPr>
        <p:spPr>
          <a:xfrm>
            <a:off x="7863840" y="1897380"/>
            <a:ext cx="0" cy="2011680"/>
          </a:xfrm>
          <a:prstGeom prst="line">
            <a:avLst/>
          </a:prstGeom>
          <a:ln w="9525">
            <a:solidFill>
              <a:srgbClr val="EE0000"/>
            </a:solidFill>
          </a:ln>
        </p:spPr>
      </p:cxnSp>
      <p:cxnSp>
        <p:nvCxnSpPr>
          <p:cNvPr id="156" name="g2 flow 156"/>
          <p:cNvCxnSpPr/>
          <p:nvPr/>
        </p:nvCxnSpPr>
        <p:spPr>
          <a:xfrm>
            <a:off x="7863840" y="1897380"/>
            <a:ext cx="137160" cy="0"/>
          </a:xfrm>
          <a:prstGeom prst="line">
            <a:avLst/>
          </a:prstGeom>
          <a:ln w="12700">
            <a:solidFill>
              <a:srgbClr val="EE0000"/>
            </a:solidFill>
            <a:tailEnd type="triangle" w="med" len="med"/>
          </a:ln>
        </p:spPr>
      </p:cxnSp>
      <p:cxnSp>
        <p:nvCxnSpPr>
          <p:cNvPr id="157" name="g2 flow 157"/>
          <p:cNvCxnSpPr/>
          <p:nvPr/>
        </p:nvCxnSpPr>
        <p:spPr>
          <a:xfrm>
            <a:off x="8961120" y="2331720"/>
            <a:ext cx="0" cy="137160"/>
          </a:xfrm>
          <a:prstGeom prst="line">
            <a:avLst/>
          </a:prstGeom>
          <a:ln w="12700">
            <a:solidFill>
              <a:srgbClr val="EE0000"/>
            </a:solidFill>
            <a:tailEnd type="triangle" w="med" len="med"/>
          </a:ln>
        </p:spPr>
      </p:cxnSp>
      <p:cxnSp>
        <p:nvCxnSpPr>
          <p:cNvPr id="158" name="g2 flow 158"/>
          <p:cNvCxnSpPr/>
          <p:nvPr/>
        </p:nvCxnSpPr>
        <p:spPr>
          <a:xfrm>
            <a:off x="8961120" y="3337560"/>
            <a:ext cx="0" cy="137160"/>
          </a:xfrm>
          <a:prstGeom prst="line">
            <a:avLst/>
          </a:prstGeom>
          <a:ln w="12700">
            <a:solidFill>
              <a:srgbClr val="EE0000"/>
            </a:solidFill>
            <a:tailEnd type="triangle" w="med" len="med"/>
          </a:ln>
        </p:spPr>
      </p:cxnSp>
      <p:cxnSp>
        <p:nvCxnSpPr>
          <p:cNvPr id="159" name="g2 flow 159"/>
          <p:cNvCxnSpPr/>
          <p:nvPr/>
        </p:nvCxnSpPr>
        <p:spPr>
          <a:xfrm>
            <a:off x="9921240" y="3909060"/>
            <a:ext cx="137160" cy="0"/>
          </a:xfrm>
          <a:prstGeom prst="line">
            <a:avLst/>
          </a:prstGeom>
          <a:ln w="9525">
            <a:solidFill>
              <a:srgbClr val="EE0000"/>
            </a:solidFill>
          </a:ln>
        </p:spPr>
      </p:cxnSp>
      <p:cxnSp>
        <p:nvCxnSpPr>
          <p:cNvPr id="160" name="g2 flow 160"/>
          <p:cNvCxnSpPr/>
          <p:nvPr/>
        </p:nvCxnSpPr>
        <p:spPr>
          <a:xfrm>
            <a:off x="10058400" y="1897380"/>
            <a:ext cx="0" cy="2011680"/>
          </a:xfrm>
          <a:prstGeom prst="line">
            <a:avLst/>
          </a:prstGeom>
          <a:ln w="9525">
            <a:solidFill>
              <a:srgbClr val="EE0000"/>
            </a:solidFill>
          </a:ln>
        </p:spPr>
      </p:cxnSp>
      <p:cxnSp>
        <p:nvCxnSpPr>
          <p:cNvPr id="161" name="g2 flow 161"/>
          <p:cNvCxnSpPr/>
          <p:nvPr/>
        </p:nvCxnSpPr>
        <p:spPr>
          <a:xfrm>
            <a:off x="10058400" y="1897380"/>
            <a:ext cx="137160" cy="0"/>
          </a:xfrm>
          <a:prstGeom prst="line">
            <a:avLst/>
          </a:prstGeom>
          <a:ln w="12700">
            <a:solidFill>
              <a:srgbClr val="EE0000"/>
            </a:solidFill>
            <a:tailEnd type="triangle" w="med" len="med"/>
          </a:ln>
        </p:spPr>
      </p:cxnSp>
      <p:cxnSp>
        <p:nvCxnSpPr>
          <p:cNvPr id="162" name="g2 flow 162"/>
          <p:cNvCxnSpPr/>
          <p:nvPr/>
        </p:nvCxnSpPr>
        <p:spPr>
          <a:xfrm>
            <a:off x="10058400" y="2903220"/>
            <a:ext cx="137160" cy="0"/>
          </a:xfrm>
          <a:prstGeom prst="line">
            <a:avLst/>
          </a:prstGeom>
          <a:ln w="12700">
            <a:solidFill>
              <a:srgbClr val="EE0000"/>
            </a:solidFill>
            <a:tailEnd type="triangle" w="med" len="med"/>
          </a:ln>
        </p:spPr>
      </p:cxnSp>
      <p:cxnSp>
        <p:nvCxnSpPr>
          <p:cNvPr id="163" name="g2 flow 163"/>
          <p:cNvCxnSpPr/>
          <p:nvPr/>
        </p:nvCxnSpPr>
        <p:spPr>
          <a:xfrm>
            <a:off x="10058400" y="3909060"/>
            <a:ext cx="137160" cy="0"/>
          </a:xfrm>
          <a:prstGeom prst="line">
            <a:avLst/>
          </a:prstGeom>
          <a:ln w="12700">
            <a:solidFill>
              <a:srgbClr val="EE0000"/>
            </a:solidFill>
            <a:tailEnd type="triangle" w="med" len="med"/>
          </a:ln>
        </p:spPr>
      </p:cxnSp>
      <p:sp>
        <p:nvSpPr>
          <p:cNvPr id="164" name="g2 164"/>
          <p:cNvSpPr/>
          <p:nvPr/>
        </p:nvSpPr>
        <p:spPr>
          <a:xfrm>
            <a:off x="3749040" y="4553712"/>
            <a:ext cx="818388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Enterprise option: Cisco AI Defense Agent Validation</a:t>
            </a:r>
          </a:p>
          <a:p>
            <a:pPr algn="l" marL="0" indent="0">
              <a:lnSpc>
                <a:spcPct val="100000"/>
              </a:lnSpc>
              <a:buNone/>
            </a:pPr>
            <a:r>
              <a:rPr lang="en-US" sz="850" dirty="0">
                <a:solidFill>
                  <a:srgbClr val="F3E6D6"/>
                </a:solidFill>
                <a:latin typeface="Arial"/>
                <a:ea typeface="Arial"/>
                <a:cs typeface="Arial"/>
              </a:rPr>
              <a:t>4-week bake-off on two high-tier agents (same vendor family as Galileo) · track Red Hat Chatterbox AIMI</a:t>
            </a:r>
          </a:p>
        </p:txBody>
      </p:sp>
      <p:sp>
        <p:nvSpPr>
          <p:cNvPr id="165" name="g2 165"/>
          <p:cNvSpPr/>
          <p:nvPr/>
        </p:nvSpPr>
        <p:spPr>
          <a:xfrm>
            <a:off x="9921240" y="5605272"/>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Arrows: attack flow and findings</a:t>
            </a:r>
          </a:p>
        </p:txBody>
      </p:sp>
      <p:sp>
        <p:nvSpPr>
          <p:cNvPr id="166"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06 / 17</a:t>
            </a:r>
          </a:p>
        </p:txBody>
      </p:sp>
      <p:sp>
        <p:nvSpPr>
          <p:cNvPr id="167"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68"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998525" y="3636569"/>
            <a:ext cx="8621878" cy="8621878"/>
          </a:xfrm>
          <a:prstGeom prst="ellipse">
            <a:avLst/>
          </a:prstGeom>
          <a:solidFill>
            <a:srgbClr val="8A0F1A">
              <a:alpha val="2547"/>
            </a:srgbClr>
          </a:solidFill>
          <a:ln/>
        </p:spPr>
      </p:sp>
      <p:sp>
        <p:nvSpPr>
          <p:cNvPr id="3" name="Shape 1"/>
          <p:cNvSpPr/>
          <p:nvPr/>
        </p:nvSpPr>
        <p:spPr>
          <a:xfrm>
            <a:off x="-818902" y="3816191"/>
            <a:ext cx="8262633" cy="8262633"/>
          </a:xfrm>
          <a:prstGeom prst="ellipse">
            <a:avLst/>
          </a:prstGeom>
          <a:solidFill>
            <a:srgbClr val="8A0F1A">
              <a:alpha val="4218"/>
            </a:srgbClr>
          </a:solidFill>
          <a:ln/>
        </p:spPr>
      </p:sp>
      <p:sp>
        <p:nvSpPr>
          <p:cNvPr id="4" name="Shape 2"/>
          <p:cNvSpPr/>
          <p:nvPr/>
        </p:nvSpPr>
        <p:spPr>
          <a:xfrm>
            <a:off x="-639280" y="3995814"/>
            <a:ext cx="7903388" cy="7903388"/>
          </a:xfrm>
          <a:prstGeom prst="ellipse">
            <a:avLst/>
          </a:prstGeom>
          <a:solidFill>
            <a:srgbClr val="8A0F1A">
              <a:alpha val="4138"/>
            </a:srgbClr>
          </a:solidFill>
          <a:ln/>
        </p:spPr>
      </p:sp>
      <p:sp>
        <p:nvSpPr>
          <p:cNvPr id="5" name="Shape 3"/>
          <p:cNvSpPr/>
          <p:nvPr/>
        </p:nvSpPr>
        <p:spPr>
          <a:xfrm>
            <a:off x="-459657" y="4175436"/>
            <a:ext cx="7544143" cy="7544143"/>
          </a:xfrm>
          <a:prstGeom prst="ellipse">
            <a:avLst/>
          </a:prstGeom>
          <a:solidFill>
            <a:srgbClr val="8A0F1A">
              <a:alpha val="2636"/>
            </a:srgbClr>
          </a:solidFill>
          <a:ln/>
        </p:spPr>
      </p:sp>
      <p:sp>
        <p:nvSpPr>
          <p:cNvPr id="6" name="Shape 4"/>
          <p:cNvSpPr/>
          <p:nvPr/>
        </p:nvSpPr>
        <p:spPr>
          <a:xfrm>
            <a:off x="-280035" y="4355059"/>
            <a:ext cx="7184898" cy="7184898"/>
          </a:xfrm>
          <a:prstGeom prst="ellipse">
            <a:avLst/>
          </a:prstGeom>
          <a:solidFill>
            <a:srgbClr val="8A0F1A">
              <a:alpha val="2661"/>
            </a:srgbClr>
          </a:solidFill>
          <a:ln/>
        </p:spPr>
      </p:sp>
      <p:sp>
        <p:nvSpPr>
          <p:cNvPr id="7" name="Shape 5"/>
          <p:cNvSpPr/>
          <p:nvPr/>
        </p:nvSpPr>
        <p:spPr>
          <a:xfrm>
            <a:off x="-100413" y="4534681"/>
            <a:ext cx="6825653" cy="6825653"/>
          </a:xfrm>
          <a:prstGeom prst="ellipse">
            <a:avLst/>
          </a:prstGeom>
          <a:solidFill>
            <a:srgbClr val="8A0F1A">
              <a:alpha val="3304"/>
            </a:srgbClr>
          </a:solidFill>
          <a:ln/>
        </p:spPr>
      </p:sp>
      <p:sp>
        <p:nvSpPr>
          <p:cNvPr id="8" name="Shape 6"/>
          <p:cNvSpPr/>
          <p:nvPr/>
        </p:nvSpPr>
        <p:spPr>
          <a:xfrm>
            <a:off x="79210" y="4714304"/>
            <a:ext cx="6466408" cy="6466408"/>
          </a:xfrm>
          <a:prstGeom prst="ellipse">
            <a:avLst/>
          </a:prstGeom>
          <a:solidFill>
            <a:srgbClr val="8A0F1A">
              <a:alpha val="3622"/>
            </a:srgbClr>
          </a:solidFill>
          <a:ln/>
        </p:spPr>
      </p:sp>
      <p:sp>
        <p:nvSpPr>
          <p:cNvPr id="9" name="Shape 7"/>
          <p:cNvSpPr/>
          <p:nvPr/>
        </p:nvSpPr>
        <p:spPr>
          <a:xfrm>
            <a:off x="258832" y="4893926"/>
            <a:ext cx="6107163" cy="6107163"/>
          </a:xfrm>
          <a:prstGeom prst="ellipse">
            <a:avLst/>
          </a:prstGeom>
          <a:solidFill>
            <a:srgbClr val="8A0F1A">
              <a:alpha val="3650"/>
            </a:srgbClr>
          </a:solidFill>
          <a:ln/>
        </p:spPr>
      </p:sp>
      <p:sp>
        <p:nvSpPr>
          <p:cNvPr id="10" name="Shape 8"/>
          <p:cNvSpPr/>
          <p:nvPr/>
        </p:nvSpPr>
        <p:spPr>
          <a:xfrm>
            <a:off x="438455" y="5073548"/>
            <a:ext cx="5747918" cy="5747918"/>
          </a:xfrm>
          <a:prstGeom prst="ellipse">
            <a:avLst/>
          </a:prstGeom>
          <a:solidFill>
            <a:srgbClr val="8A0F1A">
              <a:alpha val="3631"/>
            </a:srgbClr>
          </a:solidFill>
          <a:ln/>
        </p:spPr>
      </p:sp>
      <p:sp>
        <p:nvSpPr>
          <p:cNvPr id="11" name="Shape 9"/>
          <p:cNvSpPr/>
          <p:nvPr/>
        </p:nvSpPr>
        <p:spPr>
          <a:xfrm>
            <a:off x="618077" y="5253171"/>
            <a:ext cx="5388674" cy="5388674"/>
          </a:xfrm>
          <a:prstGeom prst="ellipse">
            <a:avLst/>
          </a:prstGeom>
          <a:solidFill>
            <a:srgbClr val="8A0F1A">
              <a:alpha val="3693"/>
            </a:srgbClr>
          </a:solidFill>
          <a:ln/>
        </p:spPr>
      </p:sp>
      <p:sp>
        <p:nvSpPr>
          <p:cNvPr id="12" name="Shape 10"/>
          <p:cNvSpPr/>
          <p:nvPr/>
        </p:nvSpPr>
        <p:spPr>
          <a:xfrm>
            <a:off x="797700" y="5432793"/>
            <a:ext cx="5029429" cy="5029429"/>
          </a:xfrm>
          <a:prstGeom prst="ellipse">
            <a:avLst/>
          </a:prstGeom>
          <a:solidFill>
            <a:srgbClr val="8A0F1A">
              <a:alpha val="4536"/>
            </a:srgbClr>
          </a:solidFill>
          <a:ln/>
        </p:spPr>
      </p:sp>
      <p:sp>
        <p:nvSpPr>
          <p:cNvPr id="13" name="Shape 11"/>
          <p:cNvSpPr/>
          <p:nvPr/>
        </p:nvSpPr>
        <p:spPr>
          <a:xfrm>
            <a:off x="977322" y="5612416"/>
            <a:ext cx="4670184" cy="4670184"/>
          </a:xfrm>
          <a:prstGeom prst="ellipse">
            <a:avLst/>
          </a:prstGeom>
          <a:solidFill>
            <a:srgbClr val="8A0F1A">
              <a:alpha val="4737"/>
            </a:srgbClr>
          </a:solidFill>
          <a:ln/>
        </p:spPr>
      </p:sp>
      <p:sp>
        <p:nvSpPr>
          <p:cNvPr id="14" name="Shape 12"/>
          <p:cNvSpPr/>
          <p:nvPr/>
        </p:nvSpPr>
        <p:spPr>
          <a:xfrm>
            <a:off x="1156945" y="5792038"/>
            <a:ext cx="4310939" cy="4310939"/>
          </a:xfrm>
          <a:prstGeom prst="ellipse">
            <a:avLst/>
          </a:prstGeom>
          <a:solidFill>
            <a:srgbClr val="8A0F1A">
              <a:alpha val="4994"/>
            </a:srgbClr>
          </a:solidFill>
          <a:ln/>
        </p:spPr>
      </p:sp>
      <p:sp>
        <p:nvSpPr>
          <p:cNvPr id="15" name="Shape 13"/>
          <p:cNvSpPr/>
          <p:nvPr/>
        </p:nvSpPr>
        <p:spPr>
          <a:xfrm>
            <a:off x="1336567" y="5971661"/>
            <a:ext cx="3951694" cy="3951694"/>
          </a:xfrm>
          <a:prstGeom prst="ellipse">
            <a:avLst/>
          </a:prstGeom>
          <a:solidFill>
            <a:srgbClr val="8A0F1A">
              <a:alpha val="5272"/>
            </a:srgbClr>
          </a:solidFill>
          <a:ln/>
        </p:spPr>
      </p:sp>
      <p:sp>
        <p:nvSpPr>
          <p:cNvPr id="16" name="Shape 14"/>
          <p:cNvSpPr/>
          <p:nvPr/>
        </p:nvSpPr>
        <p:spPr>
          <a:xfrm>
            <a:off x="1516189" y="6151283"/>
            <a:ext cx="3592449" cy="3592449"/>
          </a:xfrm>
          <a:prstGeom prst="ellipse">
            <a:avLst/>
          </a:prstGeom>
          <a:solidFill>
            <a:srgbClr val="8A0F1A">
              <a:alpha val="5521"/>
            </a:srgbClr>
          </a:solidFill>
          <a:ln/>
        </p:spPr>
      </p:sp>
      <p:sp>
        <p:nvSpPr>
          <p:cNvPr id="17" name="Shape 15"/>
          <p:cNvSpPr/>
          <p:nvPr/>
        </p:nvSpPr>
        <p:spPr>
          <a:xfrm>
            <a:off x="1695812" y="6330906"/>
            <a:ext cx="3233204" cy="3233204"/>
          </a:xfrm>
          <a:prstGeom prst="ellipse">
            <a:avLst/>
          </a:prstGeom>
          <a:solidFill>
            <a:srgbClr val="8A0F1A">
              <a:alpha val="6496"/>
            </a:srgbClr>
          </a:solidFill>
          <a:ln/>
        </p:spPr>
      </p:sp>
      <p:sp>
        <p:nvSpPr>
          <p:cNvPr id="18" name="Shape 16"/>
          <p:cNvSpPr/>
          <p:nvPr/>
        </p:nvSpPr>
        <p:spPr>
          <a:xfrm>
            <a:off x="1875434" y="6510528"/>
            <a:ext cx="2873959" cy="2873959"/>
          </a:xfrm>
          <a:prstGeom prst="ellipse">
            <a:avLst/>
          </a:prstGeom>
          <a:solidFill>
            <a:srgbClr val="8A0F1A">
              <a:alpha val="6768"/>
            </a:srgbClr>
          </a:solidFill>
          <a:ln/>
        </p:spPr>
      </p:sp>
      <p:sp>
        <p:nvSpPr>
          <p:cNvPr id="19" name="Shape 17"/>
          <p:cNvSpPr/>
          <p:nvPr/>
        </p:nvSpPr>
        <p:spPr>
          <a:xfrm>
            <a:off x="2055057" y="6690150"/>
            <a:ext cx="2514714" cy="2514714"/>
          </a:xfrm>
          <a:prstGeom prst="ellipse">
            <a:avLst/>
          </a:prstGeom>
          <a:solidFill>
            <a:srgbClr val="8A0F1A">
              <a:alpha val="7123"/>
            </a:srgbClr>
          </a:solidFill>
          <a:ln/>
        </p:spPr>
      </p:sp>
      <p:sp>
        <p:nvSpPr>
          <p:cNvPr id="20" name="Shape 18"/>
          <p:cNvSpPr/>
          <p:nvPr/>
        </p:nvSpPr>
        <p:spPr>
          <a:xfrm>
            <a:off x="2234679" y="6869773"/>
            <a:ext cx="2155469" cy="2155469"/>
          </a:xfrm>
          <a:prstGeom prst="ellipse">
            <a:avLst/>
          </a:prstGeom>
          <a:solidFill>
            <a:srgbClr val="8A0F1A">
              <a:alpha val="7486"/>
            </a:srgbClr>
          </a:solidFill>
          <a:ln/>
        </p:spPr>
      </p:sp>
      <p:sp>
        <p:nvSpPr>
          <p:cNvPr id="21" name="Shape 19"/>
          <p:cNvSpPr/>
          <p:nvPr/>
        </p:nvSpPr>
        <p:spPr>
          <a:xfrm>
            <a:off x="2414302" y="7049395"/>
            <a:ext cx="1796225" cy="1796225"/>
          </a:xfrm>
          <a:prstGeom prst="ellipse">
            <a:avLst/>
          </a:prstGeom>
          <a:solidFill>
            <a:srgbClr val="8A0F1A">
              <a:alpha val="8191"/>
            </a:srgbClr>
          </a:solidFill>
          <a:ln/>
        </p:spPr>
      </p:sp>
      <p:sp>
        <p:nvSpPr>
          <p:cNvPr id="22" name="Shape 20"/>
          <p:cNvSpPr/>
          <p:nvPr/>
        </p:nvSpPr>
        <p:spPr>
          <a:xfrm>
            <a:off x="2593924" y="7229018"/>
            <a:ext cx="1436980" cy="1436980"/>
          </a:xfrm>
          <a:prstGeom prst="ellipse">
            <a:avLst/>
          </a:prstGeom>
          <a:solidFill>
            <a:srgbClr val="8A0F1A">
              <a:alpha val="9466"/>
            </a:srgbClr>
          </a:solidFill>
          <a:ln/>
        </p:spPr>
      </p:sp>
      <p:sp>
        <p:nvSpPr>
          <p:cNvPr id="23" name="Shape 21"/>
          <p:cNvSpPr/>
          <p:nvPr/>
        </p:nvSpPr>
        <p:spPr>
          <a:xfrm>
            <a:off x="2773547" y="7408640"/>
            <a:ext cx="1077735" cy="1077735"/>
          </a:xfrm>
          <a:prstGeom prst="ellipse">
            <a:avLst/>
          </a:prstGeom>
          <a:solidFill>
            <a:srgbClr val="8A0F1A">
              <a:alpha val="10120"/>
            </a:srgbClr>
          </a:solidFill>
          <a:ln/>
        </p:spPr>
      </p:sp>
      <p:sp>
        <p:nvSpPr>
          <p:cNvPr id="24" name="Shape 22"/>
          <p:cNvSpPr/>
          <p:nvPr/>
        </p:nvSpPr>
        <p:spPr>
          <a:xfrm>
            <a:off x="2953169" y="7588263"/>
            <a:ext cx="718490" cy="718490"/>
          </a:xfrm>
          <a:prstGeom prst="ellipse">
            <a:avLst/>
          </a:prstGeom>
          <a:solidFill>
            <a:srgbClr val="8A0F1A">
              <a:alpha val="10280"/>
            </a:srgbClr>
          </a:solidFill>
          <a:ln/>
        </p:spPr>
      </p:sp>
      <p:sp>
        <p:nvSpPr>
          <p:cNvPr id="25" name="Shape 23"/>
          <p:cNvSpPr/>
          <p:nvPr/>
        </p:nvSpPr>
        <p:spPr>
          <a:xfrm>
            <a:off x="3132792" y="7767885"/>
            <a:ext cx="359245" cy="359245"/>
          </a:xfrm>
          <a:prstGeom prst="ellipse">
            <a:avLst/>
          </a:prstGeom>
          <a:solidFill>
            <a:srgbClr val="8A0F1A">
              <a:alpha val="10999"/>
            </a:srgbClr>
          </a:solidFill>
          <a:ln/>
        </p:spPr>
      </p:sp>
      <p:sp>
        <p:nvSpPr>
          <p:cNvPr id="26" name="Shape 24"/>
          <p:cNvSpPr/>
          <p:nvPr/>
        </p:nvSpPr>
        <p:spPr>
          <a:xfrm>
            <a:off x="-3478378" y="-5801868"/>
            <a:ext cx="8621878" cy="8621878"/>
          </a:xfrm>
          <a:prstGeom prst="ellipse">
            <a:avLst/>
          </a:prstGeom>
          <a:solidFill>
            <a:srgbClr val="8A0F1A">
              <a:alpha val="2547"/>
            </a:srgbClr>
          </a:solidFill>
          <a:ln/>
        </p:spPr>
      </p:sp>
      <p:sp>
        <p:nvSpPr>
          <p:cNvPr id="27" name="Shape 25"/>
          <p:cNvSpPr/>
          <p:nvPr/>
        </p:nvSpPr>
        <p:spPr>
          <a:xfrm>
            <a:off x="-3298755" y="-5622246"/>
            <a:ext cx="8262633" cy="8262633"/>
          </a:xfrm>
          <a:prstGeom prst="ellipse">
            <a:avLst/>
          </a:prstGeom>
          <a:solidFill>
            <a:srgbClr val="8A0F1A">
              <a:alpha val="4218"/>
            </a:srgbClr>
          </a:solidFill>
          <a:ln/>
        </p:spPr>
      </p:sp>
      <p:sp>
        <p:nvSpPr>
          <p:cNvPr id="28" name="Shape 26"/>
          <p:cNvSpPr/>
          <p:nvPr/>
        </p:nvSpPr>
        <p:spPr>
          <a:xfrm>
            <a:off x="-3119133" y="-5442623"/>
            <a:ext cx="7903388" cy="7903388"/>
          </a:xfrm>
          <a:prstGeom prst="ellipse">
            <a:avLst/>
          </a:prstGeom>
          <a:solidFill>
            <a:srgbClr val="8A0F1A">
              <a:alpha val="4138"/>
            </a:srgbClr>
          </a:solidFill>
          <a:ln/>
        </p:spPr>
      </p:sp>
      <p:sp>
        <p:nvSpPr>
          <p:cNvPr id="29" name="Shape 27"/>
          <p:cNvSpPr/>
          <p:nvPr/>
        </p:nvSpPr>
        <p:spPr>
          <a:xfrm>
            <a:off x="-2939510" y="-5263001"/>
            <a:ext cx="7544143" cy="7544143"/>
          </a:xfrm>
          <a:prstGeom prst="ellipse">
            <a:avLst/>
          </a:prstGeom>
          <a:solidFill>
            <a:srgbClr val="8A0F1A">
              <a:alpha val="2636"/>
            </a:srgbClr>
          </a:solidFill>
          <a:ln/>
        </p:spPr>
      </p:sp>
      <p:sp>
        <p:nvSpPr>
          <p:cNvPr id="30" name="Shape 28"/>
          <p:cNvSpPr/>
          <p:nvPr/>
        </p:nvSpPr>
        <p:spPr>
          <a:xfrm>
            <a:off x="-2759888" y="-5083378"/>
            <a:ext cx="7184898" cy="7184898"/>
          </a:xfrm>
          <a:prstGeom prst="ellipse">
            <a:avLst/>
          </a:prstGeom>
          <a:solidFill>
            <a:srgbClr val="8A0F1A">
              <a:alpha val="2661"/>
            </a:srgbClr>
          </a:solidFill>
          <a:ln/>
        </p:spPr>
      </p:sp>
      <p:sp>
        <p:nvSpPr>
          <p:cNvPr id="31" name="Shape 29"/>
          <p:cNvSpPr/>
          <p:nvPr/>
        </p:nvSpPr>
        <p:spPr>
          <a:xfrm>
            <a:off x="-2580265" y="-4903756"/>
            <a:ext cx="6825653" cy="6825653"/>
          </a:xfrm>
          <a:prstGeom prst="ellipse">
            <a:avLst/>
          </a:prstGeom>
          <a:solidFill>
            <a:srgbClr val="8A0F1A">
              <a:alpha val="3304"/>
            </a:srgbClr>
          </a:solidFill>
          <a:ln/>
        </p:spPr>
      </p:sp>
      <p:sp>
        <p:nvSpPr>
          <p:cNvPr id="32" name="Shape 30"/>
          <p:cNvSpPr/>
          <p:nvPr/>
        </p:nvSpPr>
        <p:spPr>
          <a:xfrm>
            <a:off x="-2400643" y="-4724133"/>
            <a:ext cx="6466408" cy="6466408"/>
          </a:xfrm>
          <a:prstGeom prst="ellipse">
            <a:avLst/>
          </a:prstGeom>
          <a:solidFill>
            <a:srgbClr val="8A0F1A">
              <a:alpha val="3622"/>
            </a:srgbClr>
          </a:solidFill>
          <a:ln/>
        </p:spPr>
      </p:sp>
      <p:sp>
        <p:nvSpPr>
          <p:cNvPr id="33" name="Shape 31"/>
          <p:cNvSpPr/>
          <p:nvPr/>
        </p:nvSpPr>
        <p:spPr>
          <a:xfrm>
            <a:off x="-2221020" y="-4544511"/>
            <a:ext cx="6107163" cy="6107163"/>
          </a:xfrm>
          <a:prstGeom prst="ellipse">
            <a:avLst/>
          </a:prstGeom>
          <a:solidFill>
            <a:srgbClr val="8A0F1A">
              <a:alpha val="3650"/>
            </a:srgbClr>
          </a:solidFill>
          <a:ln/>
        </p:spPr>
      </p:sp>
      <p:sp>
        <p:nvSpPr>
          <p:cNvPr id="34" name="Shape 32"/>
          <p:cNvSpPr/>
          <p:nvPr/>
        </p:nvSpPr>
        <p:spPr>
          <a:xfrm>
            <a:off x="-2041398" y="-4364888"/>
            <a:ext cx="5747918" cy="5747918"/>
          </a:xfrm>
          <a:prstGeom prst="ellipse">
            <a:avLst/>
          </a:prstGeom>
          <a:solidFill>
            <a:srgbClr val="8A0F1A">
              <a:alpha val="3631"/>
            </a:srgbClr>
          </a:solidFill>
          <a:ln/>
        </p:spPr>
      </p:sp>
      <p:sp>
        <p:nvSpPr>
          <p:cNvPr id="35" name="Shape 33"/>
          <p:cNvSpPr/>
          <p:nvPr/>
        </p:nvSpPr>
        <p:spPr>
          <a:xfrm>
            <a:off x="-1861776" y="-4185266"/>
            <a:ext cx="5388674" cy="5388674"/>
          </a:xfrm>
          <a:prstGeom prst="ellipse">
            <a:avLst/>
          </a:prstGeom>
          <a:solidFill>
            <a:srgbClr val="8A0F1A">
              <a:alpha val="3693"/>
            </a:srgbClr>
          </a:solidFill>
          <a:ln/>
        </p:spPr>
      </p:sp>
      <p:sp>
        <p:nvSpPr>
          <p:cNvPr id="36" name="Shape 34"/>
          <p:cNvSpPr/>
          <p:nvPr/>
        </p:nvSpPr>
        <p:spPr>
          <a:xfrm>
            <a:off x="-1682153" y="-4005643"/>
            <a:ext cx="5029429" cy="5029429"/>
          </a:xfrm>
          <a:prstGeom prst="ellipse">
            <a:avLst/>
          </a:prstGeom>
          <a:solidFill>
            <a:srgbClr val="8A0F1A">
              <a:alpha val="4536"/>
            </a:srgbClr>
          </a:solidFill>
          <a:ln/>
        </p:spPr>
      </p:sp>
      <p:sp>
        <p:nvSpPr>
          <p:cNvPr id="37" name="Shape 35"/>
          <p:cNvSpPr/>
          <p:nvPr/>
        </p:nvSpPr>
        <p:spPr>
          <a:xfrm>
            <a:off x="-1502531" y="-3826021"/>
            <a:ext cx="4670184" cy="4670184"/>
          </a:xfrm>
          <a:prstGeom prst="ellipse">
            <a:avLst/>
          </a:prstGeom>
          <a:solidFill>
            <a:srgbClr val="8A0F1A">
              <a:alpha val="4737"/>
            </a:srgbClr>
          </a:solidFill>
          <a:ln/>
        </p:spPr>
      </p:sp>
      <p:sp>
        <p:nvSpPr>
          <p:cNvPr id="38" name="Shape 36"/>
          <p:cNvSpPr/>
          <p:nvPr/>
        </p:nvSpPr>
        <p:spPr>
          <a:xfrm>
            <a:off x="-1322908" y="-3646399"/>
            <a:ext cx="4310939" cy="4310939"/>
          </a:xfrm>
          <a:prstGeom prst="ellipse">
            <a:avLst/>
          </a:prstGeom>
          <a:solidFill>
            <a:srgbClr val="8A0F1A">
              <a:alpha val="4994"/>
            </a:srgbClr>
          </a:solidFill>
          <a:ln/>
        </p:spPr>
      </p:sp>
      <p:sp>
        <p:nvSpPr>
          <p:cNvPr id="39" name="Shape 37"/>
          <p:cNvSpPr/>
          <p:nvPr/>
        </p:nvSpPr>
        <p:spPr>
          <a:xfrm>
            <a:off x="-1143286" y="-3466776"/>
            <a:ext cx="3951694" cy="3951694"/>
          </a:xfrm>
          <a:prstGeom prst="ellipse">
            <a:avLst/>
          </a:prstGeom>
          <a:solidFill>
            <a:srgbClr val="8A0F1A">
              <a:alpha val="5272"/>
            </a:srgbClr>
          </a:solidFill>
          <a:ln/>
        </p:spPr>
      </p:sp>
      <p:sp>
        <p:nvSpPr>
          <p:cNvPr id="40" name="Shape 38"/>
          <p:cNvSpPr/>
          <p:nvPr/>
        </p:nvSpPr>
        <p:spPr>
          <a:xfrm>
            <a:off x="-963663" y="-3287154"/>
            <a:ext cx="3592449" cy="3592449"/>
          </a:xfrm>
          <a:prstGeom prst="ellipse">
            <a:avLst/>
          </a:prstGeom>
          <a:solidFill>
            <a:srgbClr val="8A0F1A">
              <a:alpha val="5521"/>
            </a:srgbClr>
          </a:solidFill>
          <a:ln/>
        </p:spPr>
      </p:sp>
      <p:sp>
        <p:nvSpPr>
          <p:cNvPr id="41" name="Shape 39"/>
          <p:cNvSpPr/>
          <p:nvPr/>
        </p:nvSpPr>
        <p:spPr>
          <a:xfrm>
            <a:off x="-784041" y="-3107531"/>
            <a:ext cx="3233204" cy="3233204"/>
          </a:xfrm>
          <a:prstGeom prst="ellipse">
            <a:avLst/>
          </a:prstGeom>
          <a:solidFill>
            <a:srgbClr val="8A0F1A">
              <a:alpha val="6496"/>
            </a:srgbClr>
          </a:solidFill>
          <a:ln/>
        </p:spPr>
      </p:sp>
      <p:sp>
        <p:nvSpPr>
          <p:cNvPr id="42" name="Shape 40"/>
          <p:cNvSpPr/>
          <p:nvPr/>
        </p:nvSpPr>
        <p:spPr>
          <a:xfrm>
            <a:off x="-604418" y="-2927909"/>
            <a:ext cx="2873959" cy="2873959"/>
          </a:xfrm>
          <a:prstGeom prst="ellipse">
            <a:avLst/>
          </a:prstGeom>
          <a:solidFill>
            <a:srgbClr val="8A0F1A">
              <a:alpha val="6768"/>
            </a:srgbClr>
          </a:solidFill>
          <a:ln/>
        </p:spPr>
      </p:sp>
      <p:sp>
        <p:nvSpPr>
          <p:cNvPr id="43" name="Shape 41"/>
          <p:cNvSpPr/>
          <p:nvPr/>
        </p:nvSpPr>
        <p:spPr>
          <a:xfrm>
            <a:off x="-424796" y="-2748286"/>
            <a:ext cx="2514714" cy="2514714"/>
          </a:xfrm>
          <a:prstGeom prst="ellipse">
            <a:avLst/>
          </a:prstGeom>
          <a:solidFill>
            <a:srgbClr val="8A0F1A">
              <a:alpha val="7123"/>
            </a:srgbClr>
          </a:solidFill>
          <a:ln/>
        </p:spPr>
      </p:sp>
      <p:sp>
        <p:nvSpPr>
          <p:cNvPr id="44" name="Shape 42"/>
          <p:cNvSpPr/>
          <p:nvPr/>
        </p:nvSpPr>
        <p:spPr>
          <a:xfrm>
            <a:off x="-245173" y="-2568664"/>
            <a:ext cx="2155469" cy="2155469"/>
          </a:xfrm>
          <a:prstGeom prst="ellipse">
            <a:avLst/>
          </a:prstGeom>
          <a:solidFill>
            <a:srgbClr val="8A0F1A">
              <a:alpha val="7486"/>
            </a:srgbClr>
          </a:solidFill>
          <a:ln/>
        </p:spPr>
      </p:sp>
      <p:sp>
        <p:nvSpPr>
          <p:cNvPr id="45" name="Shape 43"/>
          <p:cNvSpPr/>
          <p:nvPr/>
        </p:nvSpPr>
        <p:spPr>
          <a:xfrm>
            <a:off x="-65551" y="-2389041"/>
            <a:ext cx="1796225" cy="1796225"/>
          </a:xfrm>
          <a:prstGeom prst="ellipse">
            <a:avLst/>
          </a:prstGeom>
          <a:solidFill>
            <a:srgbClr val="8A0F1A">
              <a:alpha val="8191"/>
            </a:srgbClr>
          </a:solidFill>
          <a:ln/>
        </p:spPr>
      </p:sp>
      <p:sp>
        <p:nvSpPr>
          <p:cNvPr id="46" name="Shape 44"/>
          <p:cNvSpPr/>
          <p:nvPr/>
        </p:nvSpPr>
        <p:spPr>
          <a:xfrm>
            <a:off x="114071" y="-2209419"/>
            <a:ext cx="1436980" cy="1436980"/>
          </a:xfrm>
          <a:prstGeom prst="ellipse">
            <a:avLst/>
          </a:prstGeom>
          <a:solidFill>
            <a:srgbClr val="8A0F1A">
              <a:alpha val="9466"/>
            </a:srgbClr>
          </a:solidFill>
          <a:ln/>
        </p:spPr>
      </p:sp>
      <p:sp>
        <p:nvSpPr>
          <p:cNvPr id="47" name="Shape 45"/>
          <p:cNvSpPr/>
          <p:nvPr/>
        </p:nvSpPr>
        <p:spPr>
          <a:xfrm>
            <a:off x="293694" y="-2029797"/>
            <a:ext cx="1077735" cy="1077735"/>
          </a:xfrm>
          <a:prstGeom prst="ellipse">
            <a:avLst/>
          </a:prstGeom>
          <a:solidFill>
            <a:srgbClr val="8A0F1A">
              <a:alpha val="10120"/>
            </a:srgbClr>
          </a:solidFill>
          <a:ln/>
        </p:spPr>
      </p:sp>
      <p:sp>
        <p:nvSpPr>
          <p:cNvPr id="48" name="Shape 46"/>
          <p:cNvSpPr/>
          <p:nvPr/>
        </p:nvSpPr>
        <p:spPr>
          <a:xfrm>
            <a:off x="473316" y="-1850174"/>
            <a:ext cx="718490" cy="718490"/>
          </a:xfrm>
          <a:prstGeom prst="ellipse">
            <a:avLst/>
          </a:prstGeom>
          <a:solidFill>
            <a:srgbClr val="8A0F1A">
              <a:alpha val="10280"/>
            </a:srgbClr>
          </a:solidFill>
          <a:ln/>
        </p:spPr>
      </p:sp>
      <p:sp>
        <p:nvSpPr>
          <p:cNvPr id="49" name="Shape 47"/>
          <p:cNvSpPr/>
          <p:nvPr/>
        </p:nvSpPr>
        <p:spPr>
          <a:xfrm>
            <a:off x="652939" y="-1670552"/>
            <a:ext cx="359245" cy="359245"/>
          </a:xfrm>
          <a:prstGeom prst="ellipse">
            <a:avLst/>
          </a:prstGeom>
          <a:solidFill>
            <a:srgbClr val="8A0F1A">
              <a:alpha val="10999"/>
            </a:srgbClr>
          </a:solidFill>
          <a:ln/>
        </p:spPr>
      </p:sp>
      <p:sp>
        <p:nvSpPr>
          <p:cNvPr id="50" name="Text 48"/>
          <p:cNvSpPr/>
          <p:nvPr/>
        </p:nvSpPr>
        <p:spPr>
          <a:xfrm>
            <a:off x="616306" y="4871923"/>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Harness optimisation: the new lever</a:t>
            </a:r>
          </a:p>
        </p:txBody>
      </p:sp>
      <p:sp>
        <p:nvSpPr>
          <p:cNvPr id="51" name="Text 49"/>
          <p:cNvSpPr/>
          <p:nvPr/>
        </p:nvSpPr>
        <p:spPr>
          <a:xfrm>
            <a:off x="615391" y="5100523"/>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Optimise</a:t>
            </a:r>
          </a:p>
        </p:txBody>
      </p:sp>
      <p:sp>
        <p:nvSpPr>
          <p:cNvPr id="52" name="Text 50"/>
          <p:cNvSpPr/>
          <p:nvPr/>
        </p:nvSpPr>
        <p:spPr>
          <a:xfrm>
            <a:off x="1288390" y="5592470"/>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the harness</a:t>
            </a:r>
          </a:p>
        </p:txBody>
      </p:sp>
      <p:sp>
        <p:nvSpPr>
          <p:cNvPr id="53" name="Shape 51"/>
          <p:cNvSpPr/>
          <p:nvPr/>
        </p:nvSpPr>
        <p:spPr>
          <a:xfrm rot="16200000">
            <a:off x="875995" y="5717743"/>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4526280" y="5138928"/>
            <a:ext cx="416052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The harness is everything around the model: prompt, tool descriptions, context and memory policy, model route, parameters. GEPA beat RL fine-tuning (GRPO) by 6% on average, up to 20%, with up to 35× fewer rollouts. Pilot: one agent, measured as Galileo score uplift on held-out scenarios.</a:t>
            </a:r>
          </a:p>
        </p:txBody>
      </p:sp>
      <p:sp>
        <p:nvSpPr>
          <p:cNvPr id="55" name="Shape 53"/>
          <p:cNvSpPr/>
          <p:nvPr/>
        </p:nvSpPr>
        <p:spPr>
          <a:xfrm>
            <a:off x="8928202" y="3636569"/>
            <a:ext cx="2371039" cy="2519172"/>
          </a:xfrm>
          <a:prstGeom prst="roundRect">
            <a:avLst>
              <a:gd name="adj" fmla="val 8639"/>
            </a:avLst>
          </a:prstGeom>
          <a:solidFill>
            <a:srgbClr val="141010"/>
          </a:solidFill>
          <a:ln w="6350">
            <a:solidFill>
              <a:srgbClr val="D9B48A"/>
            </a:solidFill>
            <a:prstDash val="solid"/>
          </a:ln>
        </p:spPr>
      </p:sp>
      <p:sp>
        <p:nvSpPr>
          <p:cNvPr id="56" name="Shape 54"/>
          <p:cNvSpPr/>
          <p:nvPr/>
        </p:nvSpPr>
        <p:spPr>
          <a:xfrm>
            <a:off x="10333634" y="3856939"/>
            <a:ext cx="801929" cy="374904"/>
          </a:xfrm>
          <a:prstGeom prst="roundRect">
            <a:avLst>
              <a:gd name="adj" fmla="val 50000"/>
            </a:avLst>
          </a:prstGeom>
          <a:solidFill>
            <a:srgbClr val="8A0F1A">
              <a:alpha val="15600"/>
            </a:srgbClr>
          </a:solidFill>
          <a:ln w="6350">
            <a:solidFill>
              <a:srgbClr val="D9B48A"/>
            </a:solidFill>
            <a:prstDash val="solid"/>
          </a:ln>
        </p:spPr>
      </p:sp>
      <p:sp>
        <p:nvSpPr>
          <p:cNvPr id="57" name="Text 55"/>
          <p:cNvSpPr/>
          <p:nvPr/>
        </p:nvSpPr>
        <p:spPr>
          <a:xfrm>
            <a:off x="10333634" y="3856939"/>
            <a:ext cx="801929"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Optional</a:t>
            </a:r>
          </a:p>
        </p:txBody>
      </p:sp>
      <p:sp>
        <p:nvSpPr>
          <p:cNvPr id="58" name="Text 56"/>
          <p:cNvSpPr/>
          <p:nvPr/>
        </p:nvSpPr>
        <p:spPr>
          <a:xfrm>
            <a:off x="9133027" y="4297680"/>
            <a:ext cx="2194560" cy="585216"/>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Fine-tune only on a plateau</a:t>
            </a:r>
          </a:p>
        </p:txBody>
      </p:sp>
      <p:sp>
        <p:nvSpPr>
          <p:cNvPr id="59" name="Text 57"/>
          <p:cNvSpPr/>
          <p:nvPr/>
        </p:nvSpPr>
        <p:spPr>
          <a:xfrm>
            <a:off x="9133027" y="4846320"/>
            <a:ext cx="2240280" cy="825703"/>
          </a:xfrm>
          <a:prstGeom prst="rect">
            <a:avLst/>
          </a:prstGeom>
          <a:noFill/>
          <a:ln/>
        </p:spPr>
        <p:txBody>
          <a:bodyPr wrap="square" lIns="91440" tIns="45720" rIns="91440" bIns="45720" rtlCol="0" anchor="t">
            <a:spAutoFit/>
          </a:bodyPr>
          <a:lstStyle/>
          <a:p>
            <a:pPr indent="0" marL="0">
              <a:lnSpc>
                <a:spcPct val="125000"/>
              </a:lnSpc>
              <a:buNone/>
            </a:pPr>
            <a:r>
              <a:rPr lang="en-US" sz="1000" dirty="0">
                <a:solidFill>
                  <a:srgbClr val="F3E6D6"/>
                </a:solidFill>
                <a:latin typeface="Arial" pitchFamily="34" charset="0"/>
                <a:ea typeface="Arial" pitchFamily="34" charset="-122"/>
                <a:cs typeface="Arial" pitchFamily="34" charset="-120"/>
              </a:rPr>
              <a:t>One small Red Hat Training Hub pilot. The adapter re-enters at simulation and clears the same gates.</a:t>
            </a:r>
          </a:p>
        </p:txBody>
      </p:sp>
      <p:sp>
        <p:nvSpPr>
          <p:cNvPr id="111" name="g2 111"/>
          <p:cNvSpPr/>
          <p:nvPr/>
        </p:nvSpPr>
        <p:spPr>
          <a:xfrm>
            <a:off x="548640" y="914400"/>
            <a:ext cx="242316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Optimiser: GEPA via MLflow</a:t>
            </a:r>
          </a:p>
          <a:p>
            <a:pPr algn="l" marL="0" indent="0">
              <a:lnSpc>
                <a:spcPct val="100000"/>
              </a:lnSpc>
              <a:buNone/>
            </a:pPr>
            <a:r>
              <a:rPr lang="en-US" sz="850" dirty="0">
                <a:solidFill>
                  <a:srgbClr val="F3E6D6"/>
                </a:solidFill>
                <a:latin typeface="Arial"/>
                <a:ea typeface="Arial"/>
                <a:cs typeface="Arial"/>
              </a:rPr>
              <a:t>Training Hub entry point · Meta-Harness pilot where harness code is the bottleneck · startup: Lucidic AI (exploring)</a:t>
            </a:r>
          </a:p>
        </p:txBody>
      </p:sp>
      <p:sp>
        <p:nvSpPr>
          <p:cNvPr id="112" name="g2 112"/>
          <p:cNvSpPr/>
          <p:nvPr/>
        </p:nvSpPr>
        <p:spPr>
          <a:xfrm>
            <a:off x="3520440" y="914400"/>
            <a:ext cx="24231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Candidate harness @version</a:t>
            </a:r>
          </a:p>
          <a:p>
            <a:pPr algn="l" marL="0" indent="0">
              <a:lnSpc>
                <a:spcPct val="100000"/>
              </a:lnSpc>
              <a:buNone/>
            </a:pPr>
            <a:r>
              <a:rPr lang="en-US" sz="850" dirty="0">
                <a:solidFill>
                  <a:srgbClr val="141010"/>
                </a:solidFill>
                <a:latin typeface="Arial"/>
                <a:ea typeface="Arial"/>
                <a:cs typeface="Arial"/>
              </a:rPr>
              <a:t>prompt · tool descriptions · context / memory policy · model route · params · OSS agent framework: AWS Strands Agents</a:t>
            </a:r>
          </a:p>
        </p:txBody>
      </p:sp>
      <p:sp>
        <p:nvSpPr>
          <p:cNvPr id="113" name="g2 113"/>
          <p:cNvSpPr/>
          <p:nvPr/>
        </p:nvSpPr>
        <p:spPr>
          <a:xfrm>
            <a:off x="3520440" y="2697480"/>
            <a:ext cx="242316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Simulation suite (train split)</a:t>
            </a:r>
          </a:p>
          <a:p>
            <a:pPr algn="l" marL="0" indent="0">
              <a:lnSpc>
                <a:spcPct val="100000"/>
              </a:lnSpc>
              <a:buNone/>
            </a:pPr>
            <a:r>
              <a:rPr lang="en-US" sz="850" dirty="0">
                <a:solidFill>
                  <a:srgbClr val="F3E6D6"/>
                </a:solidFill>
                <a:latin typeface="Arial"/>
                <a:ea typeface="Arial"/>
                <a:cs typeface="Arial"/>
              </a:rPr>
              <a:t>SDG Hub scenarios + persona sim · pass^k · seeded by Galileo Signals</a:t>
            </a:r>
          </a:p>
        </p:txBody>
      </p:sp>
      <p:sp>
        <p:nvSpPr>
          <p:cNvPr id="114" name="g2 114"/>
          <p:cNvSpPr/>
          <p:nvPr/>
        </p:nvSpPr>
        <p:spPr>
          <a:xfrm>
            <a:off x="548640" y="2697480"/>
            <a:ext cx="242316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Objective: Galileo (Arize exploring)</a:t>
            </a:r>
          </a:p>
          <a:p>
            <a:pPr algn="l" marL="0" indent="0">
              <a:lnSpc>
                <a:spcPct val="100000"/>
              </a:lnSpc>
              <a:buNone/>
            </a:pPr>
            <a:r>
              <a:rPr lang="en-US" sz="850" dirty="0">
                <a:solidFill>
                  <a:srgbClr val="F3E6D6"/>
                </a:solidFill>
                <a:latin typeface="Arial"/>
                <a:ea typeface="Arial"/>
                <a:cs typeface="Arial"/>
              </a:rPr>
              <a:t>session metrics + textual feedback on every run</a:t>
            </a:r>
          </a:p>
        </p:txBody>
      </p:sp>
      <p:cxnSp>
        <p:nvCxnSpPr>
          <p:cNvPr id="115" name="g2 flow 115"/>
          <p:cNvCxnSpPr/>
          <p:nvPr/>
        </p:nvCxnSpPr>
        <p:spPr>
          <a:xfrm>
            <a:off x="2971800" y="1344168"/>
            <a:ext cx="548640" cy="0"/>
          </a:xfrm>
          <a:prstGeom prst="line">
            <a:avLst/>
          </a:prstGeom>
          <a:ln w="12700">
            <a:solidFill>
              <a:srgbClr val="EE0000"/>
            </a:solidFill>
            <a:tailEnd type="triangle" w="med" len="med"/>
          </a:ln>
        </p:spPr>
      </p:cxnSp>
      <p:sp>
        <p:nvSpPr>
          <p:cNvPr id="116" name="g2 116"/>
          <p:cNvSpPr/>
          <p:nvPr/>
        </p:nvSpPr>
        <p:spPr>
          <a:xfrm>
            <a:off x="2999232" y="1097280"/>
            <a:ext cx="54864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propose</a:t>
            </a:r>
          </a:p>
        </p:txBody>
      </p:sp>
      <p:cxnSp>
        <p:nvCxnSpPr>
          <p:cNvPr id="117" name="g2 flow 117"/>
          <p:cNvCxnSpPr/>
          <p:nvPr/>
        </p:nvCxnSpPr>
        <p:spPr>
          <a:xfrm>
            <a:off x="4709160" y="1783080"/>
            <a:ext cx="0" cy="914400"/>
          </a:xfrm>
          <a:prstGeom prst="line">
            <a:avLst/>
          </a:prstGeom>
          <a:ln w="12700">
            <a:solidFill>
              <a:srgbClr val="EE0000"/>
            </a:solidFill>
            <a:tailEnd type="triangle" w="med" len="med"/>
          </a:ln>
        </p:spPr>
      </p:cxnSp>
      <p:sp>
        <p:nvSpPr>
          <p:cNvPr id="118" name="g2 118"/>
          <p:cNvSpPr/>
          <p:nvPr/>
        </p:nvSpPr>
        <p:spPr>
          <a:xfrm>
            <a:off x="4782312" y="2103120"/>
            <a:ext cx="7315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run</a:t>
            </a:r>
          </a:p>
        </p:txBody>
      </p:sp>
      <p:cxnSp>
        <p:nvCxnSpPr>
          <p:cNvPr id="119" name="g2 flow 119"/>
          <p:cNvCxnSpPr/>
          <p:nvPr/>
        </p:nvCxnSpPr>
        <p:spPr>
          <a:xfrm flipH="1">
            <a:off x="2971800" y="3127248"/>
            <a:ext cx="548640" cy="0"/>
          </a:xfrm>
          <a:prstGeom prst="line">
            <a:avLst/>
          </a:prstGeom>
          <a:ln w="12700">
            <a:solidFill>
              <a:srgbClr val="EE0000"/>
            </a:solidFill>
            <a:tailEnd type="triangle" w="med" len="med"/>
          </a:ln>
        </p:spPr>
      </p:cxnSp>
      <p:sp>
        <p:nvSpPr>
          <p:cNvPr id="120" name="g2 120"/>
          <p:cNvSpPr/>
          <p:nvPr/>
        </p:nvSpPr>
        <p:spPr>
          <a:xfrm>
            <a:off x="3017520" y="3154680"/>
            <a:ext cx="54864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score</a:t>
            </a:r>
          </a:p>
        </p:txBody>
      </p:sp>
      <p:cxnSp>
        <p:nvCxnSpPr>
          <p:cNvPr id="121" name="g2 flow 121"/>
          <p:cNvCxnSpPr/>
          <p:nvPr/>
        </p:nvCxnSpPr>
        <p:spPr>
          <a:xfrm flipV="1">
            <a:off x="1737360" y="1783080"/>
            <a:ext cx="0" cy="914400"/>
          </a:xfrm>
          <a:prstGeom prst="line">
            <a:avLst/>
          </a:prstGeom>
          <a:ln w="12700">
            <a:solidFill>
              <a:srgbClr val="EE0000"/>
            </a:solidFill>
            <a:tailEnd type="triangle" w="med" len="med"/>
          </a:ln>
        </p:spPr>
      </p:cxnSp>
      <p:sp>
        <p:nvSpPr>
          <p:cNvPr id="122" name="g2 122"/>
          <p:cNvSpPr/>
          <p:nvPr/>
        </p:nvSpPr>
        <p:spPr>
          <a:xfrm>
            <a:off x="1810512" y="2103120"/>
            <a:ext cx="7315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reflect</a:t>
            </a:r>
          </a:p>
        </p:txBody>
      </p:sp>
      <p:sp>
        <p:nvSpPr>
          <p:cNvPr id="123" name="v2 123"/>
          <p:cNvSpPr/>
          <p:nvPr/>
        </p:nvSpPr>
        <p:spPr>
          <a:xfrm>
            <a:off x="2697480" y="1892808"/>
            <a:ext cx="1097280" cy="640080"/>
          </a:xfrm>
          <a:prstGeom prst="ellipse">
            <a:avLst/>
          </a:prstGeom>
          <a:noFill/>
          <a:ln w="9525">
            <a:solidFill>
              <a:srgbClr val="D9B48A"/>
            </a:solidFill>
          </a:ln>
        </p:spPr>
        <p:txBody>
          <a:bodyPr wrap="square" lIns="0" tIns="0" rIns="0" bIns="0" rtlCol="0" anchor="ctr">
            <a:noAutofit/>
          </a:bodyPr>
          <a:lstStyle/>
          <a:p>
            <a:pPr algn="ctr" marL="0" indent="0">
              <a:buNone/>
            </a:pPr>
            <a:r>
              <a:rPr lang="en-US" sz="850" b="1" dirty="0">
                <a:solidFill>
                  <a:srgbClr val="F5B700"/>
                </a:solidFill>
                <a:latin typeface="Arial"/>
                <a:ea typeface="Arial"/>
                <a:cs typeface="Arial"/>
              </a:rPr>
              <a:t>INNER LOOP</a:t>
            </a:r>
          </a:p>
          <a:p>
            <a:pPr algn="ctr" marL="0" indent="0">
              <a:buNone/>
            </a:pPr>
            <a:r>
              <a:rPr lang="en-US" sz="850" dirty="0">
                <a:solidFill>
                  <a:srgbClr val="F3E6D6"/>
                </a:solidFill>
                <a:latin typeface="Arial"/>
                <a:ea typeface="Arial"/>
                <a:cs typeface="Arial"/>
              </a:rPr>
              <a:t>search</a:t>
            </a:r>
          </a:p>
        </p:txBody>
      </p:sp>
      <p:sp>
        <p:nvSpPr>
          <p:cNvPr id="124" name="v2 124"/>
          <p:cNvSpPr/>
          <p:nvPr/>
        </p:nvSpPr>
        <p:spPr>
          <a:xfrm>
            <a:off x="6355080" y="502920"/>
            <a:ext cx="5532120" cy="274320"/>
          </a:xfrm>
          <a:prstGeom prst="rect">
            <a:avLst/>
          </a:prstGeom>
          <a:noFill/>
          <a:ln>
            <a:noFill/>
          </a:ln>
        </p:spPr>
        <p:txBody>
          <a:bodyPr wrap="square" lIns="0" tIns="0" rIns="0" bIns="0" rtlCol="0" anchor="ctr">
            <a:noAutofit/>
          </a:bodyPr>
          <a:lstStyle/>
          <a:p>
            <a:pPr algn="l" marL="0" indent="0">
              <a:buNone/>
            </a:pPr>
            <a:r>
              <a:rPr lang="en-US" sz="1000" b="1" dirty="0">
                <a:solidFill>
                  <a:srgbClr val="F5B700"/>
                </a:solidFill>
                <a:latin typeface="Arial"/>
                <a:ea typeface="Arial"/>
                <a:cs typeface="Arial"/>
              </a:rPr>
              <a:t>OUTER LOOP  </a:t>
            </a:r>
            <a:r>
              <a:rPr lang="en-US" sz="850" dirty="0">
                <a:solidFill>
                  <a:srgbClr val="F3E6D6"/>
                </a:solidFill>
                <a:latin typeface="Arial"/>
                <a:ea typeface="Arial"/>
                <a:cs typeface="Arial"/>
              </a:rPr>
              <a:t>a winning harness ships through the same gates as any release</a:t>
            </a:r>
          </a:p>
        </p:txBody>
      </p:sp>
      <p:sp>
        <p:nvSpPr>
          <p:cNvPr id="125" name="g2 125"/>
          <p:cNvSpPr/>
          <p:nvPr/>
        </p:nvSpPr>
        <p:spPr>
          <a:xfrm>
            <a:off x="6355080" y="914400"/>
            <a:ext cx="16916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Held-out gate</a:t>
            </a:r>
          </a:p>
          <a:p>
            <a:pPr algn="l" marL="0" indent="0">
              <a:lnSpc>
                <a:spcPct val="100000"/>
              </a:lnSpc>
              <a:buNone/>
            </a:pPr>
            <a:r>
              <a:rPr lang="en-US" sz="850" dirty="0">
                <a:solidFill>
                  <a:srgbClr val="141010"/>
                </a:solidFill>
                <a:latin typeface="Arial"/>
                <a:ea typeface="Arial"/>
                <a:cs typeface="Arial"/>
              </a:rPr>
              <a:t>beats baseline, no safety regression</a:t>
            </a:r>
          </a:p>
        </p:txBody>
      </p:sp>
      <p:sp>
        <p:nvSpPr>
          <p:cNvPr id="126" name="g2 126"/>
          <p:cNvSpPr/>
          <p:nvPr/>
        </p:nvSpPr>
        <p:spPr>
          <a:xfrm>
            <a:off x="8275320" y="914400"/>
            <a:ext cx="16916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Red-team gate</a:t>
            </a:r>
          </a:p>
          <a:p>
            <a:pPr algn="l" marL="0" indent="0">
              <a:lnSpc>
                <a:spcPct val="100000"/>
              </a:lnSpc>
              <a:buNone/>
            </a:pPr>
            <a:r>
              <a:rPr lang="en-US" sz="850" dirty="0">
                <a:solidFill>
                  <a:srgbClr val="141010"/>
                </a:solidFill>
                <a:latin typeface="Arial"/>
                <a:ea typeface="Arial"/>
                <a:cs typeface="Arial"/>
              </a:rPr>
              <a:t>release candidate to stage 6</a:t>
            </a:r>
          </a:p>
        </p:txBody>
      </p:sp>
      <p:sp>
        <p:nvSpPr>
          <p:cNvPr id="127" name="g2 127"/>
          <p:cNvSpPr/>
          <p:nvPr/>
        </p:nvSpPr>
        <p:spPr>
          <a:xfrm>
            <a:off x="10195560" y="914400"/>
            <a:ext cx="169164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Promote via gateway</a:t>
            </a:r>
          </a:p>
          <a:p>
            <a:pPr algn="l" marL="0" indent="0">
              <a:lnSpc>
                <a:spcPct val="100000"/>
              </a:lnSpc>
              <a:buNone/>
            </a:pPr>
            <a:r>
              <a:rPr lang="en-US" sz="850" dirty="0">
                <a:solidFill>
                  <a:srgbClr val="F3E6D6"/>
                </a:solidFill>
                <a:latin typeface="Arial"/>
                <a:ea typeface="Arial"/>
                <a:cs typeface="Arial"/>
              </a:rPr>
              <a:t>config @version · canary · rollback</a:t>
            </a:r>
          </a:p>
        </p:txBody>
      </p:sp>
      <p:sp>
        <p:nvSpPr>
          <p:cNvPr id="128" name="g2 128"/>
          <p:cNvSpPr/>
          <p:nvPr/>
        </p:nvSpPr>
        <p:spPr>
          <a:xfrm>
            <a:off x="10195560" y="2423160"/>
            <a:ext cx="169164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Online scoring</a:t>
            </a:r>
          </a:p>
          <a:p>
            <a:pPr algn="l" marL="0" indent="0">
              <a:lnSpc>
                <a:spcPct val="100000"/>
              </a:lnSpc>
              <a:buNone/>
            </a:pPr>
            <a:r>
              <a:rPr lang="en-US" sz="850" dirty="0">
                <a:solidFill>
                  <a:srgbClr val="F3E6D6"/>
                </a:solidFill>
                <a:latin typeface="Arial"/>
                <a:ea typeface="Arial"/>
                <a:cs typeface="Arial"/>
              </a:rPr>
              <a:t>same Galileo (Arize exploring) metrics on live traffic</a:t>
            </a:r>
          </a:p>
        </p:txBody>
      </p:sp>
      <p:cxnSp>
        <p:nvCxnSpPr>
          <p:cNvPr id="129" name="g2 flow 129"/>
          <p:cNvCxnSpPr/>
          <p:nvPr/>
        </p:nvCxnSpPr>
        <p:spPr>
          <a:xfrm>
            <a:off x="5943600" y="1344168"/>
            <a:ext cx="411480" cy="0"/>
          </a:xfrm>
          <a:prstGeom prst="line">
            <a:avLst/>
          </a:prstGeom>
          <a:ln w="12700">
            <a:solidFill>
              <a:srgbClr val="EE0000"/>
            </a:solidFill>
            <a:tailEnd type="triangle" w="med" len="med"/>
          </a:ln>
        </p:spPr>
      </p:cxnSp>
      <p:sp>
        <p:nvSpPr>
          <p:cNvPr id="130" name="g2 130"/>
          <p:cNvSpPr/>
          <p:nvPr/>
        </p:nvSpPr>
        <p:spPr>
          <a:xfrm>
            <a:off x="5961888" y="1097280"/>
            <a:ext cx="41148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best</a:t>
            </a:r>
          </a:p>
        </p:txBody>
      </p:sp>
      <p:cxnSp>
        <p:nvCxnSpPr>
          <p:cNvPr id="131" name="g2 flow 131"/>
          <p:cNvCxnSpPr/>
          <p:nvPr/>
        </p:nvCxnSpPr>
        <p:spPr>
          <a:xfrm>
            <a:off x="8046720" y="1344168"/>
            <a:ext cx="228600" cy="0"/>
          </a:xfrm>
          <a:prstGeom prst="line">
            <a:avLst/>
          </a:prstGeom>
          <a:ln w="12700">
            <a:solidFill>
              <a:srgbClr val="EE0000"/>
            </a:solidFill>
            <a:tailEnd type="triangle" w="med" len="med"/>
          </a:ln>
        </p:spPr>
      </p:cxnSp>
      <p:cxnSp>
        <p:nvCxnSpPr>
          <p:cNvPr id="132" name="g2 flow 132"/>
          <p:cNvCxnSpPr/>
          <p:nvPr/>
        </p:nvCxnSpPr>
        <p:spPr>
          <a:xfrm>
            <a:off x="9966960" y="1344168"/>
            <a:ext cx="228600" cy="0"/>
          </a:xfrm>
          <a:prstGeom prst="line">
            <a:avLst/>
          </a:prstGeom>
          <a:ln w="12700">
            <a:solidFill>
              <a:srgbClr val="EE0000"/>
            </a:solidFill>
            <a:tailEnd type="triangle" w="med" len="med"/>
          </a:ln>
        </p:spPr>
      </p:cxnSp>
      <p:cxnSp>
        <p:nvCxnSpPr>
          <p:cNvPr id="133" name="g2 flow 133"/>
          <p:cNvCxnSpPr/>
          <p:nvPr/>
        </p:nvCxnSpPr>
        <p:spPr>
          <a:xfrm>
            <a:off x="11041380" y="1783080"/>
            <a:ext cx="0" cy="640080"/>
          </a:xfrm>
          <a:prstGeom prst="line">
            <a:avLst/>
          </a:prstGeom>
          <a:ln w="12700">
            <a:solidFill>
              <a:srgbClr val="EE0000"/>
            </a:solidFill>
            <a:tailEnd type="triangle" w="med" len="med"/>
          </a:ln>
        </p:spPr>
      </p:cxnSp>
      <p:sp>
        <p:nvSpPr>
          <p:cNvPr id="134" name="g2 134"/>
          <p:cNvSpPr/>
          <p:nvPr/>
        </p:nvSpPr>
        <p:spPr>
          <a:xfrm>
            <a:off x="11109960" y="1965960"/>
            <a:ext cx="7772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canary</a:t>
            </a:r>
          </a:p>
        </p:txBody>
      </p:sp>
      <p:cxnSp>
        <p:nvCxnSpPr>
          <p:cNvPr id="135" name="g2 flow 135"/>
          <p:cNvCxnSpPr/>
          <p:nvPr/>
        </p:nvCxnSpPr>
        <p:spPr>
          <a:xfrm flipH="1">
            <a:off x="5943600" y="2971800"/>
            <a:ext cx="4251960" cy="0"/>
          </a:xfrm>
          <a:prstGeom prst="line">
            <a:avLst/>
          </a:prstGeom>
          <a:ln w="12700">
            <a:solidFill>
              <a:srgbClr val="EE0000"/>
            </a:solidFill>
            <a:tailEnd type="triangle" w="med" len="med"/>
          </a:ln>
        </p:spPr>
      </p:cxnSp>
      <p:sp>
        <p:nvSpPr>
          <p:cNvPr id="136" name="g2 136"/>
          <p:cNvSpPr/>
          <p:nvPr/>
        </p:nvSpPr>
        <p:spPr>
          <a:xfrm>
            <a:off x="6080760" y="2999232"/>
            <a:ext cx="39319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new production failures → new scenarios</a:t>
            </a:r>
          </a:p>
        </p:txBody>
      </p:sp>
      <p:sp>
        <p:nvSpPr>
          <p:cNvPr id="137" name="g2 137"/>
          <p:cNvSpPr/>
          <p:nvPr/>
        </p:nvSpPr>
        <p:spPr>
          <a:xfrm>
            <a:off x="6355080" y="1920240"/>
            <a:ext cx="3657600" cy="457200"/>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No reward hacking: optimisation and held-out sets never overlap. One evaluator definition is both objective and gate.</a:t>
            </a:r>
          </a:p>
        </p:txBody>
      </p:sp>
      <p:sp>
        <p:nvSpPr>
          <p:cNvPr id="138" name="g2 138"/>
          <p:cNvSpPr/>
          <p:nvPr/>
        </p:nvSpPr>
        <p:spPr>
          <a:xfrm>
            <a:off x="3520440" y="3840480"/>
            <a:ext cx="2423160" cy="566928"/>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Plateau on held-out?</a:t>
            </a:r>
          </a:p>
          <a:p>
            <a:pPr algn="l" marL="0" indent="0">
              <a:lnSpc>
                <a:spcPct val="100000"/>
              </a:lnSpc>
              <a:buNone/>
            </a:pPr>
            <a:r>
              <a:rPr lang="en-US" sz="850" dirty="0">
                <a:solidFill>
                  <a:srgbClr val="F3E6D6"/>
                </a:solidFill>
                <a:latin typeface="Arial"/>
                <a:ea typeface="Arial"/>
                <a:cs typeface="Arial"/>
              </a:rPr>
              <a:t>no uplift after search + a cost or latency case</a:t>
            </a:r>
          </a:p>
        </p:txBody>
      </p:sp>
      <p:cxnSp>
        <p:nvCxnSpPr>
          <p:cNvPr id="139" name="g2 flow 139"/>
          <p:cNvCxnSpPr/>
          <p:nvPr/>
        </p:nvCxnSpPr>
        <p:spPr>
          <a:xfrm>
            <a:off x="4709160" y="3566160"/>
            <a:ext cx="0" cy="274320"/>
          </a:xfrm>
          <a:prstGeom prst="line">
            <a:avLst/>
          </a:prstGeom>
          <a:ln w="12700">
            <a:solidFill>
              <a:srgbClr val="EE0000"/>
            </a:solidFill>
            <a:tailEnd type="triangle" w="med" len="med"/>
          </a:ln>
        </p:spPr>
      </p:cxnSp>
      <p:cxnSp>
        <p:nvCxnSpPr>
          <p:cNvPr id="140" name="g2 flow 140"/>
          <p:cNvCxnSpPr/>
          <p:nvPr/>
        </p:nvCxnSpPr>
        <p:spPr>
          <a:xfrm>
            <a:off x="5943600" y="4123944"/>
            <a:ext cx="2984602" cy="0"/>
          </a:xfrm>
          <a:prstGeom prst="line">
            <a:avLst/>
          </a:prstGeom>
          <a:ln w="12700">
            <a:solidFill>
              <a:srgbClr val="A0704A"/>
            </a:solidFill>
            <a:prstDash val="dash"/>
            <a:tailEnd type="triangle" w="med" len="med"/>
          </a:ln>
        </p:spPr>
      </p:cxnSp>
      <p:sp>
        <p:nvSpPr>
          <p:cNvPr id="141" name="g2 141"/>
          <p:cNvSpPr/>
          <p:nvPr/>
        </p:nvSpPr>
        <p:spPr>
          <a:xfrm>
            <a:off x="6035040" y="3904488"/>
            <a:ext cx="2743200" cy="20116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escalate, optional and last</a:t>
            </a:r>
          </a:p>
        </p:txBody>
      </p:sp>
      <p:sp>
        <p:nvSpPr>
          <p:cNvPr id="142"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05 / 17</a:t>
            </a:r>
          </a:p>
        </p:txBody>
      </p:sp>
      <p:sp>
        <p:nvSpPr>
          <p:cNvPr id="143"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44"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2988259" y="-5184648"/>
            <a:ext cx="8621878" cy="8621878"/>
          </a:xfrm>
          <a:prstGeom prst="ellipse">
            <a:avLst/>
          </a:prstGeom>
          <a:solidFill>
            <a:srgbClr val="8A0F1A">
              <a:alpha val="2547"/>
            </a:srgbClr>
          </a:solidFill>
          <a:ln/>
        </p:spPr>
      </p:sp>
      <p:sp>
        <p:nvSpPr>
          <p:cNvPr id="3" name="Shape 1"/>
          <p:cNvSpPr/>
          <p:nvPr/>
        </p:nvSpPr>
        <p:spPr>
          <a:xfrm>
            <a:off x="3167882" y="-5005026"/>
            <a:ext cx="8262633" cy="8262633"/>
          </a:xfrm>
          <a:prstGeom prst="ellipse">
            <a:avLst/>
          </a:prstGeom>
          <a:solidFill>
            <a:srgbClr val="8A0F1A">
              <a:alpha val="4218"/>
            </a:srgbClr>
          </a:solidFill>
          <a:ln/>
        </p:spPr>
      </p:sp>
      <p:sp>
        <p:nvSpPr>
          <p:cNvPr id="4" name="Shape 2"/>
          <p:cNvSpPr/>
          <p:nvPr/>
        </p:nvSpPr>
        <p:spPr>
          <a:xfrm>
            <a:off x="3347504" y="-4825403"/>
            <a:ext cx="7903388" cy="7903388"/>
          </a:xfrm>
          <a:prstGeom prst="ellipse">
            <a:avLst/>
          </a:prstGeom>
          <a:solidFill>
            <a:srgbClr val="8A0F1A">
              <a:alpha val="4138"/>
            </a:srgbClr>
          </a:solidFill>
          <a:ln/>
        </p:spPr>
      </p:sp>
      <p:sp>
        <p:nvSpPr>
          <p:cNvPr id="5" name="Shape 3"/>
          <p:cNvSpPr/>
          <p:nvPr/>
        </p:nvSpPr>
        <p:spPr>
          <a:xfrm>
            <a:off x="3527127" y="-4645781"/>
            <a:ext cx="7544143" cy="7544143"/>
          </a:xfrm>
          <a:prstGeom prst="ellipse">
            <a:avLst/>
          </a:prstGeom>
          <a:solidFill>
            <a:srgbClr val="8A0F1A">
              <a:alpha val="2636"/>
            </a:srgbClr>
          </a:solidFill>
          <a:ln/>
        </p:spPr>
      </p:sp>
      <p:sp>
        <p:nvSpPr>
          <p:cNvPr id="6" name="Shape 4"/>
          <p:cNvSpPr/>
          <p:nvPr/>
        </p:nvSpPr>
        <p:spPr>
          <a:xfrm>
            <a:off x="3706749" y="-4466158"/>
            <a:ext cx="7184898" cy="7184898"/>
          </a:xfrm>
          <a:prstGeom prst="ellipse">
            <a:avLst/>
          </a:prstGeom>
          <a:solidFill>
            <a:srgbClr val="8A0F1A">
              <a:alpha val="2661"/>
            </a:srgbClr>
          </a:solidFill>
          <a:ln/>
        </p:spPr>
      </p:sp>
      <p:sp>
        <p:nvSpPr>
          <p:cNvPr id="7" name="Shape 5"/>
          <p:cNvSpPr/>
          <p:nvPr/>
        </p:nvSpPr>
        <p:spPr>
          <a:xfrm>
            <a:off x="3886371" y="-4286536"/>
            <a:ext cx="6825653" cy="6825653"/>
          </a:xfrm>
          <a:prstGeom prst="ellipse">
            <a:avLst/>
          </a:prstGeom>
          <a:solidFill>
            <a:srgbClr val="8A0F1A">
              <a:alpha val="3304"/>
            </a:srgbClr>
          </a:solidFill>
          <a:ln/>
        </p:spPr>
      </p:sp>
      <p:sp>
        <p:nvSpPr>
          <p:cNvPr id="8" name="Shape 6"/>
          <p:cNvSpPr/>
          <p:nvPr/>
        </p:nvSpPr>
        <p:spPr>
          <a:xfrm>
            <a:off x="4065994" y="-4106913"/>
            <a:ext cx="6466408" cy="6466408"/>
          </a:xfrm>
          <a:prstGeom prst="ellipse">
            <a:avLst/>
          </a:prstGeom>
          <a:solidFill>
            <a:srgbClr val="8A0F1A">
              <a:alpha val="3622"/>
            </a:srgbClr>
          </a:solidFill>
          <a:ln/>
        </p:spPr>
      </p:sp>
      <p:sp>
        <p:nvSpPr>
          <p:cNvPr id="9" name="Shape 7"/>
          <p:cNvSpPr/>
          <p:nvPr/>
        </p:nvSpPr>
        <p:spPr>
          <a:xfrm>
            <a:off x="4245616" y="-3927291"/>
            <a:ext cx="6107163" cy="6107163"/>
          </a:xfrm>
          <a:prstGeom prst="ellipse">
            <a:avLst/>
          </a:prstGeom>
          <a:solidFill>
            <a:srgbClr val="8A0F1A">
              <a:alpha val="3650"/>
            </a:srgbClr>
          </a:solidFill>
          <a:ln/>
        </p:spPr>
      </p:sp>
      <p:sp>
        <p:nvSpPr>
          <p:cNvPr id="10" name="Shape 8"/>
          <p:cNvSpPr/>
          <p:nvPr/>
        </p:nvSpPr>
        <p:spPr>
          <a:xfrm>
            <a:off x="4425239" y="-3747668"/>
            <a:ext cx="5747918" cy="5747918"/>
          </a:xfrm>
          <a:prstGeom prst="ellipse">
            <a:avLst/>
          </a:prstGeom>
          <a:solidFill>
            <a:srgbClr val="8A0F1A">
              <a:alpha val="3631"/>
            </a:srgbClr>
          </a:solidFill>
          <a:ln/>
        </p:spPr>
      </p:sp>
      <p:sp>
        <p:nvSpPr>
          <p:cNvPr id="11" name="Shape 9"/>
          <p:cNvSpPr/>
          <p:nvPr/>
        </p:nvSpPr>
        <p:spPr>
          <a:xfrm>
            <a:off x="4604861" y="-3568046"/>
            <a:ext cx="5388674" cy="5388674"/>
          </a:xfrm>
          <a:prstGeom prst="ellipse">
            <a:avLst/>
          </a:prstGeom>
          <a:solidFill>
            <a:srgbClr val="8A0F1A">
              <a:alpha val="3693"/>
            </a:srgbClr>
          </a:solidFill>
          <a:ln/>
        </p:spPr>
      </p:sp>
      <p:sp>
        <p:nvSpPr>
          <p:cNvPr id="12" name="Shape 10"/>
          <p:cNvSpPr/>
          <p:nvPr/>
        </p:nvSpPr>
        <p:spPr>
          <a:xfrm>
            <a:off x="4784484" y="-3388423"/>
            <a:ext cx="5029429" cy="5029429"/>
          </a:xfrm>
          <a:prstGeom prst="ellipse">
            <a:avLst/>
          </a:prstGeom>
          <a:solidFill>
            <a:srgbClr val="8A0F1A">
              <a:alpha val="4536"/>
            </a:srgbClr>
          </a:solidFill>
          <a:ln/>
        </p:spPr>
      </p:sp>
      <p:sp>
        <p:nvSpPr>
          <p:cNvPr id="13" name="Shape 11"/>
          <p:cNvSpPr/>
          <p:nvPr/>
        </p:nvSpPr>
        <p:spPr>
          <a:xfrm>
            <a:off x="4964106" y="-3208801"/>
            <a:ext cx="4670184" cy="4670184"/>
          </a:xfrm>
          <a:prstGeom prst="ellipse">
            <a:avLst/>
          </a:prstGeom>
          <a:solidFill>
            <a:srgbClr val="8A0F1A">
              <a:alpha val="4737"/>
            </a:srgbClr>
          </a:solidFill>
          <a:ln/>
        </p:spPr>
      </p:sp>
      <p:sp>
        <p:nvSpPr>
          <p:cNvPr id="14" name="Shape 12"/>
          <p:cNvSpPr/>
          <p:nvPr/>
        </p:nvSpPr>
        <p:spPr>
          <a:xfrm>
            <a:off x="5143729" y="-3029179"/>
            <a:ext cx="4310939" cy="4310939"/>
          </a:xfrm>
          <a:prstGeom prst="ellipse">
            <a:avLst/>
          </a:prstGeom>
          <a:solidFill>
            <a:srgbClr val="8A0F1A">
              <a:alpha val="4994"/>
            </a:srgbClr>
          </a:solidFill>
          <a:ln/>
        </p:spPr>
      </p:sp>
      <p:sp>
        <p:nvSpPr>
          <p:cNvPr id="15" name="Shape 13"/>
          <p:cNvSpPr/>
          <p:nvPr/>
        </p:nvSpPr>
        <p:spPr>
          <a:xfrm>
            <a:off x="5323351" y="-2849556"/>
            <a:ext cx="3951694" cy="3951694"/>
          </a:xfrm>
          <a:prstGeom prst="ellipse">
            <a:avLst/>
          </a:prstGeom>
          <a:solidFill>
            <a:srgbClr val="8A0F1A">
              <a:alpha val="5272"/>
            </a:srgbClr>
          </a:solidFill>
          <a:ln/>
        </p:spPr>
      </p:sp>
      <p:sp>
        <p:nvSpPr>
          <p:cNvPr id="16" name="Shape 14"/>
          <p:cNvSpPr/>
          <p:nvPr/>
        </p:nvSpPr>
        <p:spPr>
          <a:xfrm>
            <a:off x="5502974" y="-2669934"/>
            <a:ext cx="3592449" cy="3592449"/>
          </a:xfrm>
          <a:prstGeom prst="ellipse">
            <a:avLst/>
          </a:prstGeom>
          <a:solidFill>
            <a:srgbClr val="8A0F1A">
              <a:alpha val="5521"/>
            </a:srgbClr>
          </a:solidFill>
          <a:ln/>
        </p:spPr>
      </p:sp>
      <p:sp>
        <p:nvSpPr>
          <p:cNvPr id="17" name="Shape 15"/>
          <p:cNvSpPr/>
          <p:nvPr/>
        </p:nvSpPr>
        <p:spPr>
          <a:xfrm>
            <a:off x="5682596" y="-2490311"/>
            <a:ext cx="3233204" cy="3233204"/>
          </a:xfrm>
          <a:prstGeom prst="ellipse">
            <a:avLst/>
          </a:prstGeom>
          <a:solidFill>
            <a:srgbClr val="8A0F1A">
              <a:alpha val="6496"/>
            </a:srgbClr>
          </a:solidFill>
          <a:ln/>
        </p:spPr>
      </p:sp>
      <p:sp>
        <p:nvSpPr>
          <p:cNvPr id="18" name="Shape 16"/>
          <p:cNvSpPr/>
          <p:nvPr/>
        </p:nvSpPr>
        <p:spPr>
          <a:xfrm>
            <a:off x="5862218" y="-2310689"/>
            <a:ext cx="2873959" cy="2873959"/>
          </a:xfrm>
          <a:prstGeom prst="ellipse">
            <a:avLst/>
          </a:prstGeom>
          <a:solidFill>
            <a:srgbClr val="8A0F1A">
              <a:alpha val="6768"/>
            </a:srgbClr>
          </a:solidFill>
          <a:ln/>
        </p:spPr>
      </p:sp>
      <p:sp>
        <p:nvSpPr>
          <p:cNvPr id="19" name="Shape 17"/>
          <p:cNvSpPr/>
          <p:nvPr/>
        </p:nvSpPr>
        <p:spPr>
          <a:xfrm>
            <a:off x="6041841" y="-2131066"/>
            <a:ext cx="2514714" cy="2514714"/>
          </a:xfrm>
          <a:prstGeom prst="ellipse">
            <a:avLst/>
          </a:prstGeom>
          <a:solidFill>
            <a:srgbClr val="8A0F1A">
              <a:alpha val="7123"/>
            </a:srgbClr>
          </a:solidFill>
          <a:ln/>
        </p:spPr>
      </p:sp>
      <p:sp>
        <p:nvSpPr>
          <p:cNvPr id="20" name="Shape 18"/>
          <p:cNvSpPr/>
          <p:nvPr/>
        </p:nvSpPr>
        <p:spPr>
          <a:xfrm>
            <a:off x="6221463" y="-1951444"/>
            <a:ext cx="2155469" cy="2155469"/>
          </a:xfrm>
          <a:prstGeom prst="ellipse">
            <a:avLst/>
          </a:prstGeom>
          <a:solidFill>
            <a:srgbClr val="8A0F1A">
              <a:alpha val="7486"/>
            </a:srgbClr>
          </a:solidFill>
          <a:ln/>
        </p:spPr>
      </p:sp>
      <p:sp>
        <p:nvSpPr>
          <p:cNvPr id="21" name="Shape 19"/>
          <p:cNvSpPr/>
          <p:nvPr/>
        </p:nvSpPr>
        <p:spPr>
          <a:xfrm>
            <a:off x="6401086" y="-1771821"/>
            <a:ext cx="1796225" cy="1796225"/>
          </a:xfrm>
          <a:prstGeom prst="ellipse">
            <a:avLst/>
          </a:prstGeom>
          <a:solidFill>
            <a:srgbClr val="8A0F1A">
              <a:alpha val="8191"/>
            </a:srgbClr>
          </a:solidFill>
          <a:ln/>
        </p:spPr>
      </p:sp>
      <p:sp>
        <p:nvSpPr>
          <p:cNvPr id="22" name="Shape 20"/>
          <p:cNvSpPr/>
          <p:nvPr/>
        </p:nvSpPr>
        <p:spPr>
          <a:xfrm>
            <a:off x="6580708" y="-1592199"/>
            <a:ext cx="1436980" cy="1436980"/>
          </a:xfrm>
          <a:prstGeom prst="ellipse">
            <a:avLst/>
          </a:prstGeom>
          <a:solidFill>
            <a:srgbClr val="8A0F1A">
              <a:alpha val="9466"/>
            </a:srgbClr>
          </a:solidFill>
          <a:ln/>
        </p:spPr>
      </p:sp>
      <p:sp>
        <p:nvSpPr>
          <p:cNvPr id="23" name="Shape 21"/>
          <p:cNvSpPr/>
          <p:nvPr/>
        </p:nvSpPr>
        <p:spPr>
          <a:xfrm>
            <a:off x="6760331" y="-1412577"/>
            <a:ext cx="1077735" cy="1077735"/>
          </a:xfrm>
          <a:prstGeom prst="ellipse">
            <a:avLst/>
          </a:prstGeom>
          <a:solidFill>
            <a:srgbClr val="8A0F1A">
              <a:alpha val="10120"/>
            </a:srgbClr>
          </a:solidFill>
          <a:ln/>
        </p:spPr>
      </p:sp>
      <p:sp>
        <p:nvSpPr>
          <p:cNvPr id="24" name="Shape 22"/>
          <p:cNvSpPr/>
          <p:nvPr/>
        </p:nvSpPr>
        <p:spPr>
          <a:xfrm>
            <a:off x="6939953" y="-1232954"/>
            <a:ext cx="718490" cy="718490"/>
          </a:xfrm>
          <a:prstGeom prst="ellipse">
            <a:avLst/>
          </a:prstGeom>
          <a:solidFill>
            <a:srgbClr val="8A0F1A">
              <a:alpha val="10280"/>
            </a:srgbClr>
          </a:solidFill>
          <a:ln/>
        </p:spPr>
      </p:sp>
      <p:sp>
        <p:nvSpPr>
          <p:cNvPr id="25" name="Shape 23"/>
          <p:cNvSpPr/>
          <p:nvPr/>
        </p:nvSpPr>
        <p:spPr>
          <a:xfrm>
            <a:off x="7119576" y="-1053332"/>
            <a:ext cx="359245" cy="359245"/>
          </a:xfrm>
          <a:prstGeom prst="ellipse">
            <a:avLst/>
          </a:prstGeom>
          <a:solidFill>
            <a:srgbClr val="8A0F1A">
              <a:alpha val="10999"/>
            </a:srgbClr>
          </a:solidFill>
          <a:ln/>
        </p:spPr>
      </p:sp>
      <p:sp>
        <p:nvSpPr>
          <p:cNvPr id="26" name="Text 24"/>
          <p:cNvSpPr/>
          <p:nvPr/>
        </p:nvSpPr>
        <p:spPr>
          <a:xfrm>
            <a:off x="819302" y="1220724"/>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The ask + 90-day plan</a:t>
            </a:r>
          </a:p>
        </p:txBody>
      </p:sp>
      <p:sp>
        <p:nvSpPr>
          <p:cNvPr id="27" name="Text 25"/>
          <p:cNvSpPr/>
          <p:nvPr/>
        </p:nvSpPr>
        <p:spPr>
          <a:xfrm>
            <a:off x="818388" y="1449324"/>
            <a:ext cx="201168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Decide,</a:t>
            </a:r>
          </a:p>
        </p:txBody>
      </p:sp>
      <p:sp>
        <p:nvSpPr>
          <p:cNvPr id="28" name="Text 26"/>
          <p:cNvSpPr/>
          <p:nvPr/>
        </p:nvSpPr>
        <p:spPr>
          <a:xfrm>
            <a:off x="2816352" y="1449324"/>
            <a:ext cx="35204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then 90 days</a:t>
            </a:r>
          </a:p>
        </p:txBody>
      </p:sp>
      <p:sp>
        <p:nvSpPr>
          <p:cNvPr id="29" name="Shape 27"/>
          <p:cNvSpPr/>
          <p:nvPr/>
        </p:nvSpPr>
        <p:spPr>
          <a:xfrm rot="16200000">
            <a:off x="2423160" y="1582826"/>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30" name="Shape 28"/>
          <p:cNvSpPr/>
          <p:nvPr/>
        </p:nvSpPr>
        <p:spPr>
          <a:xfrm>
            <a:off x="0" y="2709367"/>
            <a:ext cx="12191695" cy="0"/>
          </a:xfrm>
          <a:prstGeom prst="line">
            <a:avLst/>
          </a:prstGeom>
          <a:noFill/>
          <a:ln w="12700">
            <a:solidFill>
              <a:srgbClr val="D9B48A"/>
            </a:solidFill>
            <a:prstDash val="solid"/>
            <a:tailEnd type="triangle"/>
          </a:ln>
        </p:spPr>
      </p:sp>
      <p:sp>
        <p:nvSpPr>
          <p:cNvPr id="31" name="Shape 29"/>
          <p:cNvSpPr/>
          <p:nvPr/>
        </p:nvSpPr>
        <p:spPr>
          <a:xfrm>
            <a:off x="1874520" y="2926080"/>
            <a:ext cx="3264408" cy="3611880"/>
          </a:xfrm>
          <a:prstGeom prst="roundRect">
            <a:avLst>
              <a:gd name="adj" fmla="val 8650"/>
            </a:avLst>
          </a:prstGeom>
          <a:ln w="6350">
            <a:solidFill>
              <a:srgbClr val="D9B48A"/>
            </a:solidFill>
            <a:prstDash val="solid"/>
          </a:ln>
        </p:spPr>
      </p:sp>
      <p:sp>
        <p:nvSpPr>
          <p:cNvPr id="32" name="Shape 30"/>
          <p:cNvSpPr/>
          <p:nvPr/>
        </p:nvSpPr>
        <p:spPr>
          <a:xfrm rot="19800000">
            <a:off x="3459175" y="2661818"/>
            <a:ext cx="95098" cy="95098"/>
          </a:xfrm>
          <a:prstGeom prst="rect">
            <a:avLst/>
          </a:prstGeom>
          <a:solidFill>
            <a:srgbClr val="CC0000"/>
          </a:solidFill>
          <a:ln/>
        </p:spPr>
      </p:sp>
      <p:sp>
        <p:nvSpPr>
          <p:cNvPr id="33" name="Text 31"/>
          <p:cNvSpPr/>
          <p:nvPr/>
        </p:nvSpPr>
        <p:spPr>
          <a:xfrm>
            <a:off x="1984248"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Days 0-30</a:t>
            </a:r>
          </a:p>
        </p:txBody>
      </p:sp>
      <p:sp>
        <p:nvSpPr>
          <p:cNvPr id="34" name="Shape 32"/>
          <p:cNvSpPr/>
          <p:nvPr/>
        </p:nvSpPr>
        <p:spPr>
          <a:xfrm>
            <a:off x="3355848" y="3044952"/>
            <a:ext cx="1645920" cy="374904"/>
          </a:xfrm>
          <a:prstGeom prst="roundRect">
            <a:avLst>
              <a:gd name="adj" fmla="val 50000"/>
            </a:avLst>
          </a:prstGeom>
          <a:solidFill>
            <a:srgbClr val="8A0F1A">
              <a:alpha val="15600"/>
            </a:srgbClr>
          </a:solidFill>
          <a:ln w="6350">
            <a:solidFill>
              <a:srgbClr val="D9B48A"/>
            </a:solidFill>
            <a:prstDash val="solid"/>
          </a:ln>
        </p:spPr>
      </p:sp>
      <p:sp>
        <p:nvSpPr>
          <p:cNvPr id="35" name="Text 33"/>
          <p:cNvSpPr/>
          <p:nvPr/>
        </p:nvSpPr>
        <p:spPr>
          <a:xfrm>
            <a:off x="3355848"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Foundation</a:t>
            </a:r>
          </a:p>
        </p:txBody>
      </p:sp>
      <p:sp>
        <p:nvSpPr>
          <p:cNvPr id="38" name="Shape 36"/>
          <p:cNvSpPr/>
          <p:nvPr/>
        </p:nvSpPr>
        <p:spPr>
          <a:xfrm>
            <a:off x="5248656" y="2926080"/>
            <a:ext cx="3264408" cy="3611880"/>
          </a:xfrm>
          <a:prstGeom prst="roundRect">
            <a:avLst>
              <a:gd name="adj" fmla="val 8650"/>
            </a:avLst>
          </a:prstGeom>
          <a:ln w="6350">
            <a:solidFill>
              <a:srgbClr val="D9B48A"/>
            </a:solidFill>
            <a:prstDash val="solid"/>
          </a:ln>
        </p:spPr>
      </p:sp>
      <p:sp>
        <p:nvSpPr>
          <p:cNvPr id="39" name="Shape 37"/>
          <p:cNvSpPr/>
          <p:nvPr/>
        </p:nvSpPr>
        <p:spPr>
          <a:xfrm rot="19800000">
            <a:off x="6833311" y="2661818"/>
            <a:ext cx="95098" cy="95098"/>
          </a:xfrm>
          <a:prstGeom prst="rect">
            <a:avLst/>
          </a:prstGeom>
          <a:solidFill>
            <a:srgbClr val="CC0000"/>
          </a:solidFill>
          <a:ln/>
        </p:spPr>
      </p:sp>
      <p:sp>
        <p:nvSpPr>
          <p:cNvPr id="40" name="Text 38"/>
          <p:cNvSpPr/>
          <p:nvPr/>
        </p:nvSpPr>
        <p:spPr>
          <a:xfrm>
            <a:off x="5358384"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Days 31-60</a:t>
            </a:r>
          </a:p>
        </p:txBody>
      </p:sp>
      <p:sp>
        <p:nvSpPr>
          <p:cNvPr id="41" name="Shape 39"/>
          <p:cNvSpPr/>
          <p:nvPr/>
        </p:nvSpPr>
        <p:spPr>
          <a:xfrm>
            <a:off x="6729984" y="3044952"/>
            <a:ext cx="1645920" cy="374904"/>
          </a:xfrm>
          <a:prstGeom prst="roundRect">
            <a:avLst>
              <a:gd name="adj" fmla="val 50000"/>
            </a:avLst>
          </a:prstGeom>
          <a:solidFill>
            <a:srgbClr val="8A0F1A">
              <a:alpha val="15600"/>
            </a:srgbClr>
          </a:solidFill>
          <a:ln w="6350">
            <a:solidFill>
              <a:srgbClr val="D9B48A"/>
            </a:solidFill>
            <a:prstDash val="solid"/>
          </a:ln>
        </p:spPr>
      </p:sp>
      <p:sp>
        <p:nvSpPr>
          <p:cNvPr id="42" name="Text 40"/>
          <p:cNvSpPr/>
          <p:nvPr/>
        </p:nvSpPr>
        <p:spPr>
          <a:xfrm>
            <a:off x="6729984"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Lighthouses</a:t>
            </a:r>
          </a:p>
        </p:txBody>
      </p:sp>
      <p:sp>
        <p:nvSpPr>
          <p:cNvPr id="45" name="Shape 43"/>
          <p:cNvSpPr/>
          <p:nvPr/>
        </p:nvSpPr>
        <p:spPr>
          <a:xfrm>
            <a:off x="8622792" y="2926080"/>
            <a:ext cx="3264408" cy="3611880"/>
          </a:xfrm>
          <a:prstGeom prst="roundRect">
            <a:avLst>
              <a:gd name="adj" fmla="val 8650"/>
            </a:avLst>
          </a:prstGeom>
          <a:solidFill>
            <a:srgbClr val="F5B700"/>
          </a:solidFill>
          <a:ln/>
        </p:spPr>
      </p:sp>
      <p:sp>
        <p:nvSpPr>
          <p:cNvPr id="46" name="Shape 44"/>
          <p:cNvSpPr/>
          <p:nvPr/>
        </p:nvSpPr>
        <p:spPr>
          <a:xfrm rot="19800000">
            <a:off x="10207447" y="2661818"/>
            <a:ext cx="95098" cy="95098"/>
          </a:xfrm>
          <a:prstGeom prst="rect">
            <a:avLst/>
          </a:prstGeom>
          <a:solidFill>
            <a:srgbClr val="CC0000"/>
          </a:solidFill>
          <a:ln/>
        </p:spPr>
      </p:sp>
      <p:sp>
        <p:nvSpPr>
          <p:cNvPr id="47" name="Text 45"/>
          <p:cNvSpPr/>
          <p:nvPr/>
        </p:nvSpPr>
        <p:spPr>
          <a:xfrm>
            <a:off x="8732520"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141010"/>
                </a:solidFill>
                <a:latin typeface="Arial" pitchFamily="34" charset="0"/>
                <a:ea typeface="Arial" pitchFamily="34" charset="-122"/>
                <a:cs typeface="Arial" pitchFamily="34" charset="-120"/>
              </a:rPr>
              <a:t>Days 61-90</a:t>
            </a:r>
          </a:p>
        </p:txBody>
      </p:sp>
      <p:sp>
        <p:nvSpPr>
          <p:cNvPr id="48" name="Shape 46"/>
          <p:cNvSpPr/>
          <p:nvPr/>
        </p:nvSpPr>
        <p:spPr>
          <a:xfrm>
            <a:off x="10104120" y="3044952"/>
            <a:ext cx="1645920" cy="374904"/>
          </a:xfrm>
          <a:prstGeom prst="roundRect">
            <a:avLst>
              <a:gd name="adj" fmla="val 50000"/>
            </a:avLst>
          </a:prstGeom>
          <a:solidFill>
            <a:srgbClr val="FFF1CC">
              </a:srgbClr>
          </a:solidFill>
          <a:ln w="6350">
            <a:solidFill>
              <a:srgbClr val="141010"/>
            </a:solidFill>
            <a:prstDash val="solid"/>
          </a:ln>
        </p:spPr>
      </p:sp>
      <p:sp>
        <p:nvSpPr>
          <p:cNvPr id="49" name="Text 47"/>
          <p:cNvSpPr/>
          <p:nvPr/>
        </p:nvSpPr>
        <p:spPr>
          <a:xfrm>
            <a:off x="10104120"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Prove + scale</a:t>
            </a:r>
          </a:p>
        </p:txBody>
      </p:sp>
      <p:sp>
        <p:nvSpPr>
          <p:cNvPr id="98" name="g2 98"/>
          <p:cNvSpPr/>
          <p:nvPr/>
        </p:nvSpPr>
        <p:spPr>
          <a:xfrm>
            <a:off x="6766560" y="1170432"/>
            <a:ext cx="51206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THREE DECISIONS WE NEED FROM LEADERSHIP</a:t>
            </a:r>
          </a:p>
        </p:txBody>
      </p:sp>
      <p:sp>
        <p:nvSpPr>
          <p:cNvPr id="107" name="v2 107"/>
          <p:cNvSpPr/>
          <p:nvPr/>
        </p:nvSpPr>
        <p:spPr>
          <a:xfrm>
            <a:off x="548640" y="352044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Lighthouse agents</a:t>
            </a:r>
          </a:p>
        </p:txBody>
      </p:sp>
      <p:sp>
        <p:nvSpPr>
          <p:cNvPr id="108" name="v2 108"/>
          <p:cNvSpPr/>
          <p:nvPr/>
        </p:nvSpPr>
        <p:spPr>
          <a:xfrm>
            <a:off x="1984248"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Pick 2 agents; manifests approved; traces in Galileo with join keys; agent inventory incl. vendor-built (G1)</a:t>
            </a:r>
          </a:p>
        </p:txBody>
      </p:sp>
      <p:sp>
        <p:nvSpPr>
          <p:cNvPr id="109" name="v2 109"/>
          <p:cNvSpPr/>
          <p:nvPr/>
        </p:nvSpPr>
        <p:spPr>
          <a:xfrm>
            <a:off x="5358384"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Baselines and pass^k recorded; first harness-optimisation run on one agent</a:t>
            </a:r>
          </a:p>
        </p:txBody>
      </p:sp>
      <p:sp>
        <p:nvSpPr>
          <p:cNvPr id="110" name="v2 110"/>
          <p:cNvSpPr/>
          <p:nvPr/>
        </p:nvSpPr>
        <p:spPr>
          <a:xfrm>
            <a:off x="8732520"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141010"/>
                </a:solidFill>
                <a:latin typeface="Arial"/>
                <a:ea typeface="Arial"/>
                <a:cs typeface="Arial"/>
              </a:rPr>
              <a:t>Both agents through every stage and Live in the registry</a:t>
            </a:r>
          </a:p>
        </p:txBody>
      </p:sp>
      <p:cxnSp>
        <p:nvCxnSpPr>
          <p:cNvPr id="111" name="g1 rule 111"/>
          <p:cNvCxnSpPr/>
          <p:nvPr/>
        </p:nvCxnSpPr>
        <p:spPr>
          <a:xfrm>
            <a:off x="548640" y="4206240"/>
            <a:ext cx="11338560" cy="0"/>
          </a:xfrm>
          <a:prstGeom prst="line">
            <a:avLst/>
          </a:prstGeom>
          <a:ln w="9525">
            <a:solidFill>
              <a:srgbClr val="5A3A2E"/>
            </a:solidFill>
          </a:ln>
        </p:spPr>
      </p:cxnSp>
      <p:sp>
        <p:nvSpPr>
          <p:cNvPr id="112" name="v2 112"/>
          <p:cNvSpPr/>
          <p:nvPr/>
        </p:nvSpPr>
        <p:spPr>
          <a:xfrm>
            <a:off x="548640" y="425196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Gap workstreams</a:t>
            </a:r>
          </a:p>
        </p:txBody>
      </p:sp>
      <p:sp>
        <p:nvSpPr>
          <p:cNvPr id="113" name="v2 113"/>
          <p:cNvSpPr/>
          <p:nvPr/>
        </p:nvSpPr>
        <p:spPr>
          <a:xfrm>
            <a:off x="1984248"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Name owners; red-team tiers and ASR thresholds agreed with security</a:t>
            </a:r>
          </a:p>
        </p:txBody>
      </p:sp>
      <p:sp>
        <p:nvSpPr>
          <p:cNvPr id="114" name="v2 114"/>
          <p:cNvSpPr/>
          <p:nvPr/>
        </p:nvSpPr>
        <p:spPr>
          <a:xfrm>
            <a:off x="5358384"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Red-team pipeline live on EvalHub; Agent Control + MCP gateway on one agent; A2A policy point designed (G3)</a:t>
            </a:r>
          </a:p>
        </p:txBody>
      </p:sp>
      <p:sp>
        <p:nvSpPr>
          <p:cNvPr id="115" name="v2 115"/>
          <p:cNvSpPr/>
          <p:nvPr/>
        </p:nvSpPr>
        <p:spPr>
          <a:xfrm>
            <a:off x="8732520"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141010"/>
                </a:solidFill>
                <a:latin typeface="Arial"/>
                <a:ea typeface="Arial"/>
                <a:cs typeface="Arial"/>
              </a:rPr>
              <a:t>Kill switch drilled; MAST failure labels in the release gate (G4); Cisco bake-off read-out</a:t>
            </a:r>
          </a:p>
        </p:txBody>
      </p:sp>
      <p:cxnSp>
        <p:nvCxnSpPr>
          <p:cNvPr id="116" name="g1 rule 116"/>
          <p:cNvCxnSpPr/>
          <p:nvPr/>
        </p:nvCxnSpPr>
        <p:spPr>
          <a:xfrm>
            <a:off x="548640" y="4937760"/>
            <a:ext cx="11338560" cy="0"/>
          </a:xfrm>
          <a:prstGeom prst="line">
            <a:avLst/>
          </a:prstGeom>
          <a:ln w="9525">
            <a:solidFill>
              <a:srgbClr val="5A3A2E"/>
            </a:solidFill>
          </a:ln>
        </p:spPr>
      </p:cxnSp>
      <p:sp>
        <p:nvSpPr>
          <p:cNvPr id="117" name="v2 117"/>
          <p:cNvSpPr/>
          <p:nvPr/>
        </p:nvSpPr>
        <p:spPr>
          <a:xfrm>
            <a:off x="548640" y="498348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Platform</a:t>
            </a:r>
          </a:p>
        </p:txBody>
      </p:sp>
      <p:sp>
        <p:nvSpPr>
          <p:cNvPr id="118" name="v2 118"/>
          <p:cNvSpPr/>
          <p:nvPr/>
        </p:nvSpPr>
        <p:spPr>
          <a:xfrm>
            <a:off x="1984248"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Developer Hub onboarding template; OTel dual export to the lake</a:t>
            </a:r>
          </a:p>
        </p:txBody>
      </p:sp>
      <p:sp>
        <p:nvSpPr>
          <p:cNvPr id="119" name="v2 119"/>
          <p:cNvSpPr/>
          <p:nvPr/>
        </p:nvSpPr>
        <p:spPr>
          <a:xfrm>
            <a:off x="5358384"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Registry v1 with autonomy level + retire (G2, G13); Mods Hub v1 with pillar-governance on lighthouse agents</a:t>
            </a:r>
          </a:p>
        </p:txBody>
      </p:sp>
      <p:sp>
        <p:nvSpPr>
          <p:cNvPr id="120" name="v2 120"/>
          <p:cNvSpPr/>
          <p:nvPr/>
        </p:nvSpPr>
        <p:spPr>
          <a:xfrm>
            <a:off x="8732520"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141010"/>
                </a:solidFill>
                <a:latin typeface="Arial"/>
                <a:ea typeface="Arial"/>
                <a:cs typeface="Arial"/>
              </a:rPr>
              <a:t>Promotion gates + evidence bundle automated; GRC sync live; vendor evidence contract (G9)</a:t>
            </a:r>
          </a:p>
        </p:txBody>
      </p:sp>
      <p:cxnSp>
        <p:nvCxnSpPr>
          <p:cNvPr id="121" name="g1 rule 121"/>
          <p:cNvCxnSpPr/>
          <p:nvPr/>
        </p:nvCxnSpPr>
        <p:spPr>
          <a:xfrm>
            <a:off x="548640" y="5669280"/>
            <a:ext cx="11338560" cy="0"/>
          </a:xfrm>
          <a:prstGeom prst="line">
            <a:avLst/>
          </a:prstGeom>
          <a:ln w="9525">
            <a:solidFill>
              <a:srgbClr val="5A3A2E"/>
            </a:solidFill>
          </a:ln>
        </p:spPr>
      </p:cxnSp>
      <p:sp>
        <p:nvSpPr>
          <p:cNvPr id="122" name="v2 122"/>
          <p:cNvSpPr/>
          <p:nvPr/>
        </p:nvSpPr>
        <p:spPr>
          <a:xfrm>
            <a:off x="548640" y="571500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FFFFF"/>
                </a:solidFill>
                <a:latin typeface="Arial"/>
                <a:ea typeface="Arial"/>
                <a:cs typeface="Arial"/>
              </a:rPr>
              <a:t>KPIs</a:t>
            </a:r>
          </a:p>
        </p:txBody>
      </p:sp>
      <p:sp>
        <p:nvSpPr>
          <p:cNvPr id="123" name="v2 123"/>
          <p:cNvSpPr/>
          <p:nvPr/>
        </p:nvSpPr>
        <p:spPr>
          <a:xfrm>
            <a:off x="1984248"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Agents with a manifest · % traffic carrying join keys</a:t>
            </a:r>
          </a:p>
        </p:txBody>
      </p:sp>
      <p:sp>
        <p:nvSpPr>
          <p:cNvPr id="124" name="v2 124"/>
          <p:cNvSpPr/>
          <p:nvPr/>
        </p:nvSpPr>
        <p:spPr>
          <a:xfrm>
            <a:off x="5358384"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Gated releases · held-out uplift from harness optimisation · % agents with governance mods loaded</a:t>
            </a:r>
          </a:p>
        </p:txBody>
      </p:sp>
      <p:sp>
        <p:nvSpPr>
          <p:cNvPr id="125" name="v2 125"/>
          <p:cNvSpPr/>
          <p:nvPr/>
        </p:nvSpPr>
        <p:spPr>
          <a:xfrm>
            <a:off x="8732520"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141010"/>
                </a:solidFill>
                <a:latin typeface="Arial"/>
                <a:ea typeface="Arial"/>
                <a:cs typeface="Arial"/>
              </a:rPr>
              <a:t>Onboarding lead time · ASR trend · evidence bundles auto-built</a:t>
            </a:r>
          </a:p>
        </p:txBody>
      </p:sp>
      <p:sp>
        <p:nvSpPr>
          <p:cNvPr id="126" name="g2 126"/>
          <p:cNvSpPr/>
          <p:nvPr/>
        </p:nvSpPr>
        <p:spPr>
          <a:xfrm>
            <a:off x="548640" y="6556248"/>
            <a:ext cx="11338560" cy="228600"/>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Fine-tuning is not in the 90 days: one Training Hub pilot only if harness optimisation plateaus and a cost case exists. Milestones are our proposal.</a:t>
            </a:r>
          </a:p>
        </p:txBody>
      </p:sp>
      <p:sp>
        <p:nvSpPr>
          <p:cNvPr id="128" name="g2 128"/>
          <p:cNvSpPr/>
          <p:nvPr/>
        </p:nvSpPr>
        <p:spPr>
          <a:xfrm>
            <a:off x="6766560" y="1389888"/>
            <a:ext cx="1627632" cy="11887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01  Endorse one loop</a:t>
            </a:r>
          </a:p>
          <a:p>
            <a:pPr algn="l" marL="0" indent="0">
              <a:lnSpc>
                <a:spcPct val="100000"/>
              </a:lnSpc>
              <a:buNone/>
            </a:pPr>
            <a:r>
              <a:rPr lang="en-US" sz="850" dirty="0">
                <a:solidFill>
                  <a:srgbClr val="141010"/>
                </a:solidFill>
                <a:latin typeface="Arial"/>
                <a:ea typeface="Arial"/>
                <a:cs typeface="Arial"/>
              </a:rPr>
              <a:t>11 steps, one onboarding contract; integrate with what already runs</a:t>
            </a:r>
          </a:p>
        </p:txBody>
      </p:sp>
      <p:sp>
        <p:nvSpPr>
          <p:cNvPr id="129" name="g2 129"/>
          <p:cNvSpPr/>
          <p:nvPr/>
        </p:nvSpPr>
        <p:spPr>
          <a:xfrm>
            <a:off x="8531352" y="1389888"/>
            <a:ext cx="1627632" cy="11887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02  Staff 3 gap workstreams</a:t>
            </a:r>
          </a:p>
          <a:p>
            <a:pPr algn="l" marL="0" indent="0">
              <a:lnSpc>
                <a:spcPct val="100000"/>
              </a:lnSpc>
              <a:buNone/>
            </a:pPr>
            <a:r>
              <a:rPr lang="en-US" sz="850" dirty="0">
                <a:solidFill>
                  <a:srgbClr val="F3E6D6"/>
                </a:solidFill>
                <a:latin typeface="Arial"/>
                <a:ea typeface="Arial"/>
                <a:cs typeface="Arial"/>
              </a:rPr>
              <a:t>red teaming · runtime control incl. A2A policy point · agent governance incl. autonomy level + retire</a:t>
            </a:r>
          </a:p>
        </p:txBody>
      </p:sp>
      <p:sp>
        <p:nvSpPr>
          <p:cNvPr id="130" name="g2 130"/>
          <p:cNvSpPr/>
          <p:nvPr/>
        </p:nvSpPr>
        <p:spPr>
          <a:xfrm>
            <a:off x="10296144" y="1389888"/>
            <a:ext cx="1627632" cy="11887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03  Mandate the manifest</a:t>
            </a:r>
          </a:p>
          <a:p>
            <a:pPr algn="l" marL="0" indent="0">
              <a:lnSpc>
                <a:spcPct val="100000"/>
              </a:lnSpc>
              <a:buNone/>
            </a:pPr>
            <a:r>
              <a:rPr lang="en-US" sz="850" dirty="0">
                <a:solidFill>
                  <a:srgbClr val="F3E6D6"/>
                </a:solidFill>
                <a:latin typeface="Arial"/>
                <a:ea typeface="Arial"/>
                <a:cs typeface="Arial"/>
              </a:rPr>
              <a:t>no agent in production without one, ours or vendor-built; ≤ 2 weeks for a low tier</a:t>
            </a:r>
          </a:p>
        </p:txBody>
      </p:sp>
      <p:sp>
        <p:nvSpPr>
          <p:cNvPr id="13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17 / 17</a:t>
            </a:r>
          </a:p>
        </p:txBody>
      </p:sp>
      <p:sp>
        <p:nvSpPr>
          <p:cNvPr id="13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3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Pillar Mods Hub</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The pillar,</a:t>
            </a:r>
          </a:p>
        </p:txBody>
      </p:sp>
      <p:sp>
        <p:nvSpPr>
          <p:cNvPr id="53" name="Text 51"/>
          <p:cNvSpPr/>
          <p:nvPr/>
        </p:nvSpPr>
        <p:spPr>
          <a:xfrm>
            <a:off x="1351483" y="2268626"/>
            <a:ext cx="23774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one hub</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6324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Pillar capabilities ship as Claude Code plugins: published once through CI gates, pushed by managed settings, improved from every session. Skills + MCP + OTel keep the core portable to Codex, Cursor and Kairos SDK.</a:t>
            </a:r>
          </a:p>
        </p:txBody>
      </p:sp>
      <p:sp>
        <p:nvSpPr>
          <p:cNvPr id="56" name="Text 54"/>
          <p:cNvSpPr/>
          <p:nvPr/>
        </p:nvSpPr>
        <p:spPr>
          <a:xfrm>
            <a:off x="689458" y="466344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Trust tiers</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T0 core · T1 reviewed team mods</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T2 external plugins, mirrored, no process.*</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Partner / OSS</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Build (thin)</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Existing (reuse)</a:t>
            </a:r>
          </a:p>
        </p:txBody>
      </p:sp>
      <p:sp>
        <p:nvSpPr>
          <p:cNvPr id="601" name="g4 601"/>
          <p:cNvSpPr/>
          <p:nvPr/>
        </p:nvSpPr>
        <p:spPr>
          <a:xfrm>
            <a:off x="3703320"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1 Author</a:t>
            </a:r>
          </a:p>
          <a:p>
            <a:pPr algn="l" marL="0" indent="0">
              <a:lnSpc>
                <a:spcPct val="100000"/>
              </a:lnSpc>
              <a:buNone/>
            </a:pPr>
            <a:r>
              <a:rPr lang="en-US" sz="750" dirty="0">
                <a:solidFill>
                  <a:srgbClr val="141010"/>
                </a:solidFill>
                <a:latin typeface="Arial"/>
                <a:ea typeface="Arial"/>
                <a:cs typeface="Arial"/>
              </a:rPr>
              <a:t>plugin template + uploader skill</a:t>
            </a:r>
          </a:p>
        </p:txBody>
      </p:sp>
      <p:cxnSp>
        <p:nvCxnSpPr>
          <p:cNvPr id="602" name="g4 602"/>
          <p:cNvCxnSpPr/>
          <p:nvPr/>
        </p:nvCxnSpPr>
        <p:spPr>
          <a:xfrm>
            <a:off x="4892040" y="1737360"/>
            <a:ext cx="219456" cy="0"/>
          </a:xfrm>
          <a:prstGeom prst="line">
            <a:avLst/>
          </a:prstGeom>
          <a:ln w="12700">
            <a:solidFill>
              <a:srgbClr val="EE0000"/>
            </a:solidFill>
            <a:tailEnd type="triangle" w="med" len="med"/>
          </a:ln>
        </p:spPr>
      </p:cxnSp>
      <p:sp>
        <p:nvSpPr>
          <p:cNvPr id="603" name="g4 603"/>
          <p:cNvSpPr/>
          <p:nvPr/>
        </p:nvSpPr>
        <p:spPr>
          <a:xfrm>
            <a:off x="5111496"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2 Publishing CI</a:t>
            </a:r>
          </a:p>
          <a:p>
            <a:pPr algn="l" marL="0" indent="0">
              <a:lnSpc>
                <a:spcPct val="100000"/>
              </a:lnSpc>
              <a:buNone/>
            </a:pPr>
            <a:r>
              <a:rPr lang="en-US" sz="750" dirty="0">
                <a:solidFill>
                  <a:srgbClr val="141010"/>
                </a:solidFill>
                <a:latin typeface="Arial"/>
                <a:ea typeface="Arial"/>
                <a:cs typeface="Arial"/>
              </a:rPr>
              <a:t>validate · eval Δ · SAST / secrets · sign</a:t>
            </a:r>
          </a:p>
        </p:txBody>
      </p:sp>
      <p:cxnSp>
        <p:nvCxnSpPr>
          <p:cNvPr id="604" name="g4 604"/>
          <p:cNvCxnSpPr/>
          <p:nvPr/>
        </p:nvCxnSpPr>
        <p:spPr>
          <a:xfrm>
            <a:off x="6300216" y="1737360"/>
            <a:ext cx="219456" cy="0"/>
          </a:xfrm>
          <a:prstGeom prst="line">
            <a:avLst/>
          </a:prstGeom>
          <a:ln w="12700">
            <a:solidFill>
              <a:srgbClr val="EE0000"/>
            </a:solidFill>
            <a:tailEnd type="triangle" w="med" len="med"/>
          </a:ln>
        </p:spPr>
      </p:cxnSp>
      <p:sp>
        <p:nvSpPr>
          <p:cNvPr id="605" name="g4 605"/>
          <p:cNvSpPr/>
          <p:nvPr/>
        </p:nvSpPr>
        <p:spPr>
          <a:xfrm>
            <a:off x="6519672"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3 Hub registry</a:t>
            </a:r>
          </a:p>
          <a:p>
            <a:pPr algn="l" marL="0" indent="0">
              <a:lnSpc>
                <a:spcPct val="100000"/>
              </a:lnSpc>
              <a:buNone/>
            </a:pPr>
            <a:r>
              <a:rPr lang="en-US" sz="750" dirty="0">
                <a:solidFill>
                  <a:srgbClr val="141010"/>
                </a:solidFill>
                <a:latin typeface="Arial"/>
                <a:ea typeface="Arial"/>
                <a:cs typeface="Arial"/>
              </a:rPr>
              <a:t>catalog · versions · trust tier · eval scores</a:t>
            </a:r>
          </a:p>
        </p:txBody>
      </p:sp>
      <p:cxnSp>
        <p:nvCxnSpPr>
          <p:cNvPr id="606" name="g4 606"/>
          <p:cNvCxnSpPr/>
          <p:nvPr/>
        </p:nvCxnSpPr>
        <p:spPr>
          <a:xfrm>
            <a:off x="7708392" y="1737360"/>
            <a:ext cx="219456" cy="0"/>
          </a:xfrm>
          <a:prstGeom prst="line">
            <a:avLst/>
          </a:prstGeom>
          <a:ln w="12700">
            <a:solidFill>
              <a:srgbClr val="EE0000"/>
            </a:solidFill>
            <a:tailEnd type="triangle" w="med" len="med"/>
          </a:ln>
        </p:spPr>
      </p:cxnSp>
      <p:sp>
        <p:nvSpPr>
          <p:cNvPr id="607" name="g4 607"/>
          <p:cNvSpPr/>
          <p:nvPr/>
        </p:nvSpPr>
        <p:spPr>
          <a:xfrm>
            <a:off x="7927848" y="1371600"/>
            <a:ext cx="1188720" cy="731520"/>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4 Marketplaces</a:t>
            </a:r>
          </a:p>
          <a:p>
            <a:pPr algn="l" marL="0" indent="0">
              <a:lnSpc>
                <a:spcPct val="100000"/>
              </a:lnSpc>
              <a:buNone/>
            </a:pPr>
            <a:r>
              <a:rPr lang="en-US" sz="750" dirty="0">
                <a:solidFill>
                  <a:srgbClr val="F3E6D6"/>
                </a:solidFill>
                <a:latin typeface="Arial"/>
                <a:ea typeface="Arial"/>
                <a:cs typeface="Arial"/>
              </a:rPr>
              <a:t>vz-core admin-only · vz-hub stable / early</a:t>
            </a:r>
          </a:p>
        </p:txBody>
      </p:sp>
      <p:cxnSp>
        <p:nvCxnSpPr>
          <p:cNvPr id="608" name="g4 608"/>
          <p:cNvCxnSpPr/>
          <p:nvPr/>
        </p:nvCxnSpPr>
        <p:spPr>
          <a:xfrm>
            <a:off x="9116568" y="1737360"/>
            <a:ext cx="219456" cy="0"/>
          </a:xfrm>
          <a:prstGeom prst="line">
            <a:avLst/>
          </a:prstGeom>
          <a:ln w="12700">
            <a:solidFill>
              <a:srgbClr val="EE0000"/>
            </a:solidFill>
            <a:tailEnd type="triangle" w="med" len="med"/>
          </a:ln>
        </p:spPr>
      </p:cxnSp>
      <p:sp>
        <p:nvSpPr>
          <p:cNvPr id="609" name="g4 609"/>
          <p:cNvSpPr/>
          <p:nvPr/>
        </p:nvSpPr>
        <p:spPr>
          <a:xfrm>
            <a:off x="9336024" y="1371600"/>
            <a:ext cx="1188720" cy="731520"/>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5 Policy push</a:t>
            </a:r>
          </a:p>
          <a:p>
            <a:pPr algn="l" marL="0" indent="0">
              <a:lnSpc>
                <a:spcPct val="100000"/>
              </a:lnSpc>
              <a:buNone/>
            </a:pPr>
            <a:r>
              <a:rPr lang="en-US" sz="750" dirty="0">
                <a:solidFill>
                  <a:srgbClr val="F3E6D6"/>
                </a:solidFill>
                <a:latin typeface="Arial"/>
                <a:ea typeface="Arial"/>
                <a:cs typeface="Arial"/>
              </a:rPr>
              <a:t>managed settings via MDM or apps gateway</a:t>
            </a:r>
          </a:p>
        </p:txBody>
      </p:sp>
      <p:cxnSp>
        <p:nvCxnSpPr>
          <p:cNvPr id="610" name="g4 610"/>
          <p:cNvCxnSpPr/>
          <p:nvPr/>
        </p:nvCxnSpPr>
        <p:spPr>
          <a:xfrm>
            <a:off x="10524744" y="1737360"/>
            <a:ext cx="219456" cy="0"/>
          </a:xfrm>
          <a:prstGeom prst="line">
            <a:avLst/>
          </a:prstGeom>
          <a:ln w="12700">
            <a:solidFill>
              <a:srgbClr val="EE0000"/>
            </a:solidFill>
            <a:tailEnd type="triangle" w="med" len="med"/>
          </a:ln>
        </p:spPr>
      </p:cxnSp>
      <p:sp>
        <p:nvSpPr>
          <p:cNvPr id="611" name="g4 611"/>
          <p:cNvSpPr/>
          <p:nvPr/>
        </p:nvSpPr>
        <p:spPr>
          <a:xfrm>
            <a:off x="10744200" y="1371600"/>
            <a:ext cx="1188720" cy="731520"/>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6 Sessions</a:t>
            </a:r>
          </a:p>
          <a:p>
            <a:pPr algn="l" marL="0" indent="0">
              <a:lnSpc>
                <a:spcPct val="100000"/>
              </a:lnSpc>
              <a:buNone/>
            </a:pPr>
            <a:r>
              <a:rPr lang="en-US" sz="750" dirty="0">
                <a:solidFill>
                  <a:srgbClr val="F3E6D6"/>
                </a:solidFill>
                <a:latin typeface="Arial"/>
                <a:ea typeface="Arial"/>
                <a:cs typeface="Arial"/>
              </a:rPr>
              <a:t>Claude Code · Agent SDK · Kairos SDK</a:t>
            </a:r>
          </a:p>
        </p:txBody>
      </p:sp>
      <p:cxnSp>
        <p:nvCxnSpPr>
          <p:cNvPr id="613" name="g4 613"/>
          <p:cNvCxnSpPr/>
          <p:nvPr/>
        </p:nvCxnSpPr>
        <p:spPr>
          <a:xfrm>
            <a:off x="11338560" y="2103120"/>
            <a:ext cx="0" cy="228600"/>
          </a:xfrm>
          <a:prstGeom prst="line">
            <a:avLst/>
          </a:prstGeom>
          <a:ln w="12700">
            <a:solidFill>
              <a:srgbClr val="EE0000"/>
            </a:solidFill>
          </a:ln>
        </p:spPr>
      </p:cxnSp>
      <p:cxnSp>
        <p:nvCxnSpPr>
          <p:cNvPr id="614" name="g4 614"/>
          <p:cNvCxnSpPr/>
          <p:nvPr/>
        </p:nvCxnSpPr>
        <p:spPr>
          <a:xfrm flipH="1">
            <a:off x="8522208" y="2331720"/>
            <a:ext cx="2816352" cy="0"/>
          </a:xfrm>
          <a:prstGeom prst="line">
            <a:avLst/>
          </a:prstGeom>
          <a:ln w="12700">
            <a:solidFill>
              <a:srgbClr val="EE0000"/>
            </a:solidFill>
          </a:ln>
        </p:spPr>
      </p:cxnSp>
      <p:cxnSp>
        <p:nvCxnSpPr>
          <p:cNvPr id="615" name="g4 615"/>
          <p:cNvCxnSpPr/>
          <p:nvPr/>
        </p:nvCxnSpPr>
        <p:spPr>
          <a:xfrm>
            <a:off x="11338560" y="2331720"/>
            <a:ext cx="0" cy="228600"/>
          </a:xfrm>
          <a:prstGeom prst="line">
            <a:avLst/>
          </a:prstGeom>
          <a:ln w="12700">
            <a:solidFill>
              <a:srgbClr val="EE0000"/>
            </a:solidFill>
            <a:tailEnd type="triangle" w="med" len="med"/>
          </a:ln>
        </p:spPr>
      </p:cxnSp>
      <p:cxnSp>
        <p:nvCxnSpPr>
          <p:cNvPr id="616" name="g4 616"/>
          <p:cNvCxnSpPr/>
          <p:nvPr/>
        </p:nvCxnSpPr>
        <p:spPr>
          <a:xfrm>
            <a:off x="9930384" y="2331720"/>
            <a:ext cx="0" cy="228600"/>
          </a:xfrm>
          <a:prstGeom prst="line">
            <a:avLst/>
          </a:prstGeom>
          <a:ln w="12700">
            <a:solidFill>
              <a:srgbClr val="EE0000"/>
            </a:solidFill>
            <a:tailEnd type="triangle" w="med" len="med"/>
          </a:ln>
        </p:spPr>
      </p:cxnSp>
      <p:cxnSp>
        <p:nvCxnSpPr>
          <p:cNvPr id="617" name="g4 617"/>
          <p:cNvCxnSpPr/>
          <p:nvPr/>
        </p:nvCxnSpPr>
        <p:spPr>
          <a:xfrm>
            <a:off x="8522208" y="2331720"/>
            <a:ext cx="0" cy="228600"/>
          </a:xfrm>
          <a:prstGeom prst="line">
            <a:avLst/>
          </a:prstGeom>
          <a:ln w="12700">
            <a:solidFill>
              <a:srgbClr val="EE0000"/>
            </a:solidFill>
            <a:tailEnd type="triangle" w="med" len="med"/>
          </a:ln>
        </p:spPr>
      </p:cxnSp>
      <p:sp>
        <p:nvSpPr>
          <p:cNvPr id="618" name="g4 618"/>
          <p:cNvSpPr/>
          <p:nvPr/>
        </p:nvSpPr>
        <p:spPr>
          <a:xfrm>
            <a:off x="10744200"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Kairos gateway</a:t>
            </a:r>
          </a:p>
          <a:p>
            <a:pPr algn="l" marL="0" indent="0">
              <a:lnSpc>
                <a:spcPct val="100000"/>
              </a:lnSpc>
              <a:buNone/>
            </a:pPr>
            <a:r>
              <a:rPr lang="en-US" sz="750" dirty="0">
                <a:solidFill>
                  <a:srgbClr val="F3E6D6"/>
                </a:solidFill>
                <a:latin typeface="Arial"/>
                <a:ea typeface="Arial"/>
                <a:cs typeface="Arial"/>
              </a:rPr>
              <a:t>model traffic + agent_id headers</a:t>
            </a:r>
          </a:p>
        </p:txBody>
      </p:sp>
      <p:sp>
        <p:nvSpPr>
          <p:cNvPr id="619" name="g4 619"/>
          <p:cNvSpPr/>
          <p:nvPr/>
        </p:nvSpPr>
        <p:spPr>
          <a:xfrm>
            <a:off x="9336024"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a:t>
            </a:r>
          </a:p>
          <a:p>
            <a:pPr algn="l" marL="0" indent="0">
              <a:lnSpc>
                <a:spcPct val="100000"/>
              </a:lnSpc>
              <a:buNone/>
            </a:pPr>
            <a:r>
              <a:rPr lang="en-US" sz="750" dirty="0">
                <a:solidFill>
                  <a:srgbClr val="F3E6D6"/>
                </a:solidFill>
                <a:latin typeface="Arial"/>
                <a:ea typeface="Arial"/>
                <a:cs typeface="Arial"/>
              </a:rPr>
              <a:t>tool traffic · Connectivity Link</a:t>
            </a:r>
          </a:p>
        </p:txBody>
      </p:sp>
      <p:sp>
        <p:nvSpPr>
          <p:cNvPr id="620" name="g4 620"/>
          <p:cNvSpPr/>
          <p:nvPr/>
        </p:nvSpPr>
        <p:spPr>
          <a:xfrm>
            <a:off x="7927848" y="2560320"/>
            <a:ext cx="1188720" cy="566928"/>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OTel Collector</a:t>
            </a:r>
          </a:p>
          <a:p>
            <a:pPr algn="l" marL="0" indent="0">
              <a:lnSpc>
                <a:spcPct val="100000"/>
              </a:lnSpc>
              <a:buNone/>
            </a:pPr>
            <a:r>
              <a:rPr lang="en-US" sz="750" dirty="0">
                <a:solidFill>
                  <a:srgbClr val="F3E6D6"/>
                </a:solidFill>
                <a:latin typeface="Arial"/>
                <a:ea typeface="Arial"/>
                <a:cs typeface="Arial"/>
              </a:rPr>
              <a:t>spans + events → lake / SIEM</a:t>
            </a:r>
          </a:p>
        </p:txBody>
      </p:sp>
      <p:sp>
        <p:nvSpPr>
          <p:cNvPr id="621" name="g4 621"/>
          <p:cNvSpPr/>
          <p:nvPr/>
        </p:nvSpPr>
        <p:spPr>
          <a:xfrm>
            <a:off x="6519672"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Galileo / Splunk AO</a:t>
            </a:r>
          </a:p>
          <a:p>
            <a:pPr algn="l" marL="0" indent="0">
              <a:lnSpc>
                <a:spcPct val="100000"/>
              </a:lnSpc>
              <a:buNone/>
            </a:pPr>
            <a:r>
              <a:rPr lang="en-US" sz="750" dirty="0">
                <a:solidFill>
                  <a:srgbClr val="F3E6D6"/>
                </a:solidFill>
                <a:latin typeface="Arial"/>
                <a:ea typeface="Arial"/>
                <a:cs typeface="Arial"/>
              </a:rPr>
              <a:t>system of record · Arize exploring</a:t>
            </a:r>
          </a:p>
        </p:txBody>
      </p:sp>
      <p:cxnSp>
        <p:nvCxnSpPr>
          <p:cNvPr id="622" name="g4 622"/>
          <p:cNvCxnSpPr/>
          <p:nvPr/>
        </p:nvCxnSpPr>
        <p:spPr>
          <a:xfrm flipH="1">
            <a:off x="7708392" y="2843784"/>
            <a:ext cx="219456" cy="0"/>
          </a:xfrm>
          <a:prstGeom prst="line">
            <a:avLst/>
          </a:prstGeom>
          <a:ln w="12700">
            <a:solidFill>
              <a:srgbClr val="EE0000"/>
            </a:solidFill>
            <a:tailEnd type="triangle" w="med" len="med"/>
          </a:ln>
        </p:spPr>
      </p:cxnSp>
      <p:cxnSp>
        <p:nvCxnSpPr>
          <p:cNvPr id="623" name="g4 623"/>
          <p:cNvCxnSpPr/>
          <p:nvPr/>
        </p:nvCxnSpPr>
        <p:spPr>
          <a:xfrm flipV="1">
            <a:off x="7114032" y="2103120"/>
            <a:ext cx="0" cy="457200"/>
          </a:xfrm>
          <a:prstGeom prst="line">
            <a:avLst/>
          </a:prstGeom>
          <a:ln w="12700">
            <a:solidFill>
              <a:srgbClr val="EE0000"/>
            </a:solidFill>
            <a:tailEnd type="triangle" w="med" len="med"/>
          </a:ln>
        </p:spPr>
      </p:cxnSp>
      <p:sp>
        <p:nvSpPr>
          <p:cNvPr id="624" name="g4 624"/>
          <p:cNvSpPr/>
          <p:nvPr/>
        </p:nvSpPr>
        <p:spPr>
          <a:xfrm>
            <a:off x="7168896" y="2221992"/>
            <a:ext cx="1097280" cy="182880"/>
          </a:xfrm>
          <a:prstGeom prst="rect">
            <a:avLst/>
          </a:prstGeom>
          <a:noFill/>
          <a:ln>
            <a:noFill/>
          </a:ln>
        </p:spPr>
        <p:txBody>
          <a:bodyPr wrap="square" lIns="0" tIns="0" rIns="0" bIns="0" rtlCol="0" anchor="ctr">
            <a:noAutofit/>
          </a:bodyPr>
          <a:lstStyle/>
          <a:p>
            <a:pPr algn="l" marL="0" indent="0">
              <a:buNone/>
            </a:pPr>
            <a:r>
              <a:rPr lang="en-US" sz="700" dirty="0">
                <a:solidFill>
                  <a:srgbClr val="F5B700"/>
                </a:solidFill>
                <a:latin typeface="Arial"/>
                <a:ea typeface="Arial"/>
                <a:cs typeface="Arial"/>
              </a:rPr>
              <a:t>eval Δ · usage · cost</a:t>
            </a:r>
          </a:p>
        </p:txBody>
      </p:sp>
      <p:sp>
        <p:nvSpPr>
          <p:cNvPr id="625" name="g4 625"/>
          <p:cNvSpPr/>
          <p:nvPr/>
        </p:nvSpPr>
        <p:spPr>
          <a:xfrm>
            <a:off x="3703320" y="2560320"/>
            <a:ext cx="2596896" cy="566928"/>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Feedback loop</a:t>
            </a:r>
          </a:p>
          <a:p>
            <a:pPr algn="l" marL="0" indent="0">
              <a:lnSpc>
                <a:spcPct val="100000"/>
              </a:lnSpc>
              <a:buNone/>
            </a:pPr>
            <a:r>
              <a:rPr lang="en-US" sz="750" dirty="0">
                <a:solidFill>
                  <a:srgbClr val="141010"/>
                </a:solidFill>
                <a:latin typeface="Arial"/>
                <a:ea typeface="Arial"/>
                <a:cs typeface="Arial"/>
              </a:rPr>
              <a:t>SessionEnd gap classifier → hub issues → new or updated skills</a:t>
            </a:r>
          </a:p>
        </p:txBody>
      </p:sp>
      <p:cxnSp>
        <p:nvCxnSpPr>
          <p:cNvPr id="626" name="g4 626"/>
          <p:cNvCxnSpPr/>
          <p:nvPr/>
        </p:nvCxnSpPr>
        <p:spPr>
          <a:xfrm flipH="1">
            <a:off x="6300216" y="2843784"/>
            <a:ext cx="219456" cy="0"/>
          </a:xfrm>
          <a:prstGeom prst="line">
            <a:avLst/>
          </a:prstGeom>
          <a:ln w="12700">
            <a:solidFill>
              <a:srgbClr val="EE0000"/>
            </a:solidFill>
            <a:tailEnd type="triangle" w="med" len="med"/>
          </a:ln>
        </p:spPr>
      </p:cxnSp>
      <p:cxnSp>
        <p:nvCxnSpPr>
          <p:cNvPr id="627" name="g4 627"/>
          <p:cNvCxnSpPr/>
          <p:nvPr/>
        </p:nvCxnSpPr>
        <p:spPr>
          <a:xfrm flipV="1">
            <a:off x="4297680" y="2103120"/>
            <a:ext cx="0" cy="457200"/>
          </a:xfrm>
          <a:prstGeom prst="line">
            <a:avLst/>
          </a:prstGeom>
          <a:ln w="12700">
            <a:solidFill>
              <a:srgbClr val="EE0000"/>
            </a:solidFill>
            <a:tailEnd type="triangle" w="med" len="med"/>
          </a:ln>
        </p:spPr>
      </p:cxnSp>
      <p:sp>
        <p:nvSpPr>
          <p:cNvPr id="628" name="g4 628"/>
          <p:cNvSpPr/>
          <p:nvPr/>
        </p:nvSpPr>
        <p:spPr>
          <a:xfrm>
            <a:off x="4352544" y="2221992"/>
            <a:ext cx="548640" cy="182880"/>
          </a:xfrm>
          <a:prstGeom prst="rect">
            <a:avLst/>
          </a:prstGeom>
          <a:noFill/>
          <a:ln>
            <a:noFill/>
          </a:ln>
        </p:spPr>
        <p:txBody>
          <a:bodyPr wrap="square" lIns="0" tIns="0" rIns="0" bIns="0" rtlCol="0" anchor="ctr">
            <a:noAutofit/>
          </a:bodyPr>
          <a:lstStyle/>
          <a:p>
            <a:pPr algn="l" marL="0" indent="0">
              <a:buNone/>
            </a:pPr>
            <a:r>
              <a:rPr lang="en-US" sz="700" dirty="0">
                <a:solidFill>
                  <a:srgbClr val="F5B700"/>
                </a:solidFill>
                <a:latin typeface="Arial"/>
                <a:ea typeface="Arial"/>
                <a:cs typeface="Arial"/>
              </a:rPr>
              <a:t>gaps</a:t>
            </a:r>
          </a:p>
        </p:txBody>
      </p:sp>
      <p:sp>
        <p:nvSpPr>
          <p:cNvPr id="629" name="g4 629"/>
          <p:cNvSpPr/>
          <p:nvPr/>
        </p:nvSpPr>
        <p:spPr>
          <a:xfrm>
            <a:off x="3703320" y="3255264"/>
            <a:ext cx="5486400" cy="18288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STARTER CATALOGUE  ·  /plugin install &lt;name&gt;@vz-hub</a:t>
            </a:r>
          </a:p>
        </p:txBody>
      </p:sp>
      <p:sp>
        <p:nvSpPr>
          <p:cNvPr id="630" name="g4 630"/>
          <p:cNvSpPr/>
          <p:nvPr/>
        </p:nvSpPr>
        <p:spPr>
          <a:xfrm>
            <a:off x="3703320"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LLMOps tracing</a:t>
            </a:r>
          </a:p>
          <a:p>
            <a:pPr algn="l" marL="0" indent="0">
              <a:lnSpc>
                <a:spcPct val="100000"/>
              </a:lnSpc>
              <a:buNone/>
            </a:pPr>
            <a:r>
              <a:rPr lang="en-US" sz="700" dirty="0">
                <a:solidFill>
                  <a:srgbClr val="141010"/>
                </a:solidFill>
                <a:latin typeface="Arial"/>
                <a:ea typeface="Arial"/>
                <a:cs typeface="Arial"/>
              </a:rPr>
              <a:t>Arize tracing plugin; Galileo via OTel</a:t>
            </a:r>
          </a:p>
        </p:txBody>
      </p:sp>
      <p:sp>
        <p:nvSpPr>
          <p:cNvPr id="631" name="g4 631"/>
          <p:cNvSpPr/>
          <p:nvPr/>
        </p:nvSpPr>
        <p:spPr>
          <a:xfrm>
            <a:off x="4895959"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Harness opt.</a:t>
            </a:r>
          </a:p>
          <a:p>
            <a:pPr algn="l" marL="0" indent="0">
              <a:lnSpc>
                <a:spcPct val="100000"/>
              </a:lnSpc>
              <a:buNone/>
            </a:pPr>
            <a:r>
              <a:rPr lang="en-US" sz="700" dirty="0">
                <a:solidFill>
                  <a:srgbClr val="141010"/>
                </a:solidFill>
                <a:latin typeface="Arial"/>
                <a:ea typeface="Arial"/>
                <a:cs typeface="Arial"/>
              </a:rPr>
              <a:t>GEPA gskill · Lucidic (exploring) · Strands SOPs</a:t>
            </a:r>
          </a:p>
        </p:txBody>
      </p:sp>
      <p:sp>
        <p:nvSpPr>
          <p:cNvPr id="632" name="g4 632"/>
          <p:cNvSpPr/>
          <p:nvPr/>
        </p:nvSpPr>
        <p:spPr>
          <a:xfrm>
            <a:off x="6088598"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Simulation</a:t>
            </a:r>
          </a:p>
          <a:p>
            <a:pPr algn="l" marL="0" indent="0">
              <a:lnSpc>
                <a:spcPct val="100000"/>
              </a:lnSpc>
              <a:buNone/>
            </a:pPr>
            <a:r>
              <a:rPr lang="en-US" sz="700" dirty="0">
                <a:solidFill>
                  <a:srgbClr val="141010"/>
                </a:solidFill>
                <a:latin typeface="Arial"/>
                <a:ea typeface="Arial"/>
                <a:cs typeface="Arial"/>
              </a:rPr>
              <a:t>SDG Hub tool-use flows · τ³-bench</a:t>
            </a:r>
          </a:p>
        </p:txBody>
      </p:sp>
      <p:sp>
        <p:nvSpPr>
          <p:cNvPr id="633" name="g4 633"/>
          <p:cNvSpPr/>
          <p:nvPr/>
        </p:nvSpPr>
        <p:spPr>
          <a:xfrm>
            <a:off x="7281237"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Training</a:t>
            </a:r>
          </a:p>
          <a:p>
            <a:pPr algn="l" marL="0" indent="0">
              <a:lnSpc>
                <a:spcPct val="100000"/>
              </a:lnSpc>
              <a:buNone/>
            </a:pPr>
            <a:r>
              <a:rPr lang="en-US" sz="700" dirty="0">
                <a:solidFill>
                  <a:srgbClr val="141010"/>
                </a:solidFill>
                <a:latin typeface="Arial"/>
                <a:ea typeface="Arial"/>
                <a:cs typeface="Arial"/>
              </a:rPr>
              <a:t>Training Hub, gated on a harness plateau</a:t>
            </a:r>
          </a:p>
        </p:txBody>
      </p:sp>
      <p:sp>
        <p:nvSpPr>
          <p:cNvPr id="634" name="g4 634"/>
          <p:cNvSpPr/>
          <p:nvPr/>
        </p:nvSpPr>
        <p:spPr>
          <a:xfrm>
            <a:off x="8473875"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Red team</a:t>
            </a:r>
          </a:p>
          <a:p>
            <a:pPr algn="l" marL="0" indent="0">
              <a:lnSpc>
                <a:spcPct val="100000"/>
              </a:lnSpc>
              <a:buNone/>
            </a:pPr>
            <a:r>
              <a:rPr lang="en-US" sz="700" dirty="0">
                <a:solidFill>
                  <a:srgbClr val="141010"/>
                </a:solidFill>
                <a:latin typeface="Arial"/>
                <a:ea typeface="Arial"/>
                <a:cs typeface="Arial"/>
              </a:rPr>
              <a:t>EvalHub: garak / PyRIT / DeepTeam</a:t>
            </a:r>
          </a:p>
        </p:txBody>
      </p:sp>
      <p:sp>
        <p:nvSpPr>
          <p:cNvPr id="635" name="g4 635"/>
          <p:cNvSpPr/>
          <p:nvPr/>
        </p:nvSpPr>
        <p:spPr>
          <a:xfrm>
            <a:off x="9666514"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Governance</a:t>
            </a:r>
          </a:p>
          <a:p>
            <a:pPr algn="l" marL="0" indent="0">
              <a:lnSpc>
                <a:spcPct val="100000"/>
              </a:lnSpc>
              <a:buNone/>
            </a:pPr>
            <a:r>
              <a:rPr lang="en-US" sz="700" dirty="0">
                <a:solidFill>
                  <a:srgbClr val="141010"/>
                </a:solidFill>
                <a:latin typeface="Arial"/>
                <a:ea typeface="Arial"/>
                <a:cs typeface="Arial"/>
              </a:rPr>
              <a:t>pillar-governance core bundle</a:t>
            </a:r>
          </a:p>
        </p:txBody>
      </p:sp>
      <p:sp>
        <p:nvSpPr>
          <p:cNvPr id="636" name="g4 636"/>
          <p:cNvSpPr/>
          <p:nvPr/>
        </p:nvSpPr>
        <p:spPr>
          <a:xfrm>
            <a:off x="10859153"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Policy author</a:t>
            </a:r>
          </a:p>
          <a:p>
            <a:pPr algn="l" marL="0" indent="0">
              <a:lnSpc>
                <a:spcPct val="100000"/>
              </a:lnSpc>
              <a:buNone/>
            </a:pPr>
            <a:r>
              <a:rPr lang="en-US" sz="700" dirty="0">
                <a:solidFill>
                  <a:srgbClr val="141010"/>
                </a:solidFill>
                <a:latin typeface="Arial"/>
                <a:ea typeface="Arial"/>
                <a:cs typeface="Arial"/>
              </a:rPr>
              <a:t>requirement docs → YAML / Rego</a:t>
            </a:r>
          </a:p>
        </p:txBody>
      </p:sp>
      <p:sp>
        <p:nvSpPr>
          <p:cNvPr id="637" name="g4 637"/>
          <p:cNvSpPr/>
          <p:nvPr/>
        </p:nvSpPr>
        <p:spPr>
          <a:xfrm>
            <a:off x="3703320" y="4315968"/>
            <a:ext cx="5486400" cy="18288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PROOF  ·  public examples of internal plugin distribution</a:t>
            </a:r>
          </a:p>
        </p:txBody>
      </p:sp>
      <p:sp>
        <p:nvSpPr>
          <p:cNvPr id="638" name="g4 638"/>
          <p:cNvSpPr/>
          <p:nvPr/>
        </p:nvSpPr>
        <p:spPr>
          <a:xfrm>
            <a:off x="370332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Intercom</a:t>
            </a:r>
          </a:p>
          <a:p>
            <a:pPr algn="l" marL="0" indent="0">
              <a:lnSpc>
                <a:spcPct val="100000"/>
              </a:lnSpc>
              <a:buNone/>
            </a:pPr>
            <a:r>
              <a:rPr lang="en-US" sz="750" dirty="0">
                <a:solidFill>
                  <a:srgbClr val="F3E6D6"/>
                </a:solidFill>
                <a:latin typeface="Arial"/>
                <a:ea typeface="Arial"/>
                <a:cs typeface="Arial"/>
              </a:rPr>
              <a:t>13 plugins, 100+ skills via MDM; gaps auto-filed as issues</a:t>
            </a:r>
          </a:p>
        </p:txBody>
      </p:sp>
      <p:sp>
        <p:nvSpPr>
          <p:cNvPr id="639" name="g4 639"/>
          <p:cNvSpPr/>
          <p:nvPr/>
        </p:nvSpPr>
        <p:spPr>
          <a:xfrm>
            <a:off x="580644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KDDI</a:t>
            </a:r>
          </a:p>
          <a:p>
            <a:pPr algn="l" marL="0" indent="0">
              <a:lnSpc>
                <a:spcPct val="100000"/>
              </a:lnSpc>
              <a:buNone/>
            </a:pPr>
            <a:r>
              <a:rPr lang="en-US" sz="750" dirty="0">
                <a:solidFill>
                  <a:srgbClr val="F3E6D6"/>
                </a:solidFill>
                <a:latin typeface="Arial"/>
                <a:ea typeface="Arial"/>
                <a:cs typeface="Arial"/>
              </a:rPr>
              <a:t>GHE marketplace; a plugin-uploader makes publishing self-service</a:t>
            </a:r>
          </a:p>
        </p:txBody>
      </p:sp>
      <p:sp>
        <p:nvSpPr>
          <p:cNvPr id="640" name="g4 640"/>
          <p:cNvSpPr/>
          <p:nvPr/>
        </p:nvSpPr>
        <p:spPr>
          <a:xfrm>
            <a:off x="790956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Uber</a:t>
            </a:r>
          </a:p>
          <a:p>
            <a:pPr algn="l" marL="0" indent="0">
              <a:lnSpc>
                <a:spcPct val="100000"/>
              </a:lnSpc>
              <a:buNone/>
            </a:pPr>
            <a:r>
              <a:rPr lang="en-US" sz="750" dirty="0">
                <a:solidFill>
                  <a:srgbClr val="F3E6D6"/>
                </a:solidFill>
                <a:latin typeface="Arial"/>
                <a:ea typeface="Arial"/>
                <a:cs typeface="Arial"/>
              </a:rPr>
              <a:t>MCP Gateway + Registry; Skills Registry with A/B-tested versions next</a:t>
            </a:r>
          </a:p>
        </p:txBody>
      </p:sp>
      <p:sp>
        <p:nvSpPr>
          <p:cNvPr id="641" name="g4 641"/>
          <p:cNvSpPr/>
          <p:nvPr/>
        </p:nvSpPr>
        <p:spPr>
          <a:xfrm>
            <a:off x="1001268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Stripe</a:t>
            </a:r>
          </a:p>
          <a:p>
            <a:pPr algn="l" marL="0" indent="0">
              <a:lnSpc>
                <a:spcPct val="100000"/>
              </a:lnSpc>
              <a:buNone/>
            </a:pPr>
            <a:r>
              <a:rPr lang="en-US" sz="750" dirty="0">
                <a:solidFill>
                  <a:srgbClr val="F3E6D6"/>
                </a:solidFill>
                <a:latin typeface="Arial"/>
                <a:ea typeface="Arial"/>
                <a:cs typeface="Arial"/>
              </a:rPr>
              <a:t>signed binary, pre-configured for 1,370 engineers</a:t>
            </a:r>
          </a:p>
        </p:txBody>
      </p:sp>
      <p:sp>
        <p:nvSpPr>
          <p:cNvPr id="63" name="Shape 61"/>
          <p:cNvSpPr/>
          <p:nvPr/>
        </p:nvSpPr>
        <p:spPr>
          <a:xfrm rot="19800000">
            <a:off x="3895344" y="5657393"/>
            <a:ext cx="95098" cy="95098"/>
          </a:xfrm>
          <a:prstGeom prst="rect">
            <a:avLst/>
          </a:prstGeom>
          <a:solidFill>
            <a:srgbClr val="CC0000"/>
          </a:solidFill>
          <a:ln/>
        </p:spPr>
      </p:sp>
      <p:sp>
        <p:nvSpPr>
          <p:cNvPr id="642"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09 / 17</a:t>
            </a:r>
          </a:p>
        </p:txBody>
      </p:sp>
      <p:sp>
        <p:nvSpPr>
          <p:cNvPr id="643"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644"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2988259" y="-5184648"/>
            <a:ext cx="8621878" cy="8621878"/>
          </a:xfrm>
          <a:prstGeom prst="ellipse">
            <a:avLst/>
          </a:prstGeom>
          <a:solidFill>
            <a:srgbClr val="8A0F1A">
              <a:alpha val="2547"/>
            </a:srgbClr>
          </a:solidFill>
          <a:ln/>
        </p:spPr>
      </p:sp>
      <p:sp>
        <p:nvSpPr>
          <p:cNvPr id="3" name="Shape 1"/>
          <p:cNvSpPr/>
          <p:nvPr/>
        </p:nvSpPr>
        <p:spPr>
          <a:xfrm>
            <a:off x="3167882" y="-5005026"/>
            <a:ext cx="8262633" cy="8262633"/>
          </a:xfrm>
          <a:prstGeom prst="ellipse">
            <a:avLst/>
          </a:prstGeom>
          <a:solidFill>
            <a:srgbClr val="8A0F1A">
              <a:alpha val="4218"/>
            </a:srgbClr>
          </a:solidFill>
          <a:ln/>
        </p:spPr>
      </p:sp>
      <p:sp>
        <p:nvSpPr>
          <p:cNvPr id="4" name="Shape 2"/>
          <p:cNvSpPr/>
          <p:nvPr/>
        </p:nvSpPr>
        <p:spPr>
          <a:xfrm>
            <a:off x="3347504" y="-4825403"/>
            <a:ext cx="7903388" cy="7903388"/>
          </a:xfrm>
          <a:prstGeom prst="ellipse">
            <a:avLst/>
          </a:prstGeom>
          <a:solidFill>
            <a:srgbClr val="8A0F1A">
              <a:alpha val="4138"/>
            </a:srgbClr>
          </a:solidFill>
          <a:ln/>
        </p:spPr>
      </p:sp>
      <p:sp>
        <p:nvSpPr>
          <p:cNvPr id="5" name="Shape 3"/>
          <p:cNvSpPr/>
          <p:nvPr/>
        </p:nvSpPr>
        <p:spPr>
          <a:xfrm>
            <a:off x="3527127" y="-4645781"/>
            <a:ext cx="7544143" cy="7544143"/>
          </a:xfrm>
          <a:prstGeom prst="ellipse">
            <a:avLst/>
          </a:prstGeom>
          <a:solidFill>
            <a:srgbClr val="8A0F1A">
              <a:alpha val="2636"/>
            </a:srgbClr>
          </a:solidFill>
          <a:ln/>
        </p:spPr>
      </p:sp>
      <p:sp>
        <p:nvSpPr>
          <p:cNvPr id="6" name="Shape 4"/>
          <p:cNvSpPr/>
          <p:nvPr/>
        </p:nvSpPr>
        <p:spPr>
          <a:xfrm>
            <a:off x="3706749" y="-4466158"/>
            <a:ext cx="7184898" cy="7184898"/>
          </a:xfrm>
          <a:prstGeom prst="ellipse">
            <a:avLst/>
          </a:prstGeom>
          <a:solidFill>
            <a:srgbClr val="8A0F1A">
              <a:alpha val="2661"/>
            </a:srgbClr>
          </a:solidFill>
          <a:ln/>
        </p:spPr>
      </p:sp>
      <p:sp>
        <p:nvSpPr>
          <p:cNvPr id="7" name="Shape 5"/>
          <p:cNvSpPr/>
          <p:nvPr/>
        </p:nvSpPr>
        <p:spPr>
          <a:xfrm>
            <a:off x="3886371" y="-4286536"/>
            <a:ext cx="6825653" cy="6825653"/>
          </a:xfrm>
          <a:prstGeom prst="ellipse">
            <a:avLst/>
          </a:prstGeom>
          <a:solidFill>
            <a:srgbClr val="8A0F1A">
              <a:alpha val="3304"/>
            </a:srgbClr>
          </a:solidFill>
          <a:ln/>
        </p:spPr>
      </p:sp>
      <p:sp>
        <p:nvSpPr>
          <p:cNvPr id="8" name="Shape 6"/>
          <p:cNvSpPr/>
          <p:nvPr/>
        </p:nvSpPr>
        <p:spPr>
          <a:xfrm>
            <a:off x="4065994" y="-4106913"/>
            <a:ext cx="6466408" cy="6466408"/>
          </a:xfrm>
          <a:prstGeom prst="ellipse">
            <a:avLst/>
          </a:prstGeom>
          <a:solidFill>
            <a:srgbClr val="8A0F1A">
              <a:alpha val="3622"/>
            </a:srgbClr>
          </a:solidFill>
          <a:ln/>
        </p:spPr>
      </p:sp>
      <p:sp>
        <p:nvSpPr>
          <p:cNvPr id="9" name="Shape 7"/>
          <p:cNvSpPr/>
          <p:nvPr/>
        </p:nvSpPr>
        <p:spPr>
          <a:xfrm>
            <a:off x="4245616" y="-3927291"/>
            <a:ext cx="6107163" cy="6107163"/>
          </a:xfrm>
          <a:prstGeom prst="ellipse">
            <a:avLst/>
          </a:prstGeom>
          <a:solidFill>
            <a:srgbClr val="8A0F1A">
              <a:alpha val="3650"/>
            </a:srgbClr>
          </a:solidFill>
          <a:ln/>
        </p:spPr>
      </p:sp>
      <p:sp>
        <p:nvSpPr>
          <p:cNvPr id="10" name="Shape 8"/>
          <p:cNvSpPr/>
          <p:nvPr/>
        </p:nvSpPr>
        <p:spPr>
          <a:xfrm>
            <a:off x="4425239" y="-3747668"/>
            <a:ext cx="5747918" cy="5747918"/>
          </a:xfrm>
          <a:prstGeom prst="ellipse">
            <a:avLst/>
          </a:prstGeom>
          <a:solidFill>
            <a:srgbClr val="8A0F1A">
              <a:alpha val="3631"/>
            </a:srgbClr>
          </a:solidFill>
          <a:ln/>
        </p:spPr>
      </p:sp>
      <p:sp>
        <p:nvSpPr>
          <p:cNvPr id="11" name="Shape 9"/>
          <p:cNvSpPr/>
          <p:nvPr/>
        </p:nvSpPr>
        <p:spPr>
          <a:xfrm>
            <a:off x="4604861" y="-3568046"/>
            <a:ext cx="5388674" cy="5388674"/>
          </a:xfrm>
          <a:prstGeom prst="ellipse">
            <a:avLst/>
          </a:prstGeom>
          <a:solidFill>
            <a:srgbClr val="8A0F1A">
              <a:alpha val="3693"/>
            </a:srgbClr>
          </a:solidFill>
          <a:ln/>
        </p:spPr>
      </p:sp>
      <p:sp>
        <p:nvSpPr>
          <p:cNvPr id="12" name="Shape 10"/>
          <p:cNvSpPr/>
          <p:nvPr/>
        </p:nvSpPr>
        <p:spPr>
          <a:xfrm>
            <a:off x="4784484" y="-3388423"/>
            <a:ext cx="5029429" cy="5029429"/>
          </a:xfrm>
          <a:prstGeom prst="ellipse">
            <a:avLst/>
          </a:prstGeom>
          <a:solidFill>
            <a:srgbClr val="8A0F1A">
              <a:alpha val="4536"/>
            </a:srgbClr>
          </a:solidFill>
          <a:ln/>
        </p:spPr>
      </p:sp>
      <p:sp>
        <p:nvSpPr>
          <p:cNvPr id="13" name="Shape 11"/>
          <p:cNvSpPr/>
          <p:nvPr/>
        </p:nvSpPr>
        <p:spPr>
          <a:xfrm>
            <a:off x="4964106" y="-3208801"/>
            <a:ext cx="4670184" cy="4670184"/>
          </a:xfrm>
          <a:prstGeom prst="ellipse">
            <a:avLst/>
          </a:prstGeom>
          <a:solidFill>
            <a:srgbClr val="8A0F1A">
              <a:alpha val="4737"/>
            </a:srgbClr>
          </a:solidFill>
          <a:ln/>
        </p:spPr>
      </p:sp>
      <p:sp>
        <p:nvSpPr>
          <p:cNvPr id="14" name="Shape 12"/>
          <p:cNvSpPr/>
          <p:nvPr/>
        </p:nvSpPr>
        <p:spPr>
          <a:xfrm>
            <a:off x="5143729" y="-3029179"/>
            <a:ext cx="4310939" cy="4310939"/>
          </a:xfrm>
          <a:prstGeom prst="ellipse">
            <a:avLst/>
          </a:prstGeom>
          <a:solidFill>
            <a:srgbClr val="8A0F1A">
              <a:alpha val="4994"/>
            </a:srgbClr>
          </a:solidFill>
          <a:ln/>
        </p:spPr>
      </p:sp>
      <p:sp>
        <p:nvSpPr>
          <p:cNvPr id="15" name="Shape 13"/>
          <p:cNvSpPr/>
          <p:nvPr/>
        </p:nvSpPr>
        <p:spPr>
          <a:xfrm>
            <a:off x="5323351" y="-2849556"/>
            <a:ext cx="3951694" cy="3951694"/>
          </a:xfrm>
          <a:prstGeom prst="ellipse">
            <a:avLst/>
          </a:prstGeom>
          <a:solidFill>
            <a:srgbClr val="8A0F1A">
              <a:alpha val="5272"/>
            </a:srgbClr>
          </a:solidFill>
          <a:ln/>
        </p:spPr>
      </p:sp>
      <p:sp>
        <p:nvSpPr>
          <p:cNvPr id="16" name="Shape 14"/>
          <p:cNvSpPr/>
          <p:nvPr/>
        </p:nvSpPr>
        <p:spPr>
          <a:xfrm>
            <a:off x="5502974" y="-2669934"/>
            <a:ext cx="3592449" cy="3592449"/>
          </a:xfrm>
          <a:prstGeom prst="ellipse">
            <a:avLst/>
          </a:prstGeom>
          <a:solidFill>
            <a:srgbClr val="8A0F1A">
              <a:alpha val="5521"/>
            </a:srgbClr>
          </a:solidFill>
          <a:ln/>
        </p:spPr>
      </p:sp>
      <p:sp>
        <p:nvSpPr>
          <p:cNvPr id="17" name="Shape 15"/>
          <p:cNvSpPr/>
          <p:nvPr/>
        </p:nvSpPr>
        <p:spPr>
          <a:xfrm>
            <a:off x="5682596" y="-2490311"/>
            <a:ext cx="3233204" cy="3233204"/>
          </a:xfrm>
          <a:prstGeom prst="ellipse">
            <a:avLst/>
          </a:prstGeom>
          <a:solidFill>
            <a:srgbClr val="8A0F1A">
              <a:alpha val="6496"/>
            </a:srgbClr>
          </a:solidFill>
          <a:ln/>
        </p:spPr>
      </p:sp>
      <p:sp>
        <p:nvSpPr>
          <p:cNvPr id="18" name="Shape 16"/>
          <p:cNvSpPr/>
          <p:nvPr/>
        </p:nvSpPr>
        <p:spPr>
          <a:xfrm>
            <a:off x="5862218" y="-2310689"/>
            <a:ext cx="2873959" cy="2873959"/>
          </a:xfrm>
          <a:prstGeom prst="ellipse">
            <a:avLst/>
          </a:prstGeom>
          <a:solidFill>
            <a:srgbClr val="8A0F1A">
              <a:alpha val="6768"/>
            </a:srgbClr>
          </a:solidFill>
          <a:ln/>
        </p:spPr>
      </p:sp>
      <p:sp>
        <p:nvSpPr>
          <p:cNvPr id="19" name="Shape 17"/>
          <p:cNvSpPr/>
          <p:nvPr/>
        </p:nvSpPr>
        <p:spPr>
          <a:xfrm>
            <a:off x="6041841" y="-2131066"/>
            <a:ext cx="2514714" cy="2514714"/>
          </a:xfrm>
          <a:prstGeom prst="ellipse">
            <a:avLst/>
          </a:prstGeom>
          <a:solidFill>
            <a:srgbClr val="8A0F1A">
              <a:alpha val="7123"/>
            </a:srgbClr>
          </a:solidFill>
          <a:ln/>
        </p:spPr>
      </p:sp>
      <p:sp>
        <p:nvSpPr>
          <p:cNvPr id="20" name="Shape 18"/>
          <p:cNvSpPr/>
          <p:nvPr/>
        </p:nvSpPr>
        <p:spPr>
          <a:xfrm>
            <a:off x="6221463" y="-1951444"/>
            <a:ext cx="2155469" cy="2155469"/>
          </a:xfrm>
          <a:prstGeom prst="ellipse">
            <a:avLst/>
          </a:prstGeom>
          <a:solidFill>
            <a:srgbClr val="8A0F1A">
              <a:alpha val="7486"/>
            </a:srgbClr>
          </a:solidFill>
          <a:ln/>
        </p:spPr>
      </p:sp>
      <p:sp>
        <p:nvSpPr>
          <p:cNvPr id="21" name="Shape 19"/>
          <p:cNvSpPr/>
          <p:nvPr/>
        </p:nvSpPr>
        <p:spPr>
          <a:xfrm>
            <a:off x="6401086" y="-1771821"/>
            <a:ext cx="1796225" cy="1796225"/>
          </a:xfrm>
          <a:prstGeom prst="ellipse">
            <a:avLst/>
          </a:prstGeom>
          <a:solidFill>
            <a:srgbClr val="8A0F1A">
              <a:alpha val="8191"/>
            </a:srgbClr>
          </a:solidFill>
          <a:ln/>
        </p:spPr>
      </p:sp>
      <p:sp>
        <p:nvSpPr>
          <p:cNvPr id="22" name="Shape 20"/>
          <p:cNvSpPr/>
          <p:nvPr/>
        </p:nvSpPr>
        <p:spPr>
          <a:xfrm>
            <a:off x="6580708" y="-1592199"/>
            <a:ext cx="1436980" cy="1436980"/>
          </a:xfrm>
          <a:prstGeom prst="ellipse">
            <a:avLst/>
          </a:prstGeom>
          <a:solidFill>
            <a:srgbClr val="8A0F1A">
              <a:alpha val="9466"/>
            </a:srgbClr>
          </a:solidFill>
          <a:ln/>
        </p:spPr>
      </p:sp>
      <p:sp>
        <p:nvSpPr>
          <p:cNvPr id="23" name="Shape 21"/>
          <p:cNvSpPr/>
          <p:nvPr/>
        </p:nvSpPr>
        <p:spPr>
          <a:xfrm>
            <a:off x="6760331" y="-1412577"/>
            <a:ext cx="1077735" cy="1077735"/>
          </a:xfrm>
          <a:prstGeom prst="ellipse">
            <a:avLst/>
          </a:prstGeom>
          <a:solidFill>
            <a:srgbClr val="8A0F1A">
              <a:alpha val="10120"/>
            </a:srgbClr>
          </a:solidFill>
          <a:ln/>
        </p:spPr>
      </p:sp>
      <p:sp>
        <p:nvSpPr>
          <p:cNvPr id="24" name="Shape 22"/>
          <p:cNvSpPr/>
          <p:nvPr/>
        </p:nvSpPr>
        <p:spPr>
          <a:xfrm>
            <a:off x="6939953" y="-1232954"/>
            <a:ext cx="718490" cy="718490"/>
          </a:xfrm>
          <a:prstGeom prst="ellipse">
            <a:avLst/>
          </a:prstGeom>
          <a:solidFill>
            <a:srgbClr val="8A0F1A">
              <a:alpha val="10280"/>
            </a:srgbClr>
          </a:solidFill>
          <a:ln/>
        </p:spPr>
      </p:sp>
      <p:sp>
        <p:nvSpPr>
          <p:cNvPr id="25" name="Shape 23"/>
          <p:cNvSpPr/>
          <p:nvPr/>
        </p:nvSpPr>
        <p:spPr>
          <a:xfrm>
            <a:off x="7119576" y="-1053332"/>
            <a:ext cx="359245" cy="359245"/>
          </a:xfrm>
          <a:prstGeom prst="ellipse">
            <a:avLst/>
          </a:prstGeom>
          <a:solidFill>
            <a:srgbClr val="8A0F1A">
              <a:alpha val="10999"/>
            </a:srgbClr>
          </a:solidFill>
          <a:ln/>
        </p:spPr>
      </p:sp>
      <p:sp>
        <p:nvSpPr>
          <p:cNvPr id="26" name="Text 24"/>
          <p:cNvSpPr/>
          <p:nvPr/>
        </p:nvSpPr>
        <p:spPr>
          <a:xfrm>
            <a:off x="819302" y="1220724"/>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P2 User-facing conversational / voice</a:t>
            </a:r>
          </a:p>
        </p:txBody>
      </p:sp>
      <p:sp>
        <p:nvSpPr>
          <p:cNvPr id="27" name="Text 25"/>
          <p:cNvSpPr/>
          <p:nvPr/>
        </p:nvSpPr>
        <p:spPr>
          <a:xfrm>
            <a:off x="818388" y="1449324"/>
            <a:ext cx="34290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Guard inline,</a:t>
            </a:r>
          </a:p>
        </p:txBody>
      </p:sp>
      <p:sp>
        <p:nvSpPr>
          <p:cNvPr id="28" name="Text 26"/>
          <p:cNvSpPr/>
          <p:nvPr/>
        </p:nvSpPr>
        <p:spPr>
          <a:xfrm>
            <a:off x="3794760" y="1449324"/>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judge async</a:t>
            </a:r>
          </a:p>
        </p:txBody>
      </p:sp>
      <p:sp>
        <p:nvSpPr>
          <p:cNvPr id="29" name="Shape 27"/>
          <p:cNvSpPr/>
          <p:nvPr/>
        </p:nvSpPr>
        <p:spPr>
          <a:xfrm rot="16200000">
            <a:off x="3401568" y="1582826"/>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30" name="Shape 28"/>
          <p:cNvSpPr/>
          <p:nvPr/>
        </p:nvSpPr>
        <p:spPr>
          <a:xfrm>
            <a:off x="0" y="2709367"/>
            <a:ext cx="12191695" cy="0"/>
          </a:xfrm>
          <a:prstGeom prst="line">
            <a:avLst/>
          </a:prstGeom>
          <a:noFill/>
          <a:ln w="12700">
            <a:solidFill>
              <a:srgbClr val="D9B48A"/>
            </a:solidFill>
            <a:prstDash val="solid"/>
            <a:tailEnd type="triangle"/>
          </a:ln>
        </p:spPr>
      </p:sp>
      <p:sp>
        <p:nvSpPr>
          <p:cNvPr id="31" name="Shape 29"/>
          <p:cNvSpPr/>
          <p:nvPr/>
        </p:nvSpPr>
        <p:spPr>
          <a:xfrm>
            <a:off x="1874520" y="2926080"/>
            <a:ext cx="3264408" cy="3611880"/>
          </a:xfrm>
          <a:prstGeom prst="roundRect">
            <a:avLst>
              <a:gd name="adj" fmla="val 8650"/>
            </a:avLst>
          </a:prstGeom>
          <a:ln w="6350">
            <a:solidFill>
              <a:srgbClr val="D9B48A"/>
            </a:solidFill>
            <a:prstDash val="solid"/>
          </a:ln>
        </p:spPr>
      </p:sp>
      <p:sp>
        <p:nvSpPr>
          <p:cNvPr id="32" name="Shape 30"/>
          <p:cNvSpPr/>
          <p:nvPr/>
        </p:nvSpPr>
        <p:spPr>
          <a:xfrm rot="19800000">
            <a:off x="3459175" y="2661818"/>
            <a:ext cx="95098" cy="95098"/>
          </a:xfrm>
          <a:prstGeom prst="rect">
            <a:avLst/>
          </a:prstGeom>
          <a:solidFill>
            <a:srgbClr val="CC0000"/>
          </a:solidFill>
          <a:ln/>
        </p:spPr>
      </p:sp>
      <p:sp>
        <p:nvSpPr>
          <p:cNvPr id="33" name="Text 31"/>
          <p:cNvSpPr/>
          <p:nvPr/>
        </p:nvSpPr>
        <p:spPr>
          <a:xfrm>
            <a:off x="1984248"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First-party</a:t>
            </a:r>
          </a:p>
        </p:txBody>
      </p:sp>
      <p:sp>
        <p:nvSpPr>
          <p:cNvPr id="34" name="Shape 32"/>
          <p:cNvSpPr/>
          <p:nvPr/>
        </p:nvSpPr>
        <p:spPr>
          <a:xfrm>
            <a:off x="3246120" y="3044952"/>
            <a:ext cx="1737360" cy="374904"/>
          </a:xfrm>
          <a:prstGeom prst="roundRect">
            <a:avLst>
              <a:gd name="adj" fmla="val 50000"/>
            </a:avLst>
          </a:prstGeom>
          <a:solidFill>
            <a:srgbClr val="8A0F1A">
              <a:alpha val="15600"/>
            </a:srgbClr>
          </a:solidFill>
          <a:ln w="6350">
            <a:solidFill>
              <a:srgbClr val="D9B48A"/>
            </a:solidFill>
            <a:prstDash val="solid"/>
          </a:ln>
        </p:spPr>
      </p:sp>
      <p:sp>
        <p:nvSpPr>
          <p:cNvPr id="35" name="Text 33"/>
          <p:cNvSpPr/>
          <p:nvPr/>
        </p:nvSpPr>
        <p:spPr>
          <a:xfrm>
            <a:off x="3246120" y="3044952"/>
            <a:ext cx="1737360" cy="318211"/>
          </a:xfrm>
          <a:prstGeom prst="rect">
            <a:avLst/>
          </a:prstGeom>
          <a:noFill/>
          <a:ln/>
        </p:spPr>
        <p:txBody>
          <a:bodyPr wrap="square" lIns="91440" tIns="45720" rIns="91440" bIns="45720" rtlCol="0" anchor="t">
            <a:spAutoFit/>
          </a:bodyPr>
          <a:lstStyle/>
          <a:p>
            <a:pPr algn="ctr" indent="0" marL="0">
              <a:lnSpc>
                <a:spcPct val="150000"/>
              </a:lnSpc>
              <a:buNone/>
            </a:pPr>
            <a:r>
              <a:rPr lang="en-US" sz="1000" dirty="0">
                <a:solidFill>
                  <a:srgbClr val="FFFFFF"/>
                </a:solidFill>
                <a:latin typeface="Arial" pitchFamily="34" charset="0"/>
                <a:ea typeface="Arial" pitchFamily="34" charset="-122"/>
                <a:cs typeface="Arial" pitchFamily="34" charset="-120"/>
              </a:rPr>
              <a:t>we build it</a:t>
            </a:r>
          </a:p>
        </p:txBody>
      </p:sp>
      <p:sp>
        <p:nvSpPr>
          <p:cNvPr id="38" name="Shape 36"/>
          <p:cNvSpPr/>
          <p:nvPr/>
        </p:nvSpPr>
        <p:spPr>
          <a:xfrm>
            <a:off x="5248656" y="2926080"/>
            <a:ext cx="3264408" cy="3611880"/>
          </a:xfrm>
          <a:prstGeom prst="roundRect">
            <a:avLst>
              <a:gd name="adj" fmla="val 8650"/>
            </a:avLst>
          </a:prstGeom>
          <a:ln w="6350">
            <a:solidFill>
              <a:srgbClr val="D9B48A"/>
            </a:solidFill>
            <a:prstDash val="solid"/>
          </a:ln>
        </p:spPr>
      </p:sp>
      <p:sp>
        <p:nvSpPr>
          <p:cNvPr id="39" name="Shape 37"/>
          <p:cNvSpPr/>
          <p:nvPr/>
        </p:nvSpPr>
        <p:spPr>
          <a:xfrm rot="19800000">
            <a:off x="6833311" y="2661818"/>
            <a:ext cx="95098" cy="95098"/>
          </a:xfrm>
          <a:prstGeom prst="rect">
            <a:avLst/>
          </a:prstGeom>
          <a:solidFill>
            <a:srgbClr val="CC0000"/>
          </a:solidFill>
          <a:ln/>
        </p:spPr>
      </p:sp>
      <p:sp>
        <p:nvSpPr>
          <p:cNvPr id="40" name="Text 38"/>
          <p:cNvSpPr/>
          <p:nvPr/>
        </p:nvSpPr>
        <p:spPr>
          <a:xfrm>
            <a:off x="5358384"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Third-party</a:t>
            </a:r>
          </a:p>
        </p:txBody>
      </p:sp>
      <p:sp>
        <p:nvSpPr>
          <p:cNvPr id="41" name="Shape 39"/>
          <p:cNvSpPr/>
          <p:nvPr/>
        </p:nvSpPr>
        <p:spPr>
          <a:xfrm>
            <a:off x="6583680" y="3044952"/>
            <a:ext cx="1828800" cy="374904"/>
          </a:xfrm>
          <a:prstGeom prst="roundRect">
            <a:avLst>
              <a:gd name="adj" fmla="val 50000"/>
            </a:avLst>
          </a:prstGeom>
          <a:solidFill>
            <a:srgbClr val="8A0F1A">
              <a:alpha val="15600"/>
            </a:srgbClr>
          </a:solidFill>
          <a:ln w="6350">
            <a:solidFill>
              <a:srgbClr val="D9B48A"/>
            </a:solidFill>
            <a:prstDash val="solid"/>
          </a:ln>
        </p:spPr>
      </p:sp>
      <p:sp>
        <p:nvSpPr>
          <p:cNvPr id="42" name="Text 40"/>
          <p:cNvSpPr/>
          <p:nvPr/>
        </p:nvSpPr>
        <p:spPr>
          <a:xfrm>
            <a:off x="6583680" y="3044952"/>
            <a:ext cx="1828800" cy="318211"/>
          </a:xfrm>
          <a:prstGeom prst="rect">
            <a:avLst/>
          </a:prstGeom>
          <a:noFill/>
          <a:ln/>
        </p:spPr>
        <p:txBody>
          <a:bodyPr wrap="square" lIns="91440" tIns="45720" rIns="91440" bIns="45720" rtlCol="0" anchor="t">
            <a:spAutoFit/>
          </a:bodyPr>
          <a:lstStyle/>
          <a:p>
            <a:pPr algn="ctr" indent="0" marL="0">
              <a:lnSpc>
                <a:spcPct val="150000"/>
              </a:lnSpc>
              <a:buNone/>
            </a:pPr>
            <a:r>
              <a:rPr lang="en-US" sz="950" dirty="0">
                <a:solidFill>
                  <a:srgbClr val="FFFFFF"/>
                </a:solidFill>
                <a:latin typeface="Arial" pitchFamily="34" charset="0"/>
                <a:ea typeface="Arial" pitchFamily="34" charset="-122"/>
                <a:cs typeface="Arial" pitchFamily="34" charset="-120"/>
              </a:rPr>
              <a:t>CES · Google · CRA</a:t>
            </a:r>
          </a:p>
        </p:txBody>
      </p:sp>
      <p:sp>
        <p:nvSpPr>
          <p:cNvPr id="45" name="Shape 43"/>
          <p:cNvSpPr/>
          <p:nvPr/>
        </p:nvSpPr>
        <p:spPr>
          <a:xfrm>
            <a:off x="8622792" y="2926080"/>
            <a:ext cx="3264408" cy="3611880"/>
          </a:xfrm>
          <a:prstGeom prst="roundRect">
            <a:avLst>
              <a:gd name="adj" fmla="val 8650"/>
            </a:avLst>
          </a:prstGeom>
          <a:solidFill>
            <a:srgbClr val="F5B700"/>
          </a:solidFill>
          <a:ln/>
        </p:spPr>
      </p:sp>
      <p:sp>
        <p:nvSpPr>
          <p:cNvPr id="46" name="Shape 44"/>
          <p:cNvSpPr/>
          <p:nvPr/>
        </p:nvSpPr>
        <p:spPr>
          <a:xfrm rot="19800000">
            <a:off x="10207447" y="2661818"/>
            <a:ext cx="95098" cy="95098"/>
          </a:xfrm>
          <a:prstGeom prst="rect">
            <a:avLst/>
          </a:prstGeom>
          <a:solidFill>
            <a:srgbClr val="CC0000"/>
          </a:solidFill>
          <a:ln/>
        </p:spPr>
      </p:sp>
      <p:sp>
        <p:nvSpPr>
          <p:cNvPr id="47" name="Text 45"/>
          <p:cNvSpPr/>
          <p:nvPr/>
        </p:nvSpPr>
        <p:spPr>
          <a:xfrm>
            <a:off x="8732520"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141010"/>
                </a:solidFill>
                <a:latin typeface="Arial" pitchFamily="34" charset="0"/>
                <a:ea typeface="Arial" pitchFamily="34" charset="-122"/>
                <a:cs typeface="Arial" pitchFamily="34" charset="-120"/>
              </a:rPr>
              <a:t>Gap</a:t>
            </a:r>
          </a:p>
        </p:txBody>
      </p:sp>
      <p:sp>
        <p:nvSpPr>
          <p:cNvPr id="48" name="Shape 46"/>
          <p:cNvSpPr/>
          <p:nvPr/>
        </p:nvSpPr>
        <p:spPr>
          <a:xfrm>
            <a:off x="9299448" y="3044952"/>
            <a:ext cx="2468880" cy="374904"/>
          </a:xfrm>
          <a:prstGeom prst="roundRect">
            <a:avLst>
              <a:gd name="adj" fmla="val 50000"/>
            </a:avLst>
          </a:prstGeom>
          <a:solidFill>
            <a:srgbClr val="FFF1CC">
              </a:srgbClr>
          </a:solidFill>
          <a:ln w="6350">
            <a:solidFill>
              <a:srgbClr val="141010"/>
            </a:solidFill>
            <a:prstDash val="solid"/>
          </a:ln>
        </p:spPr>
      </p:sp>
      <p:sp>
        <p:nvSpPr>
          <p:cNvPr id="49" name="Text 47"/>
          <p:cNvSpPr/>
          <p:nvPr/>
        </p:nvSpPr>
        <p:spPr>
          <a:xfrm>
            <a:off x="9299448" y="3044952"/>
            <a:ext cx="2468880" cy="318211"/>
          </a:xfrm>
          <a:prstGeom prst="rect">
            <a:avLst/>
          </a:prstGeom>
          <a:noFill/>
          <a:ln/>
        </p:spPr>
        <p:txBody>
          <a:bodyPr wrap="square" lIns="91440" tIns="45720" rIns="91440" bIns="45720" rtlCol="0" anchor="t">
            <a:spAutoFit/>
          </a:bodyPr>
          <a:lstStyle/>
          <a:p>
            <a:pPr algn="ctr" indent="0" marL="0">
              <a:lnSpc>
                <a:spcPct val="150000"/>
              </a:lnSpc>
              <a:buNone/>
            </a:pPr>
            <a:r>
              <a:rPr lang="en-US" sz="1000" dirty="0">
                <a:solidFill>
                  <a:srgbClr val="141010"/>
                </a:solidFill>
                <a:latin typeface="Arial" pitchFamily="34" charset="0"/>
                <a:ea typeface="Arial" pitchFamily="34" charset="-122"/>
                <a:cs typeface="Arial" pitchFamily="34" charset="-120"/>
              </a:rPr>
              <a:t>required · missing · why</a:t>
            </a:r>
          </a:p>
        </p:txBody>
      </p:sp>
      <p:sp>
        <p:nvSpPr>
          <p:cNvPr id="98" name="v2 98"/>
          <p:cNvSpPr/>
          <p:nvPr/>
        </p:nvSpPr>
        <p:spPr>
          <a:xfrm>
            <a:off x="8732520" y="1481328"/>
            <a:ext cx="3154680" cy="548640"/>
          </a:xfrm>
          <a:prstGeom prst="rect">
            <a:avLst/>
          </a:prstGeom>
          <a:noFill/>
          <a:ln>
            <a:noFill/>
          </a:ln>
        </p:spPr>
        <p:txBody>
          <a:bodyPr wrap="square" lIns="0" tIns="0" rIns="0" bIns="0" rtlCol="0" anchor="t">
            <a:noAutofit/>
          </a:bodyPr>
          <a:lstStyle/>
          <a:p>
            <a:pPr algn="l" marL="0" indent="0">
              <a:buNone/>
            </a:pPr>
            <a:r>
              <a:rPr lang="en-US" sz="1000" dirty="0">
                <a:solidFill>
                  <a:srgbClr val="F3E6D6"/>
                </a:solidFill>
                <a:latin typeface="Arial"/>
                <a:ea typeface="Arial"/>
                <a:cs typeface="Arial"/>
              </a:rPr>
              <a:t>Voice target from a SECONDARY practitioner source [34]; Tier 1 / Tier 2 timings and vendor BYO-model are UNVERIFIED.</a:t>
            </a:r>
          </a:p>
        </p:txBody>
      </p:sp>
      <p:sp>
        <p:nvSpPr>
          <p:cNvPr id="99" name="v2 99"/>
          <p:cNvSpPr/>
          <p:nvPr/>
        </p:nvSpPr>
        <p:spPr>
          <a:xfrm>
            <a:off x="548640" y="3474720"/>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Simulate + red team</a:t>
            </a:r>
          </a:p>
        </p:txBody>
      </p:sp>
      <p:sp>
        <p:nvSpPr>
          <p:cNvPr id="100" name="v2 100"/>
          <p:cNvSpPr/>
          <p:nvPr/>
        </p:nvSpPr>
        <p:spPr>
          <a:xfrm>
            <a:off x="1984248"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Sim gate  </a:t>
            </a:r>
            <a:r>
              <a:rPr lang="en-US" sz="1050" dirty="0">
                <a:solidFill>
                  <a:srgbClr val="F3E6D6"/>
                </a:solidFill>
                <a:latin typeface="Arial"/>
                <a:ea typeface="Arial"/>
                <a:cs typeface="Arial"/>
              </a:rPr>
              <a:t>Persona + voice sims (τ³-style) scored on Galileo session metrics before release.</a:t>
            </a:r>
          </a:p>
        </p:txBody>
      </p:sp>
      <p:sp>
        <p:nvSpPr>
          <p:cNvPr id="101" name="v2 101"/>
          <p:cNvSpPr/>
          <p:nvPr/>
        </p:nvSpPr>
        <p:spPr>
          <a:xfrm>
            <a:off x="5358384"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Vendor-built  </a:t>
            </a:r>
            <a:r>
              <a:rPr lang="en-US" sz="1050" dirty="0">
                <a:solidFill>
                  <a:srgbClr val="F3E6D6"/>
                </a:solidFill>
                <a:latin typeface="Arial"/>
                <a:ea typeface="Arial"/>
                <a:cs typeface="Arial"/>
              </a:rPr>
              <a:t>e.g. CES, Google, CRA: sims via the vendor channel API; vendor test centres.</a:t>
            </a:r>
          </a:p>
        </p:txBody>
      </p:sp>
      <p:sp>
        <p:nvSpPr>
          <p:cNvPr id="102" name="v2 102"/>
          <p:cNvSpPr/>
          <p:nvPr/>
        </p:nvSpPr>
        <p:spPr>
          <a:xfrm>
            <a:off x="8732520"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Voice harness  </a:t>
            </a:r>
            <a:r>
              <a:rPr lang="en-US" sz="1050" dirty="0">
                <a:solidFill>
                  <a:srgbClr val="141010"/>
                </a:solidFill>
                <a:latin typeface="Arial"/>
                <a:ea typeface="Arial"/>
                <a:cs typeface="Arial"/>
              </a:rPr>
              <a:t>Voice sim + voice red team not chosen (Coval or a LiveKit build were options).</a:t>
            </a:r>
          </a:p>
        </p:txBody>
      </p:sp>
      <p:cxnSp>
        <p:nvCxnSpPr>
          <p:cNvPr id="103" name="g1 rule 103"/>
          <p:cNvCxnSpPr/>
          <p:nvPr/>
        </p:nvCxnSpPr>
        <p:spPr>
          <a:xfrm>
            <a:off x="548640" y="4192524"/>
            <a:ext cx="11338560" cy="0"/>
          </a:xfrm>
          <a:prstGeom prst="line">
            <a:avLst/>
          </a:prstGeom>
          <a:ln w="9525">
            <a:solidFill>
              <a:srgbClr val="5A3A2E"/>
            </a:solidFill>
          </a:ln>
        </p:spPr>
      </p:cxnSp>
      <p:sp>
        <p:nvSpPr>
          <p:cNvPr id="104" name="v2 104"/>
          <p:cNvSpPr/>
          <p:nvPr/>
        </p:nvSpPr>
        <p:spPr>
          <a:xfrm>
            <a:off x="548640" y="4224528"/>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Inline guard</a:t>
            </a:r>
          </a:p>
        </p:txBody>
      </p:sp>
      <p:sp>
        <p:nvSpPr>
          <p:cNvPr id="105" name="v2 105"/>
          <p:cNvSpPr/>
          <p:nvPr/>
        </p:nvSpPr>
        <p:spPr>
          <a:xfrm>
            <a:off x="1984248"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Tier 1 + 2  </a:t>
            </a:r>
            <a:r>
              <a:rPr lang="en-US" sz="1050" dirty="0">
                <a:solidFill>
                  <a:srgbClr val="F3E6D6"/>
                </a:solidFill>
                <a:latin typeface="Arial"/>
                <a:ea typeface="Arial"/>
                <a:cs typeface="Arial"/>
              </a:rPr>
              <a:t>Inline inside the latency budget (tiers: slide 7).</a:t>
            </a:r>
          </a:p>
        </p:txBody>
      </p:sp>
      <p:sp>
        <p:nvSpPr>
          <p:cNvPr id="106" name="v2 106"/>
          <p:cNvSpPr/>
          <p:nvPr/>
        </p:nvSpPr>
        <p:spPr>
          <a:xfrm>
            <a:off x="5358384"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No inline  </a:t>
            </a:r>
            <a:r>
              <a:rPr lang="en-US" sz="1050" dirty="0">
                <a:solidFill>
                  <a:srgbClr val="F3E6D6"/>
                </a:solidFill>
                <a:latin typeface="Arial"/>
                <a:ea typeface="Arial"/>
                <a:cs typeface="Arial"/>
              </a:rPr>
              <a:t>No inline guardrails or prompt changes unless the vendor routes model calls via the Kairos gateway.</a:t>
            </a:r>
          </a:p>
        </p:txBody>
      </p:sp>
      <p:sp>
        <p:nvSpPr>
          <p:cNvPr id="107" name="v2 107"/>
          <p:cNvSpPr/>
          <p:nvPr/>
        </p:nvSpPr>
        <p:spPr>
          <a:xfrm>
            <a:off x="8732520"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Latency tier  </a:t>
            </a:r>
            <a:r>
              <a:rPr lang="en-US" sz="1050" dirty="0">
                <a:solidFill>
                  <a:srgbClr val="141010"/>
                </a:solidFill>
                <a:latin typeface="Arial"/>
                <a:ea typeface="Arial"/>
                <a:cs typeface="Arial"/>
              </a:rPr>
              <a:t>A guardrail tier aware of latency SLOs; the targets are still UNVERIFIED.</a:t>
            </a:r>
          </a:p>
        </p:txBody>
      </p:sp>
      <p:cxnSp>
        <p:nvCxnSpPr>
          <p:cNvPr id="108" name="g1 rule 108"/>
          <p:cNvCxnSpPr/>
          <p:nvPr/>
        </p:nvCxnSpPr>
        <p:spPr>
          <a:xfrm>
            <a:off x="548640" y="4942332"/>
            <a:ext cx="11338560" cy="0"/>
          </a:xfrm>
          <a:prstGeom prst="line">
            <a:avLst/>
          </a:prstGeom>
          <a:ln w="9525">
            <a:solidFill>
              <a:srgbClr val="5A3A2E"/>
            </a:solidFill>
          </a:ln>
        </p:spPr>
      </p:cxnSp>
      <p:sp>
        <p:nvSpPr>
          <p:cNvPr id="109" name="v2 109"/>
          <p:cNvSpPr/>
          <p:nvPr/>
        </p:nvSpPr>
        <p:spPr>
          <a:xfrm>
            <a:off x="548640" y="4974336"/>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Score + observe</a:t>
            </a:r>
          </a:p>
        </p:txBody>
      </p:sp>
      <p:sp>
        <p:nvSpPr>
          <p:cNvPr id="110" name="v2 110"/>
          <p:cNvSpPr/>
          <p:nvPr/>
        </p:nvSpPr>
        <p:spPr>
          <a:xfrm>
            <a:off x="1984248"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Tier 3  </a:t>
            </a:r>
            <a:r>
              <a:rPr lang="en-US" sz="1050" dirty="0">
                <a:solidFill>
                  <a:srgbClr val="F3E6D6"/>
                </a:solidFill>
                <a:latin typeface="Arial"/>
                <a:ea typeface="Arial"/>
                <a:cs typeface="Arial"/>
              </a:rPr>
              <a:t>LLM judges run async on the trace stream and steer the next turn.</a:t>
            </a:r>
          </a:p>
        </p:txBody>
      </p:sp>
      <p:sp>
        <p:nvSpPr>
          <p:cNvPr id="111" name="v2 111"/>
          <p:cNvSpPr/>
          <p:nvPr/>
        </p:nvSpPr>
        <p:spPr>
          <a:xfrm>
            <a:off x="5358384"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Traces in  </a:t>
            </a:r>
            <a:r>
              <a:rPr lang="en-US" sz="1050" dirty="0">
                <a:solidFill>
                  <a:srgbClr val="F3E6D6"/>
                </a:solidFill>
                <a:latin typeface="Arial"/>
                <a:ea typeface="Arial"/>
                <a:cs typeface="Arial"/>
              </a:rPr>
              <a:t>Agentforce OTel session traces [32]; Copilot Studio / Agent 365 OTel [31].</a:t>
            </a:r>
          </a:p>
        </p:txBody>
      </p:sp>
      <p:sp>
        <p:nvSpPr>
          <p:cNvPr id="112" name="v2 112"/>
          <p:cNvSpPr/>
          <p:nvPr/>
        </p:nvSpPr>
        <p:spPr>
          <a:xfrm>
            <a:off x="8732520"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Cross-vendor  </a:t>
            </a:r>
            <a:r>
              <a:rPr lang="en-US" sz="1050" dirty="0">
                <a:solidFill>
                  <a:srgbClr val="141010"/>
                </a:solidFill>
                <a:latin typeface="Arial"/>
                <a:ea typeface="Arial"/>
                <a:cs typeface="Arial"/>
              </a:rPr>
              <a:t>Session scoring of vendor bots on our metrics; vendor traces often lack content.</a:t>
            </a:r>
          </a:p>
        </p:txBody>
      </p:sp>
      <p:cxnSp>
        <p:nvCxnSpPr>
          <p:cNvPr id="113" name="g1 rule 113"/>
          <p:cNvCxnSpPr/>
          <p:nvPr/>
        </p:nvCxnSpPr>
        <p:spPr>
          <a:xfrm>
            <a:off x="548640" y="5692140"/>
            <a:ext cx="11338560" cy="0"/>
          </a:xfrm>
          <a:prstGeom prst="line">
            <a:avLst/>
          </a:prstGeom>
          <a:ln w="9525">
            <a:solidFill>
              <a:srgbClr val="5A3A2E"/>
            </a:solidFill>
          </a:ln>
        </p:spPr>
      </p:cxnSp>
      <p:sp>
        <p:nvSpPr>
          <p:cNvPr id="114" name="g1 114"/>
          <p:cNvSpPr/>
          <p:nvPr/>
        </p:nvSpPr>
        <p:spPr>
          <a:xfrm>
            <a:off x="548640" y="5724144"/>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Control / why</a:t>
            </a:r>
          </a:p>
        </p:txBody>
      </p:sp>
      <p:sp>
        <p:nvSpPr>
          <p:cNvPr id="115" name="g1 115"/>
          <p:cNvSpPr/>
          <p:nvPr/>
        </p:nvSpPr>
        <p:spPr>
          <a:xfrm>
            <a:off x="1984248"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Handoff  </a:t>
            </a:r>
            <a:r>
              <a:rPr lang="en-US" sz="1050" dirty="0">
                <a:solidFill>
                  <a:srgbClr val="F3E6D6"/>
                </a:solidFill>
                <a:latin typeface="Arial"/>
                <a:ea typeface="Arial"/>
                <a:cs typeface="Arial"/>
              </a:rPr>
              <a:t>Human-handoff tool and AI disclosure; knowledge and tools through the MCP gateway.</a:t>
            </a:r>
          </a:p>
        </p:txBody>
      </p:sp>
      <p:sp>
        <p:nvSpPr>
          <p:cNvPr id="116" name="g1 116"/>
          <p:cNvSpPr/>
          <p:nvPr/>
        </p:nvSpPr>
        <p:spPr>
          <a:xfrm>
            <a:off x="5358384"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Scopes  </a:t>
            </a:r>
            <a:r>
              <a:rPr lang="en-US" sz="1050" dirty="0">
                <a:solidFill>
                  <a:srgbClr val="F3E6D6"/>
                </a:solidFill>
                <a:latin typeface="Arial"/>
                <a:ea typeface="Arial"/>
                <a:cs typeface="Arial"/>
              </a:rPr>
              <a:t>We control the knowledge, MCP tools and customer-data scopes we expose.</a:t>
            </a:r>
          </a:p>
        </p:txBody>
      </p:sp>
      <p:sp>
        <p:nvSpPr>
          <p:cNvPr id="117" name="g1 117"/>
          <p:cNvSpPr/>
          <p:nvPr/>
        </p:nvSpPr>
        <p:spPr>
          <a:xfrm>
            <a:off x="8732520"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Why  </a:t>
            </a:r>
            <a:r>
              <a:rPr lang="en-US" sz="1050" dirty="0">
                <a:solidFill>
                  <a:srgbClr val="141010"/>
                </a:solidFill>
                <a:latin typeface="Arial"/>
                <a:ea typeface="Arial"/>
                <a:cs typeface="Arial"/>
              </a:rPr>
              <a:t>Gartner: 60% of brands use agentic AI one-to-one by 2028 [11b]; observability is “fragmented” [1].</a:t>
            </a:r>
          </a:p>
        </p:txBody>
      </p:sp>
      <p:sp>
        <p:nvSpPr>
          <p:cNvPr id="119" name="g2 119"/>
          <p:cNvSpPr/>
          <p:nvPr/>
        </p:nvSpPr>
        <p:spPr>
          <a:xfrm>
            <a:off x="54864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Caller</a:t>
            </a:r>
          </a:p>
          <a:p>
            <a:pPr algn="l" marL="0" indent="0">
              <a:lnSpc>
                <a:spcPct val="100000"/>
              </a:lnSpc>
              <a:buNone/>
            </a:pPr>
            <a:r>
              <a:rPr lang="en-US" sz="800" dirty="0">
                <a:solidFill>
                  <a:srgbClr val="F3E6D6"/>
                </a:solidFill>
                <a:latin typeface="Arial"/>
                <a:ea typeface="Arial"/>
                <a:cs typeface="Arial"/>
              </a:rPr>
              <a:t>chat · IVR · SIP</a:t>
            </a:r>
          </a:p>
        </p:txBody>
      </p:sp>
      <p:sp>
        <p:nvSpPr>
          <p:cNvPr id="120" name="g2 120"/>
          <p:cNvSpPr/>
          <p:nvPr/>
        </p:nvSpPr>
        <p:spPr>
          <a:xfrm>
            <a:off x="260604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Agent on Kairos SDK</a:t>
            </a:r>
          </a:p>
          <a:p>
            <a:pPr algn="l" marL="0" indent="0">
              <a:lnSpc>
                <a:spcPct val="100000"/>
              </a:lnSpc>
              <a:buNone/>
            </a:pPr>
            <a:r>
              <a:rPr lang="en-US" sz="800" dirty="0">
                <a:solidFill>
                  <a:srgbClr val="F3E6D6"/>
                </a:solidFill>
                <a:latin typeface="Arial"/>
                <a:ea typeface="Arial"/>
                <a:cs typeface="Arial"/>
              </a:rPr>
              <a:t>human-handoff tool</a:t>
            </a:r>
          </a:p>
        </p:txBody>
      </p:sp>
      <p:sp>
        <p:nvSpPr>
          <p:cNvPr id="121" name="g2 121"/>
          <p:cNvSpPr/>
          <p:nvPr/>
        </p:nvSpPr>
        <p:spPr>
          <a:xfrm>
            <a:off x="4663440" y="2194560"/>
            <a:ext cx="2377440" cy="43891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Kairos gateway inline: Tier 1 + 2</a:t>
            </a:r>
          </a:p>
          <a:p>
            <a:pPr algn="l" marL="0" indent="0">
              <a:lnSpc>
                <a:spcPct val="100000"/>
              </a:lnSpc>
              <a:buNone/>
            </a:pPr>
            <a:r>
              <a:rPr lang="en-US" sz="800" dirty="0">
                <a:solidFill>
                  <a:srgbClr val="141010"/>
                </a:solidFill>
                <a:latin typeface="Arial"/>
                <a:ea typeface="Arial"/>
                <a:cs typeface="Arial"/>
              </a:rPr>
              <a:t>regex · schema · PII + NeMo / Luna</a:t>
            </a:r>
          </a:p>
        </p:txBody>
      </p:sp>
      <p:sp>
        <p:nvSpPr>
          <p:cNvPr id="122" name="g2 122"/>
          <p:cNvSpPr/>
          <p:nvPr/>
        </p:nvSpPr>
        <p:spPr>
          <a:xfrm>
            <a:off x="736092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First audio</a:t>
            </a:r>
          </a:p>
          <a:p>
            <a:pPr algn="l" marL="0" indent="0">
              <a:lnSpc>
                <a:spcPct val="100000"/>
              </a:lnSpc>
              <a:buNone/>
            </a:pPr>
            <a:r>
              <a:rPr lang="en-US" sz="800" dirty="0">
                <a:solidFill>
                  <a:srgbClr val="F3E6D6"/>
                </a:solidFill>
                <a:latin typeface="Arial"/>
                <a:ea typeface="Arial"/>
                <a:cs typeface="Arial"/>
              </a:rPr>
              <a:t>&lt; 800 ms; p95 &lt; 1.5 s [34]</a:t>
            </a:r>
          </a:p>
        </p:txBody>
      </p:sp>
      <p:sp>
        <p:nvSpPr>
          <p:cNvPr id="123" name="g2 123"/>
          <p:cNvSpPr/>
          <p:nvPr/>
        </p:nvSpPr>
        <p:spPr>
          <a:xfrm>
            <a:off x="9418320" y="2194560"/>
            <a:ext cx="246888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Tier 3 async LLM judges</a:t>
            </a:r>
          </a:p>
          <a:p>
            <a:pPr algn="l" marL="0" indent="0">
              <a:lnSpc>
                <a:spcPct val="100000"/>
              </a:lnSpc>
              <a:buNone/>
            </a:pPr>
            <a:r>
              <a:rPr lang="en-US" sz="800" dirty="0">
                <a:solidFill>
                  <a:srgbClr val="F3E6D6"/>
                </a:solidFill>
                <a:latin typeface="Arial"/>
                <a:ea typeface="Arial"/>
                <a:cs typeface="Arial"/>
              </a:rPr>
              <a:t>on the trace stream; steer the next turn</a:t>
            </a:r>
          </a:p>
        </p:txBody>
      </p:sp>
      <p:cxnSp>
        <p:nvCxnSpPr>
          <p:cNvPr id="124" name="g2 flow 124"/>
          <p:cNvCxnSpPr/>
          <p:nvPr/>
        </p:nvCxnSpPr>
        <p:spPr>
          <a:xfrm>
            <a:off x="2286000" y="2414016"/>
            <a:ext cx="320040" cy="0"/>
          </a:xfrm>
          <a:prstGeom prst="line">
            <a:avLst/>
          </a:prstGeom>
          <a:ln w="12700">
            <a:solidFill>
              <a:srgbClr val="EE0000"/>
            </a:solidFill>
            <a:tailEnd type="triangle" w="med" len="med"/>
          </a:ln>
        </p:spPr>
      </p:cxnSp>
      <p:cxnSp>
        <p:nvCxnSpPr>
          <p:cNvPr id="125" name="g2 flow 125"/>
          <p:cNvCxnSpPr/>
          <p:nvPr/>
        </p:nvCxnSpPr>
        <p:spPr>
          <a:xfrm>
            <a:off x="4343400" y="2414016"/>
            <a:ext cx="320040" cy="0"/>
          </a:xfrm>
          <a:prstGeom prst="line">
            <a:avLst/>
          </a:prstGeom>
          <a:ln w="12700">
            <a:solidFill>
              <a:srgbClr val="EE0000"/>
            </a:solidFill>
            <a:tailEnd type="triangle" w="med" len="med"/>
          </a:ln>
        </p:spPr>
      </p:cxnSp>
      <p:cxnSp>
        <p:nvCxnSpPr>
          <p:cNvPr id="126" name="g2 flow 126"/>
          <p:cNvCxnSpPr/>
          <p:nvPr/>
        </p:nvCxnSpPr>
        <p:spPr>
          <a:xfrm>
            <a:off x="7040880" y="2414016"/>
            <a:ext cx="320040" cy="0"/>
          </a:xfrm>
          <a:prstGeom prst="line">
            <a:avLst/>
          </a:prstGeom>
          <a:ln w="12700">
            <a:solidFill>
              <a:srgbClr val="EE0000"/>
            </a:solidFill>
            <a:tailEnd type="triangle" w="med" len="med"/>
          </a:ln>
        </p:spPr>
      </p:cxnSp>
      <p:cxnSp>
        <p:nvCxnSpPr>
          <p:cNvPr id="127" name="g2 flow 127"/>
          <p:cNvCxnSpPr/>
          <p:nvPr/>
        </p:nvCxnSpPr>
        <p:spPr>
          <a:xfrm>
            <a:off x="9098280" y="2414016"/>
            <a:ext cx="320040" cy="0"/>
          </a:xfrm>
          <a:prstGeom prst="line">
            <a:avLst/>
          </a:prstGeom>
          <a:ln w="12700">
            <a:solidFill>
              <a:srgbClr val="EE0000"/>
            </a:solidFill>
            <a:prstDash val="dash"/>
            <a:tailEnd type="triangle" w="med" len="med"/>
          </a:ln>
        </p:spPr>
      </p:cxnSp>
      <p:sp>
        <p:nvSpPr>
          <p:cNvPr id="12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11 / 17</a:t>
            </a:r>
          </a:p>
        </p:txBody>
      </p:sp>
      <p:sp>
        <p:nvSpPr>
          <p:cNvPr id="12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3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50" name="Text 48"/>
          <p:cNvSpPr/>
          <p:nvPr/>
        </p:nvSpPr>
        <p:spPr>
          <a:xfrm>
            <a:off x="678485" y="1548079"/>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Why now</a:t>
            </a:r>
          </a:p>
        </p:txBody>
      </p:sp>
      <p:sp>
        <p:nvSpPr>
          <p:cNvPr id="51" name="Text 49"/>
          <p:cNvSpPr/>
          <p:nvPr/>
        </p:nvSpPr>
        <p:spPr>
          <a:xfrm>
            <a:off x="678485" y="1776679"/>
            <a:ext cx="40233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Control before</a:t>
            </a:r>
          </a:p>
        </p:txBody>
      </p:sp>
      <p:sp>
        <p:nvSpPr>
          <p:cNvPr id="52" name="Text 50"/>
          <p:cNvSpPr/>
          <p:nvPr/>
        </p:nvSpPr>
        <p:spPr>
          <a:xfrm>
            <a:off x="1351483" y="2268626"/>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capability</a:t>
            </a:r>
          </a:p>
        </p:txBody>
      </p:sp>
      <p:sp>
        <p:nvSpPr>
          <p:cNvPr id="53" name="Shape 51"/>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718718" y="2971800"/>
            <a:ext cx="3840480" cy="825703"/>
          </a:xfrm>
          <a:prstGeom prst="rect">
            <a:avLst/>
          </a:prstGeom>
          <a:noFill/>
          <a:ln/>
        </p:spPr>
        <p:txBody>
          <a:bodyPr wrap="square" lIns="91440" tIns="45720" rIns="91440" bIns="45720" rtlCol="0" anchor="t">
            <a:spAutoFit/>
          </a:bodyPr>
          <a:lstStyle/>
          <a:p>
            <a:pPr indent="0" marL="0">
              <a:lnSpc>
                <a:spcPct val="150000"/>
              </a:lnSpc>
              <a:buNone/>
            </a:pPr>
            <a:r>
              <a:rPr lang="en-US" sz="1150" dirty="0">
                <a:solidFill>
                  <a:srgbClr val="F3E6D6"/>
                </a:solidFill>
                <a:latin typeface="Arial" pitchFamily="34" charset="0"/>
                <a:ea typeface="Arial" pitchFamily="34" charset="-122"/>
                <a:cs typeface="Arial" pitchFamily="34" charset="-120"/>
              </a:rPr>
              <a:t>Gartner's 2026 AI Hype Cycle asks whether an enterprise “can account for what its AI is doing and what it costs”. For us that answer has to be per agent, ours or vendor-built, not per model.</a:t>
            </a:r>
          </a:p>
        </p:txBody>
      </p:sp>
      <p:sp>
        <p:nvSpPr>
          <p:cNvPr id="55" name="Text 53"/>
          <p:cNvSpPr/>
          <p:nvPr/>
        </p:nvSpPr>
        <p:spPr>
          <a:xfrm>
            <a:off x="705917" y="4334256"/>
            <a:ext cx="3840480" cy="369418"/>
          </a:xfrm>
          <a:prstGeom prst="rect">
            <a:avLst/>
          </a:prstGeom>
          <a:noFill/>
          <a:ln/>
        </p:spPr>
        <p:txBody>
          <a:bodyPr wrap="none" lIns="91440" tIns="45720" rIns="91440" bIns="45720" rtlCol="0" anchor="t">
            <a:spAutoFit/>
          </a:bodyPr>
          <a:lstStyle/>
          <a:p>
            <a:pPr indent="0" marL="0">
              <a:buNone/>
            </a:pPr>
            <a:r>
              <a:rPr lang="en-US" sz="1800" dirty="0">
                <a:solidFill>
                  <a:srgbClr val="FFFFFF"/>
                </a:solidFill>
                <a:latin typeface="Arial" pitchFamily="34" charset="0"/>
                <a:ea typeface="Arial" pitchFamily="34" charset="-122"/>
                <a:cs typeface="Arial" pitchFamily="34" charset="-120"/>
              </a:rPr>
              <a:t>Gartner asks · leaders do</a:t>
            </a:r>
          </a:p>
        </p:txBody>
      </p:sp>
      <p:sp>
        <p:nvSpPr>
          <p:cNvPr id="56" name="Text 54"/>
          <p:cNvSpPr/>
          <p:nvPr/>
        </p:nvSpPr>
        <p:spPr>
          <a:xfrm>
            <a:off x="718718" y="6089904"/>
            <a:ext cx="3886200" cy="457200"/>
          </a:xfrm>
          <a:prstGeom prst="rect">
            <a:avLst/>
          </a:prstGeom>
          <a:noFill/>
          <a:ln/>
        </p:spPr>
        <p:txBody>
          <a:bodyPr wrap="square" lIns="91440" tIns="45720" rIns="91440" bIns="45720" rtlCol="0" anchor="t">
            <a:spAutoFit/>
          </a:bodyPr>
          <a:lstStyle/>
          <a:p>
            <a:pPr indent="0" marL="0">
              <a:lnSpc>
                <a:spcPct val="120000"/>
              </a:lnSpc>
              <a:buNone/>
            </a:pPr>
            <a:r>
              <a:rPr lang="en-US" sz="900" dirty="0">
                <a:solidFill>
                  <a:srgbClr val="F3E6D6"/>
                </a:solidFill>
                <a:latin typeface="Arial" pitchFamily="34" charset="0"/>
                <a:ea typeface="Arial" pitchFamily="34" charset="-122"/>
                <a:cs typeface="Arial" pitchFamily="34" charset="-120"/>
              </a:rPr>
              <a:t>Filled: Gartner prerequisite or “most consequential” [1]  ·  Outline: what peers already run (public sources)</a:t>
            </a:r>
          </a:p>
        </p:txBody>
      </p:sp>
      <p:sp>
        <p:nvSpPr>
          <p:cNvPr id="57" name="Shape 55"/>
          <p:cNvSpPr/>
          <p:nvPr/>
        </p:nvSpPr>
        <p:spPr>
          <a:xfrm>
            <a:off x="4732934" y="0"/>
            <a:ext cx="0" cy="6386170"/>
          </a:xfrm>
          <a:prstGeom prst="line">
            <a:avLst/>
          </a:prstGeom>
          <a:noFill/>
          <a:ln w="12700">
            <a:solidFill>
              <a:srgbClr val="D9B48A"/>
            </a:solidFill>
            <a:prstDash val="solid"/>
            <a:tailEnd type="triangle"/>
          </a:ln>
        </p:spPr>
      </p:sp>
      <p:sp>
        <p:nvSpPr>
          <p:cNvPr id="58" name="Shape 56"/>
          <p:cNvSpPr/>
          <p:nvPr/>
        </p:nvSpPr>
        <p:spPr>
          <a:xfrm rot="3600000">
            <a:off x="4685386" y="2098548"/>
            <a:ext cx="95098" cy="95098"/>
          </a:xfrm>
          <a:prstGeom prst="rect">
            <a:avLst/>
          </a:prstGeom>
          <a:solidFill>
            <a:srgbClr val="CC0000"/>
          </a:solidFill>
          <a:ln/>
        </p:spPr>
      </p:sp>
      <p:sp>
        <p:nvSpPr>
          <p:cNvPr id="59" name="Shape 57"/>
          <p:cNvSpPr/>
          <p:nvPr/>
        </p:nvSpPr>
        <p:spPr>
          <a:xfrm>
            <a:off x="5135270" y="1446581"/>
            <a:ext cx="6462979" cy="1384402"/>
          </a:xfrm>
          <a:prstGeom prst="roundRect">
            <a:avLst>
              <a:gd name="adj" fmla="val 15852"/>
            </a:avLst>
          </a:prstGeom>
          <a:solidFill>
            <a:srgbClr val="F5B700"/>
          </a:solidFill>
          <a:ln/>
        </p:spPr>
      </p:sp>
      <p:sp>
        <p:nvSpPr>
          <p:cNvPr id="60" name="Shape 58"/>
          <p:cNvSpPr/>
          <p:nvPr/>
        </p:nvSpPr>
        <p:spPr>
          <a:xfrm>
            <a:off x="7882128" y="1446581"/>
            <a:ext cx="0" cy="1384402"/>
          </a:xfrm>
          <a:prstGeom prst="line">
            <a:avLst/>
          </a:prstGeom>
          <a:noFill/>
          <a:ln w="12700">
            <a:solidFill>
              <a:srgbClr val="141010"/>
            </a:solidFill>
            <a:prstDash val="solid"/>
          </a:ln>
        </p:spPr>
      </p:sp>
      <p:sp>
        <p:nvSpPr>
          <p:cNvPr id="61" name="Shape 59"/>
          <p:cNvSpPr/>
          <p:nvPr/>
        </p:nvSpPr>
        <p:spPr>
          <a:xfrm>
            <a:off x="5316322" y="1638605"/>
            <a:ext cx="1143000" cy="374904"/>
          </a:xfrm>
          <a:prstGeom prst="roundRect">
            <a:avLst>
              <a:gd name="adj" fmla="val 50000"/>
            </a:avLst>
          </a:prstGeom>
          <a:solidFill>
            <a:srgbClr val="FFF1CC">
              </a:srgbClr>
          </a:solidFill>
          <a:ln w="6350">
            <a:solidFill>
              <a:srgbClr val="141010"/>
            </a:solidFill>
            <a:prstDash val="solid"/>
          </a:ln>
        </p:spPr>
      </p:sp>
      <p:sp>
        <p:nvSpPr>
          <p:cNvPr id="62" name="Text 60"/>
          <p:cNvSpPr/>
          <p:nvPr/>
        </p:nvSpPr>
        <p:spPr>
          <a:xfrm>
            <a:off x="5316322" y="1638605"/>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Adoption</a:t>
            </a:r>
          </a:p>
        </p:txBody>
      </p:sp>
      <p:sp>
        <p:nvSpPr>
          <p:cNvPr id="63" name="Text 61"/>
          <p:cNvSpPr/>
          <p:nvPr/>
        </p:nvSpPr>
        <p:spPr>
          <a:xfrm>
            <a:off x="5364785" y="2011680"/>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141010"/>
                </a:solidFill>
                <a:latin typeface="Arial" pitchFamily="34" charset="0"/>
                <a:ea typeface="Arial" pitchFamily="34" charset="-122"/>
                <a:cs typeface="Arial" pitchFamily="34" charset="-120"/>
              </a:rPr>
              <a:t>17% deployed</a:t>
            </a:r>
          </a:p>
        </p:txBody>
      </p:sp>
      <p:sp>
        <p:nvSpPr>
          <p:cNvPr id="64" name="Text 62"/>
          <p:cNvSpPr/>
          <p:nvPr/>
        </p:nvSpPr>
        <p:spPr>
          <a:xfrm>
            <a:off x="5398618" y="2432304"/>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141010"/>
                </a:solidFill>
                <a:latin typeface="Arial" pitchFamily="34" charset="0"/>
                <a:ea typeface="Arial" pitchFamily="34" charset="-122"/>
                <a:cs typeface="Arial" pitchFamily="34" charset="-120"/>
              </a:rPr>
              <a:t>&gt;60% expect to within 2 years</a:t>
            </a:r>
          </a:p>
        </p:txBody>
      </p:sp>
      <p:sp>
        <p:nvSpPr>
          <p:cNvPr id="65" name="Text 63"/>
          <p:cNvSpPr/>
          <p:nvPr/>
        </p:nvSpPr>
        <p:spPr>
          <a:xfrm>
            <a:off x="7973568" y="1519733"/>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141010"/>
                </a:solidFill>
                <a:latin typeface="Arial" pitchFamily="34" charset="0"/>
                <a:ea typeface="Arial" pitchFamily="34" charset="-122"/>
                <a:cs typeface="Arial" pitchFamily="34" charset="-120"/>
              </a:rPr>
              <a:t>Only 17% of organisations have deployed AI agents; more than 60% expect to within two years. Agents are arriving faster than our controls. [1][2]</a:t>
            </a:r>
          </a:p>
        </p:txBody>
      </p:sp>
      <p:sp>
        <p:nvSpPr>
          <p:cNvPr id="66" name="Shape 64"/>
          <p:cNvSpPr/>
          <p:nvPr/>
        </p:nvSpPr>
        <p:spPr>
          <a:xfrm rot="3600000">
            <a:off x="4685386" y="3756355"/>
            <a:ext cx="95098" cy="95098"/>
          </a:xfrm>
          <a:prstGeom prst="rect">
            <a:avLst/>
          </a:prstGeom>
          <a:solidFill>
            <a:srgbClr val="CC0000"/>
          </a:solidFill>
          <a:ln/>
        </p:spPr>
      </p:sp>
      <p:sp>
        <p:nvSpPr>
          <p:cNvPr id="67" name="Shape 65"/>
          <p:cNvSpPr/>
          <p:nvPr/>
        </p:nvSpPr>
        <p:spPr>
          <a:xfrm>
            <a:off x="5135270" y="3072384"/>
            <a:ext cx="6462979" cy="1384402"/>
          </a:xfrm>
          <a:prstGeom prst="roundRect">
            <a:avLst>
              <a:gd name="adj" fmla="val 15852"/>
            </a:avLst>
          </a:prstGeom>
          <a:ln w="9525">
            <a:solidFill>
              <a:srgbClr val="D9B48A"/>
            </a:solidFill>
            <a:prstDash val="solid"/>
          </a:ln>
        </p:spPr>
      </p:sp>
      <p:sp>
        <p:nvSpPr>
          <p:cNvPr id="68" name="Shape 66"/>
          <p:cNvSpPr/>
          <p:nvPr/>
        </p:nvSpPr>
        <p:spPr>
          <a:xfrm>
            <a:off x="7882128" y="3072384"/>
            <a:ext cx="0" cy="1384402"/>
          </a:xfrm>
          <a:prstGeom prst="line">
            <a:avLst/>
          </a:prstGeom>
          <a:noFill/>
          <a:ln w="12700">
            <a:solidFill>
              <a:srgbClr val="D9B48A"/>
            </a:solidFill>
            <a:prstDash val="solid"/>
          </a:ln>
        </p:spPr>
      </p:sp>
      <p:sp>
        <p:nvSpPr>
          <p:cNvPr id="69" name="Shape 67"/>
          <p:cNvSpPr/>
          <p:nvPr/>
        </p:nvSpPr>
        <p:spPr>
          <a:xfrm>
            <a:off x="5316322" y="3264408"/>
            <a:ext cx="1143000" cy="374904"/>
          </a:xfrm>
          <a:prstGeom prst="roundRect">
            <a:avLst>
              <a:gd name="adj" fmla="val 50000"/>
            </a:avLst>
          </a:prstGeom>
          <a:solidFill>
            <a:srgbClr val="8A0F1A">
              <a:alpha val="15600"/>
            </a:srgbClr>
          </a:solidFill>
          <a:ln w="6350">
            <a:solidFill>
              <a:srgbClr val="D9B48A"/>
            </a:solidFill>
            <a:prstDash val="solid"/>
          </a:ln>
        </p:spPr>
      </p:sp>
      <p:sp>
        <p:nvSpPr>
          <p:cNvPr id="70" name="Text 68"/>
          <p:cNvSpPr/>
          <p:nvPr/>
        </p:nvSpPr>
        <p:spPr>
          <a:xfrm>
            <a:off x="5316322" y="3264408"/>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Attrition</a:t>
            </a:r>
          </a:p>
        </p:txBody>
      </p:sp>
      <p:sp>
        <p:nvSpPr>
          <p:cNvPr id="71" name="Text 69"/>
          <p:cNvSpPr/>
          <p:nvPr/>
        </p:nvSpPr>
        <p:spPr>
          <a:xfrm>
            <a:off x="5364785" y="3639312"/>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FFFFFF"/>
                </a:solidFill>
                <a:latin typeface="Arial" pitchFamily="34" charset="0"/>
                <a:ea typeface="Arial" pitchFamily="34" charset="-122"/>
                <a:cs typeface="Arial" pitchFamily="34" charset="-120"/>
              </a:rPr>
              <a:t>&gt;40% cancelled</a:t>
            </a:r>
          </a:p>
        </p:txBody>
      </p:sp>
      <p:sp>
        <p:nvSpPr>
          <p:cNvPr id="72" name="Text 70"/>
          <p:cNvSpPr/>
          <p:nvPr/>
        </p:nvSpPr>
        <p:spPr>
          <a:xfrm>
            <a:off x="5398618" y="4059936"/>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5B700"/>
                </a:solidFill>
                <a:latin typeface="Arial" pitchFamily="34" charset="0"/>
                <a:ea typeface="Arial" pitchFamily="34" charset="-122"/>
                <a:cs typeface="Arial" pitchFamily="34" charset="-120"/>
              </a:rPr>
              <a:t>agentic AI projects by end-2027</a:t>
            </a:r>
          </a:p>
        </p:txBody>
      </p:sp>
      <p:sp>
        <p:nvSpPr>
          <p:cNvPr id="73" name="Text 71"/>
          <p:cNvSpPr/>
          <p:nvPr/>
        </p:nvSpPr>
        <p:spPr>
          <a:xfrm>
            <a:off x="7973568" y="3145536"/>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F3E6D6"/>
                </a:solidFill>
                <a:latin typeface="Arial" pitchFamily="34" charset="0"/>
                <a:ea typeface="Arial" pitchFamily="34" charset="-122"/>
                <a:cs typeface="Arial" pitchFamily="34" charset="-120"/>
              </a:rPr>
              <a:t>Gartner still expects more than 40% of agentic AI projects to be cancelled by end-2027. It calls governance and identity “prerequisite investments”. [1][3]</a:t>
            </a:r>
          </a:p>
        </p:txBody>
      </p:sp>
      <p:sp>
        <p:nvSpPr>
          <p:cNvPr id="74" name="Shape 72"/>
          <p:cNvSpPr/>
          <p:nvPr/>
        </p:nvSpPr>
        <p:spPr>
          <a:xfrm rot="3600000">
            <a:off x="4685386" y="5415991"/>
            <a:ext cx="95098" cy="95098"/>
          </a:xfrm>
          <a:prstGeom prst="rect">
            <a:avLst/>
          </a:prstGeom>
          <a:solidFill>
            <a:srgbClr val="CC0000"/>
          </a:solidFill>
          <a:ln/>
        </p:spPr>
      </p:sp>
      <p:sp>
        <p:nvSpPr>
          <p:cNvPr id="75" name="Shape 73"/>
          <p:cNvSpPr/>
          <p:nvPr/>
        </p:nvSpPr>
        <p:spPr>
          <a:xfrm>
            <a:off x="5135270" y="4739335"/>
            <a:ext cx="6462979" cy="1384402"/>
          </a:xfrm>
          <a:prstGeom prst="roundRect">
            <a:avLst>
              <a:gd name="adj" fmla="val 15852"/>
            </a:avLst>
          </a:prstGeom>
          <a:ln w="9525">
            <a:solidFill>
              <a:srgbClr val="D9B48A"/>
            </a:solidFill>
            <a:prstDash val="solid"/>
          </a:ln>
        </p:spPr>
      </p:sp>
      <p:sp>
        <p:nvSpPr>
          <p:cNvPr id="76" name="Shape 74"/>
          <p:cNvSpPr/>
          <p:nvPr/>
        </p:nvSpPr>
        <p:spPr>
          <a:xfrm>
            <a:off x="7882128" y="4739335"/>
            <a:ext cx="0" cy="1384402"/>
          </a:xfrm>
          <a:prstGeom prst="line">
            <a:avLst/>
          </a:prstGeom>
          <a:noFill/>
          <a:ln w="12700">
            <a:solidFill>
              <a:srgbClr val="D9B48A"/>
            </a:solidFill>
            <a:prstDash val="solid"/>
          </a:ln>
        </p:spPr>
      </p:sp>
      <p:sp>
        <p:nvSpPr>
          <p:cNvPr id="77" name="Shape 75"/>
          <p:cNvSpPr/>
          <p:nvPr/>
        </p:nvSpPr>
        <p:spPr>
          <a:xfrm>
            <a:off x="5316322" y="4931359"/>
            <a:ext cx="1143000" cy="374904"/>
          </a:xfrm>
          <a:prstGeom prst="roundRect">
            <a:avLst>
              <a:gd name="adj" fmla="val 50000"/>
            </a:avLst>
          </a:prstGeom>
          <a:solidFill>
            <a:srgbClr val="8A0F1A">
              <a:alpha val="15600"/>
            </a:srgbClr>
          </a:solidFill>
          <a:ln w="6350">
            <a:solidFill>
              <a:srgbClr val="D9B48A"/>
            </a:solidFill>
            <a:prstDash val="solid"/>
          </a:ln>
        </p:spPr>
      </p:sp>
      <p:sp>
        <p:nvSpPr>
          <p:cNvPr id="78" name="Text 76"/>
          <p:cNvSpPr/>
          <p:nvPr/>
        </p:nvSpPr>
        <p:spPr>
          <a:xfrm>
            <a:off x="5316322" y="4931359"/>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Demotion</a:t>
            </a:r>
          </a:p>
        </p:txBody>
      </p:sp>
      <p:sp>
        <p:nvSpPr>
          <p:cNvPr id="79" name="Text 77"/>
          <p:cNvSpPr/>
          <p:nvPr/>
        </p:nvSpPr>
        <p:spPr>
          <a:xfrm>
            <a:off x="5364785" y="5303520"/>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FFFFFF"/>
                </a:solidFill>
                <a:latin typeface="Arial" pitchFamily="34" charset="0"/>
                <a:ea typeface="Arial" pitchFamily="34" charset="-122"/>
                <a:cs typeface="Arial" pitchFamily="34" charset="-120"/>
              </a:rPr>
              <a:t>40% demote</a:t>
            </a:r>
          </a:p>
        </p:txBody>
      </p:sp>
      <p:sp>
        <p:nvSpPr>
          <p:cNvPr id="80" name="Text 78"/>
          <p:cNvSpPr/>
          <p:nvPr/>
        </p:nvSpPr>
        <p:spPr>
          <a:xfrm>
            <a:off x="5398618" y="5724144"/>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5B700"/>
                </a:solidFill>
                <a:latin typeface="Arial" pitchFamily="34" charset="0"/>
                <a:ea typeface="Arial" pitchFamily="34" charset="-122"/>
                <a:cs typeface="Arial" pitchFamily="34" charset="-120"/>
              </a:rPr>
              <a:t>autonomous agents by 2027</a:t>
            </a:r>
          </a:p>
        </p:txBody>
      </p:sp>
      <p:sp>
        <p:nvSpPr>
          <p:cNvPr id="81" name="Text 79"/>
          <p:cNvSpPr/>
          <p:nvPr/>
        </p:nvSpPr>
        <p:spPr>
          <a:xfrm>
            <a:off x="7973568" y="4812487"/>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F3E6D6"/>
                </a:solidFill>
                <a:latin typeface="Arial" pitchFamily="34" charset="0"/>
                <a:ea typeface="Arial" pitchFamily="34" charset="-122"/>
                <a:cs typeface="Arial" pitchFamily="34" charset="-120"/>
              </a:rPr>
              <a:t>Uniform governance fails: 40% of enterprises will demote or decommission autonomous agents by 2027 after incidents. Only 13% think their agent governance is right. [6][7]</a:t>
            </a:r>
          </a:p>
        </p:txBody>
      </p:sp>
      <p:sp>
        <p:nvSpPr>
          <p:cNvPr id="111" name="g2 111"/>
          <p:cNvSpPr/>
          <p:nvPr/>
        </p:nvSpPr>
        <p:spPr>
          <a:xfrm>
            <a:off x="718718"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Governance</a:t>
            </a:r>
          </a:p>
          <a:p>
            <a:pPr algn="l" marL="0" indent="0">
              <a:lnSpc>
                <a:spcPct val="100000"/>
              </a:lnSpc>
              <a:buNone/>
            </a:pPr>
            <a:r>
              <a:rPr lang="en-US" sz="850" dirty="0">
                <a:solidFill>
                  <a:srgbClr val="141010"/>
                </a:solidFill>
                <a:latin typeface="Arial"/>
                <a:ea typeface="Arial"/>
                <a:cs typeface="Arial"/>
              </a:rPr>
              <a:t>Prerequisite investment</a:t>
            </a:r>
          </a:p>
        </p:txBody>
      </p:sp>
      <p:sp>
        <p:nvSpPr>
          <p:cNvPr id="112" name="g2 112"/>
          <p:cNvSpPr/>
          <p:nvPr/>
        </p:nvSpPr>
        <p:spPr>
          <a:xfrm>
            <a:off x="2030882"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Identity</a:t>
            </a:r>
          </a:p>
          <a:p>
            <a:pPr algn="l" marL="0" indent="0">
              <a:lnSpc>
                <a:spcPct val="100000"/>
              </a:lnSpc>
              <a:buNone/>
            </a:pPr>
            <a:r>
              <a:rPr lang="en-US" sz="850" dirty="0">
                <a:solidFill>
                  <a:srgbClr val="141010"/>
                </a:solidFill>
                <a:latin typeface="Arial"/>
                <a:ea typeface="Arial"/>
                <a:cs typeface="Arial"/>
              </a:rPr>
              <a:t>Prerequisite investment</a:t>
            </a:r>
          </a:p>
        </p:txBody>
      </p:sp>
      <p:sp>
        <p:nvSpPr>
          <p:cNvPr id="113" name="g2 113"/>
          <p:cNvSpPr/>
          <p:nvPr/>
        </p:nvSpPr>
        <p:spPr>
          <a:xfrm>
            <a:off x="3343046"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AI observability</a:t>
            </a:r>
          </a:p>
          <a:p>
            <a:pPr algn="l" marL="0" indent="0">
              <a:lnSpc>
                <a:spcPct val="100000"/>
              </a:lnSpc>
              <a:buNone/>
            </a:pPr>
            <a:r>
              <a:rPr lang="en-US" sz="850" dirty="0">
                <a:solidFill>
                  <a:srgbClr val="141010"/>
                </a:solidFill>
                <a:latin typeface="Arial"/>
                <a:ea typeface="Arial"/>
                <a:cs typeface="Arial"/>
              </a:rPr>
              <a:t>“Most consequential”</a:t>
            </a:r>
          </a:p>
        </p:txBody>
      </p:sp>
      <p:sp>
        <p:nvSpPr>
          <p:cNvPr id="114" name="g2 114"/>
          <p:cNvSpPr/>
          <p:nvPr/>
        </p:nvSpPr>
        <p:spPr>
          <a:xfrm>
            <a:off x="718718" y="5440680"/>
            <a:ext cx="1216152" cy="53035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Verizon</a:t>
            </a:r>
          </a:p>
          <a:p>
            <a:pPr algn="l" marL="0" indent="0">
              <a:lnSpc>
                <a:spcPct val="100000"/>
              </a:lnSpc>
              <a:buNone/>
            </a:pPr>
            <a:r>
              <a:rPr lang="en-US" sz="850" dirty="0">
                <a:solidFill>
                  <a:srgbClr val="F3E6D6"/>
                </a:solidFill>
                <a:latin typeface="Arial"/>
                <a:ea typeface="Arial"/>
                <a:cs typeface="Arial"/>
              </a:rPr>
              <a:t>Agent Registry + Gateway</a:t>
            </a:r>
          </a:p>
        </p:txBody>
      </p:sp>
      <p:sp>
        <p:nvSpPr>
          <p:cNvPr id="115" name="g2 115"/>
          <p:cNvSpPr/>
          <p:nvPr/>
        </p:nvSpPr>
        <p:spPr>
          <a:xfrm>
            <a:off x="2030882" y="5440680"/>
            <a:ext cx="1216152" cy="53035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JPMorgan</a:t>
            </a:r>
          </a:p>
          <a:p>
            <a:pPr algn="l" marL="0" indent="0">
              <a:lnSpc>
                <a:spcPct val="100000"/>
              </a:lnSpc>
              <a:buNone/>
            </a:pPr>
            <a:r>
              <a:rPr lang="en-US" sz="850" dirty="0">
                <a:solidFill>
                  <a:srgbClr val="F3E6D6"/>
                </a:solidFill>
                <a:latin typeface="Arial"/>
                <a:ea typeface="Arial"/>
                <a:cs typeface="Arial"/>
              </a:rPr>
              <a:t>Runtime enforcement</a:t>
            </a:r>
          </a:p>
        </p:txBody>
      </p:sp>
      <p:sp>
        <p:nvSpPr>
          <p:cNvPr id="116" name="g2 116"/>
          <p:cNvSpPr/>
          <p:nvPr/>
        </p:nvSpPr>
        <p:spPr>
          <a:xfrm>
            <a:off x="3343046" y="5440680"/>
            <a:ext cx="1216152"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Microsoft</a:t>
            </a:r>
          </a:p>
          <a:p>
            <a:pPr algn="l" marL="0" indent="0">
              <a:lnSpc>
                <a:spcPct val="100000"/>
              </a:lnSpc>
              <a:buNone/>
            </a:pPr>
            <a:r>
              <a:rPr lang="en-US" sz="850" dirty="0">
                <a:solidFill>
                  <a:srgbClr val="F3E6D6"/>
                </a:solidFill>
                <a:latin typeface="Arial"/>
                <a:ea typeface="Arial"/>
                <a:cs typeface="Arial"/>
              </a:rPr>
              <a:t>Agent 365 + Entra ID</a:t>
            </a:r>
          </a:p>
        </p:txBody>
      </p:sp>
      <p:sp>
        <p:nvSpPr>
          <p:cNvPr id="117" name="v2 117"/>
          <p:cNvSpPr/>
          <p:nvPr/>
        </p:nvSpPr>
        <p:spPr>
          <a:xfrm>
            <a:off x="5135270" y="6217920"/>
            <a:ext cx="6464808" cy="365760"/>
          </a:xfrm>
          <a:prstGeom prst="rect">
            <a:avLst/>
          </a:prstGeom>
          <a:noFill/>
          <a:ln>
            <a:noFill/>
          </a:ln>
        </p:spPr>
        <p:txBody>
          <a:bodyPr wrap="square" lIns="0" tIns="0" rIns="0" bIns="0" rtlCol="0" anchor="t">
            <a:noAutofit/>
          </a:bodyPr>
          <a:lstStyle/>
          <a:p>
            <a:pPr algn="l" marL="0" indent="0">
              <a:buNone/>
            </a:pPr>
            <a:r>
              <a:rPr lang="en-US" sz="1000" dirty="0">
                <a:solidFill>
                  <a:srgbClr val="F5B700"/>
                </a:solidFill>
                <a:latin typeface="Arial"/>
                <a:ea typeface="Arial"/>
                <a:cs typeface="Arial"/>
              </a:rPr>
              <a:t>Agent sprawl: an average global Fortune 500 company will run more than 150,000 agents by 2028, up from fewer than 15 in 2025 [6]. All figures Gartner.</a:t>
            </a: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01 / 17</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7">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Text 0"/>
          <p:cNvSpPr/>
          <p:nvPr/>
        </p:nvSpPr>
        <p:spPr>
          <a:xfrm>
            <a:off x="685800" y="987552"/>
            <a:ext cx="54864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FFFFF"/>
                </a:solidFill>
                <a:latin typeface="Arial" pitchFamily="34" charset="0"/>
                <a:ea typeface="Arial" pitchFamily="34" charset="-122"/>
                <a:cs typeface="Arial" pitchFamily="34" charset="-120"/>
              </a:rPr>
              <a:t>P1 Multi-agent / A2A</a:t>
            </a:r>
          </a:p>
        </p:txBody>
      </p:sp>
      <p:sp>
        <p:nvSpPr>
          <p:cNvPr id="3" name="Text 1"/>
          <p:cNvSpPr/>
          <p:nvPr/>
        </p:nvSpPr>
        <p:spPr>
          <a:xfrm>
            <a:off x="685800" y="1216152"/>
            <a:ext cx="393192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Score the system,</a:t>
            </a:r>
          </a:p>
        </p:txBody>
      </p:sp>
      <p:sp>
        <p:nvSpPr>
          <p:cNvPr id="4" name="Shape 2"/>
          <p:cNvSpPr/>
          <p:nvPr/>
        </p:nvSpPr>
        <p:spPr>
          <a:xfrm rot="16200000">
            <a:off x="3950208" y="1344168"/>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 name="Text 3"/>
          <p:cNvSpPr/>
          <p:nvPr/>
        </p:nvSpPr>
        <p:spPr>
          <a:xfrm>
            <a:off x="4343400" y="1216152"/>
            <a:ext cx="329184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not the agent</a:t>
            </a:r>
          </a:p>
        </p:txBody>
      </p:sp>
      <p:sp>
        <p:nvSpPr>
          <p:cNvPr id="6" name="Shape 4"/>
          <p:cNvSpPr/>
          <p:nvPr/>
        </p:nvSpPr>
        <p:spPr>
          <a:xfrm>
            <a:off x="8302752" y="1325880"/>
            <a:ext cx="3299155" cy="1280160"/>
          </a:xfrm>
          <a:prstGeom prst="roundRect">
            <a:avLst>
              <a:gd name="adj" fmla="val 15847"/>
            </a:avLst>
          </a:prstGeom>
          <a:solidFill>
            <a:srgbClr val="F5B700"/>
          </a:solidFill>
          <a:ln/>
        </p:spPr>
      </p:sp>
      <p:sp>
        <p:nvSpPr>
          <p:cNvPr id="7" name="Shape 5"/>
          <p:cNvSpPr/>
          <p:nvPr/>
        </p:nvSpPr>
        <p:spPr>
          <a:xfrm>
            <a:off x="8482889" y="1481328"/>
            <a:ext cx="1005840" cy="374904"/>
          </a:xfrm>
          <a:prstGeom prst="roundRect">
            <a:avLst>
              <a:gd name="adj" fmla="val 50000"/>
            </a:avLst>
          </a:prstGeom>
          <a:solidFill>
            <a:srgbClr val="FFF1CC">
              </a:srgbClr>
          </a:solidFill>
          <a:ln w="6350">
            <a:solidFill>
              <a:srgbClr val="141010"/>
            </a:solidFill>
            <a:prstDash val="solid"/>
          </a:ln>
        </p:spPr>
      </p:sp>
      <p:sp>
        <p:nvSpPr>
          <p:cNvPr id="8" name="Text 6"/>
          <p:cNvSpPr/>
          <p:nvPr/>
        </p:nvSpPr>
        <p:spPr>
          <a:xfrm>
            <a:off x="8482889" y="148132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Ours</a:t>
            </a:r>
          </a:p>
        </p:txBody>
      </p:sp>
      <p:sp>
        <p:nvSpPr>
          <p:cNvPr id="9" name="Text 7"/>
          <p:cNvSpPr/>
          <p:nvPr/>
        </p:nvSpPr>
        <p:spPr>
          <a:xfrm>
            <a:off x="8532266" y="1828800"/>
            <a:ext cx="3124505" cy="338328"/>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A2A policy point</a:t>
            </a:r>
          </a:p>
        </p:txBody>
      </p:sp>
      <p:sp>
        <p:nvSpPr>
          <p:cNvPr id="11" name="Shape 9"/>
          <p:cNvSpPr/>
          <p:nvPr/>
        </p:nvSpPr>
        <p:spPr>
          <a:xfrm>
            <a:off x="8302752" y="2743200"/>
            <a:ext cx="3299155" cy="1280160"/>
          </a:xfrm>
          <a:prstGeom prst="roundRect">
            <a:avLst>
              <a:gd name="adj" fmla="val 15847"/>
            </a:avLst>
          </a:prstGeom>
          <a:ln w="9525">
            <a:solidFill>
              <a:srgbClr val="D9B48A"/>
            </a:solidFill>
            <a:prstDash val="solid"/>
          </a:ln>
        </p:spPr>
      </p:sp>
      <p:sp>
        <p:nvSpPr>
          <p:cNvPr id="12" name="Shape 10"/>
          <p:cNvSpPr/>
          <p:nvPr/>
        </p:nvSpPr>
        <p:spPr>
          <a:xfrm>
            <a:off x="8482889" y="2898648"/>
            <a:ext cx="1005840" cy="374904"/>
          </a:xfrm>
          <a:prstGeom prst="roundRect">
            <a:avLst>
              <a:gd name="adj" fmla="val 50000"/>
            </a:avLst>
          </a:prstGeom>
          <a:solidFill>
            <a:srgbClr val="8A0F1A">
              <a:alpha val="15600"/>
            </a:srgbClr>
          </a:solidFill>
          <a:ln w="6350">
            <a:solidFill>
              <a:srgbClr val="D9B48A"/>
            </a:solidFill>
            <a:prstDash val="solid"/>
          </a:ln>
        </p:spPr>
      </p:sp>
      <p:sp>
        <p:nvSpPr>
          <p:cNvPr id="13" name="Text 11"/>
          <p:cNvSpPr/>
          <p:nvPr/>
        </p:nvSpPr>
        <p:spPr>
          <a:xfrm>
            <a:off x="8482889" y="289864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Industry</a:t>
            </a:r>
          </a:p>
        </p:txBody>
      </p:sp>
      <p:sp>
        <p:nvSpPr>
          <p:cNvPr id="14" name="Text 12"/>
          <p:cNvSpPr/>
          <p:nvPr/>
        </p:nvSpPr>
        <p:spPr>
          <a:xfrm>
            <a:off x="8532266" y="324612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Vendor-neutral A2A</a:t>
            </a:r>
          </a:p>
        </p:txBody>
      </p:sp>
      <p:sp>
        <p:nvSpPr>
          <p:cNvPr id="16" name="Shape 14"/>
          <p:cNvSpPr/>
          <p:nvPr/>
        </p:nvSpPr>
        <p:spPr>
          <a:xfrm>
            <a:off x="8302752" y="4160520"/>
            <a:ext cx="3299155" cy="1280160"/>
          </a:xfrm>
          <a:prstGeom prst="roundRect">
            <a:avLst>
              <a:gd name="adj" fmla="val 15847"/>
            </a:avLst>
          </a:prstGeom>
          <a:ln w="9525">
            <a:solidFill>
              <a:srgbClr val="D9B48A"/>
            </a:solidFill>
            <a:prstDash val="solid"/>
          </a:ln>
        </p:spPr>
      </p:sp>
      <p:sp>
        <p:nvSpPr>
          <p:cNvPr id="17" name="Shape 15"/>
          <p:cNvSpPr/>
          <p:nvPr/>
        </p:nvSpPr>
        <p:spPr>
          <a:xfrm>
            <a:off x="8482889" y="4315968"/>
            <a:ext cx="1005840" cy="374904"/>
          </a:xfrm>
          <a:prstGeom prst="roundRect">
            <a:avLst>
              <a:gd name="adj" fmla="val 50000"/>
            </a:avLst>
          </a:prstGeom>
          <a:solidFill>
            <a:srgbClr val="8A0F1A">
              <a:alpha val="15600"/>
            </a:srgbClr>
          </a:solidFill>
          <a:ln w="6350">
            <a:solidFill>
              <a:srgbClr val="D9B48A"/>
            </a:solidFill>
            <a:prstDash val="solid"/>
          </a:ln>
        </p:spPr>
      </p:sp>
      <p:sp>
        <p:nvSpPr>
          <p:cNvPr id="18" name="Text 16"/>
          <p:cNvSpPr/>
          <p:nvPr/>
        </p:nvSpPr>
        <p:spPr>
          <a:xfrm>
            <a:off x="8482889" y="431596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Gartner</a:t>
            </a:r>
          </a:p>
        </p:txBody>
      </p:sp>
      <p:sp>
        <p:nvSpPr>
          <p:cNvPr id="19" name="Text 17"/>
          <p:cNvSpPr/>
          <p:nvPr/>
        </p:nvSpPr>
        <p:spPr>
          <a:xfrm>
            <a:off x="8532266" y="466344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70% multi-agent by 2028</a:t>
            </a:r>
          </a:p>
        </p:txBody>
      </p:sp>
      <p:sp>
        <p:nvSpPr>
          <p:cNvPr id="21" name="Shape 19"/>
          <p:cNvSpPr/>
          <p:nvPr/>
        </p:nvSpPr>
        <p:spPr>
          <a:xfrm>
            <a:off x="8411566" y="5897880"/>
            <a:ext cx="3190342" cy="0"/>
          </a:xfrm>
          <a:prstGeom prst="line">
            <a:avLst/>
          </a:prstGeom>
          <a:noFill/>
          <a:ln w="12700">
            <a:solidFill>
              <a:srgbClr val="D9B48A"/>
            </a:solidFill>
            <a:prstDash val="solid"/>
            <a:tailEnd type="triangle"/>
          </a:ln>
        </p:spPr>
      </p:sp>
      <p:sp>
        <p:nvSpPr>
          <p:cNvPr id="212" name="g2 212"/>
          <p:cNvSpPr/>
          <p:nvPr/>
        </p:nvSpPr>
        <p:spPr>
          <a:xfrm>
            <a:off x="548640" y="2103120"/>
            <a:ext cx="402336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built on the Kairos platform (gateway + SDK)</a:t>
            </a:r>
          </a:p>
        </p:txBody>
      </p:sp>
      <p:sp>
        <p:nvSpPr>
          <p:cNvPr id="213" name="g2 213"/>
          <p:cNvSpPr/>
          <p:nvPr/>
        </p:nvSpPr>
        <p:spPr>
          <a:xfrm>
            <a:off x="1417320" y="2395728"/>
            <a:ext cx="228600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Orchestrator agent</a:t>
            </a:r>
          </a:p>
          <a:p>
            <a:pPr algn="l" marL="0" indent="0">
              <a:lnSpc>
                <a:spcPct val="100000"/>
              </a:lnSpc>
              <a:buNone/>
            </a:pPr>
            <a:r>
              <a:rPr lang="en-US" sz="800" dirty="0">
                <a:solidFill>
                  <a:srgbClr val="F3E6D6"/>
                </a:solidFill>
                <a:latin typeface="Arial"/>
                <a:ea typeface="Arial"/>
                <a:cs typeface="Arial"/>
              </a:rPr>
              <a:t>Kairos SDK · own agent_id + manifest</a:t>
            </a:r>
          </a:p>
        </p:txBody>
      </p:sp>
      <p:cxnSp>
        <p:nvCxnSpPr>
          <p:cNvPr id="214" name="g2 flow 214"/>
          <p:cNvCxnSpPr/>
          <p:nvPr/>
        </p:nvCxnSpPr>
        <p:spPr>
          <a:xfrm>
            <a:off x="2560320" y="2898648"/>
            <a:ext cx="0" cy="210312"/>
          </a:xfrm>
          <a:prstGeom prst="line">
            <a:avLst/>
          </a:prstGeom>
          <a:ln w="12700">
            <a:solidFill>
              <a:srgbClr val="EE0000"/>
            </a:solidFill>
          </a:ln>
        </p:spPr>
      </p:cxnSp>
      <p:cxnSp>
        <p:nvCxnSpPr>
          <p:cNvPr id="215" name="g2 flow 215"/>
          <p:cNvCxnSpPr/>
          <p:nvPr/>
        </p:nvCxnSpPr>
        <p:spPr>
          <a:xfrm>
            <a:off x="1165860" y="3108960"/>
            <a:ext cx="2788920" cy="0"/>
          </a:xfrm>
          <a:prstGeom prst="line">
            <a:avLst/>
          </a:prstGeom>
          <a:ln w="12700">
            <a:solidFill>
              <a:srgbClr val="EE0000"/>
            </a:solidFill>
          </a:ln>
        </p:spPr>
      </p:cxnSp>
      <p:cxnSp>
        <p:nvCxnSpPr>
          <p:cNvPr id="216" name="g2 flow 216"/>
          <p:cNvCxnSpPr/>
          <p:nvPr/>
        </p:nvCxnSpPr>
        <p:spPr>
          <a:xfrm>
            <a:off x="1165860" y="3108960"/>
            <a:ext cx="0" cy="201168"/>
          </a:xfrm>
          <a:prstGeom prst="line">
            <a:avLst/>
          </a:prstGeom>
          <a:ln w="12700">
            <a:solidFill>
              <a:srgbClr val="EE0000"/>
            </a:solidFill>
            <a:tailEnd type="triangle" w="med" len="med"/>
          </a:ln>
        </p:spPr>
      </p:cxnSp>
      <p:cxnSp>
        <p:nvCxnSpPr>
          <p:cNvPr id="217" name="g2 flow 217"/>
          <p:cNvCxnSpPr/>
          <p:nvPr/>
        </p:nvCxnSpPr>
        <p:spPr>
          <a:xfrm>
            <a:off x="2560320" y="3108960"/>
            <a:ext cx="0" cy="201168"/>
          </a:xfrm>
          <a:prstGeom prst="line">
            <a:avLst/>
          </a:prstGeom>
          <a:ln w="12700">
            <a:solidFill>
              <a:srgbClr val="EE0000"/>
            </a:solidFill>
            <a:tailEnd type="triangle" w="med" len="med"/>
          </a:ln>
        </p:spPr>
      </p:cxnSp>
      <p:cxnSp>
        <p:nvCxnSpPr>
          <p:cNvPr id="218" name="g2 flow 218"/>
          <p:cNvCxnSpPr/>
          <p:nvPr/>
        </p:nvCxnSpPr>
        <p:spPr>
          <a:xfrm>
            <a:off x="3954780" y="3108960"/>
            <a:ext cx="0" cy="201168"/>
          </a:xfrm>
          <a:prstGeom prst="line">
            <a:avLst/>
          </a:prstGeom>
          <a:ln w="12700">
            <a:solidFill>
              <a:srgbClr val="EE0000"/>
            </a:solidFill>
            <a:tailEnd type="triangle" w="med" len="med"/>
          </a:ln>
        </p:spPr>
      </p:cxnSp>
      <p:sp>
        <p:nvSpPr>
          <p:cNvPr id="219" name="g2 219"/>
          <p:cNvSpPr/>
          <p:nvPr/>
        </p:nvSpPr>
        <p:spPr>
          <a:xfrm>
            <a:off x="2633472" y="2907792"/>
            <a:ext cx="17373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A2A · signed Agent Cards</a:t>
            </a:r>
          </a:p>
        </p:txBody>
      </p:sp>
      <p:sp>
        <p:nvSpPr>
          <p:cNvPr id="220" name="g2 220"/>
          <p:cNvSpPr/>
          <p:nvPr/>
        </p:nvSpPr>
        <p:spPr>
          <a:xfrm>
            <a:off x="54864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Inventory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1" name="g2 flow 221"/>
          <p:cNvCxnSpPr/>
          <p:nvPr/>
        </p:nvCxnSpPr>
        <p:spPr>
          <a:xfrm>
            <a:off x="1165860" y="3767328"/>
            <a:ext cx="0" cy="256032"/>
          </a:xfrm>
          <a:prstGeom prst="line">
            <a:avLst/>
          </a:prstGeom>
          <a:ln w="12700">
            <a:solidFill>
              <a:srgbClr val="EE0000"/>
            </a:solidFill>
            <a:tailEnd type="triangle" w="med" len="med"/>
          </a:ln>
        </p:spPr>
      </p:cxnSp>
      <p:sp>
        <p:nvSpPr>
          <p:cNvPr id="222" name="g2 222"/>
          <p:cNvSpPr/>
          <p:nvPr/>
        </p:nvSpPr>
        <p:spPr>
          <a:xfrm>
            <a:off x="194310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Ticketing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3" name="g2 flow 223"/>
          <p:cNvCxnSpPr/>
          <p:nvPr/>
        </p:nvCxnSpPr>
        <p:spPr>
          <a:xfrm>
            <a:off x="2560320" y="3767328"/>
            <a:ext cx="0" cy="256032"/>
          </a:xfrm>
          <a:prstGeom prst="line">
            <a:avLst/>
          </a:prstGeom>
          <a:ln w="12700">
            <a:solidFill>
              <a:srgbClr val="EE0000"/>
            </a:solidFill>
            <a:tailEnd type="triangle" w="med" len="med"/>
          </a:ln>
        </p:spPr>
      </p:cxnSp>
      <p:sp>
        <p:nvSpPr>
          <p:cNvPr id="224" name="g2 224"/>
          <p:cNvSpPr/>
          <p:nvPr/>
        </p:nvSpPr>
        <p:spPr>
          <a:xfrm>
            <a:off x="333756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Diagnosis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5" name="g2 flow 225"/>
          <p:cNvCxnSpPr/>
          <p:nvPr/>
        </p:nvCxnSpPr>
        <p:spPr>
          <a:xfrm>
            <a:off x="3954780" y="3767328"/>
            <a:ext cx="0" cy="256032"/>
          </a:xfrm>
          <a:prstGeom prst="line">
            <a:avLst/>
          </a:prstGeom>
          <a:ln w="12700">
            <a:solidFill>
              <a:srgbClr val="EE0000"/>
            </a:solidFill>
            <a:tailEnd type="triangle" w="med" len="med"/>
          </a:ln>
        </p:spPr>
      </p:cxnSp>
      <p:sp>
        <p:nvSpPr>
          <p:cNvPr id="226" name="g2 226"/>
          <p:cNvSpPr/>
          <p:nvPr/>
        </p:nvSpPr>
        <p:spPr>
          <a:xfrm>
            <a:off x="548640" y="4023360"/>
            <a:ext cx="4023360" cy="36576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Agent Control on every step</a:t>
            </a:r>
          </a:p>
          <a:p>
            <a:pPr algn="l" marL="0" indent="0">
              <a:lnSpc>
                <a:spcPct val="100000"/>
              </a:lnSpc>
              <a:buNone/>
            </a:pPr>
            <a:r>
              <a:rPr lang="en-US" sz="800" dirty="0">
                <a:solidFill>
                  <a:srgbClr val="141010"/>
                </a:solidFill>
                <a:latin typeface="Arial"/>
                <a:ea typeface="Arial"/>
                <a:cs typeface="Arial"/>
              </a:rPr>
              <a:t>no self-asserted roles · fan-out, depth and budget limits per trace</a:t>
            </a:r>
          </a:p>
        </p:txBody>
      </p:sp>
      <p:sp>
        <p:nvSpPr>
          <p:cNvPr id="227" name="g2 227"/>
          <p:cNvSpPr/>
          <p:nvPr/>
        </p:nvSpPr>
        <p:spPr>
          <a:xfrm>
            <a:off x="548640" y="4617720"/>
            <a:ext cx="192024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Kairos gateway</a:t>
            </a:r>
          </a:p>
          <a:p>
            <a:pPr algn="l" marL="0" indent="0">
              <a:lnSpc>
                <a:spcPct val="100000"/>
              </a:lnSpc>
              <a:buNone/>
            </a:pPr>
            <a:r>
              <a:rPr lang="en-US" sz="800" dirty="0">
                <a:solidFill>
                  <a:srgbClr val="F3E6D6"/>
                </a:solidFill>
                <a:latin typeface="Arial"/>
                <a:ea typeface="Arial"/>
                <a:cs typeface="Arial"/>
              </a:rPr>
              <a:t>every model call</a:t>
            </a:r>
          </a:p>
        </p:txBody>
      </p:sp>
      <p:sp>
        <p:nvSpPr>
          <p:cNvPr id="228" name="g2 228"/>
          <p:cNvSpPr/>
          <p:nvPr/>
        </p:nvSpPr>
        <p:spPr>
          <a:xfrm>
            <a:off x="2651760" y="4617720"/>
            <a:ext cx="192024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a:t>
            </a:r>
          </a:p>
          <a:p>
            <a:pPr algn="l" marL="0" indent="0">
              <a:lnSpc>
                <a:spcPct val="100000"/>
              </a:lnSpc>
              <a:buNone/>
            </a:pPr>
            <a:r>
              <a:rPr lang="en-US" sz="800" dirty="0">
                <a:solidFill>
                  <a:srgbClr val="F3E6D6"/>
                </a:solidFill>
                <a:latin typeface="Arial"/>
                <a:ea typeface="Arial"/>
                <a:cs typeface="Arial"/>
              </a:rPr>
              <a:t>every tool call, scoped</a:t>
            </a:r>
          </a:p>
        </p:txBody>
      </p:sp>
      <p:cxnSp>
        <p:nvCxnSpPr>
          <p:cNvPr id="229" name="g2 flow 229"/>
          <p:cNvCxnSpPr/>
          <p:nvPr/>
        </p:nvCxnSpPr>
        <p:spPr>
          <a:xfrm>
            <a:off x="1508760" y="4389120"/>
            <a:ext cx="0" cy="228600"/>
          </a:xfrm>
          <a:prstGeom prst="line">
            <a:avLst/>
          </a:prstGeom>
          <a:ln w="12700">
            <a:solidFill>
              <a:srgbClr val="EE0000"/>
            </a:solidFill>
            <a:tailEnd type="triangle" w="med" len="med"/>
          </a:ln>
        </p:spPr>
      </p:cxnSp>
      <p:cxnSp>
        <p:nvCxnSpPr>
          <p:cNvPr id="230" name="g2 flow 230"/>
          <p:cNvCxnSpPr/>
          <p:nvPr/>
        </p:nvCxnSpPr>
        <p:spPr>
          <a:xfrm>
            <a:off x="3611880" y="4389120"/>
            <a:ext cx="0" cy="228600"/>
          </a:xfrm>
          <a:prstGeom prst="line">
            <a:avLst/>
          </a:prstGeom>
          <a:ln w="12700">
            <a:solidFill>
              <a:srgbClr val="EE0000"/>
            </a:solidFill>
            <a:tailEnd type="triangle" w="med" len="med"/>
          </a:ln>
        </p:spPr>
      </p:cxnSp>
      <p:sp>
        <p:nvSpPr>
          <p:cNvPr id="231" name="g2 231"/>
          <p:cNvSpPr/>
          <p:nvPr/>
        </p:nvSpPr>
        <p:spPr>
          <a:xfrm>
            <a:off x="548640" y="5303520"/>
            <a:ext cx="402336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Galileo / Splunk AO + MAST annotator</a:t>
            </a:r>
          </a:p>
          <a:p>
            <a:pPr algn="l" marL="0" indent="0">
              <a:lnSpc>
                <a:spcPct val="100000"/>
              </a:lnSpc>
              <a:buNone/>
            </a:pPr>
            <a:r>
              <a:rPr lang="en-US" sz="800" dirty="0">
                <a:solidFill>
                  <a:srgbClr val="F3E6D6"/>
                </a:solidFill>
                <a:latin typeface="Arial"/>
                <a:ea typeface="Arial"/>
                <a:cs typeface="Arial"/>
              </a:rPr>
              <a:t>trace context across every hop · session scored on 14 failure modes [21]</a:t>
            </a:r>
          </a:p>
        </p:txBody>
      </p:sp>
      <p:cxnSp>
        <p:nvCxnSpPr>
          <p:cNvPr id="232" name="g2 flow 232"/>
          <p:cNvCxnSpPr/>
          <p:nvPr/>
        </p:nvCxnSpPr>
        <p:spPr>
          <a:xfrm>
            <a:off x="1508760" y="5056632"/>
            <a:ext cx="0" cy="246888"/>
          </a:xfrm>
          <a:prstGeom prst="line">
            <a:avLst/>
          </a:prstGeom>
          <a:ln w="12700">
            <a:solidFill>
              <a:srgbClr val="EE0000"/>
            </a:solidFill>
            <a:prstDash val="dash"/>
            <a:tailEnd type="triangle" w="med" len="med"/>
          </a:ln>
        </p:spPr>
      </p:cxnSp>
      <p:cxnSp>
        <p:nvCxnSpPr>
          <p:cNvPr id="233" name="g2 flow 233"/>
          <p:cNvCxnSpPr/>
          <p:nvPr/>
        </p:nvCxnSpPr>
        <p:spPr>
          <a:xfrm>
            <a:off x="3611880" y="5056632"/>
            <a:ext cx="0" cy="246888"/>
          </a:xfrm>
          <a:prstGeom prst="line">
            <a:avLst/>
          </a:prstGeom>
          <a:ln w="12700">
            <a:solidFill>
              <a:srgbClr val="EE0000"/>
            </a:solidFill>
            <a:prstDash val="dash"/>
            <a:tailEnd type="triangle" w="med" len="med"/>
          </a:ln>
        </p:spPr>
      </p:cxnSp>
      <p:sp>
        <p:nvSpPr>
          <p:cNvPr id="234" name="g2 234"/>
          <p:cNvSpPr/>
          <p:nvPr/>
        </p:nvSpPr>
        <p:spPr>
          <a:xfrm>
            <a:off x="548640" y="5897880"/>
            <a:ext cx="4023360" cy="20116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Start from a single-agent baseline: multi-agent uses ~15× chat tokens [22]</a:t>
            </a:r>
          </a:p>
        </p:txBody>
      </p:sp>
      <p:cxnSp>
        <p:nvCxnSpPr>
          <p:cNvPr id="235" name="g1 rule 235"/>
          <p:cNvCxnSpPr/>
          <p:nvPr/>
        </p:nvCxnSpPr>
        <p:spPr>
          <a:xfrm>
            <a:off x="4709160" y="2103120"/>
            <a:ext cx="0" cy="4206240"/>
          </a:xfrm>
          <a:prstGeom prst="line">
            <a:avLst/>
          </a:prstGeom>
          <a:ln w="9525">
            <a:solidFill>
              <a:srgbClr val="5A3A2E"/>
            </a:solidFill>
          </a:ln>
        </p:spPr>
      </p:cxnSp>
      <p:sp>
        <p:nvSpPr>
          <p:cNvPr id="236" name="g2 236"/>
          <p:cNvSpPr/>
          <p:nvPr/>
        </p:nvSpPr>
        <p:spPr>
          <a:xfrm>
            <a:off x="4846320" y="2103120"/>
            <a:ext cx="315468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 agents, over A2A</a:t>
            </a:r>
          </a:p>
        </p:txBody>
      </p:sp>
      <p:sp>
        <p:nvSpPr>
          <p:cNvPr id="237" name="g2 237"/>
          <p:cNvSpPr/>
          <p:nvPr/>
        </p:nvSpPr>
        <p:spPr>
          <a:xfrm>
            <a:off x="4846320" y="2395728"/>
            <a:ext cx="150876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Our orchestrator</a:t>
            </a:r>
          </a:p>
          <a:p>
            <a:pPr algn="l" marL="0" indent="0">
              <a:lnSpc>
                <a:spcPct val="100000"/>
              </a:lnSpc>
              <a:buNone/>
            </a:pPr>
            <a:r>
              <a:rPr lang="en-US" sz="800" dirty="0">
                <a:solidFill>
                  <a:srgbClr val="F3E6D6"/>
                </a:solidFill>
                <a:latin typeface="Arial"/>
                <a:ea typeface="Arial"/>
                <a:cs typeface="Arial"/>
              </a:rPr>
              <a:t>delegates a task</a:t>
            </a:r>
          </a:p>
        </p:txBody>
      </p:sp>
      <p:sp>
        <p:nvSpPr>
          <p:cNvPr id="238" name="g2 238"/>
          <p:cNvSpPr/>
          <p:nvPr/>
        </p:nvSpPr>
        <p:spPr>
          <a:xfrm>
            <a:off x="6492240" y="2395728"/>
            <a:ext cx="15087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orchestrator</a:t>
            </a:r>
          </a:p>
          <a:p>
            <a:pPr algn="l" marL="0" indent="0">
              <a:lnSpc>
                <a:spcPct val="100000"/>
              </a:lnSpc>
              <a:buNone/>
            </a:pPr>
            <a:r>
              <a:rPr lang="en-US" sz="800" dirty="0">
                <a:solidFill>
                  <a:srgbClr val="F3E6D6"/>
                </a:solidFill>
                <a:latin typeface="Arial"/>
                <a:ea typeface="Arial"/>
                <a:cs typeface="Arial"/>
              </a:rPr>
              <a:t>calls our agents</a:t>
            </a:r>
          </a:p>
        </p:txBody>
      </p:sp>
      <p:cxnSp>
        <p:nvCxnSpPr>
          <p:cNvPr id="239" name="g2 flow 239"/>
          <p:cNvCxnSpPr/>
          <p:nvPr/>
        </p:nvCxnSpPr>
        <p:spPr>
          <a:xfrm>
            <a:off x="5600700" y="2898648"/>
            <a:ext cx="0" cy="347472"/>
          </a:xfrm>
          <a:prstGeom prst="line">
            <a:avLst/>
          </a:prstGeom>
          <a:ln w="12700">
            <a:solidFill>
              <a:srgbClr val="EE0000"/>
            </a:solidFill>
            <a:tailEnd type="triangle" w="med" len="med"/>
          </a:ln>
        </p:spPr>
      </p:cxnSp>
      <p:cxnSp>
        <p:nvCxnSpPr>
          <p:cNvPr id="240" name="g2 flow 240"/>
          <p:cNvCxnSpPr/>
          <p:nvPr/>
        </p:nvCxnSpPr>
        <p:spPr>
          <a:xfrm>
            <a:off x="7246620" y="2898648"/>
            <a:ext cx="0" cy="347472"/>
          </a:xfrm>
          <a:prstGeom prst="line">
            <a:avLst/>
          </a:prstGeom>
          <a:ln w="12700">
            <a:solidFill>
              <a:srgbClr val="EE0000"/>
            </a:solidFill>
            <a:tailEnd type="triangle" w="med" len="med"/>
          </a:ln>
        </p:spPr>
      </p:cxnSp>
      <p:sp>
        <p:nvSpPr>
          <p:cNvPr id="241" name="g2 241"/>
          <p:cNvSpPr/>
          <p:nvPr/>
        </p:nvSpPr>
        <p:spPr>
          <a:xfrm>
            <a:off x="4846320" y="3246120"/>
            <a:ext cx="3154680" cy="6400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A2A edge we control</a:t>
            </a:r>
          </a:p>
          <a:p>
            <a:pPr algn="l" marL="0" indent="0">
              <a:lnSpc>
                <a:spcPct val="100000"/>
              </a:lnSpc>
              <a:buNone/>
            </a:pPr>
            <a:r>
              <a:rPr lang="en-US" sz="800" dirty="0">
                <a:solidFill>
                  <a:srgbClr val="141010"/>
                </a:solidFill>
                <a:latin typeface="Arial"/>
                <a:ea typeface="Arial"/>
                <a:cs typeface="Arial"/>
              </a:rPr>
              <a:t>authN · allowed skills · task states (AUTH_REQUIRED) · artifact schema · budgets + timeouts</a:t>
            </a:r>
          </a:p>
        </p:txBody>
      </p:sp>
      <p:cxnSp>
        <p:nvCxnSpPr>
          <p:cNvPr id="242" name="g2 flow 242"/>
          <p:cNvCxnSpPr/>
          <p:nvPr/>
        </p:nvCxnSpPr>
        <p:spPr>
          <a:xfrm>
            <a:off x="6400800" y="3886200"/>
            <a:ext cx="0" cy="320040"/>
          </a:xfrm>
          <a:prstGeom prst="line">
            <a:avLst/>
          </a:prstGeom>
          <a:ln w="12700">
            <a:solidFill>
              <a:srgbClr val="EE0000"/>
            </a:solidFill>
            <a:tailEnd type="triangle" w="med" len="med"/>
          </a:ln>
        </p:spPr>
      </p:cxnSp>
      <p:sp>
        <p:nvSpPr>
          <p:cNvPr id="243" name="g2 243"/>
          <p:cNvSpPr/>
          <p:nvPr/>
        </p:nvSpPr>
        <p:spPr>
          <a:xfrm>
            <a:off x="4846320" y="4206240"/>
            <a:ext cx="3154680" cy="5486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Vendor-built subagent (e.g. CES, Google, CRA)</a:t>
            </a:r>
          </a:p>
          <a:p>
            <a:pPr algn="l" marL="0" indent="0">
              <a:lnSpc>
                <a:spcPct val="100000"/>
              </a:lnSpc>
              <a:buNone/>
            </a:pPr>
            <a:r>
              <a:rPr lang="en-US" sz="800" dirty="0">
                <a:solidFill>
                  <a:srgbClr val="F3E6D6"/>
                </a:solidFill>
                <a:latin typeface="Arial"/>
                <a:ea typeface="Arial"/>
                <a:cs typeface="Arial"/>
              </a:rPr>
              <a:t>black box: reasoning and tools not visible to us</a:t>
            </a:r>
          </a:p>
        </p:txBody>
      </p:sp>
      <p:cxnSp>
        <p:nvCxnSpPr>
          <p:cNvPr id="244" name="g2 flow 244"/>
          <p:cNvCxnSpPr/>
          <p:nvPr/>
        </p:nvCxnSpPr>
        <p:spPr>
          <a:xfrm>
            <a:off x="6400800" y="4754880"/>
            <a:ext cx="0" cy="274320"/>
          </a:xfrm>
          <a:prstGeom prst="line">
            <a:avLst/>
          </a:prstGeom>
          <a:ln w="12700">
            <a:solidFill>
              <a:srgbClr val="EE0000"/>
            </a:solidFill>
            <a:prstDash val="dash"/>
            <a:tailEnd type="triangle" w="med" len="med"/>
          </a:ln>
        </p:spPr>
      </p:cxnSp>
      <p:sp>
        <p:nvSpPr>
          <p:cNvPr id="245" name="g2 245"/>
          <p:cNvSpPr/>
          <p:nvPr/>
        </p:nvSpPr>
        <p:spPr>
          <a:xfrm>
            <a:off x="4846320" y="5029200"/>
            <a:ext cx="3154680" cy="4114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Shared conversation ID</a:t>
            </a:r>
          </a:p>
          <a:p>
            <a:pPr algn="l" marL="0" indent="0">
              <a:lnSpc>
                <a:spcPct val="100000"/>
              </a:lnSpc>
              <a:buNone/>
            </a:pPr>
            <a:r>
              <a:rPr lang="en-US" sz="800" dirty="0">
                <a:solidFill>
                  <a:srgbClr val="F3E6D6"/>
                </a:solidFill>
                <a:latin typeface="Arial"/>
                <a:ea typeface="Arial"/>
                <a:cs typeface="Arial"/>
              </a:rPr>
              <a:t>vendor spans joined to ours</a:t>
            </a:r>
          </a:p>
        </p:txBody>
      </p:sp>
      <p:cxnSp>
        <p:nvCxnSpPr>
          <p:cNvPr id="246" name="g2 flow 246"/>
          <p:cNvCxnSpPr/>
          <p:nvPr/>
        </p:nvCxnSpPr>
        <p:spPr>
          <a:xfrm flipH="1">
            <a:off x="4572000" y="5394960"/>
            <a:ext cx="274320" cy="0"/>
          </a:xfrm>
          <a:prstGeom prst="line">
            <a:avLst/>
          </a:prstGeom>
          <a:ln w="12700">
            <a:solidFill>
              <a:srgbClr val="EE0000"/>
            </a:solidFill>
            <a:prstDash val="dash"/>
            <a:tailEnd type="triangle" w="med" len="med"/>
          </a:ln>
        </p:spPr>
      </p:cxnSp>
      <p:cxnSp>
        <p:nvCxnSpPr>
          <p:cNvPr id="247" name="g2 flow 247"/>
          <p:cNvCxnSpPr/>
          <p:nvPr/>
        </p:nvCxnSpPr>
        <p:spPr>
          <a:xfrm>
            <a:off x="4572000" y="3538728"/>
            <a:ext cx="274320" cy="0"/>
          </a:xfrm>
          <a:prstGeom prst="line">
            <a:avLst/>
          </a:prstGeom>
          <a:ln w="12700">
            <a:solidFill>
              <a:srgbClr val="EE0000"/>
            </a:solidFill>
            <a:prstDash val="dash"/>
            <a:tailEnd type="triangle" w="med" len="med"/>
          </a:ln>
        </p:spPr>
      </p:cxnSp>
      <p:sp>
        <p:nvSpPr>
          <p:cNvPr id="248" name="g2 248"/>
          <p:cNvSpPr/>
          <p:nvPr/>
        </p:nvSpPr>
        <p:spPr>
          <a:xfrm>
            <a:off x="4846320" y="5559552"/>
            <a:ext cx="3154680" cy="36576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ServiceNow’s AI Gateway governs MCP only, not A2A [33]: A2A governance falls to us.</a:t>
            </a:r>
          </a:p>
        </p:txBody>
      </p:sp>
      <p:sp>
        <p:nvSpPr>
          <p:cNvPr id="249" name="g2 249"/>
          <p:cNvSpPr/>
          <p:nvPr/>
        </p:nvSpPr>
        <p:spPr>
          <a:xfrm>
            <a:off x="8302752" y="1024128"/>
            <a:ext cx="32918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  ·  required, missing, why</a:t>
            </a:r>
          </a:p>
        </p:txBody>
      </p:sp>
      <p:sp>
        <p:nvSpPr>
          <p:cNvPr id="250" name="g2 250"/>
          <p:cNvSpPr/>
          <p:nvPr/>
        </p:nvSpPr>
        <p:spPr>
          <a:xfrm>
            <a:off x="8531352" y="214884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141010"/>
                </a:solidFill>
                <a:latin typeface="Arial"/>
                <a:ea typeface="Arial"/>
                <a:cs typeface="Arial"/>
              </a:rPr>
              <a:t>Missing: A2A enforcement point (MCP gateway covers tools only), Agent Card signing, MAST in the gate, cross-agent budget breaker.</a:t>
            </a:r>
          </a:p>
        </p:txBody>
      </p:sp>
      <p:sp>
        <p:nvSpPr>
          <p:cNvPr id="251" name="g2 251"/>
          <p:cNvSpPr/>
          <p:nvPr/>
        </p:nvSpPr>
        <p:spPr>
          <a:xfrm>
            <a:off x="8531352" y="356616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F3E6D6"/>
                </a:solidFill>
                <a:latin typeface="Arial"/>
                <a:ea typeface="Arial"/>
                <a:cs typeface="Arial"/>
              </a:rPr>
              <a:t>ServiceNow excludes A2A from its AI Gateway [33]. Forrester: standards for portable identity and policy are immature [16].</a:t>
            </a:r>
          </a:p>
        </p:txBody>
      </p:sp>
      <p:sp>
        <p:nvSpPr>
          <p:cNvPr id="252" name="g2 252"/>
          <p:cNvSpPr/>
          <p:nvPr/>
        </p:nvSpPr>
        <p:spPr>
          <a:xfrm>
            <a:off x="8531352" y="498348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F3E6D6"/>
                </a:solidFill>
                <a:latin typeface="Arial"/>
                <a:ea typeface="Arial"/>
                <a:cs typeface="Arial"/>
              </a:rPr>
              <a:t>70% of AI apps on multi-agent systems by 2028 [4]; by 2030, 50% of deployment failures tie to runtime enforcement and interoperability [8].</a:t>
            </a:r>
          </a:p>
        </p:txBody>
      </p:sp>
      <p:sp>
        <p:nvSpPr>
          <p:cNvPr id="253" name="g2 253"/>
          <p:cNvSpPr/>
          <p:nvPr/>
        </p:nvSpPr>
        <p:spPr>
          <a:xfrm>
            <a:off x="8412480" y="5486400"/>
            <a:ext cx="3191256" cy="29260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MAST: 41–86.7% failure on open-source MAS; design fixes gave +9.4% and +15.6% [21]</a:t>
            </a:r>
          </a:p>
        </p:txBody>
      </p:sp>
      <p:sp>
        <p:nvSpPr>
          <p:cNvPr id="254" name="g2 254"/>
          <p:cNvSpPr/>
          <p:nvPr/>
        </p:nvSpPr>
        <p:spPr>
          <a:xfrm>
            <a:off x="8412480" y="5989320"/>
            <a:ext cx="3191256" cy="274320"/>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Inter-agent trust escalation is a top red-team class [20]</a:t>
            </a:r>
          </a:p>
        </p:txBody>
      </p:sp>
      <p:sp>
        <p:nvSpPr>
          <p:cNvPr id="255"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10 / 17</a:t>
            </a:r>
          </a:p>
        </p:txBody>
      </p:sp>
      <p:sp>
        <p:nvSpPr>
          <p:cNvPr id="256"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57"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P4 Critical real-time</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LLM advises,</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guard acts</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6324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Keep the LLM advisory. Actuate only through deterministic, pre-approved playbooks with a guard at the actuation API. Fail closed for actions, fail open for advice.</a:t>
            </a:r>
          </a:p>
        </p:txBody>
      </p:sp>
      <p:sp>
        <p:nvSpPr>
          <p:cNvPr id="56" name="Text 54"/>
          <p:cNvSpPr/>
          <p:nvPr/>
        </p:nvSpPr>
        <p:spPr>
          <a:xfrm>
            <a:off x="689458" y="457200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Why (Gartner)</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Level 4 needs circuit breakers, rapid rollback and clear ownership [7].</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sp>
      <p:sp>
        <p:nvSpPr>
          <p:cNvPr id="199" name="g2 199"/>
          <p:cNvSpPr/>
          <p:nvPr/>
        </p:nvSpPr>
        <p:spPr>
          <a:xfrm>
            <a:off x="3703320" y="1261872"/>
            <a:ext cx="4023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guarded actuation path</a:t>
            </a:r>
          </a:p>
        </p:txBody>
      </p:sp>
      <p:sp>
        <p:nvSpPr>
          <p:cNvPr id="200" name="g2 200"/>
          <p:cNvSpPr/>
          <p:nvPr/>
        </p:nvSpPr>
        <p:spPr>
          <a:xfrm>
            <a:off x="8001000" y="1261872"/>
            <a:ext cx="21488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201" name="g2 201"/>
          <p:cNvSpPr/>
          <p:nvPr/>
        </p:nvSpPr>
        <p:spPr>
          <a:xfrm>
            <a:off x="10195560" y="1261872"/>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202" name="g2 202"/>
          <p:cNvSpPr/>
          <p:nvPr/>
        </p:nvSpPr>
        <p:spPr>
          <a:xfrm>
            <a:off x="3703320" y="148132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Event stream</a:t>
            </a:r>
          </a:p>
          <a:p>
            <a:pPr algn="l" marL="0" indent="0">
              <a:lnSpc>
                <a:spcPct val="100000"/>
              </a:lnSpc>
              <a:buNone/>
            </a:pPr>
            <a:r>
              <a:rPr lang="en-US" sz="800" dirty="0">
                <a:solidFill>
                  <a:srgbClr val="F3E6D6"/>
                </a:solidFill>
                <a:latin typeface="Arial"/>
                <a:ea typeface="Arial"/>
                <a:cs typeface="Arial"/>
              </a:rPr>
              <a:t>alarms · telemetry · transactions</a:t>
            </a:r>
          </a:p>
        </p:txBody>
      </p:sp>
      <p:sp>
        <p:nvSpPr>
          <p:cNvPr id="203" name="g2 203"/>
          <p:cNvSpPr/>
          <p:nvPr/>
        </p:nvSpPr>
        <p:spPr>
          <a:xfrm>
            <a:off x="3703320" y="212140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Detector</a:t>
            </a:r>
          </a:p>
          <a:p>
            <a:pPr algn="l" marL="0" indent="0">
              <a:lnSpc>
                <a:spcPct val="100000"/>
              </a:lnSpc>
              <a:buNone/>
            </a:pPr>
            <a:r>
              <a:rPr lang="en-US" sz="800" dirty="0">
                <a:solidFill>
                  <a:srgbClr val="F3E6D6"/>
                </a:solidFill>
                <a:latin typeface="Arial"/>
                <a:ea typeface="Arial"/>
                <a:cs typeface="Arial"/>
              </a:rPr>
              <a:t>rules or a small model</a:t>
            </a:r>
          </a:p>
        </p:txBody>
      </p:sp>
      <p:cxnSp>
        <p:nvCxnSpPr>
          <p:cNvPr id="204" name="g2 flow 204"/>
          <p:cNvCxnSpPr/>
          <p:nvPr/>
        </p:nvCxnSpPr>
        <p:spPr>
          <a:xfrm>
            <a:off x="4663440" y="1938528"/>
            <a:ext cx="0" cy="182880"/>
          </a:xfrm>
          <a:prstGeom prst="line">
            <a:avLst/>
          </a:prstGeom>
          <a:ln w="12700">
            <a:solidFill>
              <a:srgbClr val="EE0000"/>
            </a:solidFill>
            <a:tailEnd type="triangle" w="med" len="med"/>
          </a:ln>
        </p:spPr>
      </p:cxnSp>
      <p:sp>
        <p:nvSpPr>
          <p:cNvPr id="205" name="g2 205"/>
          <p:cNvSpPr/>
          <p:nvPr/>
        </p:nvSpPr>
        <p:spPr>
          <a:xfrm>
            <a:off x="3703320" y="276148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LLM agent proposes</a:t>
            </a:r>
          </a:p>
          <a:p>
            <a:pPr algn="l" marL="0" indent="0">
              <a:lnSpc>
                <a:spcPct val="100000"/>
              </a:lnSpc>
              <a:buNone/>
            </a:pPr>
            <a:r>
              <a:rPr lang="en-US" sz="800" dirty="0">
                <a:solidFill>
                  <a:srgbClr val="F3E6D6"/>
                </a:solidFill>
                <a:latin typeface="Arial"/>
                <a:ea typeface="Arial"/>
                <a:cs typeface="Arial"/>
              </a:rPr>
              <a:t>advisory only, never actuates</a:t>
            </a:r>
          </a:p>
        </p:txBody>
      </p:sp>
      <p:cxnSp>
        <p:nvCxnSpPr>
          <p:cNvPr id="206" name="g2 flow 206"/>
          <p:cNvCxnSpPr/>
          <p:nvPr/>
        </p:nvCxnSpPr>
        <p:spPr>
          <a:xfrm>
            <a:off x="4663440" y="2578608"/>
            <a:ext cx="0" cy="182880"/>
          </a:xfrm>
          <a:prstGeom prst="line">
            <a:avLst/>
          </a:prstGeom>
          <a:ln w="12700">
            <a:solidFill>
              <a:srgbClr val="EE0000"/>
            </a:solidFill>
            <a:tailEnd type="triangle" w="med" len="med"/>
          </a:ln>
        </p:spPr>
      </p:cxnSp>
      <p:sp>
        <p:nvSpPr>
          <p:cNvPr id="207" name="g2 207"/>
          <p:cNvSpPr/>
          <p:nvPr/>
        </p:nvSpPr>
        <p:spPr>
          <a:xfrm>
            <a:off x="3703320" y="3401568"/>
            <a:ext cx="192024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Actuation guard</a:t>
            </a:r>
          </a:p>
          <a:p>
            <a:pPr algn="l" marL="0" indent="0">
              <a:lnSpc>
                <a:spcPct val="100000"/>
              </a:lnSpc>
              <a:buNone/>
            </a:pPr>
            <a:r>
              <a:rPr lang="en-US" sz="800" dirty="0">
                <a:solidFill>
                  <a:srgbClr val="141010"/>
                </a:solidFill>
                <a:latin typeface="Arial"/>
                <a:ea typeface="Arial"/>
                <a:cs typeface="Arial"/>
              </a:rPr>
              <a:t>playbooks · blast radius · two-person rule</a:t>
            </a:r>
          </a:p>
        </p:txBody>
      </p:sp>
      <p:cxnSp>
        <p:nvCxnSpPr>
          <p:cNvPr id="208" name="g2 flow 208"/>
          <p:cNvCxnSpPr/>
          <p:nvPr/>
        </p:nvCxnSpPr>
        <p:spPr>
          <a:xfrm>
            <a:off x="4663440" y="3218688"/>
            <a:ext cx="0" cy="182880"/>
          </a:xfrm>
          <a:prstGeom prst="line">
            <a:avLst/>
          </a:prstGeom>
          <a:ln w="12700">
            <a:solidFill>
              <a:srgbClr val="EE0000"/>
            </a:solidFill>
            <a:tailEnd type="triangle" w="med" len="med"/>
          </a:ln>
        </p:spPr>
      </p:cxnSp>
      <p:sp>
        <p:nvSpPr>
          <p:cNvPr id="209" name="g2 209"/>
          <p:cNvSpPr/>
          <p:nvPr/>
        </p:nvSpPr>
        <p:spPr>
          <a:xfrm>
            <a:off x="3703320" y="404164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Actuate</a:t>
            </a:r>
          </a:p>
          <a:p>
            <a:pPr algn="l" marL="0" indent="0">
              <a:lnSpc>
                <a:spcPct val="100000"/>
              </a:lnSpc>
              <a:buNone/>
            </a:pPr>
            <a:r>
              <a:rPr lang="en-US" sz="800" dirty="0">
                <a:solidFill>
                  <a:srgbClr val="F3E6D6"/>
                </a:solidFill>
                <a:latin typeface="Arial"/>
                <a:ea typeface="Arial"/>
                <a:cs typeface="Arial"/>
              </a:rPr>
              <a:t>network or fraud API, pre-approved action</a:t>
            </a:r>
          </a:p>
        </p:txBody>
      </p:sp>
      <p:cxnSp>
        <p:nvCxnSpPr>
          <p:cNvPr id="210" name="g2 flow 210"/>
          <p:cNvCxnSpPr/>
          <p:nvPr/>
        </p:nvCxnSpPr>
        <p:spPr>
          <a:xfrm>
            <a:off x="4663440" y="3858768"/>
            <a:ext cx="0" cy="182880"/>
          </a:xfrm>
          <a:prstGeom prst="line">
            <a:avLst/>
          </a:prstGeom>
          <a:ln w="12700">
            <a:solidFill>
              <a:srgbClr val="EE0000"/>
            </a:solidFill>
            <a:tailEnd type="triangle" w="med" len="med"/>
          </a:ln>
        </p:spPr>
      </p:cxnSp>
      <p:sp>
        <p:nvSpPr>
          <p:cNvPr id="211" name="g2 211"/>
          <p:cNvSpPr/>
          <p:nvPr/>
        </p:nvSpPr>
        <p:spPr>
          <a:xfrm>
            <a:off x="3703320" y="468172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Verify outcome</a:t>
            </a:r>
          </a:p>
          <a:p>
            <a:pPr algn="l" marL="0" indent="0">
              <a:lnSpc>
                <a:spcPct val="100000"/>
              </a:lnSpc>
              <a:buNone/>
            </a:pPr>
            <a:r>
              <a:rPr lang="en-US" sz="800" dirty="0">
                <a:solidFill>
                  <a:srgbClr val="F3E6D6"/>
                </a:solidFill>
                <a:latin typeface="Arial"/>
                <a:ea typeface="Arial"/>
                <a:cs typeface="Arial"/>
              </a:rPr>
              <a:t>verifier checks the end state</a:t>
            </a:r>
          </a:p>
        </p:txBody>
      </p:sp>
      <p:cxnSp>
        <p:nvCxnSpPr>
          <p:cNvPr id="212" name="g2 flow 212"/>
          <p:cNvCxnSpPr/>
          <p:nvPr/>
        </p:nvCxnSpPr>
        <p:spPr>
          <a:xfrm>
            <a:off x="4663440" y="4498848"/>
            <a:ext cx="0" cy="182880"/>
          </a:xfrm>
          <a:prstGeom prst="line">
            <a:avLst/>
          </a:prstGeom>
          <a:ln w="12700">
            <a:solidFill>
              <a:srgbClr val="EE0000"/>
            </a:solidFill>
            <a:tailEnd type="triangle" w="med" len="med"/>
          </a:ln>
        </p:spPr>
      </p:cxnSp>
      <p:sp>
        <p:nvSpPr>
          <p:cNvPr id="213" name="g2 213"/>
          <p:cNvSpPr/>
          <p:nvPr/>
        </p:nvSpPr>
        <p:spPr>
          <a:xfrm>
            <a:off x="5897880" y="1481328"/>
            <a:ext cx="182880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Digital-twin replay</a:t>
            </a:r>
          </a:p>
          <a:p>
            <a:pPr algn="l" marL="0" indent="0">
              <a:lnSpc>
                <a:spcPct val="100000"/>
              </a:lnSpc>
              <a:buNone/>
            </a:pPr>
            <a:r>
              <a:rPr lang="en-US" sz="800" dirty="0">
                <a:solidFill>
                  <a:srgbClr val="F3E6D6"/>
                </a:solidFill>
                <a:latin typeface="Arial"/>
                <a:ea typeface="Arial"/>
                <a:cs typeface="Arial"/>
              </a:rPr>
              <a:t>release gate: incident replay, fault injection</a:t>
            </a:r>
          </a:p>
        </p:txBody>
      </p:sp>
      <p:cxnSp>
        <p:nvCxnSpPr>
          <p:cNvPr id="214" name="g2 flow 214"/>
          <p:cNvCxnSpPr/>
          <p:nvPr/>
        </p:nvCxnSpPr>
        <p:spPr>
          <a:xfrm flipH="1">
            <a:off x="5623560" y="1709928"/>
            <a:ext cx="274320" cy="0"/>
          </a:xfrm>
          <a:prstGeom prst="line">
            <a:avLst/>
          </a:prstGeom>
          <a:ln w="12700">
            <a:solidFill>
              <a:srgbClr val="EE0000"/>
            </a:solidFill>
            <a:prstDash val="dash"/>
            <a:tailEnd type="triangle" w="med" len="med"/>
          </a:ln>
        </p:spPr>
      </p:cxnSp>
      <p:sp>
        <p:nvSpPr>
          <p:cNvPr id="215" name="g2 215"/>
          <p:cNvSpPr/>
          <p:nvPr/>
        </p:nvSpPr>
        <p:spPr>
          <a:xfrm>
            <a:off x="5897880" y="2761488"/>
            <a:ext cx="182880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Circuit breaker</a:t>
            </a:r>
          </a:p>
          <a:p>
            <a:pPr algn="l" marL="0" indent="0">
              <a:lnSpc>
                <a:spcPct val="100000"/>
              </a:lnSpc>
              <a:buNone/>
            </a:pPr>
            <a:r>
              <a:rPr lang="en-US" sz="800" dirty="0">
                <a:solidFill>
                  <a:srgbClr val="141010"/>
                </a:solidFill>
                <a:latin typeface="Arial"/>
                <a:ea typeface="Arial"/>
                <a:cs typeface="Arial"/>
              </a:rPr>
              <a:t>halts the agent; demotes L4 → L3</a:t>
            </a:r>
          </a:p>
        </p:txBody>
      </p:sp>
      <p:cxnSp>
        <p:nvCxnSpPr>
          <p:cNvPr id="216" name="g2 flow 216"/>
          <p:cNvCxnSpPr/>
          <p:nvPr/>
        </p:nvCxnSpPr>
        <p:spPr>
          <a:xfrm flipH="1">
            <a:off x="5623560" y="2990088"/>
            <a:ext cx="274320" cy="0"/>
          </a:xfrm>
          <a:prstGeom prst="line">
            <a:avLst/>
          </a:prstGeom>
          <a:ln w="12700">
            <a:solidFill>
              <a:srgbClr val="EE0000"/>
            </a:solidFill>
            <a:tailEnd type="triangle" w="med" len="med"/>
          </a:ln>
        </p:spPr>
      </p:cxnSp>
      <p:sp>
        <p:nvSpPr>
          <p:cNvPr id="217" name="g2 217"/>
          <p:cNvSpPr/>
          <p:nvPr/>
        </p:nvSpPr>
        <p:spPr>
          <a:xfrm>
            <a:off x="5897880" y="4681728"/>
            <a:ext cx="182880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Automatic rollback</a:t>
            </a:r>
          </a:p>
          <a:p>
            <a:pPr algn="l" marL="0" indent="0">
              <a:lnSpc>
                <a:spcPct val="100000"/>
              </a:lnSpc>
              <a:buNone/>
            </a:pPr>
            <a:r>
              <a:rPr lang="en-US" sz="800" dirty="0">
                <a:solidFill>
                  <a:srgbClr val="141010"/>
                </a:solidFill>
                <a:latin typeface="Arial"/>
                <a:ea typeface="Arial"/>
                <a:cs typeface="Arial"/>
              </a:rPr>
              <a:t>on breach of the expected state</a:t>
            </a:r>
          </a:p>
        </p:txBody>
      </p:sp>
      <p:cxnSp>
        <p:nvCxnSpPr>
          <p:cNvPr id="218" name="g2 flow 218"/>
          <p:cNvCxnSpPr/>
          <p:nvPr/>
        </p:nvCxnSpPr>
        <p:spPr>
          <a:xfrm>
            <a:off x="5623560" y="5001768"/>
            <a:ext cx="274320" cy="0"/>
          </a:xfrm>
          <a:prstGeom prst="line">
            <a:avLst/>
          </a:prstGeom>
          <a:ln w="12700">
            <a:solidFill>
              <a:srgbClr val="EE0000"/>
            </a:solidFill>
            <a:tailEnd type="triangle" w="med" len="med"/>
          </a:ln>
        </p:spPr>
      </p:cxnSp>
      <p:cxnSp>
        <p:nvCxnSpPr>
          <p:cNvPr id="219" name="g2 flow 219"/>
          <p:cNvCxnSpPr/>
          <p:nvPr/>
        </p:nvCxnSpPr>
        <p:spPr>
          <a:xfrm flipH="1">
            <a:off x="5760720" y="4791456"/>
            <a:ext cx="137160" cy="0"/>
          </a:xfrm>
          <a:prstGeom prst="line">
            <a:avLst/>
          </a:prstGeom>
          <a:ln w="12700">
            <a:solidFill>
              <a:srgbClr val="EE0000"/>
            </a:solidFill>
            <a:prstDash val="dash"/>
          </a:ln>
        </p:spPr>
      </p:cxnSp>
      <p:cxnSp>
        <p:nvCxnSpPr>
          <p:cNvPr id="220" name="g2 flow 220"/>
          <p:cNvCxnSpPr/>
          <p:nvPr/>
        </p:nvCxnSpPr>
        <p:spPr>
          <a:xfrm flipV="1">
            <a:off x="5760720" y="4270248"/>
            <a:ext cx="0" cy="521208"/>
          </a:xfrm>
          <a:prstGeom prst="line">
            <a:avLst/>
          </a:prstGeom>
          <a:ln w="12700">
            <a:solidFill>
              <a:srgbClr val="EE0000"/>
            </a:solidFill>
            <a:prstDash val="dash"/>
          </a:ln>
        </p:spPr>
      </p:cxnSp>
      <p:cxnSp>
        <p:nvCxnSpPr>
          <p:cNvPr id="221" name="g2 flow 221"/>
          <p:cNvCxnSpPr/>
          <p:nvPr/>
        </p:nvCxnSpPr>
        <p:spPr>
          <a:xfrm flipH="1">
            <a:off x="5623560" y="4270248"/>
            <a:ext cx="137160" cy="0"/>
          </a:xfrm>
          <a:prstGeom prst="line">
            <a:avLst/>
          </a:prstGeom>
          <a:ln w="12700">
            <a:solidFill>
              <a:srgbClr val="EE0000"/>
            </a:solidFill>
            <a:prstDash val="dash"/>
            <a:tailEnd type="triangle" w="med" len="med"/>
          </a:ln>
        </p:spPr>
      </p:cxnSp>
      <p:cxnSp>
        <p:nvCxnSpPr>
          <p:cNvPr id="222" name="g2 flow 222"/>
          <p:cNvCxnSpPr/>
          <p:nvPr/>
        </p:nvCxnSpPr>
        <p:spPr>
          <a:xfrm flipV="1">
            <a:off x="6812280" y="3218688"/>
            <a:ext cx="0" cy="1463040"/>
          </a:xfrm>
          <a:prstGeom prst="line">
            <a:avLst/>
          </a:prstGeom>
          <a:ln w="12700">
            <a:solidFill>
              <a:srgbClr val="EE0000"/>
            </a:solidFill>
            <a:tailEnd type="triangle" w="med" len="med"/>
          </a:ln>
        </p:spPr>
      </p:cxnSp>
      <p:sp>
        <p:nvSpPr>
          <p:cNvPr id="223" name="g2 223"/>
          <p:cNvSpPr/>
          <p:nvPr/>
        </p:nvSpPr>
        <p:spPr>
          <a:xfrm>
            <a:off x="6885432" y="3447288"/>
            <a:ext cx="868680" cy="36576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trip on threshold</a:t>
            </a:r>
          </a:p>
        </p:txBody>
      </p:sp>
      <p:sp>
        <p:nvSpPr>
          <p:cNvPr id="224" name="g2 224"/>
          <p:cNvSpPr/>
          <p:nvPr/>
        </p:nvSpPr>
        <p:spPr>
          <a:xfrm>
            <a:off x="5943600" y="4151376"/>
            <a:ext cx="8229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undo</a:t>
            </a:r>
          </a:p>
        </p:txBody>
      </p:sp>
      <p:sp>
        <p:nvSpPr>
          <p:cNvPr id="227" name="g2 227"/>
          <p:cNvSpPr/>
          <p:nvPr/>
        </p:nvSpPr>
        <p:spPr>
          <a:xfrm>
            <a:off x="8001000" y="1481328"/>
            <a:ext cx="1920240" cy="10972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AIOps / SOC agents</a:t>
            </a:r>
          </a:p>
          <a:p>
            <a:pPr algn="l" marL="0" indent="0">
              <a:lnSpc>
                <a:spcPct val="100000"/>
              </a:lnSpc>
              <a:buNone/>
            </a:pPr>
            <a:r>
              <a:rPr lang="en-US" sz="800" dirty="0">
                <a:solidFill>
                  <a:srgbClr val="F3E6D6"/>
                </a:solidFill>
                <a:latin typeface="Arial"/>
                <a:ea typeface="Arial"/>
                <a:cs typeface="Arial"/>
              </a:rPr>
              <a:t>vendor-built, running in network and security tools for us</a:t>
            </a:r>
          </a:p>
        </p:txBody>
      </p:sp>
      <p:cxnSp>
        <p:nvCxnSpPr>
          <p:cNvPr id="228" name="g2 flow 228"/>
          <p:cNvCxnSpPr/>
          <p:nvPr/>
        </p:nvCxnSpPr>
        <p:spPr>
          <a:xfrm flipH="1">
            <a:off x="5623560" y="2395728"/>
            <a:ext cx="2377440" cy="0"/>
          </a:xfrm>
          <a:prstGeom prst="line">
            <a:avLst/>
          </a:prstGeom>
          <a:ln w="12700">
            <a:solidFill>
              <a:srgbClr val="EE0000"/>
            </a:solidFill>
            <a:prstDash val="dash"/>
            <a:tailEnd type="triangle" w="med" len="med"/>
          </a:ln>
        </p:spPr>
      </p:cxnSp>
      <p:sp>
        <p:nvSpPr>
          <p:cNvPr id="229" name="g2 229"/>
          <p:cNvSpPr/>
          <p:nvPr/>
        </p:nvSpPr>
        <p:spPr>
          <a:xfrm>
            <a:off x="5943600" y="2414016"/>
            <a:ext cx="2011680" cy="182880"/>
          </a:xfrm>
          <a:prstGeom prst="rect">
            <a:avLst/>
          </a:prstGeom>
          <a:noFill/>
          <a:ln>
            <a:noFill/>
          </a:ln>
        </p:spPr>
        <p:txBody>
          <a:bodyPr wrap="square" lIns="0" tIns="0" rIns="0" bIns="0" rtlCol="0" anchor="ctr">
            <a:noAutofit/>
          </a:bodyPr>
          <a:lstStyle/>
          <a:p>
            <a:pPr algn="r" marL="0" indent="0">
              <a:buNone/>
            </a:pPr>
            <a:r>
              <a:rPr lang="en-US" sz="800" dirty="0">
                <a:solidFill>
                  <a:srgbClr val="F5B700"/>
                </a:solidFill>
                <a:latin typeface="Arial"/>
                <a:ea typeface="Arial"/>
                <a:cs typeface="Arial"/>
              </a:rPr>
              <a:t>advisory via A2A / MCP</a:t>
            </a:r>
          </a:p>
        </p:txBody>
      </p:sp>
      <p:cxnSp>
        <p:nvCxnSpPr>
          <p:cNvPr id="230" name="g2 flow 230"/>
          <p:cNvCxnSpPr/>
          <p:nvPr/>
        </p:nvCxnSpPr>
        <p:spPr>
          <a:xfrm>
            <a:off x="8961120" y="2578608"/>
            <a:ext cx="0" cy="274320"/>
          </a:xfrm>
          <a:prstGeom prst="line">
            <a:avLst/>
          </a:prstGeom>
          <a:ln w="12700">
            <a:solidFill>
              <a:srgbClr val="EE0000"/>
            </a:solidFill>
            <a:tailEnd type="triangle" w="med" len="med"/>
          </a:ln>
        </p:spPr>
      </p:cxnSp>
      <p:sp>
        <p:nvSpPr>
          <p:cNvPr id="231" name="g2 231"/>
          <p:cNvSpPr/>
          <p:nvPr/>
        </p:nvSpPr>
        <p:spPr>
          <a:xfrm>
            <a:off x="8001000" y="2852928"/>
            <a:ext cx="1920240" cy="100584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By contract</a:t>
            </a:r>
          </a:p>
          <a:p>
            <a:pPr algn="l" marL="0" indent="0">
              <a:lnSpc>
                <a:spcPct val="100000"/>
              </a:lnSpc>
              <a:buNone/>
            </a:pPr>
            <a:r>
              <a:rPr lang="en-US" sz="800" dirty="0">
                <a:solidFill>
                  <a:srgbClr val="F3E6D6"/>
                </a:solidFill>
                <a:latin typeface="Arial"/>
                <a:ea typeface="Arial"/>
                <a:cs typeface="Arial"/>
              </a:rPr>
              <a:t>replayable decision logs · a pause API · no direct actuation</a:t>
            </a:r>
          </a:p>
        </p:txBody>
      </p:sp>
      <p:sp>
        <p:nvSpPr>
          <p:cNvPr id="232" name="g2 232"/>
          <p:cNvSpPr/>
          <p:nvPr/>
        </p:nvSpPr>
        <p:spPr>
          <a:xfrm>
            <a:off x="8001000" y="4087368"/>
            <a:ext cx="1920240" cy="54864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Our assessment: no third-party agent gets direct actuation in a critical loop.</a:t>
            </a:r>
          </a:p>
        </p:txBody>
      </p:sp>
      <p:sp>
        <p:nvSpPr>
          <p:cNvPr id="233" name="g2 233"/>
          <p:cNvSpPr/>
          <p:nvPr/>
        </p:nvSpPr>
        <p:spPr>
          <a:xfrm>
            <a:off x="10195560" y="148132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Actuation-API guard</a:t>
            </a:r>
          </a:p>
          <a:p>
            <a:pPr algn="l" marL="0" indent="0">
              <a:lnSpc>
                <a:spcPct val="100000"/>
              </a:lnSpc>
              <a:buNone/>
            </a:pPr>
            <a:r>
              <a:rPr lang="en-US" sz="800" dirty="0">
                <a:solidFill>
                  <a:srgbClr val="141010"/>
                </a:solidFill>
                <a:latin typeface="Arial"/>
                <a:ea typeface="Arial"/>
                <a:cs typeface="Arial"/>
              </a:rPr>
              <a:t>playbooks + blast-radius policy service</a:t>
            </a:r>
          </a:p>
        </p:txBody>
      </p:sp>
      <p:cxnSp>
        <p:nvCxnSpPr>
          <p:cNvPr id="234" name="g2 flow 234"/>
          <p:cNvCxnSpPr/>
          <p:nvPr/>
        </p:nvCxnSpPr>
        <p:spPr>
          <a:xfrm>
            <a:off x="9921240" y="1865376"/>
            <a:ext cx="274320" cy="0"/>
          </a:xfrm>
          <a:prstGeom prst="line">
            <a:avLst/>
          </a:prstGeom>
          <a:ln w="12700">
            <a:solidFill>
              <a:srgbClr val="EE0000"/>
            </a:solidFill>
            <a:prstDash val="dash"/>
            <a:tailEnd type="triangle" w="med" len="med"/>
          </a:ln>
        </p:spPr>
      </p:cxnSp>
      <p:sp>
        <p:nvSpPr>
          <p:cNvPr id="235" name="g2 235"/>
          <p:cNvSpPr/>
          <p:nvPr/>
        </p:nvSpPr>
        <p:spPr>
          <a:xfrm>
            <a:off x="10195560" y="244144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Deterministic replay</a:t>
            </a:r>
          </a:p>
          <a:p>
            <a:pPr algn="l" marL="0" indent="0">
              <a:lnSpc>
                <a:spcPct val="100000"/>
              </a:lnSpc>
              <a:buNone/>
            </a:pPr>
            <a:r>
              <a:rPr lang="en-US" sz="800" dirty="0">
                <a:solidFill>
                  <a:srgbClr val="141010"/>
                </a:solidFill>
                <a:latin typeface="Arial"/>
                <a:ea typeface="Arial"/>
                <a:cs typeface="Arial"/>
              </a:rPr>
              <a:t>harness for every release; latency SLO per tier (UNVERIFIED)</a:t>
            </a:r>
          </a:p>
        </p:txBody>
      </p:sp>
      <p:cxnSp>
        <p:nvCxnSpPr>
          <p:cNvPr id="236" name="g2 flow 236"/>
          <p:cNvCxnSpPr/>
          <p:nvPr/>
        </p:nvCxnSpPr>
        <p:spPr>
          <a:xfrm>
            <a:off x="9921240" y="2825496"/>
            <a:ext cx="274320" cy="0"/>
          </a:xfrm>
          <a:prstGeom prst="line">
            <a:avLst/>
          </a:prstGeom>
          <a:ln w="12700">
            <a:solidFill>
              <a:srgbClr val="EE0000"/>
            </a:solidFill>
            <a:prstDash val="dash"/>
            <a:tailEnd type="triangle" w="med" len="med"/>
          </a:ln>
        </p:spPr>
      </p:cxnSp>
      <p:sp>
        <p:nvSpPr>
          <p:cNvPr id="237" name="g2 237"/>
          <p:cNvSpPr/>
          <p:nvPr/>
        </p:nvSpPr>
        <p:spPr>
          <a:xfrm>
            <a:off x="10195560" y="340156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Breaker → registry</a:t>
            </a:r>
          </a:p>
          <a:p>
            <a:pPr algn="l" marL="0" indent="0">
              <a:lnSpc>
                <a:spcPct val="100000"/>
              </a:lnSpc>
              <a:buNone/>
            </a:pPr>
            <a:r>
              <a:rPr lang="en-US" sz="800" dirty="0">
                <a:solidFill>
                  <a:srgbClr val="141010"/>
                </a:solidFill>
                <a:latin typeface="Arial"/>
                <a:ea typeface="Arial"/>
                <a:cs typeface="Arial"/>
              </a:rPr>
              <a:t>circuit breaker and rollback wired to autonomy demotion</a:t>
            </a:r>
          </a:p>
        </p:txBody>
      </p:sp>
      <p:sp>
        <p:nvSpPr>
          <p:cNvPr id="238" name="g2 238"/>
          <p:cNvSpPr/>
          <p:nvPr/>
        </p:nvSpPr>
        <p:spPr>
          <a:xfrm>
            <a:off x="10195560" y="4361688"/>
            <a:ext cx="173736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Industry today</a:t>
            </a:r>
          </a:p>
          <a:p>
            <a:pPr algn="l" marL="0" indent="0">
              <a:lnSpc>
                <a:spcPct val="100000"/>
              </a:lnSpc>
              <a:buNone/>
            </a:pPr>
            <a:r>
              <a:rPr lang="en-US" sz="800" dirty="0">
                <a:solidFill>
                  <a:srgbClr val="F3E6D6"/>
                </a:solidFill>
                <a:latin typeface="Arial"/>
                <a:ea typeface="Arial"/>
                <a:cs typeface="Arial"/>
              </a:rPr>
              <a:t>agent platforms optimise task completion, not bounded actuation</a:t>
            </a:r>
          </a:p>
        </p:txBody>
      </p:sp>
      <p:sp>
        <p:nvSpPr>
          <p:cNvPr id="239" name="g2 239"/>
          <p:cNvSpPr/>
          <p:nvPr/>
        </p:nvSpPr>
        <p:spPr>
          <a:xfrm>
            <a:off x="9802368" y="5596128"/>
            <a:ext cx="233172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action  ·  Dashed: replay, undo, gap</a:t>
            </a:r>
          </a:p>
        </p:txBody>
      </p:sp>
      <p:sp>
        <p:nvSpPr>
          <p:cNvPr id="240"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13 / 17</a:t>
            </a:r>
          </a:p>
        </p:txBody>
      </p:sp>
      <p:sp>
        <p:nvSpPr>
          <p:cNvPr id="241"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42"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3">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1172261" y="-5298948"/>
            <a:ext cx="8621878" cy="8621878"/>
          </a:xfrm>
          <a:prstGeom prst="ellipse">
            <a:avLst/>
          </a:prstGeom>
          <a:solidFill>
            <a:srgbClr val="8A0F1A">
              <a:alpha val="2547"/>
            </a:srgbClr>
          </a:solidFill>
          <a:ln/>
        </p:spPr>
      </p:sp>
      <p:sp>
        <p:nvSpPr>
          <p:cNvPr id="3" name="Shape 1"/>
          <p:cNvSpPr/>
          <p:nvPr/>
        </p:nvSpPr>
        <p:spPr>
          <a:xfrm>
            <a:off x="1351883" y="-5119326"/>
            <a:ext cx="8262633" cy="8262633"/>
          </a:xfrm>
          <a:prstGeom prst="ellipse">
            <a:avLst/>
          </a:prstGeom>
          <a:solidFill>
            <a:srgbClr val="8A0F1A">
              <a:alpha val="4218"/>
            </a:srgbClr>
          </a:solidFill>
          <a:ln/>
        </p:spPr>
      </p:sp>
      <p:sp>
        <p:nvSpPr>
          <p:cNvPr id="4" name="Shape 2"/>
          <p:cNvSpPr/>
          <p:nvPr/>
        </p:nvSpPr>
        <p:spPr>
          <a:xfrm>
            <a:off x="1531506" y="-4939703"/>
            <a:ext cx="7903388" cy="7903388"/>
          </a:xfrm>
          <a:prstGeom prst="ellipse">
            <a:avLst/>
          </a:prstGeom>
          <a:solidFill>
            <a:srgbClr val="8A0F1A">
              <a:alpha val="4138"/>
            </a:srgbClr>
          </a:solidFill>
          <a:ln/>
        </p:spPr>
      </p:sp>
      <p:sp>
        <p:nvSpPr>
          <p:cNvPr id="5" name="Shape 3"/>
          <p:cNvSpPr/>
          <p:nvPr/>
        </p:nvSpPr>
        <p:spPr>
          <a:xfrm>
            <a:off x="1711128" y="-4760081"/>
            <a:ext cx="7544143" cy="7544143"/>
          </a:xfrm>
          <a:prstGeom prst="ellipse">
            <a:avLst/>
          </a:prstGeom>
          <a:solidFill>
            <a:srgbClr val="8A0F1A">
              <a:alpha val="2636"/>
            </a:srgbClr>
          </a:solidFill>
          <a:ln/>
        </p:spPr>
      </p:sp>
      <p:sp>
        <p:nvSpPr>
          <p:cNvPr id="6" name="Shape 4"/>
          <p:cNvSpPr/>
          <p:nvPr/>
        </p:nvSpPr>
        <p:spPr>
          <a:xfrm>
            <a:off x="1890751" y="-4580458"/>
            <a:ext cx="7184898" cy="7184898"/>
          </a:xfrm>
          <a:prstGeom prst="ellipse">
            <a:avLst/>
          </a:prstGeom>
          <a:solidFill>
            <a:srgbClr val="8A0F1A">
              <a:alpha val="2661"/>
            </a:srgbClr>
          </a:solidFill>
          <a:ln/>
        </p:spPr>
      </p:sp>
      <p:sp>
        <p:nvSpPr>
          <p:cNvPr id="7" name="Shape 5"/>
          <p:cNvSpPr/>
          <p:nvPr/>
        </p:nvSpPr>
        <p:spPr>
          <a:xfrm>
            <a:off x="2070373" y="-4400836"/>
            <a:ext cx="6825653" cy="6825653"/>
          </a:xfrm>
          <a:prstGeom prst="ellipse">
            <a:avLst/>
          </a:prstGeom>
          <a:solidFill>
            <a:srgbClr val="8A0F1A">
              <a:alpha val="3304"/>
            </a:srgbClr>
          </a:solidFill>
          <a:ln/>
        </p:spPr>
      </p:sp>
      <p:sp>
        <p:nvSpPr>
          <p:cNvPr id="8" name="Shape 6"/>
          <p:cNvSpPr/>
          <p:nvPr/>
        </p:nvSpPr>
        <p:spPr>
          <a:xfrm>
            <a:off x="2249996" y="-4221213"/>
            <a:ext cx="6466408" cy="6466408"/>
          </a:xfrm>
          <a:prstGeom prst="ellipse">
            <a:avLst/>
          </a:prstGeom>
          <a:solidFill>
            <a:srgbClr val="8A0F1A">
              <a:alpha val="3622"/>
            </a:srgbClr>
          </a:solidFill>
          <a:ln/>
        </p:spPr>
      </p:sp>
      <p:sp>
        <p:nvSpPr>
          <p:cNvPr id="9" name="Shape 7"/>
          <p:cNvSpPr/>
          <p:nvPr/>
        </p:nvSpPr>
        <p:spPr>
          <a:xfrm>
            <a:off x="2429618" y="-4041591"/>
            <a:ext cx="6107163" cy="6107163"/>
          </a:xfrm>
          <a:prstGeom prst="ellipse">
            <a:avLst/>
          </a:prstGeom>
          <a:solidFill>
            <a:srgbClr val="8A0F1A">
              <a:alpha val="3650"/>
            </a:srgbClr>
          </a:solidFill>
          <a:ln/>
        </p:spPr>
      </p:sp>
      <p:sp>
        <p:nvSpPr>
          <p:cNvPr id="10" name="Shape 8"/>
          <p:cNvSpPr/>
          <p:nvPr/>
        </p:nvSpPr>
        <p:spPr>
          <a:xfrm>
            <a:off x="2609240" y="-3861968"/>
            <a:ext cx="5747918" cy="5747918"/>
          </a:xfrm>
          <a:prstGeom prst="ellipse">
            <a:avLst/>
          </a:prstGeom>
          <a:solidFill>
            <a:srgbClr val="8A0F1A">
              <a:alpha val="3631"/>
            </a:srgbClr>
          </a:solidFill>
          <a:ln/>
        </p:spPr>
      </p:sp>
      <p:sp>
        <p:nvSpPr>
          <p:cNvPr id="11" name="Shape 9"/>
          <p:cNvSpPr/>
          <p:nvPr/>
        </p:nvSpPr>
        <p:spPr>
          <a:xfrm>
            <a:off x="2788863" y="-3682346"/>
            <a:ext cx="5388674" cy="5388674"/>
          </a:xfrm>
          <a:prstGeom prst="ellipse">
            <a:avLst/>
          </a:prstGeom>
          <a:solidFill>
            <a:srgbClr val="8A0F1A">
              <a:alpha val="3693"/>
            </a:srgbClr>
          </a:solidFill>
          <a:ln/>
        </p:spPr>
      </p:sp>
      <p:sp>
        <p:nvSpPr>
          <p:cNvPr id="12" name="Shape 10"/>
          <p:cNvSpPr/>
          <p:nvPr/>
        </p:nvSpPr>
        <p:spPr>
          <a:xfrm>
            <a:off x="2968485" y="-3502723"/>
            <a:ext cx="5029429" cy="5029429"/>
          </a:xfrm>
          <a:prstGeom prst="ellipse">
            <a:avLst/>
          </a:prstGeom>
          <a:solidFill>
            <a:srgbClr val="8A0F1A">
              <a:alpha val="4536"/>
            </a:srgbClr>
          </a:solidFill>
          <a:ln/>
        </p:spPr>
      </p:sp>
      <p:sp>
        <p:nvSpPr>
          <p:cNvPr id="13" name="Shape 11"/>
          <p:cNvSpPr/>
          <p:nvPr/>
        </p:nvSpPr>
        <p:spPr>
          <a:xfrm>
            <a:off x="3148108" y="-3323101"/>
            <a:ext cx="4670184" cy="4670184"/>
          </a:xfrm>
          <a:prstGeom prst="ellipse">
            <a:avLst/>
          </a:prstGeom>
          <a:solidFill>
            <a:srgbClr val="8A0F1A">
              <a:alpha val="4737"/>
            </a:srgbClr>
          </a:solidFill>
          <a:ln/>
        </p:spPr>
      </p:sp>
      <p:sp>
        <p:nvSpPr>
          <p:cNvPr id="14" name="Shape 12"/>
          <p:cNvSpPr/>
          <p:nvPr/>
        </p:nvSpPr>
        <p:spPr>
          <a:xfrm>
            <a:off x="3327730" y="-3143479"/>
            <a:ext cx="4310939" cy="4310939"/>
          </a:xfrm>
          <a:prstGeom prst="ellipse">
            <a:avLst/>
          </a:prstGeom>
          <a:solidFill>
            <a:srgbClr val="8A0F1A">
              <a:alpha val="4994"/>
            </a:srgbClr>
          </a:solidFill>
          <a:ln/>
        </p:spPr>
      </p:sp>
      <p:sp>
        <p:nvSpPr>
          <p:cNvPr id="15" name="Shape 13"/>
          <p:cNvSpPr/>
          <p:nvPr/>
        </p:nvSpPr>
        <p:spPr>
          <a:xfrm>
            <a:off x="3507353" y="-2963856"/>
            <a:ext cx="3951694" cy="3951694"/>
          </a:xfrm>
          <a:prstGeom prst="ellipse">
            <a:avLst/>
          </a:prstGeom>
          <a:solidFill>
            <a:srgbClr val="8A0F1A">
              <a:alpha val="5272"/>
            </a:srgbClr>
          </a:solidFill>
          <a:ln/>
        </p:spPr>
      </p:sp>
      <p:sp>
        <p:nvSpPr>
          <p:cNvPr id="16" name="Shape 14"/>
          <p:cNvSpPr/>
          <p:nvPr/>
        </p:nvSpPr>
        <p:spPr>
          <a:xfrm>
            <a:off x="3686975" y="-2784234"/>
            <a:ext cx="3592449" cy="3592449"/>
          </a:xfrm>
          <a:prstGeom prst="ellipse">
            <a:avLst/>
          </a:prstGeom>
          <a:solidFill>
            <a:srgbClr val="8A0F1A">
              <a:alpha val="5521"/>
            </a:srgbClr>
          </a:solidFill>
          <a:ln/>
        </p:spPr>
      </p:sp>
      <p:sp>
        <p:nvSpPr>
          <p:cNvPr id="17" name="Shape 15"/>
          <p:cNvSpPr/>
          <p:nvPr/>
        </p:nvSpPr>
        <p:spPr>
          <a:xfrm>
            <a:off x="3866598" y="-2604611"/>
            <a:ext cx="3233204" cy="3233204"/>
          </a:xfrm>
          <a:prstGeom prst="ellipse">
            <a:avLst/>
          </a:prstGeom>
          <a:solidFill>
            <a:srgbClr val="8A0F1A">
              <a:alpha val="6496"/>
            </a:srgbClr>
          </a:solidFill>
          <a:ln/>
        </p:spPr>
      </p:sp>
      <p:sp>
        <p:nvSpPr>
          <p:cNvPr id="18" name="Shape 16"/>
          <p:cNvSpPr/>
          <p:nvPr/>
        </p:nvSpPr>
        <p:spPr>
          <a:xfrm>
            <a:off x="4046220" y="-2424989"/>
            <a:ext cx="2873959" cy="2873959"/>
          </a:xfrm>
          <a:prstGeom prst="ellipse">
            <a:avLst/>
          </a:prstGeom>
          <a:solidFill>
            <a:srgbClr val="8A0F1A">
              <a:alpha val="6768"/>
            </a:srgbClr>
          </a:solidFill>
          <a:ln/>
        </p:spPr>
      </p:sp>
      <p:sp>
        <p:nvSpPr>
          <p:cNvPr id="19" name="Shape 17"/>
          <p:cNvSpPr/>
          <p:nvPr/>
        </p:nvSpPr>
        <p:spPr>
          <a:xfrm>
            <a:off x="4225842" y="-2245366"/>
            <a:ext cx="2514714" cy="2514714"/>
          </a:xfrm>
          <a:prstGeom prst="ellipse">
            <a:avLst/>
          </a:prstGeom>
          <a:solidFill>
            <a:srgbClr val="8A0F1A">
              <a:alpha val="7123"/>
            </a:srgbClr>
          </a:solidFill>
          <a:ln/>
        </p:spPr>
      </p:sp>
      <p:sp>
        <p:nvSpPr>
          <p:cNvPr id="20" name="Shape 18"/>
          <p:cNvSpPr/>
          <p:nvPr/>
        </p:nvSpPr>
        <p:spPr>
          <a:xfrm>
            <a:off x="4405465" y="-2065744"/>
            <a:ext cx="2155469" cy="2155469"/>
          </a:xfrm>
          <a:prstGeom prst="ellipse">
            <a:avLst/>
          </a:prstGeom>
          <a:solidFill>
            <a:srgbClr val="8A0F1A">
              <a:alpha val="7486"/>
            </a:srgbClr>
          </a:solidFill>
          <a:ln/>
        </p:spPr>
      </p:sp>
      <p:sp>
        <p:nvSpPr>
          <p:cNvPr id="21" name="Shape 19"/>
          <p:cNvSpPr/>
          <p:nvPr/>
        </p:nvSpPr>
        <p:spPr>
          <a:xfrm>
            <a:off x="4585087" y="-1886121"/>
            <a:ext cx="1796225" cy="1796225"/>
          </a:xfrm>
          <a:prstGeom prst="ellipse">
            <a:avLst/>
          </a:prstGeom>
          <a:solidFill>
            <a:srgbClr val="8A0F1A">
              <a:alpha val="8191"/>
            </a:srgbClr>
          </a:solidFill>
          <a:ln/>
        </p:spPr>
      </p:sp>
      <p:sp>
        <p:nvSpPr>
          <p:cNvPr id="22" name="Shape 20"/>
          <p:cNvSpPr/>
          <p:nvPr/>
        </p:nvSpPr>
        <p:spPr>
          <a:xfrm>
            <a:off x="4764710" y="-1706499"/>
            <a:ext cx="1436980" cy="1436980"/>
          </a:xfrm>
          <a:prstGeom prst="ellipse">
            <a:avLst/>
          </a:prstGeom>
          <a:solidFill>
            <a:srgbClr val="8A0F1A">
              <a:alpha val="9466"/>
            </a:srgbClr>
          </a:solidFill>
          <a:ln/>
        </p:spPr>
      </p:sp>
      <p:sp>
        <p:nvSpPr>
          <p:cNvPr id="23" name="Shape 21"/>
          <p:cNvSpPr/>
          <p:nvPr/>
        </p:nvSpPr>
        <p:spPr>
          <a:xfrm>
            <a:off x="4944332" y="-1526877"/>
            <a:ext cx="1077735" cy="1077735"/>
          </a:xfrm>
          <a:prstGeom prst="ellipse">
            <a:avLst/>
          </a:prstGeom>
          <a:solidFill>
            <a:srgbClr val="8A0F1A">
              <a:alpha val="10120"/>
            </a:srgbClr>
          </a:solidFill>
          <a:ln/>
        </p:spPr>
      </p:sp>
      <p:sp>
        <p:nvSpPr>
          <p:cNvPr id="24" name="Shape 22"/>
          <p:cNvSpPr/>
          <p:nvPr/>
        </p:nvSpPr>
        <p:spPr>
          <a:xfrm>
            <a:off x="5123955" y="-1347254"/>
            <a:ext cx="718490" cy="718490"/>
          </a:xfrm>
          <a:prstGeom prst="ellipse">
            <a:avLst/>
          </a:prstGeom>
          <a:solidFill>
            <a:srgbClr val="8A0F1A">
              <a:alpha val="10280"/>
            </a:srgbClr>
          </a:solidFill>
          <a:ln/>
        </p:spPr>
      </p:sp>
      <p:sp>
        <p:nvSpPr>
          <p:cNvPr id="25" name="Shape 23"/>
          <p:cNvSpPr/>
          <p:nvPr/>
        </p:nvSpPr>
        <p:spPr>
          <a:xfrm>
            <a:off x="5303577" y="-1167632"/>
            <a:ext cx="359245" cy="359245"/>
          </a:xfrm>
          <a:prstGeom prst="ellipse">
            <a:avLst/>
          </a:prstGeom>
          <a:solidFill>
            <a:srgbClr val="8A0F1A">
              <a:alpha val="10999"/>
            </a:srgbClr>
          </a:solidFill>
          <a:ln/>
        </p:spPr>
      </p:sp>
      <p:sp>
        <p:nvSpPr>
          <p:cNvPr id="26" name="Shape 24"/>
          <p:cNvSpPr/>
          <p:nvPr/>
        </p:nvSpPr>
        <p:spPr>
          <a:xfrm>
            <a:off x="-4889297" y="3577133"/>
            <a:ext cx="8621878" cy="8621878"/>
          </a:xfrm>
          <a:prstGeom prst="ellipse">
            <a:avLst/>
          </a:prstGeom>
          <a:solidFill>
            <a:srgbClr val="8A0F1A">
              <a:alpha val="2547"/>
            </a:srgbClr>
          </a:solidFill>
          <a:ln/>
        </p:spPr>
      </p:sp>
      <p:sp>
        <p:nvSpPr>
          <p:cNvPr id="27" name="Shape 25"/>
          <p:cNvSpPr/>
          <p:nvPr/>
        </p:nvSpPr>
        <p:spPr>
          <a:xfrm>
            <a:off x="-4709674" y="3756755"/>
            <a:ext cx="8262633" cy="8262633"/>
          </a:xfrm>
          <a:prstGeom prst="ellipse">
            <a:avLst/>
          </a:prstGeom>
          <a:solidFill>
            <a:srgbClr val="8A0F1A">
              <a:alpha val="4218"/>
            </a:srgbClr>
          </a:solidFill>
          <a:ln/>
        </p:spPr>
      </p:sp>
      <p:sp>
        <p:nvSpPr>
          <p:cNvPr id="28" name="Shape 26"/>
          <p:cNvSpPr/>
          <p:nvPr/>
        </p:nvSpPr>
        <p:spPr>
          <a:xfrm>
            <a:off x="-4530052" y="3936378"/>
            <a:ext cx="7903388" cy="7903388"/>
          </a:xfrm>
          <a:prstGeom prst="ellipse">
            <a:avLst/>
          </a:prstGeom>
          <a:solidFill>
            <a:srgbClr val="8A0F1A">
              <a:alpha val="4138"/>
            </a:srgbClr>
          </a:solidFill>
          <a:ln/>
        </p:spPr>
      </p:sp>
      <p:sp>
        <p:nvSpPr>
          <p:cNvPr id="29" name="Shape 27"/>
          <p:cNvSpPr/>
          <p:nvPr/>
        </p:nvSpPr>
        <p:spPr>
          <a:xfrm>
            <a:off x="-4350429" y="4116000"/>
            <a:ext cx="7544143" cy="7544143"/>
          </a:xfrm>
          <a:prstGeom prst="ellipse">
            <a:avLst/>
          </a:prstGeom>
          <a:solidFill>
            <a:srgbClr val="8A0F1A">
              <a:alpha val="2636"/>
            </a:srgbClr>
          </a:solidFill>
          <a:ln/>
        </p:spPr>
      </p:sp>
      <p:sp>
        <p:nvSpPr>
          <p:cNvPr id="30" name="Shape 28"/>
          <p:cNvSpPr/>
          <p:nvPr/>
        </p:nvSpPr>
        <p:spPr>
          <a:xfrm>
            <a:off x="-4170807" y="4295623"/>
            <a:ext cx="7184898" cy="7184898"/>
          </a:xfrm>
          <a:prstGeom prst="ellipse">
            <a:avLst/>
          </a:prstGeom>
          <a:solidFill>
            <a:srgbClr val="8A0F1A">
              <a:alpha val="2661"/>
            </a:srgbClr>
          </a:solidFill>
          <a:ln/>
        </p:spPr>
      </p:sp>
      <p:sp>
        <p:nvSpPr>
          <p:cNvPr id="31" name="Shape 29"/>
          <p:cNvSpPr/>
          <p:nvPr/>
        </p:nvSpPr>
        <p:spPr>
          <a:xfrm>
            <a:off x="-3991185" y="4475245"/>
            <a:ext cx="6825653" cy="6825653"/>
          </a:xfrm>
          <a:prstGeom prst="ellipse">
            <a:avLst/>
          </a:prstGeom>
          <a:solidFill>
            <a:srgbClr val="8A0F1A">
              <a:alpha val="3304"/>
            </a:srgbClr>
          </a:solidFill>
          <a:ln/>
        </p:spPr>
      </p:sp>
      <p:sp>
        <p:nvSpPr>
          <p:cNvPr id="32" name="Shape 30"/>
          <p:cNvSpPr/>
          <p:nvPr/>
        </p:nvSpPr>
        <p:spPr>
          <a:xfrm>
            <a:off x="-3811562" y="4654868"/>
            <a:ext cx="6466408" cy="6466408"/>
          </a:xfrm>
          <a:prstGeom prst="ellipse">
            <a:avLst/>
          </a:prstGeom>
          <a:solidFill>
            <a:srgbClr val="8A0F1A">
              <a:alpha val="3622"/>
            </a:srgbClr>
          </a:solidFill>
          <a:ln/>
        </p:spPr>
      </p:sp>
      <p:sp>
        <p:nvSpPr>
          <p:cNvPr id="33" name="Shape 31"/>
          <p:cNvSpPr/>
          <p:nvPr/>
        </p:nvSpPr>
        <p:spPr>
          <a:xfrm>
            <a:off x="-3631940" y="4834490"/>
            <a:ext cx="6107163" cy="6107163"/>
          </a:xfrm>
          <a:prstGeom prst="ellipse">
            <a:avLst/>
          </a:prstGeom>
          <a:solidFill>
            <a:srgbClr val="8A0F1A">
              <a:alpha val="3650"/>
            </a:srgbClr>
          </a:solidFill>
          <a:ln/>
        </p:spPr>
      </p:sp>
      <p:sp>
        <p:nvSpPr>
          <p:cNvPr id="34" name="Shape 32"/>
          <p:cNvSpPr/>
          <p:nvPr/>
        </p:nvSpPr>
        <p:spPr>
          <a:xfrm>
            <a:off x="-3452317" y="5014112"/>
            <a:ext cx="5747918" cy="5747918"/>
          </a:xfrm>
          <a:prstGeom prst="ellipse">
            <a:avLst/>
          </a:prstGeom>
          <a:solidFill>
            <a:srgbClr val="8A0F1A">
              <a:alpha val="3631"/>
            </a:srgbClr>
          </a:solidFill>
          <a:ln/>
        </p:spPr>
      </p:sp>
      <p:sp>
        <p:nvSpPr>
          <p:cNvPr id="35" name="Shape 33"/>
          <p:cNvSpPr/>
          <p:nvPr/>
        </p:nvSpPr>
        <p:spPr>
          <a:xfrm>
            <a:off x="-3272695" y="5193735"/>
            <a:ext cx="5388674" cy="5388674"/>
          </a:xfrm>
          <a:prstGeom prst="ellipse">
            <a:avLst/>
          </a:prstGeom>
          <a:solidFill>
            <a:srgbClr val="8A0F1A">
              <a:alpha val="3693"/>
            </a:srgbClr>
          </a:solidFill>
          <a:ln/>
        </p:spPr>
      </p:sp>
      <p:sp>
        <p:nvSpPr>
          <p:cNvPr id="36" name="Shape 34"/>
          <p:cNvSpPr/>
          <p:nvPr/>
        </p:nvSpPr>
        <p:spPr>
          <a:xfrm>
            <a:off x="-3093072" y="5373357"/>
            <a:ext cx="5029429" cy="5029429"/>
          </a:xfrm>
          <a:prstGeom prst="ellipse">
            <a:avLst/>
          </a:prstGeom>
          <a:solidFill>
            <a:srgbClr val="8A0F1A">
              <a:alpha val="4536"/>
            </a:srgbClr>
          </a:solidFill>
          <a:ln/>
        </p:spPr>
      </p:sp>
      <p:sp>
        <p:nvSpPr>
          <p:cNvPr id="37" name="Shape 35"/>
          <p:cNvSpPr/>
          <p:nvPr/>
        </p:nvSpPr>
        <p:spPr>
          <a:xfrm>
            <a:off x="-2913450" y="5552980"/>
            <a:ext cx="4670184" cy="4670184"/>
          </a:xfrm>
          <a:prstGeom prst="ellipse">
            <a:avLst/>
          </a:prstGeom>
          <a:solidFill>
            <a:srgbClr val="8A0F1A">
              <a:alpha val="4737"/>
            </a:srgbClr>
          </a:solidFill>
          <a:ln/>
        </p:spPr>
      </p:sp>
      <p:sp>
        <p:nvSpPr>
          <p:cNvPr id="38" name="Shape 36"/>
          <p:cNvSpPr/>
          <p:nvPr/>
        </p:nvSpPr>
        <p:spPr>
          <a:xfrm>
            <a:off x="-2733827" y="5732602"/>
            <a:ext cx="4310939" cy="4310939"/>
          </a:xfrm>
          <a:prstGeom prst="ellipse">
            <a:avLst/>
          </a:prstGeom>
          <a:solidFill>
            <a:srgbClr val="8A0F1A">
              <a:alpha val="4994"/>
            </a:srgbClr>
          </a:solidFill>
          <a:ln/>
        </p:spPr>
      </p:sp>
      <p:sp>
        <p:nvSpPr>
          <p:cNvPr id="39" name="Shape 37"/>
          <p:cNvSpPr/>
          <p:nvPr/>
        </p:nvSpPr>
        <p:spPr>
          <a:xfrm>
            <a:off x="-2554205" y="5912225"/>
            <a:ext cx="3951694" cy="3951694"/>
          </a:xfrm>
          <a:prstGeom prst="ellipse">
            <a:avLst/>
          </a:prstGeom>
          <a:solidFill>
            <a:srgbClr val="8A0F1A">
              <a:alpha val="5272"/>
            </a:srgbClr>
          </a:solidFill>
          <a:ln/>
        </p:spPr>
      </p:sp>
      <p:sp>
        <p:nvSpPr>
          <p:cNvPr id="40" name="Shape 38"/>
          <p:cNvSpPr/>
          <p:nvPr/>
        </p:nvSpPr>
        <p:spPr>
          <a:xfrm>
            <a:off x="-2374583" y="6091847"/>
            <a:ext cx="3592449" cy="3592449"/>
          </a:xfrm>
          <a:prstGeom prst="ellipse">
            <a:avLst/>
          </a:prstGeom>
          <a:solidFill>
            <a:srgbClr val="8A0F1A">
              <a:alpha val="5521"/>
            </a:srgbClr>
          </a:solidFill>
          <a:ln/>
        </p:spPr>
      </p:sp>
      <p:sp>
        <p:nvSpPr>
          <p:cNvPr id="41" name="Shape 39"/>
          <p:cNvSpPr/>
          <p:nvPr/>
        </p:nvSpPr>
        <p:spPr>
          <a:xfrm>
            <a:off x="-2194960" y="6271470"/>
            <a:ext cx="3233204" cy="3233204"/>
          </a:xfrm>
          <a:prstGeom prst="ellipse">
            <a:avLst/>
          </a:prstGeom>
          <a:solidFill>
            <a:srgbClr val="8A0F1A">
              <a:alpha val="6496"/>
            </a:srgbClr>
          </a:solidFill>
          <a:ln/>
        </p:spPr>
      </p:sp>
      <p:sp>
        <p:nvSpPr>
          <p:cNvPr id="42" name="Shape 40"/>
          <p:cNvSpPr/>
          <p:nvPr/>
        </p:nvSpPr>
        <p:spPr>
          <a:xfrm>
            <a:off x="-2015338" y="6451092"/>
            <a:ext cx="2873959" cy="2873959"/>
          </a:xfrm>
          <a:prstGeom prst="ellipse">
            <a:avLst/>
          </a:prstGeom>
          <a:solidFill>
            <a:srgbClr val="8A0F1A">
              <a:alpha val="6768"/>
            </a:srgbClr>
          </a:solidFill>
          <a:ln/>
        </p:spPr>
      </p:sp>
      <p:sp>
        <p:nvSpPr>
          <p:cNvPr id="43" name="Shape 41"/>
          <p:cNvSpPr/>
          <p:nvPr/>
        </p:nvSpPr>
        <p:spPr>
          <a:xfrm>
            <a:off x="-1835715" y="6630714"/>
            <a:ext cx="2514714" cy="2514714"/>
          </a:xfrm>
          <a:prstGeom prst="ellipse">
            <a:avLst/>
          </a:prstGeom>
          <a:solidFill>
            <a:srgbClr val="8A0F1A">
              <a:alpha val="7123"/>
            </a:srgbClr>
          </a:solidFill>
          <a:ln/>
        </p:spPr>
      </p:sp>
      <p:sp>
        <p:nvSpPr>
          <p:cNvPr id="44" name="Shape 42"/>
          <p:cNvSpPr/>
          <p:nvPr/>
        </p:nvSpPr>
        <p:spPr>
          <a:xfrm>
            <a:off x="-1656093" y="6810337"/>
            <a:ext cx="2155469" cy="2155469"/>
          </a:xfrm>
          <a:prstGeom prst="ellipse">
            <a:avLst/>
          </a:prstGeom>
          <a:solidFill>
            <a:srgbClr val="8A0F1A">
              <a:alpha val="7486"/>
            </a:srgbClr>
          </a:solidFill>
          <a:ln/>
        </p:spPr>
      </p:sp>
      <p:sp>
        <p:nvSpPr>
          <p:cNvPr id="45" name="Shape 43"/>
          <p:cNvSpPr/>
          <p:nvPr/>
        </p:nvSpPr>
        <p:spPr>
          <a:xfrm>
            <a:off x="-1476470" y="6989959"/>
            <a:ext cx="1796225" cy="1796225"/>
          </a:xfrm>
          <a:prstGeom prst="ellipse">
            <a:avLst/>
          </a:prstGeom>
          <a:solidFill>
            <a:srgbClr val="8A0F1A">
              <a:alpha val="8191"/>
            </a:srgbClr>
          </a:solidFill>
          <a:ln/>
        </p:spPr>
      </p:sp>
      <p:sp>
        <p:nvSpPr>
          <p:cNvPr id="46" name="Shape 44"/>
          <p:cNvSpPr/>
          <p:nvPr/>
        </p:nvSpPr>
        <p:spPr>
          <a:xfrm>
            <a:off x="-1296848" y="7169582"/>
            <a:ext cx="1436980" cy="1436980"/>
          </a:xfrm>
          <a:prstGeom prst="ellipse">
            <a:avLst/>
          </a:prstGeom>
          <a:solidFill>
            <a:srgbClr val="8A0F1A">
              <a:alpha val="9466"/>
            </a:srgbClr>
          </a:solidFill>
          <a:ln/>
        </p:spPr>
      </p:sp>
      <p:sp>
        <p:nvSpPr>
          <p:cNvPr id="47" name="Shape 45"/>
          <p:cNvSpPr/>
          <p:nvPr/>
        </p:nvSpPr>
        <p:spPr>
          <a:xfrm>
            <a:off x="-1117225" y="7349204"/>
            <a:ext cx="1077735" cy="1077735"/>
          </a:xfrm>
          <a:prstGeom prst="ellipse">
            <a:avLst/>
          </a:prstGeom>
          <a:solidFill>
            <a:srgbClr val="8A0F1A">
              <a:alpha val="10120"/>
            </a:srgbClr>
          </a:solidFill>
          <a:ln/>
        </p:spPr>
      </p:sp>
      <p:sp>
        <p:nvSpPr>
          <p:cNvPr id="48" name="Shape 46"/>
          <p:cNvSpPr/>
          <p:nvPr/>
        </p:nvSpPr>
        <p:spPr>
          <a:xfrm>
            <a:off x="-937603" y="7528827"/>
            <a:ext cx="718490" cy="718490"/>
          </a:xfrm>
          <a:prstGeom prst="ellipse">
            <a:avLst/>
          </a:prstGeom>
          <a:solidFill>
            <a:srgbClr val="8A0F1A">
              <a:alpha val="10280"/>
            </a:srgbClr>
          </a:solidFill>
          <a:ln/>
        </p:spPr>
      </p:sp>
      <p:sp>
        <p:nvSpPr>
          <p:cNvPr id="49" name="Shape 47"/>
          <p:cNvSpPr/>
          <p:nvPr/>
        </p:nvSpPr>
        <p:spPr>
          <a:xfrm>
            <a:off x="-757980" y="7708449"/>
            <a:ext cx="359245" cy="359245"/>
          </a:xfrm>
          <a:prstGeom prst="ellipse">
            <a:avLst/>
          </a:prstGeom>
          <a:solidFill>
            <a:srgbClr val="8A0F1A">
              <a:alpha val="10999"/>
            </a:srgbClr>
          </a:solidFill>
          <a:ln/>
        </p:spPr>
      </p:sp>
      <p:sp>
        <p:nvSpPr>
          <p:cNvPr id="50" name="Text 48"/>
          <p:cNvSpPr/>
          <p:nvPr/>
        </p:nvSpPr>
        <p:spPr>
          <a:xfrm>
            <a:off x="830275" y="1394460"/>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First-party vs third-party (vendor-built)</a:t>
            </a:r>
          </a:p>
        </p:txBody>
      </p:sp>
      <p:sp>
        <p:nvSpPr>
          <p:cNvPr id="51" name="Text 49"/>
          <p:cNvSpPr/>
          <p:nvPr/>
        </p:nvSpPr>
        <p:spPr>
          <a:xfrm>
            <a:off x="829361" y="1623060"/>
            <a:ext cx="35661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Build, buy,</a:t>
            </a:r>
          </a:p>
        </p:txBody>
      </p:sp>
      <p:sp>
        <p:nvSpPr>
          <p:cNvPr id="52" name="Text 50"/>
          <p:cNvSpPr/>
          <p:nvPr/>
        </p:nvSpPr>
        <p:spPr>
          <a:xfrm>
            <a:off x="1502359" y="2115007"/>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bound the rest</a:t>
            </a:r>
          </a:p>
        </p:txBody>
      </p:sp>
      <p:sp>
        <p:nvSpPr>
          <p:cNvPr id="53" name="Shape 51"/>
          <p:cNvSpPr/>
          <p:nvPr/>
        </p:nvSpPr>
        <p:spPr>
          <a:xfrm rot="16200000">
            <a:off x="1089965" y="224028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Shape 52"/>
          <p:cNvSpPr/>
          <p:nvPr/>
        </p:nvSpPr>
        <p:spPr>
          <a:xfrm>
            <a:off x="869594" y="3094330"/>
            <a:ext cx="2743200" cy="325526"/>
          </a:xfrm>
          <a:prstGeom prst="roundRect">
            <a:avLst>
              <a:gd name="adj" fmla="val 50000"/>
            </a:avLst>
          </a:prstGeom>
          <a:solidFill>
            <a:srgbClr val="8A0F1A">
              <a:alpha val="15600"/>
            </a:srgbClr>
          </a:solidFill>
          <a:ln w="6350">
            <a:solidFill>
              <a:srgbClr val="D9B48A"/>
            </a:solidFill>
            <a:prstDash val="solid"/>
          </a:ln>
        </p:spPr>
      </p:sp>
      <p:sp>
        <p:nvSpPr>
          <p:cNvPr id="55" name="Text 53"/>
          <p:cNvSpPr/>
          <p:nvPr/>
        </p:nvSpPr>
        <p:spPr>
          <a:xfrm>
            <a:off x="1181405" y="3129991"/>
            <a:ext cx="2468880" cy="261518"/>
          </a:xfrm>
          <a:prstGeom prst="rect">
            <a:avLst/>
          </a:prstGeom>
          <a:noFill/>
          <a:ln/>
        </p:spPr>
        <p:txBody>
          <a:bodyPr wrap="non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OTel · MCP · A2A · contract</a:t>
            </a:r>
          </a:p>
        </p:txBody>
      </p:sp>
      <p:sp>
        <p:nvSpPr>
          <p:cNvPr id="56" name="Shape 54"/>
          <p:cNvSpPr/>
          <p:nvPr/>
        </p:nvSpPr>
        <p:spPr>
          <a:xfrm rot="19800000">
            <a:off x="1029614" y="3209544"/>
            <a:ext cx="95098" cy="95098"/>
          </a:xfrm>
          <a:prstGeom prst="rect">
            <a:avLst/>
          </a:prstGeom>
          <a:solidFill>
            <a:srgbClr val="CC0000"/>
          </a:solidFill>
          <a:ln/>
        </p:spPr>
      </p:sp>
      <p:sp>
        <p:nvSpPr>
          <p:cNvPr id="57" name="Text 55"/>
          <p:cNvSpPr/>
          <p:nvPr/>
        </p:nvSpPr>
        <p:spPr>
          <a:xfrm>
            <a:off x="869594" y="3577133"/>
            <a:ext cx="3885286" cy="1079906"/>
          </a:xfrm>
          <a:prstGeom prst="rect">
            <a:avLst/>
          </a:prstGeom>
          <a:noFill/>
          <a:ln/>
        </p:spPr>
        <p:txBody>
          <a:bodyPr wrap="square" lIns="91440" tIns="45720" rIns="91440" bIns="45720" rtlCol="0" anchor="t">
            <a:spAutoFit/>
          </a:bodyPr>
          <a:lstStyle/>
          <a:p>
            <a:pPr indent="0" marL="0">
              <a:lnSpc>
                <a:spcPct val="150000"/>
              </a:lnSpc>
              <a:buNone/>
            </a:pPr>
            <a:r>
              <a:rPr lang="en-US" sz="1050" dirty="0">
                <a:solidFill>
                  <a:srgbClr val="F3E6D6"/>
                </a:solidFill>
                <a:latin typeface="Arial" pitchFamily="34" charset="0"/>
                <a:ea typeface="Arial" pitchFamily="34" charset="-122"/>
                <a:cs typeface="Arial" pitchFamily="34" charset="-120"/>
              </a:rPr>
              <a:t>First-party agents are ours end to end, on the Kairos platform. Third-party agents are built or outsourced by external vendors (e.g. CES, Google, CRA) and run for us: we bound them at our MCP and A2A edges; the contract carries the rest.</a:t>
            </a:r>
          </a:p>
        </p:txBody>
      </p:sp>
      <p:sp>
        <p:nvSpPr>
          <p:cNvPr id="58" name="Text 56"/>
          <p:cNvSpPr/>
          <p:nvPr/>
        </p:nvSpPr>
        <p:spPr>
          <a:xfrm>
            <a:off x="869594" y="4846320"/>
            <a:ext cx="3885286" cy="571500"/>
          </a:xfrm>
          <a:prstGeom prst="rect">
            <a:avLst/>
          </a:prstGeom>
          <a:noFill/>
          <a:ln/>
        </p:spPr>
        <p:txBody>
          <a:bodyPr wrap="square" lIns="91440" tIns="45720" rIns="91440" bIns="45720" rtlCol="0" anchor="t">
            <a:spAutoFit/>
          </a:bodyPr>
          <a:lstStyle/>
          <a:p>
            <a:pPr indent="0" marL="0">
              <a:lnSpc>
                <a:spcPct val="150000"/>
              </a:lnSpc>
              <a:buNone/>
            </a:pPr>
            <a:r>
              <a:rPr lang="en-US" sz="950" dirty="0" b="1">
                <a:solidFill>
                  <a:srgbClr val="F5B700"/>
                </a:solidFill>
                <a:latin typeface="Arial" pitchFamily="34" charset="0"/>
                <a:ea typeface="Arial" pitchFamily="34" charset="-122"/>
                <a:cs typeface="Arial" pitchFamily="34" charset="-120"/>
              </a:rPr>
              <a:t>CONTRACT CLAUSES TO REQUIRE (OUR ASSESSMENT)</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1–2  </a:t>
            </a:r>
            <a:r>
              <a:rPr lang="en-US" sz="900" dirty="0">
                <a:solidFill>
                  <a:srgbClr val="F3E6D6"/>
                </a:solidFill>
                <a:latin typeface="Arial" pitchFamily="34" charset="0"/>
                <a:ea typeface="Arial" pitchFamily="34" charset="-122"/>
                <a:cs typeface="Arial" pitchFamily="34" charset="-120"/>
              </a:rPr>
              <a:t>OTLP traces with our join keys · eval evidence per release</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3–4  </a:t>
            </a:r>
            <a:r>
              <a:rPr lang="en-US" sz="900" dirty="0">
                <a:solidFill>
                  <a:srgbClr val="F3E6D6"/>
                </a:solidFill>
                <a:latin typeface="Arial" pitchFamily="34" charset="0"/>
                <a:ea typeface="Arial" pitchFamily="34" charset="-122"/>
                <a:cs typeface="Arial" pitchFamily="34" charset="-120"/>
              </a:rPr>
              <a:t>right to red-team · pause API + incident SLA</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5–6  </a:t>
            </a:r>
            <a:r>
              <a:rPr lang="en-US" sz="900" dirty="0">
                <a:solidFill>
                  <a:srgbClr val="F3E6D6"/>
                </a:solidFill>
                <a:latin typeface="Arial" pitchFamily="34" charset="0"/>
                <a:ea typeface="Arial" pitchFamily="34" charset="-122"/>
                <a:cs typeface="Arial" pitchFamily="34" charset="-120"/>
              </a:rPr>
              <a:t>data residency, no training on our data · identity + scope docs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7–8  </a:t>
            </a:r>
            <a:r>
              <a:rPr lang="en-US" sz="900" dirty="0">
                <a:solidFill>
                  <a:srgbClr val="F3E6D6"/>
                </a:solidFill>
                <a:latin typeface="Arial" pitchFamily="34" charset="0"/>
                <a:ea typeface="Arial" pitchFamily="34" charset="-122"/>
                <a:cs typeface="Arial" pitchFamily="34" charset="-120"/>
              </a:rPr>
              <a:t>A2A / MCP versions + deprecation · exit and IP terms [12]</a:t>
            </a:r>
          </a:p>
        </p:txBody>
      </p:sp>
      <p:sp>
        <p:nvSpPr>
          <p:cNvPr id="59" name="Shape 57"/>
          <p:cNvSpPr/>
          <p:nvPr/>
        </p:nvSpPr>
        <p:spPr>
          <a:xfrm>
            <a:off x="5692140" y="1295705"/>
            <a:ext cx="6048756" cy="1384402"/>
          </a:xfrm>
          <a:prstGeom prst="roundRect">
            <a:avLst>
              <a:gd name="adj" fmla="val 15852"/>
            </a:avLst>
          </a:prstGeom>
          <a:solidFill>
            <a:srgbClr val="F5B700"/>
          </a:solidFill>
          <a:ln/>
        </p:spPr>
      </p:sp>
      <p:sp>
        <p:nvSpPr>
          <p:cNvPr id="60" name="Shape 58"/>
          <p:cNvSpPr/>
          <p:nvPr/>
        </p:nvSpPr>
        <p:spPr>
          <a:xfrm>
            <a:off x="5872277" y="1488643"/>
            <a:ext cx="1189634" cy="374904"/>
          </a:xfrm>
          <a:prstGeom prst="roundRect">
            <a:avLst>
              <a:gd name="adj" fmla="val 50000"/>
            </a:avLst>
          </a:prstGeom>
          <a:solidFill>
            <a:srgbClr val="FFF1CC">
              </a:srgbClr>
          </a:solidFill>
          <a:ln w="6350">
            <a:solidFill>
              <a:srgbClr val="141010"/>
            </a:solidFill>
            <a:prstDash val="solid"/>
          </a:ln>
        </p:spPr>
      </p:sp>
      <p:sp>
        <p:nvSpPr>
          <p:cNvPr id="61" name="Text 59"/>
          <p:cNvSpPr/>
          <p:nvPr/>
        </p:nvSpPr>
        <p:spPr>
          <a:xfrm>
            <a:off x="5800954" y="1488643"/>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Clause 8</a:t>
            </a:r>
          </a:p>
        </p:txBody>
      </p:sp>
      <p:sp>
        <p:nvSpPr>
          <p:cNvPr id="62" name="Text 60"/>
          <p:cNvSpPr/>
          <p:nvPr/>
        </p:nvSpPr>
        <p:spPr>
          <a:xfrm>
            <a:off x="5920740" y="1891894"/>
            <a:ext cx="2011680" cy="585216"/>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70% abandon by 2028</a:t>
            </a:r>
          </a:p>
        </p:txBody>
      </p:sp>
      <p:sp>
        <p:nvSpPr>
          <p:cNvPr id="64" name="Shape 62"/>
          <p:cNvSpPr/>
          <p:nvPr/>
        </p:nvSpPr>
        <p:spPr>
          <a:xfrm>
            <a:off x="5692140" y="2914193"/>
            <a:ext cx="6048756" cy="3127248"/>
          </a:xfrm>
          <a:prstGeom prst="roundRect">
            <a:avLst>
              <a:gd name="adj" fmla="val 11386"/>
            </a:avLst>
          </a:prstGeom>
          <a:ln w="9525">
            <a:solidFill>
              <a:srgbClr val="D9B48A"/>
            </a:solidFill>
            <a:prstDash val="solid"/>
          </a:ln>
        </p:spPr>
      </p:sp>
      <p:sp>
        <p:nvSpPr>
          <p:cNvPr id="65" name="Shape 63"/>
          <p:cNvSpPr/>
          <p:nvPr/>
        </p:nvSpPr>
        <p:spPr>
          <a:xfrm>
            <a:off x="5872277" y="3107131"/>
            <a:ext cx="1189634" cy="374904"/>
          </a:xfrm>
          <a:prstGeom prst="roundRect">
            <a:avLst>
              <a:gd name="adj" fmla="val 50000"/>
            </a:avLst>
          </a:prstGeom>
          <a:solidFill>
            <a:srgbClr val="8A0F1A">
              <a:alpha val="15600"/>
            </a:srgbClr>
          </a:solidFill>
          <a:ln w="6350">
            <a:solidFill>
              <a:srgbClr val="D9B48A"/>
            </a:solidFill>
            <a:prstDash val="solid"/>
          </a:ln>
        </p:spPr>
      </p:sp>
      <p:sp>
        <p:nvSpPr>
          <p:cNvPr id="66" name="Text 64"/>
          <p:cNvSpPr/>
          <p:nvPr/>
        </p:nvSpPr>
        <p:spPr>
          <a:xfrm>
            <a:off x="5800954" y="3107131"/>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Control</a:t>
            </a:r>
          </a:p>
        </p:txBody>
      </p:sp>
      <p:sp>
        <p:nvSpPr>
          <p:cNvPr id="67" name="Text 65"/>
          <p:cNvSpPr/>
          <p:nvPr/>
        </p:nvSpPr>
        <p:spPr>
          <a:xfrm>
            <a:off x="7269480" y="3072384"/>
            <a:ext cx="4206240" cy="831190"/>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Full, boundary or none</a:t>
            </a:r>
          </a:p>
        </p:txBody>
      </p:sp>
      <p:sp>
        <p:nvSpPr>
          <p:cNvPr id="73" name="Shape 71"/>
          <p:cNvSpPr/>
          <p:nvPr/>
        </p:nvSpPr>
        <p:spPr>
          <a:xfrm>
            <a:off x="731520" y="6098134"/>
            <a:ext cx="10967314" cy="0"/>
          </a:xfrm>
          <a:prstGeom prst="line">
            <a:avLst/>
          </a:prstGeom>
          <a:noFill/>
          <a:ln w="12700">
            <a:solidFill>
              <a:srgbClr val="D9B48A"/>
            </a:solidFill>
            <a:prstDash val="solid"/>
            <a:tailEnd type="triangle"/>
          </a:ln>
        </p:spPr>
      </p:sp>
      <p:sp>
        <p:nvSpPr>
          <p:cNvPr id="110" name="v2 110"/>
          <p:cNvSpPr/>
          <p:nvPr/>
        </p:nvSpPr>
        <p:spPr>
          <a:xfrm>
            <a:off x="8092440" y="1463040"/>
            <a:ext cx="3520440" cy="1097280"/>
          </a:xfrm>
          <a:prstGeom prst="rect">
            <a:avLst/>
          </a:prstGeom>
          <a:noFill/>
          <a:ln>
            <a:noFill/>
          </a:ln>
        </p:spPr>
        <p:txBody>
          <a:bodyPr wrap="square" lIns="0" tIns="0" rIns="0" bIns="0" rtlCol="0" anchor="ctr">
            <a:noAutofit/>
          </a:bodyPr>
          <a:lstStyle/>
          <a:p>
            <a:pPr algn="l" marL="0" indent="0">
              <a:lnSpc>
                <a:spcPct val="105000"/>
              </a:lnSpc>
              <a:buNone/>
            </a:pPr>
            <a:r>
              <a:rPr lang="en-US" sz="1000" b="1" dirty="0">
                <a:solidFill>
                  <a:srgbClr val="141010"/>
                </a:solidFill>
                <a:latin typeface="Arial"/>
                <a:ea typeface="Arial"/>
                <a:cs typeface="Arial"/>
              </a:rPr>
              <a:t>Why exit terms matter (Gartner)</a:t>
            </a:r>
          </a:p>
          <a:p>
            <a:pPr algn="l" marL="0" indent="0">
              <a:lnSpc>
                <a:spcPct val="105000"/>
              </a:lnSpc>
              <a:buNone/>
            </a:pPr>
            <a:r>
              <a:rPr lang="en-US" sz="900" dirty="0">
                <a:solidFill>
                  <a:srgbClr val="141010"/>
                </a:solidFill>
                <a:latin typeface="Arial"/>
                <a:ea typeface="Arial"/>
                <a:cs typeface="Arial"/>
              </a:rPr>
              <a:t>70% of enterprises will abandon agentic AI built by vendor forward-deployed engineering by 2028. Set governance, ownership, knowledge transfer and exit terms from day one [12].</a:t>
            </a:r>
          </a:p>
          <a:p>
            <a:pPr algn="l" marL="0" indent="0">
              <a:lnSpc>
                <a:spcPct val="105000"/>
              </a:lnSpc>
              <a:buNone/>
            </a:pPr>
            <a:r>
              <a:rPr lang="en-US" sz="900" b="1" dirty="0">
                <a:solidFill>
                  <a:srgbClr val="141010"/>
                </a:solidFill>
                <a:latin typeface="Arial"/>
                <a:ea typeface="Arial"/>
                <a:cs typeface="Arial"/>
              </a:rPr>
              <a:t>Third-party integration: OTel export · our MCP gateway · A2A edge · contract</a:t>
            </a:r>
          </a:p>
        </p:txBody>
      </p:sp>
      <p:graphicFrame>
        <p:nvGraphicFramePr>
          <p:cNvPr id="300" name="Risk tier heatmap table"/>
          <p:cNvGraphicFramePr>
            <a:graphicFrameLocks noGrp="1"/>
          </p:cNvGraphicFramePr>
          <p:nvPr/>
        </p:nvGraphicFramePr>
        <p:xfrm>
          <a:off x="5897880" y="3529584"/>
          <a:ext cx="5669280" cy="2491740"/>
        </p:xfrm>
        <a:graphic>
          <a:graphicData uri="http://schemas.openxmlformats.org/drawingml/2006/table">
            <a:tbl>
              <a:tblPr/>
              <a:tblGrid>
                <a:gridCol w="1298448"/>
                <a:gridCol w="868680"/>
                <a:gridCol w="36576"/>
                <a:gridCol w="1188720"/>
                <a:gridCol w="36576"/>
                <a:gridCol w="2240280"/>
              </a:tblGrid>
              <a:tr h="237744">
                <a:tc>
                  <a:txBody>
                    <a:bodyPr/>
                    <a:lstStyle/>
                    <a:p>
                      <a:pPr algn="l" marL="0" indent="0">
                        <a:buNone/>
                      </a:pPr>
                      <a:r>
                        <a:rPr lang="en-US" sz="850" dirty="0">
                          <a:solidFill>
                            <a:srgbClr val="F3E6D6"/>
                          </a:solidFill>
                          <a:latin typeface="Arial"/>
                          <a:ea typeface="Arial"/>
                          <a:cs typeface="Arial"/>
                        </a:rPr>
                        <a:t>Surface</a:t>
                      </a:r>
                    </a:p>
                  </a:txBody>
                  <a:tcPr marL="0" marR="0" marT="0" marB="0" anchor="ctr">
                    <a:lnL w="0">
                      <a:noFill/>
                    </a:lnL>
                    <a:lnR w="0">
                      <a:noFill/>
                    </a:lnR>
                    <a:lnT w="0">
                      <a:noFill/>
                    </a:lnT>
                    <a:lnB w="9525">
                      <a:solidFill>
                        <a:srgbClr val="A0704A"/>
                      </a:solidFill>
                    </a:lnB>
                    <a:noFill/>
                  </a:tcPr>
                </a:tc>
                <a:tc>
                  <a:txBody>
                    <a:bodyPr/>
                    <a:lstStyle/>
                    <a:p>
                      <a:pPr algn="ctr" marL="0" indent="0">
                        <a:buNone/>
                      </a:pPr>
                      <a:r>
                        <a:rPr lang="en-US" sz="850" dirty="0">
                          <a:solidFill>
                            <a:srgbClr val="F3E6D6"/>
                          </a:solidFill>
                          <a:latin typeface="Arial"/>
                          <a:ea typeface="Arial"/>
                          <a:cs typeface="Arial"/>
                        </a:rPr>
                        <a:t>First-party</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50" dirty="0">
                          <a:solidFill>
                            <a:srgbClr val="F3E6D6"/>
                          </a:solidFill>
                          <a:latin typeface="Arial"/>
                          <a:ea typeface="Arial"/>
                          <a:cs typeface="Arial"/>
                        </a:rPr>
                        <a:t>Third-party</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50" dirty="0">
                          <a:solidFill>
                            <a:srgbClr val="F3E6D6"/>
                          </a:solidFill>
                          <a:latin typeface="Arial"/>
                          <a:ea typeface="Arial"/>
                          <a:cs typeface="Arial"/>
                        </a:rPr>
                        <a:t>How we integrate</a:t>
                      </a:r>
                    </a:p>
                  </a:txBody>
                  <a:tcPr marL="0" marR="0" marT="0" marB="0" anchor="ctr">
                    <a:lnL w="0">
                      <a:noFill/>
                    </a:lnL>
                    <a:lnR w="0">
                      <a:noFill/>
                    </a:lnR>
                    <a:lnT w="0">
                      <a:noFill/>
                    </a:lnT>
                    <a:lnB w="9525">
                      <a:solidFill>
                        <a:srgbClr val="A0704A"/>
                      </a:solidFill>
                    </a:lnB>
                    <a:noFill/>
                  </a:tcPr>
                </a:tc>
              </a:tr>
              <a:tr h="182880">
                <a:tc>
                  <a:txBody>
                    <a:bodyPr/>
                    <a:lstStyle/>
                    <a:p>
                      <a:pPr algn="l" marL="0" indent="0">
                        <a:buNone/>
                      </a:pPr>
                      <a:r>
                        <a:rPr lang="en-US" sz="850" dirty="0">
                          <a:solidFill>
                            <a:srgbClr val="FFFFFF"/>
                          </a:solidFill>
                          <a:latin typeface="Arial"/>
                          <a:ea typeface="Arial"/>
                          <a:cs typeface="Arial"/>
                        </a:rPr>
                        <a:t>Identity</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Partial: OAuth scopes</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IdP federation; scoped OAuth</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Model / prompts / harness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FFFFF"/>
                          </a:solidFill>
                          <a:latin typeface="Arial"/>
                          <a:ea typeface="Arial"/>
                          <a:cs typeface="Arial"/>
                        </a:rPr>
                        <a:t>None</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contract; BYO-LLM where offered</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Tools / data access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Yes, for our tools</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MCP gateway AuthPolicy, default off</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Inter-agent calls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Boundary only</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A2A policy point; signed cards [28]</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Runtime control</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Boundary only</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gateway policy; vendor pause [33]</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Observability</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Partial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OTel export / pull API [31][32]</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Eval / simulation</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Black box</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our persona sims at the endpoint</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Red team</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Black box</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contract right to test</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Harness optimisation</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FFFFF"/>
                          </a:solidFill>
                          <a:latin typeface="Arial"/>
                          <a:ea typeface="Arial"/>
                          <a:cs typeface="Arial"/>
                        </a:rPr>
                        <a:t>None</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findings to the vendor</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Governance / retire</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Inventory + revoke</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registry entry with vendor</a:t>
                      </a:r>
                    </a:p>
                  </a:txBody>
                  <a:tcPr marL="0" marR="0" marT="0" marB="0" anchor="ctr">
                    <a:lnL w="0">
                      <a:noFill/>
                    </a:lnL>
                    <a:lnR w="9525">
                      <a:solidFill>
                        <a:srgbClr val="A0704A"/>
                      </a:solidFill>
                    </a:lnR>
                    <a:lnT w="0">
                      <a:noFill/>
                    </a:lnT>
                    <a:lnB w="0">
                      <a:noFill/>
                    </a:lnB>
                    <a:noFill/>
                  </a:tcPr>
                </a:tc>
              </a:tr>
            </a:tbl>
          </a:graphicData>
        </a:graphic>
      </p:graphicFrame>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15 / 17</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P3 Back-office workflow</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Skeleton</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first</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Where the steps are known, use a workflow, not an open-ended agent [23][25]. Eval checks the final state [22]; the main controls are tool scopes and approvals tiered by reversibility [20].</a:t>
            </a:r>
          </a:p>
        </p:txBody>
      </p:sp>
      <p:sp>
        <p:nvSpPr>
          <p:cNvPr id="56" name="Text 54"/>
          <p:cNvSpPr/>
          <p:nvPr/>
        </p:nvSpPr>
        <p:spPr>
          <a:xfrm>
            <a:off x="689458" y="489204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Vendor-built agents act on our systems only through our MCP tools. Their workflow logic stays theirs.</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sp>
      <p:sp>
        <p:nvSpPr>
          <p:cNvPr id="167" name="g2 167"/>
          <p:cNvSpPr/>
          <p:nvPr/>
        </p:nvSpPr>
        <p:spPr>
          <a:xfrm>
            <a:off x="3749040" y="1243584"/>
            <a:ext cx="39776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deterministic skeleton, agentic steps</a:t>
            </a:r>
          </a:p>
        </p:txBody>
      </p:sp>
      <p:sp>
        <p:nvSpPr>
          <p:cNvPr id="168" name="g2 168"/>
          <p:cNvSpPr/>
          <p:nvPr/>
        </p:nvSpPr>
        <p:spPr>
          <a:xfrm>
            <a:off x="8001000" y="1243584"/>
            <a:ext cx="21488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169" name="g2 169"/>
          <p:cNvSpPr/>
          <p:nvPr/>
        </p:nvSpPr>
        <p:spPr>
          <a:xfrm>
            <a:off x="10195560" y="1243584"/>
            <a:ext cx="173736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170" name="g2 170"/>
          <p:cNvSpPr/>
          <p:nvPr/>
        </p:nvSpPr>
        <p:spPr>
          <a:xfrm>
            <a:off x="3749040" y="146304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Workflow skeleton</a:t>
            </a:r>
          </a:p>
          <a:p>
            <a:pPr algn="l" marL="0" indent="0">
              <a:lnSpc>
                <a:spcPct val="100000"/>
              </a:lnSpc>
              <a:buNone/>
            </a:pPr>
            <a:r>
              <a:rPr lang="en-US" sz="800" dirty="0">
                <a:solidFill>
                  <a:srgbClr val="F3E6D6"/>
                </a:solidFill>
                <a:latin typeface="Arial"/>
                <a:ea typeface="Arial"/>
                <a:cs typeface="Arial"/>
              </a:rPr>
              <a:t>Strands / LangGraph graph · case ID on every span</a:t>
            </a:r>
          </a:p>
        </p:txBody>
      </p:sp>
      <p:sp>
        <p:nvSpPr>
          <p:cNvPr id="171" name="g2 171"/>
          <p:cNvSpPr/>
          <p:nvPr/>
        </p:nvSpPr>
        <p:spPr>
          <a:xfrm>
            <a:off x="3749040" y="251460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Agentic step</a:t>
            </a:r>
          </a:p>
          <a:p>
            <a:pPr algn="l" marL="0" indent="0">
              <a:lnSpc>
                <a:spcPct val="100000"/>
              </a:lnSpc>
              <a:buNone/>
            </a:pPr>
            <a:r>
              <a:rPr lang="en-US" sz="800" dirty="0">
                <a:solidFill>
                  <a:srgbClr val="F3E6D6"/>
                </a:solidFill>
                <a:latin typeface="Arial"/>
                <a:ea typeface="Arial"/>
                <a:cs typeface="Arial"/>
              </a:rPr>
              <a:t>only where needed · GEPA tunes prompts + tool text</a:t>
            </a:r>
          </a:p>
        </p:txBody>
      </p:sp>
      <p:sp>
        <p:nvSpPr>
          <p:cNvPr id="172" name="g2 172"/>
          <p:cNvSpPr/>
          <p:nvPr/>
        </p:nvSpPr>
        <p:spPr>
          <a:xfrm>
            <a:off x="3749040" y="356616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End-state verifier</a:t>
            </a:r>
          </a:p>
          <a:p>
            <a:pPr algn="l" marL="0" indent="0">
              <a:lnSpc>
                <a:spcPct val="100000"/>
              </a:lnSpc>
              <a:buNone/>
            </a:pPr>
            <a:r>
              <a:rPr lang="en-US" sz="800" dirty="0">
                <a:solidFill>
                  <a:srgbClr val="F3E6D6"/>
                </a:solidFill>
                <a:latin typeface="Arial"/>
                <a:ea typeface="Arial"/>
                <a:cs typeface="Arial"/>
              </a:rPr>
              <a:t>case-level, in simulation and production</a:t>
            </a:r>
          </a:p>
        </p:txBody>
      </p:sp>
      <p:sp>
        <p:nvSpPr>
          <p:cNvPr id="173" name="g2 173"/>
          <p:cNvSpPr/>
          <p:nvPr/>
        </p:nvSpPr>
        <p:spPr>
          <a:xfrm>
            <a:off x="5806440" y="146304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HITL by reversibility</a:t>
            </a:r>
          </a:p>
          <a:p>
            <a:pPr algn="l" marL="0" indent="0">
              <a:lnSpc>
                <a:spcPct val="100000"/>
              </a:lnSpc>
              <a:buNone/>
            </a:pPr>
            <a:r>
              <a:rPr lang="en-US" sz="800" dirty="0">
                <a:solidFill>
                  <a:srgbClr val="F3E6D6"/>
                </a:solidFill>
                <a:latin typeface="Arial"/>
                <a:ea typeface="Arial"/>
                <a:cs typeface="Arial"/>
              </a:rPr>
              <a:t>irreversible actions only; approval summarised from tool calls</a:t>
            </a:r>
          </a:p>
        </p:txBody>
      </p:sp>
      <p:sp>
        <p:nvSpPr>
          <p:cNvPr id="174" name="g2 174"/>
          <p:cNvSpPr/>
          <p:nvPr/>
        </p:nvSpPr>
        <p:spPr>
          <a:xfrm>
            <a:off x="5806440" y="251460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MCP gateway + Cedar / OPA</a:t>
            </a:r>
          </a:p>
          <a:p>
            <a:pPr algn="l" marL="0" indent="0">
              <a:lnSpc>
                <a:spcPct val="100000"/>
              </a:lnSpc>
              <a:buNone/>
            </a:pPr>
            <a:r>
              <a:rPr lang="en-US" sz="800" dirty="0">
                <a:solidFill>
                  <a:srgbClr val="F3E6D6"/>
                </a:solidFill>
                <a:latin typeface="Arial"/>
                <a:ea typeface="Arial"/>
                <a:cs typeface="Arial"/>
              </a:rPr>
              <a:t>scopes per tool · idempotency keys</a:t>
            </a:r>
          </a:p>
        </p:txBody>
      </p:sp>
      <p:sp>
        <p:nvSpPr>
          <p:cNvPr id="175" name="g2 175"/>
          <p:cNvSpPr/>
          <p:nvPr/>
        </p:nvSpPr>
        <p:spPr>
          <a:xfrm>
            <a:off x="5806440" y="356616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Systems of record</a:t>
            </a:r>
          </a:p>
          <a:p>
            <a:pPr algn="l" marL="0" indent="0">
              <a:lnSpc>
                <a:spcPct val="100000"/>
              </a:lnSpc>
              <a:buNone/>
            </a:pPr>
            <a:r>
              <a:rPr lang="en-US" sz="800" dirty="0">
                <a:solidFill>
                  <a:srgbClr val="F3E6D6"/>
                </a:solidFill>
                <a:latin typeface="Arial"/>
                <a:ea typeface="Arial"/>
                <a:cs typeface="Arial"/>
              </a:rPr>
              <a:t>orders · billing · contracts · audit trail to SIEM</a:t>
            </a:r>
          </a:p>
        </p:txBody>
      </p:sp>
      <p:sp>
        <p:nvSpPr>
          <p:cNvPr id="176" name="g2 176"/>
          <p:cNvSpPr/>
          <p:nvPr/>
        </p:nvSpPr>
        <p:spPr>
          <a:xfrm>
            <a:off x="8001000" y="1463040"/>
            <a:ext cx="1920240" cy="7315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Vendor-built workflow agents</a:t>
            </a:r>
          </a:p>
          <a:p>
            <a:pPr algn="l" marL="0" indent="0">
              <a:lnSpc>
                <a:spcPct val="100000"/>
              </a:lnSpc>
              <a:buNone/>
            </a:pPr>
            <a:r>
              <a:rPr lang="en-US" sz="800" dirty="0">
                <a:solidFill>
                  <a:srgbClr val="F3E6D6"/>
                </a:solidFill>
                <a:latin typeface="Arial"/>
                <a:ea typeface="Arial"/>
                <a:cs typeface="Arial"/>
              </a:rPr>
              <a:t>e.g. CES, Google, CRA; their logic, not ours</a:t>
            </a:r>
          </a:p>
        </p:txBody>
      </p:sp>
      <p:sp>
        <p:nvSpPr>
          <p:cNvPr id="177" name="g2 177"/>
          <p:cNvSpPr/>
          <p:nvPr/>
        </p:nvSpPr>
        <p:spPr>
          <a:xfrm>
            <a:off x="8001000" y="251460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Our MCP tools they call</a:t>
            </a:r>
          </a:p>
          <a:p>
            <a:pPr algn="l" marL="0" indent="0">
              <a:lnSpc>
                <a:spcPct val="100000"/>
              </a:lnSpc>
              <a:buNone/>
            </a:pPr>
            <a:r>
              <a:rPr lang="en-US" sz="800" dirty="0">
                <a:solidFill>
                  <a:srgbClr val="F3E6D6"/>
                </a:solidFill>
                <a:latin typeface="Arial"/>
                <a:ea typeface="Arial"/>
                <a:cs typeface="Arial"/>
              </a:rPr>
              <a:t>scopes · rate limits · masking · service accounts</a:t>
            </a:r>
          </a:p>
        </p:txBody>
      </p:sp>
      <p:sp>
        <p:nvSpPr>
          <p:cNvPr id="178" name="g2 178"/>
          <p:cNvSpPr/>
          <p:nvPr/>
        </p:nvSpPr>
        <p:spPr>
          <a:xfrm>
            <a:off x="8001000" y="3566160"/>
            <a:ext cx="1920240" cy="7315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AI Control Tower</a:t>
            </a:r>
          </a:p>
          <a:p>
            <a:pPr algn="l" marL="0" indent="0">
              <a:lnSpc>
                <a:spcPct val="100000"/>
              </a:lnSpc>
              <a:buNone/>
            </a:pPr>
            <a:r>
              <a:rPr lang="en-US" sz="800" dirty="0">
                <a:solidFill>
                  <a:srgbClr val="F3E6D6"/>
                </a:solidFill>
                <a:latin typeface="Arial"/>
                <a:ea typeface="Arial"/>
                <a:cs typeface="Arial"/>
              </a:rPr>
              <a:t>approve, pause, audit MCP [33]; registry syncs, not duplicates</a:t>
            </a:r>
          </a:p>
        </p:txBody>
      </p:sp>
      <p:sp>
        <p:nvSpPr>
          <p:cNvPr id="179" name="g2 179"/>
          <p:cNvSpPr/>
          <p:nvPr/>
        </p:nvSpPr>
        <p:spPr>
          <a:xfrm>
            <a:off x="10195560" y="146304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Verifier library</a:t>
            </a:r>
          </a:p>
          <a:p>
            <a:pPr algn="l" marL="0" indent="0">
              <a:lnSpc>
                <a:spcPct val="100000"/>
              </a:lnSpc>
              <a:buNone/>
            </a:pPr>
            <a:r>
              <a:rPr lang="en-US" sz="800" dirty="0">
                <a:solidFill>
                  <a:srgbClr val="141010"/>
                </a:solidFill>
                <a:latin typeface="Arial"/>
                <a:ea typeface="Arial"/>
                <a:cs typeface="Arial"/>
              </a:rPr>
              <a:t>reusable case-level end-state checks</a:t>
            </a:r>
          </a:p>
        </p:txBody>
      </p:sp>
      <p:sp>
        <p:nvSpPr>
          <p:cNvPr id="180" name="g2 180"/>
          <p:cNvSpPr/>
          <p:nvPr/>
        </p:nvSpPr>
        <p:spPr>
          <a:xfrm>
            <a:off x="10195560" y="251460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Reversibility metadata</a:t>
            </a:r>
          </a:p>
          <a:p>
            <a:pPr algn="l" marL="0" indent="0">
              <a:lnSpc>
                <a:spcPct val="100000"/>
              </a:lnSpc>
              <a:buNone/>
            </a:pPr>
            <a:r>
              <a:rPr lang="en-US" sz="800" dirty="0">
                <a:solidFill>
                  <a:srgbClr val="141010"/>
                </a:solidFill>
                <a:latin typeface="Arial"/>
                <a:ea typeface="Arial"/>
                <a:cs typeface="Arial"/>
              </a:rPr>
              <a:t>on every tool, to drive tiered HITL</a:t>
            </a:r>
          </a:p>
        </p:txBody>
      </p:sp>
      <p:sp>
        <p:nvSpPr>
          <p:cNvPr id="181" name="g2 181"/>
          <p:cNvSpPr/>
          <p:nvPr/>
        </p:nvSpPr>
        <p:spPr>
          <a:xfrm>
            <a:off x="10195560" y="356616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Third-party inventory</a:t>
            </a:r>
          </a:p>
          <a:p>
            <a:pPr algn="l" marL="0" indent="0">
              <a:lnSpc>
                <a:spcPct val="100000"/>
              </a:lnSpc>
              <a:buNone/>
            </a:pPr>
            <a:r>
              <a:rPr lang="en-US" sz="800" dirty="0">
                <a:solidFill>
                  <a:srgbClr val="141010"/>
                </a:solidFill>
                <a:latin typeface="Arial"/>
                <a:ea typeface="Arial"/>
                <a:cs typeface="Arial"/>
              </a:rPr>
              <a:t>ServiceNow / Agentforce / Agent 365 feed into our registry</a:t>
            </a:r>
          </a:p>
        </p:txBody>
      </p:sp>
      <p:cxnSp>
        <p:nvCxnSpPr>
          <p:cNvPr id="182" name="g2 flow 182"/>
          <p:cNvCxnSpPr/>
          <p:nvPr/>
        </p:nvCxnSpPr>
        <p:spPr>
          <a:xfrm>
            <a:off x="4640580" y="2194560"/>
            <a:ext cx="0" cy="320040"/>
          </a:xfrm>
          <a:prstGeom prst="line">
            <a:avLst/>
          </a:prstGeom>
          <a:ln w="12700">
            <a:solidFill>
              <a:srgbClr val="EE0000"/>
            </a:solidFill>
            <a:tailEnd type="triangle" w="med" len="med"/>
          </a:ln>
        </p:spPr>
      </p:cxnSp>
      <p:cxnSp>
        <p:nvCxnSpPr>
          <p:cNvPr id="183" name="g2 flow 183"/>
          <p:cNvCxnSpPr/>
          <p:nvPr/>
        </p:nvCxnSpPr>
        <p:spPr>
          <a:xfrm>
            <a:off x="5532120" y="2990088"/>
            <a:ext cx="274320" cy="0"/>
          </a:xfrm>
          <a:prstGeom prst="line">
            <a:avLst/>
          </a:prstGeom>
          <a:ln w="12700">
            <a:solidFill>
              <a:srgbClr val="EE0000"/>
            </a:solidFill>
            <a:tailEnd type="triangle" w="med" len="med"/>
          </a:ln>
        </p:spPr>
      </p:cxnSp>
      <p:cxnSp>
        <p:nvCxnSpPr>
          <p:cNvPr id="184" name="g2 flow 184"/>
          <p:cNvCxnSpPr/>
          <p:nvPr/>
        </p:nvCxnSpPr>
        <p:spPr>
          <a:xfrm flipV="1">
            <a:off x="5303520" y="2350008"/>
            <a:ext cx="0" cy="164592"/>
          </a:xfrm>
          <a:prstGeom prst="line">
            <a:avLst/>
          </a:prstGeom>
          <a:ln w="12700">
            <a:solidFill>
              <a:srgbClr val="EE0000"/>
            </a:solidFill>
          </a:ln>
        </p:spPr>
      </p:cxnSp>
      <p:cxnSp>
        <p:nvCxnSpPr>
          <p:cNvPr id="185" name="g2 flow 185"/>
          <p:cNvCxnSpPr/>
          <p:nvPr/>
        </p:nvCxnSpPr>
        <p:spPr>
          <a:xfrm>
            <a:off x="5303520" y="2350008"/>
            <a:ext cx="365760" cy="0"/>
          </a:xfrm>
          <a:prstGeom prst="line">
            <a:avLst/>
          </a:prstGeom>
          <a:ln w="12700">
            <a:solidFill>
              <a:srgbClr val="EE0000"/>
            </a:solidFill>
          </a:ln>
        </p:spPr>
      </p:cxnSp>
      <p:cxnSp>
        <p:nvCxnSpPr>
          <p:cNvPr id="186" name="g2 flow 186"/>
          <p:cNvCxnSpPr/>
          <p:nvPr/>
        </p:nvCxnSpPr>
        <p:spPr>
          <a:xfrm flipV="1">
            <a:off x="5669280" y="1828800"/>
            <a:ext cx="0" cy="521208"/>
          </a:xfrm>
          <a:prstGeom prst="line">
            <a:avLst/>
          </a:prstGeom>
          <a:ln w="12700">
            <a:solidFill>
              <a:srgbClr val="EE0000"/>
            </a:solidFill>
          </a:ln>
        </p:spPr>
      </p:cxnSp>
      <p:cxnSp>
        <p:nvCxnSpPr>
          <p:cNvPr id="187" name="g2 flow 187"/>
          <p:cNvCxnSpPr/>
          <p:nvPr/>
        </p:nvCxnSpPr>
        <p:spPr>
          <a:xfrm>
            <a:off x="5669280" y="1828800"/>
            <a:ext cx="137160" cy="0"/>
          </a:xfrm>
          <a:prstGeom prst="line">
            <a:avLst/>
          </a:prstGeom>
          <a:ln w="12700">
            <a:solidFill>
              <a:srgbClr val="EE0000"/>
            </a:solidFill>
            <a:tailEnd type="triangle" w="med" len="med"/>
          </a:ln>
        </p:spPr>
      </p:cxnSp>
      <p:cxnSp>
        <p:nvCxnSpPr>
          <p:cNvPr id="188" name="g2 flow 188"/>
          <p:cNvCxnSpPr/>
          <p:nvPr/>
        </p:nvCxnSpPr>
        <p:spPr>
          <a:xfrm>
            <a:off x="6766560" y="2194560"/>
            <a:ext cx="0" cy="320040"/>
          </a:xfrm>
          <a:prstGeom prst="line">
            <a:avLst/>
          </a:prstGeom>
          <a:ln w="12700">
            <a:solidFill>
              <a:srgbClr val="EE0000"/>
            </a:solidFill>
            <a:tailEnd type="triangle" w="med" len="med"/>
          </a:ln>
        </p:spPr>
      </p:cxnSp>
      <p:cxnSp>
        <p:nvCxnSpPr>
          <p:cNvPr id="189" name="g2 flow 189"/>
          <p:cNvCxnSpPr/>
          <p:nvPr/>
        </p:nvCxnSpPr>
        <p:spPr>
          <a:xfrm>
            <a:off x="6766560" y="3246120"/>
            <a:ext cx="0" cy="320040"/>
          </a:xfrm>
          <a:prstGeom prst="line">
            <a:avLst/>
          </a:prstGeom>
          <a:ln w="12700">
            <a:solidFill>
              <a:srgbClr val="EE0000"/>
            </a:solidFill>
            <a:tailEnd type="triangle" w="med" len="med"/>
          </a:ln>
        </p:spPr>
      </p:cxnSp>
      <p:cxnSp>
        <p:nvCxnSpPr>
          <p:cNvPr id="190" name="g2 flow 190"/>
          <p:cNvCxnSpPr/>
          <p:nvPr/>
        </p:nvCxnSpPr>
        <p:spPr>
          <a:xfrm flipH="1">
            <a:off x="5532120" y="3931920"/>
            <a:ext cx="274320" cy="0"/>
          </a:xfrm>
          <a:prstGeom prst="line">
            <a:avLst/>
          </a:prstGeom>
          <a:ln w="12700">
            <a:solidFill>
              <a:srgbClr val="EE0000"/>
            </a:solidFill>
            <a:tailEnd type="triangle" w="med" len="med"/>
          </a:ln>
        </p:spPr>
      </p:cxnSp>
      <p:cxnSp>
        <p:nvCxnSpPr>
          <p:cNvPr id="191" name="g2 flow 191"/>
          <p:cNvCxnSpPr/>
          <p:nvPr/>
        </p:nvCxnSpPr>
        <p:spPr>
          <a:xfrm>
            <a:off x="8961120" y="2194560"/>
            <a:ext cx="0" cy="320040"/>
          </a:xfrm>
          <a:prstGeom prst="line">
            <a:avLst/>
          </a:prstGeom>
          <a:ln w="12700">
            <a:solidFill>
              <a:srgbClr val="EE0000"/>
            </a:solidFill>
            <a:tailEnd type="triangle" w="med" len="med"/>
          </a:ln>
        </p:spPr>
      </p:cxnSp>
      <p:cxnSp>
        <p:nvCxnSpPr>
          <p:cNvPr id="192" name="g2 flow 192"/>
          <p:cNvCxnSpPr/>
          <p:nvPr/>
        </p:nvCxnSpPr>
        <p:spPr>
          <a:xfrm flipH="1">
            <a:off x="7726680" y="2880360"/>
            <a:ext cx="274320" cy="0"/>
          </a:xfrm>
          <a:prstGeom prst="line">
            <a:avLst/>
          </a:prstGeom>
          <a:ln w="12700">
            <a:solidFill>
              <a:srgbClr val="EE0000"/>
            </a:solidFill>
            <a:tailEnd type="triangle" w="med" len="med"/>
          </a:ln>
        </p:spPr>
      </p:cxnSp>
      <p:cxnSp>
        <p:nvCxnSpPr>
          <p:cNvPr id="193" name="g2 flow 193"/>
          <p:cNvCxnSpPr/>
          <p:nvPr/>
        </p:nvCxnSpPr>
        <p:spPr>
          <a:xfrm flipV="1">
            <a:off x="8961120" y="3246120"/>
            <a:ext cx="0" cy="320040"/>
          </a:xfrm>
          <a:prstGeom prst="line">
            <a:avLst/>
          </a:prstGeom>
          <a:ln w="12700">
            <a:solidFill>
              <a:srgbClr val="EE0000"/>
            </a:solidFill>
            <a:tailEnd type="triangle" w="med" len="med"/>
          </a:ln>
        </p:spPr>
      </p:cxnSp>
      <p:cxnSp>
        <p:nvCxnSpPr>
          <p:cNvPr id="194" name="g2 flow 194"/>
          <p:cNvCxnSpPr/>
          <p:nvPr/>
        </p:nvCxnSpPr>
        <p:spPr>
          <a:xfrm>
            <a:off x="9921240" y="1828800"/>
            <a:ext cx="274320" cy="0"/>
          </a:xfrm>
          <a:prstGeom prst="line">
            <a:avLst/>
          </a:prstGeom>
          <a:ln w="12700">
            <a:solidFill>
              <a:srgbClr val="EE0000"/>
            </a:solidFill>
            <a:prstDash val="dash"/>
            <a:tailEnd type="triangle" w="med" len="med"/>
          </a:ln>
        </p:spPr>
      </p:cxnSp>
      <p:cxnSp>
        <p:nvCxnSpPr>
          <p:cNvPr id="195" name="g2 flow 195"/>
          <p:cNvCxnSpPr/>
          <p:nvPr/>
        </p:nvCxnSpPr>
        <p:spPr>
          <a:xfrm>
            <a:off x="9921240" y="2880360"/>
            <a:ext cx="274320" cy="0"/>
          </a:xfrm>
          <a:prstGeom prst="line">
            <a:avLst/>
          </a:prstGeom>
          <a:ln w="12700">
            <a:solidFill>
              <a:srgbClr val="EE0000"/>
            </a:solidFill>
            <a:prstDash val="dash"/>
            <a:tailEnd type="triangle" w="med" len="med"/>
          </a:ln>
        </p:spPr>
      </p:cxnSp>
      <p:cxnSp>
        <p:nvCxnSpPr>
          <p:cNvPr id="196" name="g2 flow 196"/>
          <p:cNvCxnSpPr/>
          <p:nvPr/>
        </p:nvCxnSpPr>
        <p:spPr>
          <a:xfrm>
            <a:off x="9921240" y="3931920"/>
            <a:ext cx="274320" cy="0"/>
          </a:xfrm>
          <a:prstGeom prst="line">
            <a:avLst/>
          </a:prstGeom>
          <a:ln w="12700">
            <a:solidFill>
              <a:srgbClr val="EE0000"/>
            </a:solidFill>
            <a:prstDash val="dash"/>
            <a:tailEnd type="triangle" w="med" len="med"/>
          </a:ln>
        </p:spPr>
      </p:cxnSp>
      <p:sp>
        <p:nvSpPr>
          <p:cNvPr id="197" name="g2 197"/>
          <p:cNvSpPr/>
          <p:nvPr/>
        </p:nvSpPr>
        <p:spPr>
          <a:xfrm>
            <a:off x="3749040" y="4553712"/>
            <a:ext cx="8183880" cy="502920"/>
          </a:xfrm>
          <a:prstGeom prst="roundRect">
            <a:avLst>
              <a:gd name="adj" fmla="val 12000"/>
            </a:avLst>
          </a:prstGeom>
          <a:solidFill>
            <a:srgbClr val="2A1A16"/>
          </a:solidFill>
          <a:ln w="9525">
            <a:solidFill>
              <a:srgbClr val="A0704A"/>
            </a:solidFill>
          </a:ln>
        </p:spPr>
        <p:txBody>
          <a:bodyPr wrap="square" lIns="91440" tIns="27432" rIns="91440" bIns="27432" rtlCol="0" anchor="ctr">
            <a:noAutofit/>
          </a:bodyPr>
          <a:lstStyle/>
          <a:p>
            <a:pPr algn="l" marL="0" indent="0">
              <a:lnSpc>
                <a:spcPct val="100000"/>
              </a:lnSpc>
              <a:buNone/>
            </a:pPr>
            <a:r>
              <a:rPr lang="en-US" sz="1000" b="1" dirty="0">
                <a:solidFill>
                  <a:srgbClr val="FFFFFF"/>
                </a:solidFill>
                <a:latin typeface="Arial"/>
                <a:ea typeface="Arial"/>
                <a:cs typeface="Arial"/>
              </a:rPr>
              <a:t>Why it matters (Gartner)</a:t>
            </a:r>
          </a:p>
          <a:p>
            <a:pPr algn="l" marL="0" indent="0">
              <a:lnSpc>
                <a:spcPct val="100000"/>
              </a:lnSpc>
              <a:buNone/>
            </a:pPr>
            <a:r>
              <a:rPr lang="en-US" sz="850" dirty="0">
                <a:solidFill>
                  <a:srgbClr val="F3E6D6"/>
                </a:solidFill>
                <a:latin typeface="Arial"/>
                <a:ea typeface="Arial"/>
                <a:cs typeface="Arial"/>
              </a:rPr>
              <a:t>40% of enterprise apps have task-specific agents by end-2026 [11]; sprawl step 2: inventory [6]; platforms must cover third-party AI [9]</a:t>
            </a:r>
          </a:p>
        </p:txBody>
      </p:sp>
      <p:sp>
        <p:nvSpPr>
          <p:cNvPr id="198" name="g2 198"/>
          <p:cNvSpPr/>
          <p:nvPr/>
        </p:nvSpPr>
        <p:spPr>
          <a:xfrm>
            <a:off x="9921240" y="5605272"/>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case flow  ·  Dashed: gap</a:t>
            </a:r>
          </a:p>
        </p:txBody>
      </p:sp>
      <p:sp>
        <p:nvSpPr>
          <p:cNvPr id="199"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12 / 17</a:t>
            </a:r>
          </a:p>
        </p:txBody>
      </p:sp>
      <p:sp>
        <p:nvSpPr>
          <p:cNvPr id="200"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01"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6">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998525" y="3636569"/>
            <a:ext cx="8621878" cy="8621878"/>
          </a:xfrm>
          <a:prstGeom prst="ellipse">
            <a:avLst/>
          </a:prstGeom>
          <a:solidFill>
            <a:srgbClr val="8A0F1A">
              <a:alpha val="2547"/>
            </a:srgbClr>
          </a:solidFill>
          <a:ln/>
        </p:spPr>
      </p:sp>
      <p:sp>
        <p:nvSpPr>
          <p:cNvPr id="3" name="Shape 1"/>
          <p:cNvSpPr/>
          <p:nvPr/>
        </p:nvSpPr>
        <p:spPr>
          <a:xfrm>
            <a:off x="-818902" y="3816191"/>
            <a:ext cx="8262633" cy="8262633"/>
          </a:xfrm>
          <a:prstGeom prst="ellipse">
            <a:avLst/>
          </a:prstGeom>
          <a:solidFill>
            <a:srgbClr val="8A0F1A">
              <a:alpha val="4218"/>
            </a:srgbClr>
          </a:solidFill>
          <a:ln/>
        </p:spPr>
      </p:sp>
      <p:sp>
        <p:nvSpPr>
          <p:cNvPr id="4" name="Shape 2"/>
          <p:cNvSpPr/>
          <p:nvPr/>
        </p:nvSpPr>
        <p:spPr>
          <a:xfrm>
            <a:off x="-639280" y="3995814"/>
            <a:ext cx="7903388" cy="7903388"/>
          </a:xfrm>
          <a:prstGeom prst="ellipse">
            <a:avLst/>
          </a:prstGeom>
          <a:solidFill>
            <a:srgbClr val="8A0F1A">
              <a:alpha val="4138"/>
            </a:srgbClr>
          </a:solidFill>
          <a:ln/>
        </p:spPr>
      </p:sp>
      <p:sp>
        <p:nvSpPr>
          <p:cNvPr id="5" name="Shape 3"/>
          <p:cNvSpPr/>
          <p:nvPr/>
        </p:nvSpPr>
        <p:spPr>
          <a:xfrm>
            <a:off x="-459657" y="4175436"/>
            <a:ext cx="7544143" cy="7544143"/>
          </a:xfrm>
          <a:prstGeom prst="ellipse">
            <a:avLst/>
          </a:prstGeom>
          <a:solidFill>
            <a:srgbClr val="8A0F1A">
              <a:alpha val="2636"/>
            </a:srgbClr>
          </a:solidFill>
          <a:ln/>
        </p:spPr>
      </p:sp>
      <p:sp>
        <p:nvSpPr>
          <p:cNvPr id="6" name="Shape 4"/>
          <p:cNvSpPr/>
          <p:nvPr/>
        </p:nvSpPr>
        <p:spPr>
          <a:xfrm>
            <a:off x="-280035" y="4355059"/>
            <a:ext cx="7184898" cy="7184898"/>
          </a:xfrm>
          <a:prstGeom prst="ellipse">
            <a:avLst/>
          </a:prstGeom>
          <a:solidFill>
            <a:srgbClr val="8A0F1A">
              <a:alpha val="2661"/>
            </a:srgbClr>
          </a:solidFill>
          <a:ln/>
        </p:spPr>
      </p:sp>
      <p:sp>
        <p:nvSpPr>
          <p:cNvPr id="7" name="Shape 5"/>
          <p:cNvSpPr/>
          <p:nvPr/>
        </p:nvSpPr>
        <p:spPr>
          <a:xfrm>
            <a:off x="-100413" y="4534681"/>
            <a:ext cx="6825653" cy="6825653"/>
          </a:xfrm>
          <a:prstGeom prst="ellipse">
            <a:avLst/>
          </a:prstGeom>
          <a:solidFill>
            <a:srgbClr val="8A0F1A">
              <a:alpha val="3304"/>
            </a:srgbClr>
          </a:solidFill>
          <a:ln/>
        </p:spPr>
      </p:sp>
      <p:sp>
        <p:nvSpPr>
          <p:cNvPr id="8" name="Shape 6"/>
          <p:cNvSpPr/>
          <p:nvPr/>
        </p:nvSpPr>
        <p:spPr>
          <a:xfrm>
            <a:off x="79210" y="4714304"/>
            <a:ext cx="6466408" cy="6466408"/>
          </a:xfrm>
          <a:prstGeom prst="ellipse">
            <a:avLst/>
          </a:prstGeom>
          <a:solidFill>
            <a:srgbClr val="8A0F1A">
              <a:alpha val="3622"/>
            </a:srgbClr>
          </a:solidFill>
          <a:ln/>
        </p:spPr>
      </p:sp>
      <p:sp>
        <p:nvSpPr>
          <p:cNvPr id="9" name="Shape 7"/>
          <p:cNvSpPr/>
          <p:nvPr/>
        </p:nvSpPr>
        <p:spPr>
          <a:xfrm>
            <a:off x="258832" y="4893926"/>
            <a:ext cx="6107163" cy="6107163"/>
          </a:xfrm>
          <a:prstGeom prst="ellipse">
            <a:avLst/>
          </a:prstGeom>
          <a:solidFill>
            <a:srgbClr val="8A0F1A">
              <a:alpha val="3650"/>
            </a:srgbClr>
          </a:solidFill>
          <a:ln/>
        </p:spPr>
      </p:sp>
      <p:sp>
        <p:nvSpPr>
          <p:cNvPr id="10" name="Shape 8"/>
          <p:cNvSpPr/>
          <p:nvPr/>
        </p:nvSpPr>
        <p:spPr>
          <a:xfrm>
            <a:off x="438455" y="5073548"/>
            <a:ext cx="5747918" cy="5747918"/>
          </a:xfrm>
          <a:prstGeom prst="ellipse">
            <a:avLst/>
          </a:prstGeom>
          <a:solidFill>
            <a:srgbClr val="8A0F1A">
              <a:alpha val="3631"/>
            </a:srgbClr>
          </a:solidFill>
          <a:ln/>
        </p:spPr>
      </p:sp>
      <p:sp>
        <p:nvSpPr>
          <p:cNvPr id="11" name="Shape 9"/>
          <p:cNvSpPr/>
          <p:nvPr/>
        </p:nvSpPr>
        <p:spPr>
          <a:xfrm>
            <a:off x="618077" y="5253171"/>
            <a:ext cx="5388674" cy="5388674"/>
          </a:xfrm>
          <a:prstGeom prst="ellipse">
            <a:avLst/>
          </a:prstGeom>
          <a:solidFill>
            <a:srgbClr val="8A0F1A">
              <a:alpha val="3693"/>
            </a:srgbClr>
          </a:solidFill>
          <a:ln/>
        </p:spPr>
      </p:sp>
      <p:sp>
        <p:nvSpPr>
          <p:cNvPr id="12" name="Shape 10"/>
          <p:cNvSpPr/>
          <p:nvPr/>
        </p:nvSpPr>
        <p:spPr>
          <a:xfrm>
            <a:off x="797700" y="5432793"/>
            <a:ext cx="5029429" cy="5029429"/>
          </a:xfrm>
          <a:prstGeom prst="ellipse">
            <a:avLst/>
          </a:prstGeom>
          <a:solidFill>
            <a:srgbClr val="8A0F1A">
              <a:alpha val="4536"/>
            </a:srgbClr>
          </a:solidFill>
          <a:ln/>
        </p:spPr>
      </p:sp>
      <p:sp>
        <p:nvSpPr>
          <p:cNvPr id="13" name="Shape 11"/>
          <p:cNvSpPr/>
          <p:nvPr/>
        </p:nvSpPr>
        <p:spPr>
          <a:xfrm>
            <a:off x="977322" y="5612416"/>
            <a:ext cx="4670184" cy="4670184"/>
          </a:xfrm>
          <a:prstGeom prst="ellipse">
            <a:avLst/>
          </a:prstGeom>
          <a:solidFill>
            <a:srgbClr val="8A0F1A">
              <a:alpha val="4737"/>
            </a:srgbClr>
          </a:solidFill>
          <a:ln/>
        </p:spPr>
      </p:sp>
      <p:sp>
        <p:nvSpPr>
          <p:cNvPr id="14" name="Shape 12"/>
          <p:cNvSpPr/>
          <p:nvPr/>
        </p:nvSpPr>
        <p:spPr>
          <a:xfrm>
            <a:off x="1156945" y="5792038"/>
            <a:ext cx="4310939" cy="4310939"/>
          </a:xfrm>
          <a:prstGeom prst="ellipse">
            <a:avLst/>
          </a:prstGeom>
          <a:solidFill>
            <a:srgbClr val="8A0F1A">
              <a:alpha val="4994"/>
            </a:srgbClr>
          </a:solidFill>
          <a:ln/>
        </p:spPr>
      </p:sp>
      <p:sp>
        <p:nvSpPr>
          <p:cNvPr id="15" name="Shape 13"/>
          <p:cNvSpPr/>
          <p:nvPr/>
        </p:nvSpPr>
        <p:spPr>
          <a:xfrm>
            <a:off x="1336567" y="5971661"/>
            <a:ext cx="3951694" cy="3951694"/>
          </a:xfrm>
          <a:prstGeom prst="ellipse">
            <a:avLst/>
          </a:prstGeom>
          <a:solidFill>
            <a:srgbClr val="8A0F1A">
              <a:alpha val="5272"/>
            </a:srgbClr>
          </a:solidFill>
          <a:ln/>
        </p:spPr>
      </p:sp>
      <p:sp>
        <p:nvSpPr>
          <p:cNvPr id="16" name="Shape 14"/>
          <p:cNvSpPr/>
          <p:nvPr/>
        </p:nvSpPr>
        <p:spPr>
          <a:xfrm>
            <a:off x="1516189" y="6151283"/>
            <a:ext cx="3592449" cy="3592449"/>
          </a:xfrm>
          <a:prstGeom prst="ellipse">
            <a:avLst/>
          </a:prstGeom>
          <a:solidFill>
            <a:srgbClr val="8A0F1A">
              <a:alpha val="5521"/>
            </a:srgbClr>
          </a:solidFill>
          <a:ln/>
        </p:spPr>
      </p:sp>
      <p:sp>
        <p:nvSpPr>
          <p:cNvPr id="17" name="Shape 15"/>
          <p:cNvSpPr/>
          <p:nvPr/>
        </p:nvSpPr>
        <p:spPr>
          <a:xfrm>
            <a:off x="1695812" y="6330906"/>
            <a:ext cx="3233204" cy="3233204"/>
          </a:xfrm>
          <a:prstGeom prst="ellipse">
            <a:avLst/>
          </a:prstGeom>
          <a:solidFill>
            <a:srgbClr val="8A0F1A">
              <a:alpha val="6496"/>
            </a:srgbClr>
          </a:solidFill>
          <a:ln/>
        </p:spPr>
      </p:sp>
      <p:sp>
        <p:nvSpPr>
          <p:cNvPr id="18" name="Shape 16"/>
          <p:cNvSpPr/>
          <p:nvPr/>
        </p:nvSpPr>
        <p:spPr>
          <a:xfrm>
            <a:off x="1875434" y="6510528"/>
            <a:ext cx="2873959" cy="2873959"/>
          </a:xfrm>
          <a:prstGeom prst="ellipse">
            <a:avLst/>
          </a:prstGeom>
          <a:solidFill>
            <a:srgbClr val="8A0F1A">
              <a:alpha val="6768"/>
            </a:srgbClr>
          </a:solidFill>
          <a:ln/>
        </p:spPr>
      </p:sp>
      <p:sp>
        <p:nvSpPr>
          <p:cNvPr id="19" name="Shape 17"/>
          <p:cNvSpPr/>
          <p:nvPr/>
        </p:nvSpPr>
        <p:spPr>
          <a:xfrm>
            <a:off x="2055057" y="6690150"/>
            <a:ext cx="2514714" cy="2514714"/>
          </a:xfrm>
          <a:prstGeom prst="ellipse">
            <a:avLst/>
          </a:prstGeom>
          <a:solidFill>
            <a:srgbClr val="8A0F1A">
              <a:alpha val="7123"/>
            </a:srgbClr>
          </a:solidFill>
          <a:ln/>
        </p:spPr>
      </p:sp>
      <p:sp>
        <p:nvSpPr>
          <p:cNvPr id="20" name="Shape 18"/>
          <p:cNvSpPr/>
          <p:nvPr/>
        </p:nvSpPr>
        <p:spPr>
          <a:xfrm>
            <a:off x="2234679" y="6869773"/>
            <a:ext cx="2155469" cy="2155469"/>
          </a:xfrm>
          <a:prstGeom prst="ellipse">
            <a:avLst/>
          </a:prstGeom>
          <a:solidFill>
            <a:srgbClr val="8A0F1A">
              <a:alpha val="7486"/>
            </a:srgbClr>
          </a:solidFill>
          <a:ln/>
        </p:spPr>
      </p:sp>
      <p:sp>
        <p:nvSpPr>
          <p:cNvPr id="21" name="Shape 19"/>
          <p:cNvSpPr/>
          <p:nvPr/>
        </p:nvSpPr>
        <p:spPr>
          <a:xfrm>
            <a:off x="2414302" y="7049395"/>
            <a:ext cx="1796225" cy="1796225"/>
          </a:xfrm>
          <a:prstGeom prst="ellipse">
            <a:avLst/>
          </a:prstGeom>
          <a:solidFill>
            <a:srgbClr val="8A0F1A">
              <a:alpha val="8191"/>
            </a:srgbClr>
          </a:solidFill>
          <a:ln/>
        </p:spPr>
      </p:sp>
      <p:sp>
        <p:nvSpPr>
          <p:cNvPr id="22" name="Shape 20"/>
          <p:cNvSpPr/>
          <p:nvPr/>
        </p:nvSpPr>
        <p:spPr>
          <a:xfrm>
            <a:off x="2593924" y="7229018"/>
            <a:ext cx="1436980" cy="1436980"/>
          </a:xfrm>
          <a:prstGeom prst="ellipse">
            <a:avLst/>
          </a:prstGeom>
          <a:solidFill>
            <a:srgbClr val="8A0F1A">
              <a:alpha val="9466"/>
            </a:srgbClr>
          </a:solidFill>
          <a:ln/>
        </p:spPr>
      </p:sp>
      <p:sp>
        <p:nvSpPr>
          <p:cNvPr id="23" name="Shape 21"/>
          <p:cNvSpPr/>
          <p:nvPr/>
        </p:nvSpPr>
        <p:spPr>
          <a:xfrm>
            <a:off x="2773547" y="7408640"/>
            <a:ext cx="1077735" cy="1077735"/>
          </a:xfrm>
          <a:prstGeom prst="ellipse">
            <a:avLst/>
          </a:prstGeom>
          <a:solidFill>
            <a:srgbClr val="8A0F1A">
              <a:alpha val="10120"/>
            </a:srgbClr>
          </a:solidFill>
          <a:ln/>
        </p:spPr>
      </p:sp>
      <p:sp>
        <p:nvSpPr>
          <p:cNvPr id="24" name="Shape 22"/>
          <p:cNvSpPr/>
          <p:nvPr/>
        </p:nvSpPr>
        <p:spPr>
          <a:xfrm>
            <a:off x="2953169" y="7588263"/>
            <a:ext cx="718490" cy="718490"/>
          </a:xfrm>
          <a:prstGeom prst="ellipse">
            <a:avLst/>
          </a:prstGeom>
          <a:solidFill>
            <a:srgbClr val="8A0F1A">
              <a:alpha val="10280"/>
            </a:srgbClr>
          </a:solidFill>
          <a:ln/>
        </p:spPr>
      </p:sp>
      <p:sp>
        <p:nvSpPr>
          <p:cNvPr id="25" name="Shape 23"/>
          <p:cNvSpPr/>
          <p:nvPr/>
        </p:nvSpPr>
        <p:spPr>
          <a:xfrm>
            <a:off x="3132792" y="7767885"/>
            <a:ext cx="359245" cy="359245"/>
          </a:xfrm>
          <a:prstGeom prst="ellipse">
            <a:avLst/>
          </a:prstGeom>
          <a:solidFill>
            <a:srgbClr val="8A0F1A">
              <a:alpha val="10999"/>
            </a:srgbClr>
          </a:solidFill>
          <a:ln/>
        </p:spPr>
      </p:sp>
      <p:sp>
        <p:nvSpPr>
          <p:cNvPr id="26" name="Shape 24"/>
          <p:cNvSpPr/>
          <p:nvPr/>
        </p:nvSpPr>
        <p:spPr>
          <a:xfrm>
            <a:off x="-3478378" y="-5801868"/>
            <a:ext cx="8621878" cy="8621878"/>
          </a:xfrm>
          <a:prstGeom prst="ellipse">
            <a:avLst/>
          </a:prstGeom>
          <a:solidFill>
            <a:srgbClr val="8A0F1A">
              <a:alpha val="2547"/>
            </a:srgbClr>
          </a:solidFill>
          <a:ln/>
        </p:spPr>
      </p:sp>
      <p:sp>
        <p:nvSpPr>
          <p:cNvPr id="27" name="Shape 25"/>
          <p:cNvSpPr/>
          <p:nvPr/>
        </p:nvSpPr>
        <p:spPr>
          <a:xfrm>
            <a:off x="-3298755" y="-5622246"/>
            <a:ext cx="8262633" cy="8262633"/>
          </a:xfrm>
          <a:prstGeom prst="ellipse">
            <a:avLst/>
          </a:prstGeom>
          <a:solidFill>
            <a:srgbClr val="8A0F1A">
              <a:alpha val="4218"/>
            </a:srgbClr>
          </a:solidFill>
          <a:ln/>
        </p:spPr>
      </p:sp>
      <p:sp>
        <p:nvSpPr>
          <p:cNvPr id="28" name="Shape 26"/>
          <p:cNvSpPr/>
          <p:nvPr/>
        </p:nvSpPr>
        <p:spPr>
          <a:xfrm>
            <a:off x="-3119133" y="-5442623"/>
            <a:ext cx="7903388" cy="7903388"/>
          </a:xfrm>
          <a:prstGeom prst="ellipse">
            <a:avLst/>
          </a:prstGeom>
          <a:solidFill>
            <a:srgbClr val="8A0F1A">
              <a:alpha val="4138"/>
            </a:srgbClr>
          </a:solidFill>
          <a:ln/>
        </p:spPr>
      </p:sp>
      <p:sp>
        <p:nvSpPr>
          <p:cNvPr id="29" name="Shape 27"/>
          <p:cNvSpPr/>
          <p:nvPr/>
        </p:nvSpPr>
        <p:spPr>
          <a:xfrm>
            <a:off x="-2939510" y="-5263001"/>
            <a:ext cx="7544143" cy="7544143"/>
          </a:xfrm>
          <a:prstGeom prst="ellipse">
            <a:avLst/>
          </a:prstGeom>
          <a:solidFill>
            <a:srgbClr val="8A0F1A">
              <a:alpha val="2636"/>
            </a:srgbClr>
          </a:solidFill>
          <a:ln/>
        </p:spPr>
      </p:sp>
      <p:sp>
        <p:nvSpPr>
          <p:cNvPr id="30" name="Shape 28"/>
          <p:cNvSpPr/>
          <p:nvPr/>
        </p:nvSpPr>
        <p:spPr>
          <a:xfrm>
            <a:off x="-2759888" y="-5083378"/>
            <a:ext cx="7184898" cy="7184898"/>
          </a:xfrm>
          <a:prstGeom prst="ellipse">
            <a:avLst/>
          </a:prstGeom>
          <a:solidFill>
            <a:srgbClr val="8A0F1A">
              <a:alpha val="2661"/>
            </a:srgbClr>
          </a:solidFill>
          <a:ln/>
        </p:spPr>
      </p:sp>
      <p:sp>
        <p:nvSpPr>
          <p:cNvPr id="31" name="Shape 29"/>
          <p:cNvSpPr/>
          <p:nvPr/>
        </p:nvSpPr>
        <p:spPr>
          <a:xfrm>
            <a:off x="-2580265" y="-4903756"/>
            <a:ext cx="6825653" cy="6825653"/>
          </a:xfrm>
          <a:prstGeom prst="ellipse">
            <a:avLst/>
          </a:prstGeom>
          <a:solidFill>
            <a:srgbClr val="8A0F1A">
              <a:alpha val="3304"/>
            </a:srgbClr>
          </a:solidFill>
          <a:ln/>
        </p:spPr>
      </p:sp>
      <p:sp>
        <p:nvSpPr>
          <p:cNvPr id="32" name="Shape 30"/>
          <p:cNvSpPr/>
          <p:nvPr/>
        </p:nvSpPr>
        <p:spPr>
          <a:xfrm>
            <a:off x="-2400643" y="-4724133"/>
            <a:ext cx="6466408" cy="6466408"/>
          </a:xfrm>
          <a:prstGeom prst="ellipse">
            <a:avLst/>
          </a:prstGeom>
          <a:solidFill>
            <a:srgbClr val="8A0F1A">
              <a:alpha val="3622"/>
            </a:srgbClr>
          </a:solidFill>
          <a:ln/>
        </p:spPr>
      </p:sp>
      <p:sp>
        <p:nvSpPr>
          <p:cNvPr id="33" name="Shape 31"/>
          <p:cNvSpPr/>
          <p:nvPr/>
        </p:nvSpPr>
        <p:spPr>
          <a:xfrm>
            <a:off x="-2221020" y="-4544511"/>
            <a:ext cx="6107163" cy="6107163"/>
          </a:xfrm>
          <a:prstGeom prst="ellipse">
            <a:avLst/>
          </a:prstGeom>
          <a:solidFill>
            <a:srgbClr val="8A0F1A">
              <a:alpha val="3650"/>
            </a:srgbClr>
          </a:solidFill>
          <a:ln/>
        </p:spPr>
      </p:sp>
      <p:sp>
        <p:nvSpPr>
          <p:cNvPr id="34" name="Shape 32"/>
          <p:cNvSpPr/>
          <p:nvPr/>
        </p:nvSpPr>
        <p:spPr>
          <a:xfrm>
            <a:off x="-2041398" y="-4364888"/>
            <a:ext cx="5747918" cy="5747918"/>
          </a:xfrm>
          <a:prstGeom prst="ellipse">
            <a:avLst/>
          </a:prstGeom>
          <a:solidFill>
            <a:srgbClr val="8A0F1A">
              <a:alpha val="3631"/>
            </a:srgbClr>
          </a:solidFill>
          <a:ln/>
        </p:spPr>
      </p:sp>
      <p:sp>
        <p:nvSpPr>
          <p:cNvPr id="35" name="Shape 33"/>
          <p:cNvSpPr/>
          <p:nvPr/>
        </p:nvSpPr>
        <p:spPr>
          <a:xfrm>
            <a:off x="-1861776" y="-4185266"/>
            <a:ext cx="5388674" cy="5388674"/>
          </a:xfrm>
          <a:prstGeom prst="ellipse">
            <a:avLst/>
          </a:prstGeom>
          <a:solidFill>
            <a:srgbClr val="8A0F1A">
              <a:alpha val="3693"/>
            </a:srgbClr>
          </a:solidFill>
          <a:ln/>
        </p:spPr>
      </p:sp>
      <p:sp>
        <p:nvSpPr>
          <p:cNvPr id="36" name="Shape 34"/>
          <p:cNvSpPr/>
          <p:nvPr/>
        </p:nvSpPr>
        <p:spPr>
          <a:xfrm>
            <a:off x="-1682153" y="-4005643"/>
            <a:ext cx="5029429" cy="5029429"/>
          </a:xfrm>
          <a:prstGeom prst="ellipse">
            <a:avLst/>
          </a:prstGeom>
          <a:solidFill>
            <a:srgbClr val="8A0F1A">
              <a:alpha val="4536"/>
            </a:srgbClr>
          </a:solidFill>
          <a:ln/>
        </p:spPr>
      </p:sp>
      <p:sp>
        <p:nvSpPr>
          <p:cNvPr id="37" name="Shape 35"/>
          <p:cNvSpPr/>
          <p:nvPr/>
        </p:nvSpPr>
        <p:spPr>
          <a:xfrm>
            <a:off x="-1502531" y="-3826021"/>
            <a:ext cx="4670184" cy="4670184"/>
          </a:xfrm>
          <a:prstGeom prst="ellipse">
            <a:avLst/>
          </a:prstGeom>
          <a:solidFill>
            <a:srgbClr val="8A0F1A">
              <a:alpha val="4737"/>
            </a:srgbClr>
          </a:solidFill>
          <a:ln/>
        </p:spPr>
      </p:sp>
      <p:sp>
        <p:nvSpPr>
          <p:cNvPr id="38" name="Shape 36"/>
          <p:cNvSpPr/>
          <p:nvPr/>
        </p:nvSpPr>
        <p:spPr>
          <a:xfrm>
            <a:off x="-1322908" y="-3646399"/>
            <a:ext cx="4310939" cy="4310939"/>
          </a:xfrm>
          <a:prstGeom prst="ellipse">
            <a:avLst/>
          </a:prstGeom>
          <a:solidFill>
            <a:srgbClr val="8A0F1A">
              <a:alpha val="4994"/>
            </a:srgbClr>
          </a:solidFill>
          <a:ln/>
        </p:spPr>
      </p:sp>
      <p:sp>
        <p:nvSpPr>
          <p:cNvPr id="39" name="Shape 37"/>
          <p:cNvSpPr/>
          <p:nvPr/>
        </p:nvSpPr>
        <p:spPr>
          <a:xfrm>
            <a:off x="-1143286" y="-3466776"/>
            <a:ext cx="3951694" cy="3951694"/>
          </a:xfrm>
          <a:prstGeom prst="ellipse">
            <a:avLst/>
          </a:prstGeom>
          <a:solidFill>
            <a:srgbClr val="8A0F1A">
              <a:alpha val="5272"/>
            </a:srgbClr>
          </a:solidFill>
          <a:ln/>
        </p:spPr>
      </p:sp>
      <p:sp>
        <p:nvSpPr>
          <p:cNvPr id="40" name="Shape 38"/>
          <p:cNvSpPr/>
          <p:nvPr/>
        </p:nvSpPr>
        <p:spPr>
          <a:xfrm>
            <a:off x="-963663" y="-3287154"/>
            <a:ext cx="3592449" cy="3592449"/>
          </a:xfrm>
          <a:prstGeom prst="ellipse">
            <a:avLst/>
          </a:prstGeom>
          <a:solidFill>
            <a:srgbClr val="8A0F1A">
              <a:alpha val="5521"/>
            </a:srgbClr>
          </a:solidFill>
          <a:ln/>
        </p:spPr>
      </p:sp>
      <p:sp>
        <p:nvSpPr>
          <p:cNvPr id="41" name="Shape 39"/>
          <p:cNvSpPr/>
          <p:nvPr/>
        </p:nvSpPr>
        <p:spPr>
          <a:xfrm>
            <a:off x="-784041" y="-3107531"/>
            <a:ext cx="3233204" cy="3233204"/>
          </a:xfrm>
          <a:prstGeom prst="ellipse">
            <a:avLst/>
          </a:prstGeom>
          <a:solidFill>
            <a:srgbClr val="8A0F1A">
              <a:alpha val="6496"/>
            </a:srgbClr>
          </a:solidFill>
          <a:ln/>
        </p:spPr>
      </p:sp>
      <p:sp>
        <p:nvSpPr>
          <p:cNvPr id="42" name="Shape 40"/>
          <p:cNvSpPr/>
          <p:nvPr/>
        </p:nvSpPr>
        <p:spPr>
          <a:xfrm>
            <a:off x="-604418" y="-2927909"/>
            <a:ext cx="2873959" cy="2873959"/>
          </a:xfrm>
          <a:prstGeom prst="ellipse">
            <a:avLst/>
          </a:prstGeom>
          <a:solidFill>
            <a:srgbClr val="8A0F1A">
              <a:alpha val="6768"/>
            </a:srgbClr>
          </a:solidFill>
          <a:ln/>
        </p:spPr>
      </p:sp>
      <p:sp>
        <p:nvSpPr>
          <p:cNvPr id="43" name="Shape 41"/>
          <p:cNvSpPr/>
          <p:nvPr/>
        </p:nvSpPr>
        <p:spPr>
          <a:xfrm>
            <a:off x="-424796" y="-2748286"/>
            <a:ext cx="2514714" cy="2514714"/>
          </a:xfrm>
          <a:prstGeom prst="ellipse">
            <a:avLst/>
          </a:prstGeom>
          <a:solidFill>
            <a:srgbClr val="8A0F1A">
              <a:alpha val="7123"/>
            </a:srgbClr>
          </a:solidFill>
          <a:ln/>
        </p:spPr>
      </p:sp>
      <p:sp>
        <p:nvSpPr>
          <p:cNvPr id="44" name="Shape 42"/>
          <p:cNvSpPr/>
          <p:nvPr/>
        </p:nvSpPr>
        <p:spPr>
          <a:xfrm>
            <a:off x="-245173" y="-2568664"/>
            <a:ext cx="2155469" cy="2155469"/>
          </a:xfrm>
          <a:prstGeom prst="ellipse">
            <a:avLst/>
          </a:prstGeom>
          <a:solidFill>
            <a:srgbClr val="8A0F1A">
              <a:alpha val="7486"/>
            </a:srgbClr>
          </a:solidFill>
          <a:ln/>
        </p:spPr>
      </p:sp>
      <p:sp>
        <p:nvSpPr>
          <p:cNvPr id="45" name="Shape 43"/>
          <p:cNvSpPr/>
          <p:nvPr/>
        </p:nvSpPr>
        <p:spPr>
          <a:xfrm>
            <a:off x="-65551" y="-2389041"/>
            <a:ext cx="1796225" cy="1796225"/>
          </a:xfrm>
          <a:prstGeom prst="ellipse">
            <a:avLst/>
          </a:prstGeom>
          <a:solidFill>
            <a:srgbClr val="8A0F1A">
              <a:alpha val="8191"/>
            </a:srgbClr>
          </a:solidFill>
          <a:ln/>
        </p:spPr>
      </p:sp>
      <p:sp>
        <p:nvSpPr>
          <p:cNvPr id="46" name="Shape 44"/>
          <p:cNvSpPr/>
          <p:nvPr/>
        </p:nvSpPr>
        <p:spPr>
          <a:xfrm>
            <a:off x="114071" y="-2209419"/>
            <a:ext cx="1436980" cy="1436980"/>
          </a:xfrm>
          <a:prstGeom prst="ellipse">
            <a:avLst/>
          </a:prstGeom>
          <a:solidFill>
            <a:srgbClr val="8A0F1A">
              <a:alpha val="9466"/>
            </a:srgbClr>
          </a:solidFill>
          <a:ln/>
        </p:spPr>
      </p:sp>
      <p:sp>
        <p:nvSpPr>
          <p:cNvPr id="47" name="Shape 45"/>
          <p:cNvSpPr/>
          <p:nvPr/>
        </p:nvSpPr>
        <p:spPr>
          <a:xfrm>
            <a:off x="293694" y="-2029797"/>
            <a:ext cx="1077735" cy="1077735"/>
          </a:xfrm>
          <a:prstGeom prst="ellipse">
            <a:avLst/>
          </a:prstGeom>
          <a:solidFill>
            <a:srgbClr val="8A0F1A">
              <a:alpha val="10120"/>
            </a:srgbClr>
          </a:solidFill>
          <a:ln/>
        </p:spPr>
      </p:sp>
      <p:sp>
        <p:nvSpPr>
          <p:cNvPr id="48" name="Shape 46"/>
          <p:cNvSpPr/>
          <p:nvPr/>
        </p:nvSpPr>
        <p:spPr>
          <a:xfrm>
            <a:off x="473316" y="-1850174"/>
            <a:ext cx="718490" cy="718490"/>
          </a:xfrm>
          <a:prstGeom prst="ellipse">
            <a:avLst/>
          </a:prstGeom>
          <a:solidFill>
            <a:srgbClr val="8A0F1A">
              <a:alpha val="10280"/>
            </a:srgbClr>
          </a:solidFill>
          <a:ln/>
        </p:spPr>
      </p:sp>
      <p:sp>
        <p:nvSpPr>
          <p:cNvPr id="49" name="Shape 47"/>
          <p:cNvSpPr/>
          <p:nvPr/>
        </p:nvSpPr>
        <p:spPr>
          <a:xfrm>
            <a:off x="652939" y="-1670552"/>
            <a:ext cx="359245" cy="359245"/>
          </a:xfrm>
          <a:prstGeom prst="ellipse">
            <a:avLst/>
          </a:prstGeom>
          <a:solidFill>
            <a:srgbClr val="8A0F1A">
              <a:alpha val="10999"/>
            </a:srgbClr>
          </a:solidFill>
          <a:ln/>
        </p:spPr>
      </p:sp>
      <p:sp>
        <p:nvSpPr>
          <p:cNvPr id="50" name="Text 48"/>
          <p:cNvSpPr/>
          <p:nvPr/>
        </p:nvSpPr>
        <p:spPr>
          <a:xfrm>
            <a:off x="616306" y="4871923"/>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One loop for every agent</a:t>
            </a:r>
          </a:p>
        </p:txBody>
      </p:sp>
      <p:sp>
        <p:nvSpPr>
          <p:cNvPr id="51" name="Text 49"/>
          <p:cNvSpPr/>
          <p:nvPr/>
        </p:nvSpPr>
        <p:spPr>
          <a:xfrm>
            <a:off x="615391" y="5100523"/>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Design</a:t>
            </a:r>
          </a:p>
        </p:txBody>
      </p:sp>
      <p:sp>
        <p:nvSpPr>
          <p:cNvPr id="52" name="Text 50"/>
          <p:cNvSpPr/>
          <p:nvPr/>
        </p:nvSpPr>
        <p:spPr>
          <a:xfrm>
            <a:off x="1288390" y="5592470"/>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to retire</a:t>
            </a:r>
          </a:p>
        </p:txBody>
      </p:sp>
      <p:sp>
        <p:nvSpPr>
          <p:cNvPr id="53" name="Shape 51"/>
          <p:cNvSpPr/>
          <p:nvPr/>
        </p:nvSpPr>
        <p:spPr>
          <a:xfrm rot="16200000">
            <a:off x="875995" y="5717743"/>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4526280" y="5138928"/>
            <a:ext cx="416052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Every agent, ours or vendor-built, moves through one 11-step loop with the same join keys and evidence trail. Production telemetry feeds harness optimisation and recertification, and retirement is an explicit step. New: Build, Deploy via gateway, Retire.</a:t>
            </a:r>
          </a:p>
        </p:txBody>
      </p:sp>
      <p:sp>
        <p:nvSpPr>
          <p:cNvPr id="55" name="Shape 53"/>
          <p:cNvSpPr/>
          <p:nvPr/>
        </p:nvSpPr>
        <p:spPr>
          <a:xfrm>
            <a:off x="8928202" y="4343400"/>
            <a:ext cx="2371039" cy="2103120"/>
          </a:xfrm>
          <a:prstGeom prst="roundRect">
            <a:avLst>
              <a:gd name="adj" fmla="val 8639"/>
            </a:avLst>
          </a:prstGeom>
          <a:solidFill>
            <a:srgbClr val="141010"/>
          </a:solidFill>
          <a:ln w="6350">
            <a:solidFill>
              <a:srgbClr val="D9B48A"/>
            </a:solidFill>
            <a:prstDash val="solid"/>
          </a:ln>
        </p:spPr>
      </p:sp>
      <p:sp>
        <p:nvSpPr>
          <p:cNvPr id="56" name="Shape 54"/>
          <p:cNvSpPr/>
          <p:nvPr/>
        </p:nvSpPr>
        <p:spPr>
          <a:xfrm>
            <a:off x="10333634" y="4526280"/>
            <a:ext cx="801929" cy="374904"/>
          </a:xfrm>
          <a:prstGeom prst="roundRect">
            <a:avLst>
              <a:gd name="adj" fmla="val 50000"/>
            </a:avLst>
          </a:prstGeom>
          <a:solidFill>
            <a:srgbClr val="8A0F1A">
              <a:alpha val="15600"/>
            </a:srgbClr>
          </a:solidFill>
          <a:ln w="6350">
            <a:solidFill>
              <a:srgbClr val="D9B48A"/>
            </a:solidFill>
            <a:prstDash val="solid"/>
          </a:ln>
        </p:spPr>
      </p:sp>
      <p:sp>
        <p:nvSpPr>
          <p:cNvPr id="57" name="Text 55"/>
          <p:cNvSpPr/>
          <p:nvPr/>
        </p:nvSpPr>
        <p:spPr>
          <a:xfrm>
            <a:off x="10333634" y="4526280"/>
            <a:ext cx="801929"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Rule</a:t>
            </a:r>
          </a:p>
        </p:txBody>
      </p:sp>
      <p:sp>
        <p:nvSpPr>
          <p:cNvPr id="58" name="Text 56"/>
          <p:cNvSpPr/>
          <p:nvPr/>
        </p:nvSpPr>
        <p:spPr>
          <a:xfrm>
            <a:off x="9133027" y="4937760"/>
            <a:ext cx="2194560" cy="585216"/>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One evaluator, three uses</a:t>
            </a:r>
          </a:p>
        </p:txBody>
      </p:sp>
      <p:sp>
        <p:nvSpPr>
          <p:cNvPr id="59" name="Text 57"/>
          <p:cNvSpPr/>
          <p:nvPr/>
        </p:nvSpPr>
        <p:spPr>
          <a:xfrm>
            <a:off x="9133027" y="5504688"/>
            <a:ext cx="2240280" cy="825703"/>
          </a:xfrm>
          <a:prstGeom prst="rect">
            <a:avLst/>
          </a:prstGeom>
          <a:noFill/>
          <a:ln/>
        </p:spPr>
        <p:txBody>
          <a:bodyPr wrap="square" lIns="91440" tIns="45720" rIns="91440" bIns="45720" rtlCol="0" anchor="t">
            <a:spAutoFit/>
          </a:bodyPr>
          <a:lstStyle/>
          <a:p>
            <a:pPr indent="0" marL="0">
              <a:lnSpc>
                <a:spcPct val="125000"/>
              </a:lnSpc>
              <a:buNone/>
            </a:pPr>
            <a:r>
              <a:rPr lang="en-US" sz="1000" dirty="0">
                <a:solidFill>
                  <a:srgbClr val="F3E6D6"/>
                </a:solidFill>
                <a:latin typeface="Arial" pitchFamily="34" charset="0"/>
                <a:ea typeface="Arial" pitchFamily="34" charset="-122"/>
                <a:cs typeface="Arial" pitchFamily="34" charset="-120"/>
              </a:rPr>
              <a:t>Monitor at 8, objective at 9, gate at 4, 5 and 10. Held-out gate sets never feed optimisation. Every control decision is a span.</a:t>
            </a:r>
          </a:p>
        </p:txBody>
      </p:sp>
      <p:sp>
        <p:nvSpPr>
          <p:cNvPr id="143" name="g1 143"/>
          <p:cNvSpPr/>
          <p:nvPr/>
        </p:nvSpPr>
        <p:spPr>
          <a:xfrm>
            <a:off x="484632"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1  Design / onboard</a:t>
            </a:r>
          </a:p>
          <a:p>
            <a:pPr algn="l" marL="0" indent="0">
              <a:lnSpc>
                <a:spcPct val="100000"/>
              </a:lnSpc>
              <a:buNone/>
            </a:pPr>
            <a:r>
              <a:rPr lang="en-US" sz="800" dirty="0">
                <a:solidFill>
                  <a:srgbClr val="F3E6D6"/>
                </a:solidFill>
                <a:latin typeface="Arial"/>
                <a:ea typeface="Arial"/>
                <a:cs typeface="Arial"/>
              </a:rPr>
              <a:t>Dev Hub template · registry · IdP · ASI threats · ≤ 2 wks low tier</a:t>
            </a:r>
          </a:p>
          <a:p>
            <a:pPr algn="l" marL="0" indent="0">
              <a:lnSpc>
                <a:spcPct val="100000"/>
              </a:lnSpc>
              <a:buNone/>
            </a:pPr>
            <a:r>
              <a:rPr lang="en-US" sz="800" b="1" dirty="0">
                <a:solidFill>
                  <a:srgbClr val="F5B700"/>
                </a:solidFill>
                <a:latin typeface="Arial"/>
                <a:ea typeface="Arial"/>
                <a:cs typeface="Arial"/>
              </a:rPr>
              <a:t>→ agent manifest@v</a:t>
            </a:r>
          </a:p>
        </p:txBody>
      </p:sp>
      <p:sp>
        <p:nvSpPr>
          <p:cNvPr id="144" name="g1 144"/>
          <p:cNvSpPr/>
          <p:nvPr/>
        </p:nvSpPr>
        <p:spPr>
          <a:xfrm>
            <a:off x="2395728" y="45720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2  Build</a:t>
            </a:r>
          </a:p>
          <a:p>
            <a:pPr algn="l" marL="0" indent="0">
              <a:lnSpc>
                <a:spcPct val="100000"/>
              </a:lnSpc>
              <a:buNone/>
            </a:pPr>
            <a:r>
              <a:rPr lang="en-US" sz="800" dirty="0">
                <a:solidFill>
                  <a:srgbClr val="141010"/>
                </a:solidFill>
                <a:latin typeface="Arial"/>
                <a:ea typeface="Arial"/>
                <a:cs typeface="Arial"/>
              </a:rPr>
              <a:t>Kairos SDK · Agent Control · Mods Hub · MCP tools</a:t>
            </a:r>
          </a:p>
          <a:p>
            <a:pPr algn="l" marL="0" indent="0">
              <a:lnSpc>
                <a:spcPct val="100000"/>
              </a:lnSpc>
              <a:buNone/>
            </a:pPr>
            <a:r>
              <a:rPr lang="en-US" sz="800" b="1" dirty="0">
                <a:solidFill>
                  <a:srgbClr val="141010"/>
                </a:solidFill>
                <a:latin typeface="Arial"/>
                <a:ea typeface="Arial"/>
                <a:cs typeface="Arial"/>
              </a:rPr>
              <a:t>→ harness bundle + SBOM</a:t>
            </a:r>
          </a:p>
        </p:txBody>
      </p:sp>
      <p:sp>
        <p:nvSpPr>
          <p:cNvPr id="145" name="g1 145"/>
          <p:cNvSpPr/>
          <p:nvPr/>
        </p:nvSpPr>
        <p:spPr>
          <a:xfrm>
            <a:off x="4306824"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3  Simulate</a:t>
            </a:r>
          </a:p>
          <a:p>
            <a:pPr algn="l" marL="0" indent="0">
              <a:lnSpc>
                <a:spcPct val="100000"/>
              </a:lnSpc>
              <a:buNone/>
            </a:pPr>
            <a:r>
              <a:rPr lang="en-US" sz="800" dirty="0">
                <a:solidFill>
                  <a:srgbClr val="F3E6D6"/>
                </a:solidFill>
                <a:latin typeface="Arial"/>
                <a:ea typeface="Arial"/>
                <a:cs typeface="Arial"/>
              </a:rPr>
              <a:t>SDG Hub · persona &amp; tool sims · seeded by failure clusters</a:t>
            </a:r>
          </a:p>
          <a:p>
            <a:pPr algn="l" marL="0" indent="0">
              <a:lnSpc>
                <a:spcPct val="100000"/>
              </a:lnSpc>
              <a:buNone/>
            </a:pPr>
            <a:r>
              <a:rPr lang="en-US" sz="800" b="1" dirty="0">
                <a:solidFill>
                  <a:srgbClr val="F5B700"/>
                </a:solidFill>
                <a:latin typeface="Arial"/>
                <a:ea typeface="Arial"/>
                <a:cs typeface="Arial"/>
              </a:rPr>
              <a:t>→ scenario suite + run report</a:t>
            </a:r>
          </a:p>
        </p:txBody>
      </p:sp>
      <p:sp>
        <p:nvSpPr>
          <p:cNvPr id="146" name="g1 146"/>
          <p:cNvSpPr/>
          <p:nvPr/>
        </p:nvSpPr>
        <p:spPr>
          <a:xfrm>
            <a:off x="6217920"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4  Evaluate</a:t>
            </a:r>
          </a:p>
          <a:p>
            <a:pPr algn="l" marL="0" indent="0">
              <a:lnSpc>
                <a:spcPct val="100000"/>
              </a:lnSpc>
              <a:buNone/>
            </a:pPr>
            <a:r>
              <a:rPr lang="en-US" sz="800" dirty="0">
                <a:solidFill>
                  <a:srgbClr val="F3E6D6"/>
                </a:solidFill>
                <a:latin typeface="Arial"/>
                <a:ea typeface="Arial"/>
                <a:cs typeface="Arial"/>
              </a:rPr>
              <a:t>Galileo / Luna · EvalHub · verifiers · MAST (new)</a:t>
            </a:r>
          </a:p>
          <a:p>
            <a:pPr algn="l" marL="0" indent="0">
              <a:lnSpc>
                <a:spcPct val="100000"/>
              </a:lnSpc>
              <a:buNone/>
            </a:pPr>
            <a:r>
              <a:rPr lang="en-US" sz="800" b="1" dirty="0">
                <a:solidFill>
                  <a:srgbClr val="F5B700"/>
                </a:solidFill>
                <a:latin typeface="Arial"/>
                <a:ea typeface="Arial"/>
                <a:cs typeface="Arial"/>
              </a:rPr>
              <a:t>→ eval results + gate receipt</a:t>
            </a:r>
          </a:p>
        </p:txBody>
      </p:sp>
      <p:sp>
        <p:nvSpPr>
          <p:cNvPr id="147" name="g1 147"/>
          <p:cNvSpPr/>
          <p:nvPr/>
        </p:nvSpPr>
        <p:spPr>
          <a:xfrm>
            <a:off x="8129016"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5  Red team</a:t>
            </a:r>
          </a:p>
          <a:p>
            <a:pPr algn="l" marL="0" indent="0">
              <a:lnSpc>
                <a:spcPct val="100000"/>
              </a:lnSpc>
              <a:buNone/>
            </a:pPr>
            <a:r>
              <a:rPr lang="en-US" sz="800" dirty="0">
                <a:solidFill>
                  <a:srgbClr val="F3E6D6"/>
                </a:solidFill>
                <a:latin typeface="Arial"/>
                <a:ea typeface="Arial"/>
                <a:cs typeface="Arial"/>
              </a:rPr>
              <a:t>EvalHub: garak · PyRIT · DeepTeam · OWASP ASI</a:t>
            </a:r>
          </a:p>
          <a:p>
            <a:pPr algn="l" marL="0" indent="0">
              <a:lnSpc>
                <a:spcPct val="100000"/>
              </a:lnSpc>
              <a:buNone/>
            </a:pPr>
            <a:r>
              <a:rPr lang="en-US" sz="800" b="1" dirty="0">
                <a:solidFill>
                  <a:srgbClr val="F5B700"/>
                </a:solidFill>
                <a:latin typeface="Arial"/>
                <a:ea typeface="Arial"/>
                <a:cs typeface="Arial"/>
              </a:rPr>
              <a:t>→ ASR receipt</a:t>
            </a:r>
          </a:p>
        </p:txBody>
      </p:sp>
      <p:sp>
        <p:nvSpPr>
          <p:cNvPr id="148" name="g1 148"/>
          <p:cNvSpPr/>
          <p:nvPr/>
        </p:nvSpPr>
        <p:spPr>
          <a:xfrm>
            <a:off x="10040112" y="45720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6  Deploy via gateway</a:t>
            </a:r>
          </a:p>
          <a:p>
            <a:pPr algn="l" marL="0" indent="0">
              <a:lnSpc>
                <a:spcPct val="100000"/>
              </a:lnSpc>
              <a:buNone/>
            </a:pPr>
            <a:r>
              <a:rPr lang="en-US" sz="800" dirty="0">
                <a:solidFill>
                  <a:srgbClr val="141010"/>
                </a:solidFill>
                <a:latin typeface="Arial"/>
                <a:ea typeface="Arial"/>
                <a:cs typeface="Arial"/>
              </a:rPr>
              <a:t>Kairos canary · MCP scopes · signed A2A Agent Card</a:t>
            </a:r>
          </a:p>
          <a:p>
            <a:pPr algn="l" marL="0" indent="0">
              <a:lnSpc>
                <a:spcPct val="100000"/>
              </a:lnSpc>
              <a:buNone/>
            </a:pPr>
            <a:r>
              <a:rPr lang="en-US" sz="800" b="1" dirty="0">
                <a:solidFill>
                  <a:srgbClr val="141010"/>
                </a:solidFill>
                <a:latin typeface="Arial"/>
                <a:ea typeface="Arial"/>
                <a:cs typeface="Arial"/>
              </a:rPr>
              <a:t>→ deployment record</a:t>
            </a:r>
          </a:p>
        </p:txBody>
      </p:sp>
      <p:sp>
        <p:nvSpPr>
          <p:cNvPr id="149" name="g1 149"/>
          <p:cNvSpPr/>
          <p:nvPr/>
        </p:nvSpPr>
        <p:spPr>
          <a:xfrm>
            <a:off x="10040112"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7  Runtime control</a:t>
            </a:r>
          </a:p>
          <a:p>
            <a:pPr algn="l" marL="0" indent="0">
              <a:lnSpc>
                <a:spcPct val="100000"/>
              </a:lnSpc>
              <a:buNone/>
            </a:pPr>
            <a:r>
              <a:rPr lang="en-US" sz="800" dirty="0">
                <a:solidFill>
                  <a:srgbClr val="F3E6D6"/>
                </a:solidFill>
                <a:latin typeface="Arial"/>
                <a:ea typeface="Arial"/>
                <a:cs typeface="Arial"/>
              </a:rPr>
              <a:t>Agent Control · NeMo / Luna · OPA / Cedar · session budgets</a:t>
            </a:r>
          </a:p>
          <a:p>
            <a:pPr algn="l" marL="0" indent="0">
              <a:lnSpc>
                <a:spcPct val="100000"/>
              </a:lnSpc>
              <a:buNone/>
            </a:pPr>
            <a:r>
              <a:rPr lang="en-US" sz="800" b="1" dirty="0">
                <a:solidFill>
                  <a:srgbClr val="F5B700"/>
                </a:solidFill>
                <a:latin typeface="Arial"/>
                <a:ea typeface="Arial"/>
                <a:cs typeface="Arial"/>
              </a:rPr>
              <a:t>→ decision spans</a:t>
            </a:r>
          </a:p>
        </p:txBody>
      </p:sp>
      <p:sp>
        <p:nvSpPr>
          <p:cNvPr id="150" name="g1 150"/>
          <p:cNvSpPr/>
          <p:nvPr/>
        </p:nvSpPr>
        <p:spPr>
          <a:xfrm>
            <a:off x="8129016"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8  Observe / score</a:t>
            </a:r>
          </a:p>
          <a:p>
            <a:pPr algn="l" marL="0" indent="0">
              <a:lnSpc>
                <a:spcPct val="100000"/>
              </a:lnSpc>
              <a:buNone/>
            </a:pPr>
            <a:r>
              <a:rPr lang="en-US" sz="800" dirty="0">
                <a:solidFill>
                  <a:srgbClr val="F3E6D6"/>
                </a:solidFill>
                <a:latin typeface="Arial"/>
                <a:ea typeface="Arial"/>
                <a:cs typeface="Arial"/>
              </a:rPr>
              <a:t>OTel → Galileo / Splunk AO (+ Arize) · lake / SIEM</a:t>
            </a:r>
          </a:p>
          <a:p>
            <a:pPr algn="l" marL="0" indent="0">
              <a:lnSpc>
                <a:spcPct val="100000"/>
              </a:lnSpc>
              <a:buNone/>
            </a:pPr>
            <a:r>
              <a:rPr lang="en-US" sz="800" b="1" dirty="0">
                <a:solidFill>
                  <a:srgbClr val="F5B700"/>
                </a:solidFill>
                <a:latin typeface="Arial"/>
                <a:ea typeface="Arial"/>
                <a:cs typeface="Arial"/>
              </a:rPr>
              <a:t>→ failure clusters, cost</a:t>
            </a:r>
          </a:p>
        </p:txBody>
      </p:sp>
      <p:sp>
        <p:nvSpPr>
          <p:cNvPr id="151" name="g1 151"/>
          <p:cNvSpPr/>
          <p:nvPr/>
        </p:nvSpPr>
        <p:spPr>
          <a:xfrm>
            <a:off x="6217920"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9  Optimise harness</a:t>
            </a:r>
          </a:p>
          <a:p>
            <a:pPr algn="l" marL="0" indent="0">
              <a:lnSpc>
                <a:spcPct val="100000"/>
              </a:lnSpc>
              <a:buNone/>
            </a:pPr>
            <a:r>
              <a:rPr lang="en-US" sz="800" dirty="0">
                <a:solidFill>
                  <a:srgbClr val="F3E6D6"/>
                </a:solidFill>
                <a:latin typeface="Arial"/>
                <a:ea typeface="Arial"/>
                <a:cs typeface="Arial"/>
              </a:rPr>
              <a:t>GEPA · gskill · Lucidic (exploring) · fine-tune last</a:t>
            </a:r>
          </a:p>
          <a:p>
            <a:pPr algn="l" marL="0" indent="0">
              <a:lnSpc>
                <a:spcPct val="100000"/>
              </a:lnSpc>
              <a:buNone/>
            </a:pPr>
            <a:r>
              <a:rPr lang="en-US" sz="800" b="1" dirty="0">
                <a:solidFill>
                  <a:srgbClr val="F5B700"/>
                </a:solidFill>
                <a:latin typeface="Arial"/>
                <a:ea typeface="Arial"/>
                <a:cs typeface="Arial"/>
              </a:rPr>
              <a:t>→ candidate harness@v+1</a:t>
            </a:r>
          </a:p>
        </p:txBody>
      </p:sp>
      <p:sp>
        <p:nvSpPr>
          <p:cNvPr id="152" name="g1 152"/>
          <p:cNvSpPr/>
          <p:nvPr/>
        </p:nvSpPr>
        <p:spPr>
          <a:xfrm>
            <a:off x="4306824"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10  Govern</a:t>
            </a:r>
          </a:p>
          <a:p>
            <a:pPr algn="l" marL="0" indent="0">
              <a:lnSpc>
                <a:spcPct val="100000"/>
              </a:lnSpc>
              <a:buNone/>
            </a:pPr>
            <a:r>
              <a:rPr lang="en-US" sz="800" dirty="0">
                <a:solidFill>
                  <a:srgbClr val="F3E6D6"/>
                </a:solidFill>
                <a:latin typeface="Arial"/>
                <a:ea typeface="Arial"/>
                <a:cs typeface="Arial"/>
              </a:rPr>
              <a:t>Registry · evidence to GRC · recertify · kill switch</a:t>
            </a:r>
          </a:p>
          <a:p>
            <a:pPr algn="l" marL="0" indent="0">
              <a:lnSpc>
                <a:spcPct val="100000"/>
              </a:lnSpc>
              <a:buNone/>
            </a:pPr>
            <a:r>
              <a:rPr lang="en-US" sz="800" b="1" dirty="0">
                <a:solidFill>
                  <a:srgbClr val="F5B700"/>
                </a:solidFill>
                <a:latin typeface="Arial"/>
                <a:ea typeface="Arial"/>
                <a:cs typeface="Arial"/>
              </a:rPr>
              <a:t>→ agent record</a:t>
            </a:r>
          </a:p>
        </p:txBody>
      </p:sp>
      <p:sp>
        <p:nvSpPr>
          <p:cNvPr id="153" name="g1 153"/>
          <p:cNvSpPr/>
          <p:nvPr/>
        </p:nvSpPr>
        <p:spPr>
          <a:xfrm>
            <a:off x="2395728" y="292608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11  Retire</a:t>
            </a:r>
          </a:p>
          <a:p>
            <a:pPr algn="l" marL="0" indent="0">
              <a:lnSpc>
                <a:spcPct val="100000"/>
              </a:lnSpc>
              <a:buNone/>
            </a:pPr>
            <a:r>
              <a:rPr lang="en-US" sz="800" dirty="0">
                <a:solidFill>
                  <a:srgbClr val="141010"/>
                </a:solidFill>
                <a:latin typeface="Arial"/>
                <a:ea typeface="Arial"/>
                <a:cs typeface="Arial"/>
              </a:rPr>
              <a:t>Revoke identity · unpublish card · purge memory · archive</a:t>
            </a:r>
          </a:p>
          <a:p>
            <a:pPr algn="l" marL="0" indent="0">
              <a:lnSpc>
                <a:spcPct val="100000"/>
              </a:lnSpc>
              <a:buNone/>
            </a:pPr>
            <a:r>
              <a:rPr lang="en-US" sz="800" b="1" dirty="0">
                <a:solidFill>
                  <a:srgbClr val="141010"/>
                </a:solidFill>
                <a:latin typeface="Arial"/>
                <a:ea typeface="Arial"/>
                <a:cs typeface="Arial"/>
              </a:rPr>
              <a:t>→ decommission record</a:t>
            </a:r>
          </a:p>
        </p:txBody>
      </p:sp>
      <p:sp>
        <p:nvSpPr>
          <p:cNvPr id="154" name="g1 154"/>
          <p:cNvSpPr/>
          <p:nvPr/>
        </p:nvSpPr>
        <p:spPr>
          <a:xfrm>
            <a:off x="484632" y="2926080"/>
            <a:ext cx="1664208" cy="822960"/>
          </a:xfrm>
          <a:prstGeom prst="roundRect">
            <a:avLst>
              <a:gd name="adj" fmla="val 12000"/>
            </a:avLst>
          </a:prstGeom>
          <a:solidFill>
            <a:srgbClr val="2A1A16"/>
          </a:solidFill>
          <a:ln w="9525">
            <a:solidFill>
              <a:srgbClr val="A0704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Done</a:t>
            </a:r>
          </a:p>
          <a:p>
            <a:pPr algn="l" marL="0" indent="0">
              <a:lnSpc>
                <a:spcPct val="100000"/>
              </a:lnSpc>
              <a:buNone/>
            </a:pPr>
            <a:r>
              <a:rPr lang="en-US" sz="800" dirty="0">
                <a:solidFill>
                  <a:srgbClr val="F3E6D6"/>
                </a:solidFill>
                <a:latin typeface="Arial"/>
                <a:ea typeface="Arial"/>
                <a:cs typeface="Arial"/>
              </a:rPr>
              <a:t>Identity revoked, scopes removed; inventory count goes down [6]</a:t>
            </a:r>
          </a:p>
        </p:txBody>
      </p:sp>
      <p:cxnSp>
        <p:nvCxnSpPr>
          <p:cNvPr id="155" name="g2 flow 155"/>
          <p:cNvCxnSpPr/>
          <p:nvPr/>
        </p:nvCxnSpPr>
        <p:spPr>
          <a:xfrm>
            <a:off x="2148840" y="868680"/>
            <a:ext cx="246888" cy="0"/>
          </a:xfrm>
          <a:prstGeom prst="line">
            <a:avLst/>
          </a:prstGeom>
          <a:ln w="12700">
            <a:solidFill>
              <a:srgbClr val="EE0000"/>
            </a:solidFill>
            <a:tailEnd type="triangle" w="med" len="med"/>
          </a:ln>
        </p:spPr>
      </p:cxnSp>
      <p:cxnSp>
        <p:nvCxnSpPr>
          <p:cNvPr id="156" name="g2 flow 156"/>
          <p:cNvCxnSpPr/>
          <p:nvPr/>
        </p:nvCxnSpPr>
        <p:spPr>
          <a:xfrm>
            <a:off x="4059936" y="868680"/>
            <a:ext cx="246888" cy="0"/>
          </a:xfrm>
          <a:prstGeom prst="line">
            <a:avLst/>
          </a:prstGeom>
          <a:ln w="12700">
            <a:solidFill>
              <a:srgbClr val="EE0000"/>
            </a:solidFill>
            <a:tailEnd type="triangle" w="med" len="med"/>
          </a:ln>
        </p:spPr>
      </p:cxnSp>
      <p:cxnSp>
        <p:nvCxnSpPr>
          <p:cNvPr id="157" name="g2 flow 157"/>
          <p:cNvCxnSpPr/>
          <p:nvPr/>
        </p:nvCxnSpPr>
        <p:spPr>
          <a:xfrm>
            <a:off x="5971032" y="868680"/>
            <a:ext cx="246888" cy="0"/>
          </a:xfrm>
          <a:prstGeom prst="line">
            <a:avLst/>
          </a:prstGeom>
          <a:ln w="12700">
            <a:solidFill>
              <a:srgbClr val="EE0000"/>
            </a:solidFill>
            <a:tailEnd type="triangle" w="med" len="med"/>
          </a:ln>
        </p:spPr>
      </p:cxnSp>
      <p:cxnSp>
        <p:nvCxnSpPr>
          <p:cNvPr id="158" name="g2 flow 158"/>
          <p:cNvCxnSpPr/>
          <p:nvPr/>
        </p:nvCxnSpPr>
        <p:spPr>
          <a:xfrm>
            <a:off x="7882128" y="868680"/>
            <a:ext cx="246888" cy="0"/>
          </a:xfrm>
          <a:prstGeom prst="line">
            <a:avLst/>
          </a:prstGeom>
          <a:ln w="12700">
            <a:solidFill>
              <a:srgbClr val="EE0000"/>
            </a:solidFill>
            <a:tailEnd type="triangle" w="med" len="med"/>
          </a:ln>
        </p:spPr>
      </p:cxnSp>
      <p:cxnSp>
        <p:nvCxnSpPr>
          <p:cNvPr id="159" name="g2 flow 159"/>
          <p:cNvCxnSpPr/>
          <p:nvPr/>
        </p:nvCxnSpPr>
        <p:spPr>
          <a:xfrm>
            <a:off x="9793224" y="868680"/>
            <a:ext cx="246888" cy="0"/>
          </a:xfrm>
          <a:prstGeom prst="line">
            <a:avLst/>
          </a:prstGeom>
          <a:ln w="12700">
            <a:solidFill>
              <a:srgbClr val="EE0000"/>
            </a:solidFill>
            <a:tailEnd type="triangle" w="med" len="med"/>
          </a:ln>
        </p:spPr>
      </p:cxnSp>
      <p:cxnSp>
        <p:nvCxnSpPr>
          <p:cNvPr id="160" name="g2 flow 160"/>
          <p:cNvCxnSpPr/>
          <p:nvPr/>
        </p:nvCxnSpPr>
        <p:spPr>
          <a:xfrm flipH="1">
            <a:off x="9793224" y="3337560"/>
            <a:ext cx="246888" cy="0"/>
          </a:xfrm>
          <a:prstGeom prst="line">
            <a:avLst/>
          </a:prstGeom>
          <a:ln w="12700">
            <a:solidFill>
              <a:srgbClr val="EE0000"/>
            </a:solidFill>
            <a:tailEnd type="triangle" w="med" len="med"/>
          </a:ln>
        </p:spPr>
      </p:cxnSp>
      <p:cxnSp>
        <p:nvCxnSpPr>
          <p:cNvPr id="161" name="g2 flow 161"/>
          <p:cNvCxnSpPr/>
          <p:nvPr/>
        </p:nvCxnSpPr>
        <p:spPr>
          <a:xfrm flipH="1">
            <a:off x="7882128" y="3337560"/>
            <a:ext cx="246888" cy="0"/>
          </a:xfrm>
          <a:prstGeom prst="line">
            <a:avLst/>
          </a:prstGeom>
          <a:ln w="12700">
            <a:solidFill>
              <a:srgbClr val="EE0000"/>
            </a:solidFill>
            <a:tailEnd type="triangle" w="med" len="med"/>
          </a:ln>
        </p:spPr>
      </p:cxnSp>
      <p:cxnSp>
        <p:nvCxnSpPr>
          <p:cNvPr id="162" name="g2 flow 162"/>
          <p:cNvCxnSpPr/>
          <p:nvPr/>
        </p:nvCxnSpPr>
        <p:spPr>
          <a:xfrm flipH="1">
            <a:off x="4059936" y="3337560"/>
            <a:ext cx="246888" cy="0"/>
          </a:xfrm>
          <a:prstGeom prst="line">
            <a:avLst/>
          </a:prstGeom>
          <a:ln w="12700">
            <a:solidFill>
              <a:srgbClr val="EE0000"/>
            </a:solidFill>
            <a:tailEnd type="triangle" w="med" len="med"/>
          </a:ln>
        </p:spPr>
      </p:cxnSp>
      <p:cxnSp>
        <p:nvCxnSpPr>
          <p:cNvPr id="163" name="g2 flow 163"/>
          <p:cNvCxnSpPr/>
          <p:nvPr/>
        </p:nvCxnSpPr>
        <p:spPr>
          <a:xfrm flipH="1">
            <a:off x="2148840" y="3337560"/>
            <a:ext cx="246888" cy="0"/>
          </a:xfrm>
          <a:prstGeom prst="line">
            <a:avLst/>
          </a:prstGeom>
          <a:ln w="12700">
            <a:solidFill>
              <a:srgbClr val="EE0000"/>
            </a:solidFill>
            <a:tailEnd type="triangle" w="med" len="med"/>
          </a:ln>
        </p:spPr>
      </p:cxnSp>
      <p:cxnSp>
        <p:nvCxnSpPr>
          <p:cNvPr id="164" name="g2 flow 164"/>
          <p:cNvCxnSpPr/>
          <p:nvPr/>
        </p:nvCxnSpPr>
        <p:spPr>
          <a:xfrm flipH="1">
            <a:off x="7882128" y="3337560"/>
            <a:ext cx="246888" cy="0"/>
          </a:xfrm>
          <a:prstGeom prst="line">
            <a:avLst/>
          </a:prstGeom>
          <a:ln w="12700">
            <a:solidFill>
              <a:srgbClr val="EE0000"/>
            </a:solidFill>
            <a:tailEnd type="triangle" w="med" len="med"/>
          </a:ln>
        </p:spPr>
      </p:cxnSp>
      <p:cxnSp>
        <p:nvCxnSpPr>
          <p:cNvPr id="165" name="g2 flow 165"/>
          <p:cNvCxnSpPr/>
          <p:nvPr/>
        </p:nvCxnSpPr>
        <p:spPr>
          <a:xfrm>
            <a:off x="10872216" y="1280160"/>
            <a:ext cx="0" cy="1645920"/>
          </a:xfrm>
          <a:prstGeom prst="line">
            <a:avLst/>
          </a:prstGeom>
          <a:ln w="12700">
            <a:solidFill>
              <a:srgbClr val="EE0000"/>
            </a:solidFill>
            <a:tailEnd type="triangle" w="med" len="med"/>
          </a:ln>
        </p:spPr>
      </p:cxnSp>
      <p:sp>
        <p:nvSpPr>
          <p:cNvPr id="166" name="g1 166"/>
          <p:cNvSpPr/>
          <p:nvPr/>
        </p:nvSpPr>
        <p:spPr>
          <a:xfrm>
            <a:off x="10927080" y="2103120"/>
            <a:ext cx="786384"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canary SLOs</a:t>
            </a:r>
          </a:p>
          <a:p>
            <a:pPr algn="l" marL="0" indent="0">
              <a:lnSpc>
                <a:spcPct val="100000"/>
              </a:lnSpc>
              <a:buNone/>
            </a:pPr>
            <a:r>
              <a:rPr lang="en-US" sz="800" dirty="0">
                <a:solidFill>
                  <a:srgbClr val="F5B700"/>
                </a:solidFill>
                <a:latin typeface="Arial"/>
                <a:ea typeface="Arial"/>
                <a:cs typeface="Arial"/>
              </a:rPr>
              <a:t>hold</a:t>
            </a:r>
          </a:p>
        </p:txBody>
      </p:sp>
      <p:cxnSp>
        <p:nvCxnSpPr>
          <p:cNvPr id="167" name="g2 flow 167"/>
          <p:cNvCxnSpPr/>
          <p:nvPr/>
        </p:nvCxnSpPr>
        <p:spPr>
          <a:xfrm>
            <a:off x="9464040" y="1280160"/>
            <a:ext cx="0" cy="548640"/>
          </a:xfrm>
          <a:prstGeom prst="line">
            <a:avLst/>
          </a:prstGeom>
          <a:ln w="12700">
            <a:solidFill>
              <a:srgbClr val="EE0000"/>
            </a:solidFill>
            <a:prstDash val="dash"/>
          </a:ln>
        </p:spPr>
      </p:cxnSp>
      <p:cxnSp>
        <p:nvCxnSpPr>
          <p:cNvPr id="168" name="g2 flow 168"/>
          <p:cNvCxnSpPr/>
          <p:nvPr/>
        </p:nvCxnSpPr>
        <p:spPr>
          <a:xfrm>
            <a:off x="9464040" y="1828800"/>
            <a:ext cx="1005840" cy="0"/>
          </a:xfrm>
          <a:prstGeom prst="line">
            <a:avLst/>
          </a:prstGeom>
          <a:ln w="12700">
            <a:solidFill>
              <a:srgbClr val="EE0000"/>
            </a:solidFill>
            <a:prstDash val="dash"/>
          </a:ln>
        </p:spPr>
      </p:cxnSp>
      <p:cxnSp>
        <p:nvCxnSpPr>
          <p:cNvPr id="169" name="g2 flow 169"/>
          <p:cNvCxnSpPr/>
          <p:nvPr/>
        </p:nvCxnSpPr>
        <p:spPr>
          <a:xfrm>
            <a:off x="10469880" y="1828800"/>
            <a:ext cx="0" cy="1097280"/>
          </a:xfrm>
          <a:prstGeom prst="line">
            <a:avLst/>
          </a:prstGeom>
          <a:ln w="12700">
            <a:solidFill>
              <a:srgbClr val="EE0000"/>
            </a:solidFill>
            <a:prstDash val="dash"/>
            <a:tailEnd type="triangle" w="med" len="med"/>
          </a:ln>
        </p:spPr>
      </p:cxnSp>
      <p:sp>
        <p:nvSpPr>
          <p:cNvPr id="170" name="g1 170"/>
          <p:cNvSpPr/>
          <p:nvPr/>
        </p:nvSpPr>
        <p:spPr>
          <a:xfrm>
            <a:off x="9500616" y="1883664"/>
            <a:ext cx="868680"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findings →</a:t>
            </a:r>
          </a:p>
          <a:p>
            <a:pPr algn="l" marL="0" indent="0">
              <a:lnSpc>
                <a:spcPct val="100000"/>
              </a:lnSpc>
              <a:buNone/>
            </a:pPr>
            <a:r>
              <a:rPr lang="en-US" sz="800" dirty="0">
                <a:solidFill>
                  <a:srgbClr val="F5B700"/>
                </a:solidFill>
                <a:latin typeface="Arial"/>
                <a:ea typeface="Arial"/>
                <a:cs typeface="Arial"/>
              </a:rPr>
              <a:t>controls</a:t>
            </a:r>
          </a:p>
        </p:txBody>
      </p:sp>
      <p:cxnSp>
        <p:nvCxnSpPr>
          <p:cNvPr id="171" name="g2 flow 171"/>
          <p:cNvCxnSpPr/>
          <p:nvPr/>
        </p:nvCxnSpPr>
        <p:spPr>
          <a:xfrm flipV="1">
            <a:off x="6492240" y="2331720"/>
            <a:ext cx="0" cy="594360"/>
          </a:xfrm>
          <a:prstGeom prst="line">
            <a:avLst/>
          </a:prstGeom>
          <a:ln w="12700">
            <a:solidFill>
              <a:srgbClr val="EE0000"/>
            </a:solidFill>
            <a:prstDash val="dash"/>
          </a:ln>
        </p:spPr>
      </p:cxnSp>
      <p:cxnSp>
        <p:nvCxnSpPr>
          <p:cNvPr id="172" name="g2 flow 172"/>
          <p:cNvCxnSpPr/>
          <p:nvPr/>
        </p:nvCxnSpPr>
        <p:spPr>
          <a:xfrm flipH="1">
            <a:off x="5577840" y="2331720"/>
            <a:ext cx="914400" cy="0"/>
          </a:xfrm>
          <a:prstGeom prst="line">
            <a:avLst/>
          </a:prstGeom>
          <a:ln w="12700">
            <a:solidFill>
              <a:srgbClr val="EE0000"/>
            </a:solidFill>
            <a:prstDash val="dash"/>
          </a:ln>
        </p:spPr>
      </p:cxnSp>
      <p:cxnSp>
        <p:nvCxnSpPr>
          <p:cNvPr id="173" name="g2 flow 173"/>
          <p:cNvCxnSpPr/>
          <p:nvPr/>
        </p:nvCxnSpPr>
        <p:spPr>
          <a:xfrm flipV="1">
            <a:off x="5577840" y="1280160"/>
            <a:ext cx="0" cy="1051560"/>
          </a:xfrm>
          <a:prstGeom prst="line">
            <a:avLst/>
          </a:prstGeom>
          <a:ln w="12700">
            <a:solidFill>
              <a:srgbClr val="EE0000"/>
            </a:solidFill>
            <a:prstDash val="dash"/>
            <a:tailEnd type="triangle" w="med" len="med"/>
          </a:ln>
        </p:spPr>
      </p:cxnSp>
      <p:sp>
        <p:nvSpPr>
          <p:cNvPr id="174" name="g1 174"/>
          <p:cNvSpPr/>
          <p:nvPr/>
        </p:nvSpPr>
        <p:spPr>
          <a:xfrm>
            <a:off x="4398264" y="1481328"/>
            <a:ext cx="1133856" cy="365760"/>
          </a:xfrm>
          <a:prstGeom prst="rect">
            <a:avLst/>
          </a:prstGeom>
          <a:noFill/>
          <a:ln>
            <a:noFill/>
          </a:ln>
        </p:spPr>
        <p:txBody>
          <a:bodyPr wrap="square" lIns="0" tIns="0" rIns="0" bIns="0" rtlCol="0" anchor="t">
            <a:noAutofit/>
          </a:bodyPr>
          <a:lstStyle/>
          <a:p>
            <a:pPr algn="r" marL="0" indent="0">
              <a:lnSpc>
                <a:spcPct val="100000"/>
              </a:lnSpc>
              <a:buNone/>
            </a:pPr>
            <a:r>
              <a:rPr lang="en-US" sz="800" dirty="0">
                <a:solidFill>
                  <a:srgbClr val="F5B700"/>
                </a:solidFill>
                <a:latin typeface="Arial"/>
                <a:ea typeface="Arial"/>
                <a:cs typeface="Arial"/>
              </a:rPr>
              <a:t>harness@v+1:</a:t>
            </a:r>
          </a:p>
          <a:p>
            <a:pPr algn="r" marL="0" indent="0">
              <a:lnSpc>
                <a:spcPct val="100000"/>
              </a:lnSpc>
              <a:buNone/>
            </a:pPr>
            <a:r>
              <a:rPr lang="en-US" sz="800" dirty="0">
                <a:solidFill>
                  <a:srgbClr val="F5B700"/>
                </a:solidFill>
                <a:latin typeface="Arial"/>
                <a:ea typeface="Arial"/>
                <a:cs typeface="Arial"/>
              </a:rPr>
              <a:t>back through sims</a:t>
            </a:r>
          </a:p>
        </p:txBody>
      </p:sp>
      <p:cxnSp>
        <p:nvCxnSpPr>
          <p:cNvPr id="175" name="g2 flow 175"/>
          <p:cNvCxnSpPr/>
          <p:nvPr/>
        </p:nvCxnSpPr>
        <p:spPr>
          <a:xfrm flipV="1">
            <a:off x="5806440" y="1920240"/>
            <a:ext cx="0" cy="1005840"/>
          </a:xfrm>
          <a:prstGeom prst="line">
            <a:avLst/>
          </a:prstGeom>
          <a:ln w="12700">
            <a:solidFill>
              <a:srgbClr val="EE0000"/>
            </a:solidFill>
            <a:prstDash val="dash"/>
          </a:ln>
        </p:spPr>
      </p:cxnSp>
      <p:cxnSp>
        <p:nvCxnSpPr>
          <p:cNvPr id="176" name="g2 flow 176"/>
          <p:cNvCxnSpPr/>
          <p:nvPr/>
        </p:nvCxnSpPr>
        <p:spPr>
          <a:xfrm>
            <a:off x="5806440" y="1920240"/>
            <a:ext cx="1143000" cy="0"/>
          </a:xfrm>
          <a:prstGeom prst="line">
            <a:avLst/>
          </a:prstGeom>
          <a:ln w="12700">
            <a:solidFill>
              <a:srgbClr val="EE0000"/>
            </a:solidFill>
            <a:prstDash val="dash"/>
          </a:ln>
        </p:spPr>
      </p:cxnSp>
      <p:cxnSp>
        <p:nvCxnSpPr>
          <p:cNvPr id="177" name="g2 flow 177"/>
          <p:cNvCxnSpPr/>
          <p:nvPr/>
        </p:nvCxnSpPr>
        <p:spPr>
          <a:xfrm flipV="1">
            <a:off x="6949440" y="1280160"/>
            <a:ext cx="0" cy="640080"/>
          </a:xfrm>
          <a:prstGeom prst="line">
            <a:avLst/>
          </a:prstGeom>
          <a:ln w="12700">
            <a:solidFill>
              <a:srgbClr val="EE0000"/>
            </a:solidFill>
            <a:prstDash val="dash"/>
            <a:tailEnd type="triangle" w="med" len="med"/>
          </a:ln>
        </p:spPr>
      </p:cxnSp>
      <p:sp>
        <p:nvSpPr>
          <p:cNvPr id="178" name="g1 178"/>
          <p:cNvSpPr/>
          <p:nvPr/>
        </p:nvSpPr>
        <p:spPr>
          <a:xfrm>
            <a:off x="7004304" y="1463040"/>
            <a:ext cx="1188720"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recertify ·</a:t>
            </a:r>
          </a:p>
          <a:p>
            <a:pPr algn="l" marL="0" indent="0">
              <a:lnSpc>
                <a:spcPct val="100000"/>
              </a:lnSpc>
              <a:buNone/>
            </a:pPr>
            <a:r>
              <a:rPr lang="en-US" sz="800" dirty="0">
                <a:solidFill>
                  <a:srgbClr val="F5B700"/>
                </a:solidFill>
                <a:latin typeface="Arial"/>
                <a:ea typeface="Arial"/>
                <a:cs typeface="Arial"/>
              </a:rPr>
              <a:t>demote autonomy</a:t>
            </a:r>
          </a:p>
        </p:txBody>
      </p:sp>
      <p:cxnSp>
        <p:nvCxnSpPr>
          <p:cNvPr id="179" name="g2 flow 179"/>
          <p:cNvCxnSpPr/>
          <p:nvPr/>
        </p:nvCxnSpPr>
        <p:spPr>
          <a:xfrm>
            <a:off x="8494776" y="3749040"/>
            <a:ext cx="0" cy="201168"/>
          </a:xfrm>
          <a:prstGeom prst="line">
            <a:avLst/>
          </a:prstGeom>
          <a:ln w="12700">
            <a:solidFill>
              <a:srgbClr val="EE0000"/>
            </a:solidFill>
          </a:ln>
        </p:spPr>
      </p:cxnSp>
      <p:cxnSp>
        <p:nvCxnSpPr>
          <p:cNvPr id="180" name="g2 flow 180"/>
          <p:cNvCxnSpPr/>
          <p:nvPr/>
        </p:nvCxnSpPr>
        <p:spPr>
          <a:xfrm flipH="1">
            <a:off x="4764024" y="3950208"/>
            <a:ext cx="3730752" cy="0"/>
          </a:xfrm>
          <a:prstGeom prst="line">
            <a:avLst/>
          </a:prstGeom>
          <a:ln w="12700">
            <a:solidFill>
              <a:srgbClr val="EE0000"/>
            </a:solidFill>
          </a:ln>
        </p:spPr>
      </p:cxnSp>
      <p:cxnSp>
        <p:nvCxnSpPr>
          <p:cNvPr id="181" name="g2 flow 181"/>
          <p:cNvCxnSpPr/>
          <p:nvPr/>
        </p:nvCxnSpPr>
        <p:spPr>
          <a:xfrm flipV="1">
            <a:off x="4764024" y="3749040"/>
            <a:ext cx="0" cy="201168"/>
          </a:xfrm>
          <a:prstGeom prst="line">
            <a:avLst/>
          </a:prstGeom>
          <a:ln w="12700">
            <a:solidFill>
              <a:srgbClr val="EE0000"/>
            </a:solidFill>
            <a:tailEnd type="triangle" w="med" len="med"/>
          </a:ln>
        </p:spPr>
      </p:cxnSp>
      <p:sp>
        <p:nvSpPr>
          <p:cNvPr id="182" name="g2 182"/>
          <p:cNvSpPr/>
          <p:nvPr/>
        </p:nvSpPr>
        <p:spPr>
          <a:xfrm>
            <a:off x="4855464" y="3977640"/>
            <a:ext cx="31089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threshold breach or incident → govern</a:t>
            </a:r>
          </a:p>
        </p:txBody>
      </p:sp>
      <p:sp>
        <p:nvSpPr>
          <p:cNvPr id="183" name="g1 183"/>
          <p:cNvSpPr/>
          <p:nvPr/>
        </p:nvSpPr>
        <p:spPr>
          <a:xfrm>
            <a:off x="484632" y="1600200"/>
            <a:ext cx="3575304" cy="1005840"/>
          </a:xfrm>
          <a:prstGeom prst="roundRect">
            <a:avLst>
              <a:gd name="adj" fmla="val 8000"/>
            </a:avLst>
          </a:prstGeom>
          <a:noFill/>
          <a:ln w="9525">
            <a:solidFill>
              <a:srgbClr val="A0704A"/>
            </a:solidFill>
          </a:ln>
        </p:spPr>
        <p:txBody>
          <a:bodyPr wrap="square" lIns="109728" tIns="36576" rIns="91440" bIns="36576" rtlCol="0" anchor="ctr">
            <a:noAutofit/>
          </a:bodyPr>
          <a:lstStyle/>
          <a:p>
            <a:pPr algn="l" marL="0" indent="0">
              <a:lnSpc>
                <a:spcPct val="100000"/>
              </a:lnSpc>
              <a:buNone/>
            </a:pPr>
            <a:r>
              <a:rPr lang="en-US" sz="900" b="1" dirty="0">
                <a:solidFill>
                  <a:srgbClr val="F5B700"/>
                </a:solidFill>
                <a:latin typeface="Arial"/>
                <a:ea typeface="Arial"/>
                <a:cs typeface="Arial"/>
              </a:rPr>
              <a:t>JOIN KEYS ON EVERY ARTEFACT AND SPAN</a:t>
            </a:r>
          </a:p>
          <a:p>
            <a:pPr algn="l" marL="0" indent="0">
              <a:lnSpc>
                <a:spcPct val="100000"/>
              </a:lnSpc>
              <a:buNone/>
            </a:pPr>
            <a:r>
              <a:rPr lang="en-US" sz="800" dirty="0">
                <a:solidFill>
                  <a:srgbClr val="F3E6D6"/>
                </a:solidFill>
                <a:latin typeface="Arial"/>
                <a:ea typeface="Arial"/>
                <a:cs typeface="Arial"/>
              </a:rPr>
              <a:t>agent_id · agent_version · harness_version · use_case_id · tenant · risk_tier · autonomy_level (L1–L4) · trace / session id</a:t>
            </a:r>
          </a:p>
          <a:p>
            <a:pPr algn="l" marL="0" indent="0">
              <a:lnSpc>
                <a:spcPct val="100000"/>
              </a:lnSpc>
              <a:buNone/>
            </a:pPr>
            <a:r>
              <a:rPr lang="en-US" sz="800" b="1" dirty="0">
                <a:solidFill>
                  <a:srgbClr val="FFFFFF"/>
                </a:solidFill>
                <a:latin typeface="Arial"/>
                <a:ea typeface="Arial"/>
                <a:cs typeface="Arial"/>
              </a:rPr>
              <a:t>New: </a:t>
            </a:r>
            <a:r>
              <a:rPr lang="en-US" sz="800" dirty="0">
                <a:solidFill>
                  <a:srgbClr val="F3E6D6"/>
                </a:solidFill>
                <a:latin typeface="Arial"/>
                <a:ea typeface="Arial"/>
                <a:cs typeface="Arial"/>
              </a:rPr>
              <a:t>caller_agent_id for multi-agent; vendor + external_agent_ref for third-party</a:t>
            </a:r>
          </a:p>
        </p:txBody>
      </p:sp>
      <p:cxnSp>
        <p:nvCxnSpPr>
          <p:cNvPr id="184" name="g2 flow 184"/>
          <p:cNvCxnSpPr/>
          <p:nvPr/>
        </p:nvCxnSpPr>
        <p:spPr>
          <a:xfrm>
            <a:off x="1316736" y="1280160"/>
            <a:ext cx="0" cy="320040"/>
          </a:xfrm>
          <a:prstGeom prst="line">
            <a:avLst/>
          </a:prstGeom>
          <a:ln w="12700">
            <a:solidFill>
              <a:srgbClr val="A0704A"/>
            </a:solidFill>
            <a:prstDash val="dash"/>
          </a:ln>
        </p:spPr>
      </p:cxnSp>
      <p:cxnSp>
        <p:nvCxnSpPr>
          <p:cNvPr id="185" name="g2 flow 185"/>
          <p:cNvCxnSpPr/>
          <p:nvPr/>
        </p:nvCxnSpPr>
        <p:spPr>
          <a:xfrm>
            <a:off x="3227832" y="2606040"/>
            <a:ext cx="0" cy="320040"/>
          </a:xfrm>
          <a:prstGeom prst="line">
            <a:avLst/>
          </a:prstGeom>
          <a:ln w="12700">
            <a:solidFill>
              <a:srgbClr val="A0704A"/>
            </a:solidFill>
            <a:prstDash val="dash"/>
          </a:ln>
        </p:spPr>
      </p:cxnSp>
      <p:sp>
        <p:nvSpPr>
          <p:cNvPr id="186" name="g2 186"/>
          <p:cNvSpPr/>
          <p:nvPr/>
        </p:nvSpPr>
        <p:spPr>
          <a:xfrm>
            <a:off x="484632" y="4315968"/>
            <a:ext cx="8412480" cy="20116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Filled: new step in the agent loop  ·  Outline: existing pillar stage, re-cut per agent  ·  Dashed: feedback</a:t>
            </a:r>
          </a:p>
        </p:txBody>
      </p:sp>
      <p:sp>
        <p:nvSpPr>
          <p:cNvPr id="187"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03 / 17</a:t>
            </a:r>
          </a:p>
        </p:txBody>
      </p:sp>
      <p:sp>
        <p:nvSpPr>
          <p:cNvPr id="188"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89"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0">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717036" y="-5362956"/>
            <a:ext cx="8621878" cy="8621878"/>
          </a:xfrm>
          <a:prstGeom prst="ellipse">
            <a:avLst/>
          </a:prstGeom>
          <a:solidFill>
            <a:srgbClr val="8A0F1A">
              <a:alpha val="2547"/>
            </a:srgbClr>
          </a:solidFill>
          <a:ln/>
        </p:spPr>
      </p:sp>
      <p:sp>
        <p:nvSpPr>
          <p:cNvPr id="3" name="Shape 1"/>
          <p:cNvSpPr/>
          <p:nvPr/>
        </p:nvSpPr>
        <p:spPr>
          <a:xfrm>
            <a:off x="-3537414" y="-5183334"/>
            <a:ext cx="8262633" cy="8262633"/>
          </a:xfrm>
          <a:prstGeom prst="ellipse">
            <a:avLst/>
          </a:prstGeom>
          <a:solidFill>
            <a:srgbClr val="8A0F1A">
              <a:alpha val="4218"/>
            </a:srgbClr>
          </a:solidFill>
          <a:ln/>
        </p:spPr>
      </p:sp>
      <p:sp>
        <p:nvSpPr>
          <p:cNvPr id="4" name="Shape 2"/>
          <p:cNvSpPr/>
          <p:nvPr/>
        </p:nvSpPr>
        <p:spPr>
          <a:xfrm>
            <a:off x="-3357791" y="-5003711"/>
            <a:ext cx="7903388" cy="7903388"/>
          </a:xfrm>
          <a:prstGeom prst="ellipse">
            <a:avLst/>
          </a:prstGeom>
          <a:solidFill>
            <a:srgbClr val="8A0F1A">
              <a:alpha val="4138"/>
            </a:srgbClr>
          </a:solidFill>
          <a:ln/>
        </p:spPr>
      </p:sp>
      <p:sp>
        <p:nvSpPr>
          <p:cNvPr id="5" name="Shape 3"/>
          <p:cNvSpPr/>
          <p:nvPr/>
        </p:nvSpPr>
        <p:spPr>
          <a:xfrm>
            <a:off x="-3178169" y="-4824089"/>
            <a:ext cx="7544143" cy="7544143"/>
          </a:xfrm>
          <a:prstGeom prst="ellipse">
            <a:avLst/>
          </a:prstGeom>
          <a:solidFill>
            <a:srgbClr val="8A0F1A">
              <a:alpha val="2636"/>
            </a:srgbClr>
          </a:solidFill>
          <a:ln/>
        </p:spPr>
      </p:sp>
      <p:sp>
        <p:nvSpPr>
          <p:cNvPr id="6" name="Shape 4"/>
          <p:cNvSpPr/>
          <p:nvPr/>
        </p:nvSpPr>
        <p:spPr>
          <a:xfrm>
            <a:off x="-2998546" y="-4644466"/>
            <a:ext cx="7184898" cy="7184898"/>
          </a:xfrm>
          <a:prstGeom prst="ellipse">
            <a:avLst/>
          </a:prstGeom>
          <a:solidFill>
            <a:srgbClr val="8A0F1A">
              <a:alpha val="2661"/>
            </a:srgbClr>
          </a:solidFill>
          <a:ln/>
        </p:spPr>
      </p:sp>
      <p:sp>
        <p:nvSpPr>
          <p:cNvPr id="7" name="Shape 5"/>
          <p:cNvSpPr/>
          <p:nvPr/>
        </p:nvSpPr>
        <p:spPr>
          <a:xfrm>
            <a:off x="-2818924" y="-4464844"/>
            <a:ext cx="6825653" cy="6825653"/>
          </a:xfrm>
          <a:prstGeom prst="ellipse">
            <a:avLst/>
          </a:prstGeom>
          <a:solidFill>
            <a:srgbClr val="8A0F1A">
              <a:alpha val="3304"/>
            </a:srgbClr>
          </a:solidFill>
          <a:ln/>
        </p:spPr>
      </p:sp>
      <p:sp>
        <p:nvSpPr>
          <p:cNvPr id="8" name="Shape 6"/>
          <p:cNvSpPr/>
          <p:nvPr/>
        </p:nvSpPr>
        <p:spPr>
          <a:xfrm>
            <a:off x="-2639301" y="-4285221"/>
            <a:ext cx="6466408" cy="6466408"/>
          </a:xfrm>
          <a:prstGeom prst="ellipse">
            <a:avLst/>
          </a:prstGeom>
          <a:solidFill>
            <a:srgbClr val="8A0F1A">
              <a:alpha val="3622"/>
            </a:srgbClr>
          </a:solidFill>
          <a:ln/>
        </p:spPr>
      </p:sp>
      <p:sp>
        <p:nvSpPr>
          <p:cNvPr id="9" name="Shape 7"/>
          <p:cNvSpPr/>
          <p:nvPr/>
        </p:nvSpPr>
        <p:spPr>
          <a:xfrm>
            <a:off x="-2459679" y="-4105599"/>
            <a:ext cx="6107163" cy="6107163"/>
          </a:xfrm>
          <a:prstGeom prst="ellipse">
            <a:avLst/>
          </a:prstGeom>
          <a:solidFill>
            <a:srgbClr val="8A0F1A">
              <a:alpha val="3650"/>
            </a:srgbClr>
          </a:solidFill>
          <a:ln/>
        </p:spPr>
      </p:sp>
      <p:sp>
        <p:nvSpPr>
          <p:cNvPr id="10" name="Shape 8"/>
          <p:cNvSpPr/>
          <p:nvPr/>
        </p:nvSpPr>
        <p:spPr>
          <a:xfrm>
            <a:off x="-2280056" y="-3925976"/>
            <a:ext cx="5747918" cy="5747918"/>
          </a:xfrm>
          <a:prstGeom prst="ellipse">
            <a:avLst/>
          </a:prstGeom>
          <a:solidFill>
            <a:srgbClr val="8A0F1A">
              <a:alpha val="3631"/>
            </a:srgbClr>
          </a:solidFill>
          <a:ln/>
        </p:spPr>
      </p:sp>
      <p:sp>
        <p:nvSpPr>
          <p:cNvPr id="11" name="Shape 9"/>
          <p:cNvSpPr/>
          <p:nvPr/>
        </p:nvSpPr>
        <p:spPr>
          <a:xfrm>
            <a:off x="-2100434" y="-3746354"/>
            <a:ext cx="5388674" cy="5388674"/>
          </a:xfrm>
          <a:prstGeom prst="ellipse">
            <a:avLst/>
          </a:prstGeom>
          <a:solidFill>
            <a:srgbClr val="8A0F1A">
              <a:alpha val="3693"/>
            </a:srgbClr>
          </a:solidFill>
          <a:ln/>
        </p:spPr>
      </p:sp>
      <p:sp>
        <p:nvSpPr>
          <p:cNvPr id="12" name="Shape 10"/>
          <p:cNvSpPr/>
          <p:nvPr/>
        </p:nvSpPr>
        <p:spPr>
          <a:xfrm>
            <a:off x="-1920812" y="-3566731"/>
            <a:ext cx="5029429" cy="5029429"/>
          </a:xfrm>
          <a:prstGeom prst="ellipse">
            <a:avLst/>
          </a:prstGeom>
          <a:solidFill>
            <a:srgbClr val="8A0F1A">
              <a:alpha val="4536"/>
            </a:srgbClr>
          </a:solidFill>
          <a:ln/>
        </p:spPr>
      </p:sp>
      <p:sp>
        <p:nvSpPr>
          <p:cNvPr id="13" name="Shape 11"/>
          <p:cNvSpPr/>
          <p:nvPr/>
        </p:nvSpPr>
        <p:spPr>
          <a:xfrm>
            <a:off x="-1741189" y="-3387109"/>
            <a:ext cx="4670184" cy="4670184"/>
          </a:xfrm>
          <a:prstGeom prst="ellipse">
            <a:avLst/>
          </a:prstGeom>
          <a:solidFill>
            <a:srgbClr val="8A0F1A">
              <a:alpha val="4737"/>
            </a:srgbClr>
          </a:solidFill>
          <a:ln/>
        </p:spPr>
      </p:sp>
      <p:sp>
        <p:nvSpPr>
          <p:cNvPr id="14" name="Shape 12"/>
          <p:cNvSpPr/>
          <p:nvPr/>
        </p:nvSpPr>
        <p:spPr>
          <a:xfrm>
            <a:off x="-1561567" y="-3207487"/>
            <a:ext cx="4310939" cy="4310939"/>
          </a:xfrm>
          <a:prstGeom prst="ellipse">
            <a:avLst/>
          </a:prstGeom>
          <a:solidFill>
            <a:srgbClr val="8A0F1A">
              <a:alpha val="4994"/>
            </a:srgbClr>
          </a:solidFill>
          <a:ln/>
        </p:spPr>
      </p:sp>
      <p:sp>
        <p:nvSpPr>
          <p:cNvPr id="15" name="Shape 13"/>
          <p:cNvSpPr/>
          <p:nvPr/>
        </p:nvSpPr>
        <p:spPr>
          <a:xfrm>
            <a:off x="-1381944" y="-3027864"/>
            <a:ext cx="3951694" cy="3951694"/>
          </a:xfrm>
          <a:prstGeom prst="ellipse">
            <a:avLst/>
          </a:prstGeom>
          <a:solidFill>
            <a:srgbClr val="8A0F1A">
              <a:alpha val="5272"/>
            </a:srgbClr>
          </a:solidFill>
          <a:ln/>
        </p:spPr>
      </p:sp>
      <p:sp>
        <p:nvSpPr>
          <p:cNvPr id="16" name="Shape 14"/>
          <p:cNvSpPr/>
          <p:nvPr/>
        </p:nvSpPr>
        <p:spPr>
          <a:xfrm>
            <a:off x="-1202322" y="-2848242"/>
            <a:ext cx="3592449" cy="3592449"/>
          </a:xfrm>
          <a:prstGeom prst="ellipse">
            <a:avLst/>
          </a:prstGeom>
          <a:solidFill>
            <a:srgbClr val="8A0F1A">
              <a:alpha val="5521"/>
            </a:srgbClr>
          </a:solidFill>
          <a:ln/>
        </p:spPr>
      </p:sp>
      <p:sp>
        <p:nvSpPr>
          <p:cNvPr id="17" name="Shape 15"/>
          <p:cNvSpPr/>
          <p:nvPr/>
        </p:nvSpPr>
        <p:spPr>
          <a:xfrm>
            <a:off x="-1022699" y="-2668619"/>
            <a:ext cx="3233204" cy="3233204"/>
          </a:xfrm>
          <a:prstGeom prst="ellipse">
            <a:avLst/>
          </a:prstGeom>
          <a:solidFill>
            <a:srgbClr val="8A0F1A">
              <a:alpha val="6496"/>
            </a:srgbClr>
          </a:solidFill>
          <a:ln/>
        </p:spPr>
      </p:sp>
      <p:sp>
        <p:nvSpPr>
          <p:cNvPr id="18" name="Shape 16"/>
          <p:cNvSpPr/>
          <p:nvPr/>
        </p:nvSpPr>
        <p:spPr>
          <a:xfrm>
            <a:off x="-843077" y="-2488997"/>
            <a:ext cx="2873959" cy="2873959"/>
          </a:xfrm>
          <a:prstGeom prst="ellipse">
            <a:avLst/>
          </a:prstGeom>
          <a:solidFill>
            <a:srgbClr val="8A0F1A">
              <a:alpha val="6768"/>
            </a:srgbClr>
          </a:solidFill>
          <a:ln/>
        </p:spPr>
      </p:sp>
      <p:sp>
        <p:nvSpPr>
          <p:cNvPr id="19" name="Shape 17"/>
          <p:cNvSpPr/>
          <p:nvPr/>
        </p:nvSpPr>
        <p:spPr>
          <a:xfrm>
            <a:off x="-663454" y="-2309374"/>
            <a:ext cx="2514714" cy="2514714"/>
          </a:xfrm>
          <a:prstGeom prst="ellipse">
            <a:avLst/>
          </a:prstGeom>
          <a:solidFill>
            <a:srgbClr val="8A0F1A">
              <a:alpha val="7123"/>
            </a:srgbClr>
          </a:solidFill>
          <a:ln/>
        </p:spPr>
      </p:sp>
      <p:sp>
        <p:nvSpPr>
          <p:cNvPr id="20" name="Shape 18"/>
          <p:cNvSpPr/>
          <p:nvPr/>
        </p:nvSpPr>
        <p:spPr>
          <a:xfrm>
            <a:off x="-483832" y="-2129752"/>
            <a:ext cx="2155469" cy="2155469"/>
          </a:xfrm>
          <a:prstGeom prst="ellipse">
            <a:avLst/>
          </a:prstGeom>
          <a:solidFill>
            <a:srgbClr val="8A0F1A">
              <a:alpha val="7486"/>
            </a:srgbClr>
          </a:solidFill>
          <a:ln/>
        </p:spPr>
      </p:sp>
      <p:sp>
        <p:nvSpPr>
          <p:cNvPr id="21" name="Shape 19"/>
          <p:cNvSpPr/>
          <p:nvPr/>
        </p:nvSpPr>
        <p:spPr>
          <a:xfrm>
            <a:off x="-304209" y="-1950129"/>
            <a:ext cx="1796225" cy="1796225"/>
          </a:xfrm>
          <a:prstGeom prst="ellipse">
            <a:avLst/>
          </a:prstGeom>
          <a:solidFill>
            <a:srgbClr val="8A0F1A">
              <a:alpha val="8191"/>
            </a:srgbClr>
          </a:solidFill>
          <a:ln/>
        </p:spPr>
      </p:sp>
      <p:sp>
        <p:nvSpPr>
          <p:cNvPr id="22" name="Shape 20"/>
          <p:cNvSpPr/>
          <p:nvPr/>
        </p:nvSpPr>
        <p:spPr>
          <a:xfrm>
            <a:off x="-124587" y="-1770507"/>
            <a:ext cx="1436980" cy="1436980"/>
          </a:xfrm>
          <a:prstGeom prst="ellipse">
            <a:avLst/>
          </a:prstGeom>
          <a:solidFill>
            <a:srgbClr val="8A0F1A">
              <a:alpha val="9466"/>
            </a:srgbClr>
          </a:solidFill>
          <a:ln/>
        </p:spPr>
      </p:sp>
      <p:sp>
        <p:nvSpPr>
          <p:cNvPr id="23" name="Shape 21"/>
          <p:cNvSpPr/>
          <p:nvPr/>
        </p:nvSpPr>
        <p:spPr>
          <a:xfrm>
            <a:off x="55035" y="-1590885"/>
            <a:ext cx="1077735" cy="1077735"/>
          </a:xfrm>
          <a:prstGeom prst="ellipse">
            <a:avLst/>
          </a:prstGeom>
          <a:solidFill>
            <a:srgbClr val="8A0F1A">
              <a:alpha val="10120"/>
            </a:srgbClr>
          </a:solidFill>
          <a:ln/>
        </p:spPr>
      </p:sp>
      <p:sp>
        <p:nvSpPr>
          <p:cNvPr id="24" name="Shape 22"/>
          <p:cNvSpPr/>
          <p:nvPr/>
        </p:nvSpPr>
        <p:spPr>
          <a:xfrm>
            <a:off x="234658" y="-1411262"/>
            <a:ext cx="718490" cy="718490"/>
          </a:xfrm>
          <a:prstGeom prst="ellipse">
            <a:avLst/>
          </a:prstGeom>
          <a:solidFill>
            <a:srgbClr val="8A0F1A">
              <a:alpha val="10280"/>
            </a:srgbClr>
          </a:solidFill>
          <a:ln/>
        </p:spPr>
      </p:sp>
      <p:sp>
        <p:nvSpPr>
          <p:cNvPr id="25" name="Shape 23"/>
          <p:cNvSpPr/>
          <p:nvPr/>
        </p:nvSpPr>
        <p:spPr>
          <a:xfrm>
            <a:off x="414280" y="-1231640"/>
            <a:ext cx="359245" cy="359245"/>
          </a:xfrm>
          <a:prstGeom prst="ellipse">
            <a:avLst/>
          </a:prstGeom>
          <a:solidFill>
            <a:srgbClr val="8A0F1A">
              <a:alpha val="10999"/>
            </a:srgbClr>
          </a:solidFill>
          <a:ln/>
        </p:spPr>
      </p:sp>
      <p:sp>
        <p:nvSpPr>
          <p:cNvPr id="26" name="Shape 24"/>
          <p:cNvSpPr/>
          <p:nvPr/>
        </p:nvSpPr>
        <p:spPr>
          <a:xfrm>
            <a:off x="895198" y="3602736"/>
            <a:ext cx="8621878" cy="8621878"/>
          </a:xfrm>
          <a:prstGeom prst="ellipse">
            <a:avLst/>
          </a:prstGeom>
          <a:solidFill>
            <a:srgbClr val="8A0F1A">
              <a:alpha val="2547"/>
            </a:srgbClr>
          </a:solidFill>
          <a:ln/>
        </p:spPr>
      </p:sp>
      <p:sp>
        <p:nvSpPr>
          <p:cNvPr id="27" name="Shape 25"/>
          <p:cNvSpPr/>
          <p:nvPr/>
        </p:nvSpPr>
        <p:spPr>
          <a:xfrm>
            <a:off x="1074820" y="3782358"/>
            <a:ext cx="8262633" cy="8262633"/>
          </a:xfrm>
          <a:prstGeom prst="ellipse">
            <a:avLst/>
          </a:prstGeom>
          <a:solidFill>
            <a:srgbClr val="8A0F1A">
              <a:alpha val="4218"/>
            </a:srgbClr>
          </a:solidFill>
          <a:ln/>
        </p:spPr>
      </p:sp>
      <p:sp>
        <p:nvSpPr>
          <p:cNvPr id="28" name="Shape 26"/>
          <p:cNvSpPr/>
          <p:nvPr/>
        </p:nvSpPr>
        <p:spPr>
          <a:xfrm>
            <a:off x="1254443" y="3961981"/>
            <a:ext cx="7903388" cy="7903388"/>
          </a:xfrm>
          <a:prstGeom prst="ellipse">
            <a:avLst/>
          </a:prstGeom>
          <a:solidFill>
            <a:srgbClr val="8A0F1A">
              <a:alpha val="4138"/>
            </a:srgbClr>
          </a:solidFill>
          <a:ln/>
        </p:spPr>
      </p:sp>
      <p:sp>
        <p:nvSpPr>
          <p:cNvPr id="29" name="Shape 27"/>
          <p:cNvSpPr/>
          <p:nvPr/>
        </p:nvSpPr>
        <p:spPr>
          <a:xfrm>
            <a:off x="1434065" y="4141603"/>
            <a:ext cx="7544143" cy="7544143"/>
          </a:xfrm>
          <a:prstGeom prst="ellipse">
            <a:avLst/>
          </a:prstGeom>
          <a:solidFill>
            <a:srgbClr val="8A0F1A">
              <a:alpha val="2636"/>
            </a:srgbClr>
          </a:solidFill>
          <a:ln/>
        </p:spPr>
      </p:sp>
      <p:sp>
        <p:nvSpPr>
          <p:cNvPr id="30" name="Shape 28"/>
          <p:cNvSpPr/>
          <p:nvPr/>
        </p:nvSpPr>
        <p:spPr>
          <a:xfrm>
            <a:off x="1613687" y="4321226"/>
            <a:ext cx="7184898" cy="7184898"/>
          </a:xfrm>
          <a:prstGeom prst="ellipse">
            <a:avLst/>
          </a:prstGeom>
          <a:solidFill>
            <a:srgbClr val="8A0F1A">
              <a:alpha val="2661"/>
            </a:srgbClr>
          </a:solidFill>
          <a:ln/>
        </p:spPr>
      </p:sp>
      <p:sp>
        <p:nvSpPr>
          <p:cNvPr id="31" name="Shape 29"/>
          <p:cNvSpPr/>
          <p:nvPr/>
        </p:nvSpPr>
        <p:spPr>
          <a:xfrm>
            <a:off x="1793310" y="4500848"/>
            <a:ext cx="6825653" cy="6825653"/>
          </a:xfrm>
          <a:prstGeom prst="ellipse">
            <a:avLst/>
          </a:prstGeom>
          <a:solidFill>
            <a:srgbClr val="8A0F1A">
              <a:alpha val="3304"/>
            </a:srgbClr>
          </a:solidFill>
          <a:ln/>
        </p:spPr>
      </p:sp>
      <p:sp>
        <p:nvSpPr>
          <p:cNvPr id="32" name="Shape 30"/>
          <p:cNvSpPr/>
          <p:nvPr/>
        </p:nvSpPr>
        <p:spPr>
          <a:xfrm>
            <a:off x="1972932" y="4680471"/>
            <a:ext cx="6466408" cy="6466408"/>
          </a:xfrm>
          <a:prstGeom prst="ellipse">
            <a:avLst/>
          </a:prstGeom>
          <a:solidFill>
            <a:srgbClr val="8A0F1A">
              <a:alpha val="3622"/>
            </a:srgbClr>
          </a:solidFill>
          <a:ln/>
        </p:spPr>
      </p:sp>
      <p:sp>
        <p:nvSpPr>
          <p:cNvPr id="33" name="Shape 31"/>
          <p:cNvSpPr/>
          <p:nvPr/>
        </p:nvSpPr>
        <p:spPr>
          <a:xfrm>
            <a:off x="2152555" y="4860093"/>
            <a:ext cx="6107163" cy="6107163"/>
          </a:xfrm>
          <a:prstGeom prst="ellipse">
            <a:avLst/>
          </a:prstGeom>
          <a:solidFill>
            <a:srgbClr val="8A0F1A">
              <a:alpha val="3650"/>
            </a:srgbClr>
          </a:solidFill>
          <a:ln/>
        </p:spPr>
      </p:sp>
      <p:sp>
        <p:nvSpPr>
          <p:cNvPr id="34" name="Shape 32"/>
          <p:cNvSpPr/>
          <p:nvPr/>
        </p:nvSpPr>
        <p:spPr>
          <a:xfrm>
            <a:off x="2332177" y="5039716"/>
            <a:ext cx="5747918" cy="5747918"/>
          </a:xfrm>
          <a:prstGeom prst="ellipse">
            <a:avLst/>
          </a:prstGeom>
          <a:solidFill>
            <a:srgbClr val="8A0F1A">
              <a:alpha val="3631"/>
            </a:srgbClr>
          </a:solidFill>
          <a:ln/>
        </p:spPr>
      </p:sp>
      <p:sp>
        <p:nvSpPr>
          <p:cNvPr id="35" name="Shape 33"/>
          <p:cNvSpPr/>
          <p:nvPr/>
        </p:nvSpPr>
        <p:spPr>
          <a:xfrm>
            <a:off x="2511800" y="5219338"/>
            <a:ext cx="5388674" cy="5388674"/>
          </a:xfrm>
          <a:prstGeom prst="ellipse">
            <a:avLst/>
          </a:prstGeom>
          <a:solidFill>
            <a:srgbClr val="8A0F1A">
              <a:alpha val="3693"/>
            </a:srgbClr>
          </a:solidFill>
          <a:ln/>
        </p:spPr>
      </p:sp>
      <p:sp>
        <p:nvSpPr>
          <p:cNvPr id="36" name="Shape 34"/>
          <p:cNvSpPr/>
          <p:nvPr/>
        </p:nvSpPr>
        <p:spPr>
          <a:xfrm>
            <a:off x="2691422" y="5398961"/>
            <a:ext cx="5029429" cy="5029429"/>
          </a:xfrm>
          <a:prstGeom prst="ellipse">
            <a:avLst/>
          </a:prstGeom>
          <a:solidFill>
            <a:srgbClr val="8A0F1A">
              <a:alpha val="4536"/>
            </a:srgbClr>
          </a:solidFill>
          <a:ln/>
        </p:spPr>
      </p:sp>
      <p:sp>
        <p:nvSpPr>
          <p:cNvPr id="37" name="Shape 35"/>
          <p:cNvSpPr/>
          <p:nvPr/>
        </p:nvSpPr>
        <p:spPr>
          <a:xfrm>
            <a:off x="2871045" y="5578583"/>
            <a:ext cx="4670184" cy="4670184"/>
          </a:xfrm>
          <a:prstGeom prst="ellipse">
            <a:avLst/>
          </a:prstGeom>
          <a:solidFill>
            <a:srgbClr val="8A0F1A">
              <a:alpha val="4737"/>
            </a:srgbClr>
          </a:solidFill>
          <a:ln/>
        </p:spPr>
      </p:sp>
      <p:sp>
        <p:nvSpPr>
          <p:cNvPr id="38" name="Shape 36"/>
          <p:cNvSpPr/>
          <p:nvPr/>
        </p:nvSpPr>
        <p:spPr>
          <a:xfrm>
            <a:off x="3050667" y="5758205"/>
            <a:ext cx="4310939" cy="4310939"/>
          </a:xfrm>
          <a:prstGeom prst="ellipse">
            <a:avLst/>
          </a:prstGeom>
          <a:solidFill>
            <a:srgbClr val="8A0F1A">
              <a:alpha val="4994"/>
            </a:srgbClr>
          </a:solidFill>
          <a:ln/>
        </p:spPr>
      </p:sp>
      <p:sp>
        <p:nvSpPr>
          <p:cNvPr id="39" name="Shape 37"/>
          <p:cNvSpPr/>
          <p:nvPr/>
        </p:nvSpPr>
        <p:spPr>
          <a:xfrm>
            <a:off x="3230289" y="5937828"/>
            <a:ext cx="3951694" cy="3951694"/>
          </a:xfrm>
          <a:prstGeom prst="ellipse">
            <a:avLst/>
          </a:prstGeom>
          <a:solidFill>
            <a:srgbClr val="8A0F1A">
              <a:alpha val="5272"/>
            </a:srgbClr>
          </a:solidFill>
          <a:ln/>
        </p:spPr>
      </p:sp>
      <p:sp>
        <p:nvSpPr>
          <p:cNvPr id="40" name="Shape 38"/>
          <p:cNvSpPr/>
          <p:nvPr/>
        </p:nvSpPr>
        <p:spPr>
          <a:xfrm>
            <a:off x="3409912" y="6117450"/>
            <a:ext cx="3592449" cy="3592449"/>
          </a:xfrm>
          <a:prstGeom prst="ellipse">
            <a:avLst/>
          </a:prstGeom>
          <a:solidFill>
            <a:srgbClr val="8A0F1A">
              <a:alpha val="5521"/>
            </a:srgbClr>
          </a:solidFill>
          <a:ln/>
        </p:spPr>
      </p:sp>
      <p:sp>
        <p:nvSpPr>
          <p:cNvPr id="41" name="Shape 39"/>
          <p:cNvSpPr/>
          <p:nvPr/>
        </p:nvSpPr>
        <p:spPr>
          <a:xfrm>
            <a:off x="3589534" y="6297073"/>
            <a:ext cx="3233204" cy="3233204"/>
          </a:xfrm>
          <a:prstGeom prst="ellipse">
            <a:avLst/>
          </a:prstGeom>
          <a:solidFill>
            <a:srgbClr val="8A0F1A">
              <a:alpha val="6496"/>
            </a:srgbClr>
          </a:solidFill>
          <a:ln/>
        </p:spPr>
      </p:sp>
      <p:sp>
        <p:nvSpPr>
          <p:cNvPr id="42" name="Shape 40"/>
          <p:cNvSpPr/>
          <p:nvPr/>
        </p:nvSpPr>
        <p:spPr>
          <a:xfrm>
            <a:off x="3769157" y="6476695"/>
            <a:ext cx="2873959" cy="2873959"/>
          </a:xfrm>
          <a:prstGeom prst="ellipse">
            <a:avLst/>
          </a:prstGeom>
          <a:solidFill>
            <a:srgbClr val="8A0F1A">
              <a:alpha val="6768"/>
            </a:srgbClr>
          </a:solidFill>
          <a:ln/>
        </p:spPr>
      </p:sp>
      <p:sp>
        <p:nvSpPr>
          <p:cNvPr id="43" name="Shape 41"/>
          <p:cNvSpPr/>
          <p:nvPr/>
        </p:nvSpPr>
        <p:spPr>
          <a:xfrm>
            <a:off x="3948779" y="6656318"/>
            <a:ext cx="2514714" cy="2514714"/>
          </a:xfrm>
          <a:prstGeom prst="ellipse">
            <a:avLst/>
          </a:prstGeom>
          <a:solidFill>
            <a:srgbClr val="8A0F1A">
              <a:alpha val="7123"/>
            </a:srgbClr>
          </a:solidFill>
          <a:ln/>
        </p:spPr>
      </p:sp>
      <p:sp>
        <p:nvSpPr>
          <p:cNvPr id="44" name="Shape 42"/>
          <p:cNvSpPr/>
          <p:nvPr/>
        </p:nvSpPr>
        <p:spPr>
          <a:xfrm>
            <a:off x="4128402" y="6835940"/>
            <a:ext cx="2155469" cy="2155469"/>
          </a:xfrm>
          <a:prstGeom prst="ellipse">
            <a:avLst/>
          </a:prstGeom>
          <a:solidFill>
            <a:srgbClr val="8A0F1A">
              <a:alpha val="7486"/>
            </a:srgbClr>
          </a:solidFill>
          <a:ln/>
        </p:spPr>
      </p:sp>
      <p:sp>
        <p:nvSpPr>
          <p:cNvPr id="45" name="Shape 43"/>
          <p:cNvSpPr/>
          <p:nvPr/>
        </p:nvSpPr>
        <p:spPr>
          <a:xfrm>
            <a:off x="4308024" y="7015563"/>
            <a:ext cx="1796225" cy="1796225"/>
          </a:xfrm>
          <a:prstGeom prst="ellipse">
            <a:avLst/>
          </a:prstGeom>
          <a:solidFill>
            <a:srgbClr val="8A0F1A">
              <a:alpha val="8191"/>
            </a:srgbClr>
          </a:solidFill>
          <a:ln/>
        </p:spPr>
      </p:sp>
      <p:sp>
        <p:nvSpPr>
          <p:cNvPr id="46" name="Shape 44"/>
          <p:cNvSpPr/>
          <p:nvPr/>
        </p:nvSpPr>
        <p:spPr>
          <a:xfrm>
            <a:off x="4487647" y="7195185"/>
            <a:ext cx="1436980" cy="1436980"/>
          </a:xfrm>
          <a:prstGeom prst="ellipse">
            <a:avLst/>
          </a:prstGeom>
          <a:solidFill>
            <a:srgbClr val="8A0F1A">
              <a:alpha val="9466"/>
            </a:srgbClr>
          </a:solidFill>
          <a:ln/>
        </p:spPr>
      </p:sp>
      <p:sp>
        <p:nvSpPr>
          <p:cNvPr id="47" name="Shape 45"/>
          <p:cNvSpPr/>
          <p:nvPr/>
        </p:nvSpPr>
        <p:spPr>
          <a:xfrm>
            <a:off x="4667269" y="7374807"/>
            <a:ext cx="1077735" cy="1077735"/>
          </a:xfrm>
          <a:prstGeom prst="ellipse">
            <a:avLst/>
          </a:prstGeom>
          <a:solidFill>
            <a:srgbClr val="8A0F1A">
              <a:alpha val="10120"/>
            </a:srgbClr>
          </a:solidFill>
          <a:ln/>
        </p:spPr>
      </p:sp>
      <p:sp>
        <p:nvSpPr>
          <p:cNvPr id="48" name="Shape 46"/>
          <p:cNvSpPr/>
          <p:nvPr/>
        </p:nvSpPr>
        <p:spPr>
          <a:xfrm>
            <a:off x="4846892" y="7554430"/>
            <a:ext cx="718490" cy="718490"/>
          </a:xfrm>
          <a:prstGeom prst="ellipse">
            <a:avLst/>
          </a:prstGeom>
          <a:solidFill>
            <a:srgbClr val="8A0F1A">
              <a:alpha val="10280"/>
            </a:srgbClr>
          </a:solidFill>
          <a:ln/>
        </p:spPr>
      </p:sp>
      <p:sp>
        <p:nvSpPr>
          <p:cNvPr id="49" name="Shape 47"/>
          <p:cNvSpPr/>
          <p:nvPr/>
        </p:nvSpPr>
        <p:spPr>
          <a:xfrm>
            <a:off x="5026514" y="7734052"/>
            <a:ext cx="359245" cy="359245"/>
          </a:xfrm>
          <a:prstGeom prst="ellipse">
            <a:avLst/>
          </a:prstGeom>
          <a:solidFill>
            <a:srgbClr val="8A0F1A">
              <a:alpha val="10999"/>
            </a:srgbClr>
          </a:solidFill>
          <a:ln/>
        </p:spPr>
      </p:sp>
      <p:sp>
        <p:nvSpPr>
          <p:cNvPr id="50" name="Text 48"/>
          <p:cNvSpPr/>
          <p:nvPr/>
        </p:nvSpPr>
        <p:spPr>
          <a:xfrm>
            <a:off x="678485" y="1051560"/>
            <a:ext cx="301752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Gap register</a:t>
            </a:r>
          </a:p>
        </p:txBody>
      </p:sp>
      <p:sp>
        <p:nvSpPr>
          <p:cNvPr id="51" name="Text 49"/>
          <p:cNvSpPr/>
          <p:nvPr/>
        </p:nvSpPr>
        <p:spPr>
          <a:xfrm>
            <a:off x="678485" y="1280160"/>
            <a:ext cx="3429000" cy="646481"/>
          </a:xfrm>
          <a:prstGeom prst="rect">
            <a:avLst/>
          </a:prstGeom>
          <a:noFill/>
          <a:ln/>
        </p:spPr>
        <p:txBody>
          <a:bodyPr wrap="none" lIns="91440" tIns="45720" rIns="91440" bIns="45720" rtlCol="0" anchor="t">
            <a:spAutoFit/>
          </a:bodyPr>
          <a:lstStyle/>
          <a:p>
            <a:pPr indent="0" marL="0">
              <a:buNone/>
            </a:pPr>
            <a:r>
              <a:rPr lang="en-US" sz="2550" dirty="0" b="1">
                <a:solidFill>
                  <a:srgbClr val="FFFFFF"/>
                </a:solidFill>
                <a:latin typeface="Arial" pitchFamily="34" charset="0"/>
                <a:ea typeface="Arial" pitchFamily="34" charset="-122"/>
                <a:cs typeface="Arial" pitchFamily="34" charset="-120"/>
              </a:rPr>
              <a:t>What the market</a:t>
            </a:r>
          </a:p>
        </p:txBody>
      </p:sp>
      <p:sp>
        <p:nvSpPr>
          <p:cNvPr id="52" name="Text 50"/>
          <p:cNvSpPr/>
          <p:nvPr/>
        </p:nvSpPr>
        <p:spPr>
          <a:xfrm>
            <a:off x="1351483" y="1737360"/>
            <a:ext cx="2788920" cy="646481"/>
          </a:xfrm>
          <a:prstGeom prst="rect">
            <a:avLst/>
          </a:prstGeom>
          <a:noFill/>
          <a:ln/>
        </p:spPr>
        <p:txBody>
          <a:bodyPr wrap="none" lIns="91440" tIns="45720" rIns="91440" bIns="45720" rtlCol="0" anchor="t">
            <a:spAutoFit/>
          </a:bodyPr>
          <a:lstStyle/>
          <a:p>
            <a:pPr indent="0" marL="0">
              <a:buNone/>
            </a:pPr>
            <a:r>
              <a:rPr lang="en-US" sz="2600" dirty="0" b="1">
                <a:solidFill>
                  <a:srgbClr val="EE0000"/>
                </a:solidFill>
                <a:latin typeface="Arial" pitchFamily="34" charset="0"/>
                <a:ea typeface="Arial" pitchFamily="34" charset="-122"/>
                <a:cs typeface="Arial" pitchFamily="34" charset="-120"/>
              </a:rPr>
              <a:t>hasn’t built yet</a:t>
            </a:r>
          </a:p>
        </p:txBody>
      </p:sp>
      <p:sp>
        <p:nvSpPr>
          <p:cNvPr id="53" name="Shape 51"/>
          <p:cNvSpPr/>
          <p:nvPr/>
        </p:nvSpPr>
        <p:spPr>
          <a:xfrm rot="16200000">
            <a:off x="938174" y="187452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717804" y="2606040"/>
            <a:ext cx="324612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Fourteen components the five patterns need, with our status, the industry status and the analyst rationale. Highlighted rows are the recommended first three moves.</a:t>
            </a:r>
          </a:p>
        </p:txBody>
      </p:sp>
      <p:sp>
        <p:nvSpPr>
          <p:cNvPr id="55" name="Text 53"/>
          <p:cNvSpPr/>
          <p:nvPr/>
        </p:nvSpPr>
        <p:spPr>
          <a:xfrm>
            <a:off x="709574" y="4343400"/>
            <a:ext cx="3108960" cy="585216"/>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Top 3 first</a:t>
            </a:r>
          </a:p>
        </p:txBody>
      </p:sp>
      <p:sp>
        <p:nvSpPr>
          <p:cNvPr id="56" name="Text 54"/>
          <p:cNvSpPr/>
          <p:nvPr/>
        </p:nvSpPr>
        <p:spPr>
          <a:xfrm>
            <a:off x="715061" y="4892040"/>
            <a:ext cx="3108960" cy="338328"/>
          </a:xfrm>
          <a:prstGeom prst="rect">
            <a:avLst/>
          </a:prstGeom>
          <a:noFill/>
          <a:ln/>
        </p:spPr>
        <p:txBody>
          <a:bodyPr wrap="square" lIns="91440" tIns="45720" rIns="91440" bIns="45720" rtlCol="0" anchor="t">
            <a:spAutoFit/>
          </a:bodyPr>
          <a:lstStyle/>
          <a:p>
            <a:pPr indent="0" marL="0">
              <a:buNone/>
            </a:pPr>
            <a:r>
              <a:rPr lang="en-US" sz="1200" dirty="0">
                <a:solidFill>
                  <a:srgbClr val="FFFFFF"/>
                </a:solidFill>
                <a:latin typeface="Arial" pitchFamily="34" charset="0"/>
                <a:ea typeface="Arial" pitchFamily="34" charset="-122"/>
                <a:cs typeface="Arial" pitchFamily="34" charset="-120"/>
              </a:rPr>
              <a:t>G3 A2A policy point; G2 + G13 autonomy field with demote and retire; G4 MAST in the eval gate. G1 and G9 go in the next 90-day plan.</a:t>
            </a:r>
          </a:p>
        </p:txBody>
      </p:sp>
      <p:graphicFrame>
        <p:nvGraphicFramePr>
          <p:cNvPr id="300" name="Stack matrix table"/>
          <p:cNvGraphicFramePr>
            <a:graphicFrameLocks noGrp="1"/>
          </p:cNvGraphicFramePr>
          <p:nvPr/>
        </p:nvGraphicFramePr>
        <p:xfrm>
          <a:off x="4160520" y="502920"/>
          <a:ext cx="7726680" cy="4498848"/>
        </p:xfrm>
        <a:graphic>
          <a:graphicData uri="http://schemas.openxmlformats.org/drawingml/2006/table">
            <a:tbl>
              <a:tblPr firstRow="1"/>
              <a:tblGrid>
                <a:gridCol w="384048"/>
                <a:gridCol w="1627632"/>
                <a:gridCol w="658368"/>
                <a:gridCol w="1325880"/>
                <a:gridCol w="1234440"/>
                <a:gridCol w="1737360"/>
                <a:gridCol w="758952"/>
              </a:tblGrid>
              <a:tr h="274320">
                <a:tc>
                  <a:txBody>
                    <a:bodyPr/>
                    <a:lstStyle/>
                    <a:p>
                      <a:pPr algn="l" marL="0" indent="0">
                        <a:buNone/>
                      </a:pPr>
                      <a:r>
                        <a:rPr lang="en-US" sz="850" b="1" dirty="0">
                          <a:solidFill>
                            <a:srgbClr val="F5B700"/>
                          </a:solidFill>
                          <a:latin typeface="Arial"/>
                          <a:ea typeface="Arial"/>
                          <a:cs typeface="Arial"/>
                        </a:rPr>
                        <a: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Required component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Patterns</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Our stack today</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Industry today</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Rationale (analyst)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Label</a:t>
                      </a:r>
                    </a:p>
                  </a:txBody>
                  <a:tcPr marL="73152" marR="45720" marT="0" marB="0" anchor="ctr">
                    <a:lnL w="0">
                      <a:noFill/>
                    </a:lnL>
                    <a:lnR w="0">
                      <a:noFill/>
                    </a:lnR>
                    <a:lnT w="0">
                      <a:noFill/>
                    </a:lnT>
                    <a:lnB w="9525">
                      <a:solidFill>
                        <a:srgbClr val="D9B48A"/>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Agent inventory incl. third-party + shadow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P3,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Thin registry planned; no vendor discovery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Platform-bound inventories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Sprawl step 2 inventory [6]; cover third-party AI [9]</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5B700"/>
                          </a:solidFill>
                          <a:latin typeface="Arial"/>
                          <a:ea typeface="Arial"/>
                          <a:cs typeface="Arial"/>
                        </a:rPr>
                        <a:t>G2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Autonomy level as a live registry field</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All</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Static risk tier</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Binary: locked down vs trusted</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Uniform governance fails [7]</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5B700"/>
                          </a:solidFill>
                          <a:latin typeface="Arial"/>
                          <a:ea typeface="Arial"/>
                          <a:cs typeface="Arial"/>
                        </a:rPr>
                        <a:t>G3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A2A policy point + Agent Card signing</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P1, P3</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Missing: MCP gateway covers tools only</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ServiceNow AI Gateway excludes A2A [33]</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Coordination immature [5][16]; zero-trust inter-agent [20]</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5B700"/>
                          </a:solidFill>
                          <a:latin typeface="Arial"/>
                          <a:ea typeface="Arial"/>
                          <a:cs typeface="Arial"/>
                        </a:rPr>
                        <a:t>G4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Multi-agent eval: MAST, failure attribution</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P1</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Galileo agent flow (partial); no MAST</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Research-grade</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Multi-agent growth [4]; MAST [21]</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FFFFF"/>
                          </a:solidFill>
                          <a:latin typeface="Arial"/>
                          <a:ea typeface="Arial"/>
                          <a:cs typeface="Arial"/>
                        </a:rPr>
                        <a:t>G5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Independent guardian layer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Pieces exist; no cross-vendor layer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Platform-native supervision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Guardian Market Guide [5]; out-of-band plane [15]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Secondary</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G6</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Session budgets + breakers + agent FinOps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P1,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Kairos gateway quotas; no session breaker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Immature FinOps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Hype Cycle 2026: session budgets + breakers [1][2]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G7</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Session-level behaviour detection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P1, P2,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Not covered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Most systems lack it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Microsoft v2 red-team findings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G8</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Agent SBOM + tool-description provenance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Plugins signed; no agent SBOM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Rare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MS v2 [20]; ASI04 [19]; digital provenance [14]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G9</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Third-party evidence contract + OTel adapters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third-party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None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Vendor export APIs [31][32]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Vendor ecosystems [14]; FDE exit terms [12]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Partly</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Actuation guard + rollback</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Missing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Missing in agent platforms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L4 controls [7]; AEGIS breakers [17]</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G11</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Voice simulation / red team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Not chosen (Coval an option)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Startups; τ³ benchmark</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60% of brands one-to-one by 2028 [11b]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Tools unverified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Memory governance: scope, purge, quarantine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P5, P2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memory-hygiene mod design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Product-specific</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ASI06 [19]; one injection propagates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5B700"/>
                          </a:solidFill>
                          <a:latin typeface="Arial"/>
                          <a:ea typeface="Arial"/>
                          <a:cs typeface="Arial"/>
                        </a:rPr>
                        <a:t>G13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Retirement workflow</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All</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Missing</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Rare</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Sprawl step 3: retire redundant agents [6]</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FFFFF"/>
                          </a:solidFill>
                          <a:latin typeface="Arial"/>
                          <a:ea typeface="Arial"/>
                          <a:cs typeface="Arial"/>
                        </a:rPr>
                        <a:t>G14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Policy translation agent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policy-author skill proposed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Emerging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50% use agents for policy-as-data by 2030 [8]</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bl>
          </a:graphicData>
        </a:graphic>
      </p:graphicFrame>
      <p:sp>
        <p:nvSpPr>
          <p:cNvPr id="225" name="v2 225"/>
          <p:cNvSpPr/>
          <p:nvPr/>
        </p:nvSpPr>
        <p:spPr>
          <a:xfrm>
            <a:off x="4160520" y="5184648"/>
            <a:ext cx="7726680" cy="384048"/>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Status columns are our assessment. Label = evidence for the rationale (VERIFIED on 14 Oct 2026 unless marked). Full gap map: research §4.3.</a:t>
            </a:r>
          </a:p>
        </p:txBody>
      </p:sp>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16 / 17</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P5 Always-on background</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Always on,</a:t>
            </a:r>
          </a:p>
        </p:txBody>
      </p:sp>
      <p:sp>
        <p:nvSpPr>
          <p:cNvPr id="53" name="Text 51"/>
          <p:cNvSpPr/>
          <p:nvPr/>
        </p:nvSpPr>
        <p:spPr>
          <a:xfrm>
            <a:off x="1351483" y="2268626"/>
            <a:ext cx="2377440" cy="646481"/>
          </a:xfrm>
          <a:prstGeom prst="rect">
            <a:avLst/>
          </a:prstGeom>
          <a:noFill/>
          <a:ln/>
        </p:spPr>
        <p:txBody>
          <a:bodyPr wrap="none" lIns="91440" tIns="45720" rIns="91440" bIns="45720" rtlCol="0" anchor="t">
            <a:spAutoFit/>
          </a:bodyPr>
          <a:lstStyle/>
          <a:p>
            <a:pPr indent="0" marL="0">
              <a:buNone/>
            </a:pPr>
            <a:r>
              <a:rPr lang="en-US" sz="2550" dirty="0" b="1">
                <a:solidFill>
                  <a:srgbClr val="EE0000"/>
                </a:solidFill>
                <a:latin typeface="Arial" pitchFamily="34" charset="0"/>
                <a:ea typeface="Arial" pitchFamily="34" charset="-122"/>
                <a:cs typeface="Arial" pitchFamily="34" charset="-120"/>
              </a:rPr>
              <a:t>and owned</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Always-on agents wake on triggers, act unattended, accumulate grants, write their own memory and spend with no session end: five risks (1–5) one-shot sessions do not have [20].</a:t>
            </a:r>
          </a:p>
        </p:txBody>
      </p:sp>
      <p:sp>
        <p:nvSpPr>
          <p:cNvPr id="56" name="Text 54"/>
          <p:cNvSpPr/>
          <p:nvPr/>
        </p:nvSpPr>
        <p:spPr>
          <a:xfrm>
            <a:off x="689458" y="470916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Why (Gartner): L4 by definition, so clear ownership and shorter recertification [7]; sprawl steps 2–3 are inventory and life cycle [6].</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sp>
      <p:sp>
        <p:nvSpPr>
          <p:cNvPr id="523" name="g2 523"/>
          <p:cNvSpPr/>
          <p:nvPr/>
        </p:nvSpPr>
        <p:spPr>
          <a:xfrm>
            <a:off x="3749040" y="1261872"/>
            <a:ext cx="39776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governed layer stack</a:t>
            </a:r>
          </a:p>
        </p:txBody>
      </p:sp>
      <p:sp>
        <p:nvSpPr>
          <p:cNvPr id="524" name="g2 524"/>
          <p:cNvSpPr/>
          <p:nvPr/>
        </p:nvSpPr>
        <p:spPr>
          <a:xfrm>
            <a:off x="8001000" y="1261872"/>
            <a:ext cx="21488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525" name="g2 525"/>
          <p:cNvSpPr/>
          <p:nvPr/>
        </p:nvSpPr>
        <p:spPr>
          <a:xfrm>
            <a:off x="10195560" y="1261872"/>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526" name="g2 526"/>
          <p:cNvSpPr/>
          <p:nvPr/>
        </p:nvSpPr>
        <p:spPr>
          <a:xfrm>
            <a:off x="3749040" y="1481328"/>
            <a:ext cx="137160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1 Triggers</a:t>
            </a:r>
          </a:p>
          <a:p>
            <a:pPr algn="l" marL="0" indent="0">
              <a:lnSpc>
                <a:spcPct val="100000"/>
              </a:lnSpc>
              <a:buNone/>
            </a:pPr>
            <a:r>
              <a:rPr lang="en-US" sz="800" dirty="0">
                <a:solidFill>
                  <a:srgbClr val="F3E6D6"/>
                </a:solidFill>
                <a:latin typeface="Arial"/>
                <a:ea typeface="Arial"/>
                <a:cs typeface="Arial"/>
              </a:rPr>
              <a:t>schedules · webhooks · channels</a:t>
            </a:r>
          </a:p>
        </p:txBody>
      </p:sp>
      <p:sp>
        <p:nvSpPr>
          <p:cNvPr id="527" name="g2 527"/>
          <p:cNvSpPr/>
          <p:nvPr/>
        </p:nvSpPr>
        <p:spPr>
          <a:xfrm>
            <a:off x="5394960" y="1481328"/>
            <a:ext cx="233172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Always-on agent</a:t>
            </a:r>
          </a:p>
          <a:p>
            <a:pPr algn="l" marL="0" indent="0">
              <a:lnSpc>
                <a:spcPct val="100000"/>
              </a:lnSpc>
              <a:buNone/>
            </a:pPr>
            <a:r>
              <a:rPr lang="en-US" sz="800" dirty="0">
                <a:solidFill>
                  <a:srgbClr val="F3E6D6"/>
                </a:solidFill>
                <a:latin typeface="Arial"/>
                <a:ea typeface="Arial"/>
                <a:cs typeface="Arial"/>
              </a:rPr>
              <a:t>Claude Code Routines, /loop · Agent SDK · Kairos SDK</a:t>
            </a:r>
          </a:p>
        </p:txBody>
      </p:sp>
      <p:cxnSp>
        <p:nvCxnSpPr>
          <p:cNvPr id="528" name="g2 flow 528"/>
          <p:cNvCxnSpPr/>
          <p:nvPr/>
        </p:nvCxnSpPr>
        <p:spPr>
          <a:xfrm>
            <a:off x="5120640" y="1732788"/>
            <a:ext cx="274320" cy="0"/>
          </a:xfrm>
          <a:prstGeom prst="line">
            <a:avLst/>
          </a:prstGeom>
          <a:ln w="12700">
            <a:solidFill>
              <a:srgbClr val="EE0000"/>
            </a:solidFill>
            <a:tailEnd type="triangle" w="med" len="med"/>
          </a:ln>
        </p:spPr>
      </p:cxnSp>
      <p:sp>
        <p:nvSpPr>
          <p:cNvPr id="529" name="g2 529"/>
          <p:cNvSpPr/>
          <p:nvPr/>
        </p:nvSpPr>
        <p:spPr>
          <a:xfrm>
            <a:off x="3749040" y="2240280"/>
            <a:ext cx="3977640" cy="59436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2 pillar-governance bundle (managed hooks)</a:t>
            </a:r>
          </a:p>
          <a:p>
            <a:pPr algn="l" marL="0" indent="0">
              <a:lnSpc>
                <a:spcPct val="100000"/>
              </a:lnSpc>
              <a:buNone/>
            </a:pPr>
            <a:r>
              <a:rPr lang="en-US" sz="800" dirty="0">
                <a:solidFill>
                  <a:srgbClr val="F3E6D6"/>
                </a:solidFill>
                <a:latin typeface="Arial"/>
                <a:ea typeface="Arial"/>
                <a:cs typeface="Arial"/>
              </a:rPr>
              <a:t>gov-guard · autonomy-guard · memory-hygiene · kill-switch · spend / turn caps · quiet hours</a:t>
            </a:r>
          </a:p>
        </p:txBody>
      </p:sp>
      <p:cxnSp>
        <p:nvCxnSpPr>
          <p:cNvPr id="530" name="g2 flow 530"/>
          <p:cNvCxnSpPr/>
          <p:nvPr/>
        </p:nvCxnSpPr>
        <p:spPr>
          <a:xfrm>
            <a:off x="6560820" y="1984248"/>
            <a:ext cx="0" cy="256032"/>
          </a:xfrm>
          <a:prstGeom prst="line">
            <a:avLst/>
          </a:prstGeom>
          <a:ln w="12700">
            <a:solidFill>
              <a:srgbClr val="EE0000"/>
            </a:solidFill>
            <a:tailEnd type="triangle" w="med" len="med"/>
          </a:ln>
        </p:spPr>
      </p:cxnSp>
      <p:sp>
        <p:nvSpPr>
          <p:cNvPr id="531" name="g2 531"/>
          <p:cNvSpPr/>
          <p:nvPr/>
        </p:nvSpPr>
        <p:spPr>
          <a:xfrm>
            <a:off x="3749040" y="310896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5 Kairos gateway spend limits</a:t>
            </a:r>
          </a:p>
          <a:p>
            <a:pPr algn="l" marL="0" indent="0">
              <a:lnSpc>
                <a:spcPct val="100000"/>
              </a:lnSpc>
              <a:buNone/>
            </a:pPr>
            <a:r>
              <a:rPr lang="en-US" sz="800" dirty="0">
                <a:solidFill>
                  <a:srgbClr val="F3E6D6"/>
                </a:solidFill>
                <a:latin typeface="Arial"/>
                <a:ea typeface="Arial"/>
                <a:cs typeface="Arial"/>
              </a:rPr>
              <a:t>every model call, per agent</a:t>
            </a:r>
          </a:p>
        </p:txBody>
      </p:sp>
      <p:sp>
        <p:nvSpPr>
          <p:cNvPr id="532" name="g2 532"/>
          <p:cNvSpPr/>
          <p:nvPr/>
        </p:nvSpPr>
        <p:spPr>
          <a:xfrm>
            <a:off x="5806440" y="310896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 scopes</a:t>
            </a:r>
          </a:p>
          <a:p>
            <a:pPr algn="l" marL="0" indent="0">
              <a:lnSpc>
                <a:spcPct val="100000"/>
              </a:lnSpc>
              <a:buNone/>
            </a:pPr>
            <a:r>
              <a:rPr lang="en-US" sz="800" dirty="0">
                <a:solidFill>
                  <a:srgbClr val="F3E6D6"/>
                </a:solidFill>
                <a:latin typeface="Arial"/>
                <a:ea typeface="Arial"/>
                <a:cs typeface="Arial"/>
              </a:rPr>
              <a:t>tools and tokens per manifest</a:t>
            </a:r>
          </a:p>
        </p:txBody>
      </p:sp>
      <p:cxnSp>
        <p:nvCxnSpPr>
          <p:cNvPr id="533" name="g2 flow 533"/>
          <p:cNvCxnSpPr/>
          <p:nvPr/>
        </p:nvCxnSpPr>
        <p:spPr>
          <a:xfrm>
            <a:off x="4709160" y="2834640"/>
            <a:ext cx="0" cy="274320"/>
          </a:xfrm>
          <a:prstGeom prst="line">
            <a:avLst/>
          </a:prstGeom>
          <a:ln w="12700">
            <a:solidFill>
              <a:srgbClr val="EE0000"/>
            </a:solidFill>
            <a:tailEnd type="triangle" w="med" len="med"/>
          </a:ln>
        </p:spPr>
      </p:cxnSp>
      <p:cxnSp>
        <p:nvCxnSpPr>
          <p:cNvPr id="534" name="g2 flow 534"/>
          <p:cNvCxnSpPr/>
          <p:nvPr/>
        </p:nvCxnSpPr>
        <p:spPr>
          <a:xfrm>
            <a:off x="6766560" y="2834640"/>
            <a:ext cx="0" cy="274320"/>
          </a:xfrm>
          <a:prstGeom prst="line">
            <a:avLst/>
          </a:prstGeom>
          <a:ln w="12700">
            <a:solidFill>
              <a:srgbClr val="EE0000"/>
            </a:solidFill>
            <a:tailEnd type="triangle" w="med" len="med"/>
          </a:ln>
        </p:spPr>
      </p:cxnSp>
      <p:sp>
        <p:nvSpPr>
          <p:cNvPr id="535" name="g2 535"/>
          <p:cNvSpPr/>
          <p:nvPr/>
        </p:nvSpPr>
        <p:spPr>
          <a:xfrm>
            <a:off x="3749040" y="384048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4 Memory-scope policy</a:t>
            </a:r>
          </a:p>
          <a:p>
            <a:pPr algn="l" marL="0" indent="0">
              <a:lnSpc>
                <a:spcPct val="100000"/>
              </a:lnSpc>
              <a:buNone/>
            </a:pPr>
            <a:r>
              <a:rPr lang="en-US" sz="800" dirty="0">
                <a:solidFill>
                  <a:srgbClr val="F3E6D6"/>
                </a:solidFill>
                <a:latin typeface="Arial"/>
                <a:ea typeface="Arial"/>
                <a:cs typeface="Arial"/>
              </a:rPr>
              <a:t>scope · purge · quarantine</a:t>
            </a:r>
          </a:p>
        </p:txBody>
      </p:sp>
      <p:sp>
        <p:nvSpPr>
          <p:cNvPr id="536" name="g2 536"/>
          <p:cNvSpPr/>
          <p:nvPr/>
        </p:nvSpPr>
        <p:spPr>
          <a:xfrm>
            <a:off x="5806440" y="384048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3 Permission re-check</a:t>
            </a:r>
          </a:p>
          <a:p>
            <a:pPr algn="l" marL="0" indent="0">
              <a:lnSpc>
                <a:spcPct val="100000"/>
              </a:lnSpc>
              <a:buNone/>
            </a:pPr>
            <a:r>
              <a:rPr lang="en-US" sz="800" dirty="0">
                <a:solidFill>
                  <a:srgbClr val="F3E6D6"/>
                </a:solidFill>
                <a:latin typeface="Arial"/>
                <a:ea typeface="Arial"/>
                <a:cs typeface="Arial"/>
              </a:rPr>
              <a:t>periodic, against the manifest</a:t>
            </a:r>
          </a:p>
        </p:txBody>
      </p:sp>
      <p:cxnSp>
        <p:nvCxnSpPr>
          <p:cNvPr id="537" name="g2 flow 537"/>
          <p:cNvCxnSpPr/>
          <p:nvPr/>
        </p:nvCxnSpPr>
        <p:spPr>
          <a:xfrm>
            <a:off x="4709160" y="3566160"/>
            <a:ext cx="0" cy="274320"/>
          </a:xfrm>
          <a:prstGeom prst="line">
            <a:avLst/>
          </a:prstGeom>
          <a:ln w="12700">
            <a:solidFill>
              <a:srgbClr val="EE0000"/>
            </a:solidFill>
            <a:tailEnd type="triangle" w="med" len="med"/>
          </a:ln>
        </p:spPr>
      </p:cxnSp>
      <p:cxnSp>
        <p:nvCxnSpPr>
          <p:cNvPr id="538" name="g2 flow 538"/>
          <p:cNvCxnSpPr/>
          <p:nvPr/>
        </p:nvCxnSpPr>
        <p:spPr>
          <a:xfrm>
            <a:off x="6766560" y="3566160"/>
            <a:ext cx="0" cy="274320"/>
          </a:xfrm>
          <a:prstGeom prst="line">
            <a:avLst/>
          </a:prstGeom>
          <a:ln w="12700">
            <a:solidFill>
              <a:srgbClr val="EE0000"/>
            </a:solidFill>
            <a:tailEnd type="triangle" w="med" len="med"/>
          </a:ln>
        </p:spPr>
      </p:cxnSp>
      <p:sp>
        <p:nvSpPr>
          <p:cNvPr id="539" name="g2 539"/>
          <p:cNvSpPr/>
          <p:nvPr/>
        </p:nvSpPr>
        <p:spPr>
          <a:xfrm>
            <a:off x="3749040" y="4572000"/>
            <a:ext cx="397764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OTel ticks → Galileo / Splunk AO</a:t>
            </a:r>
          </a:p>
          <a:p>
            <a:pPr algn="l" marL="0" indent="0">
              <a:lnSpc>
                <a:spcPct val="100000"/>
              </a:lnSpc>
              <a:buNone/>
            </a:pPr>
            <a:r>
              <a:rPr lang="en-US" sz="800" dirty="0">
                <a:solidFill>
                  <a:srgbClr val="F3E6D6"/>
                </a:solidFill>
                <a:latin typeface="Arial"/>
                <a:ea typeface="Arial"/>
                <a:cs typeface="Arial"/>
              </a:rPr>
              <a:t>heartbeat spans · daily summaries · spend dashboards</a:t>
            </a:r>
          </a:p>
        </p:txBody>
      </p:sp>
      <p:cxnSp>
        <p:nvCxnSpPr>
          <p:cNvPr id="540" name="g2 flow 540"/>
          <p:cNvCxnSpPr/>
          <p:nvPr/>
        </p:nvCxnSpPr>
        <p:spPr>
          <a:xfrm>
            <a:off x="4709160" y="4297680"/>
            <a:ext cx="0" cy="274320"/>
          </a:xfrm>
          <a:prstGeom prst="line">
            <a:avLst/>
          </a:prstGeom>
          <a:ln w="12700">
            <a:solidFill>
              <a:srgbClr val="EE0000"/>
            </a:solidFill>
            <a:prstDash val="dash"/>
            <a:tailEnd type="triangle" w="med" len="med"/>
          </a:ln>
        </p:spPr>
      </p:cxnSp>
      <p:cxnSp>
        <p:nvCxnSpPr>
          <p:cNvPr id="541" name="g2 flow 541"/>
          <p:cNvCxnSpPr/>
          <p:nvPr/>
        </p:nvCxnSpPr>
        <p:spPr>
          <a:xfrm>
            <a:off x="6766560" y="4297680"/>
            <a:ext cx="0" cy="274320"/>
          </a:xfrm>
          <a:prstGeom prst="line">
            <a:avLst/>
          </a:prstGeom>
          <a:ln w="12700">
            <a:solidFill>
              <a:srgbClr val="EE0000"/>
            </a:solidFill>
            <a:prstDash val="dash"/>
            <a:tailEnd type="triangle" w="med" len="med"/>
          </a:ln>
        </p:spPr>
      </p:cxnSp>
      <p:sp>
        <p:nvSpPr>
          <p:cNvPr id="542" name="g2 542"/>
          <p:cNvSpPr/>
          <p:nvPr/>
        </p:nvSpPr>
        <p:spPr>
          <a:xfrm>
            <a:off x="8001000" y="1481328"/>
            <a:ext cx="192024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background agents</a:t>
            </a:r>
          </a:p>
          <a:p>
            <a:pPr algn="l" marL="0" indent="0">
              <a:lnSpc>
                <a:spcPct val="100000"/>
              </a:lnSpc>
              <a:buNone/>
            </a:pPr>
            <a:r>
              <a:rPr lang="en-US" sz="800" dirty="0">
                <a:solidFill>
                  <a:srgbClr val="F3E6D6"/>
                </a:solidFill>
                <a:latin typeface="Arial"/>
                <a:ea typeface="Arial"/>
                <a:cs typeface="Arial"/>
              </a:rPr>
              <a:t>vendor-built agents on schedules for us (e.g. CES, Google, CRA)</a:t>
            </a:r>
          </a:p>
        </p:txBody>
      </p:sp>
      <p:sp>
        <p:nvSpPr>
          <p:cNvPr id="543" name="g2 543"/>
          <p:cNvSpPr/>
          <p:nvPr/>
        </p:nvSpPr>
        <p:spPr>
          <a:xfrm>
            <a:off x="8001000" y="251460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What we control</a:t>
            </a:r>
          </a:p>
          <a:p>
            <a:pPr algn="l" marL="0" indent="0">
              <a:lnSpc>
                <a:spcPct val="100000"/>
              </a:lnSpc>
              <a:buNone/>
            </a:pPr>
            <a:r>
              <a:rPr lang="en-US" sz="800" dirty="0">
                <a:solidFill>
                  <a:srgbClr val="F3E6D6"/>
                </a:solidFill>
                <a:latin typeface="Arial"/>
                <a:ea typeface="Arial"/>
                <a:cs typeface="Arial"/>
              </a:rPr>
              <a:t>managed settings where supported (Claude Code) · MCP tools + tokens we grant</a:t>
            </a:r>
          </a:p>
        </p:txBody>
      </p:sp>
      <p:sp>
        <p:nvSpPr>
          <p:cNvPr id="544" name="g2 544"/>
          <p:cNvSpPr/>
          <p:nvPr/>
        </p:nvSpPr>
        <p:spPr>
          <a:xfrm>
            <a:off x="8001000" y="3657600"/>
            <a:ext cx="192024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Agent 365 registry</a:t>
            </a:r>
          </a:p>
          <a:p>
            <a:pPr algn="l" marL="0" indent="0">
              <a:lnSpc>
                <a:spcPct val="100000"/>
              </a:lnSpc>
              <a:buNone/>
            </a:pPr>
            <a:r>
              <a:rPr lang="en-US" sz="800" dirty="0">
                <a:solidFill>
                  <a:srgbClr val="F3E6D6"/>
                </a:solidFill>
                <a:latin typeface="Arial"/>
                <a:ea typeface="Arial"/>
                <a:cs typeface="Arial"/>
              </a:rPr>
              <a:t>Microsoft control plane for tenant agents; we can revoke</a:t>
            </a:r>
          </a:p>
        </p:txBody>
      </p:sp>
      <p:cxnSp>
        <p:nvCxnSpPr>
          <p:cNvPr id="545" name="g2 flow 545"/>
          <p:cNvCxnSpPr/>
          <p:nvPr/>
        </p:nvCxnSpPr>
        <p:spPr>
          <a:xfrm>
            <a:off x="8961120" y="2258568"/>
            <a:ext cx="0" cy="256032"/>
          </a:xfrm>
          <a:prstGeom prst="line">
            <a:avLst/>
          </a:prstGeom>
          <a:ln w="12700">
            <a:solidFill>
              <a:srgbClr val="EE0000"/>
            </a:solidFill>
            <a:tailEnd type="triangle" w="med" len="med"/>
          </a:ln>
        </p:spPr>
      </p:cxnSp>
      <p:cxnSp>
        <p:nvCxnSpPr>
          <p:cNvPr id="546" name="g2 flow 546"/>
          <p:cNvCxnSpPr/>
          <p:nvPr/>
        </p:nvCxnSpPr>
        <p:spPr>
          <a:xfrm flipV="1">
            <a:off x="8961120" y="3383280"/>
            <a:ext cx="0" cy="274320"/>
          </a:xfrm>
          <a:prstGeom prst="line">
            <a:avLst/>
          </a:prstGeom>
          <a:ln w="12700">
            <a:solidFill>
              <a:srgbClr val="EE0000"/>
            </a:solidFill>
            <a:tailEnd type="triangle" w="med" len="med"/>
          </a:ln>
        </p:spPr>
      </p:cxnSp>
      <p:cxnSp>
        <p:nvCxnSpPr>
          <p:cNvPr id="547" name="g2 flow 547"/>
          <p:cNvCxnSpPr/>
          <p:nvPr/>
        </p:nvCxnSpPr>
        <p:spPr>
          <a:xfrm flipH="1">
            <a:off x="7726680" y="3291840"/>
            <a:ext cx="274320" cy="0"/>
          </a:xfrm>
          <a:prstGeom prst="line">
            <a:avLst/>
          </a:prstGeom>
          <a:ln w="12700">
            <a:solidFill>
              <a:srgbClr val="EE0000"/>
            </a:solidFill>
            <a:tailEnd type="triangle" w="med" len="med"/>
          </a:ln>
        </p:spPr>
      </p:cxnSp>
      <p:sp>
        <p:nvSpPr>
          <p:cNvPr id="548" name="g2 548"/>
          <p:cNvSpPr/>
          <p:nvPr/>
        </p:nvSpPr>
        <p:spPr>
          <a:xfrm>
            <a:off x="8001000" y="4617720"/>
            <a:ext cx="1920240" cy="4114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Little visibility into their scheduling and memory.</a:t>
            </a:r>
          </a:p>
        </p:txBody>
      </p:sp>
      <p:sp>
        <p:nvSpPr>
          <p:cNvPr id="549" name="g2 549"/>
          <p:cNvSpPr/>
          <p:nvPr/>
        </p:nvSpPr>
        <p:spPr>
          <a:xfrm>
            <a:off x="10195560" y="148132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Shadow agent discovery</a:t>
            </a:r>
          </a:p>
          <a:p>
            <a:pPr algn="l" marL="0" indent="0">
              <a:lnSpc>
                <a:spcPct val="100000"/>
              </a:lnSpc>
              <a:buNone/>
            </a:pPr>
            <a:r>
              <a:rPr lang="en-US" sz="800" dirty="0">
                <a:solidFill>
                  <a:srgbClr val="141010"/>
                </a:solidFill>
                <a:latin typeface="Arial"/>
                <a:ea typeface="Arial"/>
                <a:cs typeface="Arial"/>
              </a:rPr>
              <a:t>we only see agents that onboard</a:t>
            </a:r>
          </a:p>
        </p:txBody>
      </p:sp>
      <p:cxnSp>
        <p:nvCxnSpPr>
          <p:cNvPr id="550" name="g2 flow 550"/>
          <p:cNvCxnSpPr/>
          <p:nvPr/>
        </p:nvCxnSpPr>
        <p:spPr>
          <a:xfrm>
            <a:off x="9921240" y="1869948"/>
            <a:ext cx="274320" cy="0"/>
          </a:xfrm>
          <a:prstGeom prst="line">
            <a:avLst/>
          </a:prstGeom>
          <a:ln w="12700">
            <a:solidFill>
              <a:srgbClr val="EE0000"/>
            </a:solidFill>
            <a:prstDash val="dash"/>
            <a:tailEnd type="triangle" w="med" len="med"/>
          </a:ln>
        </p:spPr>
      </p:cxnSp>
      <p:sp>
        <p:nvSpPr>
          <p:cNvPr id="551" name="g2 551"/>
          <p:cNvSpPr/>
          <p:nvPr/>
        </p:nvSpPr>
        <p:spPr>
          <a:xfrm>
            <a:off x="10195560" y="251460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Cross-vendor memory governance</a:t>
            </a:r>
          </a:p>
          <a:p>
            <a:pPr algn="l" marL="0" indent="0">
              <a:lnSpc>
                <a:spcPct val="100000"/>
              </a:lnSpc>
              <a:buNone/>
            </a:pPr>
            <a:r>
              <a:rPr lang="en-US" sz="800" dirty="0">
                <a:solidFill>
                  <a:srgbClr val="141010"/>
                </a:solidFill>
                <a:latin typeface="Arial"/>
                <a:ea typeface="Arial"/>
                <a:cs typeface="Arial"/>
              </a:rPr>
              <a:t>scope, purge and quarantine beyond one product</a:t>
            </a:r>
          </a:p>
        </p:txBody>
      </p:sp>
      <p:cxnSp>
        <p:nvCxnSpPr>
          <p:cNvPr id="552" name="g2 flow 552"/>
          <p:cNvCxnSpPr/>
          <p:nvPr/>
        </p:nvCxnSpPr>
        <p:spPr>
          <a:xfrm>
            <a:off x="9921240" y="2948940"/>
            <a:ext cx="274320" cy="0"/>
          </a:xfrm>
          <a:prstGeom prst="line">
            <a:avLst/>
          </a:prstGeom>
          <a:ln w="12700">
            <a:solidFill>
              <a:srgbClr val="EE0000"/>
            </a:solidFill>
            <a:prstDash val="dash"/>
            <a:tailEnd type="triangle" w="med" len="med"/>
          </a:ln>
        </p:spPr>
      </p:cxnSp>
      <p:sp>
        <p:nvSpPr>
          <p:cNvPr id="553" name="g2 553"/>
          <p:cNvSpPr/>
          <p:nvPr/>
        </p:nvSpPr>
        <p:spPr>
          <a:xfrm>
            <a:off x="10195560" y="3657600"/>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Permission recertification</a:t>
            </a:r>
          </a:p>
          <a:p>
            <a:pPr algn="l" marL="0" indent="0">
              <a:lnSpc>
                <a:spcPct val="100000"/>
              </a:lnSpc>
              <a:buNone/>
            </a:pPr>
            <a:r>
              <a:rPr lang="en-US" sz="800" dirty="0">
                <a:solidFill>
                  <a:srgbClr val="141010"/>
                </a:solidFill>
                <a:latin typeface="Arial"/>
                <a:ea typeface="Arial"/>
                <a:cs typeface="Arial"/>
              </a:rPr>
              <a:t>automated, by tier, for every agent</a:t>
            </a:r>
          </a:p>
        </p:txBody>
      </p:sp>
      <p:cxnSp>
        <p:nvCxnSpPr>
          <p:cNvPr id="554" name="g2 flow 554"/>
          <p:cNvCxnSpPr/>
          <p:nvPr/>
        </p:nvCxnSpPr>
        <p:spPr>
          <a:xfrm>
            <a:off x="9921240" y="4046220"/>
            <a:ext cx="274320" cy="0"/>
          </a:xfrm>
          <a:prstGeom prst="line">
            <a:avLst/>
          </a:prstGeom>
          <a:ln w="12700">
            <a:solidFill>
              <a:srgbClr val="EE0000"/>
            </a:solidFill>
            <a:prstDash val="dash"/>
            <a:tailEnd type="triangle" w="med" len="med"/>
          </a:ln>
        </p:spPr>
      </p:cxnSp>
      <p:sp>
        <p:nvSpPr>
          <p:cNvPr id="555" name="g2 555"/>
          <p:cNvSpPr/>
          <p:nvPr/>
        </p:nvSpPr>
        <p:spPr>
          <a:xfrm>
            <a:off x="10195560" y="4617720"/>
            <a:ext cx="1737360" cy="4114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Industry: memory and trigger controls are product-specific.</a:t>
            </a:r>
          </a:p>
        </p:txBody>
      </p:sp>
      <p:sp>
        <p:nvSpPr>
          <p:cNvPr id="556" name="g2 556"/>
          <p:cNvSpPr/>
          <p:nvPr/>
        </p:nvSpPr>
        <p:spPr>
          <a:xfrm>
            <a:off x="9921240" y="5596128"/>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calls  ·  Dashed: telemetry, gaps</a:t>
            </a:r>
          </a:p>
        </p:txBody>
      </p:sp>
      <p:sp>
        <p:nvSpPr>
          <p:cNvPr id="557" name="g2 557"/>
          <p:cNvSpPr/>
          <p:nvPr/>
        </p:nvSpPr>
        <p:spPr>
          <a:xfrm>
            <a:off x="3749040" y="6236208"/>
            <a:ext cx="8183880" cy="384048"/>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Risks: 1 external triggers · 2 unattended action · 3 grants pile up · 4 self-written memory · 5 unbounded spend. Hard layer under the mods: managed settings, managed PreToolUse hook, deny rules, gateways; --safe-mode keeps managed hooks and permissions.</a:t>
            </a:r>
          </a:p>
        </p:txBody>
      </p:sp>
      <p:sp>
        <p:nvSpPr>
          <p:cNvPr id="55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14 / 17</a:t>
            </a:r>
          </a:p>
        </p:txBody>
      </p:sp>
      <p:sp>
        <p:nvSpPr>
          <p:cNvPr id="55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56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02 / 17</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22" name="yc 122"/>
          <p:cNvSpPr/>
          <p:nvPr/>
        </p:nvSpPr>
        <p:spPr>
          <a:xfrm>
            <a:off x="548640" y="566928"/>
            <a:ext cx="54864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Market context</a:t>
            </a:r>
          </a:p>
        </p:txBody>
      </p:sp>
      <p:sp>
        <p:nvSpPr>
          <p:cNvPr id="123" name="yc 123"/>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YC’s last 4 batches:</a:t>
            </a:r>
          </a:p>
        </p:txBody>
      </p:sp>
      <p:sp>
        <p:nvSpPr>
          <p:cNvPr id="124" name="yc 124"/>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the agent stack is moving from apps to control</a:t>
            </a:r>
          </a:p>
        </p:txBody>
      </p:sp>
      <p:cxnSp>
        <p:nvCxnSpPr>
          <p:cNvPr id="125" name="g1 rule 125"/>
          <p:cNvCxnSpPr/>
          <p:nvPr/>
        </p:nvCxnSpPr>
        <p:spPr>
          <a:xfrm>
            <a:off x="548640" y="1874520"/>
            <a:ext cx="731520" cy="0"/>
          </a:xfrm>
          <a:prstGeom prst="line">
            <a:avLst/>
          </a:prstGeom>
          <a:ln w="28575">
            <a:solidFill>
              <a:srgbClr val="EE0000"/>
            </a:solidFill>
          </a:ln>
        </p:spPr>
      </p:cxnSp>
      <p:sp>
        <p:nvSpPr>
          <p:cNvPr id="126" name="yc 126"/>
          <p:cNvSpPr/>
          <p:nvPr/>
        </p:nvSpPr>
        <p:spPr>
          <a:xfrm>
            <a:off x="548640" y="2029968"/>
            <a:ext cx="5394960" cy="713232"/>
          </a:xfrm>
          <a:prstGeom prst="roundRect">
            <a:avLst>
              <a:gd name="adj" fmla="val 14000"/>
            </a:avLst>
          </a:prstGeom>
          <a:solidFill>
            <a:srgbClr val="F5B700"/>
          </a:solidFill>
          <a:ln>
            <a:noFill/>
          </a:ln>
        </p:spPr>
        <p:txBody>
          <a:bodyPr wrap="square" lIns="137160" tIns="36576" rIns="109728" bIns="36576" rtlCol="0" anchor="ctr">
            <a:noAutofit/>
          </a:bodyPr>
          <a:lstStyle/>
          <a:p>
            <a:pPr algn="l" marL="0" indent="0">
              <a:buNone/>
            </a:pPr>
            <a:r>
              <a:rPr lang="en-US" sz="2400" b="1" dirty="0">
                <a:solidFill>
                  <a:srgbClr val="141010"/>
                </a:solidFill>
                <a:latin typeface="Arial"/>
                <a:ea typeface="Arial"/>
                <a:cs typeface="Arial"/>
              </a:rPr>
              <a:t>60%</a:t>
            </a:r>
            <a:r>
              <a:rPr lang="en-US" sz="1100" b="1" dirty="0">
                <a:solidFill>
                  <a:srgbClr val="141010"/>
                </a:solidFill>
                <a:latin typeface="Arial"/>
                <a:ea typeface="Arial"/>
                <a:cs typeface="Arial"/>
              </a:rPr>
              <a:t>   of Spring 2026 (P26) one-liners mention AI or agents</a:t>
            </a:r>
          </a:p>
          <a:p>
            <a:pPr algn="l" marL="0" indent="0">
              <a:buNone/>
            </a:pPr>
            <a:r>
              <a:rPr lang="en-US" sz="900" dirty="0">
                <a:solidFill>
                  <a:srgbClr val="141010"/>
                </a:solidFill>
                <a:latin typeface="Arial"/>
                <a:ea typeface="Arial"/>
                <a:cs typeface="Arial"/>
              </a:rPr>
              <a:t>Ollie Forsyth, New Economies [1]</a:t>
            </a:r>
          </a:p>
        </p:txBody>
      </p:sp>
      <p:sp>
        <p:nvSpPr>
          <p:cNvPr id="127" name="yc 127"/>
          <p:cNvSpPr/>
          <p:nvPr/>
        </p:nvSpPr>
        <p:spPr>
          <a:xfrm>
            <a:off x="6080760" y="2029968"/>
            <a:ext cx="5559552" cy="713232"/>
          </a:xfrm>
          <a:prstGeom prst="roundRect">
            <a:avLst>
              <a:gd name="adj" fmla="val 14000"/>
            </a:avLst>
          </a:prstGeom>
          <a:solidFill>
            <a:srgbClr val="2A1A16"/>
          </a:solidFill>
          <a:ln w="12700">
            <a:solidFill>
              <a:srgbClr val="D9B48A"/>
            </a:solidFill>
          </a:ln>
        </p:spPr>
        <p:txBody>
          <a:bodyPr wrap="square" lIns="137160" tIns="36576" rIns="109728" bIns="36576" rtlCol="0" anchor="ctr">
            <a:noAutofit/>
          </a:bodyPr>
          <a:lstStyle/>
          <a:p>
            <a:pPr algn="l" marL="0" indent="0">
              <a:buNone/>
            </a:pPr>
            <a:r>
              <a:rPr lang="en-US" sz="2000" b="1" dirty="0">
                <a:solidFill>
                  <a:srgbClr val="FFFFFF"/>
                </a:solidFill>
                <a:latin typeface="Arial"/>
                <a:ea typeface="Arial"/>
                <a:cs typeface="Arial"/>
              </a:rPr>
              <a:t>55% → 39%</a:t>
            </a:r>
            <a:r>
              <a:rPr lang="en-US" sz="1050" dirty="0">
                <a:solidFill>
                  <a:srgbClr val="F3E6D6"/>
                </a:solidFill>
                <a:latin typeface="Arial"/>
                <a:ea typeface="Arial"/>
                <a:cs typeface="Arial"/>
              </a:rPr>
              <a:t>  app-layer share, Summer 2026 (S26)  ·  </a:t>
            </a:r>
            <a:r>
              <a:rPr lang="en-US" sz="1200" b="1" dirty="0">
                <a:solidFill>
                  <a:srgbClr val="F5B700"/>
                </a:solidFill>
                <a:latin typeface="Arial"/>
                <a:ea typeface="Arial"/>
                <a:cs typeface="Arial"/>
              </a:rPr>
              <a:t>RL-env cos 1 → 7</a:t>
            </a:r>
          </a:p>
          <a:p>
            <a:pPr algn="l" marL="0" indent="0">
              <a:buNone/>
            </a:pPr>
            <a:r>
              <a:rPr lang="en-US" sz="850" b="1" dirty="0">
                <a:solidFill>
                  <a:srgbClr val="F5B700"/>
                </a:solidFill>
                <a:latin typeface="Arial"/>
                <a:ea typeface="Arial"/>
                <a:cs typeface="Arial"/>
              </a:rPr>
              <a:t>THIRD-PARTY ANALYSIS</a:t>
            </a:r>
            <a:r>
              <a:rPr lang="en-US" sz="900" dirty="0">
                <a:solidFill>
                  <a:srgbClr val="F3E6D6"/>
                </a:solidFill>
                <a:latin typeface="Arial"/>
                <a:ea typeface="Arial"/>
                <a:cs typeface="Arial"/>
              </a:rPr>
              <a:t>  ·  elsewhere.news [3], not YC data</a:t>
            </a:r>
          </a:p>
        </p:txBody>
      </p:sp>
      <p:sp>
        <p:nvSpPr>
          <p:cNvPr id="128" name="yc 128"/>
          <p:cNvSpPr/>
          <p:nvPr/>
        </p:nvSpPr>
        <p:spPr>
          <a:xfrm>
            <a:off x="54864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Simulation &amp; training gyms</a:t>
            </a:r>
          </a:p>
          <a:p>
            <a:pPr algn="l" marL="0" indent="0">
              <a:lnSpc>
                <a:spcPct val="95000"/>
              </a:lnSpc>
              <a:buNone/>
            </a:pPr>
            <a:r>
              <a:rPr lang="en-US" sz="850" dirty="0">
                <a:solidFill>
                  <a:srgbClr val="F3E6D6"/>
                </a:solidFill>
                <a:latin typeface="Arial"/>
                <a:ea typeface="Arial"/>
                <a:cs typeface="Arial"/>
              </a:rPr>
              <a:t>loop step 3 · Simulate</a:t>
            </a:r>
          </a:p>
        </p:txBody>
      </p:sp>
      <p:cxnSp>
        <p:nvCxnSpPr>
          <p:cNvPr id="129" name="g1 rule 129"/>
          <p:cNvCxnSpPr/>
          <p:nvPr/>
        </p:nvCxnSpPr>
        <p:spPr>
          <a:xfrm>
            <a:off x="1613916" y="3511296"/>
            <a:ext cx="0" cy="109728"/>
          </a:xfrm>
          <a:prstGeom prst="line">
            <a:avLst/>
          </a:prstGeom>
          <a:ln w="12700">
            <a:solidFill>
              <a:srgbClr val="EE0000"/>
            </a:solidFill>
          </a:ln>
        </p:spPr>
      </p:cxnSp>
      <p:sp>
        <p:nvSpPr>
          <p:cNvPr id="130" name="yc 130"/>
          <p:cNvSpPr/>
          <p:nvPr/>
        </p:nvSpPr>
        <p:spPr>
          <a:xfrm>
            <a:off x="54864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Polymath</a:t>
            </a:r>
            <a:r>
              <a:rPr lang="en-US" sz="900" b="1" dirty="0">
                <a:solidFill>
                  <a:srgbClr val="F5B700"/>
                </a:solidFill>
                <a:latin typeface="Arial"/>
                <a:ea typeface="Arial"/>
                <a:cs typeface="Arial"/>
              </a:rPr>
              <a:t>   W26</a:t>
            </a:r>
          </a:p>
          <a:p>
            <a:pPr algn="l" marL="0" indent="0">
              <a:lnSpc>
                <a:spcPct val="95000"/>
              </a:lnSpc>
              <a:buNone/>
            </a:pPr>
            <a:r>
              <a:rPr lang="en-US" sz="800" dirty="0">
                <a:solidFill>
                  <a:srgbClr val="F3E6D6"/>
                </a:solidFill>
                <a:latin typeface="Arial"/>
                <a:ea typeface="Arial"/>
                <a:cs typeface="Arial"/>
              </a:rPr>
              <a:t>long-horizon agent sim environments</a:t>
            </a:r>
          </a:p>
        </p:txBody>
      </p:sp>
      <p:sp>
        <p:nvSpPr>
          <p:cNvPr id="131" name="yc 131"/>
          <p:cNvSpPr/>
          <p:nvPr/>
        </p:nvSpPr>
        <p:spPr>
          <a:xfrm>
            <a:off x="54864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Arga Labs</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real-world sandboxes to test + train agents</a:t>
            </a:r>
          </a:p>
        </p:txBody>
      </p:sp>
      <p:sp>
        <p:nvSpPr>
          <p:cNvPr id="132" name="yc 132"/>
          <p:cNvSpPr/>
          <p:nvPr/>
        </p:nvSpPr>
        <p:spPr>
          <a:xfrm>
            <a:off x="548640" y="4736592"/>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Archal</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API sandboxes built for agents</a:t>
            </a:r>
          </a:p>
        </p:txBody>
      </p:sp>
      <p:sp>
        <p:nvSpPr>
          <p:cNvPr id="133" name="yc 133"/>
          <p:cNvSpPr/>
          <p:nvPr/>
        </p:nvSpPr>
        <p:spPr>
          <a:xfrm>
            <a:off x="548640" y="5303520"/>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Olam Labs</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simulations for frontier-lab training</a:t>
            </a:r>
          </a:p>
        </p:txBody>
      </p:sp>
      <p:sp>
        <p:nvSpPr>
          <p:cNvPr id="134" name="yc 134"/>
          <p:cNvSpPr/>
          <p:nvPr/>
        </p:nvSpPr>
        <p:spPr>
          <a:xfrm>
            <a:off x="278892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Evals &amp; failure mining</a:t>
            </a:r>
          </a:p>
          <a:p>
            <a:pPr algn="l" marL="0" indent="0">
              <a:lnSpc>
                <a:spcPct val="95000"/>
              </a:lnSpc>
              <a:buNone/>
            </a:pPr>
            <a:r>
              <a:rPr lang="en-US" sz="850" dirty="0">
                <a:solidFill>
                  <a:srgbClr val="F3E6D6"/>
                </a:solidFill>
                <a:latin typeface="Arial"/>
                <a:ea typeface="Arial"/>
                <a:cs typeface="Arial"/>
              </a:rPr>
              <a:t>steps 4 + 8 · Evaluate, Observe</a:t>
            </a:r>
          </a:p>
        </p:txBody>
      </p:sp>
      <p:cxnSp>
        <p:nvCxnSpPr>
          <p:cNvPr id="135" name="g1 rule 135"/>
          <p:cNvCxnSpPr/>
          <p:nvPr/>
        </p:nvCxnSpPr>
        <p:spPr>
          <a:xfrm>
            <a:off x="3854196" y="3511296"/>
            <a:ext cx="0" cy="109728"/>
          </a:xfrm>
          <a:prstGeom prst="line">
            <a:avLst/>
          </a:prstGeom>
          <a:ln w="12700">
            <a:solidFill>
              <a:srgbClr val="EE0000"/>
            </a:solidFill>
          </a:ln>
        </p:spPr>
      </p:cxnSp>
      <p:sp>
        <p:nvSpPr>
          <p:cNvPr id="136" name="yc 136"/>
          <p:cNvSpPr/>
          <p:nvPr/>
        </p:nvSpPr>
        <p:spPr>
          <a:xfrm>
            <a:off x="278892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Agnost AI</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finds where agents fail, trains better models</a:t>
            </a:r>
          </a:p>
        </p:txBody>
      </p:sp>
      <p:sp>
        <p:nvSpPr>
          <p:cNvPr id="137" name="yc 137"/>
          <p:cNvSpPr/>
          <p:nvPr/>
        </p:nvSpPr>
        <p:spPr>
          <a:xfrm>
            <a:off x="278892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CoArena</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crowdsourced computer-use benchmark</a:t>
            </a:r>
          </a:p>
        </p:txBody>
      </p:sp>
      <p:sp>
        <p:nvSpPr>
          <p:cNvPr id="138" name="yc 138"/>
          <p:cNvSpPr/>
          <p:nvPr/>
        </p:nvSpPr>
        <p:spPr>
          <a:xfrm>
            <a:off x="502920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Runtime guardrails &amp; action approval</a:t>
            </a:r>
          </a:p>
          <a:p>
            <a:pPr algn="l" marL="0" indent="0">
              <a:lnSpc>
                <a:spcPct val="95000"/>
              </a:lnSpc>
              <a:buNone/>
            </a:pPr>
            <a:r>
              <a:rPr lang="en-US" sz="850" dirty="0">
                <a:solidFill>
                  <a:srgbClr val="F3E6D6"/>
                </a:solidFill>
                <a:latin typeface="Arial"/>
                <a:ea typeface="Arial"/>
                <a:cs typeface="Arial"/>
              </a:rPr>
              <a:t>step 7 · Runtime control</a:t>
            </a:r>
          </a:p>
        </p:txBody>
      </p:sp>
      <p:cxnSp>
        <p:nvCxnSpPr>
          <p:cNvPr id="139" name="g1 rule 139"/>
          <p:cNvCxnSpPr/>
          <p:nvPr/>
        </p:nvCxnSpPr>
        <p:spPr>
          <a:xfrm>
            <a:off x="6094476" y="3511296"/>
            <a:ext cx="0" cy="109728"/>
          </a:xfrm>
          <a:prstGeom prst="line">
            <a:avLst/>
          </a:prstGeom>
          <a:ln w="12700">
            <a:solidFill>
              <a:srgbClr val="EE0000"/>
            </a:solidFill>
          </a:ln>
        </p:spPr>
      </p:cxnSp>
      <p:sp>
        <p:nvSpPr>
          <p:cNvPr id="140" name="yc 140"/>
          <p:cNvSpPr/>
          <p:nvPr/>
        </p:nvSpPr>
        <p:spPr>
          <a:xfrm>
            <a:off x="502920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Salus</a:t>
            </a:r>
            <a:r>
              <a:rPr lang="en-US" sz="900" b="1" dirty="0">
                <a:solidFill>
                  <a:srgbClr val="F5B700"/>
                </a:solidFill>
                <a:latin typeface="Arial"/>
                <a:ea typeface="Arial"/>
                <a:cs typeface="Arial"/>
              </a:rPr>
              <a:t>   W26</a:t>
            </a:r>
          </a:p>
          <a:p>
            <a:pPr algn="l" marL="0" indent="0">
              <a:lnSpc>
                <a:spcPct val="95000"/>
              </a:lnSpc>
              <a:buNone/>
            </a:pPr>
            <a:r>
              <a:rPr lang="en-US" sz="800" dirty="0">
                <a:solidFill>
                  <a:srgbClr val="F3E6D6"/>
                </a:solidFill>
                <a:latin typeface="Arial"/>
                <a:ea typeface="Arial"/>
                <a:cs typeface="Arial"/>
              </a:rPr>
              <a:t>validates agent actions before they run</a:t>
            </a:r>
          </a:p>
        </p:txBody>
      </p:sp>
      <p:sp>
        <p:nvSpPr>
          <p:cNvPr id="141" name="yc 141"/>
          <p:cNvSpPr/>
          <p:nvPr/>
        </p:nvSpPr>
        <p:spPr>
          <a:xfrm>
            <a:off x="502920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Decawork</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company-specific models approve AI actions</a:t>
            </a:r>
          </a:p>
        </p:txBody>
      </p:sp>
      <p:sp>
        <p:nvSpPr>
          <p:cNvPr id="142" name="yc 142"/>
          <p:cNvSpPr/>
          <p:nvPr/>
        </p:nvSpPr>
        <p:spPr>
          <a:xfrm>
            <a:off x="5029200" y="4736592"/>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Silmaril</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self-improving security for agents</a:t>
            </a:r>
          </a:p>
        </p:txBody>
      </p:sp>
      <p:sp>
        <p:nvSpPr>
          <p:cNvPr id="143" name="yc 143"/>
          <p:cNvSpPr/>
          <p:nvPr/>
        </p:nvSpPr>
        <p:spPr>
          <a:xfrm>
            <a:off x="726948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Agent identity &amp; authorisation</a:t>
            </a:r>
          </a:p>
          <a:p>
            <a:pPr algn="l" marL="0" indent="0">
              <a:lnSpc>
                <a:spcPct val="95000"/>
              </a:lnSpc>
              <a:buNone/>
            </a:pPr>
            <a:r>
              <a:rPr lang="en-US" sz="850" dirty="0">
                <a:solidFill>
                  <a:srgbClr val="F3E6D6"/>
                </a:solidFill>
                <a:latin typeface="Arial"/>
                <a:ea typeface="Arial"/>
                <a:cs typeface="Arial"/>
              </a:rPr>
              <a:t>steps 1 + 10 · Onboard, Govern</a:t>
            </a:r>
          </a:p>
        </p:txBody>
      </p:sp>
      <p:cxnSp>
        <p:nvCxnSpPr>
          <p:cNvPr id="144" name="g1 rule 144"/>
          <p:cNvCxnSpPr/>
          <p:nvPr/>
        </p:nvCxnSpPr>
        <p:spPr>
          <a:xfrm>
            <a:off x="8334756" y="3511296"/>
            <a:ext cx="0" cy="109728"/>
          </a:xfrm>
          <a:prstGeom prst="line">
            <a:avLst/>
          </a:prstGeom>
          <a:ln w="12700">
            <a:solidFill>
              <a:srgbClr val="EE0000"/>
            </a:solidFill>
          </a:ln>
        </p:spPr>
      </p:cxnSp>
      <p:sp>
        <p:nvSpPr>
          <p:cNvPr id="145" name="yc 145"/>
          <p:cNvSpPr/>
          <p:nvPr/>
        </p:nvSpPr>
        <p:spPr>
          <a:xfrm>
            <a:off x="726948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Inkbox</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identity + communication layer for agents</a:t>
            </a:r>
          </a:p>
        </p:txBody>
      </p:sp>
      <p:sp>
        <p:nvSpPr>
          <p:cNvPr id="146" name="yc 146"/>
          <p:cNvSpPr/>
          <p:nvPr/>
        </p:nvSpPr>
        <p:spPr>
          <a:xfrm>
            <a:off x="726948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Clawvisor</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the authorisation layer for AI agents</a:t>
            </a:r>
          </a:p>
        </p:txBody>
      </p:sp>
      <p:sp>
        <p:nvSpPr>
          <p:cNvPr id="147" name="yc 147"/>
          <p:cNvSpPr/>
          <p:nvPr/>
        </p:nvSpPr>
        <p:spPr>
          <a:xfrm>
            <a:off x="950976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Hosting &amp; running agent fleets</a:t>
            </a:r>
          </a:p>
          <a:p>
            <a:pPr algn="l" marL="0" indent="0">
              <a:lnSpc>
                <a:spcPct val="95000"/>
              </a:lnSpc>
              <a:buNone/>
            </a:pPr>
            <a:r>
              <a:rPr lang="en-US" sz="850" dirty="0">
                <a:solidFill>
                  <a:srgbClr val="F3E6D6"/>
                </a:solidFill>
                <a:latin typeface="Arial"/>
                <a:ea typeface="Arial"/>
                <a:cs typeface="Arial"/>
              </a:rPr>
              <a:t>steps 6 + 7 · Deploy, Run</a:t>
            </a:r>
          </a:p>
        </p:txBody>
      </p:sp>
      <p:cxnSp>
        <p:nvCxnSpPr>
          <p:cNvPr id="148" name="g1 rule 148"/>
          <p:cNvCxnSpPr/>
          <p:nvPr/>
        </p:nvCxnSpPr>
        <p:spPr>
          <a:xfrm>
            <a:off x="10575036" y="3511296"/>
            <a:ext cx="0" cy="109728"/>
          </a:xfrm>
          <a:prstGeom prst="line">
            <a:avLst/>
          </a:prstGeom>
          <a:ln w="12700">
            <a:solidFill>
              <a:srgbClr val="EE0000"/>
            </a:solidFill>
          </a:ln>
        </p:spPr>
      </p:cxnSp>
      <p:sp>
        <p:nvSpPr>
          <p:cNvPr id="149" name="yc 149"/>
          <p:cNvSpPr/>
          <p:nvPr/>
        </p:nvSpPr>
        <p:spPr>
          <a:xfrm>
            <a:off x="950976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Maritime</a:t>
            </a:r>
            <a:r>
              <a:rPr lang="en-US" sz="900" b="1" dirty="0">
                <a:solidFill>
                  <a:srgbClr val="F5B700"/>
                </a:solidFill>
                <a:latin typeface="Arial"/>
                <a:ea typeface="Arial"/>
                <a:cs typeface="Arial"/>
              </a:rPr>
              <a:t>   F26</a:t>
            </a:r>
          </a:p>
          <a:p>
            <a:pPr algn="l" marL="0" indent="0">
              <a:lnSpc>
                <a:spcPct val="95000"/>
              </a:lnSpc>
              <a:buNone/>
            </a:pPr>
            <a:r>
              <a:rPr lang="en-US" sz="800" dirty="0">
                <a:solidFill>
                  <a:srgbClr val="F3E6D6"/>
                </a:solidFill>
                <a:latin typeface="Arial"/>
                <a:ea typeface="Arial"/>
                <a:cs typeface="Arial"/>
              </a:rPr>
              <a:t>isolated, persistent VM per agent</a:t>
            </a:r>
          </a:p>
        </p:txBody>
      </p:sp>
      <p:sp>
        <p:nvSpPr>
          <p:cNvPr id="150" name="yc 150"/>
          <p:cNvSpPr/>
          <p:nvPr/>
        </p:nvSpPr>
        <p:spPr>
          <a:xfrm>
            <a:off x="950976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Agent Relay</a:t>
            </a:r>
            <a:r>
              <a:rPr lang="en-US" sz="900" b="1" dirty="0">
                <a:solidFill>
                  <a:srgbClr val="F5B700"/>
                </a:solidFill>
                <a:latin typeface="Arial"/>
                <a:ea typeface="Arial"/>
                <a:cs typeface="Arial"/>
              </a:rPr>
              <a:t>   F26</a:t>
            </a:r>
          </a:p>
          <a:p>
            <a:pPr algn="l" marL="0" indent="0">
              <a:lnSpc>
                <a:spcPct val="95000"/>
              </a:lnSpc>
              <a:buNone/>
            </a:pPr>
            <a:r>
              <a:rPr lang="en-US" sz="800" dirty="0">
                <a:solidFill>
                  <a:srgbClr val="F3E6D6"/>
                </a:solidFill>
                <a:latin typeface="Arial"/>
                <a:ea typeface="Arial"/>
                <a:cs typeface="Arial"/>
              </a:rPr>
              <a:t>runs teams of coding agents, human approvals</a:t>
            </a:r>
          </a:p>
        </p:txBody>
      </p:sp>
      <p:sp>
        <p:nvSpPr>
          <p:cNvPr id="151" name="yc 151"/>
          <p:cNvSpPr/>
          <p:nvPr/>
        </p:nvSpPr>
        <p:spPr>
          <a:xfrm>
            <a:off x="548640" y="5925312"/>
            <a:ext cx="11091672" cy="512064"/>
          </a:xfrm>
          <a:prstGeom prst="roundRect">
            <a:avLst>
              <a:gd name="adj" fmla="val 14000"/>
            </a:avLst>
          </a:prstGeom>
          <a:solidFill>
            <a:srgbClr val="F5B700"/>
          </a:solidFill>
          <a:ln>
            <a:noFill/>
          </a:ln>
        </p:spPr>
        <p:txBody>
          <a:bodyPr wrap="square" lIns="137160" tIns="27432" rIns="109728" bIns="27432" rtlCol="0" anchor="ctr">
            <a:noAutofit/>
          </a:bodyPr>
          <a:lstStyle/>
          <a:p>
            <a:pPr algn="l" marL="0" indent="0">
              <a:buNone/>
            </a:pPr>
            <a:r>
              <a:rPr lang="en-US" sz="1100" b="1" dirty="0">
                <a:solidFill>
                  <a:srgbClr val="141010"/>
                </a:solidFill>
                <a:latin typeface="Arial"/>
                <a:ea typeface="Arial"/>
                <a:cs typeface="Arial"/>
              </a:rPr>
              <a:t>Takeaway  </a:t>
            </a:r>
            <a:r>
              <a:rPr lang="en-US" sz="1100" dirty="0">
                <a:solidFill>
                  <a:srgbClr val="141010"/>
                </a:solidFill>
                <a:latin typeface="Arial"/>
                <a:ea typeface="Arial"/>
                <a:cs typeface="Arial"/>
              </a:rPr>
              <a:t>Build the control layer (identity, policy, eval) in-house on the Kairos platform (gateway + SDK); pilot 1–2 sandbox / guardrail startups as thin, swappable add-ons.</a:t>
            </a:r>
          </a:p>
        </p:txBody>
      </p:sp>
      <p:sp>
        <p:nvSpPr>
          <p:cNvPr id="152" name="yc 152"/>
          <p:cNvSpPr/>
          <p:nvPr/>
        </p:nvSpPr>
        <p:spPr>
          <a:xfrm>
            <a:off x="548640" y="6492240"/>
            <a:ext cx="11091672" cy="20116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Early-stage companies (often 2–3 people): a watchlist and pilot pool, not enterprise-ready vendors. Batch = as shown on each YC company page, fetched 14 Oct 2026. Step mapping is our assessment.</a:t>
            </a:r>
          </a:p>
        </p:txBody>
      </p:sp>
    </p:spTree>
  </p:cSld>
  <p:clrMapOvr>
    <a:masterClrMapping/>
  </p:clrMapOvr>
</p:sld>
</file>

<file path=ppt/theme/theme1.xml><?xml version="1.0" encoding="utf-8"?>
<a:theme xmlns:a="http://schemas.openxmlformats.org/drawingml/2006/main" name="Office Theme">
  <a:themeElements>
    <a:clrScheme name="Verizon Warm">
      <a:dk1>
        <a:sysClr val="windowText" lastClr="000000"/>
      </a:dk1>
      <a:lt1>
        <a:sysClr val="window" lastClr="FFFFFF"/>
      </a:lt1>
      <a:dk2>
        <a:srgbClr val="141010"/>
      </a:dk2>
      <a:lt2>
        <a:srgbClr val="F3E6D6"/>
      </a:lt2>
      <a:accent1>
        <a:srgbClr val="EE0000"/>
      </a:accent1>
      <a:accent2>
        <a:srgbClr val="F5B700"/>
      </a:accent2>
      <a:accent3>
        <a:srgbClr val="7A4A2A"/>
      </a:accent3>
      <a:accent4>
        <a:srgbClr val="4A0E14"/>
      </a:accent4>
      <a:accent5>
        <a:srgbClr val="D9B48A"/>
      </a:accent5>
      <a:accent6>
        <a:srgbClr val="A0704A"/>
      </a:accent6>
      <a:hlink>
        <a:srgbClr val="F5B700"/>
      </a:hlink>
      <a:folHlink>
        <a:srgbClr val="D9B48A"/>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2026-10-13T22:29:45Z</dcterms:created>
  <dcterms:modified xsi:type="dcterms:W3CDTF">2026-10-13T22:29:45Z</dcterms:modified>
</cp:coreProperties>
</file>