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Jev is a decision model, not a text generator and not a judge. One forward pass returns a choice, a probability per option and a confidence. This deck is about shipping that as an API and scaling it by adding single-GPU replicas per input-length bucket.</a:t>
            </a:r>
          </a:p>
          <a:p/>
          <a:p>
            <a:r>
              <a:t>2) WALK-THROUGH</a:t>
            </a:r>
          </a:p>
          <a:p>
            <a:r>
              <a:t>- Left navy panel: title 'Jev Decision API', subtitle about scaling the one-pass model as a production endpoint, and the line 'One forward pass · zero decode tokens · choice + confidence'.</a:t>
            </a:r>
          </a:p>
          <a:p>
            <a:r>
              <a:t>- Footer 'L40S FP8 for short inputs | H100 for 32–64K': the hardware split in one line.</a:t>
            </a:r>
          </a:p>
          <a:p>
            <a:r>
              <a:t>- Right column, 'The decision this deck drives': ship Jev as a decision API, scale by adding single-GPU replicas per length bucket, L40S now, H100 for 32–64K once the Phase-3 gates trip.</a:t>
            </a:r>
          </a:p>
          <a:p>
            <a:r>
              <a:t>- 'October 2026 · v4': v4 adds the V100 / Jev-E4B tier and supported context windows (slides 4, 6, 8); v3 refocused on the API product and scaling.</a:t>
            </a:r>
          </a:p>
          <a:p/>
          <a:p>
            <a:r>
              <a:t>3) TECHNICAL DEEP DIVE</a:t>
            </a:r>
          </a:p>
          <a:p>
            <a:r>
              <a:t>- Model: Gemma-4-26B-A4B fine-tuned with LoRA (experts frozen), 64K context, LM head deleted ('no LM head: never decode', model.py).</a:t>
            </a:r>
          </a:p>
          <a:p>
            <a:r>
              <a:t>- Serving consequence: no output tokens, no decode loop, no growing KV cache. Latency is one prefill; throughput is decisions per second.</a:t>
            </a:r>
          </a:p>
          <a:p>
            <a:r>
              <a:t>- Cost grows with input length, and the bidirectional global attention is quadratic in length. So the API is organised by length bucket: each bucket gets its own pool, SLO and GPU type.</a:t>
            </a:r>
          </a:p>
          <a:p>
            <a:r>
              <a:t>- Scale model: independent TP1 replicas. No tensor parallelism is needed because the FP8 copy (27 GB) fits one L40S and BF16 (50.7 GB) fits one H100.</a:t>
            </a:r>
          </a:p>
          <a:p/>
          <a:p>
            <a:r>
              <a:t>4) LIKELY QUESTIONS</a:t>
            </a:r>
          </a:p>
          <a:p>
            <a:r>
              <a:t>Q: Is this the same as the Jev judge work?</a:t>
            </a:r>
          </a:p>
          <a:p>
            <a:r>
              <a:t>A: No. This deck covers only the decision model as a product endpoint.</a:t>
            </a:r>
          </a:p>
          <a:p>
            <a:r>
              <a:t>Q: Do we need H100 to launch?</a:t>
            </a:r>
          </a:p>
          <a:p>
            <a:r>
              <a:t>A: No. ≤4K and ≤16K launch on L40S. Inputs above 16K run chunked on L40S until the H100 gates trip.</a:t>
            </a:r>
          </a:p>
          <a:p>
            <a:r>
              <a:t>Q: Why not a hosted LLM API?</a:t>
            </a:r>
          </a:p>
          <a:p>
            <a:r>
              <a:t>A: Jev returns calibrated option probabilities from one pass on our own GPUs. That is cheaper and deterministic per request, and the data stays in-house.</a:t>
            </a:r>
          </a:p>
          <a:p/>
          <a:p>
            <a:r>
              <a:t>5) SOURCES &amp; ESTIMATES</a:t>
            </a:r>
          </a:p>
          <a:p>
            <a:r>
              <a:t>- Internal: /workspace/fine-tuning/gemma26b-jev-64k-impl/model.py (lm_head deleted); /workspace/fine-tuning/Kairos-Restart-Spec-All-Improvements-2026-10-12.md (head, attention, LoRA); /workspace/fine-tuning/Gemma4-26B-Jev-64K-Implementation-Guide-2026-10-12.md §0; /workspace/fine-tuning/gemma26b-jev-64k-impl/SERVING.md.</a:t>
            </a:r>
          </a:p>
          <a:p>
            <a:r>
              <a:t>- Gemma 4 model card: https://ai.google.dev/gemma/docs/core/model_card_4</a:t>
            </a:r>
          </a:p>
          <a:p>
            <a:r>
              <a:t>- Estimates: none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Jev reads the whole input once, takes the hidden state at the last position, scores only the valid options with a letter-weight head, and returns a probability per option plus a confidence. Nothing is generated.</a:t>
            </a:r>
          </a:p>
          <a:p/>
          <a:p>
            <a:r>
              <a:t>2) WALK-THROUGH</a:t>
            </a:r>
          </a:p>
          <a:p>
            <a:r>
              <a:t>- Pills: 'One forward pass · zero decode tokens' and 'Choice-invariant · options shuffled per epoch'.</a:t>
            </a:r>
          </a:p>
          <a:p>
            <a:r>
              <a:t>- Top row, left to right. '64K input': context, question and lettered options; refused if over 65,536 tokens. 'Gemma-4-26B-A4B trunk': LoRA, experts frozen, no LM head. Inside it, '25 local layers' (sliding window 1,024, causal, unchanged) and '5 global layers' (teal: bidirectional mask). 'Last position': the 2,816-d hidden state. 'Letter-weight head': fp32, initialised from Gemma's own letter rows.</a:t>
            </a:r>
          </a:p>
          <a:p>
            <a:r>
              <a:t>- Bottom row. 'Mask': valid options only. 'Softmax': a probability per option. These two are inside the forward pass (teal rule). 'Calibrated confidence': a temperature per question type × length bucket. 'API response': choice, probabilities and confidence. These two are what the caller gets back (grey rule).</a:t>
            </a:r>
          </a:p>
          <a:p/>
          <a:p>
            <a:r>
              <a:t>3) TECHNICAL DEEP DIVE</a:t>
            </a:r>
          </a:p>
          <a:p>
            <a:r>
              <a:t>- Head: the restart spec uses a code-readout head, initialised from the LM unembedding rows of the answer letters, with last-token pooling (CodeReadoutHead in restart_utils.py). The current 64K run uses a bilinear head (JevHead in pack.py). The restart spec gates the choice between them on experiment G1. The slide shows the letter-weight version.</a:t>
            </a:r>
          </a:p>
          <a:p>
            <a:r>
              <a:t>- Attention: local layers stay causal; global layers become non-causal (restart spec 'global_layers: noncausal', gated by G2). This is why off-the-shelf generative engines don't serve it as-is (slide 7).</a:t>
            </a:r>
          </a:p>
          <a:p>
            <a:r>
              <a:t>- Choice invariance: options are shuffled per epoch (shuffle_options in restart_utils.py), so the answer doesn't depend on letter position.</a:t>
            </a:r>
          </a:p>
          <a:p>
            <a:r>
              <a:t>- Masking: logits for letters that are not valid options are set to −inf before softmax, so probabilities sum to 1 over the real options.</a:t>
            </a:r>
          </a:p>
          <a:p>
            <a:r>
              <a:t>- Calibration: calibrate.py fits a temperature per type × length bucket and reports ECE. That makes 'confidence' meaningful enough to return in the API and to support an optional client-side min_confidence (slide 3).</a:t>
            </a:r>
          </a:p>
          <a:p>
            <a:r>
              <a:t>- Over-length: inputs over 65,536 tokens after packing are refused, never silently truncated (SERVING.md).</a:t>
            </a:r>
          </a:p>
          <a:p/>
          <a:p>
            <a:r>
              <a:t>4) LIKELY QUESTIONS</a:t>
            </a:r>
          </a:p>
          <a:p>
            <a:r>
              <a:t>Q: Why bidirectional only on global layers?</a:t>
            </a:r>
          </a:p>
          <a:p>
            <a:r>
              <a:t>A: Global layers see the whole sequence, so letting them attend both ways lets the options and the question inform each other. Local layers are left unchanged to stay close to the pretrained model.</a:t>
            </a:r>
          </a:p>
          <a:p>
            <a:r>
              <a:t>Q: Is confidence just the max probability?</a:t>
            </a:r>
          </a:p>
          <a:p>
            <a:r>
              <a:t>A: It is the calibrated probability of the chosen option, after temperature scaling per type × length bucket.</a:t>
            </a:r>
          </a:p>
          <a:p>
            <a:r>
              <a:t>Q: Can it answer several questions about one document?</a:t>
            </a:r>
          </a:p>
          <a:p>
            <a:r>
              <a:t>A: Yes. /v1/systemone accepts several questions per state, and packing puts them in one pass (packing is validated per G3).</a:t>
            </a:r>
          </a:p>
          <a:p/>
          <a:p>
            <a:r>
              <a:t>5) SOURCES &amp; ESTIMATES</a:t>
            </a:r>
          </a:p>
          <a:p>
            <a:r>
              <a:t>- Internal: /workspace/fine-tuning/gemma26b-jev-64k-impl/model.py; /workspace/fine-tuning/gemma26b-jev-64k-impl/restart_utils.py (CodeReadoutHead, shuffle_options, select_answer_codes); /workspace/fine-tuning/gemma26b-jev-64k-impl/pack.py (JevHead, pack); /workspace/fine-tuning/gemma26b-jev-64k-impl/calibrate.py (temperature, ECE, buckets); /workspace/fine-tuning/Kairos-Restart-Spec-All-Improvements-2026-10-12.md; /workspace/fine-tuning/gemma26b-jev-64k-impl/SERVING.md.</a:t>
            </a:r>
          </a:p>
          <a:p>
            <a:r>
              <a:t>- Gemma 4 config: https://gemma-llm.readthedocs.io/en/stable/api/gm/nn/Gemma4_26B_A4B.html</a:t>
            </a:r>
          </a:p>
          <a:p>
            <a:r>
              <a:t>- Estimates: none.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One request shape, one response shape, three ways to call it: sync for interactive calls, batch for many decisions at once, async jobs for backfills. The current endpoint is /v1/systemone; /v1/decide is the proposed product name.</a:t>
            </a:r>
          </a:p>
          <a:p/>
          <a:p>
            <a:r>
              <a:t>2) WALK-THROUGH</a:t>
            </a:r>
          </a:p>
          <a:p>
            <a:r>
              <a:t>- Three endpoint cards. SYNC 'POST /v1/decide': interactive, one decision. BATCH 'POST /v1/decide:batch': many decisions in one call. ASYNC 'POST /v1/jobs': bulk backfill, poll for status or receive a webhook.</a:t>
            </a:r>
          </a:p>
          <a:p>
            <a:r>
              <a:t>- REQUEST card: context up to 64K tokens, question, options[], and an optional min_confidence.</a:t>
            </a:r>
          </a:p>
          <a:p>
            <a:r>
              <a:t>- RESPONSE card: choice, probabilities per option, confidence, abstain flag, model_version and latency_ms.</a:t>
            </a:r>
          </a:p>
          <a:p>
            <a:r>
              <a:t>- Bottom chips: Versioning (/v1 path plus model_version pin), Idempotency (Idempotency-Key header), Auth (API keys or OAuth), Quotas (rate limits per tenant), SLA tiers (by length bucket).</a:t>
            </a:r>
          </a:p>
          <a:p/>
          <a:p>
            <a:r>
              <a:t>3) TECHNICAL DEEP DIVE</a:t>
            </a:r>
          </a:p>
          <a:p>
            <a:r>
              <a:t>- Mapping to today: /v1/systemone takes {state, questions{id: {type choice|noul|score, …}}} and returns {answer, probabilities, confidence, …} (SERVING.md; Cloudflare plan). /v1/decide renames state → context and flattens one choice question. Batch maps to several questions per state, which packing can answer in one pass.</a:t>
            </a:r>
          </a:p>
          <a:p>
            <a:r>
              <a:t>- Question types: the existing contract supports choice, noul and score. The slide shows choice; the others reuse the same envelope with a type field.</a:t>
            </a:r>
          </a:p>
          <a:p>
            <a:r>
              <a:t>- Abstain is optional and client-driven: if the caller sends min_confidence and confidence falls below it, the response sets abstain=true but still returns the probabilities. What happens next is the caller's decision. The API does not route to another model.</a:t>
            </a:r>
          </a:p>
          <a:p>
            <a:r>
              <a:t>- Idempotency: the gateway stores the Idempotency-Key with the response for a retention window, so a retried POST returns the same decision without re-running the GPU.</a:t>
            </a:r>
          </a:p>
          <a:p>
            <a:r>
              <a:t>- Determinism: the same model_version + same input should give the same probabilities (fixed buckets, no sampling). Small numeric differences across GPU types (FP8 L40S vs BF16 H100) are possible; that is why model_version and the serving pool are returned/logged.</a:t>
            </a:r>
          </a:p>
          <a:p>
            <a:r>
              <a:t>- Errors: 413 when the input exceeds 64K tokens (or the bucket the tenant is entitled to), 422 for an invalid request (for example fewer than two options), 429 when over quota, 503 with Retry-After when a pool is saturated.</a:t>
            </a:r>
          </a:p>
          <a:p>
            <a:r>
              <a:t>- SLA tiers by bucket: a ≤4K decision and a 64K decision differ by roughly 30× in compute (slide 5), so one SLO across all lengths would be meaningless.</a:t>
            </a:r>
          </a:p>
          <a:p/>
          <a:p>
            <a:r>
              <a:t>4) LIKELY QUESTIONS</a:t>
            </a:r>
          </a:p>
          <a:p>
            <a:r>
              <a:t>Q: Why not just /v1/systemone?</a:t>
            </a:r>
          </a:p>
          <a:p>
            <a:r>
              <a:t>A: We can keep it as the wire name. /v1/decide is the product-facing name; both can route to the same server.</a:t>
            </a:r>
          </a:p>
          <a:p>
            <a:r>
              <a:t>Q: What does async give a team doing backfills?</a:t>
            </a:r>
          </a:p>
          <a:p>
            <a:r>
              <a:t>A: Queued processing that fills idle GPU capacity, without competing with interactive p99.</a:t>
            </a:r>
          </a:p>
          <a:p>
            <a:r>
              <a:t>Q: Can a client get only the answer?</a:t>
            </a:r>
          </a:p>
          <a:p>
            <a:r>
              <a:t>A: Yes, but probabilities and confidence cost nothing extra: they come out of the same pass.</a:t>
            </a:r>
          </a:p>
          <a:p/>
          <a:p>
            <a:r>
              <a:t>5) SOURCES &amp; ESTIMATES</a:t>
            </a:r>
          </a:p>
          <a:p>
            <a:r>
              <a:t>- Internal: /workspace/fine-tuning/gemma26b-jev-64k-impl/SERVING.md (/v1/systemone contract, refuse &gt;65,536); /workspace/fine-tuning/Cloudflare-Clef-64K-Finetune-Serve-Plan-2026-10-11.md (systemone question types); /workspace/fine-tuning/gemma26b-jev-64k-impl/calibrate.py.</a:t>
            </a:r>
          </a:p>
          <a:p>
            <a:r>
              <a:t>- HTTP semantics: https://www.rfc-editor.org/rfc/rfc9110 (413, 422, 429, 503); Idempotency-Key draft: https://datatracker.ietf.org/doc/draft-ietf-httpapi-idempotency-key-header/</a:t>
            </a:r>
          </a:p>
          <a:p>
            <a:r>
              <a:t>- Estimates: none. The contract is a proposal; field names other than the /v1/systemone ones are new.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Every request goes through one gateway and one router that picks a GPU tier by model and input length. V100 runs the distilled 4B Jev-E4B up to 8K (16K max), L40S runs Jev-26B up to 16K, and H100 runs Jev-26B at 32K–64K once added. The context window of each tier is printed on the diagram.</a:t>
            </a:r>
          </a:p>
          <a:p/>
          <a:p>
            <a:r>
              <a:t>2) WALK-THROUGH</a:t>
            </a:r>
          </a:p>
          <a:p>
            <a:r>
              <a:t>- Clients → API gateway: auth, quotas, rate limits, validation, token count (the model's tokenizer, so routing is exact).</a:t>
            </a:r>
          </a:p>
          <a:p>
            <a:r>
              <a:t>- Router (navy): routes on model × length: ≤8K, ≤16K, ≤32K, ≤64K; over 64K is rejected.</a:t>
            </a:r>
          </a:p>
          <a:p>
            <a:r>
              <a:t>- Three GPU tiers. Green box: V100 32 GB · FP16 — Jev-E4B (4B) + small encoders — Context ≤4K–8K · max 16K. Solid navy box: L40S 48 GB · FP8 — Jev-26B-A4B · 27 GB — Context ≤4K and ≤16K. Dashed teal box: H100 80 GB · BF16 — Jev-26B-A4B · 50.7 GB — Context ≤32K and ≤64K (added at Phase 3; until then &gt;16K runs chunked on L40S).</a:t>
            </a:r>
          </a:p>
          <a:p>
            <a:r>
              <a:t>- Decision server (teal, right): one GPU per replica, buckets + warm-up, merged LoRA, fused MoE, micro-batching, then 'Response': choice, probabilities, confidence.</a:t>
            </a:r>
          </a:p>
          <a:p>
            <a:r>
              <a:t>- Async/bulk path: bulk jobs → async queue (Kafka, SQS or Redis) → batch workers → same router.</a:t>
            </a:r>
          </a:p>
          <a:p>
            <a:r>
              <a:t>- Bottom band: model registry &amp; rollout (versions, shadow, canary); observability (decisions/s, p50/p99 per bucket, GPU util, queue depth, recompiles = 0).</a:t>
            </a:r>
          </a:p>
          <a:p/>
          <a:p>
            <a:r>
              <a:t>3) TECHNICAL DEEP DIVE</a:t>
            </a:r>
          </a:p>
          <a:p>
            <a:r>
              <a:t>- Routing rule: the client names a model (model_version jev-e4b-… or jev-26b-…) or a tier; the router counts tokens and picks the smallest bucket ≥ length on a tier that supports that model at that length. A Jev-E4B request over 16K is sent to L40S (E4B up to 32K there) rather than V100.</a:t>
            </a:r>
          </a:p>
          <a:p>
            <a:r>
              <a:t>- V100 tier: Jev-E4B in FP16 is ~9 GB of weights (4.5B effective params × 2 bytes, estimate), leaving ~23 GB on a 32 GB card. Attention runs on SDPA memory-efficient / xFormers because SM70 has no FlashAttention-2. Optimal ≤4K–8K, hard cap 16K (see slide 6 notes for the math). Small bidirectional encoders (0.3B–1B, &lt;2 GB FP16) share the tier.</a:t>
            </a:r>
          </a:p>
          <a:p>
            <a:r>
              <a:t>- E4B status: Jev E4B Fast exists as a letter-logit decision model with a ≤8K Fast profile (E4B guide). A version distilled from the 26B with bidirectional global layers is planned (distillation chain 31B → 26B → E4B in the recipe doc; causal vs non-causal on E4B is a listed experiment). Treat the V100 tier as Phase 2 work, gated on its own eval and calibration.</a:t>
            </a:r>
          </a:p>
          <a:p>
            <a:r>
              <a:t>- Why pools per tier/bucket: each server compiles and warms up only its shapes; a short request never waits behind a 64K one; each pool autoscales on its own SLO.</a:t>
            </a:r>
          </a:p>
          <a:p>
            <a:r>
              <a:t>- No prefix or cache-aware routing: bidirectional global layers make every token depend on the whole input, so prefix KV reuse is not valid.</a:t>
            </a:r>
          </a:p>
          <a:p>
            <a:r>
              <a:t>- Recompiles = 0 is a first-class alert; the 20 s+ latencies at 1K came from recompiling on unseen shapes (transcript).</a:t>
            </a:r>
          </a:p>
          <a:p/>
          <a:p>
            <a:r>
              <a:t>4) LIKELY QUESTIONS</a:t>
            </a:r>
          </a:p>
          <a:p>
            <a:r>
              <a:t>Q: Can V100 run the 26B?</a:t>
            </a:r>
          </a:p>
          <a:p>
            <a:r>
              <a:t>A: No: 50.7 GB BF16 does not fit 32 GB, and Volta has no FP8 or BF16 tensor cores. V100 runs the 4B Jev-E4B instead.</a:t>
            </a:r>
          </a:p>
          <a:p>
            <a:r>
              <a:t>Q: Can V100 run the bidirectional model?</a:t>
            </a:r>
          </a:p>
          <a:p>
            <a:r>
              <a:t>A: Yes for E4B: bidirectional global layers are plain non-causal attention, which SDPA and xFormers support on SM70. The limit is context length (≤8K optimal, 16K max), not the mask.</a:t>
            </a:r>
          </a:p>
          <a:p>
            <a:r>
              <a:t>Q: Is E4B as accurate as 26B?</a:t>
            </a:r>
          </a:p>
          <a:p>
            <a:r>
              <a:t>A: Not assumed. The E4B tier must pass its own paired eval before it takes traffic; route accuracy-critical tenants to 26B.</a:t>
            </a:r>
          </a:p>
          <a:p/>
          <a:p>
            <a:r>
              <a:t>5) SOURCES &amp; ESTIMATES</a:t>
            </a:r>
          </a:p>
          <a:p>
            <a:r>
              <a:t>- Internal: /workspace/fine-tuning/gemma26b-jev-64k-impl/SERVING.md; /workspace/fine-tuning/E4B-Jev-Fast-Long-Context-Implementation-Guide-2026-10-07.md (E4B Fast ≤8K profile, 4.5B effective / 8B with embeddings); /workspace/fine-tuning/Jev-E4B-Inference-Throughput-Plan-2026-10-08.md (E4B layers, global layers, hidden 2,560); /workspace/fine-tuning/Jev-64K-Recipe-E4B-26B-Leaderboard-2026-10-10.md (distillation chain); /workspace/fine-tuning/PPLX-Autojev-Nimble-vs-Kairos-Training-Gaps-2026-10-12.md (E4B causal vs non-causal experiment); /workspace/slides/jev-lightweight-gpu-2qxi8K/jev-bot-transcript.jsonl.</a:t>
            </a:r>
          </a:p>
          <a:p>
            <a:r>
              <a:t>- Gemma 4 model card (E4B: 4.5B effective / 8B with embeddings, 42 layers, sliding window 512, 128K context): https://ai.google.dev/gemma/docs/core/model_card_4</a:t>
            </a:r>
          </a:p>
          <a:p>
            <a:r>
              <a:t>- V100 datasheet (32 GB HBM2, 900 GB/s, 125 TFLOPS FP16 tensor): https://www.nvidia.com/en-us/data-center/v100/</a:t>
            </a:r>
          </a:p>
          <a:p>
            <a:r>
              <a:t>- Estimates: E4B ~9 GB FP16, ~23 GB headroom, V100 context caps; the 26B 50.7 GB and 27 GB are measured/cluster figures.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We scale by adding independent single-GPU replicas to the bucket that needs them, driven by queue depth and p99. Per GPU, an L40S does roughly 7 decisions/s at ≤4K and an H100 roughly 0.3/s at 64K — estimates to replace with Phase 0 measurements.</a:t>
            </a:r>
          </a:p>
          <a:p/>
          <a:p>
            <a:r>
              <a:t>2) WALK-THROUGH</a:t>
            </a:r>
          </a:p>
          <a:p>
            <a:r>
              <a:t>- Left, four mechanisms. 1 Independent TP1 replicas: N single-GPU copies per bucket, no cross-GPU traffic. 2 Autoscale per bucket on queue depth + p99, via KServe, Ray Serve or K8s HPA with custom metrics. 3 Micro-batch within a bucket: same padded length, one batched pass; most gain at short lengths. 4 Bucket and pad: fewer buckets mean fewer compiles but more padding waste.</a:t>
            </a:r>
          </a:p>
          <a:p>
            <a:r>
              <a:t>- Right, table 'Decisions/s per GPU · estimates'. Columns: bucket, PFLOP per decision, L40S FP8, H100 BF16.</a:t>
            </a:r>
          </a:p>
          <a:p>
            <a:r>
              <a:t>- ≤4K: ~0.04 PFLOP, ~7/s L40S, ~11/s H100. ≤16K: ~0.18, ~1.3, ~2.3. ≤32K: ~0.44, chunked on L40S, ~0.9 H100. ≤64K: ~1.2, chunked on L40S, ~0.3 H100.</a:t>
            </a:r>
          </a:p>
          <a:p>
            <a:r>
              <a:t>- Footnote: padded to bucket ceiling, ~40% of dense peak assumed, one pass per decision.</a:t>
            </a:r>
          </a:p>
          <a:p/>
          <a:p>
            <a:r>
              <a:t>3) TECHNICAL DEEP DIVE</a:t>
            </a:r>
          </a:p>
          <a:p>
            <a:r>
              <a:t>- Capacity method (estimate): FLOPs per decision = 2 × 3.8B active params × L (linear layers) + 5 global bidirectional layers × 4 × L² × 8,192 (attention width assumed 32 heads × 256) + 25 sliding layers × 4 × L × 1,024 × 4,096. Padded to the bucket ceiling L. Time = linear FLOPs ÷ (FP8 dense × 40%) + attention FLOPs ÷ (BF16 dense × 40%) on L40S (733 / 362 TFLOPS); all FLOPs ÷ (989 TFLOPS BF16 × 40%) on H100. 40% utilisation is an assumption, not a measurement.</a:t>
            </a:r>
          </a:p>
          <a:p>
            <a:r>
              <a:t>- Resulting time per decision (estimate): L40S ≈ 0.14 s (4K), 0.78 s (16K); H100 ≈ 0.09 s (4K), 0.44 s (16K), 1.1 s (32K), 3.1 s (64K). The 64K H100 figure sits inside SERVING.md's 3–6 s estimate; 16K at 0.44 s is below SERVING.md's ~1–2 s, so treat short-bucket numbers as optimistic.</a:t>
            </a:r>
          </a:p>
          <a:p>
            <a:r>
              <a:t>- Attention dominates at long lengths: at 64K the global-layer attention (~0.70 PFLOP) exceeds the linear layers (~0.50 PFLOP). That is why 32–64K goes to H100 (higher BF16 throughput, 80 GB).</a:t>
            </a:r>
          </a:p>
          <a:p>
            <a:r>
              <a:t>- Why TP1: TP adds all-reduce per layer over PCIe on L40S (no NVLink) and buys nothing when the model fits one GPU. Replicas scale linearly and fail independently.</a:t>
            </a:r>
          </a:p>
          <a:p>
            <a:r>
              <a:t>- Autoscaling signals: queue depth per bucket (leading) and p99 per bucket (lagging). Scale-up must account for cold start: load 27–51 GB weights plus warm-up of every bucket shape, so keep a warm minimum per pool.</a:t>
            </a:r>
          </a:p>
          <a:p>
            <a:r>
              <a:t>- Micro-batching: in a compute-bound regime, batching raises GPU utilisation rather than per-request speed. Expect the biggest gain at ≤4K, where a single request under-fills the GPU.</a:t>
            </a:r>
          </a:p>
          <a:p>
            <a:r>
              <a:t>- Bucket trade-off: with edges at powers of two, worst-case padding is just under 2× the compute of the real length, average less. Finer server-side buckets (1K, 2K, …) cut waste at the price of more warm-up shapes.</a:t>
            </a:r>
          </a:p>
          <a:p/>
          <a:p>
            <a:r>
              <a:t>4) LIKELY QUESTIONS</a:t>
            </a:r>
          </a:p>
          <a:p>
            <a:r>
              <a:t>Q: Why do 32K/64K say 'chunked' for L40S?</a:t>
            </a:r>
          </a:p>
          <a:p>
            <a:r>
              <a:t>A: Until native 64K proves better on the eval and H100 is added, long inputs run as 8K chunks with map-reduce on L40S (SERVING.md).</a:t>
            </a:r>
          </a:p>
          <a:p>
            <a:r>
              <a:t>Q: Can batching make 64K faster?</a:t>
            </a:r>
          </a:p>
          <a:p>
            <a:r>
              <a:t>A: No. At 64K one request already saturates the GPU; batching only helps short buckets.</a:t>
            </a:r>
          </a:p>
          <a:p>
            <a:r>
              <a:t>Q: How confident are these numbers?</a:t>
            </a:r>
          </a:p>
          <a:p>
            <a:r>
              <a:t>A: Order-of-magnitude. They depend on the assumed 40% utilisation and the attention width. Phase 0 replaces them.</a:t>
            </a:r>
          </a:p>
          <a:p/>
          <a:p>
            <a:r>
              <a:t>5) SOURCES &amp; ESTIMATES</a:t>
            </a:r>
          </a:p>
          <a:p>
            <a:r>
              <a:t>- Internal: /workspace/fine-tuning/gemma26b-jev-64k-impl/SERVING.md (3–6 s at 64K, ~1–2 s at 16K, 1 request at 64K on H100); /workspace/fine-tuning/Gemma4-26B-Jev-64K-Implementation-Guide-2026-10-12.md; /workspace/slides/jev-lightweight-gpu-2qxi8K/jev-bot-transcript.jsonl.</a:t>
            </a:r>
          </a:p>
          <a:p>
            <a:r>
              <a:t>- L40S datasheet: https://www.nvidia.com/en-us/data-center/l40s/ ; H100: https://resources.nvidia.com/en-us-gpu/h100-datasheet-24306</a:t>
            </a:r>
          </a:p>
          <a:p>
            <a:r>
              <a:t>- KServe autoscaling: https://kserve.github.io/website/ ; K8s HPA custom metrics: https://kubernetes.io/docs/tasks/run-application/horizontal-pod-autoscale/</a:t>
            </a:r>
          </a:p>
          <a:p>
            <a:r>
              <a:t>- Estimates: every number in the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V100 cannot run the 26B Jev, but it can run the distilled 4B Jev-E4B in FP16 at up to 8K tokens (16K max) plus small encoders. L40S runs the 26B to 16K and E4B to 32K. H100 runs the 26B at the full 64K.</a:t>
            </a:r>
          </a:p>
          <a:p/>
          <a:p>
            <a:r>
              <a:t>2) WALK-THROUGH</a:t>
            </a:r>
          </a:p>
          <a:p>
            <a:r>
              <a:t>- Columns: V100 (32 GB, Volta SM70), L40S (Ada SM89, highlighted), H100 (Hopper SM90). Dots: green ready, amber constraint, red blocker.</a:t>
            </a:r>
          </a:p>
          <a:p>
            <a:r>
              <a:t>- Memory: 32 GB HBM2 at 900 GB/s; 48 GB GDDR6 at 864 GB/s; 80 GB HBM3 at 3.35 TB/s.</a:t>
            </a:r>
          </a:p>
          <a:p>
            <a:r>
              <a:t>- Precision: V100 FP16 only (no BF16/FP8); L40S and H100 FP8, BF16, FP16.</a:t>
            </a:r>
          </a:p>
          <a:p>
            <a:r>
              <a:t>- Attention kernels: V100 SDPA and xFormers, no FA2; L40S FA2 and flex_attention; H100 FA2/FA3 and flex_attention.</a:t>
            </a:r>
          </a:p>
          <a:p>
            <a:r>
              <a:t>- Dense compute: V100 125 TFLOPS FP16 tensor; L40S ~733 TFLOPS FP8; H100 ~1,979 TFLOPS FP8.</a:t>
            </a:r>
          </a:p>
          <a:p>
            <a:r>
              <a:t>- Jev-26B-A4B: V100 no (50.7 GB &gt; 32 GB, red); L40S FP8 27 GB; H100 BF16 50.7 GB or FP8.</a:t>
            </a:r>
          </a:p>
          <a:p>
            <a:r>
              <a:t>- Jev-E4B (4B): V100 FP16 ~9 GB with ~23 GB free; L40S FP8/BF16; H100 fits but is overkill.</a:t>
            </a:r>
          </a:p>
          <a:p>
            <a:r>
              <a:t>- Encoders 0.3–1B: V100 &lt;2 GB, ≤512–4K tokens; L40S fits easily; H100 overkill.</a:t>
            </a:r>
          </a:p>
          <a:p>
            <a:r>
              <a:t>- Context window (teal, bold): V100 E4B ≤4K–8K, max 16K; L40S 26B ≤16K, E4B ≤32K; H100 26B full ≤64K.</a:t>
            </a:r>
          </a:p>
          <a:p>
            <a:r>
              <a:t>- Footer: E4B = distilled Jev decision model; the V100 cap comes from no FA2 + FP16 latency (estimate).</a:t>
            </a:r>
          </a:p>
          <a:p/>
          <a:p>
            <a:r>
              <a:t>3) TECHNICAL DEEP DIVE</a:t>
            </a:r>
          </a:p>
          <a:p>
            <a:r>
              <a:t>- 26B on V100: BF16 weights 50.7 GB exceed 32 GB. The 27 GB FP8 copy fits in bytes, but SM70 has no FP8 tensor cores, so it would be dequantised to FP16 (~51 GB again) or need custom kernels. INT4 (~15 GB) would also need Volta-capable INT4 kernels and an accuracy eval; not planned.</a:t>
            </a:r>
          </a:p>
          <a:p>
            <a:r>
              <a:t>- E4B memory math (estimate): 4.5B effective params × 2 bytes (FP16) ≈ 9 GB of weights (≈ 8–9 GB depending on what is counted). If all 8B parameters including the per-layer embeddings (PLE) are kept in HBM it is ~16 GB; PLE tables can be kept off the hot path. On a 32 GB V100 that leaves ~23 GB for activations, micro-batches and the CUDA context.</a:t>
            </a:r>
          </a:p>
          <a:p>
            <a:r>
              <a:t>- Why FP16 + SDPA/xFormers on SM70: Volta tensor cores do FP16 (125 TFLOPS dense on SXM2). FlashAttention-2 requires Ampere or newer, and FlashAttention 1.x targeted Turing/Ampere, so on V100 the practical kernels are PyTorch SDPA (memory-efficient backend) and xFormers. flex_attention depends on Triton, whose current releases target newer GPUs, so the packed BlockMask path used on L40S/H100 is not the V100 path; serve one question per row on V100.</a:t>
            </a:r>
          </a:p>
          <a:p>
            <a:r>
              <a:t>- Bidirectional on V100: the global layers become plain non-causal attention (no mask), which SDPA/xFormers handle; the local layers are causal sliding-window (512 for E4B), which xFormers supports with a local-attention bias. So the bidirectional architecture is supported; context length is the constraint.</a:t>
            </a:r>
          </a:p>
          <a:p>
            <a:r>
              <a:t>- Why V100 stops at 8K–16K (estimate). (a) No FlashAttention-2 on SM70, and FA1 never targeted Volta, so attention runs through PyTorch SDPA (memory-efficient backend) or xFormers. Those avoid storing the L×L score matrix when the mask is simple (full bidirectional or causal-local). If a custom or packed mask forces the dense 'math' path, each head stores an L×L FP16 score matrix: 0.5 GB at 16K, 2.1 GB at 32K, 8.6 GB at 64K per head. With 8 heads (assumed) that is ~4 / ~17 / ~69 GB per global layer — so 32K+ exceeds the ~23 GB headroom. (b) Latency: E4B prefill ≈ 2 × 3.94B × L + 4 × 7 global layers × L² × 2,560 + 4 × 35 local × L × 512 × 2,560 FLOPs. At 40% of 125 TFLOPS: ~0.7 s at 4K, ~1.4 s at 8K, ~3 s at 16K, ~7 s at 32K, ~17 s at 64K per decision on one V100. (c) FP16, not BF16: Volta has no BF16 tensor cores; Gemma is trained in BF16, so FP16 needs an overflow check and a paired accuracy eval.</a:t>
            </a:r>
          </a:p>
          <a:p>
            <a:r>
              <a:t>- L40S context: 26B FP8 ≤16K native (activation headroom on 48 GB is the open risk above 16K); E4B fits with room to ≤32K (estimate). H100: 26B full ≤64K, one request at 64K (SERVING.md estimate).</a:t>
            </a:r>
          </a:p>
          <a:p>
            <a:r>
              <a:t>- Datasheet sparsity figures are 2× the dense numbers; the table uses dense.</a:t>
            </a:r>
          </a:p>
          <a:p/>
          <a:p>
            <a:r>
              <a:t>4) LIKELY QUESTIONS</a:t>
            </a:r>
          </a:p>
          <a:p>
            <a:r>
              <a:t>Q: So can V100 run a 4B Gemma?</a:t>
            </a:r>
          </a:p>
          <a:p>
            <a:r>
              <a:t>A: Yes. Jev-E4B in FP16 is ~9 GB, leaving ~23 GB headroom on a 32 GB V100 (16 GB V100s would be tight).</a:t>
            </a:r>
          </a:p>
          <a:p>
            <a:r>
              <a:t>Q: And bidirectional on V100?</a:t>
            </a:r>
          </a:p>
          <a:p>
            <a:r>
              <a:t>A: Yes: non-causal global attention runs on SDPA/xFormers. What V100 lacks is FA2 and speed, so we cap context at ≤8K (16K max).</a:t>
            </a:r>
          </a:p>
          <a:p>
            <a:r>
              <a:t>Q: Why not 32K on V100?</a:t>
            </a:r>
          </a:p>
          <a:p>
            <a:r>
              <a:t>A: ~7 s per decision (estimate) and a risk of dense-mask fallback exhausting memory. Send it to L40S or H100.</a:t>
            </a:r>
          </a:p>
          <a:p/>
          <a:p>
            <a:r>
              <a:t>5) SOURCES &amp; ESTIMATES</a:t>
            </a:r>
          </a:p>
          <a:p>
            <a:r>
              <a:t>- V100 datasheet (32 GB HBM2, 900 GB/s, 125 TFLOPS FP16 tensor): https://www.nvidia.com/en-us/data-center/v100/</a:t>
            </a:r>
          </a:p>
          <a:p>
            <a:r>
              <a:t>- FlashAttention (FA2 needs Ampere/Ada/Hopper; FA1 targeted Turing/Ampere, not Volta): https://github.com/Dao-AILab/flash-attention</a:t>
            </a:r>
          </a:p>
          <a:p>
            <a:r>
              <a:t>- xFormers memory-efficient attention: https://github.com/facebookresearch/xformers ; PyTorch SDPA backends: https://pytorch.org/docs/stable/generated/torch.nn.functional.scaled_dot_product_attention.html</a:t>
            </a:r>
          </a:p>
          <a:p>
            <a:r>
              <a:t>- Gemma 4 model card (E4B: 4.5B effective / 8B with embeddings, 42 layers, sliding window 512, 128K context): https://ai.google.dev/gemma/docs/core/model_card_4</a:t>
            </a:r>
          </a:p>
          <a:p>
            <a:r>
              <a:t>- L40S: https://www.nvidia.com/en-us/data-center/l40s/ ; H100: https://resources.nvidia.com/en-us-gpu/h100-datasheet-24306</a:t>
            </a:r>
          </a:p>
          <a:p>
            <a:r>
              <a:t>- Internal: /workspace/fine-tuning/gemma26b-jev-64k-impl/SERVING.md (50.7 GB measured, 27 GB FP8 copy, 1 request at 64K); /workspace/fine-tuning/E4B-Jev-Fast-Long-Context-Implementation-Guide-2026-10-07.md; /workspace/fine-tuning/Jev-E4B-Inference-Throughput-Plan-2026-10-08.md.</a:t>
            </a:r>
          </a:p>
          <a:p>
            <a:r>
              <a:t>- Estimates: E4B FP16 ~9 GB, ~23 GB free, all context caps, V100 latencies; 125 TFLOPS is the V100 SXM2 datasheet figure (PCIe is lower).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One serving artifact and one custom PyTorch server run on both GPU types; only precision, bucket range and batch size differ. vLLM is a later option, after a plugin spike.</a:t>
            </a:r>
          </a:p>
          <a:p/>
          <a:p>
            <a:r>
              <a:t>2) WALK-THROUGH</a:t>
            </a:r>
          </a:p>
          <a:p>
            <a:r>
              <a:t>- Header: Component | L40S pools (≤4K, ≤16K) | H100 pools (≤32K, ≤64K).</a:t>
            </a:r>
          </a:p>
          <a:p>
            <a:r>
              <a:t>- Engine: custom PyTorch decision server on both.</a:t>
            </a:r>
          </a:p>
          <a:p>
            <a:r>
              <a:t>- Precision: L40S FP8 copy, 27 GB (validate vs BF16); H100 BF16, 50.7 GB.</a:t>
            </a:r>
          </a:p>
          <a:p>
            <a:r>
              <a:t>- Parallelism: TP1 replicas on both; no NVLink needed.</a:t>
            </a:r>
          </a:p>
          <a:p>
            <a:r>
              <a:t>- Batching: micro-batch within each bucket on L40S; small batch at 32K and 1 request at 64K on H100 (estimate).</a:t>
            </a:r>
          </a:p>
          <a:p>
            <a:r>
              <a:t>- Compile (mono): pad to 1K…16K and warm up at start; pad up to 64K with cached BlockMasks.</a:t>
            </a:r>
          </a:p>
          <a:p>
            <a:r>
              <a:t>- Artifact (spans both): merged LoRA + fp32 head, no ZeRO/DeepSpeed code.</a:t>
            </a:r>
          </a:p>
          <a:p>
            <a:r>
              <a:t>- vLLM caveat strip at the bottom.</a:t>
            </a:r>
          </a:p>
          <a:p/>
          <a:p>
            <a:r>
              <a:t>3) TECHNICAL DEEP DIVE</a:t>
            </a:r>
          </a:p>
          <a:p>
            <a:r>
              <a:t>- Server loop: tokenize → pad to bucket → build or fetch cached BlockMask for that bucket → one forward pass under torch.compile(dynamic=False) → head → mask → softmax → temperature → response.</a:t>
            </a:r>
          </a:p>
          <a:p>
            <a:r>
              <a:t>- Warm-up: at start-up run one dummy batch per bucket shape, so every shape compiles before the replica reports ready. Readiness probe = warm-up complete.</a:t>
            </a:r>
          </a:p>
          <a:p>
            <a:r>
              <a:t>- Fused MoE: load experts with fused grouped-GEMM kernels instead of a per-expert Python loop; this is one of the fixes the Jev bot listed for the slow-unseen-input issue (transcript).</a:t>
            </a:r>
          </a:p>
          <a:p>
            <a:r>
              <a:t>- Clean artifact: the training checkpoint carries ZeRO-3 partitioning and DeepSpeed hooks; export a merged, single-file model so the server never imports training code.</a:t>
            </a:r>
          </a:p>
          <a:p>
            <a:r>
              <a:t>- vLLM: its pooling runner can serve encoder-style models, but the built-in non-causal switch applies to every layer. Our model mixes causal local and bidirectional global layers and adds a custom head, so it needs an out-of-tree model plugin. Run a spike before adopting.</a:t>
            </a:r>
          </a:p>
          <a:p/>
          <a:p>
            <a:r>
              <a:t>4) LIKELY QUESTIONS</a:t>
            </a:r>
          </a:p>
          <a:p>
            <a:r>
              <a:t>Q: Why not TensorRT?</a:t>
            </a:r>
          </a:p>
          <a:p>
            <a:r>
              <a:t>A: Possible later; flex_attention masks and MoE make export non-trivial. Start with PyTorch + compile.</a:t>
            </a:r>
          </a:p>
          <a:p>
            <a:r>
              <a:t>Q: Is FP8 safe?</a:t>
            </a:r>
          </a:p>
          <a:p>
            <a:r>
              <a:t>A: Only after a paired eval vs BF16 on the 200 items (Phase 0 gate).</a:t>
            </a:r>
          </a:p>
          <a:p/>
          <a:p>
            <a:r>
              <a:t>5) SOURCES &amp; ESTIMATES</a:t>
            </a:r>
          </a:p>
          <a:p>
            <a:r>
              <a:t>- Internal: /workspace/fine-tuning/gemma26b-jev-64k-impl/SERVING.md; /workspace/slides/jev-lightweight-gpu-2qxi8K/jev-bot-transcript.jsonl; /workspace/fine-tuning/gemma26b-jev-64k-impl/model.py; /workspace/fine-tuning/Gemma4-26B-Jev-64K-Implementation-Guide-2026-10-12.md.</a:t>
            </a:r>
          </a:p>
          <a:p>
            <a:r>
              <a:t>- vLLM pooling models: https://docs.vllm.ai/en/stable/models/pooling_models.html ; PyTorch FlexAttention: https://pytorch.org/blog/flexattention/</a:t>
            </a:r>
          </a:p>
          <a:p>
            <a:r>
              <a:t>- Estimates: batch at 32K and 1 request at 64K on H100 (SERVING.md estimate).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The 26B FP8 copy fits an L40S; the distilled 4B Jev-E4B in FP16 fits a V100 with room to spare. The red line shows what V100 can and cannot run.</a:t>
            </a:r>
          </a:p>
          <a:p/>
          <a:p>
            <a:r>
              <a:t>2) WALK-THROUGH</a:t>
            </a:r>
          </a:p>
          <a:p>
            <a:r>
              <a:t>- Subtitle: weight footprint vs GPU memory; INT4 and E4B sizes are estimates.</a:t>
            </a:r>
          </a:p>
          <a:p>
            <a:r>
              <a:t>- Dashed capacity lines: V100 32 GB (red), L40S 48 GB (teal), H100 80 GB (navy).</a:t>
            </a:r>
          </a:p>
          <a:p>
            <a:r>
              <a:t>- Bars: 26B BF16 50.7 GB measured (right of the red line); 26B FP8 27 GB copy; 26B INT4 ~15 GB; E4B FP16 ~9 GB (green, well left of the red line).</a:t>
            </a:r>
          </a:p>
          <a:p>
            <a:r>
              <a:t>- Red callout: Red line = V100 32 GB. Left of it, V100 runs Jev-E4B in FP16 (~9 GB + activations → ≤4K–8K, max 16K) and small encoders. 26B on V100: BF16 50.7 GB OOMs; FP8 27 GB fits in bytes, but Volta has no FP8 math.</a:t>
            </a:r>
          </a:p>
          <a:p>
            <a:r>
              <a:t>- Four levers: 1 run the FP8 copy (validate accuracy); 2 bucket and warm up (fixed lengths 1K–64K, compiled once); 3 chunk above 16K (8K map-reduce until H100 pools exist); 4 shrink the model (green): distill to E4B — unlocks the V100 32 GB fleet in FP16 for ≤4K–8K (max 16K) decisions.</a:t>
            </a:r>
          </a:p>
          <a:p/>
          <a:p>
            <a:r>
              <a:t>3) TECHNICAL DEEP DIVE</a:t>
            </a:r>
          </a:p>
          <a:p>
            <a:r>
              <a:t>- E4B memory math (estimate): 4.5B effective params × 2 bytes (FP16) ≈ 9 GB of weights (≈ 8–9 GB depending on what is counted). If all 8B parameters including the per-layer embeddings (PLE) are kept in HBM it is ~16 GB; PLE tables can be kept off the hot path. On a 32 GB V100 that leaves ~23 GB for activations, micro-batches and the CUDA context.</a:t>
            </a:r>
          </a:p>
          <a:p>
            <a:r>
              <a:t>- Why the 27 GB FP8 bar sits left of the red line but still does not run on V100: SM70 has no FP8 tensor cores; dequantising to FP16 brings the weights back to ~51 GB.</a:t>
            </a:r>
          </a:p>
          <a:p>
            <a:r>
              <a:t>- Why V100 stops at 8K–16K (estimate). (a) No FlashAttention-2 on SM70, and FA1 never targeted Volta, so attention runs through PyTorch SDPA (memory-efficient backend) or xFormers. Those avoid storing the L×L score matrix when the mask is simple (full bidirectional or causal-local). If a custom or packed mask forces the dense 'math' path, each head stores an L×L FP16 score matrix: 0.5 GB at 16K, 2.1 GB at 32K, 8.6 GB at 64K per head. With 8 heads (assumed) that is ~4 / ~17 / ~69 GB per global layer — so 32K+ exceeds the ~23 GB headroom. (b) Latency: E4B prefill ≈ 2 × 3.94B × L + 4 × 7 global layers × L² × 2,560 + 4 × 35 local × L × 512 × 2,560 FLOPs. At 40% of 125 TFLOPS: ~0.7 s at 4K, ~1.4 s at 8K, ~3 s at 16K, ~7 s at 32K, ~17 s at 64K per decision on one V100. (c) FP16, not BF16: Volta has no BF16 tensor cores; Gemma is trained in BF16, so FP16 needs an overflow check and a paired accuracy eval.</a:t>
            </a:r>
          </a:p>
          <a:p>
            <a:r>
              <a:t>- Single pass: no KV cache is kept and there is no LM head, so memory beyond weights is activations only — which is why ~23 GB headroom is enough for E4B at ≤16K with memory-efficient kernels.</a:t>
            </a:r>
          </a:p>
          <a:p>
            <a:r>
              <a:t>- Recompile issue (lever 2): ~20 s at 1K and 336 s on unseen inputs, seen shapes fast → shape-driven recompiles; fix with fixed buckets + warm-up + compile cache (transcript).</a:t>
            </a:r>
          </a:p>
          <a:p>
            <a:r>
              <a:t>- Chunked map-reduce (lever 3): 8K chunks, a 0.80 floor, and the response reports which path answered (SERVING.md).</a:t>
            </a:r>
          </a:p>
          <a:p>
            <a:r>
              <a:t>- Lever 4: Jev E4B Fast already exists with a ≤8K profile; distilling the 26B's calibrated letter distributions into E4B (recipe doc) gives the V100 tier a model trained to the same contract. It needs its own paired eval, FP16 overflow check and calibration before serving.</a:t>
            </a:r>
          </a:p>
          <a:p/>
          <a:p>
            <a:r>
              <a:t>4) LIKELY QUESTIONS</a:t>
            </a:r>
          </a:p>
          <a:p>
            <a:r>
              <a:t>Q: Can we use the V100 fleet at all?</a:t>
            </a:r>
          </a:p>
          <a:p>
            <a:r>
              <a:t>A: Yes, with lever 4: Jev-E4B in FP16 for ≤4K–8K decisions (16K max), plus small encoders.</a:t>
            </a:r>
          </a:p>
          <a:p>
            <a:r>
              <a:t>Q: Why not INT4 26B on V100?</a:t>
            </a:r>
          </a:p>
          <a:p>
            <a:r>
              <a:t>A: Needs Volta-capable INT4 kernels, an accuracy eval, and it would still be slow at long context. E4B is the simpler path.</a:t>
            </a:r>
          </a:p>
          <a:p>
            <a:r>
              <a:t>Q: Does chunking hurt accuracy?</a:t>
            </a:r>
          </a:p>
          <a:p>
            <a:r>
              <a:t>A: Possibly at long range; that is the H100 gate: native 64K must beat chunked on the eval.</a:t>
            </a:r>
          </a:p>
          <a:p/>
          <a:p>
            <a:r>
              <a:t>5) SOURCES &amp; ESTIMATES</a:t>
            </a:r>
          </a:p>
          <a:p>
            <a:r>
              <a:t>- Internal: /workspace/fine-tuning/gemma26b-jev-64k-impl/SERVING.md; /workspace/slides/jev-lightweight-gpu-2qxi8K/jev-bot-transcript.jsonl; /workspace/fine-tuning/Gemma4-26B-Jev-64K-Implementation-Guide-2026-10-12.md; /workspace/fine-tuning/E4B-Jev-Fast-Long-Context-Implementation-Guide-2026-10-07.md; /workspace/fine-tuning/Jev-E4B-Inference-Throughput-Plan-2026-10-08.md; /workspace/fine-tuning/Jev-64K-Recipe-E4B-26B-Leaderboard-2026-10-10.md.</a:t>
            </a:r>
          </a:p>
          <a:p>
            <a:r>
              <a:t>- Gemma 4 model card (E4B: 4.5B effective / 8B with embeddings, 42 layers, sliding window 512, 128K context): https://ai.google.dev/gemma/docs/core/model_card_4</a:t>
            </a:r>
          </a:p>
          <a:p>
            <a:r>
              <a:t>- V100 datasheet (32 GB HBM2, 900 GB/s, 125 TFLOPS FP16 tensor): https://www.nvidia.com/en-us/data-center/v100/</a:t>
            </a:r>
          </a:p>
          <a:p>
            <a:r>
              <a:t>- FlashAttention (FA2 needs Ampere/Ada/Hopper; FA1 targeted Turing/Ampere, not Volta): https://github.com/Dao-AILab/flash-attention</a:t>
            </a:r>
          </a:p>
          <a:p>
            <a:r>
              <a:t>- Estimates: 26B INT4 ~15 GB, E4B FP16 ~9 GB, V100 context caps; 50.7 GB and 27 GB are run-log/cluster figures.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Four phases take Jev from a clean single server to a full API product, and H100 is added only when measured triggers say so.</a:t>
            </a:r>
          </a:p>
          <a:p/>
          <a:p>
            <a:r>
              <a:t>2) WALK-THROUGH</a:t>
            </a:r>
          </a:p>
          <a:p>
            <a:r>
              <a:t>- Phase 0 Baseline: clean checkpoint, bucketed server, warm-up. Gate: no recompiles after warm-up; FP8 matches BF16.</a:t>
            </a:r>
          </a:p>
          <a:p>
            <a:r>
              <a:t>- Phase 1 Productize: API gateway, bucket router, quotas, autoscaling. Gate: p99 per bucket within SLO.</a:t>
            </a:r>
          </a:p>
          <a:p>
            <a:r>
              <a:t>- Phase 2 Optimize: batch + async API, packing, distillation. Gate: cost per 1k decisions trending down.</a:t>
            </a:r>
          </a:p>
          <a:p>
            <a:r>
              <a:t>- Phase 3 Add H100 (teal): 32K and 64K pools, native single pass. Gate: triggered by the panel on the right.</a:t>
            </a:r>
          </a:p>
          <a:p>
            <a:r>
              <a:t>- Right panel 'Add H100 when': native 64K beats chunked on eval; 32–64K p99 misses on L40S; decisions/s short at peak; H100 cost per decision wins.</a:t>
            </a:r>
          </a:p>
          <a:p/>
          <a:p>
            <a:r>
              <a:t>3) TECHNICAL DEEP DIVE</a:t>
            </a:r>
          </a:p>
          <a:p>
            <a:r>
              <a:t>- Trigger 1 uses the paired eval with McNemar on the same 200 item_ids (implementation guide §10).</a:t>
            </a:r>
          </a:p>
          <a:p>
            <a:r>
              <a:t>- Trigger 4: GPU $/hour ÷ measured decisions/hour on the real length mix.</a:t>
            </a:r>
          </a:p>
          <a:p>
            <a:r>
              <a:t>- Load testing: GuideLLM targets generative endpoints; for /v1/decide use a bucketed load generator (fine-tuning/inference-bench/bench_async.py can be adapted).</a:t>
            </a:r>
          </a:p>
          <a:p>
            <a:r>
              <a:t>- Thresholds are set by the SLO owner in Phase 1.</a:t>
            </a:r>
          </a:p>
          <a:p>
            <a:r>
              <a:t>- Phase 2 'distillation' is what creates the V100 tier: a Jev-E4B distilled from the 26B, served in FP16 on V100 for ≤4K–8K (16K max). Gate: E4B passes its paired eval and FP16-vs-BF16 check before taking traffic (slides 4, 6, 8).</a:t>
            </a:r>
          </a:p>
          <a:p/>
          <a:p>
            <a:r>
              <a:t>4) LIKELY QUESTIONS</a:t>
            </a:r>
          </a:p>
          <a:p>
            <a:r>
              <a:t>Q: Is Phase 3 a migration?</a:t>
            </a:r>
          </a:p>
          <a:p>
            <a:r>
              <a:t>A: No. It adds two pools; the L40S pools stay.</a:t>
            </a:r>
          </a:p>
          <a:p>
            <a:r>
              <a:t>Q: Can phases overlap?</a:t>
            </a:r>
          </a:p>
          <a:p>
            <a:r>
              <a:t>A: Phase 2 work (packing, distillation) can start in parallel, but gates are signed off in order.</a:t>
            </a:r>
          </a:p>
          <a:p/>
          <a:p>
            <a:r>
              <a:t>5) SOURCES &amp; ESTIMATES</a:t>
            </a:r>
          </a:p>
          <a:p>
            <a:r>
              <a:t>- Internal: /workspace/fine-tuning/gemma26b-jev-64k-impl/SERVING.md; /workspace/fine-tuning/Gemma4-26B-Jev-64K-Implementation-Guide-2026-10-12.md §10; /workspace/fine-tuning/inference-bench/bench_async.py.; /workspace/fine-tuning/Jev-64K-Recipe-E4B-26B-Leaderboard-2026-10-10.md; /workspace/fine-tuning/E4B-Jev-Fast-Long-Context-Implementation-Guide-2026-10-07.md.</a:t>
            </a:r>
          </a:p>
          <a:p>
            <a:r>
              <a:t>- Estimates: none; thresholds to be agreed.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Six controls make the decision API a governed product: per-bucket SLOs, tenant isolation, security and PII, versioning, safe rollout, and an explicit fallback for long inputs.</a:t>
            </a:r>
          </a:p>
          <a:p/>
          <a:p>
            <a:r>
              <a:t>2) WALK-THROUGH</a:t>
            </a:r>
          </a:p>
          <a:p>
            <a:r>
              <a:t>- 01 SLOs per bucket: p99 and availability per length bucket, with error budgets.</a:t>
            </a:r>
          </a:p>
          <a:p>
            <a:r>
              <a:t>- 02 Multi-tenancy: API keys, quotas, rate limits and priority per tenant.</a:t>
            </a:r>
          </a:p>
          <a:p>
            <a:r>
              <a:t>- 03 Security &amp; PII (teal): in-region data, PII redaction in logs, audit log.</a:t>
            </a:r>
          </a:p>
          <a:p>
            <a:r>
              <a:t>- 04 Versioning: /v1 contract, model_version pin, deprecation window.</a:t>
            </a:r>
          </a:p>
          <a:p>
            <a:r>
              <a:t>- 05 Canary &amp; rollback: shadow, canary, auto-rollback on SLO breach.</a:t>
            </a:r>
          </a:p>
          <a:p>
            <a:r>
              <a:t>- 06 Fallback: &gt;16K runs chunked map-reduce, or returns a clear error — never silent truncation.</a:t>
            </a:r>
          </a:p>
          <a:p/>
          <a:p>
            <a:r>
              <a:t>3) TECHNICAL DEEP DIVE</a:t>
            </a:r>
          </a:p>
          <a:p>
            <a:r>
              <a:t>- SLOs per bucket because latency scales with length; one global p99 would hide the 64K tail.</a:t>
            </a:r>
          </a:p>
          <a:p>
            <a:r>
              <a:t>- Tenancy: priority classes let interactive traffic pre-empt batch/async within a pool; a tenant's quota is enforced at the gateway before GPU time is spent.</a:t>
            </a:r>
          </a:p>
          <a:p>
            <a:r>
              <a:t>- Audit per decision: request id, tenant, input hash (not raw text), model_version, bucket, probabilities, confidence, latency. Raw inputs are not logged unless a tenant opts in under policy.</a:t>
            </a:r>
          </a:p>
          <a:p>
            <a:r>
              <a:t>- Versioning: a new checkpoint is a new model_version with its own calibration temperatures. Clients may pin a version; unpinned clients follow the default after canary.</a:t>
            </a:r>
          </a:p>
          <a:p>
            <a:r>
              <a:t>- Rollout: shadow (score live traffic, compare distributions, no client impact) → canary (small % of traffic) → full. Auto-rollback on p99, error rate or a shift in confidence distribution.</a:t>
            </a:r>
          </a:p>
          <a:p>
            <a:r>
              <a:t>- Fallback is mechanical, not another model: chunked map-reduce (path reported in the response) or 413 with a clear message. Low confidence is surfaced to the client via confidence and the optional abstain flag.</a:t>
            </a:r>
          </a:p>
          <a:p/>
          <a:p>
            <a:r>
              <a:t>4) LIKELY QUESTIONS</a:t>
            </a:r>
          </a:p>
          <a:p>
            <a:r>
              <a:t>Q: Does any data leave Verizon?</a:t>
            </a:r>
          </a:p>
          <a:p>
            <a:r>
              <a:t>A: No. The model runs on our GPUs; nothing is sent to an external model.</a:t>
            </a:r>
          </a:p>
          <a:p>
            <a:r>
              <a:t>Q: What happens on a bad release?</a:t>
            </a:r>
          </a:p>
          <a:p>
            <a:r>
              <a:t>A: Auto-rollback to the previous model_version; pinned clients are unaffected.</a:t>
            </a:r>
          </a:p>
          <a:p/>
          <a:p>
            <a:r>
              <a:t>5) SOURCES &amp; ESTIMATES</a:t>
            </a:r>
          </a:p>
          <a:p>
            <a:r>
              <a:t>- Internal: /workspace/fine-tuning/gemma26b-jev-64k-impl/SERVING.md (refuse &gt;65,536, chunked &gt;16K, report path); /workspace/fine-tuning/gemma26b-jev-64k-impl/calibrate.py (per-bucket temperature).</a:t>
            </a:r>
          </a:p>
          <a:p>
            <a:r>
              <a:t>- Estimates: none. These are proposed controls, to align with Verizon policy.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For an example traffic mix, 1, 5 and 10 decisions/s need about 1+1, 3+3 and 5+5 GPUs (L40S + H100). Serving everything on H100 would need 1, 4 and 8. The next 30 days replace these estimates with measurements.</a:t>
            </a:r>
          </a:p>
          <a:p/>
          <a:p>
            <a:r>
              <a:t>2) WALK-THROUGH</a:t>
            </a:r>
          </a:p>
          <a:p>
            <a:r>
              <a:t>- Subtitle assumptions: mix 50% ≤4K, 30% ≤16K, 15% ≤32K, 5% ≤64K (illustrative); pools run at 70% target load.</a:t>
            </a:r>
          </a:p>
          <a:p>
            <a:r>
              <a:t>- Big numbers: '1 + 1' for 1 decision/s (all-H100 alternative: 1); '3 + 3' for 5 decisions/s (alternative: 4); '5 + 5' (teal) for 10 decisions/s (alternative: 8). Footnote: GPUs before HA spares, estimates.</a:t>
            </a:r>
          </a:p>
          <a:p>
            <a:r>
              <a:t>- Right panel, next 30 days: (1) clean checkpoint + bucketed server with warm-up; (2) measure decisions/s and p99 per bucket, L40S vs H100; (3) FP8 vs BF16 accuracy on the 200 items; (4) ship /v1/decide behind the gateway, agree SLOs and H100 gates.</a:t>
            </a:r>
          </a:p>
          <a:p/>
          <a:p>
            <a:r>
              <a:t>3) TECHNICAL DEEP DIVE</a:t>
            </a:r>
          </a:p>
          <a:p>
            <a:r>
              <a:t>- GPU-seconds per decision for the mix (estimate, from slide 5): L40S ≈ 0.5 × 0.137 + 0.3 × 0.776 ≈ 0.30 s; H100 ≈ 0.15 × 1.11 + 0.05 × 3.11 ≈ 0.32 s. All-H100 ≈ 0.50 s.</a:t>
            </a:r>
          </a:p>
          <a:p>
            <a:r>
              <a:t>- GPUs = target decisions/s × GPU-seconds ÷ 0.7, rounded up: 1/s → 0.43 and 0.46 → 1 + 1; 5/s → 2.2 and 2.3 → 3 + 3; 10/s → 4.3 and 4.6 → 5 + 5. All-H100: 0.71, 3.6, 7.1 → 1, 4, 8.</a:t>
            </a:r>
          </a:p>
          <a:p>
            <a:r>
              <a:t>- Add at least one spare per pool for availability (N+1), and keep a warm minimum of one replica per bucket even at low traffic, so at 1/s the real footprint is about 2 L40S + 2 H100 per region.</a:t>
            </a:r>
          </a:p>
          <a:p>
            <a:r>
              <a:t>- The answer is highly sensitive to the share of 32–64K traffic: each 64K decision costs ~30× a 4K one. Measure the real length mix before buying.</a:t>
            </a:r>
          </a:p>
          <a:p>
            <a:r>
              <a:t>- Before H100 exists, the 32K/64K share runs chunked on L40S; its cost depends on chunk count and is not estimated here.</a:t>
            </a:r>
          </a:p>
          <a:p>
            <a:r>
              <a:t>- Optional V100 tier (not in the counts above): if ≤8K traffic can be served by Jev-E4B, it can move to existing V100s. Rough E4B throughput per V100 (estimate, 40% of 125 TFLOPS): ~1.4 decisions/s at 4K, ~0.7/s at 8K, ~0.3/s at 16K. That offloads L40S only for tenants that accept the 4B model.</a:t>
            </a:r>
          </a:p>
          <a:p/>
          <a:p>
            <a:r>
              <a:t>4) LIKELY QUESTIONS</a:t>
            </a:r>
          </a:p>
          <a:p>
            <a:r>
              <a:t>Q: Can we budget on this?</a:t>
            </a:r>
          </a:p>
          <a:p>
            <a:r>
              <a:t>A: Not yet. Every figure is an estimate until Phase 0 measures decisions/s per bucket.</a:t>
            </a:r>
          </a:p>
          <a:p>
            <a:r>
              <a:t>Q: Is the split cheaper than all-H100?</a:t>
            </a:r>
          </a:p>
          <a:p>
            <a:r>
              <a:t>A: In GPU count it can be, at higher traffic; in dollars it depends on L40S vs H100 pricing, which we have not assumed.</a:t>
            </a:r>
          </a:p>
          <a:p/>
          <a:p>
            <a:r>
              <a:t>5) SOURCES &amp; ESTIMATES</a:t>
            </a:r>
          </a:p>
          <a:p>
            <a:r>
              <a:t>- Internal: /workspace/fine-tuning/gemma26b-jev-64k-impl/SERVING.md; /workspace/slides/jev-lightweight-gpu-2qxi8K/jev-bot-transcript.jsonl; /workspace/fine-tuning/Gemma4-26B-Jev-64K-Implementation-Guide-2026-10-12.md §10, §12; /workspace/fine-tuning/inference-bench/bench_async.py.</a:t>
            </a:r>
          </a:p>
          <a:p>
            <a:r>
              <a:t>- Capacity method (estimate): FLOPs per decision = 2 × 3.8B active params × L (linear layers) + 5 global bidirectional layers × 4 × L² × 8,192 (attention width assumed 32 heads × 256) + 25 sliding layers × 4 × L × 1,024 × 4,096. Padded to the bucket ceiling L. Time = linear FLOPs ÷ (FP8 dense × 40%) + attention FLOPs ÷ (BF16 dense × 40%) on L40S (733 / 362 TFLOPS); all FLOPs ÷ (989 TFLOPS BF16 × 40%) on H100. 40% utilisation is an assumption, not a measurement.</a:t>
            </a:r>
          </a:p>
          <a:p>
            <a:r>
              <a:t>- Estimates: every number on this slide; the traffic mix is illustrative, not measured.</a:t>
            </a:r>
          </a:p>
          <a:p>
            <a:r>
              <a:t>- E4B FLOPs method: /workspace/fine-tuning/Jev-E4B-Inference-Throughput-Plan-2026-10-08.md §2.3 (3.94B einsum params, 7 global layers, d 2,560, window 512) — V100 figures are estimates.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223760" cy="6858000"/>
          </a:xfrm>
          <a:prstGeom prst="rect">
            <a:avLst/>
          </a:prstGeom>
          <a:solidFill>
            <a:srgbClr val="1B2A41"/>
          </a:solidFill>
          <a:ln w="12700">
            <a:solidFill>
              <a:srgbClr val="1B2A41"/>
            </a:solidFill>
            <a:prstDash val="solid"/>
          </a:ln>
        </p:spPr>
      </p:sp>
      <p:sp>
        <p:nvSpPr>
          <p:cNvPr id="3" name="Shape 1"/>
          <p:cNvSpPr/>
          <p:nvPr/>
        </p:nvSpPr>
        <p:spPr>
          <a:xfrm>
            <a:off x="731520" y="1234440"/>
            <a:ext cx="822960" cy="73152"/>
          </a:xfrm>
          <a:prstGeom prst="rect">
            <a:avLst/>
          </a:prstGeom>
          <a:solidFill>
            <a:srgbClr val="0F7C8C"/>
          </a:solidFill>
          <a:ln w="12700">
            <a:solidFill>
              <a:srgbClr val="0F7C8C"/>
            </a:solidFill>
            <a:prstDash val="solid"/>
          </a:ln>
        </p:spPr>
      </p:sp>
      <p:sp>
        <p:nvSpPr>
          <p:cNvPr id="4" name="Text 2"/>
          <p:cNvSpPr/>
          <p:nvPr/>
        </p:nvSpPr>
        <p:spPr>
          <a:xfrm>
            <a:off x="731520" y="1554480"/>
            <a:ext cx="6035040" cy="914400"/>
          </a:xfrm>
          <a:prstGeom prst="rect">
            <a:avLst/>
          </a:prstGeom>
          <a:noFill/>
          <a:ln/>
        </p:spPr>
        <p:txBody>
          <a:bodyPr wrap="square" lIns="0" tIns="0" rIns="0" bIns="0" rtlCol="0" anchor="t"/>
          <a:lstStyle/>
          <a:p>
            <a:pPr indent="0" marL="0">
              <a:buNone/>
            </a:pPr>
            <a:r>
              <a:rPr lang="en-US" sz="4400" b="1" dirty="0">
                <a:solidFill>
                  <a:srgbClr val="FFFFFF"/>
                </a:solidFill>
                <a:latin typeface="Inter" pitchFamily="34" charset="0"/>
                <a:ea typeface="Inter" pitchFamily="34" charset="-122"/>
                <a:cs typeface="Inter" pitchFamily="34" charset="-120"/>
              </a:rPr>
              <a:t>Jev Decision API</a:t>
            </a:r>
            <a:endParaRPr lang="en-US" sz="4400" dirty="0"/>
          </a:p>
        </p:txBody>
      </p:sp>
      <p:sp>
        <p:nvSpPr>
          <p:cNvPr id="5" name="Text 3"/>
          <p:cNvSpPr/>
          <p:nvPr/>
        </p:nvSpPr>
        <p:spPr>
          <a:xfrm>
            <a:off x="731520" y="2606040"/>
            <a:ext cx="5852160" cy="1005840"/>
          </a:xfrm>
          <a:prstGeom prst="rect">
            <a:avLst/>
          </a:prstGeom>
          <a:noFill/>
          <a:ln/>
        </p:spPr>
        <p:txBody>
          <a:bodyPr wrap="square" lIns="0" tIns="0" rIns="0" bIns="0" rtlCol="0" anchor="t"/>
          <a:lstStyle/>
          <a:p>
            <a:pPr indent="0" marL="0">
              <a:buNone/>
            </a:pPr>
            <a:r>
              <a:rPr lang="en-US" sz="2400" dirty="0">
                <a:solidFill>
                  <a:srgbClr val="C9D3E3"/>
                </a:solidFill>
                <a:latin typeface="Inter" pitchFamily="34" charset="0"/>
                <a:ea typeface="Inter" pitchFamily="34" charset="-122"/>
                <a:cs typeface="Inter" pitchFamily="34" charset="-120"/>
              </a:rPr>
              <a:t>Scaling the one-pass decision model as a production endpoint</a:t>
            </a:r>
            <a:endParaRPr lang="en-US" sz="2400" dirty="0"/>
          </a:p>
        </p:txBody>
      </p:sp>
      <p:sp>
        <p:nvSpPr>
          <p:cNvPr id="6" name="Text 4"/>
          <p:cNvSpPr/>
          <p:nvPr/>
        </p:nvSpPr>
        <p:spPr>
          <a:xfrm>
            <a:off x="731520" y="3840480"/>
            <a:ext cx="6035040" cy="365760"/>
          </a:xfrm>
          <a:prstGeom prst="rect">
            <a:avLst/>
          </a:prstGeom>
          <a:noFill/>
          <a:ln/>
        </p:spPr>
        <p:txBody>
          <a:bodyPr wrap="square" lIns="0" tIns="0" rIns="0" bIns="0" rtlCol="0" anchor="t"/>
          <a:lstStyle/>
          <a:p>
            <a:pPr indent="0" marL="0">
              <a:buNone/>
            </a:pPr>
            <a:r>
              <a:rPr lang="en-US" sz="1600" dirty="0">
                <a:solidFill>
                  <a:srgbClr val="9FB0C8"/>
                </a:solidFill>
                <a:latin typeface="Inter" pitchFamily="34" charset="0"/>
                <a:ea typeface="Inter" pitchFamily="34" charset="-122"/>
                <a:cs typeface="Inter" pitchFamily="34" charset="-120"/>
              </a:rPr>
              <a:t>One forward pass · zero decode tokens · choice + confidence</a:t>
            </a:r>
            <a:endParaRPr lang="en-US" sz="1600" dirty="0"/>
          </a:p>
        </p:txBody>
      </p:sp>
      <p:sp>
        <p:nvSpPr>
          <p:cNvPr id="7" name="Text 5"/>
          <p:cNvSpPr/>
          <p:nvPr/>
        </p:nvSpPr>
        <p:spPr>
          <a:xfrm>
            <a:off x="731520" y="5806440"/>
            <a:ext cx="6035040" cy="365760"/>
          </a:xfrm>
          <a:prstGeom prst="rect">
            <a:avLst/>
          </a:prstGeom>
          <a:noFill/>
          <a:ln/>
        </p:spPr>
        <p:txBody>
          <a:bodyPr wrap="square" lIns="0" tIns="0" rIns="0" bIns="0" rtlCol="0" anchor="t"/>
          <a:lstStyle/>
          <a:p>
            <a:pPr indent="0" marL="0">
              <a:buNone/>
            </a:pPr>
            <a:r>
              <a:rPr lang="en-US" sz="1400" dirty="0">
                <a:solidFill>
                  <a:srgbClr val="9FB0C8"/>
                </a:solidFill>
                <a:latin typeface="Inter" pitchFamily="34" charset="0"/>
                <a:ea typeface="Inter" pitchFamily="34" charset="-122"/>
                <a:cs typeface="Inter" pitchFamily="34" charset="-120"/>
              </a:rPr>
              <a:t>L40S FP8 for short inputs  |  H100 for 32–64K</a:t>
            </a:r>
            <a:endParaRPr lang="en-US" sz="1400" dirty="0"/>
          </a:p>
        </p:txBody>
      </p:sp>
      <p:sp>
        <p:nvSpPr>
          <p:cNvPr id="8" name="Text 6"/>
          <p:cNvSpPr/>
          <p:nvPr/>
        </p:nvSpPr>
        <p:spPr>
          <a:xfrm>
            <a:off x="7772400" y="1600200"/>
            <a:ext cx="393192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THE DECISION THIS DECK DRIVES</a:t>
            </a:r>
            <a:endParaRPr lang="en-US" sz="1200" dirty="0"/>
          </a:p>
        </p:txBody>
      </p:sp>
      <p:sp>
        <p:nvSpPr>
          <p:cNvPr id="9" name="Text 7"/>
          <p:cNvSpPr/>
          <p:nvPr/>
        </p:nvSpPr>
        <p:spPr>
          <a:xfrm>
            <a:off x="7772400" y="2011680"/>
            <a:ext cx="3886200" cy="2377440"/>
          </a:xfrm>
          <a:prstGeom prst="rect">
            <a:avLst/>
          </a:prstGeom>
          <a:noFill/>
          <a:ln/>
        </p:spPr>
        <p:txBody>
          <a:bodyPr wrap="square" lIns="0" tIns="0" rIns="0" bIns="0" rtlCol="0" anchor="t"/>
          <a:lstStyle/>
          <a:p>
            <a:pPr indent="0" marL="0">
              <a:buNone/>
            </a:pPr>
            <a:r>
              <a:rPr lang="en-US" sz="2100" b="1" dirty="0">
                <a:solidFill>
                  <a:srgbClr val="1B2A41"/>
                </a:solidFill>
                <a:latin typeface="Inter" pitchFamily="34" charset="0"/>
                <a:ea typeface="Inter" pitchFamily="34" charset="-122"/>
                <a:cs typeface="Inter" pitchFamily="34" charset="-120"/>
              </a:rPr>
              <a:t>Ship Jev as a decision API and scale it by adding single-GPU replicas per length bucket — L40S now, H100 for 32–64K when the gates trip.</a:t>
            </a:r>
            <a:endParaRPr lang="en-US" sz="2100" dirty="0"/>
          </a:p>
        </p:txBody>
      </p:sp>
      <p:sp>
        <p:nvSpPr>
          <p:cNvPr id="10" name="Shape 8"/>
          <p:cNvSpPr/>
          <p:nvPr/>
        </p:nvSpPr>
        <p:spPr>
          <a:xfrm>
            <a:off x="7772400" y="4526280"/>
            <a:ext cx="3840480" cy="0"/>
          </a:xfrm>
          <a:prstGeom prst="line">
            <a:avLst/>
          </a:prstGeom>
          <a:noFill/>
          <a:ln w="9525">
            <a:solidFill>
              <a:srgbClr val="D5DAE1"/>
            </a:solidFill>
            <a:prstDash val="solid"/>
          </a:ln>
        </p:spPr>
      </p:sp>
      <p:sp>
        <p:nvSpPr>
          <p:cNvPr id="11" name="Text 9"/>
          <p:cNvSpPr/>
          <p:nvPr/>
        </p:nvSpPr>
        <p:spPr>
          <a:xfrm>
            <a:off x="7772400" y="4663440"/>
            <a:ext cx="38862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Verizon production leadership · platform engineering</a:t>
            </a:r>
            <a:endParaRPr lang="en-US" sz="1400" dirty="0"/>
          </a:p>
        </p:txBody>
      </p:sp>
      <p:sp>
        <p:nvSpPr>
          <p:cNvPr id="12" name="Text 10"/>
          <p:cNvSpPr/>
          <p:nvPr/>
        </p:nvSpPr>
        <p:spPr>
          <a:xfrm>
            <a:off x="7772400" y="5257800"/>
            <a:ext cx="3886200" cy="274320"/>
          </a:xfrm>
          <a:prstGeom prst="rect">
            <a:avLst/>
          </a:prstGeom>
          <a:noFill/>
          <a:ln/>
        </p:spPr>
        <p:txBody>
          <a:bodyPr wrap="square" lIns="0" tIns="0" rIns="0" bIns="0" rtlCol="0" anchor="t"/>
          <a:lstStyle/>
          <a:p>
            <a:pPr indent="0" marL="0">
              <a:buNone/>
            </a:pPr>
            <a:r>
              <a:rPr lang="en-US" sz="1400" dirty="0">
                <a:solidFill>
                  <a:srgbClr val="8A94A3"/>
                </a:solidFill>
                <a:latin typeface="Inter" pitchFamily="34" charset="0"/>
                <a:ea typeface="Inter" pitchFamily="34" charset="-122"/>
                <a:cs typeface="Inter" pitchFamily="34" charset="-120"/>
              </a:rPr>
              <a:t>October 2026 · v4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02</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How the Jev decision model works</a:t>
            </a:r>
            <a:endParaRPr lang="en-US" sz="2800" dirty="0"/>
          </a:p>
        </p:txBody>
      </p:sp>
      <p:sp>
        <p:nvSpPr>
          <p:cNvPr id="6" name="Shape 4"/>
          <p:cNvSpPr/>
          <p:nvPr/>
        </p:nvSpPr>
        <p:spPr>
          <a:xfrm>
            <a:off x="548640" y="1481328"/>
            <a:ext cx="3931920" cy="402336"/>
          </a:xfrm>
          <a:prstGeom prst="roundRect">
            <a:avLst>
              <a:gd name="adj" fmla="val 50000"/>
            </a:avLst>
          </a:prstGeom>
          <a:solidFill>
            <a:srgbClr val="0F7C8C"/>
          </a:solidFill>
          <a:ln w="12700">
            <a:solidFill>
              <a:srgbClr val="0F7C8C"/>
            </a:solidFill>
            <a:prstDash val="solid"/>
          </a:ln>
        </p:spPr>
      </p:sp>
      <p:sp>
        <p:nvSpPr>
          <p:cNvPr id="7" name="Text 5"/>
          <p:cNvSpPr/>
          <p:nvPr/>
        </p:nvSpPr>
        <p:spPr>
          <a:xfrm>
            <a:off x="548640" y="1481328"/>
            <a:ext cx="393192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One forward pass · zero decode tokens</a:t>
            </a:r>
            <a:endParaRPr lang="en-US" sz="1500" dirty="0"/>
          </a:p>
        </p:txBody>
      </p:sp>
      <p:sp>
        <p:nvSpPr>
          <p:cNvPr id="8" name="Shape 6"/>
          <p:cNvSpPr/>
          <p:nvPr/>
        </p:nvSpPr>
        <p:spPr>
          <a:xfrm>
            <a:off x="4663440" y="1481328"/>
            <a:ext cx="4480560" cy="402336"/>
          </a:xfrm>
          <a:prstGeom prst="roundRect">
            <a:avLst>
              <a:gd name="adj" fmla="val 50000"/>
            </a:avLst>
          </a:prstGeom>
          <a:solidFill>
            <a:srgbClr val="FFFFFF"/>
          </a:solidFill>
          <a:ln w="19050">
            <a:solidFill>
              <a:srgbClr val="0F7C8C"/>
            </a:solidFill>
            <a:prstDash val="solid"/>
          </a:ln>
        </p:spPr>
      </p:sp>
      <p:sp>
        <p:nvSpPr>
          <p:cNvPr id="9" name="Text 7"/>
          <p:cNvSpPr/>
          <p:nvPr/>
        </p:nvSpPr>
        <p:spPr>
          <a:xfrm>
            <a:off x="4663440" y="1481328"/>
            <a:ext cx="4480560" cy="402336"/>
          </a:xfrm>
          <a:prstGeom prst="rect">
            <a:avLst/>
          </a:prstGeom>
          <a:noFill/>
          <a:ln/>
        </p:spPr>
        <p:txBody>
          <a:bodyPr wrap="square" lIns="0" tIns="0" rIns="0" bIns="0" rtlCol="0" anchor="ctr"/>
          <a:lstStyle/>
          <a:p>
            <a:pPr algn="ctr" indent="0" marL="0">
              <a:buNone/>
            </a:pPr>
            <a:r>
              <a:rPr lang="en-US" sz="1500" b="1" dirty="0">
                <a:solidFill>
                  <a:srgbClr val="0F7C8C"/>
                </a:solidFill>
                <a:latin typeface="Inter" pitchFamily="34" charset="0"/>
                <a:ea typeface="Inter" pitchFamily="34" charset="-122"/>
                <a:cs typeface="Inter" pitchFamily="34" charset="-120"/>
              </a:rPr>
              <a:t>Choice-invariant · options shuffled per epoch</a:t>
            </a:r>
            <a:endParaRPr lang="en-US" sz="1500" dirty="0"/>
          </a:p>
        </p:txBody>
      </p:sp>
      <p:sp>
        <p:nvSpPr>
          <p:cNvPr id="10" name="Shape 8"/>
          <p:cNvSpPr/>
          <p:nvPr/>
        </p:nvSpPr>
        <p:spPr>
          <a:xfrm>
            <a:off x="548640" y="2194560"/>
            <a:ext cx="2011680" cy="1783080"/>
          </a:xfrm>
          <a:prstGeom prst="rect">
            <a:avLst/>
          </a:prstGeom>
          <a:solidFill>
            <a:srgbClr val="FFFFFF"/>
          </a:solidFill>
          <a:ln w="12700">
            <a:solidFill>
              <a:srgbClr val="1B2A41"/>
            </a:solidFill>
            <a:prstDash val="solid"/>
          </a:ln>
        </p:spPr>
      </p:sp>
      <p:sp>
        <p:nvSpPr>
          <p:cNvPr id="11" name="Text 9"/>
          <p:cNvSpPr/>
          <p:nvPr/>
        </p:nvSpPr>
        <p:spPr>
          <a:xfrm>
            <a:off x="667512" y="2304288"/>
            <a:ext cx="177393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64K input</a:t>
            </a:r>
            <a:endParaRPr lang="en-US" sz="1500" dirty="0"/>
          </a:p>
        </p:txBody>
      </p:sp>
      <p:sp>
        <p:nvSpPr>
          <p:cNvPr id="12" name="Text 10"/>
          <p:cNvSpPr/>
          <p:nvPr/>
        </p:nvSpPr>
        <p:spPr>
          <a:xfrm>
            <a:off x="667512" y="2651760"/>
            <a:ext cx="1773936"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Context · question</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Lettered options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Refused if &gt;65,536</a:t>
            </a:r>
            <a:endParaRPr lang="en-US" sz="1400" dirty="0"/>
          </a:p>
        </p:txBody>
      </p:sp>
      <p:sp>
        <p:nvSpPr>
          <p:cNvPr id="13" name="Shape 11"/>
          <p:cNvSpPr/>
          <p:nvPr/>
        </p:nvSpPr>
        <p:spPr>
          <a:xfrm>
            <a:off x="2560320" y="3086100"/>
            <a:ext cx="320040" cy="0"/>
          </a:xfrm>
          <a:prstGeom prst="line">
            <a:avLst/>
          </a:prstGeom>
          <a:noFill/>
          <a:ln w="15875">
            <a:solidFill>
              <a:srgbClr val="5B6573"/>
            </a:solidFill>
            <a:prstDash val="solid"/>
            <a:tailEnd type="triangle"/>
          </a:ln>
        </p:spPr>
      </p:sp>
      <p:sp>
        <p:nvSpPr>
          <p:cNvPr id="14" name="Shape 12"/>
          <p:cNvSpPr/>
          <p:nvPr/>
        </p:nvSpPr>
        <p:spPr>
          <a:xfrm>
            <a:off x="2880360" y="2194560"/>
            <a:ext cx="4069080" cy="1783080"/>
          </a:xfrm>
          <a:prstGeom prst="rect">
            <a:avLst/>
          </a:prstGeom>
          <a:solidFill>
            <a:srgbClr val="F3F5F8"/>
          </a:solidFill>
          <a:ln w="12700">
            <a:solidFill>
              <a:srgbClr val="1B2A41"/>
            </a:solidFill>
            <a:prstDash val="solid"/>
          </a:ln>
        </p:spPr>
      </p:sp>
      <p:sp>
        <p:nvSpPr>
          <p:cNvPr id="15" name="Text 13"/>
          <p:cNvSpPr/>
          <p:nvPr/>
        </p:nvSpPr>
        <p:spPr>
          <a:xfrm>
            <a:off x="3017520" y="2304288"/>
            <a:ext cx="379476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Gemma-4-26B-A4B trunk</a:t>
            </a:r>
            <a:endParaRPr lang="en-US" sz="1500" dirty="0"/>
          </a:p>
        </p:txBody>
      </p:sp>
      <p:sp>
        <p:nvSpPr>
          <p:cNvPr id="16" name="Text 14"/>
          <p:cNvSpPr/>
          <p:nvPr/>
        </p:nvSpPr>
        <p:spPr>
          <a:xfrm>
            <a:off x="3017520" y="2633472"/>
            <a:ext cx="37947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LoRA · experts frozen · no LM head</a:t>
            </a:r>
            <a:endParaRPr lang="en-US" sz="1400" dirty="0"/>
          </a:p>
        </p:txBody>
      </p:sp>
      <p:sp>
        <p:nvSpPr>
          <p:cNvPr id="17" name="Shape 15"/>
          <p:cNvSpPr/>
          <p:nvPr/>
        </p:nvSpPr>
        <p:spPr>
          <a:xfrm>
            <a:off x="3017520" y="2999232"/>
            <a:ext cx="1828800" cy="868680"/>
          </a:xfrm>
          <a:prstGeom prst="rect">
            <a:avLst/>
          </a:prstGeom>
          <a:solidFill>
            <a:srgbClr val="FFFFFF"/>
          </a:solidFill>
          <a:ln w="12700">
            <a:solidFill>
              <a:srgbClr val="1B2A41"/>
            </a:solidFill>
            <a:prstDash val="solid"/>
          </a:ln>
        </p:spPr>
      </p:sp>
      <p:sp>
        <p:nvSpPr>
          <p:cNvPr id="18" name="Text 16"/>
          <p:cNvSpPr/>
          <p:nvPr/>
        </p:nvSpPr>
        <p:spPr>
          <a:xfrm>
            <a:off x="3136392" y="3108960"/>
            <a:ext cx="1591056" cy="310896"/>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25 local layers</a:t>
            </a:r>
            <a:endParaRPr lang="en-US" sz="1400" dirty="0"/>
          </a:p>
        </p:txBody>
      </p:sp>
      <p:sp>
        <p:nvSpPr>
          <p:cNvPr id="19" name="Text 17"/>
          <p:cNvSpPr/>
          <p:nvPr/>
        </p:nvSpPr>
        <p:spPr>
          <a:xfrm>
            <a:off x="3136392" y="3410712"/>
            <a:ext cx="1591056" cy="38404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Sliding 1,024, causal</a:t>
            </a:r>
            <a:endParaRPr lang="en-US" sz="1400" dirty="0"/>
          </a:p>
        </p:txBody>
      </p:sp>
      <p:sp>
        <p:nvSpPr>
          <p:cNvPr id="20" name="Shape 18"/>
          <p:cNvSpPr/>
          <p:nvPr/>
        </p:nvSpPr>
        <p:spPr>
          <a:xfrm>
            <a:off x="4983480" y="2999232"/>
            <a:ext cx="1828800" cy="868680"/>
          </a:xfrm>
          <a:prstGeom prst="rect">
            <a:avLst/>
          </a:prstGeom>
          <a:solidFill>
            <a:srgbClr val="FFFFFF"/>
          </a:solidFill>
          <a:ln w="25400">
            <a:solidFill>
              <a:srgbClr val="0F7C8C"/>
            </a:solidFill>
            <a:prstDash val="solid"/>
          </a:ln>
        </p:spPr>
      </p:sp>
      <p:sp>
        <p:nvSpPr>
          <p:cNvPr id="21" name="Text 19"/>
          <p:cNvSpPr/>
          <p:nvPr/>
        </p:nvSpPr>
        <p:spPr>
          <a:xfrm>
            <a:off x="5102352" y="3108960"/>
            <a:ext cx="1591056" cy="310896"/>
          </a:xfrm>
          <a:prstGeom prst="rect">
            <a:avLst/>
          </a:prstGeom>
          <a:noFill/>
          <a:ln/>
        </p:spPr>
        <p:txBody>
          <a:bodyPr wrap="square" lIns="0" tIns="0" rIns="0" bIns="0" rtlCol="0" anchor="t"/>
          <a:lstStyle/>
          <a:p>
            <a:pPr indent="0" marL="0">
              <a:buNone/>
            </a:pPr>
            <a:r>
              <a:rPr lang="en-US" sz="1400" b="1" dirty="0">
                <a:solidFill>
                  <a:srgbClr val="0F7C8C"/>
                </a:solidFill>
                <a:latin typeface="Inter" pitchFamily="34" charset="0"/>
                <a:ea typeface="Inter" pitchFamily="34" charset="-122"/>
                <a:cs typeface="Inter" pitchFamily="34" charset="-120"/>
              </a:rPr>
              <a:t>5 global layers</a:t>
            </a:r>
            <a:endParaRPr lang="en-US" sz="1400" dirty="0"/>
          </a:p>
        </p:txBody>
      </p:sp>
      <p:sp>
        <p:nvSpPr>
          <p:cNvPr id="22" name="Text 20"/>
          <p:cNvSpPr/>
          <p:nvPr/>
        </p:nvSpPr>
        <p:spPr>
          <a:xfrm>
            <a:off x="5102352" y="3410712"/>
            <a:ext cx="1591056" cy="38404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Bidirectional mask</a:t>
            </a:r>
            <a:endParaRPr lang="en-US" sz="1400" dirty="0"/>
          </a:p>
        </p:txBody>
      </p:sp>
      <p:sp>
        <p:nvSpPr>
          <p:cNvPr id="23" name="Shape 21"/>
          <p:cNvSpPr/>
          <p:nvPr/>
        </p:nvSpPr>
        <p:spPr>
          <a:xfrm>
            <a:off x="6949440" y="3086100"/>
            <a:ext cx="320040" cy="0"/>
          </a:xfrm>
          <a:prstGeom prst="line">
            <a:avLst/>
          </a:prstGeom>
          <a:noFill/>
          <a:ln w="15875">
            <a:solidFill>
              <a:srgbClr val="5B6573"/>
            </a:solidFill>
            <a:prstDash val="solid"/>
            <a:tailEnd type="triangle"/>
          </a:ln>
        </p:spPr>
      </p:sp>
      <p:sp>
        <p:nvSpPr>
          <p:cNvPr id="24" name="Shape 22"/>
          <p:cNvSpPr/>
          <p:nvPr/>
        </p:nvSpPr>
        <p:spPr>
          <a:xfrm>
            <a:off x="7269480" y="2194560"/>
            <a:ext cx="1828800" cy="1783080"/>
          </a:xfrm>
          <a:prstGeom prst="rect">
            <a:avLst/>
          </a:prstGeom>
          <a:solidFill>
            <a:srgbClr val="FFFFFF"/>
          </a:solidFill>
          <a:ln w="12700">
            <a:solidFill>
              <a:srgbClr val="1B2A41"/>
            </a:solidFill>
            <a:prstDash val="solid"/>
          </a:ln>
        </p:spPr>
      </p:sp>
      <p:sp>
        <p:nvSpPr>
          <p:cNvPr id="25" name="Text 23"/>
          <p:cNvSpPr/>
          <p:nvPr/>
        </p:nvSpPr>
        <p:spPr>
          <a:xfrm>
            <a:off x="7388352" y="2304288"/>
            <a:ext cx="159105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Last position</a:t>
            </a:r>
            <a:endParaRPr lang="en-US" sz="1500" dirty="0"/>
          </a:p>
        </p:txBody>
      </p:sp>
      <p:sp>
        <p:nvSpPr>
          <p:cNvPr id="26" name="Text 24"/>
          <p:cNvSpPr/>
          <p:nvPr/>
        </p:nvSpPr>
        <p:spPr>
          <a:xfrm>
            <a:off x="7388352" y="2651760"/>
            <a:ext cx="1591056"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Hidden state</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2,816-d</a:t>
            </a:r>
            <a:endParaRPr lang="en-US" sz="1400" dirty="0"/>
          </a:p>
        </p:txBody>
      </p:sp>
      <p:sp>
        <p:nvSpPr>
          <p:cNvPr id="27" name="Shape 25"/>
          <p:cNvSpPr/>
          <p:nvPr/>
        </p:nvSpPr>
        <p:spPr>
          <a:xfrm>
            <a:off x="9098280" y="3086100"/>
            <a:ext cx="320040" cy="0"/>
          </a:xfrm>
          <a:prstGeom prst="line">
            <a:avLst/>
          </a:prstGeom>
          <a:noFill/>
          <a:ln w="15875">
            <a:solidFill>
              <a:srgbClr val="5B6573"/>
            </a:solidFill>
            <a:prstDash val="solid"/>
            <a:tailEnd type="triangle"/>
          </a:ln>
        </p:spPr>
      </p:sp>
      <p:sp>
        <p:nvSpPr>
          <p:cNvPr id="28" name="Shape 26"/>
          <p:cNvSpPr/>
          <p:nvPr/>
        </p:nvSpPr>
        <p:spPr>
          <a:xfrm>
            <a:off x="9418320" y="2194560"/>
            <a:ext cx="2224735" cy="1783080"/>
          </a:xfrm>
          <a:prstGeom prst="rect">
            <a:avLst/>
          </a:prstGeom>
          <a:solidFill>
            <a:srgbClr val="FFFFFF"/>
          </a:solidFill>
          <a:ln w="25400">
            <a:solidFill>
              <a:srgbClr val="0F7C8C"/>
            </a:solidFill>
            <a:prstDash val="solid"/>
          </a:ln>
        </p:spPr>
      </p:sp>
      <p:sp>
        <p:nvSpPr>
          <p:cNvPr id="29" name="Text 27"/>
          <p:cNvSpPr/>
          <p:nvPr/>
        </p:nvSpPr>
        <p:spPr>
          <a:xfrm>
            <a:off x="9537192" y="2304288"/>
            <a:ext cx="1986991"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Letter-weight head</a:t>
            </a:r>
            <a:endParaRPr lang="en-US" sz="1500" dirty="0"/>
          </a:p>
        </p:txBody>
      </p:sp>
      <p:sp>
        <p:nvSpPr>
          <p:cNvPr id="30" name="Text 28"/>
          <p:cNvSpPr/>
          <p:nvPr/>
        </p:nvSpPr>
        <p:spPr>
          <a:xfrm>
            <a:off x="9537192" y="2651760"/>
            <a:ext cx="1986991"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fp32 · initialised from Gemma letter rows</a:t>
            </a:r>
            <a:endParaRPr lang="en-US" sz="1400" dirty="0"/>
          </a:p>
        </p:txBody>
      </p:sp>
      <p:sp>
        <p:nvSpPr>
          <p:cNvPr id="31" name="Shape 29"/>
          <p:cNvSpPr/>
          <p:nvPr/>
        </p:nvSpPr>
        <p:spPr>
          <a:xfrm>
            <a:off x="10530688" y="3977640"/>
            <a:ext cx="0" cy="301752"/>
          </a:xfrm>
          <a:prstGeom prst="line">
            <a:avLst/>
          </a:prstGeom>
          <a:noFill/>
          <a:ln w="12700">
            <a:solidFill>
              <a:srgbClr val="5B6573"/>
            </a:solidFill>
            <a:prstDash val="solid"/>
          </a:ln>
        </p:spPr>
      </p:sp>
      <p:sp>
        <p:nvSpPr>
          <p:cNvPr id="32" name="Shape 30"/>
          <p:cNvSpPr/>
          <p:nvPr/>
        </p:nvSpPr>
        <p:spPr>
          <a:xfrm>
            <a:off x="1463040" y="4279392"/>
            <a:ext cx="9067648" cy="0"/>
          </a:xfrm>
          <a:prstGeom prst="line">
            <a:avLst/>
          </a:prstGeom>
          <a:noFill/>
          <a:ln w="15875">
            <a:solidFill>
              <a:srgbClr val="5B6573"/>
            </a:solidFill>
            <a:prstDash val="solid"/>
          </a:ln>
        </p:spPr>
      </p:sp>
      <p:sp>
        <p:nvSpPr>
          <p:cNvPr id="33" name="Shape 31"/>
          <p:cNvSpPr/>
          <p:nvPr/>
        </p:nvSpPr>
        <p:spPr>
          <a:xfrm>
            <a:off x="1463040" y="4279392"/>
            <a:ext cx="0" cy="292608"/>
          </a:xfrm>
          <a:prstGeom prst="line">
            <a:avLst/>
          </a:prstGeom>
          <a:noFill/>
          <a:ln w="15875">
            <a:solidFill>
              <a:srgbClr val="5B6573"/>
            </a:solidFill>
            <a:prstDash val="solid"/>
            <a:tailEnd type="triangle"/>
          </a:ln>
        </p:spPr>
      </p:sp>
      <p:sp>
        <p:nvSpPr>
          <p:cNvPr id="34" name="Shape 32"/>
          <p:cNvSpPr/>
          <p:nvPr/>
        </p:nvSpPr>
        <p:spPr>
          <a:xfrm>
            <a:off x="548640" y="4572000"/>
            <a:ext cx="2533574" cy="960120"/>
          </a:xfrm>
          <a:prstGeom prst="rect">
            <a:avLst/>
          </a:prstGeom>
          <a:solidFill>
            <a:srgbClr val="FFFFFF"/>
          </a:solidFill>
          <a:ln w="12700">
            <a:solidFill>
              <a:srgbClr val="1B2A41"/>
            </a:solidFill>
            <a:prstDash val="solid"/>
          </a:ln>
        </p:spPr>
      </p:sp>
      <p:sp>
        <p:nvSpPr>
          <p:cNvPr id="35" name="Text 33"/>
          <p:cNvSpPr/>
          <p:nvPr/>
        </p:nvSpPr>
        <p:spPr>
          <a:xfrm>
            <a:off x="667512"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Mask</a:t>
            </a:r>
            <a:endParaRPr lang="en-US" sz="1500" dirty="0"/>
          </a:p>
        </p:txBody>
      </p:sp>
      <p:sp>
        <p:nvSpPr>
          <p:cNvPr id="36" name="Text 34"/>
          <p:cNvSpPr/>
          <p:nvPr/>
        </p:nvSpPr>
        <p:spPr>
          <a:xfrm>
            <a:off x="667512"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Valid options only</a:t>
            </a:r>
            <a:endParaRPr lang="en-US" sz="1400" dirty="0"/>
          </a:p>
        </p:txBody>
      </p:sp>
      <p:sp>
        <p:nvSpPr>
          <p:cNvPr id="37" name="Shape 35"/>
          <p:cNvSpPr/>
          <p:nvPr/>
        </p:nvSpPr>
        <p:spPr>
          <a:xfrm>
            <a:off x="3082214" y="5052060"/>
            <a:ext cx="320040" cy="0"/>
          </a:xfrm>
          <a:prstGeom prst="line">
            <a:avLst/>
          </a:prstGeom>
          <a:noFill/>
          <a:ln w="15875">
            <a:solidFill>
              <a:srgbClr val="5B6573"/>
            </a:solidFill>
            <a:prstDash val="solid"/>
            <a:tailEnd type="triangle"/>
          </a:ln>
        </p:spPr>
      </p:sp>
      <p:sp>
        <p:nvSpPr>
          <p:cNvPr id="38" name="Shape 36"/>
          <p:cNvSpPr/>
          <p:nvPr/>
        </p:nvSpPr>
        <p:spPr>
          <a:xfrm>
            <a:off x="3402254" y="4572000"/>
            <a:ext cx="2533574" cy="960120"/>
          </a:xfrm>
          <a:prstGeom prst="rect">
            <a:avLst/>
          </a:prstGeom>
          <a:solidFill>
            <a:srgbClr val="FFFFFF"/>
          </a:solidFill>
          <a:ln w="12700">
            <a:solidFill>
              <a:srgbClr val="1B2A41"/>
            </a:solidFill>
            <a:prstDash val="solid"/>
          </a:ln>
        </p:spPr>
      </p:sp>
      <p:sp>
        <p:nvSpPr>
          <p:cNvPr id="39" name="Text 37"/>
          <p:cNvSpPr/>
          <p:nvPr/>
        </p:nvSpPr>
        <p:spPr>
          <a:xfrm>
            <a:off x="3521126"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Softmax</a:t>
            </a:r>
            <a:endParaRPr lang="en-US" sz="1500" dirty="0"/>
          </a:p>
        </p:txBody>
      </p:sp>
      <p:sp>
        <p:nvSpPr>
          <p:cNvPr id="40" name="Text 38"/>
          <p:cNvSpPr/>
          <p:nvPr/>
        </p:nvSpPr>
        <p:spPr>
          <a:xfrm>
            <a:off x="3521126"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Probability per option</a:t>
            </a:r>
            <a:endParaRPr lang="en-US" sz="1400" dirty="0"/>
          </a:p>
        </p:txBody>
      </p:sp>
      <p:sp>
        <p:nvSpPr>
          <p:cNvPr id="41" name="Shape 39"/>
          <p:cNvSpPr/>
          <p:nvPr/>
        </p:nvSpPr>
        <p:spPr>
          <a:xfrm>
            <a:off x="5935828" y="5052060"/>
            <a:ext cx="320040" cy="0"/>
          </a:xfrm>
          <a:prstGeom prst="line">
            <a:avLst/>
          </a:prstGeom>
          <a:noFill/>
          <a:ln w="15875">
            <a:solidFill>
              <a:srgbClr val="5B6573"/>
            </a:solidFill>
            <a:prstDash val="solid"/>
            <a:tailEnd type="triangle"/>
          </a:ln>
        </p:spPr>
      </p:sp>
      <p:sp>
        <p:nvSpPr>
          <p:cNvPr id="42" name="Shape 40"/>
          <p:cNvSpPr/>
          <p:nvPr/>
        </p:nvSpPr>
        <p:spPr>
          <a:xfrm>
            <a:off x="6255868" y="4572000"/>
            <a:ext cx="2533574" cy="960120"/>
          </a:xfrm>
          <a:prstGeom prst="rect">
            <a:avLst/>
          </a:prstGeom>
          <a:solidFill>
            <a:srgbClr val="FFFFFF"/>
          </a:solidFill>
          <a:ln w="12700">
            <a:solidFill>
              <a:srgbClr val="1B2A41"/>
            </a:solidFill>
            <a:prstDash val="solid"/>
          </a:ln>
        </p:spPr>
      </p:sp>
      <p:sp>
        <p:nvSpPr>
          <p:cNvPr id="43" name="Text 41"/>
          <p:cNvSpPr/>
          <p:nvPr/>
        </p:nvSpPr>
        <p:spPr>
          <a:xfrm>
            <a:off x="6374740"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Calibrated confidence</a:t>
            </a:r>
            <a:endParaRPr lang="en-US" sz="1500" dirty="0"/>
          </a:p>
        </p:txBody>
      </p:sp>
      <p:sp>
        <p:nvSpPr>
          <p:cNvPr id="44" name="Text 42"/>
          <p:cNvSpPr/>
          <p:nvPr/>
        </p:nvSpPr>
        <p:spPr>
          <a:xfrm>
            <a:off x="6374740"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Temperature per type × length</a:t>
            </a:r>
            <a:endParaRPr lang="en-US" sz="1400" dirty="0"/>
          </a:p>
        </p:txBody>
      </p:sp>
      <p:sp>
        <p:nvSpPr>
          <p:cNvPr id="45" name="Shape 43"/>
          <p:cNvSpPr/>
          <p:nvPr/>
        </p:nvSpPr>
        <p:spPr>
          <a:xfrm>
            <a:off x="8789441" y="5052060"/>
            <a:ext cx="320040" cy="0"/>
          </a:xfrm>
          <a:prstGeom prst="line">
            <a:avLst/>
          </a:prstGeom>
          <a:noFill/>
          <a:ln w="15875">
            <a:solidFill>
              <a:srgbClr val="5B6573"/>
            </a:solidFill>
            <a:prstDash val="solid"/>
            <a:tailEnd type="triangle"/>
          </a:ln>
        </p:spPr>
      </p:sp>
      <p:sp>
        <p:nvSpPr>
          <p:cNvPr id="46" name="Shape 44"/>
          <p:cNvSpPr/>
          <p:nvPr/>
        </p:nvSpPr>
        <p:spPr>
          <a:xfrm>
            <a:off x="9109481" y="4572000"/>
            <a:ext cx="2533574" cy="960120"/>
          </a:xfrm>
          <a:prstGeom prst="rect">
            <a:avLst/>
          </a:prstGeom>
          <a:solidFill>
            <a:srgbClr val="FFFFFF"/>
          </a:solidFill>
          <a:ln w="25400">
            <a:solidFill>
              <a:srgbClr val="0F7C8C"/>
            </a:solidFill>
            <a:prstDash val="solid"/>
          </a:ln>
        </p:spPr>
      </p:sp>
      <p:sp>
        <p:nvSpPr>
          <p:cNvPr id="47" name="Text 45"/>
          <p:cNvSpPr/>
          <p:nvPr/>
        </p:nvSpPr>
        <p:spPr>
          <a:xfrm>
            <a:off x="9228353"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API response</a:t>
            </a:r>
            <a:endParaRPr lang="en-US" sz="1500" dirty="0"/>
          </a:p>
        </p:txBody>
      </p:sp>
      <p:sp>
        <p:nvSpPr>
          <p:cNvPr id="48" name="Text 46"/>
          <p:cNvSpPr/>
          <p:nvPr/>
        </p:nvSpPr>
        <p:spPr>
          <a:xfrm>
            <a:off x="9228353"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Choice · probabilities · confidence</a:t>
            </a:r>
            <a:endParaRPr lang="en-US" sz="1400" dirty="0"/>
          </a:p>
        </p:txBody>
      </p:sp>
      <p:sp>
        <p:nvSpPr>
          <p:cNvPr id="49" name="Shape 47"/>
          <p:cNvSpPr/>
          <p:nvPr/>
        </p:nvSpPr>
        <p:spPr>
          <a:xfrm>
            <a:off x="548640" y="5715000"/>
            <a:ext cx="5387188" cy="0"/>
          </a:xfrm>
          <a:prstGeom prst="line">
            <a:avLst/>
          </a:prstGeom>
          <a:noFill/>
          <a:ln w="19050">
            <a:solidFill>
              <a:srgbClr val="0F7C8C"/>
            </a:solidFill>
            <a:prstDash val="solid"/>
          </a:ln>
        </p:spPr>
      </p:sp>
      <p:sp>
        <p:nvSpPr>
          <p:cNvPr id="50" name="Text 48"/>
          <p:cNvSpPr/>
          <p:nvPr/>
        </p:nvSpPr>
        <p:spPr>
          <a:xfrm>
            <a:off x="548640" y="5806440"/>
            <a:ext cx="5387188"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INSIDE THE FORWARD PASS</a:t>
            </a:r>
            <a:endParaRPr lang="en-US" sz="1200" dirty="0"/>
          </a:p>
        </p:txBody>
      </p:sp>
      <p:sp>
        <p:nvSpPr>
          <p:cNvPr id="51" name="Shape 49"/>
          <p:cNvSpPr/>
          <p:nvPr/>
        </p:nvSpPr>
        <p:spPr>
          <a:xfrm>
            <a:off x="6255868" y="5715000"/>
            <a:ext cx="5387188" cy="0"/>
          </a:xfrm>
          <a:prstGeom prst="line">
            <a:avLst/>
          </a:prstGeom>
          <a:noFill/>
          <a:ln w="19050">
            <a:solidFill>
              <a:srgbClr val="8A94A3"/>
            </a:solidFill>
            <a:prstDash val="solid"/>
          </a:ln>
        </p:spPr>
      </p:sp>
      <p:sp>
        <p:nvSpPr>
          <p:cNvPr id="52" name="Text 50"/>
          <p:cNvSpPr/>
          <p:nvPr/>
        </p:nvSpPr>
        <p:spPr>
          <a:xfrm>
            <a:off x="6255868" y="5806440"/>
            <a:ext cx="5387188" cy="274320"/>
          </a:xfrm>
          <a:prstGeom prst="rect">
            <a:avLst/>
          </a:prstGeom>
          <a:noFill/>
          <a:ln/>
        </p:spPr>
        <p:txBody>
          <a:bodyPr wrap="square" lIns="0" tIns="0" rIns="0" bIns="0" rtlCol="0" anchor="t"/>
          <a:lstStyle/>
          <a:p>
            <a:pPr indent="0" marL="0">
              <a:buNone/>
            </a:pPr>
            <a:r>
              <a:rPr lang="en-US" sz="1200" b="1" spc="200" kern="0" dirty="0">
                <a:solidFill>
                  <a:srgbClr val="8A94A3"/>
                </a:solidFill>
                <a:latin typeface="Inter" pitchFamily="34" charset="0"/>
                <a:ea typeface="Inter" pitchFamily="34" charset="-122"/>
                <a:cs typeface="Inter" pitchFamily="34" charset="-120"/>
              </a:rPr>
              <a:t>RETURNED TO THE CALLER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03</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Jev Decision API: one contract, three ways to call it</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Proposed product contract · current endpoint /v1/systemone</a:t>
            </a:r>
            <a:endParaRPr lang="en-US" sz="1600" dirty="0"/>
          </a:p>
        </p:txBody>
      </p:sp>
      <p:sp>
        <p:nvSpPr>
          <p:cNvPr id="7" name="Shape 5"/>
          <p:cNvSpPr/>
          <p:nvPr/>
        </p:nvSpPr>
        <p:spPr>
          <a:xfrm>
            <a:off x="548640" y="1783080"/>
            <a:ext cx="3515258" cy="1097280"/>
          </a:xfrm>
          <a:prstGeom prst="rect">
            <a:avLst/>
          </a:prstGeom>
          <a:solidFill>
            <a:srgbClr val="1B2A41"/>
          </a:solidFill>
          <a:ln w="12700">
            <a:solidFill>
              <a:srgbClr val="1B2A41"/>
            </a:solidFill>
            <a:prstDash val="solid"/>
          </a:ln>
        </p:spPr>
      </p:sp>
      <p:sp>
        <p:nvSpPr>
          <p:cNvPr id="8" name="Text 6"/>
          <p:cNvSpPr/>
          <p:nvPr/>
        </p:nvSpPr>
        <p:spPr>
          <a:xfrm>
            <a:off x="713232" y="1892808"/>
            <a:ext cx="1371600" cy="256032"/>
          </a:xfrm>
          <a:prstGeom prst="rect">
            <a:avLst/>
          </a:prstGeom>
          <a:noFill/>
          <a:ln/>
        </p:spPr>
        <p:txBody>
          <a:bodyPr wrap="square" lIns="0" tIns="0" rIns="0" bIns="0" rtlCol="0" anchor="t"/>
          <a:lstStyle/>
          <a:p>
            <a:pPr indent="0" marL="0">
              <a:buNone/>
            </a:pPr>
            <a:r>
              <a:rPr lang="en-US" sz="1200" b="1" spc="200" kern="0" dirty="0">
                <a:solidFill>
                  <a:srgbClr val="9FB0C8"/>
                </a:solidFill>
                <a:latin typeface="Inter" pitchFamily="34" charset="0"/>
                <a:ea typeface="Inter" pitchFamily="34" charset="-122"/>
                <a:cs typeface="Inter" pitchFamily="34" charset="-120"/>
              </a:rPr>
              <a:t>SYNC</a:t>
            </a:r>
            <a:endParaRPr lang="en-US" sz="1200" dirty="0"/>
          </a:p>
        </p:txBody>
      </p:sp>
      <p:sp>
        <p:nvSpPr>
          <p:cNvPr id="9" name="Text 7"/>
          <p:cNvSpPr/>
          <p:nvPr/>
        </p:nvSpPr>
        <p:spPr>
          <a:xfrm>
            <a:off x="713232" y="2167128"/>
            <a:ext cx="3240938" cy="310896"/>
          </a:xfrm>
          <a:prstGeom prst="rect">
            <a:avLst/>
          </a:prstGeom>
          <a:noFill/>
          <a:ln/>
        </p:spPr>
        <p:txBody>
          <a:bodyPr wrap="square" lIns="0" tIns="0" rIns="0" bIns="0" rtlCol="0" anchor="t"/>
          <a:lstStyle/>
          <a:p>
            <a:pPr indent="0" marL="0">
              <a:buNone/>
            </a:pPr>
            <a:r>
              <a:rPr lang="en-US" sz="1600" b="1" dirty="0">
                <a:solidFill>
                  <a:srgbClr val="FFFFFF"/>
                </a:solidFill>
                <a:latin typeface="IBM Plex Mono" pitchFamily="34" charset="0"/>
                <a:ea typeface="IBM Plex Mono" pitchFamily="34" charset="-122"/>
                <a:cs typeface="IBM Plex Mono" pitchFamily="34" charset="-120"/>
              </a:rPr>
              <a:t>POST /v1/decide</a:t>
            </a:r>
            <a:endParaRPr lang="en-US" sz="1600" dirty="0"/>
          </a:p>
        </p:txBody>
      </p:sp>
      <p:sp>
        <p:nvSpPr>
          <p:cNvPr id="10" name="Text 8"/>
          <p:cNvSpPr/>
          <p:nvPr/>
        </p:nvSpPr>
        <p:spPr>
          <a:xfrm>
            <a:off x="713232" y="2514600"/>
            <a:ext cx="3240938" cy="274320"/>
          </a:xfrm>
          <a:prstGeom prst="rect">
            <a:avLst/>
          </a:prstGeom>
          <a:noFill/>
          <a:ln/>
        </p:spPr>
        <p:txBody>
          <a:bodyPr wrap="square" lIns="0" tIns="0" rIns="0" bIns="0" rtlCol="0" anchor="t"/>
          <a:lstStyle/>
          <a:p>
            <a:pPr indent="0" marL="0">
              <a:buNone/>
            </a:pPr>
            <a:r>
              <a:rPr lang="en-US" sz="1400" dirty="0">
                <a:solidFill>
                  <a:srgbClr val="D6DEEA"/>
                </a:solidFill>
                <a:latin typeface="Inter" pitchFamily="34" charset="0"/>
                <a:ea typeface="Inter" pitchFamily="34" charset="-122"/>
                <a:cs typeface="Inter" pitchFamily="34" charset="-120"/>
              </a:rPr>
              <a:t>Interactive · one decision</a:t>
            </a:r>
            <a:endParaRPr lang="en-US" sz="1400" dirty="0"/>
          </a:p>
        </p:txBody>
      </p:sp>
      <p:sp>
        <p:nvSpPr>
          <p:cNvPr id="11" name="Shape 9"/>
          <p:cNvSpPr/>
          <p:nvPr/>
        </p:nvSpPr>
        <p:spPr>
          <a:xfrm>
            <a:off x="4338218" y="1783080"/>
            <a:ext cx="3515258" cy="1097280"/>
          </a:xfrm>
          <a:prstGeom prst="rect">
            <a:avLst/>
          </a:prstGeom>
          <a:solidFill>
            <a:srgbClr val="FFFFFF"/>
          </a:solidFill>
          <a:ln w="12700">
            <a:solidFill>
              <a:srgbClr val="1B2A41"/>
            </a:solidFill>
            <a:prstDash val="solid"/>
          </a:ln>
        </p:spPr>
      </p:sp>
      <p:sp>
        <p:nvSpPr>
          <p:cNvPr id="12" name="Text 10"/>
          <p:cNvSpPr/>
          <p:nvPr/>
        </p:nvSpPr>
        <p:spPr>
          <a:xfrm>
            <a:off x="4502810" y="1892808"/>
            <a:ext cx="13716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BATCH</a:t>
            </a:r>
            <a:endParaRPr lang="en-US" sz="1200" dirty="0"/>
          </a:p>
        </p:txBody>
      </p:sp>
      <p:sp>
        <p:nvSpPr>
          <p:cNvPr id="13" name="Text 11"/>
          <p:cNvSpPr/>
          <p:nvPr/>
        </p:nvSpPr>
        <p:spPr>
          <a:xfrm>
            <a:off x="4502810" y="2167128"/>
            <a:ext cx="3240938" cy="310896"/>
          </a:xfrm>
          <a:prstGeom prst="rect">
            <a:avLst/>
          </a:prstGeom>
          <a:noFill/>
          <a:ln/>
        </p:spPr>
        <p:txBody>
          <a:bodyPr wrap="square" lIns="0" tIns="0" rIns="0" bIns="0" rtlCol="0" anchor="t"/>
          <a:lstStyle/>
          <a:p>
            <a:pPr indent="0" marL="0">
              <a:buNone/>
            </a:pPr>
            <a:r>
              <a:rPr lang="en-US" sz="1600" b="1" dirty="0">
                <a:solidFill>
                  <a:srgbClr val="1B2A41"/>
                </a:solidFill>
                <a:latin typeface="IBM Plex Mono" pitchFamily="34" charset="0"/>
                <a:ea typeface="IBM Plex Mono" pitchFamily="34" charset="-122"/>
                <a:cs typeface="IBM Plex Mono" pitchFamily="34" charset="-120"/>
              </a:rPr>
              <a:t>POST /v1/decide:batch</a:t>
            </a:r>
            <a:endParaRPr lang="en-US" sz="1600" dirty="0"/>
          </a:p>
        </p:txBody>
      </p:sp>
      <p:sp>
        <p:nvSpPr>
          <p:cNvPr id="14" name="Text 12"/>
          <p:cNvSpPr/>
          <p:nvPr/>
        </p:nvSpPr>
        <p:spPr>
          <a:xfrm>
            <a:off x="4502810" y="2514600"/>
            <a:ext cx="3240938"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Many decisions in one call</a:t>
            </a:r>
            <a:endParaRPr lang="en-US" sz="1400" dirty="0"/>
          </a:p>
        </p:txBody>
      </p:sp>
      <p:sp>
        <p:nvSpPr>
          <p:cNvPr id="15" name="Shape 13"/>
          <p:cNvSpPr/>
          <p:nvPr/>
        </p:nvSpPr>
        <p:spPr>
          <a:xfrm>
            <a:off x="8127797" y="1783080"/>
            <a:ext cx="3515258" cy="1097280"/>
          </a:xfrm>
          <a:prstGeom prst="rect">
            <a:avLst/>
          </a:prstGeom>
          <a:solidFill>
            <a:srgbClr val="FFFFFF"/>
          </a:solidFill>
          <a:ln w="12700">
            <a:solidFill>
              <a:srgbClr val="1B2A41"/>
            </a:solidFill>
            <a:prstDash val="solid"/>
          </a:ln>
        </p:spPr>
      </p:sp>
      <p:sp>
        <p:nvSpPr>
          <p:cNvPr id="16" name="Text 14"/>
          <p:cNvSpPr/>
          <p:nvPr/>
        </p:nvSpPr>
        <p:spPr>
          <a:xfrm>
            <a:off x="8292389" y="1892808"/>
            <a:ext cx="13716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ASYNC</a:t>
            </a:r>
            <a:endParaRPr lang="en-US" sz="1200" dirty="0"/>
          </a:p>
        </p:txBody>
      </p:sp>
      <p:sp>
        <p:nvSpPr>
          <p:cNvPr id="17" name="Text 15"/>
          <p:cNvSpPr/>
          <p:nvPr/>
        </p:nvSpPr>
        <p:spPr>
          <a:xfrm>
            <a:off x="8292389" y="2167128"/>
            <a:ext cx="3240938" cy="310896"/>
          </a:xfrm>
          <a:prstGeom prst="rect">
            <a:avLst/>
          </a:prstGeom>
          <a:noFill/>
          <a:ln/>
        </p:spPr>
        <p:txBody>
          <a:bodyPr wrap="square" lIns="0" tIns="0" rIns="0" bIns="0" rtlCol="0" anchor="t"/>
          <a:lstStyle/>
          <a:p>
            <a:pPr indent="0" marL="0">
              <a:buNone/>
            </a:pPr>
            <a:r>
              <a:rPr lang="en-US" sz="1600" b="1" dirty="0">
                <a:solidFill>
                  <a:srgbClr val="1B2A41"/>
                </a:solidFill>
                <a:latin typeface="IBM Plex Mono" pitchFamily="34" charset="0"/>
                <a:ea typeface="IBM Plex Mono" pitchFamily="34" charset="-122"/>
                <a:cs typeface="IBM Plex Mono" pitchFamily="34" charset="-120"/>
              </a:rPr>
              <a:t>POST /v1/jobs</a:t>
            </a:r>
            <a:endParaRPr lang="en-US" sz="1600" dirty="0"/>
          </a:p>
        </p:txBody>
      </p:sp>
      <p:sp>
        <p:nvSpPr>
          <p:cNvPr id="18" name="Text 16"/>
          <p:cNvSpPr/>
          <p:nvPr/>
        </p:nvSpPr>
        <p:spPr>
          <a:xfrm>
            <a:off x="8292389" y="2514600"/>
            <a:ext cx="3240938"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Bulk backfill · poll or webhook</a:t>
            </a:r>
            <a:endParaRPr lang="en-US" sz="1400" dirty="0"/>
          </a:p>
        </p:txBody>
      </p:sp>
      <p:sp>
        <p:nvSpPr>
          <p:cNvPr id="19" name="Shape 17"/>
          <p:cNvSpPr/>
          <p:nvPr/>
        </p:nvSpPr>
        <p:spPr>
          <a:xfrm>
            <a:off x="548640" y="3154680"/>
            <a:ext cx="5074920" cy="2148840"/>
          </a:xfrm>
          <a:prstGeom prst="rect">
            <a:avLst/>
          </a:prstGeom>
          <a:solidFill>
            <a:srgbClr val="F3F5F8"/>
          </a:solidFill>
          <a:ln w="12700">
            <a:solidFill>
              <a:srgbClr val="F3F5F8"/>
            </a:solidFill>
            <a:prstDash val="solid"/>
          </a:ln>
        </p:spPr>
      </p:sp>
      <p:sp>
        <p:nvSpPr>
          <p:cNvPr id="20" name="Text 18"/>
          <p:cNvSpPr/>
          <p:nvPr/>
        </p:nvSpPr>
        <p:spPr>
          <a:xfrm>
            <a:off x="731520" y="3282696"/>
            <a:ext cx="27432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REQUEST</a:t>
            </a:r>
            <a:endParaRPr lang="en-US" sz="1200" dirty="0"/>
          </a:p>
        </p:txBody>
      </p:sp>
      <p:sp>
        <p:nvSpPr>
          <p:cNvPr id="21" name="Text 19"/>
          <p:cNvSpPr/>
          <p:nvPr/>
        </p:nvSpPr>
        <p:spPr>
          <a:xfrm>
            <a:off x="731520" y="3611880"/>
            <a:ext cx="4754880" cy="1600200"/>
          </a:xfrm>
          <a:prstGeom prst="rect">
            <a:avLst/>
          </a:prstGeom>
          <a:noFill/>
          <a:ln/>
        </p:spPr>
        <p:txBody>
          <a:bodyPr wrap="square" lIns="0" tIns="0" rIns="0" bIns="0" rtlCol="0" anchor="t"/>
          <a:lstStyle/>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"context": "… up to 64K tokens",</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"question":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"options": ["A …", "B …", "C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"min_confidence": optional</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p:txBody>
      </p:sp>
      <p:sp>
        <p:nvSpPr>
          <p:cNvPr id="22" name="Shape 20"/>
          <p:cNvSpPr/>
          <p:nvPr/>
        </p:nvSpPr>
        <p:spPr>
          <a:xfrm>
            <a:off x="5733288" y="4229100"/>
            <a:ext cx="725119" cy="0"/>
          </a:xfrm>
          <a:prstGeom prst="line">
            <a:avLst/>
          </a:prstGeom>
          <a:noFill/>
          <a:ln w="15875">
            <a:solidFill>
              <a:srgbClr val="0F7C8C"/>
            </a:solidFill>
            <a:prstDash val="solid"/>
            <a:tailEnd type="triangle"/>
          </a:ln>
        </p:spPr>
      </p:sp>
      <p:sp>
        <p:nvSpPr>
          <p:cNvPr id="23" name="Shape 21"/>
          <p:cNvSpPr/>
          <p:nvPr/>
        </p:nvSpPr>
        <p:spPr>
          <a:xfrm>
            <a:off x="6568135" y="3154680"/>
            <a:ext cx="5074920" cy="2148840"/>
          </a:xfrm>
          <a:prstGeom prst="rect">
            <a:avLst/>
          </a:prstGeom>
          <a:solidFill>
            <a:srgbClr val="F3F5F8"/>
          </a:solidFill>
          <a:ln w="12700">
            <a:solidFill>
              <a:srgbClr val="F3F5F8"/>
            </a:solidFill>
            <a:prstDash val="solid"/>
          </a:ln>
        </p:spPr>
      </p:sp>
      <p:sp>
        <p:nvSpPr>
          <p:cNvPr id="24" name="Text 22"/>
          <p:cNvSpPr/>
          <p:nvPr/>
        </p:nvSpPr>
        <p:spPr>
          <a:xfrm>
            <a:off x="6751015" y="3282696"/>
            <a:ext cx="27432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RESPONSE</a:t>
            </a:r>
            <a:endParaRPr lang="en-US" sz="1200" dirty="0"/>
          </a:p>
        </p:txBody>
      </p:sp>
      <p:sp>
        <p:nvSpPr>
          <p:cNvPr id="25" name="Text 23"/>
          <p:cNvSpPr/>
          <p:nvPr/>
        </p:nvSpPr>
        <p:spPr>
          <a:xfrm>
            <a:off x="6751015" y="3611880"/>
            <a:ext cx="4754880" cy="1600200"/>
          </a:xfrm>
          <a:prstGeom prst="rect">
            <a:avLst/>
          </a:prstGeom>
          <a:noFill/>
          <a:ln/>
        </p:spPr>
        <p:txBody>
          <a:bodyPr wrap="square" lIns="0" tIns="0" rIns="0" bIns="0" rtlCol="0" anchor="t"/>
          <a:lstStyle/>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"choice": "B",</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"probabilities": {"A":…,"B":…,"C":…},</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"confidence": …, "abstain": false,</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"model_version":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"latency_ms":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p:txBody>
      </p:sp>
      <p:sp>
        <p:nvSpPr>
          <p:cNvPr id="26" name="Shape 24"/>
          <p:cNvSpPr/>
          <p:nvPr/>
        </p:nvSpPr>
        <p:spPr>
          <a:xfrm>
            <a:off x="548640" y="5532120"/>
            <a:ext cx="54864" cy="658368"/>
          </a:xfrm>
          <a:prstGeom prst="rect">
            <a:avLst/>
          </a:prstGeom>
          <a:solidFill>
            <a:srgbClr val="0F7C8C"/>
          </a:solidFill>
          <a:ln w="12700">
            <a:solidFill>
              <a:srgbClr val="0F7C8C"/>
            </a:solidFill>
            <a:prstDash val="solid"/>
          </a:ln>
        </p:spPr>
      </p:sp>
      <p:sp>
        <p:nvSpPr>
          <p:cNvPr id="27" name="Text 25"/>
          <p:cNvSpPr/>
          <p:nvPr/>
        </p:nvSpPr>
        <p:spPr>
          <a:xfrm>
            <a:off x="69494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Versioning</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/v1 + model_version pin</a:t>
            </a:r>
            <a:endParaRPr lang="en-US" sz="1400" dirty="0"/>
          </a:p>
        </p:txBody>
      </p:sp>
      <p:sp>
        <p:nvSpPr>
          <p:cNvPr id="28" name="Shape 26"/>
          <p:cNvSpPr/>
          <p:nvPr/>
        </p:nvSpPr>
        <p:spPr>
          <a:xfrm>
            <a:off x="2794955" y="5532120"/>
            <a:ext cx="54864" cy="658368"/>
          </a:xfrm>
          <a:prstGeom prst="rect">
            <a:avLst/>
          </a:prstGeom>
          <a:solidFill>
            <a:srgbClr val="0F7C8C"/>
          </a:solidFill>
          <a:ln w="12700">
            <a:solidFill>
              <a:srgbClr val="0F7C8C"/>
            </a:solidFill>
            <a:prstDash val="solid"/>
          </a:ln>
        </p:spPr>
      </p:sp>
      <p:sp>
        <p:nvSpPr>
          <p:cNvPr id="29" name="Text 27"/>
          <p:cNvSpPr/>
          <p:nvPr/>
        </p:nvSpPr>
        <p:spPr>
          <a:xfrm>
            <a:off x="2941259"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Idempotency</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Idempotency-Key header</a:t>
            </a:r>
            <a:endParaRPr lang="en-US" sz="1400" dirty="0"/>
          </a:p>
        </p:txBody>
      </p:sp>
      <p:sp>
        <p:nvSpPr>
          <p:cNvPr id="30" name="Shape 28"/>
          <p:cNvSpPr/>
          <p:nvPr/>
        </p:nvSpPr>
        <p:spPr>
          <a:xfrm>
            <a:off x="5041270" y="5532120"/>
            <a:ext cx="54864" cy="658368"/>
          </a:xfrm>
          <a:prstGeom prst="rect">
            <a:avLst/>
          </a:prstGeom>
          <a:solidFill>
            <a:srgbClr val="0F7C8C"/>
          </a:solidFill>
          <a:ln w="12700">
            <a:solidFill>
              <a:srgbClr val="0F7C8C"/>
            </a:solidFill>
            <a:prstDash val="solid"/>
          </a:ln>
        </p:spPr>
      </p:sp>
      <p:sp>
        <p:nvSpPr>
          <p:cNvPr id="31" name="Text 29"/>
          <p:cNvSpPr/>
          <p:nvPr/>
        </p:nvSpPr>
        <p:spPr>
          <a:xfrm>
            <a:off x="518757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Auth</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API keys · OAuth</a:t>
            </a:r>
            <a:endParaRPr lang="en-US" sz="1400" dirty="0"/>
          </a:p>
        </p:txBody>
      </p:sp>
      <p:sp>
        <p:nvSpPr>
          <p:cNvPr id="32" name="Shape 30"/>
          <p:cNvSpPr/>
          <p:nvPr/>
        </p:nvSpPr>
        <p:spPr>
          <a:xfrm>
            <a:off x="7287585" y="5532120"/>
            <a:ext cx="54864" cy="658368"/>
          </a:xfrm>
          <a:prstGeom prst="rect">
            <a:avLst/>
          </a:prstGeom>
          <a:solidFill>
            <a:srgbClr val="0F7C8C"/>
          </a:solidFill>
          <a:ln w="12700">
            <a:solidFill>
              <a:srgbClr val="0F7C8C"/>
            </a:solidFill>
            <a:prstDash val="solid"/>
          </a:ln>
        </p:spPr>
      </p:sp>
      <p:sp>
        <p:nvSpPr>
          <p:cNvPr id="33" name="Text 31"/>
          <p:cNvSpPr/>
          <p:nvPr/>
        </p:nvSpPr>
        <p:spPr>
          <a:xfrm>
            <a:off x="7433889"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Quotas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Rate limits per tenant</a:t>
            </a:r>
            <a:endParaRPr lang="en-US" sz="1400" dirty="0"/>
          </a:p>
        </p:txBody>
      </p:sp>
      <p:sp>
        <p:nvSpPr>
          <p:cNvPr id="34" name="Shape 32"/>
          <p:cNvSpPr/>
          <p:nvPr/>
        </p:nvSpPr>
        <p:spPr>
          <a:xfrm>
            <a:off x="9533900" y="5532120"/>
            <a:ext cx="54864" cy="658368"/>
          </a:xfrm>
          <a:prstGeom prst="rect">
            <a:avLst/>
          </a:prstGeom>
          <a:solidFill>
            <a:srgbClr val="0F7C8C"/>
          </a:solidFill>
          <a:ln w="12700">
            <a:solidFill>
              <a:srgbClr val="0F7C8C"/>
            </a:solidFill>
            <a:prstDash val="solid"/>
          </a:ln>
        </p:spPr>
      </p:sp>
      <p:sp>
        <p:nvSpPr>
          <p:cNvPr id="35" name="Text 33"/>
          <p:cNvSpPr/>
          <p:nvPr/>
        </p:nvSpPr>
        <p:spPr>
          <a:xfrm>
            <a:off x="968020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SLA tiers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By length bucket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04</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Gateway → router → GPU tier sized to model and context</a:t>
            </a:r>
            <a:endParaRPr lang="en-US" sz="2800" dirty="0"/>
          </a:p>
        </p:txBody>
      </p:sp>
      <p:sp>
        <p:nvSpPr>
          <p:cNvPr id="6" name="Shape 4"/>
          <p:cNvSpPr/>
          <p:nvPr/>
        </p:nvSpPr>
        <p:spPr>
          <a:xfrm>
            <a:off x="548640" y="2606040"/>
            <a:ext cx="1280160" cy="1097280"/>
          </a:xfrm>
          <a:prstGeom prst="rect">
            <a:avLst/>
          </a:prstGeom>
          <a:solidFill>
            <a:srgbClr val="FFFFFF"/>
          </a:solidFill>
          <a:ln w="12700">
            <a:solidFill>
              <a:srgbClr val="1B2A41"/>
            </a:solidFill>
            <a:prstDash val="solid"/>
          </a:ln>
        </p:spPr>
      </p:sp>
      <p:sp>
        <p:nvSpPr>
          <p:cNvPr id="7" name="Text 5"/>
          <p:cNvSpPr/>
          <p:nvPr/>
        </p:nvSpPr>
        <p:spPr>
          <a:xfrm>
            <a:off x="667512" y="2715768"/>
            <a:ext cx="104241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Clients</a:t>
            </a:r>
            <a:endParaRPr lang="en-US" sz="1500" dirty="0"/>
          </a:p>
        </p:txBody>
      </p:sp>
      <p:sp>
        <p:nvSpPr>
          <p:cNvPr id="8" name="Text 6"/>
          <p:cNvSpPr/>
          <p:nvPr/>
        </p:nvSpPr>
        <p:spPr>
          <a:xfrm>
            <a:off x="667512" y="3063240"/>
            <a:ext cx="1042416" cy="5669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Apps · users</a:t>
            </a:r>
            <a:endParaRPr lang="en-US" sz="1400" dirty="0"/>
          </a:p>
        </p:txBody>
      </p:sp>
      <p:sp>
        <p:nvSpPr>
          <p:cNvPr id="9" name="Shape 7"/>
          <p:cNvSpPr/>
          <p:nvPr/>
        </p:nvSpPr>
        <p:spPr>
          <a:xfrm>
            <a:off x="1828800" y="3154680"/>
            <a:ext cx="274320" cy="0"/>
          </a:xfrm>
          <a:prstGeom prst="line">
            <a:avLst/>
          </a:prstGeom>
          <a:noFill/>
          <a:ln w="15875">
            <a:solidFill>
              <a:srgbClr val="5B6573"/>
            </a:solidFill>
            <a:prstDash val="solid"/>
            <a:tailEnd type="triangle"/>
          </a:ln>
        </p:spPr>
      </p:sp>
      <p:sp>
        <p:nvSpPr>
          <p:cNvPr id="10" name="Shape 8"/>
          <p:cNvSpPr/>
          <p:nvPr/>
        </p:nvSpPr>
        <p:spPr>
          <a:xfrm>
            <a:off x="2103120" y="2331720"/>
            <a:ext cx="1874520" cy="1645920"/>
          </a:xfrm>
          <a:prstGeom prst="rect">
            <a:avLst/>
          </a:prstGeom>
          <a:solidFill>
            <a:srgbClr val="FFFFFF"/>
          </a:solidFill>
          <a:ln w="12700">
            <a:solidFill>
              <a:srgbClr val="1B2A41"/>
            </a:solidFill>
            <a:prstDash val="solid"/>
          </a:ln>
        </p:spPr>
      </p:sp>
      <p:sp>
        <p:nvSpPr>
          <p:cNvPr id="11" name="Text 9"/>
          <p:cNvSpPr/>
          <p:nvPr/>
        </p:nvSpPr>
        <p:spPr>
          <a:xfrm>
            <a:off x="2221992" y="2441448"/>
            <a:ext cx="163677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API gateway</a:t>
            </a:r>
            <a:endParaRPr lang="en-US" sz="1500" dirty="0"/>
          </a:p>
        </p:txBody>
      </p:sp>
      <p:sp>
        <p:nvSpPr>
          <p:cNvPr id="12" name="Text 10"/>
          <p:cNvSpPr/>
          <p:nvPr/>
        </p:nvSpPr>
        <p:spPr>
          <a:xfrm>
            <a:off x="2221992" y="2788920"/>
            <a:ext cx="1636776" cy="11155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Auth · quotas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Rate limits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Validation</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Token count</a:t>
            </a:r>
            <a:endParaRPr lang="en-US" sz="1400" dirty="0"/>
          </a:p>
        </p:txBody>
      </p:sp>
      <p:sp>
        <p:nvSpPr>
          <p:cNvPr id="13" name="Shape 11"/>
          <p:cNvSpPr/>
          <p:nvPr/>
        </p:nvSpPr>
        <p:spPr>
          <a:xfrm>
            <a:off x="3977640" y="3154680"/>
            <a:ext cx="274320" cy="0"/>
          </a:xfrm>
          <a:prstGeom prst="line">
            <a:avLst/>
          </a:prstGeom>
          <a:noFill/>
          <a:ln w="15875">
            <a:solidFill>
              <a:srgbClr val="5B6573"/>
            </a:solidFill>
            <a:prstDash val="solid"/>
            <a:tailEnd type="triangle"/>
          </a:ln>
        </p:spPr>
      </p:sp>
      <p:sp>
        <p:nvSpPr>
          <p:cNvPr id="14" name="Shape 12"/>
          <p:cNvSpPr/>
          <p:nvPr/>
        </p:nvSpPr>
        <p:spPr>
          <a:xfrm>
            <a:off x="4251960" y="2331720"/>
            <a:ext cx="1691640" cy="1645920"/>
          </a:xfrm>
          <a:prstGeom prst="rect">
            <a:avLst/>
          </a:prstGeom>
          <a:solidFill>
            <a:srgbClr val="1B2A41"/>
          </a:solidFill>
          <a:ln w="12700">
            <a:solidFill>
              <a:srgbClr val="1B2A41"/>
            </a:solidFill>
            <a:prstDash val="solid"/>
          </a:ln>
        </p:spPr>
      </p:sp>
      <p:sp>
        <p:nvSpPr>
          <p:cNvPr id="15" name="Text 13"/>
          <p:cNvSpPr/>
          <p:nvPr/>
        </p:nvSpPr>
        <p:spPr>
          <a:xfrm>
            <a:off x="4370832" y="2441448"/>
            <a:ext cx="1453896" cy="310896"/>
          </a:xfrm>
          <a:prstGeom prst="rect">
            <a:avLst/>
          </a:prstGeom>
          <a:noFill/>
          <a:ln/>
        </p:spPr>
        <p:txBody>
          <a:bodyPr wrap="square" lIns="0" tIns="0" rIns="0" bIns="0" rtlCol="0" anchor="t"/>
          <a:lstStyle/>
          <a:p>
            <a:pPr indent="0" marL="0">
              <a:buNone/>
            </a:pPr>
            <a:r>
              <a:rPr lang="en-US" sz="1500" b="1" dirty="0">
                <a:solidFill>
                  <a:srgbClr val="FFFFFF"/>
                </a:solidFill>
                <a:latin typeface="Inter" pitchFamily="34" charset="0"/>
                <a:ea typeface="Inter" pitchFamily="34" charset="-122"/>
                <a:cs typeface="Inter" pitchFamily="34" charset="-120"/>
              </a:rPr>
              <a:t>Router</a:t>
            </a:r>
            <a:endParaRPr lang="en-US" sz="1500" dirty="0"/>
          </a:p>
        </p:txBody>
      </p:sp>
      <p:sp>
        <p:nvSpPr>
          <p:cNvPr id="16" name="Text 14"/>
          <p:cNvSpPr/>
          <p:nvPr/>
        </p:nvSpPr>
        <p:spPr>
          <a:xfrm>
            <a:off x="4370832" y="2788920"/>
            <a:ext cx="1453896" cy="1115568"/>
          </a:xfrm>
          <a:prstGeom prst="rect">
            <a:avLst/>
          </a:prstGeom>
          <a:noFill/>
          <a:ln/>
        </p:spPr>
        <p:txBody>
          <a:bodyPr wrap="square" lIns="0" tIns="0" rIns="0" bIns="0" rtlCol="0" anchor="t"/>
          <a:lstStyle/>
          <a:p>
            <a:pPr indent="0" marL="0">
              <a:buNone/>
            </a:pPr>
            <a:r>
              <a:rPr lang="en-US" sz="1400" dirty="0">
                <a:solidFill>
                  <a:srgbClr val="D6DEEA"/>
                </a:solidFill>
                <a:latin typeface="Inter" pitchFamily="34" charset="0"/>
                <a:ea typeface="Inter" pitchFamily="34" charset="-122"/>
                <a:cs typeface="Inter" pitchFamily="34" charset="-120"/>
              </a:rPr>
              <a:t>Model × length</a:t>
            </a:r>
            <a:endParaRPr lang="en-US" sz="1400" dirty="0"/>
          </a:p>
          <a:p>
            <a:pPr indent="0" marL="0">
              <a:buNone/>
            </a:pPr>
            <a:r>
              <a:rPr lang="en-US" sz="1400" dirty="0">
                <a:solidFill>
                  <a:srgbClr val="D6DEEA"/>
                </a:solidFill>
                <a:latin typeface="Inter" pitchFamily="34" charset="0"/>
                <a:ea typeface="Inter" pitchFamily="34" charset="-122"/>
                <a:cs typeface="Inter" pitchFamily="34" charset="-120"/>
              </a:rPr>
              <a:t>≤8K · ≤16K</a:t>
            </a:r>
            <a:endParaRPr lang="en-US" sz="1400" dirty="0"/>
          </a:p>
          <a:p>
            <a:pPr indent="0" marL="0">
              <a:buNone/>
            </a:pPr>
            <a:r>
              <a:rPr lang="en-US" sz="1400" dirty="0">
                <a:solidFill>
                  <a:srgbClr val="D6DEEA"/>
                </a:solidFill>
                <a:latin typeface="Inter" pitchFamily="34" charset="0"/>
                <a:ea typeface="Inter" pitchFamily="34" charset="-122"/>
                <a:cs typeface="Inter" pitchFamily="34" charset="-120"/>
              </a:rPr>
              <a:t>≤32K · ≤64K</a:t>
            </a:r>
            <a:endParaRPr lang="en-US" sz="1400" dirty="0"/>
          </a:p>
          <a:p>
            <a:pPr indent="0" marL="0">
              <a:buNone/>
            </a:pPr>
            <a:r>
              <a:rPr lang="en-US" sz="1400" dirty="0">
                <a:solidFill>
                  <a:srgbClr val="D6DEEA"/>
                </a:solidFill>
                <a:latin typeface="Inter" pitchFamily="34" charset="0"/>
                <a:ea typeface="Inter" pitchFamily="34" charset="-122"/>
                <a:cs typeface="Inter" pitchFamily="34" charset="-120"/>
              </a:rPr>
              <a:t>&gt;64K → reject</a:t>
            </a:r>
            <a:endParaRPr lang="en-US" sz="1400" dirty="0"/>
          </a:p>
        </p:txBody>
      </p:sp>
      <p:sp>
        <p:nvSpPr>
          <p:cNvPr id="17" name="Shape 15"/>
          <p:cNvSpPr/>
          <p:nvPr/>
        </p:nvSpPr>
        <p:spPr>
          <a:xfrm>
            <a:off x="5943600" y="3154680"/>
            <a:ext cx="228600" cy="0"/>
          </a:xfrm>
          <a:prstGeom prst="line">
            <a:avLst/>
          </a:prstGeom>
          <a:noFill/>
          <a:ln w="15875">
            <a:solidFill>
              <a:srgbClr val="5B6573"/>
            </a:solidFill>
            <a:prstDash val="solid"/>
          </a:ln>
        </p:spPr>
      </p:sp>
      <p:sp>
        <p:nvSpPr>
          <p:cNvPr id="18" name="Shape 16"/>
          <p:cNvSpPr/>
          <p:nvPr/>
        </p:nvSpPr>
        <p:spPr>
          <a:xfrm>
            <a:off x="6172200" y="1929384"/>
            <a:ext cx="0" cy="2066544"/>
          </a:xfrm>
          <a:prstGeom prst="line">
            <a:avLst/>
          </a:prstGeom>
          <a:noFill/>
          <a:ln w="12700">
            <a:solidFill>
              <a:srgbClr val="5B6573"/>
            </a:solidFill>
            <a:prstDash val="solid"/>
          </a:ln>
        </p:spPr>
      </p:sp>
      <p:sp>
        <p:nvSpPr>
          <p:cNvPr id="19" name="Shape 17"/>
          <p:cNvSpPr/>
          <p:nvPr/>
        </p:nvSpPr>
        <p:spPr>
          <a:xfrm>
            <a:off x="6172200" y="1929384"/>
            <a:ext cx="228600" cy="0"/>
          </a:xfrm>
          <a:prstGeom prst="line">
            <a:avLst/>
          </a:prstGeom>
          <a:noFill/>
          <a:ln w="15875">
            <a:solidFill>
              <a:srgbClr val="5B6573"/>
            </a:solidFill>
            <a:prstDash val="solid"/>
            <a:tailEnd type="triangle"/>
          </a:ln>
        </p:spPr>
      </p:sp>
      <p:sp>
        <p:nvSpPr>
          <p:cNvPr id="20" name="Shape 18"/>
          <p:cNvSpPr/>
          <p:nvPr/>
        </p:nvSpPr>
        <p:spPr>
          <a:xfrm>
            <a:off x="6400800" y="1481328"/>
            <a:ext cx="2514600" cy="896112"/>
          </a:xfrm>
          <a:prstGeom prst="rect">
            <a:avLst/>
          </a:prstGeom>
          <a:solidFill>
            <a:srgbClr val="FFFFFF"/>
          </a:solidFill>
          <a:ln w="15875">
            <a:solidFill>
              <a:srgbClr val="2E9E5B"/>
            </a:solidFill>
            <a:prstDash val="solid"/>
          </a:ln>
        </p:spPr>
      </p:sp>
      <p:sp>
        <p:nvSpPr>
          <p:cNvPr id="21" name="Text 19"/>
          <p:cNvSpPr/>
          <p:nvPr/>
        </p:nvSpPr>
        <p:spPr>
          <a:xfrm>
            <a:off x="6519672" y="1481328"/>
            <a:ext cx="2331720" cy="896112"/>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V100 32 GB · FP16</a:t>
            </a:r>
            <a:endParaRPr lang="en-US" sz="1400" dirty="0"/>
          </a:p>
          <a:p>
            <a:pPr indent="0" marL="0">
              <a:buNone/>
            </a:pPr>
            <a:r>
              <a:rPr lang="en-US" sz="1400" dirty="0">
                <a:solidFill>
                  <a:srgbClr val="1F2937"/>
                </a:solidFill>
                <a:latin typeface="Inter" pitchFamily="34" charset="0"/>
                <a:ea typeface="Inter" pitchFamily="34" charset="-122"/>
                <a:cs typeface="Inter" pitchFamily="34" charset="-120"/>
              </a:rPr>
              <a:t>Jev-E4B (4B) + encoders</a:t>
            </a:r>
            <a:endParaRPr lang="en-US" sz="1400" dirty="0"/>
          </a:p>
          <a:p>
            <a:pPr indent="0" marL="0">
              <a:buNone/>
            </a:pPr>
            <a:r>
              <a:rPr lang="en-US" sz="1400" b="1" dirty="0">
                <a:solidFill>
                  <a:srgbClr val="2E9E5B"/>
                </a:solidFill>
                <a:latin typeface="Inter" pitchFamily="34" charset="0"/>
                <a:ea typeface="Inter" pitchFamily="34" charset="-122"/>
                <a:cs typeface="Inter" pitchFamily="34" charset="-120"/>
              </a:rPr>
              <a:t>Context ≤4K–8K · max 16K</a:t>
            </a:r>
            <a:endParaRPr lang="en-US" sz="1400" dirty="0"/>
          </a:p>
        </p:txBody>
      </p:sp>
      <p:sp>
        <p:nvSpPr>
          <p:cNvPr id="22" name="Shape 20"/>
          <p:cNvSpPr/>
          <p:nvPr/>
        </p:nvSpPr>
        <p:spPr>
          <a:xfrm>
            <a:off x="6172200" y="2962656"/>
            <a:ext cx="228600" cy="0"/>
          </a:xfrm>
          <a:prstGeom prst="line">
            <a:avLst/>
          </a:prstGeom>
          <a:noFill/>
          <a:ln w="15875">
            <a:solidFill>
              <a:srgbClr val="5B6573"/>
            </a:solidFill>
            <a:prstDash val="solid"/>
            <a:tailEnd type="triangle"/>
          </a:ln>
        </p:spPr>
      </p:sp>
      <p:sp>
        <p:nvSpPr>
          <p:cNvPr id="23" name="Shape 21"/>
          <p:cNvSpPr/>
          <p:nvPr/>
        </p:nvSpPr>
        <p:spPr>
          <a:xfrm>
            <a:off x="6400800" y="2514600"/>
            <a:ext cx="2514600" cy="896112"/>
          </a:xfrm>
          <a:prstGeom prst="rect">
            <a:avLst/>
          </a:prstGeom>
          <a:solidFill>
            <a:srgbClr val="FFFFFF"/>
          </a:solidFill>
          <a:ln w="15875">
            <a:solidFill>
              <a:srgbClr val="1B2A41"/>
            </a:solidFill>
            <a:prstDash val="solid"/>
          </a:ln>
        </p:spPr>
      </p:sp>
      <p:sp>
        <p:nvSpPr>
          <p:cNvPr id="24" name="Text 22"/>
          <p:cNvSpPr/>
          <p:nvPr/>
        </p:nvSpPr>
        <p:spPr>
          <a:xfrm>
            <a:off x="6519672" y="2514600"/>
            <a:ext cx="2331720" cy="896112"/>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L40S 48 GB · FP8</a:t>
            </a:r>
            <a:endParaRPr lang="en-US" sz="1400" dirty="0"/>
          </a:p>
          <a:p>
            <a:pPr indent="0" marL="0">
              <a:buNone/>
            </a:pPr>
            <a:r>
              <a:rPr lang="en-US" sz="1400" dirty="0">
                <a:solidFill>
                  <a:srgbClr val="1F2937"/>
                </a:solidFill>
                <a:latin typeface="Inter" pitchFamily="34" charset="0"/>
                <a:ea typeface="Inter" pitchFamily="34" charset="-122"/>
                <a:cs typeface="Inter" pitchFamily="34" charset="-120"/>
              </a:rPr>
              <a:t>Jev-26B-A4B · 27 GB</a:t>
            </a:r>
            <a:endParaRPr lang="en-US" sz="1400" dirty="0"/>
          </a:p>
          <a:p>
            <a:pPr indent="0" marL="0">
              <a:buNone/>
            </a:pPr>
            <a:r>
              <a:rPr lang="en-US" sz="1400" b="1" dirty="0">
                <a:solidFill>
                  <a:srgbClr val="0F7C8C"/>
                </a:solidFill>
                <a:latin typeface="Inter" pitchFamily="34" charset="0"/>
                <a:ea typeface="Inter" pitchFamily="34" charset="-122"/>
                <a:cs typeface="Inter" pitchFamily="34" charset="-120"/>
              </a:rPr>
              <a:t>Context ≤4K and ≤16K</a:t>
            </a:r>
            <a:endParaRPr lang="en-US" sz="1400" dirty="0"/>
          </a:p>
        </p:txBody>
      </p:sp>
      <p:sp>
        <p:nvSpPr>
          <p:cNvPr id="25" name="Shape 23"/>
          <p:cNvSpPr/>
          <p:nvPr/>
        </p:nvSpPr>
        <p:spPr>
          <a:xfrm>
            <a:off x="6172200" y="3995928"/>
            <a:ext cx="228600" cy="0"/>
          </a:xfrm>
          <a:prstGeom prst="line">
            <a:avLst/>
          </a:prstGeom>
          <a:noFill/>
          <a:ln w="15875">
            <a:solidFill>
              <a:srgbClr val="5B6573"/>
            </a:solidFill>
            <a:prstDash val="solid"/>
            <a:tailEnd type="triangle"/>
          </a:ln>
        </p:spPr>
      </p:sp>
      <p:sp>
        <p:nvSpPr>
          <p:cNvPr id="26" name="Shape 24"/>
          <p:cNvSpPr/>
          <p:nvPr/>
        </p:nvSpPr>
        <p:spPr>
          <a:xfrm>
            <a:off x="6400800" y="3547872"/>
            <a:ext cx="2514600" cy="896112"/>
          </a:xfrm>
          <a:prstGeom prst="rect">
            <a:avLst/>
          </a:prstGeom>
          <a:solidFill>
            <a:srgbClr val="FFFFFF"/>
          </a:solidFill>
          <a:ln w="15875">
            <a:solidFill>
              <a:srgbClr val="0F7C8C"/>
            </a:solidFill>
            <a:prstDash val="dash"/>
          </a:ln>
        </p:spPr>
      </p:sp>
      <p:sp>
        <p:nvSpPr>
          <p:cNvPr id="27" name="Text 25"/>
          <p:cNvSpPr/>
          <p:nvPr/>
        </p:nvSpPr>
        <p:spPr>
          <a:xfrm>
            <a:off x="6519672" y="3547872"/>
            <a:ext cx="2331720" cy="896112"/>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H100 80 GB · BF16</a:t>
            </a:r>
            <a:endParaRPr lang="en-US" sz="1400" dirty="0"/>
          </a:p>
          <a:p>
            <a:pPr indent="0" marL="0">
              <a:buNone/>
            </a:pPr>
            <a:r>
              <a:rPr lang="en-US" sz="1400" dirty="0">
                <a:solidFill>
                  <a:srgbClr val="1F2937"/>
                </a:solidFill>
                <a:latin typeface="Inter" pitchFamily="34" charset="0"/>
                <a:ea typeface="Inter" pitchFamily="34" charset="-122"/>
                <a:cs typeface="Inter" pitchFamily="34" charset="-120"/>
              </a:rPr>
              <a:t>Jev-26B-A4B · 50.7 GB</a:t>
            </a:r>
            <a:endParaRPr lang="en-US" sz="1400" dirty="0"/>
          </a:p>
          <a:p>
            <a:pPr indent="0" marL="0">
              <a:buNone/>
            </a:pPr>
            <a:r>
              <a:rPr lang="en-US" sz="1400" b="1" dirty="0">
                <a:solidFill>
                  <a:srgbClr val="0F7C8C"/>
                </a:solidFill>
                <a:latin typeface="Inter" pitchFamily="34" charset="0"/>
                <a:ea typeface="Inter" pitchFamily="34" charset="-122"/>
                <a:cs typeface="Inter" pitchFamily="34" charset="-120"/>
              </a:rPr>
              <a:t>Context ≤32K and ≤64K</a:t>
            </a:r>
            <a:endParaRPr lang="en-US" sz="1400" dirty="0"/>
          </a:p>
        </p:txBody>
      </p:sp>
      <p:sp>
        <p:nvSpPr>
          <p:cNvPr id="28" name="Shape 26"/>
          <p:cNvSpPr/>
          <p:nvPr/>
        </p:nvSpPr>
        <p:spPr>
          <a:xfrm>
            <a:off x="8915400" y="1929384"/>
            <a:ext cx="155448" cy="0"/>
          </a:xfrm>
          <a:prstGeom prst="line">
            <a:avLst/>
          </a:prstGeom>
          <a:noFill/>
          <a:ln w="15875">
            <a:solidFill>
              <a:srgbClr val="5B6573"/>
            </a:solidFill>
            <a:prstDash val="solid"/>
          </a:ln>
        </p:spPr>
      </p:sp>
      <p:sp>
        <p:nvSpPr>
          <p:cNvPr id="29" name="Shape 27"/>
          <p:cNvSpPr/>
          <p:nvPr/>
        </p:nvSpPr>
        <p:spPr>
          <a:xfrm>
            <a:off x="8915400" y="2962656"/>
            <a:ext cx="155448" cy="0"/>
          </a:xfrm>
          <a:prstGeom prst="line">
            <a:avLst/>
          </a:prstGeom>
          <a:noFill/>
          <a:ln w="15875">
            <a:solidFill>
              <a:srgbClr val="5B6573"/>
            </a:solidFill>
            <a:prstDash val="solid"/>
          </a:ln>
        </p:spPr>
      </p:sp>
      <p:sp>
        <p:nvSpPr>
          <p:cNvPr id="30" name="Shape 28"/>
          <p:cNvSpPr/>
          <p:nvPr/>
        </p:nvSpPr>
        <p:spPr>
          <a:xfrm>
            <a:off x="8915400" y="3995928"/>
            <a:ext cx="155448" cy="0"/>
          </a:xfrm>
          <a:prstGeom prst="line">
            <a:avLst/>
          </a:prstGeom>
          <a:noFill/>
          <a:ln w="15875">
            <a:solidFill>
              <a:srgbClr val="5B6573"/>
            </a:solidFill>
            <a:prstDash val="solid"/>
          </a:ln>
        </p:spPr>
      </p:sp>
      <p:sp>
        <p:nvSpPr>
          <p:cNvPr id="31" name="Shape 29"/>
          <p:cNvSpPr/>
          <p:nvPr/>
        </p:nvSpPr>
        <p:spPr>
          <a:xfrm>
            <a:off x="9070848" y="1929384"/>
            <a:ext cx="0" cy="2066544"/>
          </a:xfrm>
          <a:prstGeom prst="line">
            <a:avLst/>
          </a:prstGeom>
          <a:noFill/>
          <a:ln w="12700">
            <a:solidFill>
              <a:srgbClr val="5B6573"/>
            </a:solidFill>
            <a:prstDash val="solid"/>
          </a:ln>
        </p:spPr>
      </p:sp>
      <p:sp>
        <p:nvSpPr>
          <p:cNvPr id="32" name="Shape 30"/>
          <p:cNvSpPr/>
          <p:nvPr/>
        </p:nvSpPr>
        <p:spPr>
          <a:xfrm>
            <a:off x="9070848" y="2487168"/>
            <a:ext cx="210312" cy="0"/>
          </a:xfrm>
          <a:prstGeom prst="line">
            <a:avLst/>
          </a:prstGeom>
          <a:noFill/>
          <a:ln w="15875">
            <a:solidFill>
              <a:srgbClr val="5B6573"/>
            </a:solidFill>
            <a:prstDash val="solid"/>
            <a:tailEnd type="triangle"/>
          </a:ln>
        </p:spPr>
      </p:sp>
      <p:sp>
        <p:nvSpPr>
          <p:cNvPr id="33" name="Shape 31"/>
          <p:cNvSpPr/>
          <p:nvPr/>
        </p:nvSpPr>
        <p:spPr>
          <a:xfrm>
            <a:off x="9281160" y="1481328"/>
            <a:ext cx="2361895" cy="1947672"/>
          </a:xfrm>
          <a:prstGeom prst="rect">
            <a:avLst/>
          </a:prstGeom>
          <a:solidFill>
            <a:srgbClr val="FFFFFF"/>
          </a:solidFill>
          <a:ln w="25400">
            <a:solidFill>
              <a:srgbClr val="0F7C8C"/>
            </a:solidFill>
            <a:prstDash val="solid"/>
          </a:ln>
        </p:spPr>
      </p:sp>
      <p:sp>
        <p:nvSpPr>
          <p:cNvPr id="34" name="Text 32"/>
          <p:cNvSpPr/>
          <p:nvPr/>
        </p:nvSpPr>
        <p:spPr>
          <a:xfrm>
            <a:off x="9400032" y="1591056"/>
            <a:ext cx="2124151"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Decision server</a:t>
            </a:r>
            <a:endParaRPr lang="en-US" sz="1500" dirty="0"/>
          </a:p>
        </p:txBody>
      </p:sp>
      <p:sp>
        <p:nvSpPr>
          <p:cNvPr id="35" name="Text 33"/>
          <p:cNvSpPr/>
          <p:nvPr/>
        </p:nvSpPr>
        <p:spPr>
          <a:xfrm>
            <a:off x="9400032" y="1938528"/>
            <a:ext cx="2124151" cy="1417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1 GPU per replica</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Buckets + warm-up</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Merged LoRA</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Fused MoE</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Micro-batching</a:t>
            </a:r>
            <a:endParaRPr lang="en-US" sz="1400" dirty="0"/>
          </a:p>
        </p:txBody>
      </p:sp>
      <p:sp>
        <p:nvSpPr>
          <p:cNvPr id="36" name="Shape 34"/>
          <p:cNvSpPr/>
          <p:nvPr/>
        </p:nvSpPr>
        <p:spPr>
          <a:xfrm>
            <a:off x="10462108" y="3429000"/>
            <a:ext cx="0" cy="274320"/>
          </a:xfrm>
          <a:prstGeom prst="line">
            <a:avLst/>
          </a:prstGeom>
          <a:noFill/>
          <a:ln w="15875">
            <a:solidFill>
              <a:srgbClr val="5B6573"/>
            </a:solidFill>
            <a:prstDash val="solid"/>
            <a:tailEnd type="triangle"/>
          </a:ln>
        </p:spPr>
      </p:sp>
      <p:sp>
        <p:nvSpPr>
          <p:cNvPr id="37" name="Shape 35"/>
          <p:cNvSpPr/>
          <p:nvPr/>
        </p:nvSpPr>
        <p:spPr>
          <a:xfrm>
            <a:off x="9281160" y="3703320"/>
            <a:ext cx="2361895" cy="731520"/>
          </a:xfrm>
          <a:prstGeom prst="rect">
            <a:avLst/>
          </a:prstGeom>
          <a:solidFill>
            <a:srgbClr val="E3F1F2"/>
          </a:solidFill>
          <a:ln w="12700">
            <a:solidFill>
              <a:srgbClr val="E3F1F2"/>
            </a:solidFill>
            <a:prstDash val="solid"/>
          </a:ln>
        </p:spPr>
      </p:sp>
      <p:sp>
        <p:nvSpPr>
          <p:cNvPr id="38" name="Text 36"/>
          <p:cNvSpPr/>
          <p:nvPr/>
        </p:nvSpPr>
        <p:spPr>
          <a:xfrm>
            <a:off x="9390888" y="3703320"/>
            <a:ext cx="2142439" cy="73152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Response</a:t>
            </a:r>
            <a:endParaRPr lang="en-US" sz="1400" dirty="0"/>
          </a:p>
          <a:p>
            <a:pPr algn="l" indent="0" marL="0">
              <a:buNone/>
            </a:pPr>
            <a:r>
              <a:rPr lang="en-US" sz="1400" dirty="0">
                <a:solidFill>
                  <a:srgbClr val="5B6573"/>
                </a:solidFill>
                <a:latin typeface="Inter" pitchFamily="34" charset="0"/>
                <a:ea typeface="Inter" pitchFamily="34" charset="-122"/>
                <a:cs typeface="Inter" pitchFamily="34" charset="-120"/>
              </a:rPr>
              <a:t>choice · probs · confidence</a:t>
            </a:r>
            <a:endParaRPr lang="en-US" sz="1400" dirty="0"/>
          </a:p>
        </p:txBody>
      </p:sp>
      <p:sp>
        <p:nvSpPr>
          <p:cNvPr id="39" name="Text 37"/>
          <p:cNvSpPr/>
          <p:nvPr/>
        </p:nvSpPr>
        <p:spPr>
          <a:xfrm>
            <a:off x="548640" y="4224528"/>
            <a:ext cx="2743200" cy="256032"/>
          </a:xfrm>
          <a:prstGeom prst="rect">
            <a:avLst/>
          </a:prstGeom>
          <a:noFill/>
          <a:ln/>
        </p:spPr>
        <p:txBody>
          <a:bodyPr wrap="square" lIns="0" tIns="0" rIns="0" bIns="0" rtlCol="0" anchor="t"/>
          <a:lstStyle/>
          <a:p>
            <a:pPr indent="0" marL="0">
              <a:buNone/>
            </a:pPr>
            <a:r>
              <a:rPr lang="en-US" sz="1200" b="1" spc="200" kern="0" dirty="0">
                <a:solidFill>
                  <a:srgbClr val="8A94A3"/>
                </a:solidFill>
                <a:latin typeface="Inter" pitchFamily="34" charset="0"/>
                <a:ea typeface="Inter" pitchFamily="34" charset="-122"/>
                <a:cs typeface="Inter" pitchFamily="34" charset="-120"/>
              </a:rPr>
              <a:t>ASYNC / BULK PATH</a:t>
            </a:r>
            <a:endParaRPr lang="en-US" sz="1200" dirty="0"/>
          </a:p>
        </p:txBody>
      </p:sp>
      <p:sp>
        <p:nvSpPr>
          <p:cNvPr id="40" name="Shape 38"/>
          <p:cNvSpPr/>
          <p:nvPr/>
        </p:nvSpPr>
        <p:spPr>
          <a:xfrm>
            <a:off x="548640" y="4553712"/>
            <a:ext cx="1280160" cy="685800"/>
          </a:xfrm>
          <a:prstGeom prst="rect">
            <a:avLst/>
          </a:prstGeom>
          <a:solidFill>
            <a:srgbClr val="FFFFFF"/>
          </a:solidFill>
          <a:ln w="12700">
            <a:solidFill>
              <a:srgbClr val="1B2A41"/>
            </a:solidFill>
            <a:prstDash val="solid"/>
          </a:ln>
        </p:spPr>
      </p:sp>
      <p:sp>
        <p:nvSpPr>
          <p:cNvPr id="41" name="Text 39"/>
          <p:cNvSpPr/>
          <p:nvPr/>
        </p:nvSpPr>
        <p:spPr>
          <a:xfrm>
            <a:off x="658368" y="4553712"/>
            <a:ext cx="106070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Bulk jobs</a:t>
            </a:r>
            <a:endParaRPr lang="en-US" sz="1400" dirty="0"/>
          </a:p>
        </p:txBody>
      </p:sp>
      <p:sp>
        <p:nvSpPr>
          <p:cNvPr id="42" name="Shape 40"/>
          <p:cNvSpPr/>
          <p:nvPr/>
        </p:nvSpPr>
        <p:spPr>
          <a:xfrm>
            <a:off x="1828800" y="4896612"/>
            <a:ext cx="274320" cy="0"/>
          </a:xfrm>
          <a:prstGeom prst="line">
            <a:avLst/>
          </a:prstGeom>
          <a:noFill/>
          <a:ln w="15875">
            <a:solidFill>
              <a:srgbClr val="5B6573"/>
            </a:solidFill>
            <a:prstDash val="solid"/>
            <a:tailEnd type="triangle"/>
          </a:ln>
        </p:spPr>
      </p:sp>
      <p:sp>
        <p:nvSpPr>
          <p:cNvPr id="43" name="Shape 41"/>
          <p:cNvSpPr/>
          <p:nvPr/>
        </p:nvSpPr>
        <p:spPr>
          <a:xfrm>
            <a:off x="2103120" y="4553712"/>
            <a:ext cx="1874520" cy="685800"/>
          </a:xfrm>
          <a:prstGeom prst="rect">
            <a:avLst/>
          </a:prstGeom>
          <a:solidFill>
            <a:srgbClr val="FFFFFF"/>
          </a:solidFill>
          <a:ln w="12700">
            <a:solidFill>
              <a:srgbClr val="1B2A41"/>
            </a:solidFill>
            <a:prstDash val="solid"/>
          </a:ln>
        </p:spPr>
      </p:sp>
      <p:sp>
        <p:nvSpPr>
          <p:cNvPr id="44" name="Text 42"/>
          <p:cNvSpPr/>
          <p:nvPr/>
        </p:nvSpPr>
        <p:spPr>
          <a:xfrm>
            <a:off x="2212848" y="4553712"/>
            <a:ext cx="165506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Async queue</a:t>
            </a:r>
            <a:endParaRPr lang="en-US" sz="1400" dirty="0"/>
          </a:p>
          <a:p>
            <a:pPr algn="l" indent="0" marL="0">
              <a:buNone/>
            </a:pPr>
            <a:r>
              <a:rPr lang="en-US" sz="1400" dirty="0">
                <a:solidFill>
                  <a:srgbClr val="5B6573"/>
                </a:solidFill>
                <a:latin typeface="Inter" pitchFamily="34" charset="0"/>
                <a:ea typeface="Inter" pitchFamily="34" charset="-122"/>
                <a:cs typeface="Inter" pitchFamily="34" charset="-120"/>
              </a:rPr>
              <a:t>Kafka · SQS · Redis</a:t>
            </a:r>
            <a:endParaRPr lang="en-US" sz="1400" dirty="0"/>
          </a:p>
        </p:txBody>
      </p:sp>
      <p:sp>
        <p:nvSpPr>
          <p:cNvPr id="45" name="Shape 43"/>
          <p:cNvSpPr/>
          <p:nvPr/>
        </p:nvSpPr>
        <p:spPr>
          <a:xfrm>
            <a:off x="3977640" y="4896612"/>
            <a:ext cx="274320" cy="0"/>
          </a:xfrm>
          <a:prstGeom prst="line">
            <a:avLst/>
          </a:prstGeom>
          <a:noFill/>
          <a:ln w="15875">
            <a:solidFill>
              <a:srgbClr val="5B6573"/>
            </a:solidFill>
            <a:prstDash val="solid"/>
            <a:tailEnd type="triangle"/>
          </a:ln>
        </p:spPr>
      </p:sp>
      <p:sp>
        <p:nvSpPr>
          <p:cNvPr id="46" name="Shape 44"/>
          <p:cNvSpPr/>
          <p:nvPr/>
        </p:nvSpPr>
        <p:spPr>
          <a:xfrm>
            <a:off x="4251960" y="4553712"/>
            <a:ext cx="1691640" cy="685800"/>
          </a:xfrm>
          <a:prstGeom prst="rect">
            <a:avLst/>
          </a:prstGeom>
          <a:solidFill>
            <a:srgbClr val="FFFFFF"/>
          </a:solidFill>
          <a:ln w="12700">
            <a:solidFill>
              <a:srgbClr val="1B2A41"/>
            </a:solidFill>
            <a:prstDash val="solid"/>
          </a:ln>
        </p:spPr>
      </p:sp>
      <p:sp>
        <p:nvSpPr>
          <p:cNvPr id="47" name="Text 45"/>
          <p:cNvSpPr/>
          <p:nvPr/>
        </p:nvSpPr>
        <p:spPr>
          <a:xfrm>
            <a:off x="4361688" y="4553712"/>
            <a:ext cx="147218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Batch workers</a:t>
            </a:r>
            <a:endParaRPr lang="en-US" sz="1400" dirty="0"/>
          </a:p>
        </p:txBody>
      </p:sp>
      <p:sp>
        <p:nvSpPr>
          <p:cNvPr id="48" name="Shape 46"/>
          <p:cNvSpPr/>
          <p:nvPr/>
        </p:nvSpPr>
        <p:spPr>
          <a:xfrm>
            <a:off x="5097780" y="3977640"/>
            <a:ext cx="0" cy="576072"/>
          </a:xfrm>
          <a:prstGeom prst="line">
            <a:avLst/>
          </a:prstGeom>
          <a:noFill/>
          <a:ln w="15875">
            <a:solidFill>
              <a:srgbClr val="5B6573"/>
            </a:solidFill>
            <a:prstDash val="solid"/>
            <a:headEnd type="triangle"/>
          </a:ln>
        </p:spPr>
      </p:sp>
      <p:sp>
        <p:nvSpPr>
          <p:cNvPr id="49" name="Text 47"/>
          <p:cNvSpPr/>
          <p:nvPr/>
        </p:nvSpPr>
        <p:spPr>
          <a:xfrm>
            <a:off x="6400800" y="4572000"/>
            <a:ext cx="5239512" cy="685800"/>
          </a:xfrm>
          <a:prstGeom prst="rect">
            <a:avLst/>
          </a:prstGeom>
          <a:noFill/>
          <a:ln/>
        </p:spPr>
        <p:txBody>
          <a:bodyPr wrap="square" lIns="0" tIns="0" rIns="0" bIns="0" rtlCol="0" anchor="ctr"/>
          <a:lstStyle/>
          <a:p>
            <a:pPr indent="0" marL="0">
              <a:buNone/>
            </a:pPr>
            <a:r>
              <a:rPr lang="en-US" sz="1400" dirty="0">
                <a:solidFill>
                  <a:srgbClr val="5B6573"/>
                </a:solidFill>
                <a:latin typeface="Inter" pitchFamily="34" charset="0"/>
                <a:ea typeface="Inter" pitchFamily="34" charset="-122"/>
                <a:cs typeface="Inter" pitchFamily="34" charset="-120"/>
              </a:rPr>
              <a:t>H100 added at Phase 3 (dashed); until then &gt;16K runs chunked on L40S</a:t>
            </a:r>
            <a:endParaRPr lang="en-US" sz="1400" dirty="0"/>
          </a:p>
        </p:txBody>
      </p:sp>
      <p:sp>
        <p:nvSpPr>
          <p:cNvPr id="50" name="Shape 48"/>
          <p:cNvSpPr/>
          <p:nvPr/>
        </p:nvSpPr>
        <p:spPr>
          <a:xfrm>
            <a:off x="548640" y="5532120"/>
            <a:ext cx="11094415" cy="777240"/>
          </a:xfrm>
          <a:prstGeom prst="rect">
            <a:avLst/>
          </a:prstGeom>
          <a:solidFill>
            <a:srgbClr val="F3F5F8"/>
          </a:solidFill>
          <a:ln w="12700">
            <a:solidFill>
              <a:srgbClr val="F3F5F8"/>
            </a:solidFill>
            <a:prstDash val="solid"/>
          </a:ln>
        </p:spPr>
      </p:sp>
      <p:sp>
        <p:nvSpPr>
          <p:cNvPr id="51" name="Text 49"/>
          <p:cNvSpPr/>
          <p:nvPr/>
        </p:nvSpPr>
        <p:spPr>
          <a:xfrm>
            <a:off x="777240" y="5532120"/>
            <a:ext cx="3200400" cy="777240"/>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Model registry &amp; rollout</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Versions · shadow · canary</a:t>
            </a:r>
            <a:endParaRPr lang="en-US" sz="1400" dirty="0"/>
          </a:p>
        </p:txBody>
      </p:sp>
      <p:sp>
        <p:nvSpPr>
          <p:cNvPr id="52" name="Shape 50"/>
          <p:cNvSpPr/>
          <p:nvPr/>
        </p:nvSpPr>
        <p:spPr>
          <a:xfrm>
            <a:off x="4114800" y="5660136"/>
            <a:ext cx="0" cy="521208"/>
          </a:xfrm>
          <a:prstGeom prst="line">
            <a:avLst/>
          </a:prstGeom>
          <a:noFill/>
          <a:ln w="12700">
            <a:solidFill>
              <a:srgbClr val="D5DAE1"/>
            </a:solidFill>
            <a:prstDash val="solid"/>
          </a:ln>
        </p:spPr>
      </p:sp>
      <p:sp>
        <p:nvSpPr>
          <p:cNvPr id="53" name="Text 51"/>
          <p:cNvSpPr/>
          <p:nvPr/>
        </p:nvSpPr>
        <p:spPr>
          <a:xfrm>
            <a:off x="4343400" y="5532120"/>
            <a:ext cx="7162495" cy="777240"/>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Observability</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Decisions/s · p50/p99 per bucket · GPU util · queue depth · recompiles = 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05</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Scale out: add single-GPU replicas per bucket</a:t>
            </a:r>
            <a:endParaRPr lang="en-US" sz="2800" dirty="0"/>
          </a:p>
        </p:txBody>
      </p:sp>
      <p:sp>
        <p:nvSpPr>
          <p:cNvPr id="6" name="Text 4"/>
          <p:cNvSpPr/>
          <p:nvPr/>
        </p:nvSpPr>
        <p:spPr>
          <a:xfrm>
            <a:off x="548640" y="1737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1</a:t>
            </a:r>
            <a:endParaRPr lang="en-US" sz="2800" dirty="0"/>
          </a:p>
        </p:txBody>
      </p:sp>
      <p:sp>
        <p:nvSpPr>
          <p:cNvPr id="7" name="Text 5"/>
          <p:cNvSpPr/>
          <p:nvPr/>
        </p:nvSpPr>
        <p:spPr>
          <a:xfrm>
            <a:off x="1097280" y="1755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Independent TP1 replicas</a:t>
            </a:r>
            <a:endParaRPr lang="en-US" sz="1700" dirty="0"/>
          </a:p>
        </p:txBody>
      </p:sp>
      <p:sp>
        <p:nvSpPr>
          <p:cNvPr id="8" name="Text 6"/>
          <p:cNvSpPr/>
          <p:nvPr/>
        </p:nvSpPr>
        <p:spPr>
          <a:xfrm>
            <a:off x="1097280" y="2121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N single-GPU copies per bucket; no cross-GPU traffic</a:t>
            </a:r>
            <a:endParaRPr lang="en-US" sz="1400" dirty="0"/>
          </a:p>
        </p:txBody>
      </p:sp>
      <p:sp>
        <p:nvSpPr>
          <p:cNvPr id="9" name="Text 7"/>
          <p:cNvSpPr/>
          <p:nvPr/>
        </p:nvSpPr>
        <p:spPr>
          <a:xfrm>
            <a:off x="548640" y="2880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2</a:t>
            </a:r>
            <a:endParaRPr lang="en-US" sz="2800" dirty="0"/>
          </a:p>
        </p:txBody>
      </p:sp>
      <p:sp>
        <p:nvSpPr>
          <p:cNvPr id="10" name="Text 8"/>
          <p:cNvSpPr/>
          <p:nvPr/>
        </p:nvSpPr>
        <p:spPr>
          <a:xfrm>
            <a:off x="1097280" y="2898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Autoscale per bucket</a:t>
            </a:r>
            <a:endParaRPr lang="en-US" sz="1700" dirty="0"/>
          </a:p>
        </p:txBody>
      </p:sp>
      <p:sp>
        <p:nvSpPr>
          <p:cNvPr id="11" name="Text 9"/>
          <p:cNvSpPr/>
          <p:nvPr/>
        </p:nvSpPr>
        <p:spPr>
          <a:xfrm>
            <a:off x="1097280" y="3264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Queue depth + p99 · KServe / Ray Serve / HPA</a:t>
            </a:r>
            <a:endParaRPr lang="en-US" sz="1400" dirty="0"/>
          </a:p>
        </p:txBody>
      </p:sp>
      <p:sp>
        <p:nvSpPr>
          <p:cNvPr id="12" name="Text 10"/>
          <p:cNvSpPr/>
          <p:nvPr/>
        </p:nvSpPr>
        <p:spPr>
          <a:xfrm>
            <a:off x="548640" y="4023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3</a:t>
            </a:r>
            <a:endParaRPr lang="en-US" sz="2800" dirty="0"/>
          </a:p>
        </p:txBody>
      </p:sp>
      <p:sp>
        <p:nvSpPr>
          <p:cNvPr id="13" name="Text 11"/>
          <p:cNvSpPr/>
          <p:nvPr/>
        </p:nvSpPr>
        <p:spPr>
          <a:xfrm>
            <a:off x="1097280" y="4041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Micro-batch within a bucket</a:t>
            </a:r>
            <a:endParaRPr lang="en-US" sz="1700" dirty="0"/>
          </a:p>
        </p:txBody>
      </p:sp>
      <p:sp>
        <p:nvSpPr>
          <p:cNvPr id="14" name="Text 12"/>
          <p:cNvSpPr/>
          <p:nvPr/>
        </p:nvSpPr>
        <p:spPr>
          <a:xfrm>
            <a:off x="1097280" y="4407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Same padded length, one pass; biggest gain when short</a:t>
            </a:r>
            <a:endParaRPr lang="en-US" sz="1400" dirty="0"/>
          </a:p>
        </p:txBody>
      </p:sp>
      <p:sp>
        <p:nvSpPr>
          <p:cNvPr id="15" name="Text 13"/>
          <p:cNvSpPr/>
          <p:nvPr/>
        </p:nvSpPr>
        <p:spPr>
          <a:xfrm>
            <a:off x="548640" y="5166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4</a:t>
            </a:r>
            <a:endParaRPr lang="en-US" sz="2800" dirty="0"/>
          </a:p>
        </p:txBody>
      </p:sp>
      <p:sp>
        <p:nvSpPr>
          <p:cNvPr id="16" name="Text 14"/>
          <p:cNvSpPr/>
          <p:nvPr/>
        </p:nvSpPr>
        <p:spPr>
          <a:xfrm>
            <a:off x="1097280" y="5184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Bucket and pad</a:t>
            </a:r>
            <a:endParaRPr lang="en-US" sz="1700" dirty="0"/>
          </a:p>
        </p:txBody>
      </p:sp>
      <p:sp>
        <p:nvSpPr>
          <p:cNvPr id="17" name="Text 15"/>
          <p:cNvSpPr/>
          <p:nvPr/>
        </p:nvSpPr>
        <p:spPr>
          <a:xfrm>
            <a:off x="1097280" y="5550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Fewer buckets = fewer compiles, more padding waste</a:t>
            </a:r>
            <a:endParaRPr lang="en-US" sz="1400" dirty="0"/>
          </a:p>
        </p:txBody>
      </p:sp>
      <p:sp>
        <p:nvSpPr>
          <p:cNvPr id="18" name="Shape 16"/>
          <p:cNvSpPr/>
          <p:nvPr/>
        </p:nvSpPr>
        <p:spPr>
          <a:xfrm>
            <a:off x="5852160" y="1691640"/>
            <a:ext cx="0" cy="4572000"/>
          </a:xfrm>
          <a:prstGeom prst="line">
            <a:avLst/>
          </a:prstGeom>
          <a:noFill/>
          <a:ln w="12700">
            <a:solidFill>
              <a:srgbClr val="D5DAE1"/>
            </a:solidFill>
            <a:prstDash val="solid"/>
          </a:ln>
        </p:spPr>
      </p:sp>
      <p:sp>
        <p:nvSpPr>
          <p:cNvPr id="19" name="Text 17"/>
          <p:cNvSpPr/>
          <p:nvPr/>
        </p:nvSpPr>
        <p:spPr>
          <a:xfrm>
            <a:off x="6172200" y="1691640"/>
            <a:ext cx="5470855"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DECISIONS/S PER GPU · ESTIMATES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72200" y="2103120"/>
          <a:ext cx="5470855" cy="914400"/>
        </p:xfrm>
        <a:graphic>
          <a:graphicData uri="http://schemas.openxmlformats.org/drawingml/2006/table">
            <a:tbl>
              <a:tblPr/>
              <a:tblGrid>
                <a:gridCol w="1143000"/>
                <a:gridCol w="1600200"/>
                <a:gridCol w="1371600"/>
                <a:gridCol w="1356055"/>
              </a:tblGrid>
              <a:tr h="621792">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Bucket</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PFLOP / decision</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L40S FP8</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H100 BF16</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≤4K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~0.04</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~7</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≤16K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~0.18</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≤32K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~0.44</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8A94A3"/>
                          </a:solidFill>
                          <a:latin typeface="Inter" pitchFamily="34" charset="0"/>
                          <a:ea typeface="Inter" pitchFamily="34" charset="-122"/>
                          <a:cs typeface="Inter" pitchFamily="34" charset="-120"/>
                        </a:rPr>
                        <a:t>chunked</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~0.9</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≤64K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8A94A3"/>
                          </a:solidFill>
                          <a:latin typeface="Inter" pitchFamily="34" charset="0"/>
                          <a:ea typeface="Inter" pitchFamily="34" charset="-122"/>
                          <a:cs typeface="Inter" pitchFamily="34" charset="-120"/>
                        </a:rPr>
                        <a:t>chunked</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1" name="Text 18"/>
          <p:cNvSpPr/>
          <p:nvPr/>
        </p:nvSpPr>
        <p:spPr>
          <a:xfrm>
            <a:off x="6172200" y="5394960"/>
            <a:ext cx="5470855" cy="82296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Padded to bucket ceiling · ~40% of dense peak (assumed) · one pass per decision · replace with Phase 0 measurements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06</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What each GPU can run — and at what context window</a:t>
            </a:r>
            <a:endParaRPr lang="en-US" sz="2800" dirty="0"/>
          </a:p>
        </p:txBody>
      </p:sp>
      <p:sp>
        <p:nvSpPr>
          <p:cNvPr id="6" name="Text 4"/>
          <p:cNvSpPr/>
          <p:nvPr/>
        </p:nvSpPr>
        <p:spPr>
          <a:xfrm>
            <a:off x="3108960" y="148132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V100</a:t>
            </a:r>
            <a:endParaRPr lang="en-US" sz="2200" dirty="0"/>
          </a:p>
        </p:txBody>
      </p:sp>
      <p:sp>
        <p:nvSpPr>
          <p:cNvPr id="7" name="Text 5"/>
          <p:cNvSpPr/>
          <p:nvPr/>
        </p:nvSpPr>
        <p:spPr>
          <a:xfrm>
            <a:off x="4206240" y="155448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32 GB · SM70</a:t>
            </a:r>
            <a:endParaRPr lang="en-US" sz="1400" dirty="0"/>
          </a:p>
        </p:txBody>
      </p:sp>
      <p:sp>
        <p:nvSpPr>
          <p:cNvPr id="8" name="Shape 6"/>
          <p:cNvSpPr/>
          <p:nvPr/>
        </p:nvSpPr>
        <p:spPr>
          <a:xfrm>
            <a:off x="5879592" y="1417320"/>
            <a:ext cx="2862072" cy="4526280"/>
          </a:xfrm>
          <a:prstGeom prst="rect">
            <a:avLst/>
          </a:prstGeom>
          <a:solidFill>
            <a:srgbClr val="E3F1F2"/>
          </a:solidFill>
          <a:ln w="12700">
            <a:solidFill>
              <a:srgbClr val="E3F1F2"/>
            </a:solidFill>
            <a:prstDash val="solid"/>
          </a:ln>
        </p:spPr>
      </p:sp>
      <p:sp>
        <p:nvSpPr>
          <p:cNvPr id="9" name="Text 7"/>
          <p:cNvSpPr/>
          <p:nvPr/>
        </p:nvSpPr>
        <p:spPr>
          <a:xfrm>
            <a:off x="5989320" y="148132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L40S</a:t>
            </a:r>
            <a:endParaRPr lang="en-US" sz="2200" dirty="0"/>
          </a:p>
        </p:txBody>
      </p:sp>
      <p:sp>
        <p:nvSpPr>
          <p:cNvPr id="10" name="Text 8"/>
          <p:cNvSpPr/>
          <p:nvPr/>
        </p:nvSpPr>
        <p:spPr>
          <a:xfrm>
            <a:off x="7086600" y="155448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Ada · SM89</a:t>
            </a:r>
            <a:endParaRPr lang="en-US" sz="1400" dirty="0"/>
          </a:p>
        </p:txBody>
      </p:sp>
      <p:sp>
        <p:nvSpPr>
          <p:cNvPr id="11" name="Text 9"/>
          <p:cNvSpPr/>
          <p:nvPr/>
        </p:nvSpPr>
        <p:spPr>
          <a:xfrm>
            <a:off x="8869680" y="148132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H100</a:t>
            </a:r>
            <a:endParaRPr lang="en-US" sz="2200" dirty="0"/>
          </a:p>
        </p:txBody>
      </p:sp>
      <p:sp>
        <p:nvSpPr>
          <p:cNvPr id="12" name="Text 10"/>
          <p:cNvSpPr/>
          <p:nvPr/>
        </p:nvSpPr>
        <p:spPr>
          <a:xfrm>
            <a:off x="9966960" y="155448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Hopper · SM90</a:t>
            </a:r>
            <a:endParaRPr lang="en-US" sz="1400" dirty="0"/>
          </a:p>
        </p:txBody>
      </p:sp>
      <p:sp>
        <p:nvSpPr>
          <p:cNvPr id="13" name="Shape 11"/>
          <p:cNvSpPr/>
          <p:nvPr/>
        </p:nvSpPr>
        <p:spPr>
          <a:xfrm>
            <a:off x="548640" y="1993392"/>
            <a:ext cx="11094415" cy="0"/>
          </a:xfrm>
          <a:prstGeom prst="line">
            <a:avLst/>
          </a:prstGeom>
          <a:noFill/>
          <a:ln w="9525">
            <a:solidFill>
              <a:srgbClr val="D5DAE1"/>
            </a:solidFill>
            <a:prstDash val="solid"/>
          </a:ln>
        </p:spPr>
      </p:sp>
      <p:sp>
        <p:nvSpPr>
          <p:cNvPr id="14" name="Text 12"/>
          <p:cNvSpPr/>
          <p:nvPr/>
        </p:nvSpPr>
        <p:spPr>
          <a:xfrm>
            <a:off x="548640" y="2103120"/>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Memory</a:t>
            </a:r>
            <a:endParaRPr lang="en-US" sz="1400" dirty="0"/>
          </a:p>
        </p:txBody>
      </p:sp>
      <p:sp>
        <p:nvSpPr>
          <p:cNvPr id="15" name="Shape 13"/>
          <p:cNvSpPr/>
          <p:nvPr/>
        </p:nvSpPr>
        <p:spPr>
          <a:xfrm>
            <a:off x="3108960" y="2157984"/>
            <a:ext cx="155448" cy="155448"/>
          </a:xfrm>
          <a:prstGeom prst="ellipse">
            <a:avLst/>
          </a:prstGeom>
          <a:solidFill>
            <a:srgbClr val="D99A00"/>
          </a:solidFill>
          <a:ln w="12700">
            <a:solidFill>
              <a:srgbClr val="D99A00"/>
            </a:solidFill>
            <a:prstDash val="solid"/>
          </a:ln>
        </p:spPr>
      </p:sp>
      <p:sp>
        <p:nvSpPr>
          <p:cNvPr id="16" name="Text 14"/>
          <p:cNvSpPr/>
          <p:nvPr/>
        </p:nvSpPr>
        <p:spPr>
          <a:xfrm>
            <a:off x="3364992" y="209397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32 GB HBM2 · 900 GB/s</a:t>
            </a:r>
            <a:endParaRPr lang="en-US" sz="1400" dirty="0"/>
          </a:p>
        </p:txBody>
      </p:sp>
      <p:sp>
        <p:nvSpPr>
          <p:cNvPr id="17" name="Shape 15"/>
          <p:cNvSpPr/>
          <p:nvPr/>
        </p:nvSpPr>
        <p:spPr>
          <a:xfrm>
            <a:off x="5989320" y="2157984"/>
            <a:ext cx="155448" cy="155448"/>
          </a:xfrm>
          <a:prstGeom prst="ellipse">
            <a:avLst/>
          </a:prstGeom>
          <a:solidFill>
            <a:srgbClr val="2E9E5B"/>
          </a:solidFill>
          <a:ln w="12700">
            <a:solidFill>
              <a:srgbClr val="2E9E5B"/>
            </a:solidFill>
            <a:prstDash val="solid"/>
          </a:ln>
        </p:spPr>
      </p:sp>
      <p:sp>
        <p:nvSpPr>
          <p:cNvPr id="18" name="Text 16"/>
          <p:cNvSpPr/>
          <p:nvPr/>
        </p:nvSpPr>
        <p:spPr>
          <a:xfrm>
            <a:off x="6245352" y="209397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48 GB GDDR6 · 864 GB/s</a:t>
            </a:r>
            <a:endParaRPr lang="en-US" sz="1400" dirty="0"/>
          </a:p>
        </p:txBody>
      </p:sp>
      <p:sp>
        <p:nvSpPr>
          <p:cNvPr id="19" name="Shape 17"/>
          <p:cNvSpPr/>
          <p:nvPr/>
        </p:nvSpPr>
        <p:spPr>
          <a:xfrm>
            <a:off x="8869680" y="2157984"/>
            <a:ext cx="155448" cy="155448"/>
          </a:xfrm>
          <a:prstGeom prst="ellipse">
            <a:avLst/>
          </a:prstGeom>
          <a:solidFill>
            <a:srgbClr val="2E9E5B"/>
          </a:solidFill>
          <a:ln w="12700">
            <a:solidFill>
              <a:srgbClr val="2E9E5B"/>
            </a:solidFill>
            <a:prstDash val="solid"/>
          </a:ln>
        </p:spPr>
      </p:sp>
      <p:sp>
        <p:nvSpPr>
          <p:cNvPr id="20" name="Text 18"/>
          <p:cNvSpPr/>
          <p:nvPr/>
        </p:nvSpPr>
        <p:spPr>
          <a:xfrm>
            <a:off x="9125712" y="209397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80 GB HBM3 · 3.35 TB/s</a:t>
            </a:r>
            <a:endParaRPr lang="en-US" sz="1400" dirty="0"/>
          </a:p>
        </p:txBody>
      </p:sp>
      <p:sp>
        <p:nvSpPr>
          <p:cNvPr id="21" name="Shape 19"/>
          <p:cNvSpPr/>
          <p:nvPr/>
        </p:nvSpPr>
        <p:spPr>
          <a:xfrm>
            <a:off x="548640" y="2478024"/>
            <a:ext cx="11094415" cy="0"/>
          </a:xfrm>
          <a:prstGeom prst="line">
            <a:avLst/>
          </a:prstGeom>
          <a:noFill/>
          <a:ln w="9525">
            <a:solidFill>
              <a:srgbClr val="D5DAE1"/>
            </a:solidFill>
            <a:prstDash val="solid"/>
          </a:ln>
        </p:spPr>
      </p:sp>
      <p:sp>
        <p:nvSpPr>
          <p:cNvPr id="22" name="Text 20"/>
          <p:cNvSpPr/>
          <p:nvPr/>
        </p:nvSpPr>
        <p:spPr>
          <a:xfrm>
            <a:off x="548640" y="2587752"/>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Precision</a:t>
            </a:r>
            <a:endParaRPr lang="en-US" sz="1400" dirty="0"/>
          </a:p>
        </p:txBody>
      </p:sp>
      <p:sp>
        <p:nvSpPr>
          <p:cNvPr id="23" name="Shape 21"/>
          <p:cNvSpPr/>
          <p:nvPr/>
        </p:nvSpPr>
        <p:spPr>
          <a:xfrm>
            <a:off x="3108960" y="2642616"/>
            <a:ext cx="155448" cy="155448"/>
          </a:xfrm>
          <a:prstGeom prst="ellipse">
            <a:avLst/>
          </a:prstGeom>
          <a:solidFill>
            <a:srgbClr val="D99A00"/>
          </a:solidFill>
          <a:ln w="12700">
            <a:solidFill>
              <a:srgbClr val="D99A00"/>
            </a:solidFill>
            <a:prstDash val="solid"/>
          </a:ln>
        </p:spPr>
      </p:sp>
      <p:sp>
        <p:nvSpPr>
          <p:cNvPr id="24" name="Text 22"/>
          <p:cNvSpPr/>
          <p:nvPr/>
        </p:nvSpPr>
        <p:spPr>
          <a:xfrm>
            <a:off x="3364992" y="257860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FP16 only — no BF16/FP8</a:t>
            </a:r>
            <a:endParaRPr lang="en-US" sz="1400" dirty="0"/>
          </a:p>
        </p:txBody>
      </p:sp>
      <p:sp>
        <p:nvSpPr>
          <p:cNvPr id="25" name="Shape 23"/>
          <p:cNvSpPr/>
          <p:nvPr/>
        </p:nvSpPr>
        <p:spPr>
          <a:xfrm>
            <a:off x="5989320" y="2642616"/>
            <a:ext cx="155448" cy="155448"/>
          </a:xfrm>
          <a:prstGeom prst="ellipse">
            <a:avLst/>
          </a:prstGeom>
          <a:solidFill>
            <a:srgbClr val="2E9E5B"/>
          </a:solidFill>
          <a:ln w="12700">
            <a:solidFill>
              <a:srgbClr val="2E9E5B"/>
            </a:solidFill>
            <a:prstDash val="solid"/>
          </a:ln>
        </p:spPr>
      </p:sp>
      <p:sp>
        <p:nvSpPr>
          <p:cNvPr id="26" name="Text 24"/>
          <p:cNvSpPr/>
          <p:nvPr/>
        </p:nvSpPr>
        <p:spPr>
          <a:xfrm>
            <a:off x="6245352" y="257860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BF16 · FP16</a:t>
            </a:r>
            <a:endParaRPr lang="en-US" sz="1400" dirty="0"/>
          </a:p>
        </p:txBody>
      </p:sp>
      <p:sp>
        <p:nvSpPr>
          <p:cNvPr id="27" name="Shape 25"/>
          <p:cNvSpPr/>
          <p:nvPr/>
        </p:nvSpPr>
        <p:spPr>
          <a:xfrm>
            <a:off x="8869680" y="2642616"/>
            <a:ext cx="155448" cy="155448"/>
          </a:xfrm>
          <a:prstGeom prst="ellipse">
            <a:avLst/>
          </a:prstGeom>
          <a:solidFill>
            <a:srgbClr val="2E9E5B"/>
          </a:solidFill>
          <a:ln w="12700">
            <a:solidFill>
              <a:srgbClr val="2E9E5B"/>
            </a:solidFill>
            <a:prstDash val="solid"/>
          </a:ln>
        </p:spPr>
      </p:sp>
      <p:sp>
        <p:nvSpPr>
          <p:cNvPr id="28" name="Text 26"/>
          <p:cNvSpPr/>
          <p:nvPr/>
        </p:nvSpPr>
        <p:spPr>
          <a:xfrm>
            <a:off x="9125712" y="257860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BF16 · FP16</a:t>
            </a:r>
            <a:endParaRPr lang="en-US" sz="1400" dirty="0"/>
          </a:p>
        </p:txBody>
      </p:sp>
      <p:sp>
        <p:nvSpPr>
          <p:cNvPr id="29" name="Shape 27"/>
          <p:cNvSpPr/>
          <p:nvPr/>
        </p:nvSpPr>
        <p:spPr>
          <a:xfrm>
            <a:off x="548640" y="2962656"/>
            <a:ext cx="11094415" cy="0"/>
          </a:xfrm>
          <a:prstGeom prst="line">
            <a:avLst/>
          </a:prstGeom>
          <a:noFill/>
          <a:ln w="9525">
            <a:solidFill>
              <a:srgbClr val="D5DAE1"/>
            </a:solidFill>
            <a:prstDash val="solid"/>
          </a:ln>
        </p:spPr>
      </p:sp>
      <p:sp>
        <p:nvSpPr>
          <p:cNvPr id="30" name="Text 28"/>
          <p:cNvSpPr/>
          <p:nvPr/>
        </p:nvSpPr>
        <p:spPr>
          <a:xfrm>
            <a:off x="548640" y="3072384"/>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Attention kernels</a:t>
            </a:r>
            <a:endParaRPr lang="en-US" sz="1400" dirty="0"/>
          </a:p>
        </p:txBody>
      </p:sp>
      <p:sp>
        <p:nvSpPr>
          <p:cNvPr id="31" name="Shape 29"/>
          <p:cNvSpPr/>
          <p:nvPr/>
        </p:nvSpPr>
        <p:spPr>
          <a:xfrm>
            <a:off x="3108960" y="3127248"/>
            <a:ext cx="155448" cy="155448"/>
          </a:xfrm>
          <a:prstGeom prst="ellipse">
            <a:avLst/>
          </a:prstGeom>
          <a:solidFill>
            <a:srgbClr val="D99A00"/>
          </a:solidFill>
          <a:ln w="12700">
            <a:solidFill>
              <a:srgbClr val="D99A00"/>
            </a:solidFill>
            <a:prstDash val="solid"/>
          </a:ln>
        </p:spPr>
      </p:sp>
      <p:sp>
        <p:nvSpPr>
          <p:cNvPr id="32" name="Text 30"/>
          <p:cNvSpPr/>
          <p:nvPr/>
        </p:nvSpPr>
        <p:spPr>
          <a:xfrm>
            <a:off x="3364992" y="306324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SDPA · xFormers — no FA2</a:t>
            </a:r>
            <a:endParaRPr lang="en-US" sz="1400" dirty="0"/>
          </a:p>
        </p:txBody>
      </p:sp>
      <p:sp>
        <p:nvSpPr>
          <p:cNvPr id="33" name="Shape 31"/>
          <p:cNvSpPr/>
          <p:nvPr/>
        </p:nvSpPr>
        <p:spPr>
          <a:xfrm>
            <a:off x="5989320" y="3127248"/>
            <a:ext cx="155448" cy="155448"/>
          </a:xfrm>
          <a:prstGeom prst="ellipse">
            <a:avLst/>
          </a:prstGeom>
          <a:solidFill>
            <a:srgbClr val="2E9E5B"/>
          </a:solidFill>
          <a:ln w="12700">
            <a:solidFill>
              <a:srgbClr val="2E9E5B"/>
            </a:solidFill>
            <a:prstDash val="solid"/>
          </a:ln>
        </p:spPr>
      </p:sp>
      <p:sp>
        <p:nvSpPr>
          <p:cNvPr id="34" name="Text 32"/>
          <p:cNvSpPr/>
          <p:nvPr/>
        </p:nvSpPr>
        <p:spPr>
          <a:xfrm>
            <a:off x="6245352" y="306324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FA2 · flex_attention</a:t>
            </a:r>
            <a:endParaRPr lang="en-US" sz="1400" dirty="0"/>
          </a:p>
        </p:txBody>
      </p:sp>
      <p:sp>
        <p:nvSpPr>
          <p:cNvPr id="35" name="Shape 33"/>
          <p:cNvSpPr/>
          <p:nvPr/>
        </p:nvSpPr>
        <p:spPr>
          <a:xfrm>
            <a:off x="8869680" y="3127248"/>
            <a:ext cx="155448" cy="155448"/>
          </a:xfrm>
          <a:prstGeom prst="ellipse">
            <a:avLst/>
          </a:prstGeom>
          <a:solidFill>
            <a:srgbClr val="2E9E5B"/>
          </a:solidFill>
          <a:ln w="12700">
            <a:solidFill>
              <a:srgbClr val="2E9E5B"/>
            </a:solidFill>
            <a:prstDash val="solid"/>
          </a:ln>
        </p:spPr>
      </p:sp>
      <p:sp>
        <p:nvSpPr>
          <p:cNvPr id="36" name="Text 34"/>
          <p:cNvSpPr/>
          <p:nvPr/>
        </p:nvSpPr>
        <p:spPr>
          <a:xfrm>
            <a:off x="9125712" y="306324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FA2/FA3 · flex_attention</a:t>
            </a:r>
            <a:endParaRPr lang="en-US" sz="1400" dirty="0"/>
          </a:p>
        </p:txBody>
      </p:sp>
      <p:sp>
        <p:nvSpPr>
          <p:cNvPr id="37" name="Shape 35"/>
          <p:cNvSpPr/>
          <p:nvPr/>
        </p:nvSpPr>
        <p:spPr>
          <a:xfrm>
            <a:off x="548640" y="3447288"/>
            <a:ext cx="11094415" cy="0"/>
          </a:xfrm>
          <a:prstGeom prst="line">
            <a:avLst/>
          </a:prstGeom>
          <a:noFill/>
          <a:ln w="9525">
            <a:solidFill>
              <a:srgbClr val="D5DAE1"/>
            </a:solidFill>
            <a:prstDash val="solid"/>
          </a:ln>
        </p:spPr>
      </p:sp>
      <p:sp>
        <p:nvSpPr>
          <p:cNvPr id="38" name="Text 36"/>
          <p:cNvSpPr/>
          <p:nvPr/>
        </p:nvSpPr>
        <p:spPr>
          <a:xfrm>
            <a:off x="548640" y="3557016"/>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Dense compute</a:t>
            </a:r>
            <a:endParaRPr lang="en-US" sz="1400" dirty="0"/>
          </a:p>
        </p:txBody>
      </p:sp>
      <p:sp>
        <p:nvSpPr>
          <p:cNvPr id="39" name="Shape 37"/>
          <p:cNvSpPr/>
          <p:nvPr/>
        </p:nvSpPr>
        <p:spPr>
          <a:xfrm>
            <a:off x="3108960" y="3611880"/>
            <a:ext cx="155448" cy="155448"/>
          </a:xfrm>
          <a:prstGeom prst="ellipse">
            <a:avLst/>
          </a:prstGeom>
          <a:solidFill>
            <a:srgbClr val="D99A00"/>
          </a:solidFill>
          <a:ln w="12700">
            <a:solidFill>
              <a:srgbClr val="D99A00"/>
            </a:solidFill>
            <a:prstDash val="solid"/>
          </a:ln>
        </p:spPr>
      </p:sp>
      <p:sp>
        <p:nvSpPr>
          <p:cNvPr id="40" name="Text 38"/>
          <p:cNvSpPr/>
          <p:nvPr/>
        </p:nvSpPr>
        <p:spPr>
          <a:xfrm>
            <a:off x="3364992" y="35478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125 TFLOPS FP16</a:t>
            </a:r>
            <a:endParaRPr lang="en-US" sz="1400" dirty="0"/>
          </a:p>
        </p:txBody>
      </p:sp>
      <p:sp>
        <p:nvSpPr>
          <p:cNvPr id="41" name="Shape 39"/>
          <p:cNvSpPr/>
          <p:nvPr/>
        </p:nvSpPr>
        <p:spPr>
          <a:xfrm>
            <a:off x="5989320" y="3611880"/>
            <a:ext cx="155448" cy="155448"/>
          </a:xfrm>
          <a:prstGeom prst="ellipse">
            <a:avLst/>
          </a:prstGeom>
          <a:solidFill>
            <a:srgbClr val="D99A00"/>
          </a:solidFill>
          <a:ln w="12700">
            <a:solidFill>
              <a:srgbClr val="D99A00"/>
            </a:solidFill>
            <a:prstDash val="solid"/>
          </a:ln>
        </p:spPr>
      </p:sp>
      <p:sp>
        <p:nvSpPr>
          <p:cNvPr id="42" name="Text 40"/>
          <p:cNvSpPr/>
          <p:nvPr/>
        </p:nvSpPr>
        <p:spPr>
          <a:xfrm>
            <a:off x="6245352" y="35478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~733 TFLOPS FP8</a:t>
            </a:r>
            <a:endParaRPr lang="en-US" sz="1400" dirty="0"/>
          </a:p>
        </p:txBody>
      </p:sp>
      <p:sp>
        <p:nvSpPr>
          <p:cNvPr id="43" name="Shape 41"/>
          <p:cNvSpPr/>
          <p:nvPr/>
        </p:nvSpPr>
        <p:spPr>
          <a:xfrm>
            <a:off x="8869680" y="3611880"/>
            <a:ext cx="155448" cy="155448"/>
          </a:xfrm>
          <a:prstGeom prst="ellipse">
            <a:avLst/>
          </a:prstGeom>
          <a:solidFill>
            <a:srgbClr val="2E9E5B"/>
          </a:solidFill>
          <a:ln w="12700">
            <a:solidFill>
              <a:srgbClr val="2E9E5B"/>
            </a:solidFill>
            <a:prstDash val="solid"/>
          </a:ln>
        </p:spPr>
      </p:sp>
      <p:sp>
        <p:nvSpPr>
          <p:cNvPr id="44" name="Text 42"/>
          <p:cNvSpPr/>
          <p:nvPr/>
        </p:nvSpPr>
        <p:spPr>
          <a:xfrm>
            <a:off x="9125712" y="35478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~1,979 TFLOPS FP8</a:t>
            </a:r>
            <a:endParaRPr lang="en-US" sz="1400" dirty="0"/>
          </a:p>
        </p:txBody>
      </p:sp>
      <p:sp>
        <p:nvSpPr>
          <p:cNvPr id="45" name="Shape 43"/>
          <p:cNvSpPr/>
          <p:nvPr/>
        </p:nvSpPr>
        <p:spPr>
          <a:xfrm>
            <a:off x="548640" y="3931920"/>
            <a:ext cx="11094415" cy="0"/>
          </a:xfrm>
          <a:prstGeom prst="line">
            <a:avLst/>
          </a:prstGeom>
          <a:noFill/>
          <a:ln w="9525">
            <a:solidFill>
              <a:srgbClr val="D5DAE1"/>
            </a:solidFill>
            <a:prstDash val="solid"/>
          </a:ln>
        </p:spPr>
      </p:sp>
      <p:sp>
        <p:nvSpPr>
          <p:cNvPr id="46" name="Text 44"/>
          <p:cNvSpPr/>
          <p:nvPr/>
        </p:nvSpPr>
        <p:spPr>
          <a:xfrm>
            <a:off x="548640" y="4041648"/>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Jev-26B-A4B</a:t>
            </a:r>
            <a:endParaRPr lang="en-US" sz="1400" dirty="0"/>
          </a:p>
        </p:txBody>
      </p:sp>
      <p:sp>
        <p:nvSpPr>
          <p:cNvPr id="47" name="Shape 45"/>
          <p:cNvSpPr/>
          <p:nvPr/>
        </p:nvSpPr>
        <p:spPr>
          <a:xfrm>
            <a:off x="3108960" y="4096512"/>
            <a:ext cx="155448" cy="155448"/>
          </a:xfrm>
          <a:prstGeom prst="ellipse">
            <a:avLst/>
          </a:prstGeom>
          <a:solidFill>
            <a:srgbClr val="C8372D"/>
          </a:solidFill>
          <a:ln w="12700">
            <a:solidFill>
              <a:srgbClr val="C8372D"/>
            </a:solidFill>
            <a:prstDash val="solid"/>
          </a:ln>
        </p:spPr>
      </p:sp>
      <p:sp>
        <p:nvSpPr>
          <p:cNvPr id="48" name="Text 46"/>
          <p:cNvSpPr/>
          <p:nvPr/>
        </p:nvSpPr>
        <p:spPr>
          <a:xfrm>
            <a:off x="3364992" y="40325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No — 50.7 GB &gt; 32 GB</a:t>
            </a:r>
            <a:endParaRPr lang="en-US" sz="1400" dirty="0"/>
          </a:p>
        </p:txBody>
      </p:sp>
      <p:sp>
        <p:nvSpPr>
          <p:cNvPr id="49" name="Shape 47"/>
          <p:cNvSpPr/>
          <p:nvPr/>
        </p:nvSpPr>
        <p:spPr>
          <a:xfrm>
            <a:off x="5989320" y="4096512"/>
            <a:ext cx="155448" cy="155448"/>
          </a:xfrm>
          <a:prstGeom prst="ellipse">
            <a:avLst/>
          </a:prstGeom>
          <a:solidFill>
            <a:srgbClr val="2E9E5B"/>
          </a:solidFill>
          <a:ln w="12700">
            <a:solidFill>
              <a:srgbClr val="2E9E5B"/>
            </a:solidFill>
            <a:prstDash val="solid"/>
          </a:ln>
        </p:spPr>
      </p:sp>
      <p:sp>
        <p:nvSpPr>
          <p:cNvPr id="50" name="Text 48"/>
          <p:cNvSpPr/>
          <p:nvPr/>
        </p:nvSpPr>
        <p:spPr>
          <a:xfrm>
            <a:off x="6245352" y="40325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27 GB</a:t>
            </a:r>
            <a:endParaRPr lang="en-US" sz="1400" dirty="0"/>
          </a:p>
        </p:txBody>
      </p:sp>
      <p:sp>
        <p:nvSpPr>
          <p:cNvPr id="51" name="Shape 49"/>
          <p:cNvSpPr/>
          <p:nvPr/>
        </p:nvSpPr>
        <p:spPr>
          <a:xfrm>
            <a:off x="8869680" y="4096512"/>
            <a:ext cx="155448" cy="155448"/>
          </a:xfrm>
          <a:prstGeom prst="ellipse">
            <a:avLst/>
          </a:prstGeom>
          <a:solidFill>
            <a:srgbClr val="2E9E5B"/>
          </a:solidFill>
          <a:ln w="12700">
            <a:solidFill>
              <a:srgbClr val="2E9E5B"/>
            </a:solidFill>
            <a:prstDash val="solid"/>
          </a:ln>
        </p:spPr>
      </p:sp>
      <p:sp>
        <p:nvSpPr>
          <p:cNvPr id="52" name="Text 50"/>
          <p:cNvSpPr/>
          <p:nvPr/>
        </p:nvSpPr>
        <p:spPr>
          <a:xfrm>
            <a:off x="9125712" y="40325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BF16 50.7 GB or FP8</a:t>
            </a:r>
            <a:endParaRPr lang="en-US" sz="1400" dirty="0"/>
          </a:p>
        </p:txBody>
      </p:sp>
      <p:sp>
        <p:nvSpPr>
          <p:cNvPr id="53" name="Shape 51"/>
          <p:cNvSpPr/>
          <p:nvPr/>
        </p:nvSpPr>
        <p:spPr>
          <a:xfrm>
            <a:off x="548640" y="4416552"/>
            <a:ext cx="11094415" cy="0"/>
          </a:xfrm>
          <a:prstGeom prst="line">
            <a:avLst/>
          </a:prstGeom>
          <a:noFill/>
          <a:ln w="9525">
            <a:solidFill>
              <a:srgbClr val="D5DAE1"/>
            </a:solidFill>
            <a:prstDash val="solid"/>
          </a:ln>
        </p:spPr>
      </p:sp>
      <p:sp>
        <p:nvSpPr>
          <p:cNvPr id="54" name="Text 52"/>
          <p:cNvSpPr/>
          <p:nvPr/>
        </p:nvSpPr>
        <p:spPr>
          <a:xfrm>
            <a:off x="548640" y="4526280"/>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Jev-E4B (4B)</a:t>
            </a:r>
            <a:endParaRPr lang="en-US" sz="1400" dirty="0"/>
          </a:p>
        </p:txBody>
      </p:sp>
      <p:sp>
        <p:nvSpPr>
          <p:cNvPr id="55" name="Shape 53"/>
          <p:cNvSpPr/>
          <p:nvPr/>
        </p:nvSpPr>
        <p:spPr>
          <a:xfrm>
            <a:off x="3108960" y="4581144"/>
            <a:ext cx="155448" cy="155448"/>
          </a:xfrm>
          <a:prstGeom prst="ellipse">
            <a:avLst/>
          </a:prstGeom>
          <a:solidFill>
            <a:srgbClr val="2E9E5B"/>
          </a:solidFill>
          <a:ln w="12700">
            <a:solidFill>
              <a:srgbClr val="2E9E5B"/>
            </a:solidFill>
            <a:prstDash val="solid"/>
          </a:ln>
        </p:spPr>
      </p:sp>
      <p:sp>
        <p:nvSpPr>
          <p:cNvPr id="56" name="Text 54"/>
          <p:cNvSpPr/>
          <p:nvPr/>
        </p:nvSpPr>
        <p:spPr>
          <a:xfrm>
            <a:off x="3364992" y="451713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FP16 ~9 GB · ~23 GB free</a:t>
            </a:r>
            <a:endParaRPr lang="en-US" sz="1400" dirty="0"/>
          </a:p>
        </p:txBody>
      </p:sp>
      <p:sp>
        <p:nvSpPr>
          <p:cNvPr id="57" name="Shape 55"/>
          <p:cNvSpPr/>
          <p:nvPr/>
        </p:nvSpPr>
        <p:spPr>
          <a:xfrm>
            <a:off x="5989320" y="4581144"/>
            <a:ext cx="155448" cy="155448"/>
          </a:xfrm>
          <a:prstGeom prst="ellipse">
            <a:avLst/>
          </a:prstGeom>
          <a:solidFill>
            <a:srgbClr val="2E9E5B"/>
          </a:solidFill>
          <a:ln w="12700">
            <a:solidFill>
              <a:srgbClr val="2E9E5B"/>
            </a:solidFill>
            <a:prstDash val="solid"/>
          </a:ln>
        </p:spPr>
      </p:sp>
      <p:sp>
        <p:nvSpPr>
          <p:cNvPr id="58" name="Text 56"/>
          <p:cNvSpPr/>
          <p:nvPr/>
        </p:nvSpPr>
        <p:spPr>
          <a:xfrm>
            <a:off x="6245352" y="451713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BF16</a:t>
            </a:r>
            <a:endParaRPr lang="en-US" sz="1400" dirty="0"/>
          </a:p>
        </p:txBody>
      </p:sp>
      <p:sp>
        <p:nvSpPr>
          <p:cNvPr id="59" name="Shape 57"/>
          <p:cNvSpPr/>
          <p:nvPr/>
        </p:nvSpPr>
        <p:spPr>
          <a:xfrm>
            <a:off x="8869680" y="4581144"/>
            <a:ext cx="155448" cy="155448"/>
          </a:xfrm>
          <a:prstGeom prst="ellipse">
            <a:avLst/>
          </a:prstGeom>
          <a:solidFill>
            <a:srgbClr val="2E9E5B"/>
          </a:solidFill>
          <a:ln w="12700">
            <a:solidFill>
              <a:srgbClr val="2E9E5B"/>
            </a:solidFill>
            <a:prstDash val="solid"/>
          </a:ln>
        </p:spPr>
      </p:sp>
      <p:sp>
        <p:nvSpPr>
          <p:cNvPr id="60" name="Text 58"/>
          <p:cNvSpPr/>
          <p:nvPr/>
        </p:nvSpPr>
        <p:spPr>
          <a:xfrm>
            <a:off x="9125712" y="451713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Fits — overkill</a:t>
            </a:r>
            <a:endParaRPr lang="en-US" sz="1400" dirty="0"/>
          </a:p>
        </p:txBody>
      </p:sp>
      <p:sp>
        <p:nvSpPr>
          <p:cNvPr id="61" name="Shape 59"/>
          <p:cNvSpPr/>
          <p:nvPr/>
        </p:nvSpPr>
        <p:spPr>
          <a:xfrm>
            <a:off x="548640" y="4901184"/>
            <a:ext cx="11094415" cy="0"/>
          </a:xfrm>
          <a:prstGeom prst="line">
            <a:avLst/>
          </a:prstGeom>
          <a:noFill/>
          <a:ln w="9525">
            <a:solidFill>
              <a:srgbClr val="D5DAE1"/>
            </a:solidFill>
            <a:prstDash val="solid"/>
          </a:ln>
        </p:spPr>
      </p:sp>
      <p:sp>
        <p:nvSpPr>
          <p:cNvPr id="62" name="Text 60"/>
          <p:cNvSpPr/>
          <p:nvPr/>
        </p:nvSpPr>
        <p:spPr>
          <a:xfrm>
            <a:off x="548640" y="5010912"/>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Encoders 0.3–1B</a:t>
            </a:r>
            <a:endParaRPr lang="en-US" sz="1400" dirty="0"/>
          </a:p>
        </p:txBody>
      </p:sp>
      <p:sp>
        <p:nvSpPr>
          <p:cNvPr id="63" name="Shape 61"/>
          <p:cNvSpPr/>
          <p:nvPr/>
        </p:nvSpPr>
        <p:spPr>
          <a:xfrm>
            <a:off x="3108960" y="5065776"/>
            <a:ext cx="155448" cy="155448"/>
          </a:xfrm>
          <a:prstGeom prst="ellipse">
            <a:avLst/>
          </a:prstGeom>
          <a:solidFill>
            <a:srgbClr val="2E9E5B"/>
          </a:solidFill>
          <a:ln w="12700">
            <a:solidFill>
              <a:srgbClr val="2E9E5B"/>
            </a:solidFill>
            <a:prstDash val="solid"/>
          </a:ln>
        </p:spPr>
      </p:sp>
      <p:sp>
        <p:nvSpPr>
          <p:cNvPr id="64" name="Text 62"/>
          <p:cNvSpPr/>
          <p:nvPr/>
        </p:nvSpPr>
        <p:spPr>
          <a:xfrm>
            <a:off x="3364992" y="500176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&lt;2 GB · ≤512–4K tokens</a:t>
            </a:r>
            <a:endParaRPr lang="en-US" sz="1400" dirty="0"/>
          </a:p>
        </p:txBody>
      </p:sp>
      <p:sp>
        <p:nvSpPr>
          <p:cNvPr id="65" name="Shape 63"/>
          <p:cNvSpPr/>
          <p:nvPr/>
        </p:nvSpPr>
        <p:spPr>
          <a:xfrm>
            <a:off x="5989320" y="5065776"/>
            <a:ext cx="155448" cy="155448"/>
          </a:xfrm>
          <a:prstGeom prst="ellipse">
            <a:avLst/>
          </a:prstGeom>
          <a:solidFill>
            <a:srgbClr val="2E9E5B"/>
          </a:solidFill>
          <a:ln w="12700">
            <a:solidFill>
              <a:srgbClr val="2E9E5B"/>
            </a:solidFill>
            <a:prstDash val="solid"/>
          </a:ln>
        </p:spPr>
      </p:sp>
      <p:sp>
        <p:nvSpPr>
          <p:cNvPr id="66" name="Text 64"/>
          <p:cNvSpPr/>
          <p:nvPr/>
        </p:nvSpPr>
        <p:spPr>
          <a:xfrm>
            <a:off x="6245352" y="500176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Fits easily</a:t>
            </a:r>
            <a:endParaRPr lang="en-US" sz="1400" dirty="0"/>
          </a:p>
        </p:txBody>
      </p:sp>
      <p:sp>
        <p:nvSpPr>
          <p:cNvPr id="67" name="Shape 65"/>
          <p:cNvSpPr/>
          <p:nvPr/>
        </p:nvSpPr>
        <p:spPr>
          <a:xfrm>
            <a:off x="8869680" y="5065776"/>
            <a:ext cx="155448" cy="155448"/>
          </a:xfrm>
          <a:prstGeom prst="ellipse">
            <a:avLst/>
          </a:prstGeom>
          <a:solidFill>
            <a:srgbClr val="D99A00"/>
          </a:solidFill>
          <a:ln w="12700">
            <a:solidFill>
              <a:srgbClr val="D99A00"/>
            </a:solidFill>
            <a:prstDash val="solid"/>
          </a:ln>
        </p:spPr>
      </p:sp>
      <p:sp>
        <p:nvSpPr>
          <p:cNvPr id="68" name="Text 66"/>
          <p:cNvSpPr/>
          <p:nvPr/>
        </p:nvSpPr>
        <p:spPr>
          <a:xfrm>
            <a:off x="9125712" y="500176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Overkill</a:t>
            </a:r>
            <a:endParaRPr lang="en-US" sz="1400" dirty="0"/>
          </a:p>
        </p:txBody>
      </p:sp>
      <p:sp>
        <p:nvSpPr>
          <p:cNvPr id="69" name="Shape 67"/>
          <p:cNvSpPr/>
          <p:nvPr/>
        </p:nvSpPr>
        <p:spPr>
          <a:xfrm>
            <a:off x="548640" y="5385816"/>
            <a:ext cx="11094415" cy="0"/>
          </a:xfrm>
          <a:prstGeom prst="line">
            <a:avLst/>
          </a:prstGeom>
          <a:noFill/>
          <a:ln w="9525">
            <a:solidFill>
              <a:srgbClr val="D5DAE1"/>
            </a:solidFill>
            <a:prstDash val="solid"/>
          </a:ln>
        </p:spPr>
      </p:sp>
      <p:sp>
        <p:nvSpPr>
          <p:cNvPr id="70" name="Text 68"/>
          <p:cNvSpPr/>
          <p:nvPr/>
        </p:nvSpPr>
        <p:spPr>
          <a:xfrm>
            <a:off x="548640" y="5495544"/>
            <a:ext cx="2377440" cy="274320"/>
          </a:xfrm>
          <a:prstGeom prst="rect">
            <a:avLst/>
          </a:prstGeom>
          <a:noFill/>
          <a:ln/>
        </p:spPr>
        <p:txBody>
          <a:bodyPr wrap="square" lIns="0" tIns="0" rIns="0" bIns="0" rtlCol="0" anchor="t"/>
          <a:lstStyle/>
          <a:p>
            <a:pPr indent="0" marL="0">
              <a:buNone/>
            </a:pPr>
            <a:r>
              <a:rPr lang="en-US" sz="1400" b="1" dirty="0">
                <a:solidFill>
                  <a:srgbClr val="0F7C8C"/>
                </a:solidFill>
                <a:latin typeface="Inter" pitchFamily="34" charset="0"/>
                <a:ea typeface="Inter" pitchFamily="34" charset="-122"/>
                <a:cs typeface="Inter" pitchFamily="34" charset="-120"/>
              </a:rPr>
              <a:t>Context window</a:t>
            </a:r>
            <a:endParaRPr lang="en-US" sz="1400" dirty="0"/>
          </a:p>
        </p:txBody>
      </p:sp>
      <p:sp>
        <p:nvSpPr>
          <p:cNvPr id="71" name="Shape 69"/>
          <p:cNvSpPr/>
          <p:nvPr/>
        </p:nvSpPr>
        <p:spPr>
          <a:xfrm>
            <a:off x="3108960" y="5550408"/>
            <a:ext cx="155448" cy="155448"/>
          </a:xfrm>
          <a:prstGeom prst="ellipse">
            <a:avLst/>
          </a:prstGeom>
          <a:solidFill>
            <a:srgbClr val="D99A00"/>
          </a:solidFill>
          <a:ln w="12700">
            <a:solidFill>
              <a:srgbClr val="D99A00"/>
            </a:solidFill>
            <a:prstDash val="solid"/>
          </a:ln>
        </p:spPr>
      </p:sp>
      <p:sp>
        <p:nvSpPr>
          <p:cNvPr id="72" name="Text 70"/>
          <p:cNvSpPr/>
          <p:nvPr/>
        </p:nvSpPr>
        <p:spPr>
          <a:xfrm>
            <a:off x="3364992" y="5486400"/>
            <a:ext cx="2496312"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E4B ≤4K–8K · max 16K</a:t>
            </a:r>
            <a:endParaRPr lang="en-US" sz="1400" dirty="0"/>
          </a:p>
        </p:txBody>
      </p:sp>
      <p:sp>
        <p:nvSpPr>
          <p:cNvPr id="73" name="Shape 71"/>
          <p:cNvSpPr/>
          <p:nvPr/>
        </p:nvSpPr>
        <p:spPr>
          <a:xfrm>
            <a:off x="5989320" y="5550408"/>
            <a:ext cx="155448" cy="155448"/>
          </a:xfrm>
          <a:prstGeom prst="ellipse">
            <a:avLst/>
          </a:prstGeom>
          <a:solidFill>
            <a:srgbClr val="2E9E5B"/>
          </a:solidFill>
          <a:ln w="12700">
            <a:solidFill>
              <a:srgbClr val="2E9E5B"/>
            </a:solidFill>
            <a:prstDash val="solid"/>
          </a:ln>
        </p:spPr>
      </p:sp>
      <p:sp>
        <p:nvSpPr>
          <p:cNvPr id="74" name="Text 72"/>
          <p:cNvSpPr/>
          <p:nvPr/>
        </p:nvSpPr>
        <p:spPr>
          <a:xfrm>
            <a:off x="6245352" y="5486400"/>
            <a:ext cx="2496312"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26B ≤16K · E4B ≤32K</a:t>
            </a:r>
            <a:endParaRPr lang="en-US" sz="1400" dirty="0"/>
          </a:p>
        </p:txBody>
      </p:sp>
      <p:sp>
        <p:nvSpPr>
          <p:cNvPr id="75" name="Shape 73"/>
          <p:cNvSpPr/>
          <p:nvPr/>
        </p:nvSpPr>
        <p:spPr>
          <a:xfrm>
            <a:off x="8869680" y="5550408"/>
            <a:ext cx="155448" cy="155448"/>
          </a:xfrm>
          <a:prstGeom prst="ellipse">
            <a:avLst/>
          </a:prstGeom>
          <a:solidFill>
            <a:srgbClr val="2E9E5B"/>
          </a:solidFill>
          <a:ln w="12700">
            <a:solidFill>
              <a:srgbClr val="2E9E5B"/>
            </a:solidFill>
            <a:prstDash val="solid"/>
          </a:ln>
        </p:spPr>
      </p:sp>
      <p:sp>
        <p:nvSpPr>
          <p:cNvPr id="76" name="Text 74"/>
          <p:cNvSpPr/>
          <p:nvPr/>
        </p:nvSpPr>
        <p:spPr>
          <a:xfrm>
            <a:off x="9125712" y="5486400"/>
            <a:ext cx="2496312"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26B full ≤64K</a:t>
            </a:r>
            <a:endParaRPr lang="en-US" sz="1400" dirty="0"/>
          </a:p>
        </p:txBody>
      </p:sp>
      <p:sp>
        <p:nvSpPr>
          <p:cNvPr id="77" name="Shape 75"/>
          <p:cNvSpPr/>
          <p:nvPr/>
        </p:nvSpPr>
        <p:spPr>
          <a:xfrm>
            <a:off x="548640" y="5870448"/>
            <a:ext cx="11094415" cy="0"/>
          </a:xfrm>
          <a:prstGeom prst="line">
            <a:avLst/>
          </a:prstGeom>
          <a:noFill/>
          <a:ln w="9525">
            <a:solidFill>
              <a:srgbClr val="D5DAE1"/>
            </a:solidFill>
            <a:prstDash val="solid"/>
          </a:ln>
        </p:spPr>
      </p:sp>
      <p:sp>
        <p:nvSpPr>
          <p:cNvPr id="78" name="Shape 76"/>
          <p:cNvSpPr/>
          <p:nvPr/>
        </p:nvSpPr>
        <p:spPr>
          <a:xfrm>
            <a:off x="548640" y="6190488"/>
            <a:ext cx="137160" cy="137160"/>
          </a:xfrm>
          <a:prstGeom prst="ellipse">
            <a:avLst/>
          </a:prstGeom>
          <a:solidFill>
            <a:srgbClr val="2E9E5B"/>
          </a:solidFill>
          <a:ln w="12700">
            <a:solidFill>
              <a:srgbClr val="2E9E5B"/>
            </a:solidFill>
            <a:prstDash val="solid"/>
          </a:ln>
        </p:spPr>
      </p:sp>
      <p:sp>
        <p:nvSpPr>
          <p:cNvPr id="79" name="Text 77"/>
          <p:cNvSpPr/>
          <p:nvPr/>
        </p:nvSpPr>
        <p:spPr>
          <a:xfrm>
            <a:off x="77724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Ready</a:t>
            </a:r>
            <a:endParaRPr lang="en-US" sz="1400" dirty="0"/>
          </a:p>
        </p:txBody>
      </p:sp>
      <p:sp>
        <p:nvSpPr>
          <p:cNvPr id="80" name="Shape 78"/>
          <p:cNvSpPr/>
          <p:nvPr/>
        </p:nvSpPr>
        <p:spPr>
          <a:xfrm>
            <a:off x="2103120" y="6190488"/>
            <a:ext cx="137160" cy="137160"/>
          </a:xfrm>
          <a:prstGeom prst="ellipse">
            <a:avLst/>
          </a:prstGeom>
          <a:solidFill>
            <a:srgbClr val="D99A00"/>
          </a:solidFill>
          <a:ln w="12700">
            <a:solidFill>
              <a:srgbClr val="D99A00"/>
            </a:solidFill>
            <a:prstDash val="solid"/>
          </a:ln>
        </p:spPr>
      </p:sp>
      <p:sp>
        <p:nvSpPr>
          <p:cNvPr id="81" name="Text 79"/>
          <p:cNvSpPr/>
          <p:nvPr/>
        </p:nvSpPr>
        <p:spPr>
          <a:xfrm>
            <a:off x="233172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Constraint</a:t>
            </a:r>
            <a:endParaRPr lang="en-US" sz="1400" dirty="0"/>
          </a:p>
        </p:txBody>
      </p:sp>
      <p:sp>
        <p:nvSpPr>
          <p:cNvPr id="82" name="Shape 80"/>
          <p:cNvSpPr/>
          <p:nvPr/>
        </p:nvSpPr>
        <p:spPr>
          <a:xfrm>
            <a:off x="3657600" y="6190488"/>
            <a:ext cx="137160" cy="137160"/>
          </a:xfrm>
          <a:prstGeom prst="ellipse">
            <a:avLst/>
          </a:prstGeom>
          <a:solidFill>
            <a:srgbClr val="C8372D"/>
          </a:solidFill>
          <a:ln w="12700">
            <a:solidFill>
              <a:srgbClr val="C8372D"/>
            </a:solidFill>
            <a:prstDash val="solid"/>
          </a:ln>
        </p:spPr>
      </p:sp>
      <p:sp>
        <p:nvSpPr>
          <p:cNvPr id="83" name="Text 81"/>
          <p:cNvSpPr/>
          <p:nvPr/>
        </p:nvSpPr>
        <p:spPr>
          <a:xfrm>
            <a:off x="388620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Blocker</a:t>
            </a:r>
            <a:endParaRPr lang="en-US" sz="1400" dirty="0"/>
          </a:p>
        </p:txBody>
      </p:sp>
      <p:sp>
        <p:nvSpPr>
          <p:cNvPr id="84" name="Text 82"/>
          <p:cNvSpPr/>
          <p:nvPr/>
        </p:nvSpPr>
        <p:spPr>
          <a:xfrm>
            <a:off x="4846320" y="6126480"/>
            <a:ext cx="6793992" cy="274320"/>
          </a:xfrm>
          <a:prstGeom prst="rect">
            <a:avLst/>
          </a:prstGeom>
          <a:noFill/>
          <a:ln/>
        </p:spPr>
        <p:txBody>
          <a:bodyPr wrap="square" lIns="0" tIns="0" rIns="0" bIns="0" rtlCol="0" anchor="t"/>
          <a:lstStyle/>
          <a:p>
            <a:pPr algn="r" indent="0" marL="0">
              <a:buNone/>
            </a:pPr>
            <a:r>
              <a:rPr lang="en-US" sz="1400" dirty="0">
                <a:solidFill>
                  <a:srgbClr val="8A94A3"/>
                </a:solidFill>
                <a:latin typeface="Inter" pitchFamily="34" charset="0"/>
                <a:ea typeface="Inter" pitchFamily="34" charset="-122"/>
                <a:cs typeface="Inter" pitchFamily="34" charset="-120"/>
              </a:rPr>
              <a:t>E4B = distilled Jev decision model · V100 cap: no FA2 + FP16 latency (est.)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07</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One custom decision server, two GPU pools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4631436"/>
                <a:gridCol w="4634179"/>
              </a:tblGrid>
              <a:tr h="457200">
                <a:tc>
                  <a:txBody>
                    <a:bodyPr/>
                    <a:lstStyle/>
                    <a:p>
                      <a:pPr indent="0" marL="0">
                        <a:buNone/>
                      </a:pPr>
                      <a:r>
                        <a:rPr lang="en-US" sz="1400" b="1" dirty="0">
                          <a:solidFill>
                            <a:srgbClr val="FFFFFF"/>
                          </a:solidFill>
                          <a:latin typeface="Inter" pitchFamily="34" charset="0"/>
                          <a:ea typeface="Inter" pitchFamily="34" charset="-122"/>
                          <a:cs typeface="Inter" pitchFamily="34" charset="-120"/>
                        </a:rPr>
                        <a:t>Component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L40S pools · ≤4K, ≤16K</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H100 pools · ≤32K, ≤64K</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Engine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Custom PyTorch decision server</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Same server, same artifact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Precision</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FP8 copy, 27 GB (validate vs BF16)</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BF16, 50.7 GB</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Parallelism</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TP1 replicas — no NVLink needed</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TP1 replicas</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Batching</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Micro-batch within each bucket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Small batch at 32K; 1 request at 64K (est.)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Compile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41"/>
                          </a:solidFill>
                          <a:latin typeface="IBM Plex Mono" pitchFamily="34" charset="0"/>
                          <a:ea typeface="IBM Plex Mono" pitchFamily="34" charset="-122"/>
                          <a:cs typeface="IBM Plex Mono" pitchFamily="34" charset="-120"/>
                        </a:rPr>
                        <a:t>pad to 1K…16K · warm-up at start</a:t>
                      </a:r>
                      <a:endParaRPr lang="en-US" sz="1400" dirty="0">
                        <a:latin typeface="IBM Plex Mono" charset="0"/>
                        <a:ea typeface="IBM Plex Mono" charset="0"/>
                        <a:cs typeface="IBM Plex Mono"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41"/>
                          </a:solidFill>
                          <a:latin typeface="IBM Plex Mono" pitchFamily="34" charset="0"/>
                          <a:ea typeface="IBM Plex Mono" pitchFamily="34" charset="-122"/>
                          <a:cs typeface="IBM Plex Mono" pitchFamily="34" charset="-120"/>
                        </a:rPr>
                        <a:t>pad up to 64K · cached BlockMasks</a:t>
                      </a:r>
                      <a:endParaRPr lang="en-US" sz="1400" dirty="0">
                        <a:latin typeface="IBM Plex Mono" charset="0"/>
                        <a:ea typeface="IBM Plex Mono" charset="0"/>
                        <a:cs typeface="IBM Plex Mono"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Artifact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gridSpan="2">
                  <a:txBody>
                    <a:bodyPr/>
                    <a:lstStyle/>
                    <a:p>
                      <a:pPr indent="0" marL="0">
                        <a:buNone/>
                      </a:pPr>
                      <a:r>
                        <a:rPr lang="en-US" sz="1400" dirty="0">
                          <a:solidFill>
                            <a:srgbClr val="1F2937"/>
                          </a:solidFill>
                          <a:latin typeface="Inter" pitchFamily="34" charset="0"/>
                          <a:ea typeface="Inter" pitchFamily="34" charset="-122"/>
                          <a:cs typeface="Inter" pitchFamily="34" charset="-120"/>
                        </a:rPr>
                        <a:t>Merged LoRA + fp32 head, no ZeRO/DeepSpeed code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hMerge="1">
                  <a:tcPr/>
                </a:tc>
              </a:tr>
            </a:tbl>
          </a:graphicData>
        </a:graphic>
      </p:graphicFrame>
      <p:sp>
        <p:nvSpPr>
          <p:cNvPr id="7" name="Shape 4"/>
          <p:cNvSpPr/>
          <p:nvPr/>
        </p:nvSpPr>
        <p:spPr>
          <a:xfrm>
            <a:off x="548640" y="5532120"/>
            <a:ext cx="64008" cy="685800"/>
          </a:xfrm>
          <a:prstGeom prst="rect">
            <a:avLst/>
          </a:prstGeom>
          <a:solidFill>
            <a:srgbClr val="0F7C8C"/>
          </a:solidFill>
          <a:ln w="12700">
            <a:solidFill>
              <a:srgbClr val="0F7C8C"/>
            </a:solidFill>
            <a:prstDash val="solid"/>
          </a:ln>
        </p:spPr>
      </p:sp>
      <p:sp>
        <p:nvSpPr>
          <p:cNvPr id="9" name="Text 5"/>
          <p:cNvSpPr/>
          <p:nvPr/>
        </p:nvSpPr>
        <p:spPr>
          <a:xfrm>
            <a:off x="777240" y="5532120"/>
            <a:ext cx="10820095" cy="685800"/>
          </a:xfrm>
          <a:prstGeom prst="rect">
            <a:avLst/>
          </a:prstGeom>
          <a:noFill/>
          <a:ln/>
        </p:spPr>
        <p:txBody>
          <a:bodyPr wrap="square" lIns="0" tIns="0" rIns="0" bIns="0" rtlCol="0" anchor="ctr"/>
          <a:lstStyle/>
          <a:p>
            <a:pPr indent="0" marL="0">
              <a:buNone/>
            </a:pPr>
            <a:r>
              <a:rPr lang="en-US" sz="1400" b="1" dirty="0">
                <a:solidFill>
                  <a:srgbClr val="0F7C8C"/>
                </a:solidFill>
                <a:latin typeface="Inter" pitchFamily="34" charset="0"/>
                <a:ea typeface="Inter" pitchFamily="34" charset="-122"/>
                <a:cs typeface="Inter" pitchFamily="34" charset="-120"/>
              </a:rPr>
              <a:t>vLLM caveat  </a:t>
            </a:r>
            <a:r>
              <a:rPr lang="en-US" sz="1400" dirty="0">
                <a:solidFill>
                  <a:srgbClr val="1F2937"/>
                </a:solidFill>
                <a:latin typeface="Inter" pitchFamily="34" charset="0"/>
                <a:ea typeface="Inter" pitchFamily="34" charset="-122"/>
                <a:cs typeface="Inter" pitchFamily="34" charset="-120"/>
              </a:rPr>
              <a:t>built-in is_causal=False flips every layer; local-causal + global-bidirectional + letter head needs an out-of-tree model plugin — spike before adopting.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08</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26B FP8 fits L40S; distilled E4B fits V100</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Weight footprint vs GPU memory · INT4 and E4B sizes are estimates</a:t>
            </a:r>
            <a:endParaRPr lang="en-US" sz="1600" dirty="0"/>
          </a:p>
        </p:txBody>
      </p:sp>
      <p:sp>
        <p:nvSpPr>
          <p:cNvPr id="7" name="Shape 5"/>
          <p:cNvSpPr/>
          <p:nvPr/>
        </p:nvSpPr>
        <p:spPr>
          <a:xfrm>
            <a:off x="3675888" y="2194560"/>
            <a:ext cx="0" cy="2514600"/>
          </a:xfrm>
          <a:prstGeom prst="line">
            <a:avLst/>
          </a:prstGeom>
          <a:noFill/>
          <a:ln w="12700">
            <a:solidFill>
              <a:srgbClr val="C8372D"/>
            </a:solidFill>
            <a:prstDash val="dash"/>
          </a:ln>
        </p:spPr>
      </p:sp>
      <p:sp>
        <p:nvSpPr>
          <p:cNvPr id="8" name="Text 6"/>
          <p:cNvSpPr/>
          <p:nvPr/>
        </p:nvSpPr>
        <p:spPr>
          <a:xfrm>
            <a:off x="2990088" y="4754880"/>
            <a:ext cx="1371600" cy="274320"/>
          </a:xfrm>
          <a:prstGeom prst="rect">
            <a:avLst/>
          </a:prstGeom>
          <a:noFill/>
          <a:ln/>
        </p:spPr>
        <p:txBody>
          <a:bodyPr wrap="square" lIns="0" tIns="0" rIns="0" bIns="0" rtlCol="0" anchor="t"/>
          <a:lstStyle/>
          <a:p>
            <a:pPr algn="ctr" indent="0" marL="0">
              <a:buNone/>
            </a:pPr>
            <a:r>
              <a:rPr lang="en-US" sz="1400" b="1" dirty="0">
                <a:solidFill>
                  <a:srgbClr val="C8372D"/>
                </a:solidFill>
                <a:latin typeface="Inter" pitchFamily="34" charset="0"/>
                <a:ea typeface="Inter" pitchFamily="34" charset="-122"/>
                <a:cs typeface="Inter" pitchFamily="34" charset="-120"/>
              </a:rPr>
              <a:t>V100 32 GB</a:t>
            </a:r>
            <a:endParaRPr lang="en-US" sz="1400" dirty="0"/>
          </a:p>
        </p:txBody>
      </p:sp>
      <p:sp>
        <p:nvSpPr>
          <p:cNvPr id="9" name="Shape 7"/>
          <p:cNvSpPr/>
          <p:nvPr/>
        </p:nvSpPr>
        <p:spPr>
          <a:xfrm>
            <a:off x="4553712" y="2194560"/>
            <a:ext cx="0" cy="2514600"/>
          </a:xfrm>
          <a:prstGeom prst="line">
            <a:avLst/>
          </a:prstGeom>
          <a:noFill/>
          <a:ln w="12700">
            <a:solidFill>
              <a:srgbClr val="0F7C8C"/>
            </a:solidFill>
            <a:prstDash val="dash"/>
          </a:ln>
        </p:spPr>
      </p:sp>
      <p:sp>
        <p:nvSpPr>
          <p:cNvPr id="10" name="Text 8"/>
          <p:cNvSpPr/>
          <p:nvPr/>
        </p:nvSpPr>
        <p:spPr>
          <a:xfrm>
            <a:off x="3867912" y="1810512"/>
            <a:ext cx="1371600" cy="274320"/>
          </a:xfrm>
          <a:prstGeom prst="rect">
            <a:avLst/>
          </a:prstGeom>
          <a:noFill/>
          <a:ln/>
        </p:spPr>
        <p:txBody>
          <a:bodyPr wrap="square" lIns="0" tIns="0" rIns="0" bIns="0" rtlCol="0" anchor="t"/>
          <a:lstStyle/>
          <a:p>
            <a:pPr algn="ctr" indent="0" marL="0">
              <a:buNone/>
            </a:pPr>
            <a:r>
              <a:rPr lang="en-US" sz="1400" b="1" dirty="0">
                <a:solidFill>
                  <a:srgbClr val="0F7C8C"/>
                </a:solidFill>
                <a:latin typeface="Inter" pitchFamily="34" charset="0"/>
                <a:ea typeface="Inter" pitchFamily="34" charset="-122"/>
                <a:cs typeface="Inter" pitchFamily="34" charset="-120"/>
              </a:rPr>
              <a:t>L40S 48 GB</a:t>
            </a:r>
            <a:endParaRPr lang="en-US" sz="1400" dirty="0"/>
          </a:p>
        </p:txBody>
      </p:sp>
      <p:sp>
        <p:nvSpPr>
          <p:cNvPr id="11" name="Shape 9"/>
          <p:cNvSpPr/>
          <p:nvPr/>
        </p:nvSpPr>
        <p:spPr>
          <a:xfrm>
            <a:off x="6309360" y="2194560"/>
            <a:ext cx="0" cy="2514600"/>
          </a:xfrm>
          <a:prstGeom prst="line">
            <a:avLst/>
          </a:prstGeom>
          <a:noFill/>
          <a:ln w="12700">
            <a:solidFill>
              <a:srgbClr val="1B2A41"/>
            </a:solidFill>
            <a:prstDash val="dash"/>
          </a:ln>
        </p:spPr>
      </p:sp>
      <p:sp>
        <p:nvSpPr>
          <p:cNvPr id="12" name="Text 10"/>
          <p:cNvSpPr/>
          <p:nvPr/>
        </p:nvSpPr>
        <p:spPr>
          <a:xfrm>
            <a:off x="4983480" y="1810512"/>
            <a:ext cx="1371600" cy="274320"/>
          </a:xfrm>
          <a:prstGeom prst="rect">
            <a:avLst/>
          </a:prstGeom>
          <a:noFill/>
          <a:ln/>
        </p:spPr>
        <p:txBody>
          <a:bodyPr wrap="square" lIns="0" tIns="0" rIns="0" bIns="0" rtlCol="0" anchor="t"/>
          <a:lstStyle/>
          <a:p>
            <a:pPr algn="r" indent="0" marL="0">
              <a:buNone/>
            </a:pPr>
            <a:r>
              <a:rPr lang="en-US" sz="1400" b="1" dirty="0">
                <a:solidFill>
                  <a:srgbClr val="1B2A41"/>
                </a:solidFill>
                <a:latin typeface="Inter" pitchFamily="34" charset="0"/>
                <a:ea typeface="Inter" pitchFamily="34" charset="-122"/>
                <a:cs typeface="Inter" pitchFamily="34" charset="-120"/>
              </a:rPr>
              <a:t>H100 80 GB</a:t>
            </a:r>
            <a:endParaRPr lang="en-US" sz="1400" dirty="0"/>
          </a:p>
        </p:txBody>
      </p:sp>
      <p:sp>
        <p:nvSpPr>
          <p:cNvPr id="13" name="Text 11"/>
          <p:cNvSpPr/>
          <p:nvPr/>
        </p:nvSpPr>
        <p:spPr>
          <a:xfrm>
            <a:off x="548640" y="2395728"/>
            <a:ext cx="132588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26B BF16</a:t>
            </a:r>
            <a:endParaRPr lang="en-US" sz="1500" dirty="0"/>
          </a:p>
        </p:txBody>
      </p:sp>
      <p:sp>
        <p:nvSpPr>
          <p:cNvPr id="14" name="Shape 12"/>
          <p:cNvSpPr/>
          <p:nvPr/>
        </p:nvSpPr>
        <p:spPr>
          <a:xfrm>
            <a:off x="1920240" y="2331720"/>
            <a:ext cx="2781605" cy="420624"/>
          </a:xfrm>
          <a:prstGeom prst="rect">
            <a:avLst/>
          </a:prstGeom>
          <a:solidFill>
            <a:srgbClr val="8A94A3"/>
          </a:solidFill>
          <a:ln w="12700">
            <a:solidFill>
              <a:srgbClr val="8A94A3"/>
            </a:solidFill>
            <a:prstDash val="solid"/>
          </a:ln>
        </p:spPr>
      </p:sp>
      <p:sp>
        <p:nvSpPr>
          <p:cNvPr id="15" name="Text 13"/>
          <p:cNvSpPr/>
          <p:nvPr/>
        </p:nvSpPr>
        <p:spPr>
          <a:xfrm>
            <a:off x="2057400" y="2395728"/>
            <a:ext cx="2507285" cy="32004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50.7 GB measured</a:t>
            </a:r>
            <a:endParaRPr lang="en-US" sz="1400" dirty="0"/>
          </a:p>
        </p:txBody>
      </p:sp>
      <p:sp>
        <p:nvSpPr>
          <p:cNvPr id="16" name="Text 14"/>
          <p:cNvSpPr/>
          <p:nvPr/>
        </p:nvSpPr>
        <p:spPr>
          <a:xfrm>
            <a:off x="548640" y="2980944"/>
            <a:ext cx="132588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26B FP8</a:t>
            </a:r>
            <a:endParaRPr lang="en-US" sz="1500" dirty="0"/>
          </a:p>
        </p:txBody>
      </p:sp>
      <p:sp>
        <p:nvSpPr>
          <p:cNvPr id="17" name="Shape 15"/>
          <p:cNvSpPr/>
          <p:nvPr/>
        </p:nvSpPr>
        <p:spPr>
          <a:xfrm>
            <a:off x="1920240" y="2916936"/>
            <a:ext cx="1481328" cy="420624"/>
          </a:xfrm>
          <a:prstGeom prst="rect">
            <a:avLst/>
          </a:prstGeom>
          <a:solidFill>
            <a:srgbClr val="0F7C8C"/>
          </a:solidFill>
          <a:ln w="12700">
            <a:solidFill>
              <a:srgbClr val="0F7C8C"/>
            </a:solidFill>
            <a:prstDash val="solid"/>
          </a:ln>
        </p:spPr>
      </p:sp>
      <p:sp>
        <p:nvSpPr>
          <p:cNvPr id="18" name="Text 16"/>
          <p:cNvSpPr/>
          <p:nvPr/>
        </p:nvSpPr>
        <p:spPr>
          <a:xfrm>
            <a:off x="2057400" y="2980944"/>
            <a:ext cx="1207008" cy="32004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27 GB copy</a:t>
            </a:r>
            <a:endParaRPr lang="en-US" sz="1400" dirty="0"/>
          </a:p>
        </p:txBody>
      </p:sp>
      <p:sp>
        <p:nvSpPr>
          <p:cNvPr id="19" name="Text 17"/>
          <p:cNvSpPr/>
          <p:nvPr/>
        </p:nvSpPr>
        <p:spPr>
          <a:xfrm>
            <a:off x="548640" y="3566160"/>
            <a:ext cx="132588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26B INT4</a:t>
            </a:r>
            <a:endParaRPr lang="en-US" sz="1500" dirty="0"/>
          </a:p>
        </p:txBody>
      </p:sp>
      <p:sp>
        <p:nvSpPr>
          <p:cNvPr id="20" name="Shape 18"/>
          <p:cNvSpPr/>
          <p:nvPr/>
        </p:nvSpPr>
        <p:spPr>
          <a:xfrm>
            <a:off x="1920240" y="3502152"/>
            <a:ext cx="822960" cy="420624"/>
          </a:xfrm>
          <a:prstGeom prst="rect">
            <a:avLst/>
          </a:prstGeom>
          <a:solidFill>
            <a:srgbClr val="2E4466"/>
          </a:solidFill>
          <a:ln w="12700">
            <a:solidFill>
              <a:srgbClr val="2E4466"/>
            </a:solidFill>
            <a:prstDash val="solid"/>
          </a:ln>
        </p:spPr>
      </p:sp>
      <p:sp>
        <p:nvSpPr>
          <p:cNvPr id="21" name="Text 19"/>
          <p:cNvSpPr/>
          <p:nvPr/>
        </p:nvSpPr>
        <p:spPr>
          <a:xfrm>
            <a:off x="2834640" y="3566160"/>
            <a:ext cx="2651760" cy="32004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~15 GB</a:t>
            </a:r>
            <a:endParaRPr lang="en-US" sz="1400" dirty="0"/>
          </a:p>
        </p:txBody>
      </p:sp>
      <p:sp>
        <p:nvSpPr>
          <p:cNvPr id="22" name="Text 20"/>
          <p:cNvSpPr/>
          <p:nvPr/>
        </p:nvSpPr>
        <p:spPr>
          <a:xfrm>
            <a:off x="548640" y="4151376"/>
            <a:ext cx="132588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E4B FP16</a:t>
            </a:r>
            <a:endParaRPr lang="en-US" sz="1500" dirty="0"/>
          </a:p>
        </p:txBody>
      </p:sp>
      <p:sp>
        <p:nvSpPr>
          <p:cNvPr id="23" name="Shape 21"/>
          <p:cNvSpPr/>
          <p:nvPr/>
        </p:nvSpPr>
        <p:spPr>
          <a:xfrm>
            <a:off x="1920240" y="4087368"/>
            <a:ext cx="493776" cy="420624"/>
          </a:xfrm>
          <a:prstGeom prst="rect">
            <a:avLst/>
          </a:prstGeom>
          <a:solidFill>
            <a:srgbClr val="2E9E5B"/>
          </a:solidFill>
          <a:ln w="12700">
            <a:solidFill>
              <a:srgbClr val="2E9E5B"/>
            </a:solidFill>
            <a:prstDash val="solid"/>
          </a:ln>
        </p:spPr>
      </p:sp>
      <p:sp>
        <p:nvSpPr>
          <p:cNvPr id="24" name="Text 22"/>
          <p:cNvSpPr/>
          <p:nvPr/>
        </p:nvSpPr>
        <p:spPr>
          <a:xfrm>
            <a:off x="2505456" y="4151376"/>
            <a:ext cx="2651760" cy="320040"/>
          </a:xfrm>
          <a:prstGeom prst="rect">
            <a:avLst/>
          </a:prstGeom>
          <a:noFill/>
          <a:ln/>
        </p:spPr>
        <p:txBody>
          <a:bodyPr wrap="square" lIns="0" tIns="0" rIns="0" bIns="0" rtlCol="0" anchor="t"/>
          <a:lstStyle/>
          <a:p>
            <a:pPr indent="0" marL="0">
              <a:buNone/>
            </a:pPr>
            <a:r>
              <a:rPr lang="en-US" sz="1400" b="1" dirty="0">
                <a:solidFill>
                  <a:srgbClr val="2E9E5B"/>
                </a:solidFill>
                <a:latin typeface="Inter" pitchFamily="34" charset="0"/>
                <a:ea typeface="Inter" pitchFamily="34" charset="-122"/>
                <a:cs typeface="Inter" pitchFamily="34" charset="-120"/>
              </a:rPr>
              <a:t>~9 GB</a:t>
            </a:r>
            <a:endParaRPr lang="en-US" sz="1400" dirty="0"/>
          </a:p>
        </p:txBody>
      </p:sp>
      <p:sp>
        <p:nvSpPr>
          <p:cNvPr id="25" name="Shape 23"/>
          <p:cNvSpPr/>
          <p:nvPr/>
        </p:nvSpPr>
        <p:spPr>
          <a:xfrm>
            <a:off x="1920240" y="4709160"/>
            <a:ext cx="4389120" cy="0"/>
          </a:xfrm>
          <a:prstGeom prst="line">
            <a:avLst/>
          </a:prstGeom>
          <a:noFill/>
          <a:ln w="12700">
            <a:solidFill>
              <a:srgbClr val="5B6573"/>
            </a:solidFill>
            <a:prstDash val="solid"/>
          </a:ln>
        </p:spPr>
      </p:sp>
      <p:sp>
        <p:nvSpPr>
          <p:cNvPr id="26" name="Shape 24"/>
          <p:cNvSpPr/>
          <p:nvPr/>
        </p:nvSpPr>
        <p:spPr>
          <a:xfrm>
            <a:off x="548640" y="5166360"/>
            <a:ext cx="64008" cy="1143000"/>
          </a:xfrm>
          <a:prstGeom prst="rect">
            <a:avLst/>
          </a:prstGeom>
          <a:solidFill>
            <a:srgbClr val="C8372D"/>
          </a:solidFill>
          <a:ln w="12700">
            <a:solidFill>
              <a:srgbClr val="C8372D"/>
            </a:solidFill>
            <a:prstDash val="solid"/>
          </a:ln>
        </p:spPr>
      </p:sp>
      <p:sp>
        <p:nvSpPr>
          <p:cNvPr id="27" name="Text 25"/>
          <p:cNvSpPr/>
          <p:nvPr/>
        </p:nvSpPr>
        <p:spPr>
          <a:xfrm>
            <a:off x="749808" y="5166360"/>
            <a:ext cx="5852160" cy="1143000"/>
          </a:xfrm>
          <a:prstGeom prst="rect">
            <a:avLst/>
          </a:prstGeom>
          <a:noFill/>
          <a:ln/>
        </p:spPr>
        <p:txBody>
          <a:bodyPr wrap="square" lIns="0" tIns="0" rIns="0" bIns="0" rtlCol="0" anchor="ctr"/>
          <a:lstStyle/>
          <a:p>
            <a:pPr indent="0" marL="0">
              <a:buNone/>
            </a:pPr>
            <a:r>
              <a:rPr lang="en-US" sz="1400" b="1" dirty="0">
                <a:solidFill>
                  <a:srgbClr val="C8372D"/>
                </a:solidFill>
                <a:latin typeface="Inter" pitchFamily="34" charset="0"/>
                <a:ea typeface="Inter" pitchFamily="34" charset="-122"/>
                <a:cs typeface="Inter" pitchFamily="34" charset="-120"/>
              </a:rPr>
              <a:t>Red line = V100 32 GB. </a:t>
            </a:r>
            <a:r>
              <a:rPr lang="en-US" sz="1400" dirty="0">
                <a:solidFill>
                  <a:srgbClr val="1F2937"/>
                </a:solidFill>
                <a:latin typeface="Inter" pitchFamily="34" charset="0"/>
                <a:ea typeface="Inter" pitchFamily="34" charset="-122"/>
                <a:cs typeface="Inter" pitchFamily="34" charset="-120"/>
              </a:rPr>
              <a:t>Left of it, V100 runs Jev-E4B in FP16 (~9 GB + activations → ≤4K–8K, max 16K) and small encoders. </a:t>
            </a:r>
            <a:r>
              <a:rPr lang="en-US" sz="1400" dirty="0">
                <a:solidFill>
                  <a:srgbClr val="5B6573"/>
                </a:solidFill>
                <a:latin typeface="Inter" pitchFamily="34" charset="0"/>
                <a:ea typeface="Inter" pitchFamily="34" charset="-122"/>
                <a:cs typeface="Inter" pitchFamily="34" charset="-120"/>
              </a:rPr>
              <a:t>26B on V100: BF16 50.7 GB OOMs; FP8 27 GB fits in bytes, but Volta has no FP8 math.</a:t>
            </a:r>
            <a:endParaRPr lang="en-US" sz="1400" dirty="0"/>
          </a:p>
        </p:txBody>
      </p:sp>
      <p:sp>
        <p:nvSpPr>
          <p:cNvPr id="28" name="Shape 26"/>
          <p:cNvSpPr/>
          <p:nvPr/>
        </p:nvSpPr>
        <p:spPr>
          <a:xfrm>
            <a:off x="6766560" y="1874520"/>
            <a:ext cx="0" cy="4434840"/>
          </a:xfrm>
          <a:prstGeom prst="line">
            <a:avLst/>
          </a:prstGeom>
          <a:noFill/>
          <a:ln w="12700">
            <a:solidFill>
              <a:srgbClr val="D5DAE1"/>
            </a:solidFill>
            <a:prstDash val="solid"/>
          </a:ln>
        </p:spPr>
      </p:sp>
      <p:sp>
        <p:nvSpPr>
          <p:cNvPr id="29" name="Text 27"/>
          <p:cNvSpPr/>
          <p:nvPr/>
        </p:nvSpPr>
        <p:spPr>
          <a:xfrm>
            <a:off x="7086600" y="1874520"/>
            <a:ext cx="448056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FOUR LEVERS</a:t>
            </a:r>
            <a:endParaRPr lang="en-US" sz="1200" dirty="0"/>
          </a:p>
        </p:txBody>
      </p:sp>
      <p:sp>
        <p:nvSpPr>
          <p:cNvPr id="30" name="Text 28"/>
          <p:cNvSpPr/>
          <p:nvPr/>
        </p:nvSpPr>
        <p:spPr>
          <a:xfrm>
            <a:off x="7086600" y="2286000"/>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1</a:t>
            </a:r>
            <a:endParaRPr lang="en-US" sz="3000" dirty="0"/>
          </a:p>
        </p:txBody>
      </p:sp>
      <p:sp>
        <p:nvSpPr>
          <p:cNvPr id="31" name="Text 29"/>
          <p:cNvSpPr/>
          <p:nvPr/>
        </p:nvSpPr>
        <p:spPr>
          <a:xfrm>
            <a:off x="7635240" y="2304288"/>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Run the FP8 copy</a:t>
            </a:r>
            <a:endParaRPr lang="en-US" sz="1700" dirty="0"/>
          </a:p>
        </p:txBody>
      </p:sp>
      <p:sp>
        <p:nvSpPr>
          <p:cNvPr id="32" name="Text 30"/>
          <p:cNvSpPr/>
          <p:nvPr/>
        </p:nvSpPr>
        <p:spPr>
          <a:xfrm>
            <a:off x="7635240" y="2651760"/>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27 GB on L40S — validate accuracy</a:t>
            </a:r>
            <a:endParaRPr lang="en-US" sz="1400" dirty="0"/>
          </a:p>
        </p:txBody>
      </p:sp>
      <p:sp>
        <p:nvSpPr>
          <p:cNvPr id="33" name="Text 31"/>
          <p:cNvSpPr/>
          <p:nvPr/>
        </p:nvSpPr>
        <p:spPr>
          <a:xfrm>
            <a:off x="7086600" y="3218688"/>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2</a:t>
            </a:r>
            <a:endParaRPr lang="en-US" sz="3000" dirty="0"/>
          </a:p>
        </p:txBody>
      </p:sp>
      <p:sp>
        <p:nvSpPr>
          <p:cNvPr id="34" name="Text 32"/>
          <p:cNvSpPr/>
          <p:nvPr/>
        </p:nvSpPr>
        <p:spPr>
          <a:xfrm>
            <a:off x="7635240" y="3236976"/>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Bucket and warm up</a:t>
            </a:r>
            <a:endParaRPr lang="en-US" sz="1700" dirty="0"/>
          </a:p>
        </p:txBody>
      </p:sp>
      <p:sp>
        <p:nvSpPr>
          <p:cNvPr id="35" name="Text 33"/>
          <p:cNvSpPr/>
          <p:nvPr/>
        </p:nvSpPr>
        <p:spPr>
          <a:xfrm>
            <a:off x="7635240" y="3584448"/>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Fixed lengths 1K–64K, compiled once</a:t>
            </a:r>
            <a:endParaRPr lang="en-US" sz="1400" dirty="0"/>
          </a:p>
        </p:txBody>
      </p:sp>
      <p:sp>
        <p:nvSpPr>
          <p:cNvPr id="36" name="Text 34"/>
          <p:cNvSpPr/>
          <p:nvPr/>
        </p:nvSpPr>
        <p:spPr>
          <a:xfrm>
            <a:off x="7086600" y="4151376"/>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3</a:t>
            </a:r>
            <a:endParaRPr lang="en-US" sz="3000" dirty="0"/>
          </a:p>
        </p:txBody>
      </p:sp>
      <p:sp>
        <p:nvSpPr>
          <p:cNvPr id="37" name="Text 35"/>
          <p:cNvSpPr/>
          <p:nvPr/>
        </p:nvSpPr>
        <p:spPr>
          <a:xfrm>
            <a:off x="7635240" y="4169664"/>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Chunk above 16K</a:t>
            </a:r>
            <a:endParaRPr lang="en-US" sz="1700" dirty="0"/>
          </a:p>
        </p:txBody>
      </p:sp>
      <p:sp>
        <p:nvSpPr>
          <p:cNvPr id="38" name="Text 36"/>
          <p:cNvSpPr/>
          <p:nvPr/>
        </p:nvSpPr>
        <p:spPr>
          <a:xfrm>
            <a:off x="7635240" y="4517136"/>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8K map-reduce until H100 pools exist</a:t>
            </a:r>
            <a:endParaRPr lang="en-US" sz="1400" dirty="0"/>
          </a:p>
        </p:txBody>
      </p:sp>
      <p:sp>
        <p:nvSpPr>
          <p:cNvPr id="39" name="Text 37"/>
          <p:cNvSpPr/>
          <p:nvPr/>
        </p:nvSpPr>
        <p:spPr>
          <a:xfrm>
            <a:off x="7086600" y="5084064"/>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4</a:t>
            </a:r>
            <a:endParaRPr lang="en-US" sz="3000" dirty="0"/>
          </a:p>
        </p:txBody>
      </p:sp>
      <p:sp>
        <p:nvSpPr>
          <p:cNvPr id="40" name="Text 38"/>
          <p:cNvSpPr/>
          <p:nvPr/>
        </p:nvSpPr>
        <p:spPr>
          <a:xfrm>
            <a:off x="7635240" y="5102352"/>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Shrink the model</a:t>
            </a:r>
            <a:endParaRPr lang="en-US" sz="1700" dirty="0"/>
          </a:p>
        </p:txBody>
      </p:sp>
      <p:sp>
        <p:nvSpPr>
          <p:cNvPr id="41" name="Text 39"/>
          <p:cNvSpPr/>
          <p:nvPr/>
        </p:nvSpPr>
        <p:spPr>
          <a:xfrm>
            <a:off x="7635240" y="5449824"/>
            <a:ext cx="4023360" cy="777240"/>
          </a:xfrm>
          <a:prstGeom prst="rect">
            <a:avLst/>
          </a:prstGeom>
          <a:noFill/>
          <a:ln/>
        </p:spPr>
        <p:txBody>
          <a:bodyPr wrap="square" lIns="0" tIns="0" rIns="0" bIns="0" rtlCol="0" anchor="t"/>
          <a:lstStyle/>
          <a:p>
            <a:pPr indent="0" marL="0">
              <a:buNone/>
            </a:pPr>
            <a:r>
              <a:rPr lang="en-US" sz="1400" b="1" dirty="0">
                <a:solidFill>
                  <a:srgbClr val="2E9E5B"/>
                </a:solidFill>
                <a:latin typeface="Inter" pitchFamily="34" charset="0"/>
                <a:ea typeface="Inter" pitchFamily="34" charset="-122"/>
                <a:cs typeface="Inter" pitchFamily="34" charset="-120"/>
              </a:rPr>
              <a:t>Distill to E4B — unlocks the V100 32 GB fleet in FP16 for ≤4K–8K (max 16K) decisions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09</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Earn the H100: four phases, each with a measurable gate</a:t>
            </a:r>
            <a:endParaRPr lang="en-US" sz="2800" dirty="0"/>
          </a:p>
        </p:txBody>
      </p:sp>
      <p:sp>
        <p:nvSpPr>
          <p:cNvPr id="6" name="Shape 4"/>
          <p:cNvSpPr/>
          <p:nvPr/>
        </p:nvSpPr>
        <p:spPr>
          <a:xfrm>
            <a:off x="548640" y="1600200"/>
            <a:ext cx="2194560" cy="777240"/>
          </a:xfrm>
          <a:prstGeom prst="homePlate">
            <a:avLst/>
          </a:prstGeom>
          <a:solidFill>
            <a:srgbClr val="1B2A41"/>
          </a:solidFill>
          <a:ln w="12700">
            <a:solidFill>
              <a:srgbClr val="FFFFFF"/>
            </a:solidFill>
            <a:prstDash val="solid"/>
          </a:ln>
        </p:spPr>
      </p:sp>
      <p:sp>
        <p:nvSpPr>
          <p:cNvPr id="7" name="Text 5"/>
          <p:cNvSpPr/>
          <p:nvPr/>
        </p:nvSpPr>
        <p:spPr>
          <a:xfrm>
            <a:off x="73152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0</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Baseline</a:t>
            </a:r>
            <a:endParaRPr lang="en-US" sz="1400" dirty="0"/>
          </a:p>
        </p:txBody>
      </p:sp>
      <p:sp>
        <p:nvSpPr>
          <p:cNvPr id="8" name="Text 6"/>
          <p:cNvSpPr/>
          <p:nvPr/>
        </p:nvSpPr>
        <p:spPr>
          <a:xfrm>
            <a:off x="64008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Clean checkpoint, bucketed server, warm-up</a:t>
            </a:r>
            <a:endParaRPr lang="en-US" sz="1400" dirty="0"/>
          </a:p>
        </p:txBody>
      </p:sp>
      <p:sp>
        <p:nvSpPr>
          <p:cNvPr id="9" name="Shape 7"/>
          <p:cNvSpPr/>
          <p:nvPr/>
        </p:nvSpPr>
        <p:spPr>
          <a:xfrm>
            <a:off x="640080" y="3931920"/>
            <a:ext cx="201168" cy="201168"/>
          </a:xfrm>
          <a:prstGeom prst="diamond">
            <a:avLst/>
          </a:prstGeom>
          <a:solidFill>
            <a:srgbClr val="1B2A41"/>
          </a:solidFill>
          <a:ln w="12700">
            <a:solidFill>
              <a:srgbClr val="FFFFFF"/>
            </a:solidFill>
            <a:prstDash val="solid"/>
          </a:ln>
        </p:spPr>
      </p:sp>
      <p:sp>
        <p:nvSpPr>
          <p:cNvPr id="10" name="Text 8"/>
          <p:cNvSpPr/>
          <p:nvPr/>
        </p:nvSpPr>
        <p:spPr>
          <a:xfrm>
            <a:off x="93268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11" name="Text 9"/>
          <p:cNvSpPr/>
          <p:nvPr/>
        </p:nvSpPr>
        <p:spPr>
          <a:xfrm>
            <a:off x="64008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No recompiles after warm-up; FP8 matches BF16</a:t>
            </a:r>
            <a:endParaRPr lang="en-US" sz="1400" dirty="0"/>
          </a:p>
        </p:txBody>
      </p:sp>
      <p:sp>
        <p:nvSpPr>
          <p:cNvPr id="12" name="Shape 10"/>
          <p:cNvSpPr/>
          <p:nvPr/>
        </p:nvSpPr>
        <p:spPr>
          <a:xfrm>
            <a:off x="2788920" y="1600200"/>
            <a:ext cx="2194560" cy="777240"/>
          </a:xfrm>
          <a:prstGeom prst="chevron">
            <a:avLst/>
          </a:prstGeom>
          <a:solidFill>
            <a:srgbClr val="1B2A41"/>
          </a:solidFill>
          <a:ln w="12700">
            <a:solidFill>
              <a:srgbClr val="FFFFFF"/>
            </a:solidFill>
            <a:prstDash val="solid"/>
          </a:ln>
        </p:spPr>
      </p:sp>
      <p:sp>
        <p:nvSpPr>
          <p:cNvPr id="13" name="Text 11"/>
          <p:cNvSpPr/>
          <p:nvPr/>
        </p:nvSpPr>
        <p:spPr>
          <a:xfrm>
            <a:off x="320040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1</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Productize</a:t>
            </a:r>
            <a:endParaRPr lang="en-US" sz="1400" dirty="0"/>
          </a:p>
        </p:txBody>
      </p:sp>
      <p:sp>
        <p:nvSpPr>
          <p:cNvPr id="14" name="Text 12"/>
          <p:cNvSpPr/>
          <p:nvPr/>
        </p:nvSpPr>
        <p:spPr>
          <a:xfrm>
            <a:off x="288036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API gateway, bucket router, quotas, autoscaling</a:t>
            </a:r>
            <a:endParaRPr lang="en-US" sz="1400" dirty="0"/>
          </a:p>
        </p:txBody>
      </p:sp>
      <p:sp>
        <p:nvSpPr>
          <p:cNvPr id="15" name="Shape 13"/>
          <p:cNvSpPr/>
          <p:nvPr/>
        </p:nvSpPr>
        <p:spPr>
          <a:xfrm>
            <a:off x="2880360" y="3931920"/>
            <a:ext cx="201168" cy="201168"/>
          </a:xfrm>
          <a:prstGeom prst="diamond">
            <a:avLst/>
          </a:prstGeom>
          <a:solidFill>
            <a:srgbClr val="1B2A41"/>
          </a:solidFill>
          <a:ln w="12700">
            <a:solidFill>
              <a:srgbClr val="FFFFFF"/>
            </a:solidFill>
            <a:prstDash val="solid"/>
          </a:ln>
        </p:spPr>
      </p:sp>
      <p:sp>
        <p:nvSpPr>
          <p:cNvPr id="16" name="Text 14"/>
          <p:cNvSpPr/>
          <p:nvPr/>
        </p:nvSpPr>
        <p:spPr>
          <a:xfrm>
            <a:off x="317296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17" name="Text 15"/>
          <p:cNvSpPr/>
          <p:nvPr/>
        </p:nvSpPr>
        <p:spPr>
          <a:xfrm>
            <a:off x="288036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p99 per bucket within SLO</a:t>
            </a:r>
            <a:endParaRPr lang="en-US" sz="1400" dirty="0"/>
          </a:p>
        </p:txBody>
      </p:sp>
      <p:sp>
        <p:nvSpPr>
          <p:cNvPr id="18" name="Shape 16"/>
          <p:cNvSpPr/>
          <p:nvPr/>
        </p:nvSpPr>
        <p:spPr>
          <a:xfrm>
            <a:off x="5029200" y="1600200"/>
            <a:ext cx="2194560" cy="777240"/>
          </a:xfrm>
          <a:prstGeom prst="chevron">
            <a:avLst/>
          </a:prstGeom>
          <a:solidFill>
            <a:srgbClr val="1B2A41"/>
          </a:solidFill>
          <a:ln w="12700">
            <a:solidFill>
              <a:srgbClr val="FFFFFF"/>
            </a:solidFill>
            <a:prstDash val="solid"/>
          </a:ln>
        </p:spPr>
      </p:sp>
      <p:sp>
        <p:nvSpPr>
          <p:cNvPr id="19" name="Text 17"/>
          <p:cNvSpPr/>
          <p:nvPr/>
        </p:nvSpPr>
        <p:spPr>
          <a:xfrm>
            <a:off x="544068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2</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Optimize</a:t>
            </a:r>
            <a:endParaRPr lang="en-US" sz="1400" dirty="0"/>
          </a:p>
        </p:txBody>
      </p:sp>
      <p:sp>
        <p:nvSpPr>
          <p:cNvPr id="20" name="Text 18"/>
          <p:cNvSpPr/>
          <p:nvPr/>
        </p:nvSpPr>
        <p:spPr>
          <a:xfrm>
            <a:off x="512064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Batch + async API, packing, distillation</a:t>
            </a:r>
            <a:endParaRPr lang="en-US" sz="1400" dirty="0"/>
          </a:p>
        </p:txBody>
      </p:sp>
      <p:sp>
        <p:nvSpPr>
          <p:cNvPr id="21" name="Shape 19"/>
          <p:cNvSpPr/>
          <p:nvPr/>
        </p:nvSpPr>
        <p:spPr>
          <a:xfrm>
            <a:off x="5120640" y="3931920"/>
            <a:ext cx="201168" cy="201168"/>
          </a:xfrm>
          <a:prstGeom prst="diamond">
            <a:avLst/>
          </a:prstGeom>
          <a:solidFill>
            <a:srgbClr val="1B2A41"/>
          </a:solidFill>
          <a:ln w="12700">
            <a:solidFill>
              <a:srgbClr val="FFFFFF"/>
            </a:solidFill>
            <a:prstDash val="solid"/>
          </a:ln>
        </p:spPr>
      </p:sp>
      <p:sp>
        <p:nvSpPr>
          <p:cNvPr id="22" name="Text 20"/>
          <p:cNvSpPr/>
          <p:nvPr/>
        </p:nvSpPr>
        <p:spPr>
          <a:xfrm>
            <a:off x="541324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23" name="Text 21"/>
          <p:cNvSpPr/>
          <p:nvPr/>
        </p:nvSpPr>
        <p:spPr>
          <a:xfrm>
            <a:off x="512064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Cost per 1k decisions trending down</a:t>
            </a:r>
            <a:endParaRPr lang="en-US" sz="1400" dirty="0"/>
          </a:p>
        </p:txBody>
      </p:sp>
      <p:sp>
        <p:nvSpPr>
          <p:cNvPr id="24" name="Shape 22"/>
          <p:cNvSpPr/>
          <p:nvPr/>
        </p:nvSpPr>
        <p:spPr>
          <a:xfrm>
            <a:off x="7269480" y="1600200"/>
            <a:ext cx="2194560" cy="777240"/>
          </a:xfrm>
          <a:prstGeom prst="chevron">
            <a:avLst/>
          </a:prstGeom>
          <a:solidFill>
            <a:srgbClr val="0F7C8C"/>
          </a:solidFill>
          <a:ln w="12700">
            <a:solidFill>
              <a:srgbClr val="FFFFFF"/>
            </a:solidFill>
            <a:prstDash val="solid"/>
          </a:ln>
        </p:spPr>
      </p:sp>
      <p:sp>
        <p:nvSpPr>
          <p:cNvPr id="25" name="Text 23"/>
          <p:cNvSpPr/>
          <p:nvPr/>
        </p:nvSpPr>
        <p:spPr>
          <a:xfrm>
            <a:off x="768096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3</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Add H100</a:t>
            </a:r>
            <a:endParaRPr lang="en-US" sz="1400" dirty="0"/>
          </a:p>
        </p:txBody>
      </p:sp>
      <p:sp>
        <p:nvSpPr>
          <p:cNvPr id="26" name="Text 24"/>
          <p:cNvSpPr/>
          <p:nvPr/>
        </p:nvSpPr>
        <p:spPr>
          <a:xfrm>
            <a:off x="736092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32K and 64K pools, native single pass</a:t>
            </a:r>
            <a:endParaRPr lang="en-US" sz="1400" dirty="0"/>
          </a:p>
        </p:txBody>
      </p:sp>
      <p:sp>
        <p:nvSpPr>
          <p:cNvPr id="27" name="Shape 25"/>
          <p:cNvSpPr/>
          <p:nvPr/>
        </p:nvSpPr>
        <p:spPr>
          <a:xfrm>
            <a:off x="7360920" y="3931920"/>
            <a:ext cx="201168" cy="201168"/>
          </a:xfrm>
          <a:prstGeom prst="diamond">
            <a:avLst/>
          </a:prstGeom>
          <a:solidFill>
            <a:srgbClr val="0F7C8C"/>
          </a:solidFill>
          <a:ln w="12700">
            <a:solidFill>
              <a:srgbClr val="FFFFFF"/>
            </a:solidFill>
            <a:prstDash val="solid"/>
          </a:ln>
        </p:spPr>
      </p:sp>
      <p:sp>
        <p:nvSpPr>
          <p:cNvPr id="28" name="Text 26"/>
          <p:cNvSpPr/>
          <p:nvPr/>
        </p:nvSpPr>
        <p:spPr>
          <a:xfrm>
            <a:off x="7653528" y="3904488"/>
            <a:ext cx="91440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GATE</a:t>
            </a:r>
            <a:endParaRPr lang="en-US" sz="1200" dirty="0"/>
          </a:p>
        </p:txBody>
      </p:sp>
      <p:sp>
        <p:nvSpPr>
          <p:cNvPr id="29" name="Text 27"/>
          <p:cNvSpPr/>
          <p:nvPr/>
        </p:nvSpPr>
        <p:spPr>
          <a:xfrm>
            <a:off x="736092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Triggered by gates on the right</a:t>
            </a:r>
            <a:endParaRPr lang="en-US" sz="1400" dirty="0"/>
          </a:p>
        </p:txBody>
      </p:sp>
      <p:sp>
        <p:nvSpPr>
          <p:cNvPr id="30" name="Shape 28"/>
          <p:cNvSpPr/>
          <p:nvPr/>
        </p:nvSpPr>
        <p:spPr>
          <a:xfrm>
            <a:off x="9784080" y="1600200"/>
            <a:ext cx="1858975" cy="4434840"/>
          </a:xfrm>
          <a:prstGeom prst="rect">
            <a:avLst/>
          </a:prstGeom>
          <a:solidFill>
            <a:srgbClr val="E3F1F2"/>
          </a:solidFill>
          <a:ln w="12700">
            <a:solidFill>
              <a:srgbClr val="E3F1F2"/>
            </a:solidFill>
            <a:prstDash val="solid"/>
          </a:ln>
        </p:spPr>
      </p:sp>
      <p:sp>
        <p:nvSpPr>
          <p:cNvPr id="31" name="Text 29"/>
          <p:cNvSpPr/>
          <p:nvPr/>
        </p:nvSpPr>
        <p:spPr>
          <a:xfrm>
            <a:off x="9966960" y="1783080"/>
            <a:ext cx="1645920" cy="274320"/>
          </a:xfrm>
          <a:prstGeom prst="rect">
            <a:avLst/>
          </a:prstGeom>
          <a:noFill/>
          <a:ln/>
        </p:spPr>
        <p:txBody>
          <a:bodyPr wrap="square" lIns="0" tIns="0" rIns="0" bIns="0" rtlCol="0" anchor="t"/>
          <a:lstStyle/>
          <a:p>
            <a:pPr indent="0" marL="0">
              <a:buNone/>
            </a:pPr>
            <a:r>
              <a:rPr lang="en-US" sz="1200" b="1" spc="100" kern="0" dirty="0">
                <a:solidFill>
                  <a:srgbClr val="0F7C8C"/>
                </a:solidFill>
                <a:latin typeface="Inter" pitchFamily="34" charset="0"/>
                <a:ea typeface="Inter" pitchFamily="34" charset="-122"/>
                <a:cs typeface="Inter" pitchFamily="34" charset="-120"/>
              </a:rPr>
              <a:t>ADD H100 WHEN</a:t>
            </a:r>
            <a:endParaRPr lang="en-US" sz="1200" dirty="0"/>
          </a:p>
        </p:txBody>
      </p:sp>
      <p:sp>
        <p:nvSpPr>
          <p:cNvPr id="32" name="Text 30"/>
          <p:cNvSpPr/>
          <p:nvPr/>
        </p:nvSpPr>
        <p:spPr>
          <a:xfrm>
            <a:off x="9966960" y="22402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Native 64K beats chunked on eval</a:t>
            </a:r>
            <a:endParaRPr lang="en-US" sz="1400" dirty="0"/>
          </a:p>
        </p:txBody>
      </p:sp>
      <p:sp>
        <p:nvSpPr>
          <p:cNvPr id="33" name="Text 31"/>
          <p:cNvSpPr/>
          <p:nvPr/>
        </p:nvSpPr>
        <p:spPr>
          <a:xfrm>
            <a:off x="9966960" y="31546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32–64K p99 misses on L40S</a:t>
            </a:r>
            <a:endParaRPr lang="en-US" sz="1400" dirty="0"/>
          </a:p>
        </p:txBody>
      </p:sp>
      <p:sp>
        <p:nvSpPr>
          <p:cNvPr id="34" name="Text 32"/>
          <p:cNvSpPr/>
          <p:nvPr/>
        </p:nvSpPr>
        <p:spPr>
          <a:xfrm>
            <a:off x="9966960" y="40690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Decisions/s short at peak</a:t>
            </a:r>
            <a:endParaRPr lang="en-US" sz="1400" dirty="0"/>
          </a:p>
        </p:txBody>
      </p:sp>
      <p:sp>
        <p:nvSpPr>
          <p:cNvPr id="35" name="Text 33"/>
          <p:cNvSpPr/>
          <p:nvPr/>
        </p:nvSpPr>
        <p:spPr>
          <a:xfrm>
            <a:off x="9966960" y="49834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H100 cost per decision wins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10</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Production-ready API: governed, observable, reversible</a:t>
            </a:r>
            <a:endParaRPr lang="en-US" sz="2800" dirty="0"/>
          </a:p>
        </p:txBody>
      </p:sp>
      <p:sp>
        <p:nvSpPr>
          <p:cNvPr id="6" name="Shape 4"/>
          <p:cNvSpPr/>
          <p:nvPr/>
        </p:nvSpPr>
        <p:spPr>
          <a:xfrm>
            <a:off x="548640" y="1645920"/>
            <a:ext cx="3423818" cy="54864"/>
          </a:xfrm>
          <a:prstGeom prst="rect">
            <a:avLst/>
          </a:prstGeom>
          <a:solidFill>
            <a:srgbClr val="1B2A41"/>
          </a:solidFill>
          <a:ln w="12700">
            <a:solidFill>
              <a:srgbClr val="1B2A41"/>
            </a:solidFill>
            <a:prstDash val="solid"/>
          </a:ln>
        </p:spPr>
      </p:sp>
      <p:sp>
        <p:nvSpPr>
          <p:cNvPr id="7" name="Text 5"/>
          <p:cNvSpPr/>
          <p:nvPr/>
        </p:nvSpPr>
        <p:spPr>
          <a:xfrm>
            <a:off x="548640"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01</a:t>
            </a:r>
            <a:endParaRPr lang="en-US" sz="1400" dirty="0"/>
          </a:p>
        </p:txBody>
      </p:sp>
      <p:sp>
        <p:nvSpPr>
          <p:cNvPr id="8" name="Text 6"/>
          <p:cNvSpPr/>
          <p:nvPr/>
        </p:nvSpPr>
        <p:spPr>
          <a:xfrm>
            <a:off x="548640"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SLOs per bucket</a:t>
            </a:r>
            <a:endParaRPr lang="en-US" sz="2000" dirty="0"/>
          </a:p>
        </p:txBody>
      </p:sp>
      <p:sp>
        <p:nvSpPr>
          <p:cNvPr id="9" name="Text 7"/>
          <p:cNvSpPr/>
          <p:nvPr/>
        </p:nvSpPr>
        <p:spPr>
          <a:xfrm>
            <a:off x="548640"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p99 and availability per length bucket, error budgets</a:t>
            </a:r>
            <a:endParaRPr lang="en-US" sz="1500" dirty="0"/>
          </a:p>
        </p:txBody>
      </p:sp>
      <p:sp>
        <p:nvSpPr>
          <p:cNvPr id="10" name="Shape 8"/>
          <p:cNvSpPr/>
          <p:nvPr/>
        </p:nvSpPr>
        <p:spPr>
          <a:xfrm>
            <a:off x="4383938" y="1645920"/>
            <a:ext cx="3423818" cy="54864"/>
          </a:xfrm>
          <a:prstGeom prst="rect">
            <a:avLst/>
          </a:prstGeom>
          <a:solidFill>
            <a:srgbClr val="1B2A41"/>
          </a:solidFill>
          <a:ln w="12700">
            <a:solidFill>
              <a:srgbClr val="1B2A41"/>
            </a:solidFill>
            <a:prstDash val="solid"/>
          </a:ln>
        </p:spPr>
      </p:sp>
      <p:sp>
        <p:nvSpPr>
          <p:cNvPr id="11" name="Text 9"/>
          <p:cNvSpPr/>
          <p:nvPr/>
        </p:nvSpPr>
        <p:spPr>
          <a:xfrm>
            <a:off x="4383938"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02</a:t>
            </a:r>
            <a:endParaRPr lang="en-US" sz="1400" dirty="0"/>
          </a:p>
        </p:txBody>
      </p:sp>
      <p:sp>
        <p:nvSpPr>
          <p:cNvPr id="12" name="Text 10"/>
          <p:cNvSpPr/>
          <p:nvPr/>
        </p:nvSpPr>
        <p:spPr>
          <a:xfrm>
            <a:off x="4383938"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Multi-tenancy</a:t>
            </a:r>
            <a:endParaRPr lang="en-US" sz="2000" dirty="0"/>
          </a:p>
        </p:txBody>
      </p:sp>
      <p:sp>
        <p:nvSpPr>
          <p:cNvPr id="13" name="Text 11"/>
          <p:cNvSpPr/>
          <p:nvPr/>
        </p:nvSpPr>
        <p:spPr>
          <a:xfrm>
            <a:off x="4383938"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API keys, quotas, rate limits and priority per tenant</a:t>
            </a:r>
            <a:endParaRPr lang="en-US" sz="1500" dirty="0"/>
          </a:p>
        </p:txBody>
      </p:sp>
      <p:sp>
        <p:nvSpPr>
          <p:cNvPr id="14" name="Shape 12"/>
          <p:cNvSpPr/>
          <p:nvPr/>
        </p:nvSpPr>
        <p:spPr>
          <a:xfrm>
            <a:off x="8219237" y="1645920"/>
            <a:ext cx="3423818" cy="54864"/>
          </a:xfrm>
          <a:prstGeom prst="rect">
            <a:avLst/>
          </a:prstGeom>
          <a:solidFill>
            <a:srgbClr val="0F7C8C"/>
          </a:solidFill>
          <a:ln w="12700">
            <a:solidFill>
              <a:srgbClr val="1B2A41"/>
            </a:solidFill>
            <a:prstDash val="solid"/>
          </a:ln>
        </p:spPr>
      </p:sp>
      <p:sp>
        <p:nvSpPr>
          <p:cNvPr id="15" name="Text 13"/>
          <p:cNvSpPr/>
          <p:nvPr/>
        </p:nvSpPr>
        <p:spPr>
          <a:xfrm>
            <a:off x="8219237"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03</a:t>
            </a:r>
            <a:endParaRPr lang="en-US" sz="1400" dirty="0"/>
          </a:p>
        </p:txBody>
      </p:sp>
      <p:sp>
        <p:nvSpPr>
          <p:cNvPr id="16" name="Text 14"/>
          <p:cNvSpPr/>
          <p:nvPr/>
        </p:nvSpPr>
        <p:spPr>
          <a:xfrm>
            <a:off x="8219237"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Security &amp; PII</a:t>
            </a:r>
            <a:endParaRPr lang="en-US" sz="2000" dirty="0"/>
          </a:p>
        </p:txBody>
      </p:sp>
      <p:sp>
        <p:nvSpPr>
          <p:cNvPr id="17" name="Text 15"/>
          <p:cNvSpPr/>
          <p:nvPr/>
        </p:nvSpPr>
        <p:spPr>
          <a:xfrm>
            <a:off x="8219237"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In-region data, PII redaction in logs, audit log</a:t>
            </a:r>
            <a:endParaRPr lang="en-US" sz="1500" dirty="0"/>
          </a:p>
        </p:txBody>
      </p:sp>
      <p:sp>
        <p:nvSpPr>
          <p:cNvPr id="18" name="Shape 16"/>
          <p:cNvSpPr/>
          <p:nvPr/>
        </p:nvSpPr>
        <p:spPr>
          <a:xfrm>
            <a:off x="548640" y="3840480"/>
            <a:ext cx="3423818" cy="54864"/>
          </a:xfrm>
          <a:prstGeom prst="rect">
            <a:avLst/>
          </a:prstGeom>
          <a:solidFill>
            <a:srgbClr val="1B2A41"/>
          </a:solidFill>
          <a:ln w="12700">
            <a:solidFill>
              <a:srgbClr val="1B2A41"/>
            </a:solidFill>
            <a:prstDash val="solid"/>
          </a:ln>
        </p:spPr>
      </p:sp>
      <p:sp>
        <p:nvSpPr>
          <p:cNvPr id="19" name="Text 17"/>
          <p:cNvSpPr/>
          <p:nvPr/>
        </p:nvSpPr>
        <p:spPr>
          <a:xfrm>
            <a:off x="548640"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04</a:t>
            </a:r>
            <a:endParaRPr lang="en-US" sz="1400" dirty="0"/>
          </a:p>
        </p:txBody>
      </p:sp>
      <p:sp>
        <p:nvSpPr>
          <p:cNvPr id="20" name="Text 18"/>
          <p:cNvSpPr/>
          <p:nvPr/>
        </p:nvSpPr>
        <p:spPr>
          <a:xfrm>
            <a:off x="548640"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Versioning</a:t>
            </a:r>
            <a:endParaRPr lang="en-US" sz="2000" dirty="0"/>
          </a:p>
        </p:txBody>
      </p:sp>
      <p:sp>
        <p:nvSpPr>
          <p:cNvPr id="21" name="Text 19"/>
          <p:cNvSpPr/>
          <p:nvPr/>
        </p:nvSpPr>
        <p:spPr>
          <a:xfrm>
            <a:off x="548640"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/v1 contract, model_version pin, deprecation window</a:t>
            </a:r>
            <a:endParaRPr lang="en-US" sz="1500" dirty="0"/>
          </a:p>
        </p:txBody>
      </p:sp>
      <p:sp>
        <p:nvSpPr>
          <p:cNvPr id="22" name="Shape 20"/>
          <p:cNvSpPr/>
          <p:nvPr/>
        </p:nvSpPr>
        <p:spPr>
          <a:xfrm>
            <a:off x="4383938" y="3840480"/>
            <a:ext cx="3423818" cy="54864"/>
          </a:xfrm>
          <a:prstGeom prst="rect">
            <a:avLst/>
          </a:prstGeom>
          <a:solidFill>
            <a:srgbClr val="1B2A41"/>
          </a:solidFill>
          <a:ln w="12700">
            <a:solidFill>
              <a:srgbClr val="1B2A41"/>
            </a:solidFill>
            <a:prstDash val="solid"/>
          </a:ln>
        </p:spPr>
      </p:sp>
      <p:sp>
        <p:nvSpPr>
          <p:cNvPr id="23" name="Text 21"/>
          <p:cNvSpPr/>
          <p:nvPr/>
        </p:nvSpPr>
        <p:spPr>
          <a:xfrm>
            <a:off x="4383938"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05</a:t>
            </a:r>
            <a:endParaRPr lang="en-US" sz="1400" dirty="0"/>
          </a:p>
        </p:txBody>
      </p:sp>
      <p:sp>
        <p:nvSpPr>
          <p:cNvPr id="24" name="Text 22"/>
          <p:cNvSpPr/>
          <p:nvPr/>
        </p:nvSpPr>
        <p:spPr>
          <a:xfrm>
            <a:off x="4383938"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Canary &amp; rollback</a:t>
            </a:r>
            <a:endParaRPr lang="en-US" sz="2000" dirty="0"/>
          </a:p>
        </p:txBody>
      </p:sp>
      <p:sp>
        <p:nvSpPr>
          <p:cNvPr id="25" name="Text 23"/>
          <p:cNvSpPr/>
          <p:nvPr/>
        </p:nvSpPr>
        <p:spPr>
          <a:xfrm>
            <a:off x="4383938"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Shadow, canary, auto-rollback on SLO breach</a:t>
            </a:r>
            <a:endParaRPr lang="en-US" sz="1500" dirty="0"/>
          </a:p>
        </p:txBody>
      </p:sp>
      <p:sp>
        <p:nvSpPr>
          <p:cNvPr id="26" name="Shape 24"/>
          <p:cNvSpPr/>
          <p:nvPr/>
        </p:nvSpPr>
        <p:spPr>
          <a:xfrm>
            <a:off x="8219237" y="3840480"/>
            <a:ext cx="3423818" cy="54864"/>
          </a:xfrm>
          <a:prstGeom prst="rect">
            <a:avLst/>
          </a:prstGeom>
          <a:solidFill>
            <a:srgbClr val="1B2A41"/>
          </a:solidFill>
          <a:ln w="12700">
            <a:solidFill>
              <a:srgbClr val="1B2A41"/>
            </a:solidFill>
            <a:prstDash val="solid"/>
          </a:ln>
        </p:spPr>
      </p:sp>
      <p:sp>
        <p:nvSpPr>
          <p:cNvPr id="27" name="Text 25"/>
          <p:cNvSpPr/>
          <p:nvPr/>
        </p:nvSpPr>
        <p:spPr>
          <a:xfrm>
            <a:off x="8219237"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06</a:t>
            </a:r>
            <a:endParaRPr lang="en-US" sz="1400" dirty="0"/>
          </a:p>
        </p:txBody>
      </p:sp>
      <p:sp>
        <p:nvSpPr>
          <p:cNvPr id="28" name="Text 26"/>
          <p:cNvSpPr/>
          <p:nvPr/>
        </p:nvSpPr>
        <p:spPr>
          <a:xfrm>
            <a:off x="8219237"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Fallback</a:t>
            </a:r>
            <a:endParaRPr lang="en-US" sz="2000" dirty="0"/>
          </a:p>
        </p:txBody>
      </p:sp>
      <p:sp>
        <p:nvSpPr>
          <p:cNvPr id="29" name="Text 27"/>
          <p:cNvSpPr/>
          <p:nvPr/>
        </p:nvSpPr>
        <p:spPr>
          <a:xfrm>
            <a:off x="8219237"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&gt;16K: chunked map-reduce, or a clear error — never silent truncation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11</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10 decisions/s ≈ 5 L40S + 5 H100 (estimate)</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Example mix 50/30/15/5% across ≤4K/16K/32K/64K · 70% target load</a:t>
            </a:r>
            <a:endParaRPr lang="en-US" sz="1600" dirty="0"/>
          </a:p>
        </p:txBody>
      </p:sp>
      <p:sp>
        <p:nvSpPr>
          <p:cNvPr id="7" name="Text 5"/>
          <p:cNvSpPr/>
          <p:nvPr/>
        </p:nvSpPr>
        <p:spPr>
          <a:xfrm>
            <a:off x="548640" y="1920240"/>
            <a:ext cx="2377440" cy="731520"/>
          </a:xfrm>
          <a:prstGeom prst="rect">
            <a:avLst/>
          </a:prstGeom>
          <a:noFill/>
          <a:ln/>
        </p:spPr>
        <p:txBody>
          <a:bodyPr wrap="square" lIns="0" tIns="0" rIns="0" bIns="0" rtlCol="0" anchor="t"/>
          <a:lstStyle/>
          <a:p>
            <a:pPr indent="0" marL="0">
              <a:buNone/>
            </a:pPr>
            <a:r>
              <a:rPr lang="en-US" sz="4000" b="1" dirty="0">
                <a:solidFill>
                  <a:srgbClr val="1B2A41"/>
                </a:solidFill>
                <a:latin typeface="Inter" pitchFamily="34" charset="0"/>
                <a:ea typeface="Inter" pitchFamily="34" charset="-122"/>
                <a:cs typeface="Inter" pitchFamily="34" charset="-120"/>
              </a:rPr>
              <a:t>1 + 1</a:t>
            </a:r>
            <a:endParaRPr lang="en-US" sz="4000" dirty="0"/>
          </a:p>
        </p:txBody>
      </p:sp>
      <p:sp>
        <p:nvSpPr>
          <p:cNvPr id="8" name="Text 6"/>
          <p:cNvSpPr/>
          <p:nvPr/>
        </p:nvSpPr>
        <p:spPr>
          <a:xfrm>
            <a:off x="3063240" y="199339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1 decision/s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1</a:t>
            </a:r>
            <a:endParaRPr lang="en-US" sz="1500" dirty="0"/>
          </a:p>
        </p:txBody>
      </p:sp>
      <p:sp>
        <p:nvSpPr>
          <p:cNvPr id="9" name="Shape 7"/>
          <p:cNvSpPr/>
          <p:nvPr/>
        </p:nvSpPr>
        <p:spPr>
          <a:xfrm>
            <a:off x="548640" y="2971800"/>
            <a:ext cx="5943600" cy="0"/>
          </a:xfrm>
          <a:prstGeom prst="line">
            <a:avLst/>
          </a:prstGeom>
          <a:noFill/>
          <a:ln w="9525">
            <a:solidFill>
              <a:srgbClr val="D5DAE1"/>
            </a:solidFill>
            <a:prstDash val="solid"/>
          </a:ln>
        </p:spPr>
      </p:sp>
      <p:sp>
        <p:nvSpPr>
          <p:cNvPr id="10" name="Text 8"/>
          <p:cNvSpPr/>
          <p:nvPr/>
        </p:nvSpPr>
        <p:spPr>
          <a:xfrm>
            <a:off x="548640" y="3246120"/>
            <a:ext cx="2377440" cy="731520"/>
          </a:xfrm>
          <a:prstGeom prst="rect">
            <a:avLst/>
          </a:prstGeom>
          <a:noFill/>
          <a:ln/>
        </p:spPr>
        <p:txBody>
          <a:bodyPr wrap="square" lIns="0" tIns="0" rIns="0" bIns="0" rtlCol="0" anchor="t"/>
          <a:lstStyle/>
          <a:p>
            <a:pPr indent="0" marL="0">
              <a:buNone/>
            </a:pPr>
            <a:r>
              <a:rPr lang="en-US" sz="4000" b="1" dirty="0">
                <a:solidFill>
                  <a:srgbClr val="1B2A41"/>
                </a:solidFill>
                <a:latin typeface="Inter" pitchFamily="34" charset="0"/>
                <a:ea typeface="Inter" pitchFamily="34" charset="-122"/>
                <a:cs typeface="Inter" pitchFamily="34" charset="-120"/>
              </a:rPr>
              <a:t>3 + 3</a:t>
            </a:r>
            <a:endParaRPr lang="en-US" sz="4000" dirty="0"/>
          </a:p>
        </p:txBody>
      </p:sp>
      <p:sp>
        <p:nvSpPr>
          <p:cNvPr id="11" name="Text 9"/>
          <p:cNvSpPr/>
          <p:nvPr/>
        </p:nvSpPr>
        <p:spPr>
          <a:xfrm>
            <a:off x="3063240" y="331927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5 decisions/s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4</a:t>
            </a:r>
            <a:endParaRPr lang="en-US" sz="1500" dirty="0"/>
          </a:p>
        </p:txBody>
      </p:sp>
      <p:sp>
        <p:nvSpPr>
          <p:cNvPr id="12" name="Shape 10"/>
          <p:cNvSpPr/>
          <p:nvPr/>
        </p:nvSpPr>
        <p:spPr>
          <a:xfrm>
            <a:off x="548640" y="4297680"/>
            <a:ext cx="5943600" cy="0"/>
          </a:xfrm>
          <a:prstGeom prst="line">
            <a:avLst/>
          </a:prstGeom>
          <a:noFill/>
          <a:ln w="9525">
            <a:solidFill>
              <a:srgbClr val="D5DAE1"/>
            </a:solidFill>
            <a:prstDash val="solid"/>
          </a:ln>
        </p:spPr>
      </p:sp>
      <p:sp>
        <p:nvSpPr>
          <p:cNvPr id="13" name="Text 11"/>
          <p:cNvSpPr/>
          <p:nvPr/>
        </p:nvSpPr>
        <p:spPr>
          <a:xfrm>
            <a:off x="548640" y="4572000"/>
            <a:ext cx="2377440" cy="731520"/>
          </a:xfrm>
          <a:prstGeom prst="rect">
            <a:avLst/>
          </a:prstGeom>
          <a:noFill/>
          <a:ln/>
        </p:spPr>
        <p:txBody>
          <a:bodyPr wrap="square" lIns="0" tIns="0" rIns="0" bIns="0" rtlCol="0" anchor="t"/>
          <a:lstStyle/>
          <a:p>
            <a:pPr indent="0" marL="0">
              <a:buNone/>
            </a:pPr>
            <a:r>
              <a:rPr lang="en-US" sz="4000" b="1" dirty="0">
                <a:solidFill>
                  <a:srgbClr val="0F7C8C"/>
                </a:solidFill>
                <a:latin typeface="Inter" pitchFamily="34" charset="0"/>
                <a:ea typeface="Inter" pitchFamily="34" charset="-122"/>
                <a:cs typeface="Inter" pitchFamily="34" charset="-120"/>
              </a:rPr>
              <a:t>5 + 5</a:t>
            </a:r>
            <a:endParaRPr lang="en-US" sz="4000" dirty="0"/>
          </a:p>
        </p:txBody>
      </p:sp>
      <p:sp>
        <p:nvSpPr>
          <p:cNvPr id="14" name="Text 12"/>
          <p:cNvSpPr/>
          <p:nvPr/>
        </p:nvSpPr>
        <p:spPr>
          <a:xfrm>
            <a:off x="3063240" y="464515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10 decisions/s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8</a:t>
            </a:r>
            <a:endParaRPr lang="en-US" sz="1500" dirty="0"/>
          </a:p>
        </p:txBody>
      </p:sp>
      <p:sp>
        <p:nvSpPr>
          <p:cNvPr id="15" name="Text 13"/>
          <p:cNvSpPr/>
          <p:nvPr/>
        </p:nvSpPr>
        <p:spPr>
          <a:xfrm>
            <a:off x="548640" y="5897880"/>
            <a:ext cx="5943600" cy="274320"/>
          </a:xfrm>
          <a:prstGeom prst="rect">
            <a:avLst/>
          </a:prstGeom>
          <a:noFill/>
          <a:ln/>
        </p:spPr>
        <p:txBody>
          <a:bodyPr wrap="square" lIns="0" tIns="0" rIns="0" bIns="0" rtlCol="0" anchor="t"/>
          <a:lstStyle/>
          <a:p>
            <a:pPr indent="0" marL="0">
              <a:buNone/>
            </a:pPr>
            <a:r>
              <a:rPr lang="en-US" sz="1400" dirty="0">
                <a:solidFill>
                  <a:srgbClr val="8A94A3"/>
                </a:solidFill>
                <a:latin typeface="Inter" pitchFamily="34" charset="0"/>
                <a:ea typeface="Inter" pitchFamily="34" charset="-122"/>
                <a:cs typeface="Inter" pitchFamily="34" charset="-120"/>
              </a:rPr>
              <a:t>GPUs before HA spares · estimates</a:t>
            </a:r>
            <a:endParaRPr lang="en-US" sz="1400" dirty="0"/>
          </a:p>
        </p:txBody>
      </p:sp>
      <p:sp>
        <p:nvSpPr>
          <p:cNvPr id="16" name="Shape 14"/>
          <p:cNvSpPr/>
          <p:nvPr/>
        </p:nvSpPr>
        <p:spPr>
          <a:xfrm>
            <a:off x="6675120" y="1783080"/>
            <a:ext cx="4967935" cy="4389120"/>
          </a:xfrm>
          <a:prstGeom prst="rect">
            <a:avLst/>
          </a:prstGeom>
          <a:solidFill>
            <a:srgbClr val="F3F5F8"/>
          </a:solidFill>
          <a:ln w="12700">
            <a:solidFill>
              <a:srgbClr val="F3F5F8"/>
            </a:solidFill>
            <a:prstDash val="solid"/>
          </a:ln>
        </p:spPr>
      </p:sp>
      <p:sp>
        <p:nvSpPr>
          <p:cNvPr id="17" name="Text 15"/>
          <p:cNvSpPr/>
          <p:nvPr/>
        </p:nvSpPr>
        <p:spPr>
          <a:xfrm>
            <a:off x="6949440" y="1965960"/>
            <a:ext cx="365760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NEXT 30 DAYS</a:t>
            </a:r>
            <a:endParaRPr lang="en-US" sz="1200" dirty="0"/>
          </a:p>
        </p:txBody>
      </p:sp>
      <p:sp>
        <p:nvSpPr>
          <p:cNvPr id="18" name="Shape 16"/>
          <p:cNvSpPr/>
          <p:nvPr/>
        </p:nvSpPr>
        <p:spPr>
          <a:xfrm>
            <a:off x="6949440" y="2423160"/>
            <a:ext cx="384048" cy="384048"/>
          </a:xfrm>
          <a:prstGeom prst="ellipse">
            <a:avLst/>
          </a:prstGeom>
          <a:solidFill>
            <a:srgbClr val="1B2A41"/>
          </a:solidFill>
          <a:ln w="12700">
            <a:solidFill>
              <a:srgbClr val="1B2A41"/>
            </a:solidFill>
            <a:prstDash val="solid"/>
          </a:ln>
        </p:spPr>
      </p:sp>
      <p:sp>
        <p:nvSpPr>
          <p:cNvPr id="19" name="Text 17"/>
          <p:cNvSpPr/>
          <p:nvPr/>
        </p:nvSpPr>
        <p:spPr>
          <a:xfrm>
            <a:off x="6949440" y="2423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20" name="Text 18"/>
          <p:cNvSpPr/>
          <p:nvPr/>
        </p:nvSpPr>
        <p:spPr>
          <a:xfrm>
            <a:off x="7498080" y="24048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Clean checkpoint + bucketed server with warm-up</a:t>
            </a:r>
            <a:endParaRPr lang="en-US" sz="1500" dirty="0"/>
          </a:p>
        </p:txBody>
      </p:sp>
      <p:sp>
        <p:nvSpPr>
          <p:cNvPr id="21" name="Shape 19"/>
          <p:cNvSpPr/>
          <p:nvPr/>
        </p:nvSpPr>
        <p:spPr>
          <a:xfrm>
            <a:off x="6949440" y="3337560"/>
            <a:ext cx="384048" cy="384048"/>
          </a:xfrm>
          <a:prstGeom prst="ellipse">
            <a:avLst/>
          </a:prstGeom>
          <a:solidFill>
            <a:srgbClr val="1B2A41"/>
          </a:solidFill>
          <a:ln w="12700">
            <a:solidFill>
              <a:srgbClr val="1B2A41"/>
            </a:solidFill>
            <a:prstDash val="solid"/>
          </a:ln>
        </p:spPr>
      </p:sp>
      <p:sp>
        <p:nvSpPr>
          <p:cNvPr id="22" name="Text 20"/>
          <p:cNvSpPr/>
          <p:nvPr/>
        </p:nvSpPr>
        <p:spPr>
          <a:xfrm>
            <a:off x="694944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23" name="Text 21"/>
          <p:cNvSpPr/>
          <p:nvPr/>
        </p:nvSpPr>
        <p:spPr>
          <a:xfrm>
            <a:off x="7498080" y="33192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Measure decisions/s and p99 per bucket, L40S vs H100</a:t>
            </a:r>
            <a:endParaRPr lang="en-US" sz="1500" dirty="0"/>
          </a:p>
        </p:txBody>
      </p:sp>
      <p:sp>
        <p:nvSpPr>
          <p:cNvPr id="24" name="Shape 22"/>
          <p:cNvSpPr/>
          <p:nvPr/>
        </p:nvSpPr>
        <p:spPr>
          <a:xfrm>
            <a:off x="6949440" y="4251960"/>
            <a:ext cx="384048" cy="384048"/>
          </a:xfrm>
          <a:prstGeom prst="ellipse">
            <a:avLst/>
          </a:prstGeom>
          <a:solidFill>
            <a:srgbClr val="1B2A41"/>
          </a:solidFill>
          <a:ln w="12700">
            <a:solidFill>
              <a:srgbClr val="1B2A41"/>
            </a:solidFill>
            <a:prstDash val="solid"/>
          </a:ln>
        </p:spPr>
      </p:sp>
      <p:sp>
        <p:nvSpPr>
          <p:cNvPr id="25" name="Text 23"/>
          <p:cNvSpPr/>
          <p:nvPr/>
        </p:nvSpPr>
        <p:spPr>
          <a:xfrm>
            <a:off x="694944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6" name="Text 24"/>
          <p:cNvSpPr/>
          <p:nvPr/>
        </p:nvSpPr>
        <p:spPr>
          <a:xfrm>
            <a:off x="7498080" y="42336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FP8 vs BF16 accuracy on the 200 items</a:t>
            </a:r>
            <a:endParaRPr lang="en-US" sz="1500" dirty="0"/>
          </a:p>
        </p:txBody>
      </p:sp>
      <p:sp>
        <p:nvSpPr>
          <p:cNvPr id="27" name="Shape 25"/>
          <p:cNvSpPr/>
          <p:nvPr/>
        </p:nvSpPr>
        <p:spPr>
          <a:xfrm>
            <a:off x="6949440" y="5166360"/>
            <a:ext cx="384048" cy="384048"/>
          </a:xfrm>
          <a:prstGeom prst="ellipse">
            <a:avLst/>
          </a:prstGeom>
          <a:solidFill>
            <a:srgbClr val="1B2A41"/>
          </a:solidFill>
          <a:ln w="12700">
            <a:solidFill>
              <a:srgbClr val="1B2A41"/>
            </a:solidFill>
            <a:prstDash val="solid"/>
          </a:ln>
        </p:spPr>
      </p:sp>
      <p:sp>
        <p:nvSpPr>
          <p:cNvPr id="28" name="Text 26"/>
          <p:cNvSpPr/>
          <p:nvPr/>
        </p:nvSpPr>
        <p:spPr>
          <a:xfrm>
            <a:off x="6949440" y="5166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9" name="Text 27"/>
          <p:cNvSpPr/>
          <p:nvPr/>
        </p:nvSpPr>
        <p:spPr>
          <a:xfrm>
            <a:off x="7498080" y="51480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Ship /v1/decide behind the gateway; agree SLOs and H100 gates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 Decision API — Scaling Architecture</dc:title>
  <dc:subject>PptxGenJS Presentation</dc:subject>
  <dc:creator>Varun Saagar</dc:creator>
  <cp:lastModifiedBy>Varun Saagar</cp:lastModifiedBy>
  <cp:revision>1</cp:revision>
  <dcterms:created xsi:type="dcterms:W3CDTF">2026-10-23T05:23:07Z</dcterms:created>
  <dcterms:modified xsi:type="dcterms:W3CDTF">2026-10-23T05:23:07Z</dcterms:modified>
</cp:coreProperties>
</file>