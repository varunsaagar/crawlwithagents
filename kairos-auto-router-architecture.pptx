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We are starting a POC for certified cost-quality routing on Kairos Gateway (built on LiteLLM).</a:t>
            </a:r>
          </a:p>
          <a:p/>
          <a:p>
            <a:r>
              <a:t>TALK TRACK: This is the auto-router deck, separate from the guardrails deck. Kairos Gateway is built on LiteLLM; from here on I just say Kairos Gateway, but parameter and feature names stay as LiteLLM names them. The decision model is our own Jev decision v1 plus Kairos embedding models. Databricks OpenJev on Qwen3.5 4B is the reference baseline we must beat. Look at the labels on the slide: V is verified, Claim is a vendor number, Verify is a POC check, and target (TBD by team) is a placeholder.</a:t>
            </a:r>
          </a:p>
          <a:p/>
          <a:p>
            <a:r>
              <a:t>EXECUTION: No action on this slide. Make sure everyone has the research file research/auto-router-2026-10.md.</a:t>
            </a:r>
          </a:p>
          <a:p/>
          <a:p>
            <a:r>
              <a:t>EXPECTATIONS: Audience understands scope: architecture + roadmap + POC start, not a production go-live.</a:t>
            </a:r>
          </a:p>
          <a:p/>
          <a:p>
            <a:r>
              <a:t>LIKELY QUESTIONS: Q: Why not use the guardrails deck? A: Routing has its own evaluation and calibration story; governance overlap is called out where it exists (decision_model guardrail, policies).</a:t>
            </a:r>
          </a:p>
          <a:p/>
          <a:p>
            <a:r>
              <a:t>SOURCES: research/auto-router-2026-10.md header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The router ships natively; the open question is which Pro/Opus prompts Flash can take, and only our own ground truth can answer it.</a:t>
            </a:r>
          </a:p>
          <a:p/>
          <a:p>
            <a:r>
              <a:t>TALK TRACK: The question that started this: prompts under five to ten thousand tokens that we route to Pro or Opus tier today. Could Flash handle them? Prices make it worth asking: Opus-tier output is 20 dollars per million tokens, Flash-tier is 3.75 on a promo that rises to 7.50 on 1 January 2027. The tier names are our own: Pro-tier e.g. Gemini 3.1 Pro, Opus-tier e.g. Claude Opus 5.5, Flash-tier e.g. Gemini 3.8 Flash. Three reasons to start now: the feature is native, the vendor reports large savings (a claim, measured by repricing), and the gap the vendor does not cover is exactly what we can add.</a:t>
            </a:r>
          </a:p>
          <a:p/>
          <a:p>
            <a:r>
              <a:t>EXECUTION: P1 measures our spend mix by tier and length bucket; the Pro-tier price must be added from our rate card.</a:t>
            </a:r>
          </a:p>
          <a:p/>
          <a:p>
            <a:r>
              <a:t>EXPECTATIONS: Agreement that the POC's job is to prove or disprove the Flash hypothesis with data.</a:t>
            </a:r>
          </a:p>
          <a:p/>
          <a:p>
            <a:r>
              <a:t>LIKELY QUESTIONS: Q: What is our spend mix today? A: Not in the research; P1 produces it from spend logs. Q: Is the Flash promo price safe to plan on? A: No, plan on the 1 Jan 2027 price.</a:t>
            </a:r>
          </a:p>
          <a:p/>
          <a:p>
            <a:r>
              <a:t>SOURCES: LiteLLM blogs (price anchors) [V]; docs.litellm.ai/blog/auto-router-production-savings [Claim]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Almost everything we need is config, not code: 8 classifier families plus a plugin hook, rules, pools, affinity, escalation and ops endpoints.</a:t>
            </a:r>
          </a:p>
          <a:p/>
          <a:p>
            <a:r>
              <a:t>TALK TRACK: Entry point is model auto_router/complexity_router with four tiers by default. Left: classifiers. The three in black matter most for us: heuristic_v2, where our calibration artefact lands; oss_classifier, where Jev decision v1 plugs in; and the custom classifier_plugin hook for the downshift. Right: rules, including semantic_keyword_matching with our embedding model; pools, plain or adaptive with Thompson sampling; affinity to protect prompt cache; context-window escalation, which is opt-in and moves up only; and ops: test_routing, config validation, cause= in the decision log, and shadow evals. The old embedding-only semantic auto router is deprecated.</a:t>
            </a:r>
          </a:p>
          <a:p/>
          <a:p>
            <a:r>
              <a:t>EXECUTION: Devs: read config.py@v1.106.2 around L690–835 before writing any custom code.</a:t>
            </a:r>
          </a:p>
          <a:p/>
          <a:p>
            <a:r>
              <a:t>EXPECTATIONS: Team agrees to use native keys first and only write a plugin for the downshift.</a:t>
            </a:r>
          </a:p>
          <a:p/>
          <a:p>
            <a:r>
              <a:t>LIKELY QUESTIONS: Q: What needs a licence? A: Built-in v1 heuristics and built-in JEV/OSS classification are free; custom instructions, tier_definitions and v2 customisation use the Enterprise entitlement; Capability/Fuse are limited to one router each without a licence.</a:t>
            </a:r>
          </a:p>
          <a:p/>
          <a:p>
            <a:r>
              <a:t>SOURCES: https://docs.litellm.ai/docs/proxy/auto_routing; config.py@v1.106.2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Keep production routing in Kairos Gateway; other routers are offline challengers.</a:t>
            </a:r>
          </a:p>
          <a:p/>
          <a:p>
            <a:r>
              <a:t>TALK TRACK: Nine options compared on deploy model, licence, classifier, training on our data, multi-cloud, governance tie-in and A/B. The LiteLLM column wins on the things that matter for an enterprise gateway: it trains on our data, spans Vertex, Bedrock and Azure, and shares one policy, spend and identity plane. Bedrock IPR cannot learn from app data. RouteLLM is stale, with no push since August 2024. vLLM Semantic Router has interesting encoders, so we use it as a challenger in the playground, not as a second data plane.</a:t>
            </a:r>
          </a:p>
          <a:p/>
          <a:p>
            <a:r>
              <a:t>EXECUTION: Playground backlog: add vLLM SR and RouteLLM as offline challengers after P2.</a:t>
            </a:r>
          </a:p>
          <a:p/>
          <a:p>
            <a:r>
              <a:t>EXPECTATIONS: No one proposes a second routing data plane for the POC.</a:t>
            </a:r>
          </a:p>
          <a:p/>
          <a:p>
            <a:r>
              <a:t>LIKELY QUESTIONS: Q: Is Not Diamond or Martian better? A: Unknown on our data; they are SaaS and would sit outside our policy plane. Q: Azure model router? A: Azure-only models.</a:t>
            </a:r>
          </a:p>
          <a:p/>
          <a:p>
            <a:r>
              <a:t>SOURCES: vllm-sr.ai; github.com/lm-sys/RouteLLM; github.com/katanemo/plano; OpenRouter 10 Aug 2026 blog; Azure docs 2025-11-18; Bedrock IPR docs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One alias, kairos-auto, runs a cheap-first classification chain and lands on certified tier pools; telemetry drives recalibration.</a:t>
            </a:r>
          </a:p>
          <a:p/>
          <a:p>
            <a:r>
              <a:t>TALK TRACK: Walk left to right. Clients call model kairos-auto on the same base URL. Kairos Gateway applies keys, budgets and the Track A guardrails. Inside the router, the chain is: rules, including semantic rules on kairos-embed; the downshift plugin with the certified table; heuristic_first for cheap cases; then Jev decision v1 as oss_classifier via /v1/systemone with a 1500 ms timeout and circuit breaker; then heuristic fallback. Tier pools map SIMPLE to Flash, MEDIUM to Sonnet, COMPLEX to Pro, REASONING to Opus, across Vertex, Bedrock and Azure. Context-window escalation is only a safety net. At the bottom, decision logs, spend and OTel evaluation results feed Galileo and the playground, which emits the next config as a PR.</a:t>
            </a:r>
          </a:p>
          <a:p/>
          <a:p>
            <a:r>
              <a:t>EXECUTION: Devs: the chain order and pool names are POC placeholders; confirm evaluation order against the code before relying on it.</a:t>
            </a:r>
          </a:p>
          <a:p/>
          <a:p>
            <a:r>
              <a:t>EXPECTATIONS: Shared mental model for the build.</a:t>
            </a:r>
          </a:p>
          <a:p/>
          <a:p>
            <a:r>
              <a:t>LIKELY QUESTIONS: Q: Where does OpenJev sit? A: Only in bake-off and shadow, not in the live chain. Q: Latency cost? A: heuristic_first and hybrid keep classifier calls off cheap requests; measure p95 in P2.</a:t>
            </a:r>
          </a:p>
          <a:p/>
          <a:p>
            <a:r>
              <a:t>SOURCES: research §0, §1, §5.4, §6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Jev decision v1 is a first-class oss_classifier through deployment_name; uncertified slices fail closed upward.</a:t>
            </a:r>
          </a:p>
          <a:p/>
          <a:p>
            <a:r>
              <a:t>TALK TRACK: Register Jev decision v1 as a model with mode evaluation, then point opensource_classifier_config.deployment_name at it. Two serving paths. Path A is hosted_vllm on native vLLM 0.32 or later on a READ_STRATEGIES architecture. Path B is the generic strands_decider client, which appends /v1/systemone. Both return answer, probabilities, confidence and certified, from our SERVING.md. Logic: certified and above theta means use the tier; otherwise escalate one tier; on timeout or breaker open, fall back to heuristic. Rules from code: deployment_name cannot carry api_key or api_base; self-hosted has no price, so no classifier-cost header.</a:t>
            </a:r>
          </a:p>
          <a:p/>
          <a:p>
            <a:r>
              <a:t>EXECUTION: P0 task: confirm whether Gemma-based Jev runs on native vLLM /v1/systemone [Verify]; if not, use path B. Size capacity for both routing and the decision_model guardrail.</a:t>
            </a:r>
          </a:p>
          <a:p/>
          <a:p>
            <a:r>
              <a:t>EXPECTATIONS: Devs can register the model on day one.</a:t>
            </a:r>
          </a:p>
          <a:p/>
          <a:p>
            <a:r>
              <a:t>LIKELY QUESTIONS: Q: Why 1500 ms not the 3000 ms default? A: A POC placeholder; set from measured p95 in P2. Q: Limits? A: vLLM: 64 questions, 26 options, 10 levels.</a:t>
            </a:r>
          </a:p>
          <a:p/>
          <a:p>
            <a:r>
              <a:t>SOURCES: docs.litellm.ai/docs/decisions; /providers/vllm; /providers/strands_decider; config.py@v1.106.2 L690–835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OpenJev-4B is the challenger we must beat, reached via the serving endpoint on v1.106.2, with real Databricks cost.</a:t>
            </a:r>
          </a:p>
          <a:p/>
          <a:p>
            <a:r>
              <a:t>TALK TRACK: Databricks hosts OpenJev on Qwen3.5 4B as endpoint databricks-openjev-qwen35-4b, pay-per-token, System One API. It also powers the ai_decide AI Function, which is Beta. On our pin, only the serving-endpoint path exists: provider databricks with the endpoint name, calling /serving-endpoints/name/invocations. The model: ai_decide form is not on our pin. Two traps. Cost: LiteLLM records 0 dollars, but Databricks still bills, so reconcile from system tables. Identity: the Hugging Face openjev/openjev model is a different model, 27B and non-commercial licence. The community 0.7-confidence pattern is a claim.</a:t>
            </a:r>
          </a:p>
          <a:p/>
          <a:p>
            <a:r>
              <a:t>EXECUTION: Confirm region availability and spend owner (open question 5). Add a Databricks system-table query to the cost report.</a:t>
            </a:r>
          </a:p>
          <a:p/>
          <a:p>
            <a:r>
              <a:t>EXPECTATIONS: OpenJev in the P2 bake-off as a fair, equal-input challenger.</a:t>
            </a:r>
          </a:p>
          <a:p/>
          <a:p>
            <a:r>
              <a:t>LIKELY QUESTIONS: Q: Why not just use OpenJev? A: Maybe we will, if it wins P2; the bake-off decides. Q: Is it production-grade? A: Production means Databricks-hosted FMAPI; there is no published routing accuracy.</a:t>
            </a:r>
          </a:p>
          <a:p/>
          <a:p>
            <a:r>
              <a:t>SOURCES: Databricks supported-models and ai_decide docs; LiteLLM config.py L771–777; transformation.py@v1.106.2; HF card [Claim]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Vendor numbers justify the POC but do not replace it.</a:t>
            </a:r>
          </a:p>
          <a:p/>
          <a:p>
            <a:r>
              <a:t>TALK TRACK: The headline is 51.1 percent saved, about 12 thousand dollars, over 272 thousand requests. It is counterfactual repricing at the REASONING tier, not an A/B with quality control. The JEV benchmark used 80 author-written cases run three times. The shadow eval used 143 turns. The others are vendor-reported. One finding we use directly: follow-up agreement goes from 14 to 78 percent with two turns of context, so classifier_context_window_size matters. Our method fixes each weakness: real traces, multi-source labels, and paired shadow evals.</a:t>
            </a:r>
          </a:p>
          <a:p/>
          <a:p>
            <a:r>
              <a:t>EXECUTION: None.</a:t>
            </a:r>
          </a:p>
          <a:p/>
          <a:p>
            <a:r>
              <a:t>EXPECTATIONS: Nobody quotes 51% as a Kairos number.</a:t>
            </a:r>
          </a:p>
          <a:p/>
          <a:p>
            <a:r>
              <a:t>LIKELY QUESTIONS: Q: Can we expect ~50%? A: Unknown until P3; the target is set by the team.</a:t>
            </a:r>
          </a:p>
          <a:p/>
          <a:p>
            <a:r>
              <a:t>SOURCES: docs.litellm.ai/blog/jev-auto-router-benchmark; docs.litellm.ai/blog/auto-router-production-savings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Ground truth is a Kairos-owned, stratified, multi-label golden set run on every tier.</a:t>
            </a:r>
          </a:p>
          <a:p/>
          <a:p>
            <a:r>
              <a:t>TALK TRACK: Five steps. Collect redacted Galileo traces plus public sets. Cluster them with our embeddings so common chat does not dominate. Stratify by task type, tenant, language, tool use, turn position and length bucket; the red buckets are the user's question band. Run every prompt through every tier via Kairos Gateway. Label with task checks, Jev-as-judge pairwise against the top tier with position swap, and a 5–10 percent human audit. Metrics include cost per successful task and routing accuracy against the cheapest tier that passes. The Pareto sketch has no data: the goal is a router point up and to the left of the fixed tiers. Three modes: offline replay, counterfactual replay that judges real answers, and live shadow eval.</a:t>
            </a:r>
          </a:p>
          <a:p/>
          <a:p>
            <a:r>
              <a:t>EXECUTION: Devs: build the replay harness on per-run virtual keys; stub tools.</a:t>
            </a:r>
          </a:p>
          <a:p/>
          <a:p>
            <a:r>
              <a:t>EXPECTATIONS: Agree strata and metrics in P1 week 1.</a:t>
            </a:r>
          </a:p>
          <a:p/>
          <a:p>
            <a:r>
              <a:t>LIKELY QUESTIONS: Q: Why not trust the judge alone? A: Human audit gives judge–human agreement; target e.g. κ ≥0.6 (TBD by team).</a:t>
            </a:r>
          </a:p>
          <a:p/>
          <a:p>
            <a:r>
              <a:t>SOURCES: arXiv 2403.12031, 2406.18665, 2306.05685, 2404.04475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Heatmaps of context length × needle depth × model show where Flash-tier is certified, which answers the 5–10K question directly.</a:t>
            </a:r>
          </a:p>
          <a:p/>
          <a:p>
            <a:r>
              <a:t>TALK TRACK: This is illustrative data, not measured; it shows the shape of the output. Each panel is one model tier, rows are context length, columns are needle depth from 0 to 100 percent. Darker grey is higher pass rate; red is low. The red outline is the 5–10K band. In this example, Flash holds above 95 percent through 8K at all depths. If real data looks like this, the cell is certified for Flash, so those Pro/Opus prompts move down. Certification rule: the cheapest model whose lower 95 percent confidence bound is at least the target, for example top tier minus 2 points. One heatmap per task family: NIAH, RULER, NoLiMa, which stops lexical-match inflation, plus LongBench v2 and HELMET for realism.</a:t>
            </a:r>
          </a:p>
          <a:p/>
          <a:p>
            <a:r>
              <a:t>EXECUTION: P1: run NIAH + RULER on 3 tiers first; add NoLiMa next. Check NIAH licence (NOASSERTION). Confirm RULER effective-context threshold from the paper [Verify].</a:t>
            </a:r>
          </a:p>
          <a:p/>
          <a:p>
            <a:r>
              <a:t>EXPECTATIONS: Team understands NIAH alone is not enough; real-task cells come from the golden set.</a:t>
            </a:r>
          </a:p>
          <a:p/>
          <a:p>
            <a:r>
              <a:t>LIKELY QUESTIONS: Q: Does NIAH predict real work? A: Only partly; that is why NoLiMa, LongBench v2, HELMET and the golden set are combined. Q: Why lower CI bound? A: So small samples cannot certify a cell by luck.</a:t>
            </a:r>
          </a:p>
          <a:p/>
          <a:p>
            <a:r>
              <a:t>SOURCES: gkamradt/needle-in-a-haystack; NVIDIA/RULER arXiv 2404.06654; NoLiMa 2502.05167; LongBench v2 2412.15204; HELMET 2410.02694; 2307.03172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Kairos turns labels and certified cells into four artefacts; the downshift needs heuristic_v2_artifact or a classifier_plugin.</a:t>
            </a:r>
          </a:p>
          <a:p/>
          <a:p>
            <a:r>
              <a:t>TALK TRACK: The gap: nothing built in sends long-but-easy prompts down. Context-window escalation only goes up. Three inputs, golden-set labels, heatmap certified cells and Jev outputs, are fitted and certified on held-out data. Four outputs. One: Jev thresholds per question type and length bucket, kept only when calibrated, else escalate. Two: the heuristic_v2_artifact with per-tier, domain and cohort stats. Three: keyword and semantic rules with match_threshold from a precision-recall sweep. Four: the downshift plugin, sketched on the right; it returns a tier for a certified cell or None to defer to the rest of the chain.</a:t>
            </a:r>
          </a:p>
          <a:p/>
          <a:p>
            <a:r>
              <a:t>EXECUTION: Devs: implement the plugin against classify(context) → tier or None, with classifier_plugin_timeout_ms. Helper names in the sketch are placeholders.</a:t>
            </a:r>
          </a:p>
          <a:p/>
          <a:p>
            <a:r>
              <a:t>EXPECTATIONS: Agreement that the plugin is the primary downshift mechanism if the artefact cannot express length buckets.</a:t>
            </a:r>
          </a:p>
          <a:p/>
          <a:p>
            <a:r>
              <a:t>LIKELY QUESTIONS: Q: Artefact or plugin? A: Try the artefact first; use the plugin where length × task needs explicit cells. Q: Licence? A: v2 customisation may need the Enterprise entitlement (open question 1).</a:t>
            </a:r>
          </a:p>
          <a:p/>
          <a:p>
            <a:r>
              <a:t>SOURCES: research §5.4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Any team brings a workload and gets back a certified config and a savings forecast, with no code, on the same production plane.</a:t>
            </a:r>
          </a:p>
          <a:p/>
          <a:p>
            <a:r>
              <a:t>TALK TRACK: Teams use a Kairos portal; operators keep the LiteLLM Admin UI for single-prompt tests. A playground API takes a workload, candidate configs and a budget. The pipeline: trace import with embed, cluster and stratify; a replay engine with a budget-capped virtual key per run, fan-out to tier aliases, and stubbed tools; scoring; heatmap jobs cached per model version; and the four-way classifier bake-off. Everything runs through Kairos Gateway, so spend logs give the true cost. Output is versioned YAML plus a savings forecast with a confidence interval and a diff, promoted through the gates on the next slide.</a:t>
            </a:r>
          </a:p>
          <a:p/>
          <a:p>
            <a:r>
              <a:t>EXECUTION: MVP in Q1 2027; all teams in Q2 2027. Build the replay engine first; it is also the P1 harness.</a:t>
            </a:r>
          </a:p>
          <a:p/>
          <a:p>
            <a:r>
              <a:t>EXPECTATIONS: Dev team sees the POC harness as the seed of the service.</a:t>
            </a:r>
          </a:p>
          <a:p/>
          <a:p>
            <a:r>
              <a:t>LIKELY QUESTIONS: Q: Why not just the vendor UI? A: It tests single prompts; we need workload-level replay, certification and governance.</a:t>
            </a:r>
          </a:p>
          <a:p/>
          <a:p>
            <a:r>
              <a:t>SOURCES: research §6; #44043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Five gates for every config change, and a drift freeze after GA.</a:t>
            </a:r>
          </a:p>
          <a:p/>
          <a:p>
            <a:r>
              <a:t>TALK TRACK: Gate one: validate the config. Gate two: test_routing on the golden set with cause= per decision. Gate three: shadow eval, up to four configs paired, budget-capped at 10 dollars by default, up to 30 days, with a blind judge. Gate four: a canary team or key. Gate five: GA with the previous config kept as rollback. All thresholds are targets to be set by the team. After GA, per-decision OTel evaluation results go to Galileo; if a slice's live win-rate drops below theta minus margin, we freeze that slice to the higher tier and open a recalibration PR.</a:t>
            </a:r>
          </a:p>
          <a:p/>
          <a:p>
            <a:r>
              <a:t>EXECUTION: Wire the OTel gen_ai.evaluation.result emit in P4; define θ and margin per slice.</a:t>
            </a:r>
          </a:p>
          <a:p/>
          <a:p>
            <a:r>
              <a:t>EXPECTATIONS: Rollback within 5 minutes is a target to test, not assume.</a:t>
            </a:r>
          </a:p>
          <a:p/>
          <a:p>
            <a:r>
              <a:t>LIKELY QUESTIONS: Q: Who signs off? A: The architect at go/no-go (P4). Q: What judge? A: Default claude-sonnet-5 in shadow evals; Jev-as-judge in our offline labels.</a:t>
            </a:r>
          </a:p>
          <a:p/>
          <a:p>
            <a:r>
              <a:t>SOURCES: research §1, §5.4, §8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Eight weeks, five phases, clear split: the architect sets the bar and approves; the dev team builds and runs.</a:t>
            </a:r>
          </a:p>
          <a:p/>
          <a:p>
            <a:r>
              <a:t>TALK TRACK: Week one: pin, register the three models, create the alias, agree the tiers. P1 builds the golden set and heatmaps, the most work. P2 is the bake-off: Jev decision v1 must beat OpenJev-4B and the heuristic. P3 emits the artefacts. P4 is shadow and canary with a go/no-go. Every number in the criteria column is a placeholder target for the team to set, for example κ ≥0.6, p95 ≤150 ms, quality within 2 points at ≥30% cost reduction.</a:t>
            </a:r>
          </a:p>
          <a:p/>
          <a:p>
            <a:r>
              <a:t>EXECUTION: Assign owners per phase in the kick-off; book the data-handling approval before P1.</a:t>
            </a:r>
          </a:p>
          <a:p/>
          <a:p>
            <a:r>
              <a:t>EXPECTATIONS: Commit to P0 start date.</a:t>
            </a:r>
          </a:p>
          <a:p/>
          <a:p>
            <a:r>
              <a:t>LIKELY QUESTIONS: Q: Is 8 weeks realistic? A: If trace-replay approval is ready by week 1; otherwise P1 slips. Q: Who is Dex? A: Named in the research as part of the dev team.</a:t>
            </a:r>
          </a:p>
          <a:p/>
          <a:p>
            <a:r>
              <a:t>SOURCES: research §8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Four quarters: foundation, certified routing, self-service, optimise; each tied to a learning and a feature to enable.</a:t>
            </a:r>
          </a:p>
          <a:p/>
          <a:p>
            <a:r>
              <a:t>TALK TRACK: Q4 2026 is foundation: the pin, Jev as OSS classifier, heatmap v1 on three tiers, shadow evals for two pilot teams. Q1 2027 is certified routing: the v2 artefact, the downshift rules, playground MVP, the OpenJev baseline and Galileo drift dashboards. Q2 2027 is self-service: playground for all teams, adaptive pools, cache-aware routing for self-hosted vLLM, monthly recalibration PRs. Q3 2027 is optimise: router and governance co-policy, the Jev 64K native path, and multi-objective tiers. The learnings table shows why: Pfizer's silent throughput drop, the support window for stable lines, repricing vs measurement, and classifier context.</a:t>
            </a:r>
          </a:p>
          <a:p/>
          <a:p>
            <a:r>
              <a:t>EXECUTION: Quarter scope is a plan; review at the end of the POC.</a:t>
            </a:r>
          </a:p>
          <a:p/>
          <a:p>
            <a:r>
              <a:t>EXPECTATIONS: Roadmap accepted as direction, not commitment.</a:t>
            </a:r>
          </a:p>
          <a:p/>
          <a:p>
            <a:r>
              <a:t>LIKELY QUESTIONS: Q: Cache-aware routing release? A: [Verify] in the research. Q: Why monthly recalibration? A: Tier tuning moved vendor savings from 42.9% to 60.7%.</a:t>
            </a:r>
          </a:p>
          <a:p/>
          <a:p>
            <a:r>
              <a:t>SOURCES: research §7; Pfizer blog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Six decisions unblock the POC.</a:t>
            </a:r>
          </a:p>
          <a:p/>
          <a:p>
            <a:r>
              <a:t>TALK TRACK: Six open questions, each turned into a decision on the right: the licence, the Jev serving path, the quality bar, trace-replay approval, the Databricks spend owner and region, and cross-cloud routing.</a:t>
            </a:r>
          </a:p>
          <a:p/>
          <a:p>
            <a:r>
              <a:t>EXECUTION: Assign an owner and a date to each decision in the kick-off.</a:t>
            </a:r>
          </a:p>
          <a:p/>
          <a:p>
            <a:r>
              <a:t>EXPECTATIONS: Licence and trace-replay decisions before P1.</a:t>
            </a:r>
          </a:p>
          <a:p/>
          <a:p>
            <a:r>
              <a:t>LIKELY QUESTIONS: Q: Who owns each decision? A: Owners and dates are agreed in the kick-off.</a:t>
            </a:r>
          </a:p>
          <a:p/>
          <a:p>
            <a:r>
              <a:t>SOURCES: research §8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Every fact traces to the research file and these primary sources.</a:t>
            </a:r>
          </a:p>
          <a:p/>
          <a:p>
            <a:r>
              <a:t>TALK TRACK: Reference slide. Vendor numbers are labelled as claims. The security note: the playground credentials in the vLLM SR README were not used and must not be used.</a:t>
            </a:r>
          </a:p>
          <a:p/>
          <a:p>
            <a:r>
              <a:t>EXECUTION: None.</a:t>
            </a:r>
          </a:p>
          <a:p/>
          <a:p>
            <a:r>
              <a:t>EXPECTATIONS: None.</a:t>
            </a:r>
          </a:p>
          <a:p/>
          <a:p>
            <a:r>
              <a:t>LIKELY QUESTIONS: None.</a:t>
            </a:r>
          </a:p>
          <a:p/>
          <a:p>
            <a:r>
              <a:t>SOURCES: research/auto-router-2026-10.md §10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a:effectLst/>
        </p:spPr>
        <p:txBody>
          <a:bodyPr rtlCol="0" anchor="ctr" wrap="square" lIns="73152" rIns="73152" tIns="36576" bIns="36576"/>
          <a:lstStyle/>
          <a:p>
            <a:pPr algn="ctr"/>
          </a:p>
        </p:txBody>
      </p:sp>
      <p:sp>
        <p:nvSpPr>
          <p:cNvPr id="3" name="Rectangle 2"/>
          <p:cNvSpPr/>
          <p:nvPr/>
        </p:nvSpPr>
        <p:spPr>
          <a:xfrm>
            <a:off x="640080" y="1143000"/>
            <a:ext cx="822960" cy="91440"/>
          </a:xfrm>
          <a:prstGeom prst="rect">
            <a:avLst/>
          </a:prstGeom>
          <a:solidFill>
            <a:srgbClr val="EE0000"/>
          </a:solidFill>
          <a:ln>
            <a:noFill/>
          </a:ln>
          <a:effectLst/>
        </p:spPr>
        <p:txBody>
          <a:bodyPr rtlCol="0" anchor="ctr" wrap="square" lIns="73152" rIns="73152" tIns="36576" bIns="36576"/>
          <a:lstStyle/>
          <a:p>
            <a:pPr algn="ctr"/>
          </a:p>
        </p:txBody>
      </p:sp>
      <p:sp>
        <p:nvSpPr>
          <p:cNvPr id="4" name="TextBox 3"/>
          <p:cNvSpPr txBox="1"/>
          <p:nvPr/>
        </p:nvSpPr>
        <p:spPr>
          <a:xfrm>
            <a:off x="640080" y="1371600"/>
            <a:ext cx="10515600" cy="320040"/>
          </a:xfrm>
          <a:prstGeom prst="rect">
            <a:avLst/>
          </a:prstGeom>
          <a:noFill/>
        </p:spPr>
        <p:txBody>
          <a:bodyPr wrap="square" lIns="0" rIns="0" tIns="0" bIns="0" anchor="t">
            <a:noAutofit/>
          </a:bodyPr>
          <a:lstStyle/>
          <a:p>
            <a:pPr algn="l">
              <a:spcAft>
                <a:spcPts val="400"/>
              </a:spcAft>
            </a:pPr>
            <a:r>
              <a:rPr sz="1200" b="1">
                <a:solidFill>
                  <a:srgbClr val="D8DADA"/>
                </a:solidFill>
                <a:latin typeface="Arial"/>
              </a:rPr>
              <a:t>ENTERPRISE ARCHITECTURE  ·  AUTO ROUTING  ·  COST-QUALITY  ·  POC</a:t>
            </a:r>
          </a:p>
        </p:txBody>
      </p:sp>
      <p:sp>
        <p:nvSpPr>
          <p:cNvPr id="5" name="TextBox 4"/>
          <p:cNvSpPr txBox="1"/>
          <p:nvPr/>
        </p:nvSpPr>
        <p:spPr>
          <a:xfrm>
            <a:off x="640080" y="1783080"/>
            <a:ext cx="10881360" cy="1554480"/>
          </a:xfrm>
          <a:prstGeom prst="rect">
            <a:avLst/>
          </a:prstGeom>
          <a:noFill/>
        </p:spPr>
        <p:txBody>
          <a:bodyPr wrap="square" lIns="0" rIns="0" tIns="0" bIns="0" anchor="t">
            <a:noAutofit/>
          </a:bodyPr>
          <a:lstStyle/>
          <a:p>
            <a:pPr algn="l">
              <a:lnSpc>
                <a:spcPct val="95000"/>
              </a:lnSpc>
              <a:spcAft>
                <a:spcPts val="400"/>
              </a:spcAft>
            </a:pPr>
            <a:r>
              <a:rPr sz="4200" b="1">
                <a:solidFill>
                  <a:srgbClr val="FFFFFF"/>
                </a:solidFill>
                <a:latin typeface="Arial"/>
              </a:rPr>
              <a:t>Kairos Auto Router: certified cost-quality routing on Kairos Gateway</a:t>
            </a:r>
          </a:p>
        </p:txBody>
      </p:sp>
      <p:sp>
        <p:nvSpPr>
          <p:cNvPr id="6" name="TextBox 5"/>
          <p:cNvSpPr txBox="1"/>
          <p:nvPr/>
        </p:nvSpPr>
        <p:spPr>
          <a:xfrm>
            <a:off x="640080" y="3429000"/>
            <a:ext cx="10424160" cy="914400"/>
          </a:xfrm>
          <a:prstGeom prst="rect">
            <a:avLst/>
          </a:prstGeom>
          <a:noFill/>
        </p:spPr>
        <p:txBody>
          <a:bodyPr wrap="square" lIns="0" rIns="0" tIns="0" bIns="0" anchor="t">
            <a:noAutofit/>
          </a:bodyPr>
          <a:lstStyle/>
          <a:p>
            <a:pPr algn="l">
              <a:lnSpc>
                <a:spcPct val="110000"/>
              </a:lnSpc>
              <a:spcAft>
                <a:spcPts val="400"/>
              </a:spcAft>
            </a:pPr>
            <a:r>
              <a:rPr sz="1700" b="0">
                <a:solidFill>
                  <a:srgbClr val="D8DADA"/>
                </a:solidFill>
                <a:latin typeface="Arial"/>
              </a:rPr>
              <a:t>Kairos Gateway (built on LiteLLM) sends each request to the cheapest model tier that is proven good enough. The decision comes from Jev decision v1 plus Kairos embedding models. Databricks OpenJev (Qwen3.5 4B) is the reference challenger.</a:t>
            </a:r>
          </a:p>
        </p:txBody>
      </p:sp>
      <p:sp>
        <p:nvSpPr>
          <p:cNvPr id="7" name="TextBox 6"/>
          <p:cNvSpPr txBox="1"/>
          <p:nvPr/>
        </p:nvSpPr>
        <p:spPr>
          <a:xfrm>
            <a:off x="640080" y="4709160"/>
            <a:ext cx="10789920" cy="1463040"/>
          </a:xfrm>
          <a:prstGeom prst="rect">
            <a:avLst/>
          </a:prstGeom>
          <a:noFill/>
        </p:spPr>
        <p:txBody>
          <a:bodyPr wrap="square" lIns="0" rIns="0" tIns="0" bIns="0" anchor="t">
            <a:noAutofit/>
          </a:bodyPr>
          <a:lstStyle/>
          <a:p>
            <a:pPr algn="l">
              <a:spcAft>
                <a:spcPts val="400"/>
              </a:spcAft>
            </a:pPr>
            <a:r>
              <a:rPr sz="1200" b="1">
                <a:solidFill>
                  <a:srgbClr val="FFFFFF"/>
                </a:solidFill>
                <a:latin typeface="Arial"/>
              </a:rPr>
              <a:t>Prepared for Varun Saagar</a:t>
            </a:r>
            <a:r>
              <a:rPr sz="1200" b="0">
                <a:solidFill>
                  <a:srgbClr val="747676"/>
                </a:solidFill>
                <a:latin typeface="Arial"/>
              </a:rPr>
              <a:t>  ·  architecture and dev teams  ·  22 October 2026  ·  research cut-off 22 Oct 2026 (IST)</a:t>
            </a:r>
          </a:p>
          <a:p>
            <a:pPr>
              <a:spcAft>
                <a:spcPts val="400"/>
              </a:spcAft>
            </a:pPr>
            <a:r>
              <a:rPr sz="1200" b="0">
                <a:solidFill>
                  <a:srgbClr val="747676"/>
                </a:solidFill>
                <a:latin typeface="Arial"/>
              </a:rPr>
              <a:t>Baseline: LiteLLM v1.106.2.</a:t>
            </a:r>
          </a:p>
          <a:p>
            <a:pPr>
              <a:spcAft>
                <a:spcPts val="400"/>
              </a:spcAft>
            </a:pPr>
            <a:r>
              <a:rPr sz="1200" b="0">
                <a:solidFill>
                  <a:srgbClr val="747676"/>
                </a:solidFill>
                <a:latin typeface="Arial"/>
              </a:rPr>
              <a:t>Labels: [V] verified in primary docs or code  ·  [Claim] vendor-reported, not reproduced by us  ·  [Verify] confirm in the POC  ·  target (TBD by team) = placeholder goal.</a:t>
            </a:r>
          </a:p>
        </p:txBody>
      </p:sp>
      <p:sp>
        <p:nvSpPr>
          <p:cNvPr id="8" name="Rectangle 7"/>
          <p:cNvSpPr/>
          <p:nvPr/>
        </p:nvSpPr>
        <p:spPr>
          <a:xfrm>
            <a:off x="640080" y="6263640"/>
            <a:ext cx="320040" cy="54864"/>
          </a:xfrm>
          <a:prstGeom prst="rect">
            <a:avLst/>
          </a:prstGeom>
          <a:solidFill>
            <a:srgbClr val="EE0000"/>
          </a:solidFill>
          <a:ln>
            <a:noFill/>
          </a:ln>
          <a:effectLst/>
        </p:spPr>
        <p:txBody>
          <a:bodyPr rtlCol="0" anchor="ctr" wrap="square" lIns="73152" rIns="73152" tIns="36576" bIns="36576"/>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WHY NOW</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Why now: the router already ships in Kairos Gateway, but nobody has proved which Pro/Opus prompts Flash can take</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research/auto-router-2026-10.md §0, §4 (price anchors [V] from LiteLLM blogs; production study [Claim]). Tier names are the user's named tiers, shown generically.</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2</a:t>
            </a:r>
          </a:p>
        </p:txBody>
      </p:sp>
      <p:sp>
        <p:nvSpPr>
          <p:cNvPr id="8" name="Rectangle 7"/>
          <p:cNvSpPr/>
          <p:nvPr/>
        </p:nvSpPr>
        <p:spPr>
          <a:xfrm>
            <a:off x="457200" y="1371600"/>
            <a:ext cx="5394960" cy="21488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371600"/>
            <a:ext cx="73152" cy="214884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81328"/>
            <a:ext cx="4937760" cy="274320"/>
          </a:xfrm>
          <a:prstGeom prst="rect">
            <a:avLst/>
          </a:prstGeom>
          <a:noFill/>
        </p:spPr>
        <p:txBody>
          <a:bodyPr wrap="square" lIns="0" rIns="0" tIns="0" bIns="0" anchor="t">
            <a:noAutofit/>
          </a:bodyPr>
          <a:lstStyle/>
          <a:p>
            <a:pPr>
              <a:spcAft>
                <a:spcPts val="400"/>
              </a:spcAft>
            </a:pPr>
            <a:r>
              <a:rPr sz="1050" b="1">
                <a:solidFill>
                  <a:srgbClr val="D8DADA"/>
                </a:solidFill>
                <a:latin typeface="Arial"/>
              </a:rPr>
              <a:t>THE QUESTION THIS DECK ANSWERS</a:t>
            </a:r>
          </a:p>
        </p:txBody>
      </p:sp>
      <p:sp>
        <p:nvSpPr>
          <p:cNvPr id="11" name="TextBox 10"/>
          <p:cNvSpPr txBox="1"/>
          <p:nvPr/>
        </p:nvSpPr>
        <p:spPr>
          <a:xfrm>
            <a:off x="731520" y="1783080"/>
            <a:ext cx="4983480" cy="1691640"/>
          </a:xfrm>
          <a:prstGeom prst="rect">
            <a:avLst/>
          </a:prstGeom>
          <a:noFill/>
        </p:spPr>
        <p:txBody>
          <a:bodyPr wrap="square" lIns="0" rIns="0" tIns="0" bIns="0" anchor="t">
            <a:noAutofit/>
          </a:bodyPr>
          <a:lstStyle/>
          <a:p>
            <a:pPr>
              <a:spcAft>
                <a:spcPts val="800"/>
              </a:spcAft>
            </a:pPr>
            <a:r>
              <a:rPr sz="1600" b="1">
                <a:solidFill>
                  <a:srgbClr val="FFFFFF"/>
                </a:solidFill>
                <a:latin typeface="Arial"/>
              </a:rPr>
              <a:t>Prompts under 5K–10K tokens that go to Pro-tier or Opus-tier today: how many can Flash-tier solve at the same quality, and how do we prove it?</a:t>
            </a:r>
          </a:p>
          <a:p>
            <a:pPr>
              <a:spcAft>
                <a:spcPts val="400"/>
              </a:spcAft>
            </a:pPr>
            <a:r>
              <a:rPr sz="1200" b="0">
                <a:solidFill>
                  <a:srgbClr val="D8DADA"/>
                </a:solidFill>
                <a:latin typeface="Arial"/>
              </a:rPr>
              <a:t>Answer: ground-truth golden set + needle-in-a-haystack heatmaps → certified cells → router config.</a:t>
            </a:r>
          </a:p>
        </p:txBody>
      </p:sp>
      <p:sp>
        <p:nvSpPr>
          <p:cNvPr id="12" name="TextBox 11"/>
          <p:cNvSpPr txBox="1"/>
          <p:nvPr/>
        </p:nvSpPr>
        <p:spPr>
          <a:xfrm>
            <a:off x="457200" y="3703320"/>
            <a:ext cx="5394960" cy="274320"/>
          </a:xfrm>
          <a:prstGeom prst="rect">
            <a:avLst/>
          </a:prstGeom>
          <a:noFill/>
        </p:spPr>
        <p:txBody>
          <a:bodyPr wrap="square" lIns="0" rIns="0" tIns="0" bIns="0" anchor="t">
            <a:noAutofit/>
          </a:bodyPr>
          <a:lstStyle/>
          <a:p>
            <a:pPr>
              <a:spcAft>
                <a:spcPts val="400"/>
              </a:spcAft>
            </a:pPr>
            <a:r>
              <a:rPr sz="1200" b="1">
                <a:solidFill>
                  <a:srgbClr val="000000"/>
                </a:solidFill>
                <a:latin typeface="Arial"/>
              </a:rPr>
              <a:t>Output price per 1M tokens, current anchors [V]</a:t>
            </a:r>
          </a:p>
        </p:txBody>
      </p:sp>
      <p:sp>
        <p:nvSpPr>
          <p:cNvPr id="13" name="TextBox 12"/>
          <p:cNvSpPr txBox="1"/>
          <p:nvPr/>
        </p:nvSpPr>
        <p:spPr>
          <a:xfrm>
            <a:off x="457200" y="4069080"/>
            <a:ext cx="1828800" cy="384048"/>
          </a:xfrm>
          <a:prstGeom prst="rect">
            <a:avLst/>
          </a:prstGeom>
          <a:noFill/>
        </p:spPr>
        <p:txBody>
          <a:bodyPr wrap="square" lIns="0" rIns="0" tIns="0" bIns="0" anchor="ctr">
            <a:noAutofit/>
          </a:bodyPr>
          <a:lstStyle/>
          <a:p>
            <a:pPr>
              <a:spcAft>
                <a:spcPts val="400"/>
              </a:spcAft>
            </a:pPr>
            <a:r>
              <a:rPr sz="1000" b="1">
                <a:solidFill>
                  <a:srgbClr val="333333"/>
                </a:solidFill>
                <a:latin typeface="Arial"/>
              </a:rPr>
              <a:t>Claude Haiku 5.5</a:t>
            </a:r>
          </a:p>
        </p:txBody>
      </p:sp>
      <p:sp>
        <p:nvSpPr>
          <p:cNvPr id="14" name="Rectangle 13"/>
          <p:cNvSpPr/>
          <p:nvPr/>
        </p:nvSpPr>
        <p:spPr>
          <a:xfrm>
            <a:off x="2331720" y="4142232"/>
            <a:ext cx="66294" cy="237744"/>
          </a:xfrm>
          <a:prstGeom prst="rect">
            <a:avLst/>
          </a:prstGeom>
          <a:solidFill>
            <a:srgbClr val="747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89453" y="4069080"/>
            <a:ext cx="3408426" cy="384048"/>
          </a:xfrm>
          <a:prstGeom prst="rect">
            <a:avLst/>
          </a:prstGeom>
          <a:noFill/>
        </p:spPr>
        <p:txBody>
          <a:bodyPr wrap="square" lIns="0" rIns="0" tIns="0" bIns="0" anchor="ctr">
            <a:noAutofit/>
          </a:bodyPr>
          <a:lstStyle/>
          <a:p>
            <a:pPr>
              <a:spcAft>
                <a:spcPts val="400"/>
              </a:spcAft>
            </a:pPr>
            <a:r>
              <a:rPr sz="900" b="0">
                <a:solidFill>
                  <a:srgbClr val="333333"/>
                </a:solidFill>
                <a:latin typeface="Arial"/>
              </a:rPr>
              <a:t>$0.50  ·  $0.10 in / $0.50 out (≤100K)</a:t>
            </a:r>
          </a:p>
        </p:txBody>
      </p:sp>
      <p:sp>
        <p:nvSpPr>
          <p:cNvPr id="16" name="TextBox 15"/>
          <p:cNvSpPr txBox="1"/>
          <p:nvPr/>
        </p:nvSpPr>
        <p:spPr>
          <a:xfrm>
            <a:off x="457200" y="4526280"/>
            <a:ext cx="1828800" cy="384048"/>
          </a:xfrm>
          <a:prstGeom prst="rect">
            <a:avLst/>
          </a:prstGeom>
          <a:noFill/>
        </p:spPr>
        <p:txBody>
          <a:bodyPr wrap="square" lIns="0" rIns="0" tIns="0" bIns="0" anchor="ctr">
            <a:noAutofit/>
          </a:bodyPr>
          <a:lstStyle/>
          <a:p>
            <a:pPr>
              <a:spcAft>
                <a:spcPts val="400"/>
              </a:spcAft>
            </a:pPr>
            <a:r>
              <a:rPr sz="1000" b="1">
                <a:solidFill>
                  <a:srgbClr val="333333"/>
                </a:solidFill>
                <a:latin typeface="Arial"/>
              </a:rPr>
              <a:t>Flash-tier: Gemini 3.8 Flash</a:t>
            </a:r>
          </a:p>
        </p:txBody>
      </p:sp>
      <p:sp>
        <p:nvSpPr>
          <p:cNvPr id="17" name="Rectangle 16"/>
          <p:cNvSpPr/>
          <p:nvPr/>
        </p:nvSpPr>
        <p:spPr>
          <a:xfrm>
            <a:off x="2331720" y="4599432"/>
            <a:ext cx="497204" cy="237744"/>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0364" y="4526280"/>
            <a:ext cx="2977515" cy="384048"/>
          </a:xfrm>
          <a:prstGeom prst="rect">
            <a:avLst/>
          </a:prstGeom>
          <a:noFill/>
        </p:spPr>
        <p:txBody>
          <a:bodyPr wrap="square" lIns="0" rIns="0" tIns="0" bIns="0" anchor="ctr">
            <a:noAutofit/>
          </a:bodyPr>
          <a:lstStyle/>
          <a:p>
            <a:pPr>
              <a:spcAft>
                <a:spcPts val="400"/>
              </a:spcAft>
            </a:pPr>
            <a:r>
              <a:rPr sz="900" b="0">
                <a:solidFill>
                  <a:srgbClr val="333333"/>
                </a:solidFill>
                <a:latin typeface="Arial"/>
              </a:rPr>
              <a:t>$3.75  ·  $0.75 / $3.75 promo; $1.50 / $7.50 from 1 Jan 2027</a:t>
            </a:r>
          </a:p>
        </p:txBody>
      </p:sp>
      <p:sp>
        <p:nvSpPr>
          <p:cNvPr id="19" name="TextBox 18"/>
          <p:cNvSpPr txBox="1"/>
          <p:nvPr/>
        </p:nvSpPr>
        <p:spPr>
          <a:xfrm>
            <a:off x="457200" y="4983480"/>
            <a:ext cx="1828800" cy="384048"/>
          </a:xfrm>
          <a:prstGeom prst="rect">
            <a:avLst/>
          </a:prstGeom>
          <a:noFill/>
        </p:spPr>
        <p:txBody>
          <a:bodyPr wrap="square" lIns="0" rIns="0" tIns="0" bIns="0" anchor="ctr">
            <a:noAutofit/>
          </a:bodyPr>
          <a:lstStyle/>
          <a:p>
            <a:pPr>
              <a:spcAft>
                <a:spcPts val="400"/>
              </a:spcAft>
            </a:pPr>
            <a:r>
              <a:rPr sz="1000" b="1">
                <a:solidFill>
                  <a:srgbClr val="333333"/>
                </a:solidFill>
                <a:latin typeface="Arial"/>
              </a:rPr>
              <a:t>Claude Sonnet 5.5</a:t>
            </a:r>
          </a:p>
        </p:txBody>
      </p:sp>
      <p:sp>
        <p:nvSpPr>
          <p:cNvPr id="20" name="Rectangle 19"/>
          <p:cNvSpPr/>
          <p:nvPr/>
        </p:nvSpPr>
        <p:spPr>
          <a:xfrm>
            <a:off x="2331720" y="5056632"/>
            <a:ext cx="1325880" cy="237744"/>
          </a:xfrm>
          <a:prstGeom prst="rect">
            <a:avLst/>
          </a:prstGeom>
          <a:solidFill>
            <a:srgbClr val="747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39" y="4983480"/>
            <a:ext cx="2148840" cy="384048"/>
          </a:xfrm>
          <a:prstGeom prst="rect">
            <a:avLst/>
          </a:prstGeom>
          <a:noFill/>
        </p:spPr>
        <p:txBody>
          <a:bodyPr wrap="square" lIns="0" rIns="0" tIns="0" bIns="0" anchor="ctr">
            <a:noAutofit/>
          </a:bodyPr>
          <a:lstStyle/>
          <a:p>
            <a:pPr>
              <a:spcAft>
                <a:spcPts val="400"/>
              </a:spcAft>
            </a:pPr>
            <a:r>
              <a:rPr sz="900" b="0">
                <a:solidFill>
                  <a:srgbClr val="333333"/>
                </a:solidFill>
                <a:latin typeface="Arial"/>
              </a:rPr>
              <a:t>$10.00  ·  $2 / $10</a:t>
            </a:r>
          </a:p>
        </p:txBody>
      </p:sp>
      <p:sp>
        <p:nvSpPr>
          <p:cNvPr id="22" name="TextBox 21"/>
          <p:cNvSpPr txBox="1"/>
          <p:nvPr/>
        </p:nvSpPr>
        <p:spPr>
          <a:xfrm>
            <a:off x="457200" y="5440680"/>
            <a:ext cx="1828800" cy="384048"/>
          </a:xfrm>
          <a:prstGeom prst="rect">
            <a:avLst/>
          </a:prstGeom>
          <a:noFill/>
        </p:spPr>
        <p:txBody>
          <a:bodyPr wrap="square" lIns="0" rIns="0" tIns="0" bIns="0" anchor="ctr">
            <a:noAutofit/>
          </a:bodyPr>
          <a:lstStyle/>
          <a:p>
            <a:pPr>
              <a:spcAft>
                <a:spcPts val="400"/>
              </a:spcAft>
            </a:pPr>
            <a:r>
              <a:rPr sz="1000" b="1">
                <a:solidFill>
                  <a:srgbClr val="333333"/>
                </a:solidFill>
                <a:latin typeface="Arial"/>
              </a:rPr>
              <a:t>Opus-tier: Claude Opus 5.5</a:t>
            </a:r>
          </a:p>
        </p:txBody>
      </p:sp>
      <p:sp>
        <p:nvSpPr>
          <p:cNvPr id="23" name="Rectangle 22"/>
          <p:cNvSpPr/>
          <p:nvPr/>
        </p:nvSpPr>
        <p:spPr>
          <a:xfrm>
            <a:off x="2331720" y="5513832"/>
            <a:ext cx="2651760" cy="23774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74920" y="5440680"/>
            <a:ext cx="822960" cy="384048"/>
          </a:xfrm>
          <a:prstGeom prst="rect">
            <a:avLst/>
          </a:prstGeom>
          <a:noFill/>
        </p:spPr>
        <p:txBody>
          <a:bodyPr wrap="square" lIns="0" rIns="0" tIns="0" bIns="0" anchor="ctr">
            <a:noAutofit/>
          </a:bodyPr>
          <a:lstStyle/>
          <a:p>
            <a:pPr>
              <a:spcAft>
                <a:spcPts val="400"/>
              </a:spcAft>
            </a:pPr>
            <a:r>
              <a:rPr sz="900" b="0">
                <a:solidFill>
                  <a:srgbClr val="333333"/>
                </a:solidFill>
                <a:latin typeface="Arial"/>
              </a:rPr>
              <a:t>$20.00</a:t>
            </a:r>
          </a:p>
        </p:txBody>
      </p:sp>
      <p:sp>
        <p:nvSpPr>
          <p:cNvPr id="25" name="TextBox 24"/>
          <p:cNvSpPr txBox="1"/>
          <p:nvPr/>
        </p:nvSpPr>
        <p:spPr>
          <a:xfrm>
            <a:off x="457200" y="5916168"/>
            <a:ext cx="5394960" cy="411480"/>
          </a:xfrm>
          <a:prstGeom prst="rect">
            <a:avLst/>
          </a:prstGeom>
          <a:noFill/>
        </p:spPr>
        <p:txBody>
          <a:bodyPr wrap="square" lIns="0" rIns="0" tIns="0" bIns="0" anchor="t">
            <a:noAutofit/>
          </a:bodyPr>
          <a:lstStyle/>
          <a:p>
            <a:pPr>
              <a:spcAft>
                <a:spcPts val="400"/>
              </a:spcAft>
            </a:pPr>
            <a:r>
              <a:rPr sz="950" b="0">
                <a:solidFill>
                  <a:srgbClr val="747676"/>
                </a:solidFill>
                <a:latin typeface="Arial"/>
              </a:rPr>
              <a:t>Pro-tier (e.g. Gemini 3.1 Pro) price is not in the research file; add it from the rate card. Kairos spend mix by tier and length bucket is measured in POC phase P1.</a:t>
            </a:r>
          </a:p>
        </p:txBody>
      </p:sp>
      <p:sp>
        <p:nvSpPr>
          <p:cNvPr id="26" name="TextBox 25"/>
          <p:cNvSpPr txBox="1"/>
          <p:nvPr/>
        </p:nvSpPr>
        <p:spPr>
          <a:xfrm>
            <a:off x="6263640" y="1371600"/>
            <a:ext cx="5486400" cy="320040"/>
          </a:xfrm>
          <a:prstGeom prst="rect">
            <a:avLst/>
          </a:prstGeom>
          <a:noFill/>
        </p:spPr>
        <p:txBody>
          <a:bodyPr wrap="square" lIns="0" rIns="0" tIns="0" bIns="0" anchor="t">
            <a:noAutofit/>
          </a:bodyPr>
          <a:lstStyle/>
          <a:p>
            <a:pPr>
              <a:spcAft>
                <a:spcPts val="400"/>
              </a:spcAft>
            </a:pPr>
            <a:r>
              <a:rPr sz="1500" b="1">
                <a:solidFill>
                  <a:srgbClr val="000000"/>
                </a:solidFill>
                <a:latin typeface="Arial"/>
              </a:rPr>
              <a:t>Three reasons to start the POC now</a:t>
            </a:r>
          </a:p>
        </p:txBody>
      </p:sp>
      <p:sp>
        <p:nvSpPr>
          <p:cNvPr id="27" name="Rectangle 26"/>
          <p:cNvSpPr/>
          <p:nvPr/>
        </p:nvSpPr>
        <p:spPr>
          <a:xfrm>
            <a:off x="6263640" y="1810512"/>
            <a:ext cx="384048" cy="38404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1810512"/>
            <a:ext cx="384048" cy="384048"/>
          </a:xfrm>
          <a:prstGeom prst="rect">
            <a:avLst/>
          </a:prstGeom>
          <a:noFill/>
        </p:spPr>
        <p:txBody>
          <a:bodyPr wrap="square" lIns="0" rIns="0" tIns="0" bIns="0" anchor="ctr">
            <a:noAutofit/>
          </a:bodyPr>
          <a:lstStyle/>
          <a:p>
            <a:pPr algn="ctr">
              <a:spcAft>
                <a:spcPts val="400"/>
              </a:spcAft>
            </a:pPr>
            <a:r>
              <a:rPr sz="1400" b="1">
                <a:solidFill>
                  <a:srgbClr val="FFFFFF"/>
                </a:solidFill>
                <a:latin typeface="Arial"/>
              </a:rPr>
              <a:t>1</a:t>
            </a:r>
          </a:p>
        </p:txBody>
      </p:sp>
      <p:sp>
        <p:nvSpPr>
          <p:cNvPr id="29" name="TextBox 28"/>
          <p:cNvSpPr txBox="1"/>
          <p:nvPr/>
        </p:nvSpPr>
        <p:spPr>
          <a:xfrm>
            <a:off x="6812280" y="1792224"/>
            <a:ext cx="4937760" cy="1371600"/>
          </a:xfrm>
          <a:prstGeom prst="rect">
            <a:avLst/>
          </a:prstGeom>
          <a:noFill/>
        </p:spPr>
        <p:txBody>
          <a:bodyPr wrap="square" lIns="0" rIns="0" tIns="0" bIns="0" anchor="t">
            <a:noAutofit/>
          </a:bodyPr>
          <a:lstStyle/>
          <a:p>
            <a:pPr>
              <a:spcAft>
                <a:spcPts val="300"/>
              </a:spcAft>
            </a:pPr>
            <a:r>
              <a:rPr sz="1300" b="1">
                <a:solidFill>
                  <a:srgbClr val="000000"/>
                </a:solidFill>
                <a:latin typeface="Arial"/>
              </a:rPr>
              <a:t>The capability is native.</a:t>
            </a:r>
          </a:p>
          <a:p>
            <a:pPr>
              <a:spcAft>
                <a:spcPts val="400"/>
              </a:spcAft>
            </a:pPr>
            <a:r>
              <a:rPr sz="1100" b="0">
                <a:solidFill>
                  <a:srgbClr val="333333"/>
                </a:solidFill>
                <a:latin typeface="Arial"/>
              </a:rPr>
              <a:t>auto_router/complexity_router has 8 classifier families, keyword and semantic rules, adaptive pools, affinity, context-window escalation, shadow evals and a Savings tab [V]. The embedding-only semantic auto router is deprecated.</a:t>
            </a:r>
          </a:p>
        </p:txBody>
      </p:sp>
      <p:sp>
        <p:nvSpPr>
          <p:cNvPr id="30" name="Rectangle 29"/>
          <p:cNvSpPr/>
          <p:nvPr/>
        </p:nvSpPr>
        <p:spPr>
          <a:xfrm>
            <a:off x="6263640" y="3273552"/>
            <a:ext cx="384048" cy="38404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3273552"/>
            <a:ext cx="384048" cy="384048"/>
          </a:xfrm>
          <a:prstGeom prst="rect">
            <a:avLst/>
          </a:prstGeom>
          <a:noFill/>
        </p:spPr>
        <p:txBody>
          <a:bodyPr wrap="square" lIns="0" rIns="0" tIns="0" bIns="0" anchor="ctr">
            <a:noAutofit/>
          </a:bodyPr>
          <a:lstStyle/>
          <a:p>
            <a:pPr algn="ctr">
              <a:spcAft>
                <a:spcPts val="400"/>
              </a:spcAft>
            </a:pPr>
            <a:r>
              <a:rPr sz="1400" b="1">
                <a:solidFill>
                  <a:srgbClr val="FFFFFF"/>
                </a:solidFill>
                <a:latin typeface="Arial"/>
              </a:rPr>
              <a:t>2</a:t>
            </a:r>
          </a:p>
        </p:txBody>
      </p:sp>
      <p:sp>
        <p:nvSpPr>
          <p:cNvPr id="32" name="TextBox 31"/>
          <p:cNvSpPr txBox="1"/>
          <p:nvPr/>
        </p:nvSpPr>
        <p:spPr>
          <a:xfrm>
            <a:off x="6812280" y="3255264"/>
            <a:ext cx="4937760" cy="1371600"/>
          </a:xfrm>
          <a:prstGeom prst="rect">
            <a:avLst/>
          </a:prstGeom>
          <a:noFill/>
        </p:spPr>
        <p:txBody>
          <a:bodyPr wrap="square" lIns="0" rIns="0" tIns="0" bIns="0" anchor="t">
            <a:noAutofit/>
          </a:bodyPr>
          <a:lstStyle/>
          <a:p>
            <a:pPr>
              <a:spcAft>
                <a:spcPts val="300"/>
              </a:spcAft>
            </a:pPr>
            <a:r>
              <a:rPr sz="1300" b="1">
                <a:solidFill>
                  <a:srgbClr val="000000"/>
                </a:solidFill>
                <a:latin typeface="Arial"/>
              </a:rPr>
              <a:t>The vendor says the savings are large.</a:t>
            </a:r>
          </a:p>
          <a:p>
            <a:pPr>
              <a:spcAft>
                <a:spcPts val="400"/>
              </a:spcAft>
            </a:pPr>
            <a:r>
              <a:rPr sz="1100" b="0">
                <a:solidFill>
                  <a:srgbClr val="333333"/>
                </a:solidFill>
                <a:latin typeface="Arial"/>
              </a:rPr>
              <a:t>LiteLLM's production study reports 51.1% saved ($12,249) on 272,876 requests [Claim]. It is counterfactual repricing at the REASONING tier, not a quality-controlled A/B, so we must measure it ourselves.</a:t>
            </a:r>
          </a:p>
        </p:txBody>
      </p:sp>
      <p:sp>
        <p:nvSpPr>
          <p:cNvPr id="33" name="Rectangle 32"/>
          <p:cNvSpPr/>
          <p:nvPr/>
        </p:nvSpPr>
        <p:spPr>
          <a:xfrm>
            <a:off x="6263640" y="4736592"/>
            <a:ext cx="384048" cy="384048"/>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63640" y="4736592"/>
            <a:ext cx="384048" cy="384048"/>
          </a:xfrm>
          <a:prstGeom prst="rect">
            <a:avLst/>
          </a:prstGeom>
          <a:noFill/>
        </p:spPr>
        <p:txBody>
          <a:bodyPr wrap="square" lIns="0" rIns="0" tIns="0" bIns="0" anchor="ctr">
            <a:noAutofit/>
          </a:bodyPr>
          <a:lstStyle/>
          <a:p>
            <a:pPr algn="ctr">
              <a:spcAft>
                <a:spcPts val="400"/>
              </a:spcAft>
            </a:pPr>
            <a:r>
              <a:rPr sz="1400" b="1">
                <a:solidFill>
                  <a:srgbClr val="FFFFFF"/>
                </a:solidFill>
                <a:latin typeface="Arial"/>
              </a:rPr>
              <a:t>3</a:t>
            </a:r>
          </a:p>
        </p:txBody>
      </p:sp>
      <p:sp>
        <p:nvSpPr>
          <p:cNvPr id="35" name="TextBox 34"/>
          <p:cNvSpPr txBox="1"/>
          <p:nvPr/>
        </p:nvSpPr>
        <p:spPr>
          <a:xfrm>
            <a:off x="6812280" y="4718304"/>
            <a:ext cx="4937760" cy="1371600"/>
          </a:xfrm>
          <a:prstGeom prst="rect">
            <a:avLst/>
          </a:prstGeom>
          <a:noFill/>
        </p:spPr>
        <p:txBody>
          <a:bodyPr wrap="square" lIns="0" rIns="0" tIns="0" bIns="0" anchor="t">
            <a:noAutofit/>
          </a:bodyPr>
          <a:lstStyle/>
          <a:p>
            <a:pPr>
              <a:spcAft>
                <a:spcPts val="300"/>
              </a:spcAft>
            </a:pPr>
            <a:r>
              <a:rPr sz="1300" b="1">
                <a:solidFill>
                  <a:srgbClr val="000000"/>
                </a:solidFill>
                <a:latin typeface="Arial"/>
              </a:rPr>
              <a:t>The key gap is our value-add.</a:t>
            </a:r>
          </a:p>
          <a:p>
            <a:pPr>
              <a:spcAft>
                <a:spcPts val="400"/>
              </a:spcAft>
            </a:pPr>
            <a:r>
              <a:rPr sz="1100" b="0">
                <a:solidFill>
                  <a:srgbClr val="333333"/>
                </a:solidFill>
                <a:latin typeface="Arial"/>
              </a:rPr>
              <a:t>Built-in features do not send long-but-easy prompts down to Flash. Context-window escalation only moves up. A heatmap-driven policy needs a heuristic_v2_artifact or a classifier_plugin.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FEATURE INVENTORY · LITELLM V1.106.2</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The auto router is now a multi-classifier complexity router: classifiers, rules, pools, affinity, escalation and ops are all config keys</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https://docs.litellm.ai/docs/proxy/auto_routing · litellm/router_strategy/complexity_router/config.py@v1.106.2 (oss_classifier L690–835). All [V] unless marked.</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3</a:t>
            </a:r>
          </a:p>
        </p:txBody>
      </p:sp>
      <p:sp>
        <p:nvSpPr>
          <p:cNvPr id="8" name="TextBox 7"/>
          <p:cNvSpPr txBox="1"/>
          <p:nvPr/>
        </p:nvSpPr>
        <p:spPr>
          <a:xfrm>
            <a:off x="457200" y="1325880"/>
            <a:ext cx="5669280" cy="274320"/>
          </a:xfrm>
          <a:prstGeom prst="rect">
            <a:avLst/>
          </a:prstGeom>
          <a:noFill/>
        </p:spPr>
        <p:txBody>
          <a:bodyPr wrap="square" lIns="0" rIns="0" tIns="0" bIns="0" anchor="t">
            <a:noAutofit/>
          </a:bodyPr>
          <a:lstStyle/>
          <a:p>
            <a:pPr>
              <a:spcAft>
                <a:spcPts val="400"/>
              </a:spcAft>
            </a:pPr>
            <a:r>
              <a:rPr sz="1050" b="1">
                <a:solidFill>
                  <a:srgbClr val="000000"/>
                </a:solidFill>
                <a:latin typeface="Arial"/>
              </a:rPr>
              <a:t>Entry: model: auto_router/complexity_router  ·  complexity_router_config.tiers  SIMPLE / MEDIUM / COMPLEX / REASONING (custom names allowed; a tier is one model or a pool)</a:t>
            </a:r>
          </a:p>
        </p:txBody>
      </p:sp>
      <p:sp>
        <p:nvSpPr>
          <p:cNvPr id="9" name="Rectangle 8"/>
          <p:cNvSpPr/>
          <p:nvPr/>
        </p:nvSpPr>
        <p:spPr>
          <a:xfrm>
            <a:off x="457200" y="1783080"/>
            <a:ext cx="5623560" cy="45262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47088"/>
            <a:ext cx="5394960" cy="274320"/>
          </a:xfrm>
          <a:prstGeom prst="rect">
            <a:avLst/>
          </a:prstGeom>
          <a:noFill/>
        </p:spPr>
        <p:txBody>
          <a:bodyPr wrap="square" lIns="0" rIns="0" tIns="0" bIns="0" anchor="t">
            <a:noAutofit/>
          </a:bodyPr>
          <a:lstStyle/>
          <a:p>
            <a:pPr>
              <a:spcAft>
                <a:spcPts val="400"/>
              </a:spcAft>
            </a:pPr>
            <a:r>
              <a:rPr sz="1200" b="1">
                <a:solidFill>
                  <a:srgbClr val="000000"/>
                </a:solidFill>
                <a:latin typeface="Arial"/>
              </a:rPr>
              <a:t>8 classifier families + custom hook  (classifier_type)</a:t>
            </a:r>
          </a:p>
        </p:txBody>
      </p:sp>
      <p:sp>
        <p:nvSpPr>
          <p:cNvPr id="11" name="Rectangle 10"/>
          <p:cNvSpPr/>
          <p:nvPr/>
        </p:nvSpPr>
        <p:spPr>
          <a:xfrm>
            <a:off x="594360" y="2194560"/>
            <a:ext cx="1417320" cy="402336"/>
          </a:xfrm>
          <a:prstGeom prst="rect">
            <a:avLst/>
          </a:prstGeom>
          <a:solidFill>
            <a:srgbClr val="FFFFFF"/>
          </a:solidFill>
          <a:ln w="9525">
            <a:solidFill>
              <a:srgbClr val="747676"/>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00" b="1">
                <a:solidFill>
                  <a:srgbClr val="000000"/>
                </a:solidFill>
                <a:latin typeface="Arial"/>
              </a:rPr>
              <a:t>heuristic v1</a:t>
            </a:r>
          </a:p>
        </p:txBody>
      </p:sp>
      <p:sp>
        <p:nvSpPr>
          <p:cNvPr id="12" name="TextBox 11"/>
          <p:cNvSpPr txBox="1"/>
          <p:nvPr/>
        </p:nvSpPr>
        <p:spPr>
          <a:xfrm>
            <a:off x="2103120" y="2194560"/>
            <a:ext cx="3931920" cy="402336"/>
          </a:xfrm>
          <a:prstGeom prst="rect">
            <a:avLst/>
          </a:prstGeom>
          <a:noFill/>
        </p:spPr>
        <p:txBody>
          <a:bodyPr wrap="square" lIns="0" rIns="0" tIns="0" bIns="0" anchor="ctr">
            <a:noAutofit/>
          </a:bodyPr>
          <a:lstStyle/>
          <a:p>
            <a:pPr>
              <a:spcAft>
                <a:spcPts val="400"/>
              </a:spcAft>
            </a:pPr>
            <a:r>
              <a:rPr sz="950" b="0">
                <a:solidFill>
                  <a:srgbClr val="333333"/>
                </a:solidFill>
                <a:latin typeface="Arial"/>
              </a:rPr>
              <a:t>tier_boundaries, token_thresholds, dimension_weights; sub-ms, free</a:t>
            </a:r>
          </a:p>
        </p:txBody>
      </p:sp>
      <p:sp>
        <p:nvSpPr>
          <p:cNvPr id="13" name="Rectangle 12"/>
          <p:cNvSpPr/>
          <p:nvPr/>
        </p:nvSpPr>
        <p:spPr>
          <a:xfrm>
            <a:off x="594360" y="2646273"/>
            <a:ext cx="1417320" cy="402336"/>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00" b="1">
                <a:solidFill>
                  <a:srgbClr val="FFFFFF"/>
                </a:solidFill>
                <a:latin typeface="Arial"/>
              </a:rPr>
              <a:t>heuristic_v2</a:t>
            </a:r>
          </a:p>
        </p:txBody>
      </p:sp>
      <p:sp>
        <p:nvSpPr>
          <p:cNvPr id="14" name="TextBox 13"/>
          <p:cNvSpPr txBox="1"/>
          <p:nvPr/>
        </p:nvSpPr>
        <p:spPr>
          <a:xfrm>
            <a:off x="2103120" y="2646273"/>
            <a:ext cx="3931920" cy="402336"/>
          </a:xfrm>
          <a:prstGeom prst="rect">
            <a:avLst/>
          </a:prstGeom>
          <a:noFill/>
        </p:spPr>
        <p:txBody>
          <a:bodyPr wrap="square" lIns="0" rIns="0" tIns="0" bIns="0" anchor="ctr">
            <a:noAutofit/>
          </a:bodyPr>
          <a:lstStyle/>
          <a:p>
            <a:pPr>
              <a:spcAft>
                <a:spcPts val="400"/>
              </a:spcAft>
            </a:pPr>
            <a:r>
              <a:rPr sz="950" b="0">
                <a:solidFill>
                  <a:srgbClr val="333333"/>
                </a:solidFill>
                <a:latin typeface="Arial"/>
              </a:rPr>
              <a:t>heuristic_v2_artifact (per-tier/domain/cohort stats), success_threshold 0.75 default</a:t>
            </a:r>
          </a:p>
        </p:txBody>
      </p:sp>
      <p:sp>
        <p:nvSpPr>
          <p:cNvPr id="15" name="Rectangle 14"/>
          <p:cNvSpPr/>
          <p:nvPr/>
        </p:nvSpPr>
        <p:spPr>
          <a:xfrm>
            <a:off x="594360" y="3097987"/>
            <a:ext cx="1417320" cy="402336"/>
          </a:xfrm>
          <a:prstGeom prst="rect">
            <a:avLst/>
          </a:prstGeom>
          <a:solidFill>
            <a:srgbClr val="FFFFFF"/>
          </a:solidFill>
          <a:ln w="9525">
            <a:solidFill>
              <a:srgbClr val="747676"/>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00" b="1">
                <a:solidFill>
                  <a:srgbClr val="000000"/>
                </a:solidFill>
                <a:latin typeface="Arial"/>
              </a:rPr>
              <a:t>heuristic_first</a:t>
            </a:r>
          </a:p>
        </p:txBody>
      </p:sp>
      <p:sp>
        <p:nvSpPr>
          <p:cNvPr id="16" name="TextBox 15"/>
          <p:cNvSpPr txBox="1"/>
          <p:nvPr/>
        </p:nvSpPr>
        <p:spPr>
          <a:xfrm>
            <a:off x="2103120" y="3097987"/>
            <a:ext cx="3931920" cy="402336"/>
          </a:xfrm>
          <a:prstGeom prst="rect">
            <a:avLst/>
          </a:prstGeom>
          <a:noFill/>
        </p:spPr>
        <p:txBody>
          <a:bodyPr wrap="square" lIns="0" rIns="0" tIns="0" bIns="0" anchor="ctr">
            <a:noAutofit/>
          </a:bodyPr>
          <a:lstStyle/>
          <a:p>
            <a:pPr>
              <a:spcAft>
                <a:spcPts val="400"/>
              </a:spcAft>
            </a:pPr>
            <a:r>
              <a:rPr sz="950" b="0">
                <a:solidFill>
                  <a:srgbClr val="333333"/>
                </a:solidFill>
                <a:latin typeface="Arial"/>
              </a:rPr>
              <a:t>heuristic_first_max_tier: classifier only above the cap</a:t>
            </a:r>
          </a:p>
        </p:txBody>
      </p:sp>
      <p:sp>
        <p:nvSpPr>
          <p:cNvPr id="17" name="Rectangle 16"/>
          <p:cNvSpPr/>
          <p:nvPr/>
        </p:nvSpPr>
        <p:spPr>
          <a:xfrm>
            <a:off x="594360" y="3549700"/>
            <a:ext cx="1417320" cy="402336"/>
          </a:xfrm>
          <a:prstGeom prst="rect">
            <a:avLst/>
          </a:prstGeom>
          <a:solidFill>
            <a:srgbClr val="FFFFFF"/>
          </a:solidFill>
          <a:ln w="9525">
            <a:solidFill>
              <a:srgbClr val="747676"/>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00" b="1">
                <a:solidFill>
                  <a:srgbClr val="000000"/>
                </a:solidFill>
                <a:latin typeface="Arial"/>
              </a:rPr>
              <a:t>hybrid</a:t>
            </a:r>
          </a:p>
        </p:txBody>
      </p:sp>
      <p:sp>
        <p:nvSpPr>
          <p:cNvPr id="18" name="TextBox 17"/>
          <p:cNvSpPr txBox="1"/>
          <p:nvPr/>
        </p:nvSpPr>
        <p:spPr>
          <a:xfrm>
            <a:off x="2103120" y="3549700"/>
            <a:ext cx="3931920" cy="402336"/>
          </a:xfrm>
          <a:prstGeom prst="rect">
            <a:avLst/>
          </a:prstGeom>
          <a:noFill/>
        </p:spPr>
        <p:txBody>
          <a:bodyPr wrap="square" lIns="0" rIns="0" tIns="0" bIns="0" anchor="ctr">
            <a:noAutofit/>
          </a:bodyPr>
          <a:lstStyle/>
          <a:p>
            <a:pPr>
              <a:spcAft>
                <a:spcPts val="400"/>
              </a:spcAft>
            </a:pPr>
            <a:r>
              <a:rPr sz="950" b="0">
                <a:solidFill>
                  <a:srgbClr val="333333"/>
                </a:solidFill>
                <a:latin typeface="Arial"/>
              </a:rPr>
              <a:t>hybrid_boundary_margin: classifier only near tier edges</a:t>
            </a:r>
          </a:p>
        </p:txBody>
      </p:sp>
      <p:sp>
        <p:nvSpPr>
          <p:cNvPr id="19" name="Rectangle 18"/>
          <p:cNvSpPr/>
          <p:nvPr/>
        </p:nvSpPr>
        <p:spPr>
          <a:xfrm>
            <a:off x="594360" y="4001414"/>
            <a:ext cx="1417320" cy="402336"/>
          </a:xfrm>
          <a:prstGeom prst="rect">
            <a:avLst/>
          </a:prstGeom>
          <a:solidFill>
            <a:srgbClr val="FFFFFF"/>
          </a:solidFill>
          <a:ln w="9525">
            <a:solidFill>
              <a:srgbClr val="747676"/>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00" b="1">
                <a:solidFill>
                  <a:srgbClr val="000000"/>
                </a:solidFill>
                <a:latin typeface="Arial"/>
              </a:rPr>
              <a:t>llm</a:t>
            </a:r>
          </a:p>
        </p:txBody>
      </p:sp>
      <p:sp>
        <p:nvSpPr>
          <p:cNvPr id="20" name="TextBox 19"/>
          <p:cNvSpPr txBox="1"/>
          <p:nvPr/>
        </p:nvSpPr>
        <p:spPr>
          <a:xfrm>
            <a:off x="2103120" y="4001414"/>
            <a:ext cx="3931920" cy="402336"/>
          </a:xfrm>
          <a:prstGeom prst="rect">
            <a:avLst/>
          </a:prstGeom>
          <a:noFill/>
        </p:spPr>
        <p:txBody>
          <a:bodyPr wrap="square" lIns="0" rIns="0" tIns="0" bIns="0" anchor="ctr">
            <a:noAutofit/>
          </a:bodyPr>
          <a:lstStyle/>
          <a:p>
            <a:pPr>
              <a:spcAft>
                <a:spcPts val="400"/>
              </a:spcAft>
            </a:pPr>
            <a:r>
              <a:rPr sz="950" b="0">
                <a:solidFill>
                  <a:srgbClr val="333333"/>
                </a:solidFill>
                <a:latin typeface="Arial"/>
              </a:rPr>
              <a:t>classifier_llm_config, classification_rubric; custom prompt = Enterprise</a:t>
            </a:r>
          </a:p>
        </p:txBody>
      </p:sp>
      <p:sp>
        <p:nvSpPr>
          <p:cNvPr id="21" name="Rectangle 20"/>
          <p:cNvSpPr/>
          <p:nvPr/>
        </p:nvSpPr>
        <p:spPr>
          <a:xfrm>
            <a:off x="594360" y="4453127"/>
            <a:ext cx="1417320" cy="402336"/>
          </a:xfrm>
          <a:prstGeom prst="rect">
            <a:avLst/>
          </a:prstGeom>
          <a:solidFill>
            <a:srgbClr val="FFFFFF"/>
          </a:solidFill>
          <a:ln w="9525">
            <a:solidFill>
              <a:srgbClr val="747676"/>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00" b="1">
                <a:solidFill>
                  <a:srgbClr val="000000"/>
                </a:solidFill>
                <a:latin typeface="Arial"/>
              </a:rPr>
              <a:t>capability</a:t>
            </a:r>
          </a:p>
        </p:txBody>
      </p:sp>
      <p:sp>
        <p:nvSpPr>
          <p:cNvPr id="22" name="TextBox 21"/>
          <p:cNvSpPr txBox="1"/>
          <p:nvPr/>
        </p:nvSpPr>
        <p:spPr>
          <a:xfrm>
            <a:off x="2103120" y="4453127"/>
            <a:ext cx="3931920" cy="402336"/>
          </a:xfrm>
          <a:prstGeom prst="rect">
            <a:avLst/>
          </a:prstGeom>
          <a:noFill/>
        </p:spPr>
        <p:txBody>
          <a:bodyPr wrap="square" lIns="0" rIns="0" tIns="0" bIns="0" anchor="ctr">
            <a:noAutofit/>
          </a:bodyPr>
          <a:lstStyle/>
          <a:p>
            <a:pPr>
              <a:spcAft>
                <a:spcPts val="400"/>
              </a:spcAft>
            </a:pPr>
            <a:r>
              <a:rPr sz="950" b="0">
                <a:solidFill>
                  <a:srgbClr val="333333"/>
                </a:solidFill>
                <a:latin typeface="Arial"/>
              </a:rPr>
              <a:t>capability_classifier_config (base_threshold, calibration)</a:t>
            </a:r>
          </a:p>
        </p:txBody>
      </p:sp>
      <p:sp>
        <p:nvSpPr>
          <p:cNvPr id="23" name="Rectangle 22"/>
          <p:cNvSpPr/>
          <p:nvPr/>
        </p:nvSpPr>
        <p:spPr>
          <a:xfrm>
            <a:off x="594360" y="4904841"/>
            <a:ext cx="1417320" cy="402336"/>
          </a:xfrm>
          <a:prstGeom prst="rect">
            <a:avLst/>
          </a:prstGeom>
          <a:solidFill>
            <a:srgbClr val="FFFFFF"/>
          </a:solidFill>
          <a:ln w="9525">
            <a:solidFill>
              <a:srgbClr val="747676"/>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00" b="1">
                <a:solidFill>
                  <a:srgbClr val="000000"/>
                </a:solidFill>
                <a:latin typeface="Arial"/>
              </a:rPr>
              <a:t>llm_v2 "Fuse"</a:t>
            </a:r>
          </a:p>
        </p:txBody>
      </p:sp>
      <p:sp>
        <p:nvSpPr>
          <p:cNvPr id="24" name="TextBox 23"/>
          <p:cNvSpPr txBox="1"/>
          <p:nvPr/>
        </p:nvSpPr>
        <p:spPr>
          <a:xfrm>
            <a:off x="2103120" y="4904841"/>
            <a:ext cx="3931920" cy="402336"/>
          </a:xfrm>
          <a:prstGeom prst="rect">
            <a:avLst/>
          </a:prstGeom>
          <a:noFill/>
        </p:spPr>
        <p:txBody>
          <a:bodyPr wrap="square" lIns="0" rIns="0" tIns="0" bIns="0" anchor="ctr">
            <a:noAutofit/>
          </a:bodyPr>
          <a:lstStyle/>
          <a:p>
            <a:pPr>
              <a:spcAft>
                <a:spcPts val="400"/>
              </a:spcAft>
            </a:pPr>
            <a:r>
              <a:rPr sz="950" b="0">
                <a:solidFill>
                  <a:srgbClr val="333333"/>
                </a:solidFill>
                <a:latin typeface="Arial"/>
              </a:rPr>
              <a:t>max_quality_gap</a:t>
            </a:r>
          </a:p>
        </p:txBody>
      </p:sp>
      <p:sp>
        <p:nvSpPr>
          <p:cNvPr id="25" name="Rectangle 24"/>
          <p:cNvSpPr/>
          <p:nvPr/>
        </p:nvSpPr>
        <p:spPr>
          <a:xfrm>
            <a:off x="594360" y="5356555"/>
            <a:ext cx="1417320" cy="402336"/>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00" b="1">
                <a:solidFill>
                  <a:srgbClr val="FFFFFF"/>
                </a:solidFill>
                <a:latin typeface="Arial"/>
              </a:rPr>
              <a:t>oss_classifier</a:t>
            </a:r>
          </a:p>
        </p:txBody>
      </p:sp>
      <p:sp>
        <p:nvSpPr>
          <p:cNvPr id="26" name="TextBox 25"/>
          <p:cNvSpPr txBox="1"/>
          <p:nvPr/>
        </p:nvSpPr>
        <p:spPr>
          <a:xfrm>
            <a:off x="2103120" y="5356555"/>
            <a:ext cx="3931920" cy="402336"/>
          </a:xfrm>
          <a:prstGeom prst="rect">
            <a:avLst/>
          </a:prstGeom>
          <a:noFill/>
        </p:spPr>
        <p:txBody>
          <a:bodyPr wrap="square" lIns="0" rIns="0" tIns="0" bIns="0" anchor="ctr">
            <a:noAutofit/>
          </a:bodyPr>
          <a:lstStyle/>
          <a:p>
            <a:pPr>
              <a:spcAft>
                <a:spcPts val="400"/>
              </a:spcAft>
            </a:pPr>
            <a:r>
              <a:rPr sz="950" b="0">
                <a:solidFill>
                  <a:srgbClr val="333333"/>
                </a:solidFill>
                <a:latin typeface="Arial"/>
              </a:rPr>
              <a:t>jev / laya / bespoke / databricks or deployment_name; timeout 3000 ms; breaker 30 s</a:t>
            </a:r>
          </a:p>
        </p:txBody>
      </p:sp>
      <p:sp>
        <p:nvSpPr>
          <p:cNvPr id="27" name="Rectangle 26"/>
          <p:cNvSpPr/>
          <p:nvPr/>
        </p:nvSpPr>
        <p:spPr>
          <a:xfrm>
            <a:off x="594360" y="5808268"/>
            <a:ext cx="1417320" cy="402336"/>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00" b="1">
                <a:solidFill>
                  <a:srgbClr val="FFFFFF"/>
                </a:solidFill>
                <a:latin typeface="Arial"/>
              </a:rPr>
              <a:t>custom (hook)</a:t>
            </a:r>
          </a:p>
        </p:txBody>
      </p:sp>
      <p:sp>
        <p:nvSpPr>
          <p:cNvPr id="28" name="TextBox 27"/>
          <p:cNvSpPr txBox="1"/>
          <p:nvPr/>
        </p:nvSpPr>
        <p:spPr>
          <a:xfrm>
            <a:off x="2103120" y="5808268"/>
            <a:ext cx="3931920" cy="402336"/>
          </a:xfrm>
          <a:prstGeom prst="rect">
            <a:avLst/>
          </a:prstGeom>
          <a:noFill/>
        </p:spPr>
        <p:txBody>
          <a:bodyPr wrap="square" lIns="0" rIns="0" tIns="0" bIns="0" anchor="ctr">
            <a:noAutofit/>
          </a:bodyPr>
          <a:lstStyle/>
          <a:p>
            <a:pPr>
              <a:spcAft>
                <a:spcPts val="400"/>
              </a:spcAft>
            </a:pPr>
            <a:r>
              <a:rPr sz="950" b="0">
                <a:solidFill>
                  <a:srgbClr val="333333"/>
                </a:solidFill>
                <a:latin typeface="Arial"/>
              </a:rPr>
              <a:t>classifier_plugin: async classify(context) → tier or None</a:t>
            </a:r>
          </a:p>
        </p:txBody>
      </p:sp>
      <p:sp>
        <p:nvSpPr>
          <p:cNvPr id="29" name="Rectangle 28"/>
          <p:cNvSpPr/>
          <p:nvPr/>
        </p:nvSpPr>
        <p:spPr>
          <a:xfrm>
            <a:off x="6263640" y="1783080"/>
            <a:ext cx="2697480" cy="896112"/>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63640" y="1783080"/>
            <a:ext cx="45720" cy="896112"/>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1828800"/>
            <a:ext cx="2496312" cy="822960"/>
          </a:xfrm>
          <a:prstGeom prst="rect">
            <a:avLst/>
          </a:prstGeom>
          <a:noFill/>
        </p:spPr>
        <p:txBody>
          <a:bodyPr wrap="square" lIns="0" rIns="0" tIns="0" bIns="0" anchor="t">
            <a:noAutofit/>
          </a:bodyPr>
          <a:lstStyle/>
          <a:p>
            <a:pPr>
              <a:spcAft>
                <a:spcPts val="100"/>
              </a:spcAft>
            </a:pPr>
            <a:r>
              <a:rPr sz="1050" b="1">
                <a:solidFill>
                  <a:srgbClr val="000000"/>
                </a:solidFill>
                <a:latin typeface="Arial"/>
              </a:rPr>
              <a:t>Rules</a:t>
            </a:r>
          </a:p>
          <a:p>
            <a:pPr>
              <a:spcAft>
                <a:spcPts val="400"/>
              </a:spcAft>
            </a:pPr>
            <a:r>
              <a:rPr sz="900" b="0">
                <a:solidFill>
                  <a:srgbClr val="333333"/>
                </a:solidFill>
                <a:latin typeface="Arial"/>
              </a:rPr>
              <a:t>keyword_tier_rules, escalation_keywords, custom_technical_keywords; semantic_keyword_matching + embedding_model + match_threshold (Kairos embeddings plug in here)</a:t>
            </a:r>
          </a:p>
        </p:txBody>
      </p:sp>
      <p:sp>
        <p:nvSpPr>
          <p:cNvPr id="32" name="Rectangle 31"/>
          <p:cNvSpPr/>
          <p:nvPr/>
        </p:nvSpPr>
        <p:spPr>
          <a:xfrm>
            <a:off x="9034272" y="1783080"/>
            <a:ext cx="2697480" cy="896112"/>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034272" y="1783080"/>
            <a:ext cx="45720" cy="896112"/>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71432" y="1828800"/>
            <a:ext cx="2496312" cy="822960"/>
          </a:xfrm>
          <a:prstGeom prst="rect">
            <a:avLst/>
          </a:prstGeom>
          <a:noFill/>
        </p:spPr>
        <p:txBody>
          <a:bodyPr wrap="square" lIns="0" rIns="0" tIns="0" bIns="0" anchor="t">
            <a:noAutofit/>
          </a:bodyPr>
          <a:lstStyle/>
          <a:p>
            <a:pPr>
              <a:spcAft>
                <a:spcPts val="100"/>
              </a:spcAft>
            </a:pPr>
            <a:r>
              <a:rPr sz="1050" b="1">
                <a:solidFill>
                  <a:srgbClr val="000000"/>
                </a:solidFill>
                <a:latin typeface="Arial"/>
              </a:rPr>
              <a:t>Pools</a:t>
            </a:r>
          </a:p>
          <a:p>
            <a:pPr>
              <a:spcAft>
                <a:spcPts val="400"/>
              </a:spcAft>
            </a:pPr>
            <a:r>
              <a:rPr sz="900" b="0">
                <a:solidFill>
                  <a:srgbClr val="333333"/>
                </a:solidFill>
                <a:latin typeface="Arial"/>
              </a:rPr>
              <a:t>Random pool, or adaptive: true (Thompson sampling within a tier)</a:t>
            </a:r>
          </a:p>
        </p:txBody>
      </p:sp>
      <p:sp>
        <p:nvSpPr>
          <p:cNvPr id="35" name="Rectangle 34"/>
          <p:cNvSpPr/>
          <p:nvPr/>
        </p:nvSpPr>
        <p:spPr>
          <a:xfrm>
            <a:off x="6263640" y="2692908"/>
            <a:ext cx="2697480" cy="896112"/>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63640" y="2692908"/>
            <a:ext cx="45720" cy="896112"/>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2738627"/>
            <a:ext cx="2496312" cy="822960"/>
          </a:xfrm>
          <a:prstGeom prst="rect">
            <a:avLst/>
          </a:prstGeom>
          <a:noFill/>
        </p:spPr>
        <p:txBody>
          <a:bodyPr wrap="square" lIns="0" rIns="0" tIns="0" bIns="0" anchor="t">
            <a:noAutofit/>
          </a:bodyPr>
          <a:lstStyle/>
          <a:p>
            <a:pPr>
              <a:spcAft>
                <a:spcPts val="100"/>
              </a:spcAft>
            </a:pPr>
            <a:r>
              <a:rPr sz="1050" b="1">
                <a:solidFill>
                  <a:srgbClr val="000000"/>
                </a:solidFill>
                <a:latin typeface="Arial"/>
              </a:rPr>
              <a:t>Affinity</a:t>
            </a:r>
          </a:p>
          <a:p>
            <a:pPr>
              <a:spcAft>
                <a:spcPts val="400"/>
              </a:spcAft>
            </a:pPr>
            <a:r>
              <a:rPr sz="900" b="0">
                <a:solidFill>
                  <a:srgbClr val="333333"/>
                </a:solidFill>
                <a:latin typeface="Arial"/>
              </a:rPr>
              <a:t>session_affinity (off by default, TTL 3600 s); deployment affinity on by default (v1.97). Protects prompt cache</a:t>
            </a:r>
          </a:p>
        </p:txBody>
      </p:sp>
      <p:sp>
        <p:nvSpPr>
          <p:cNvPr id="38" name="Rectangle 37"/>
          <p:cNvSpPr/>
          <p:nvPr/>
        </p:nvSpPr>
        <p:spPr>
          <a:xfrm>
            <a:off x="9034272" y="2692908"/>
            <a:ext cx="2697480" cy="896112"/>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34272" y="2692908"/>
            <a:ext cx="45720" cy="896112"/>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71432" y="2738627"/>
            <a:ext cx="2496312" cy="822960"/>
          </a:xfrm>
          <a:prstGeom prst="rect">
            <a:avLst/>
          </a:prstGeom>
          <a:noFill/>
        </p:spPr>
        <p:txBody>
          <a:bodyPr wrap="square" lIns="0" rIns="0" tIns="0" bIns="0" anchor="t">
            <a:noAutofit/>
          </a:bodyPr>
          <a:lstStyle/>
          <a:p>
            <a:pPr>
              <a:spcAft>
                <a:spcPts val="100"/>
              </a:spcAft>
            </a:pPr>
            <a:r>
              <a:rPr sz="1050" b="1">
                <a:solidFill>
                  <a:srgbClr val="000000"/>
                </a:solidFill>
                <a:latin typeface="Arial"/>
              </a:rPr>
              <a:t>Context</a:t>
            </a:r>
          </a:p>
          <a:p>
            <a:pPr>
              <a:spcAft>
                <a:spcPts val="400"/>
              </a:spcAft>
            </a:pPr>
            <a:r>
              <a:rPr sz="900" b="0">
                <a:solidFill>
                  <a:srgbClr val="333333"/>
                </a:solidFill>
                <a:latin typeface="Arial"/>
              </a:rPr>
              <a:t>enable_context_window_escalation (opt-in since v1.104.0), buffer 0.95; context_compaction on. Upward only</a:t>
            </a:r>
          </a:p>
        </p:txBody>
      </p:sp>
      <p:sp>
        <p:nvSpPr>
          <p:cNvPr id="41" name="Rectangle 40"/>
          <p:cNvSpPr/>
          <p:nvPr/>
        </p:nvSpPr>
        <p:spPr>
          <a:xfrm>
            <a:off x="6263640" y="3602736"/>
            <a:ext cx="2697480" cy="896112"/>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63640" y="3602736"/>
            <a:ext cx="45720" cy="896112"/>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0" y="3648456"/>
            <a:ext cx="2496312" cy="822960"/>
          </a:xfrm>
          <a:prstGeom prst="rect">
            <a:avLst/>
          </a:prstGeom>
          <a:noFill/>
        </p:spPr>
        <p:txBody>
          <a:bodyPr wrap="square" lIns="0" rIns="0" tIns="0" bIns="0" anchor="t">
            <a:noAutofit/>
          </a:bodyPr>
          <a:lstStyle/>
          <a:p>
            <a:pPr>
              <a:spcAft>
                <a:spcPts val="100"/>
              </a:spcAft>
            </a:pPr>
            <a:r>
              <a:rPr sz="1050" b="1">
                <a:solidFill>
                  <a:srgbClr val="000000"/>
                </a:solidFill>
                <a:latin typeface="Arial"/>
              </a:rPr>
              <a:t>Turn handling</a:t>
            </a:r>
          </a:p>
          <a:p>
            <a:pPr>
              <a:spcAft>
                <a:spcPts val="400"/>
              </a:spcAft>
            </a:pPr>
            <a:r>
              <a:rPr sz="900" b="0">
                <a:solidFill>
                  <a:srgbClr val="333333"/>
                </a:solidFill>
                <a:latin typeface="Arial"/>
              </a:rPr>
              <a:t>classification_mode every_request | user_turn; classifier_context_window_size 3; budget 8000 chars</a:t>
            </a:r>
          </a:p>
        </p:txBody>
      </p:sp>
      <p:sp>
        <p:nvSpPr>
          <p:cNvPr id="44" name="Rectangle 43"/>
          <p:cNvSpPr/>
          <p:nvPr/>
        </p:nvSpPr>
        <p:spPr>
          <a:xfrm>
            <a:off x="9034272" y="3602736"/>
            <a:ext cx="2697480" cy="896112"/>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034272" y="3602736"/>
            <a:ext cx="45720" cy="896112"/>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71432" y="3648456"/>
            <a:ext cx="2496312" cy="822960"/>
          </a:xfrm>
          <a:prstGeom prst="rect">
            <a:avLst/>
          </a:prstGeom>
          <a:noFill/>
        </p:spPr>
        <p:txBody>
          <a:bodyPr wrap="square" lIns="0" rIns="0" tIns="0" bIns="0" anchor="t">
            <a:noAutofit/>
          </a:bodyPr>
          <a:lstStyle/>
          <a:p>
            <a:pPr>
              <a:spcAft>
                <a:spcPts val="100"/>
              </a:spcAft>
            </a:pPr>
            <a:r>
              <a:rPr sz="1050" b="1">
                <a:solidFill>
                  <a:srgbClr val="000000"/>
                </a:solidFill>
                <a:latin typeface="Arial"/>
              </a:rPr>
              <a:t>Fallback · modality</a:t>
            </a:r>
          </a:p>
          <a:p>
            <a:pPr>
              <a:spcAft>
                <a:spcPts val="400"/>
              </a:spcAft>
            </a:pPr>
            <a:r>
              <a:rPr sz="900" b="0">
                <a:solidFill>
                  <a:srgbClr val="333333"/>
                </a:solidFill>
                <a:latin typeface="Arial"/>
              </a:rPr>
              <a:t>classifier_fallback heuristic | default_model; complexity_router_default_model; modality_routing</a:t>
            </a:r>
          </a:p>
        </p:txBody>
      </p:sp>
      <p:sp>
        <p:nvSpPr>
          <p:cNvPr id="47" name="Rectangle 46"/>
          <p:cNvSpPr/>
          <p:nvPr/>
        </p:nvSpPr>
        <p:spPr>
          <a:xfrm>
            <a:off x="6263640" y="4512564"/>
            <a:ext cx="2697480" cy="896112"/>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63640" y="4512564"/>
            <a:ext cx="45720" cy="896112"/>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0" y="4558283"/>
            <a:ext cx="2496312" cy="822960"/>
          </a:xfrm>
          <a:prstGeom prst="rect">
            <a:avLst/>
          </a:prstGeom>
          <a:noFill/>
        </p:spPr>
        <p:txBody>
          <a:bodyPr wrap="square" lIns="0" rIns="0" tIns="0" bIns="0" anchor="t">
            <a:noAutofit/>
          </a:bodyPr>
          <a:lstStyle/>
          <a:p>
            <a:pPr>
              <a:spcAft>
                <a:spcPts val="100"/>
              </a:spcAft>
            </a:pPr>
            <a:r>
              <a:rPr sz="1050" b="1">
                <a:solidFill>
                  <a:srgbClr val="000000"/>
                </a:solidFill>
                <a:latin typeface="Arial"/>
              </a:rPr>
              <a:t>Plugins</a:t>
            </a:r>
          </a:p>
          <a:p>
            <a:pPr>
              <a:spcAft>
                <a:spcPts val="400"/>
              </a:spcAft>
            </a:pPr>
            <a:r>
              <a:rPr sz="900" b="0">
                <a:solidFill>
                  <a:srgbClr val="333333"/>
                </a:solidFill>
                <a:latin typeface="Arial"/>
              </a:rPr>
              <a:t>router_settings.plugins, complexity_router_config.plugins (RoutingContext narrows candidate_models)</a:t>
            </a:r>
          </a:p>
        </p:txBody>
      </p:sp>
      <p:sp>
        <p:nvSpPr>
          <p:cNvPr id="50" name="Rectangle 49"/>
          <p:cNvSpPr/>
          <p:nvPr/>
        </p:nvSpPr>
        <p:spPr>
          <a:xfrm>
            <a:off x="9034272" y="4512564"/>
            <a:ext cx="2697480" cy="896112"/>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034272" y="4512564"/>
            <a:ext cx="45720" cy="896112"/>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71432" y="4558283"/>
            <a:ext cx="2496312" cy="822960"/>
          </a:xfrm>
          <a:prstGeom prst="rect">
            <a:avLst/>
          </a:prstGeom>
          <a:noFill/>
        </p:spPr>
        <p:txBody>
          <a:bodyPr wrap="square" lIns="0" rIns="0" tIns="0" bIns="0" anchor="t">
            <a:noAutofit/>
          </a:bodyPr>
          <a:lstStyle/>
          <a:p>
            <a:pPr>
              <a:spcAft>
                <a:spcPts val="100"/>
              </a:spcAft>
            </a:pPr>
            <a:r>
              <a:rPr sz="1050" b="1">
                <a:solidFill>
                  <a:srgbClr val="000000"/>
                </a:solidFill>
                <a:latin typeface="Arial"/>
              </a:rPr>
              <a:t>Ops</a:t>
            </a:r>
          </a:p>
          <a:p>
            <a:pPr>
              <a:spcAft>
                <a:spcPts val="400"/>
              </a:spcAft>
            </a:pPr>
            <a:r>
              <a:rPr sz="900" b="0">
                <a:solidFill>
                  <a:srgbClr val="333333"/>
                </a:solidFill>
                <a:latin typeface="Arial"/>
              </a:rPr>
              <a:t>/auto_router/test_routing, validate_complexity_router_config, routing headers, x-litellm-classifier-cost, decision-log cause=, Savings tab</a:t>
            </a:r>
          </a:p>
        </p:txBody>
      </p:sp>
      <p:sp>
        <p:nvSpPr>
          <p:cNvPr id="53" name="Rectangle 52"/>
          <p:cNvSpPr/>
          <p:nvPr/>
        </p:nvSpPr>
        <p:spPr>
          <a:xfrm>
            <a:off x="6263640" y="5422392"/>
            <a:ext cx="2697480" cy="896112"/>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263640" y="5422392"/>
            <a:ext cx="45720" cy="896112"/>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0800" y="5468112"/>
            <a:ext cx="2496312" cy="822960"/>
          </a:xfrm>
          <a:prstGeom prst="rect">
            <a:avLst/>
          </a:prstGeom>
          <a:noFill/>
        </p:spPr>
        <p:txBody>
          <a:bodyPr wrap="square" lIns="0" rIns="0" tIns="0" bIns="0" anchor="t">
            <a:noAutofit/>
          </a:bodyPr>
          <a:lstStyle/>
          <a:p>
            <a:pPr>
              <a:spcAft>
                <a:spcPts val="100"/>
              </a:spcAft>
            </a:pPr>
            <a:r>
              <a:rPr sz="1050" b="1">
                <a:solidFill>
                  <a:srgbClr val="000000"/>
                </a:solidFill>
                <a:latin typeface="Arial"/>
              </a:rPr>
              <a:t>Shadow evals</a:t>
            </a:r>
          </a:p>
          <a:p>
            <a:pPr>
              <a:spcAft>
                <a:spcPts val="400"/>
              </a:spcAft>
            </a:pPr>
            <a:r>
              <a:rPr sz="900" b="0">
                <a:solidFill>
                  <a:srgbClr val="333333"/>
                </a:solidFill>
                <a:latin typeface="Arial"/>
              </a:rPr>
              <a:t>POST /auto_router/shadow_eval/start; ≤4 configs paired; max_budget $10 default; ≤30 days; blind judge</a:t>
            </a:r>
          </a:p>
        </p:txBody>
      </p:sp>
      <p:sp>
        <p:nvSpPr>
          <p:cNvPr id="56" name="Rectangle 55"/>
          <p:cNvSpPr/>
          <p:nvPr/>
        </p:nvSpPr>
        <p:spPr>
          <a:xfrm>
            <a:off x="9034272" y="5422392"/>
            <a:ext cx="2697480" cy="896112"/>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034272" y="5422392"/>
            <a:ext cx="45720" cy="896112"/>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71432" y="5468112"/>
            <a:ext cx="2496312" cy="822960"/>
          </a:xfrm>
          <a:prstGeom prst="rect">
            <a:avLst/>
          </a:prstGeom>
          <a:noFill/>
        </p:spPr>
        <p:txBody>
          <a:bodyPr wrap="square" lIns="0" rIns="0" tIns="0" bIns="0" anchor="t">
            <a:noAutofit/>
          </a:bodyPr>
          <a:lstStyle/>
          <a:p>
            <a:pPr>
              <a:spcAft>
                <a:spcPts val="100"/>
              </a:spcAft>
            </a:pPr>
            <a:r>
              <a:rPr sz="1050" b="1">
                <a:solidFill>
                  <a:srgbClr val="000000"/>
                </a:solidFill>
                <a:latin typeface="Arial"/>
              </a:rPr>
              <a:t>Decisions API</a:t>
            </a:r>
          </a:p>
          <a:p>
            <a:pPr>
              <a:spcAft>
                <a:spcPts val="400"/>
              </a:spcAft>
            </a:pPr>
            <a:r>
              <a:rPr sz="900" b="0">
                <a:solidFill>
                  <a:srgbClr val="333333"/>
                </a:solidFill>
                <a:latin typeface="Arial"/>
              </a:rPr>
              <a:t>/v1/decisions and /v1/systemone; UI System One playground (#44043, v1.106.0)</a:t>
            </a:r>
          </a:p>
        </p:txBody>
      </p:sp>
      <p:sp>
        <p:nvSpPr>
          <p:cNvPr id="59" name="TextBox 58"/>
          <p:cNvSpPr txBox="1"/>
          <p:nvPr/>
        </p:nvSpPr>
        <p:spPr>
          <a:xfrm>
            <a:off x="457200" y="6336792"/>
            <a:ext cx="91440" cy="45720"/>
          </a:xfrm>
          <a:prstGeom prst="rect">
            <a:avLst/>
          </a:prstGeom>
          <a:noFill/>
        </p:spPr>
        <p:txBody>
          <a:bodyPr wrap="square" lIns="0" rIns="0" tIns="0" bIns="0" anchor="t">
            <a:noAutofit/>
          </a:bodyPr>
          <a:lstStyle/>
          <a:p>
            <a:pPr>
              <a:spcAft>
                <a:spcPts val="400"/>
              </a:spcAft>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FEATURE MATRIX</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Kairos Gateway keeps routing in the same policy, spend and identity plane; other routers become offline challengers</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vllm-sr.ai/blog/v0.4-vllm-sr-hermes-release · github.com/lm-sys/RouteLLM (arXiv 2406.18665) · github.com/katanemo/plano · OpenRouter 10 Aug 2026 blog · Azure model router 2025-11-18 docs · Bedrock IPR docs.</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4</a:t>
            </a:r>
          </a:p>
        </p:txBody>
      </p:sp>
      <p:graphicFrame>
        <p:nvGraphicFramePr>
          <p:cNvPr id="8" name="Table 7"/>
          <p:cNvGraphicFramePr>
            <a:graphicFrameLocks noGrp="1"/>
          </p:cNvGraphicFramePr>
          <p:nvPr/>
        </p:nvGraphicFramePr>
        <p:xfrm>
          <a:off x="457200" y="1325880"/>
          <a:ext cx="11274552" cy="4023360"/>
        </p:xfrm>
        <a:graphic>
          <a:graphicData uri="http://schemas.openxmlformats.org/drawingml/2006/table">
            <a:tbl>
              <a:tblPr firstRow="0" bandRow="0">
                <a:tableStyleId>{5940675A-B579-460E-94D1-54222C63F5DA}</a:tableStyleId>
              </a:tblPr>
              <a:tblGrid>
                <a:gridCol w="1097280"/>
                <a:gridCol w="1417320"/>
                <a:gridCol w="1371600"/>
                <a:gridCol w="1097280"/>
                <a:gridCol w="1143000"/>
                <a:gridCol w="1005840"/>
                <a:gridCol w="987552"/>
                <a:gridCol w="1143000"/>
                <a:gridCol w="1005840"/>
                <a:gridCol w="1005840"/>
              </a:tblGrid>
              <a:tr h="502920">
                <a:tc>
                  <a:txBody>
                    <a:bodyPr wrap="square">
                      <a:noAutofit/>
                    </a:bodyPr>
                    <a:lstStyle/>
                    <a:p>
                      <a:pPr>
                        <a:spcAft>
                          <a:spcPts val="0"/>
                        </a:spcAft>
                      </a:pPr>
                      <a:r>
                        <a:rPr sz="900" b="1">
                          <a:solidFill>
                            <a:srgbClr val="FFFFFF"/>
                          </a:solidFill>
                          <a:latin typeface="Arial"/>
                        </a:rPr>
                        <a:t>Capability</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900" b="1">
                          <a:solidFill>
                            <a:srgbClr val="FFFFFF"/>
                          </a:solidFill>
                          <a:latin typeface="Arial"/>
                        </a:rPr>
                        <a:t>LiteLLM complexity router (Kairos)</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900" b="1">
                          <a:solidFill>
                            <a:srgbClr val="FFFFFF"/>
                          </a:solidFill>
                          <a:latin typeface="Arial"/>
                        </a:rPr>
                        <a:t>vLLM Semantic Router v0.4 "Hermes"</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900" b="1">
                          <a:solidFill>
                            <a:srgbClr val="FFFFFF"/>
                          </a:solidFill>
                          <a:latin typeface="Arial"/>
                        </a:rPr>
                        <a:t>RouteLLM</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900" b="1">
                          <a:solidFill>
                            <a:srgbClr val="FFFFFF"/>
                          </a:solidFill>
                          <a:latin typeface="Arial"/>
                        </a:rPr>
                        <a:t>Plano / Arch-Router</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900" b="1">
                          <a:solidFill>
                            <a:srgbClr val="FFFFFF"/>
                          </a:solidFill>
                          <a:latin typeface="Arial"/>
                        </a:rPr>
                        <a:t>Not Diamond</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900" b="1">
                          <a:solidFill>
                            <a:srgbClr val="FFFFFF"/>
                          </a:solidFill>
                          <a:latin typeface="Arial"/>
                        </a:rPr>
                        <a:t>Martian</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900" b="1">
                          <a:solidFill>
                            <a:srgbClr val="FFFFFF"/>
                          </a:solidFill>
                          <a:latin typeface="Arial"/>
                        </a:rPr>
                        <a:t>OpenRouter auto</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900" b="1">
                          <a:solidFill>
                            <a:srgbClr val="FFFFFF"/>
                          </a:solidFill>
                          <a:latin typeface="Arial"/>
                        </a:rPr>
                        <a:t>Azure Foundry model router</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900" b="1">
                          <a:solidFill>
                            <a:srgbClr val="FFFFFF"/>
                          </a:solidFill>
                          <a:latin typeface="Arial"/>
                        </a:rPr>
                        <a:t>Bedrock IPR</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r>
              <a:tr h="502920">
                <a:tc>
                  <a:txBody>
                    <a:bodyPr wrap="square">
                      <a:noAutofit/>
                    </a:bodyPr>
                    <a:lstStyle/>
                    <a:p>
                      <a:pPr>
                        <a:spcAft>
                          <a:spcPts val="0"/>
                        </a:spcAft>
                      </a:pPr>
                      <a:r>
                        <a:rPr sz="900" b="1">
                          <a:solidFill>
                            <a:srgbClr val="000000"/>
                          </a:solidFill>
                          <a:latin typeface="Arial"/>
                        </a:rPr>
                        <a:t>Deploy</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1">
                          <a:solidFill>
                            <a:srgbClr val="000000"/>
                          </a:solidFill>
                          <a:latin typeface="Arial"/>
                        </a:rPr>
                        <a:t>In-gateway</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CE5E5"/>
                    </a:solidFill>
                  </a:tcPr>
                </a:tc>
                <a:tc>
                  <a:txBody>
                    <a:bodyPr wrap="square">
                      <a:noAutofit/>
                    </a:bodyPr>
                    <a:lstStyle/>
                    <a:p>
                      <a:pPr>
                        <a:spcAft>
                          <a:spcPts val="0"/>
                        </a:spcAft>
                      </a:pPr>
                      <a:r>
                        <a:rPr sz="900" b="0">
                          <a:solidFill>
                            <a:srgbClr val="333333"/>
                          </a:solidFill>
                          <a:latin typeface="Arial"/>
                        </a:rPr>
                        <a:t>Envoy ext-proc / own stack</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Library / server</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Envoy-based gateway</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SaaS API</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SaaS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SaaS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Azure managed</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AWS managed</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502920">
                <a:tc>
                  <a:txBody>
                    <a:bodyPr wrap="square">
                      <a:noAutofit/>
                    </a:bodyPr>
                    <a:lstStyle/>
                    <a:p>
                      <a:pPr>
                        <a:spcAft>
                          <a:spcPts val="0"/>
                        </a:spcAft>
                      </a:pPr>
                      <a:r>
                        <a:rPr sz="900" b="1">
                          <a:solidFill>
                            <a:srgbClr val="000000"/>
                          </a:solidFill>
                          <a:latin typeface="Arial"/>
                        </a:rPr>
                        <a:t>Licence</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1">
                          <a:solidFill>
                            <a:srgbClr val="000000"/>
                          </a:solidFill>
                          <a:latin typeface="Arial"/>
                        </a:rPr>
                        <a:t>OSS core + Enterprise customisation</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CE5E5"/>
                    </a:solidFill>
                  </a:tcPr>
                </a:tc>
                <a:tc>
                  <a:txBody>
                    <a:bodyPr wrap="square">
                      <a:noAutofit/>
                    </a:bodyPr>
                    <a:lstStyle/>
                    <a:p>
                      <a:pPr>
                        <a:spcAft>
                          <a:spcPts val="0"/>
                        </a:spcAft>
                      </a:pPr>
                      <a:r>
                        <a:rPr sz="900" b="0">
                          <a:solidFill>
                            <a:srgbClr val="333333"/>
                          </a:solidFill>
                          <a:latin typeface="Arial"/>
                        </a:rPr>
                        <a:t>Apache-2.0</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EE0000"/>
                          </a:solidFill>
                          <a:latin typeface="Arial"/>
                        </a:rPr>
                        <a:t>Apache-2.0 (stale, last push Aug 2024)</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Apache-2.0; Arch-Router-1.5B licence "other"</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Commercial</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Commercial</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Commercial</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Commercial</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Commercial</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502920">
                <a:tc>
                  <a:txBody>
                    <a:bodyPr wrap="square">
                      <a:noAutofit/>
                    </a:bodyPr>
                    <a:lstStyle/>
                    <a:p>
                      <a:pPr>
                        <a:spcAft>
                          <a:spcPts val="0"/>
                        </a:spcAft>
                      </a:pPr>
                      <a:r>
                        <a:rPr sz="900" b="1">
                          <a:solidFill>
                            <a:srgbClr val="000000"/>
                          </a:solidFill>
                          <a:latin typeface="Arial"/>
                        </a:rPr>
                        <a:t>Classifier</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1">
                          <a:solidFill>
                            <a:srgbClr val="000000"/>
                          </a:solidFill>
                          <a:latin typeface="Arial"/>
                        </a:rPr>
                        <a:t>Heuristic / LLM / OSS decision models / plugin</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CE5E5"/>
                    </a:solidFill>
                  </a:tcPr>
                </a:tc>
                <a:tc>
                  <a:txBody>
                    <a:bodyPr wrap="square">
                      <a:noAutofit/>
                    </a:bodyPr>
                    <a:lstStyle/>
                    <a:p>
                      <a:pPr>
                        <a:spcAft>
                          <a:spcPts val="0"/>
                        </a:spcAft>
                      </a:pPr>
                      <a:r>
                        <a:rPr sz="900" b="0">
                          <a:solidFill>
                            <a:srgbClr val="333333"/>
                          </a:solidFill>
                          <a:latin typeface="Arial"/>
                        </a:rPr>
                        <a:t>Vela-1.0 encoders (domain, PII, guard, halluc.), Decision 1.0 open models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Matrix factorisation, BERT, causal LLM</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1.5B preference router</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Recommendation API + custom training</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create_router / run_training_job</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Trailing 7-day spend per task type, cost_tier, allowed_models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routingMode balanced / quality / cost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Same-family pair, responseQualityDifference</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502920">
                <a:tc>
                  <a:txBody>
                    <a:bodyPr wrap="square">
                      <a:noAutofit/>
                    </a:bodyPr>
                    <a:lstStyle/>
                    <a:p>
                      <a:pPr>
                        <a:spcAft>
                          <a:spcPts val="0"/>
                        </a:spcAft>
                      </a:pPr>
                      <a:r>
                        <a:rPr sz="900" b="1">
                          <a:solidFill>
                            <a:srgbClr val="000000"/>
                          </a:solidFill>
                          <a:latin typeface="Arial"/>
                        </a:rPr>
                        <a:t>Train on own data</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1">
                          <a:solidFill>
                            <a:srgbClr val="000000"/>
                          </a:solidFill>
                          <a:latin typeface="Arial"/>
                        </a:rPr>
                        <a:t>Yes (heuristic_v2_artifact, plugin)</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CE5E5"/>
                    </a:solidFill>
                  </a:tcPr>
                </a:tc>
                <a:tc>
                  <a:txBody>
                    <a:bodyPr wrap="square">
                      <a:noAutofit/>
                    </a:bodyPr>
                    <a:lstStyle/>
                    <a:p>
                      <a:pPr>
                        <a:spcAft>
                          <a:spcPts val="0"/>
                        </a:spcAft>
                      </a:pPr>
                      <a:r>
                        <a:rPr sz="900" b="0">
                          <a:solidFill>
                            <a:srgbClr val="333333"/>
                          </a:solidFill>
                          <a:latin typeface="Arial"/>
                        </a:rPr>
                        <a:t>Yes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Yes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Partly</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Yes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Yes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No</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No</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1">
                          <a:solidFill>
                            <a:srgbClr val="EE0000"/>
                          </a:solidFill>
                          <a:latin typeface="Arial"/>
                        </a:rPr>
                        <a:t>No</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502920">
                <a:tc>
                  <a:txBody>
                    <a:bodyPr wrap="square">
                      <a:noAutofit/>
                    </a:bodyPr>
                    <a:lstStyle/>
                    <a:p>
                      <a:pPr>
                        <a:spcAft>
                          <a:spcPts val="0"/>
                        </a:spcAft>
                      </a:pPr>
                      <a:r>
                        <a:rPr sz="900" b="1">
                          <a:solidFill>
                            <a:srgbClr val="000000"/>
                          </a:solidFill>
                          <a:latin typeface="Arial"/>
                        </a:rPr>
                        <a:t>Multi-cloud</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1">
                          <a:solidFill>
                            <a:srgbClr val="000000"/>
                          </a:solidFill>
                          <a:latin typeface="Arial"/>
                        </a:rPr>
                        <a:t>Yes (Vertex / Bedrock / Azure)</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CE5E5"/>
                    </a:solidFill>
                  </a:tcPr>
                </a:tc>
                <a:tc>
                  <a:txBody>
                    <a:bodyPr wrap="square">
                      <a:noAutofit/>
                    </a:bodyPr>
                    <a:lstStyle/>
                    <a:p>
                      <a:pPr>
                        <a:spcAft>
                          <a:spcPts val="0"/>
                        </a:spcAft>
                      </a:pPr>
                      <a:r>
                        <a:rPr sz="900" b="0">
                          <a:solidFill>
                            <a:srgbClr val="333333"/>
                          </a:solidFill>
                          <a:latin typeface="Arial"/>
                        </a:rPr>
                        <a:t>Yes (any OpenAI-compatible)</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Yes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Yes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Yes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Yes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Own catalogue</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Azure models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Bedrock only</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502920">
                <a:tc>
                  <a:txBody>
                    <a:bodyPr wrap="square">
                      <a:noAutofit/>
                    </a:bodyPr>
                    <a:lstStyle/>
                    <a:p>
                      <a:pPr>
                        <a:spcAft>
                          <a:spcPts val="0"/>
                        </a:spcAft>
                      </a:pPr>
                      <a:r>
                        <a:rPr sz="900" b="1">
                          <a:solidFill>
                            <a:srgbClr val="000000"/>
                          </a:solidFill>
                          <a:latin typeface="Arial"/>
                        </a:rPr>
                        <a:t>Governance tie-in</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1">
                          <a:solidFill>
                            <a:srgbClr val="000000"/>
                          </a:solidFill>
                          <a:latin typeface="Arial"/>
                        </a:rPr>
                        <a:t>Same gateway policies and guardrails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CE5E5"/>
                    </a:solidFill>
                  </a:tcPr>
                </a:tc>
                <a:tc>
                  <a:txBody>
                    <a:bodyPr wrap="square">
                      <a:noAutofit/>
                    </a:bodyPr>
                    <a:lstStyle/>
                    <a:p>
                      <a:pPr>
                        <a:spcAft>
                          <a:spcPts val="0"/>
                        </a:spcAft>
                      </a:pPr>
                      <a:r>
                        <a:rPr sz="900" b="0">
                          <a:solidFill>
                            <a:srgbClr val="333333"/>
                          </a:solidFill>
                          <a:latin typeface="Arial"/>
                        </a:rPr>
                        <a:t>Own guard models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Own filters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Azure RAI</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Bedrock Guardrails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502920">
                <a:tc>
                  <a:txBody>
                    <a:bodyPr wrap="square">
                      <a:noAutofit/>
                    </a:bodyPr>
                    <a:lstStyle/>
                    <a:p>
                      <a:pPr>
                        <a:spcAft>
                          <a:spcPts val="0"/>
                        </a:spcAft>
                      </a:pPr>
                      <a:r>
                        <a:rPr sz="900" b="1">
                          <a:solidFill>
                            <a:srgbClr val="000000"/>
                          </a:solidFill>
                          <a:latin typeface="Arial"/>
                        </a:rPr>
                        <a:t>Shadow / A-B</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1">
                          <a:solidFill>
                            <a:srgbClr val="000000"/>
                          </a:solidFill>
                          <a:latin typeface="Arial"/>
                        </a:rPr>
                        <a:t>Built in</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CE5E5"/>
                    </a:solidFill>
                  </a:tcPr>
                </a:tc>
                <a:tc>
                  <a:txBody>
                    <a:bodyPr wrap="square">
                      <a:noAutofit/>
                    </a:bodyPr>
                    <a:lstStyle/>
                    <a:p>
                      <a:pPr>
                        <a:spcAft>
                          <a:spcPts val="0"/>
                        </a:spcAft>
                      </a:pPr>
                      <a:r>
                        <a:rPr sz="900" b="0">
                          <a:solidFill>
                            <a:srgbClr val="333333"/>
                          </a:solidFill>
                          <a:latin typeface="Arial"/>
                        </a:rPr>
                        <a:t>sr-bench</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Offline eval</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Yes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Yes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00" b="0">
                          <a:solidFill>
                            <a:srgbClr val="333333"/>
                          </a:solidFill>
                          <a:latin typeface="Arial"/>
                        </a:rPr>
                        <a: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bl>
          </a:graphicData>
        </a:graphic>
      </p:graphicFrame>
      <p:sp>
        <p:nvSpPr>
          <p:cNvPr id="9" name="Rectangle 8"/>
          <p:cNvSpPr/>
          <p:nvPr/>
        </p:nvSpPr>
        <p:spPr>
          <a:xfrm>
            <a:off x="457200" y="5623560"/>
            <a:ext cx="11274552" cy="685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5623560"/>
            <a:ext cx="73152" cy="6858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669280"/>
            <a:ext cx="10881360" cy="594360"/>
          </a:xfrm>
          <a:prstGeom prst="rect">
            <a:avLst/>
          </a:prstGeom>
          <a:noFill/>
        </p:spPr>
        <p:txBody>
          <a:bodyPr wrap="square" lIns="0" rIns="0" tIns="0" bIns="0" anchor="ctr">
            <a:noAutofit/>
          </a:bodyPr>
          <a:lstStyle/>
          <a:p>
            <a:pPr>
              <a:spcAft>
                <a:spcPts val="400"/>
              </a:spcAft>
            </a:pPr>
            <a:r>
              <a:rPr sz="1150" b="0">
                <a:solidFill>
                  <a:srgbClr val="FFFFFF"/>
                </a:solidFill>
                <a:latin typeface="Arial"/>
              </a:rPr>
              <a:t>POV: keep production routing inside Kairos Gateway, so routing shares one policy, spend and identity plane. Use vLLM SR (Vela encoders, Decision models) and RouteLLM only as offline challengers in the playground, not as a second data plane.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ARCHITECTURE</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Kairos Auto Router: one alias, a cheap-first classification chain, certified tier pools, and a telemetry loop that recalibrates it</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research/auto-router-2026-10.md §0, §1 (config keys [V] at v1.106.2), §5.4, §6. Pool names and timeout values are POC placeholders.</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5</a:t>
            </a:r>
          </a:p>
        </p:txBody>
      </p:sp>
      <p:sp>
        <p:nvSpPr>
          <p:cNvPr id="8" name="Rectangle 7"/>
          <p:cNvSpPr/>
          <p:nvPr/>
        </p:nvSpPr>
        <p:spPr>
          <a:xfrm>
            <a:off x="365760" y="2103120"/>
            <a:ext cx="1143000" cy="118872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100" b="1">
                <a:solidFill>
                  <a:srgbClr val="000000"/>
                </a:solidFill>
                <a:latin typeface="Arial"/>
              </a:rPr>
              <a:t>Apps and agents</a:t>
            </a:r>
          </a:p>
          <a:p>
            <a:pPr algn="ctr">
              <a:spcAft>
                <a:spcPts val="200"/>
              </a:spcAft>
            </a:pPr>
            <a:r>
              <a:rPr sz="900" b="0">
                <a:solidFill>
                  <a:srgbClr val="000000"/>
                </a:solidFill>
                <a:latin typeface="Arial"/>
              </a:rPr>
              <a:t>same base URL</a:t>
            </a:r>
          </a:p>
          <a:p>
            <a:pPr algn="ctr">
              <a:spcAft>
                <a:spcPts val="200"/>
              </a:spcAft>
            </a:pPr>
            <a:r>
              <a:rPr sz="800" b="1">
                <a:solidFill>
                  <a:srgbClr val="000000"/>
                </a:solidFill>
                <a:latin typeface="Arial"/>
              </a:rPr>
              <a:t>model: kairos-auto</a:t>
            </a:r>
          </a:p>
        </p:txBody>
      </p:sp>
      <p:cxnSp>
        <p:nvCxnSpPr>
          <p:cNvPr id="9" name="Connector 8"/>
          <p:cNvCxnSpPr/>
          <p:nvPr/>
        </p:nvCxnSpPr>
        <p:spPr>
          <a:xfrm>
            <a:off x="1508760" y="2697480"/>
            <a:ext cx="228600" cy="0"/>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737360" y="1371600"/>
            <a:ext cx="1417320" cy="265176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150" b="1">
                <a:solidFill>
                  <a:srgbClr val="FFFFFF"/>
                </a:solidFill>
                <a:latin typeface="Arial"/>
              </a:rPr>
              <a:t>Kairos Gateway</a:t>
            </a:r>
          </a:p>
          <a:p>
            <a:pPr algn="ctr">
              <a:spcAft>
                <a:spcPts val="200"/>
              </a:spcAft>
            </a:pPr>
            <a:r>
              <a:rPr sz="900" b="0">
                <a:solidFill>
                  <a:srgbClr val="D8DADA"/>
                </a:solidFill>
                <a:latin typeface="Arial"/>
              </a:rPr>
              <a:t>virtual keys</a:t>
            </a:r>
          </a:p>
          <a:p>
            <a:pPr algn="ctr">
              <a:spcAft>
                <a:spcPts val="200"/>
              </a:spcAft>
            </a:pPr>
            <a:r>
              <a:rPr sz="900" b="0">
                <a:solidFill>
                  <a:srgbClr val="D8DADA"/>
                </a:solidFill>
                <a:latin typeface="Arial"/>
              </a:rPr>
              <a:t>budgets</a:t>
            </a:r>
          </a:p>
          <a:p>
            <a:pPr algn="ctr">
              <a:spcAft>
                <a:spcPts val="200"/>
              </a:spcAft>
            </a:pPr>
            <a:r>
              <a:rPr sz="900" b="0">
                <a:solidFill>
                  <a:srgbClr val="D8DADA"/>
                </a:solidFill>
                <a:latin typeface="Arial"/>
              </a:rPr>
              <a:t>policies and guardrails (Track A)</a:t>
            </a:r>
          </a:p>
          <a:p>
            <a:pPr algn="ctr">
              <a:spcAft>
                <a:spcPts val="200"/>
              </a:spcAft>
            </a:pPr>
            <a:r>
              <a:rPr sz="900" b="0">
                <a:solidFill>
                  <a:srgbClr val="D8DADA"/>
                </a:solidFill>
                <a:latin typeface="Arial"/>
              </a:rPr>
              <a:t>pinned v1.106.2</a:t>
            </a:r>
          </a:p>
        </p:txBody>
      </p:sp>
      <p:cxnSp>
        <p:nvCxnSpPr>
          <p:cNvPr id="11" name="Connector 10"/>
          <p:cNvCxnSpPr/>
          <p:nvPr/>
        </p:nvCxnSpPr>
        <p:spPr>
          <a:xfrm>
            <a:off x="3154680" y="2697480"/>
            <a:ext cx="228600" cy="0"/>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383280" y="1325880"/>
            <a:ext cx="4709160" cy="3429000"/>
          </a:xfrm>
          <a:prstGeom prst="rect">
            <a:avLst/>
          </a:prstGeom>
          <a:solidFill>
            <a:srgbClr val="F6F6F6"/>
          </a:solidFill>
          <a:ln w="9525">
            <a:solidFill>
              <a:srgbClr val="74767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3008" y="1371600"/>
            <a:ext cx="4480560" cy="274320"/>
          </a:xfrm>
          <a:prstGeom prst="rect">
            <a:avLst/>
          </a:prstGeom>
          <a:noFill/>
        </p:spPr>
        <p:txBody>
          <a:bodyPr wrap="square" lIns="0" rIns="0" tIns="0" bIns="0" anchor="t">
            <a:noAutofit/>
          </a:bodyPr>
          <a:lstStyle/>
          <a:p>
            <a:pPr>
              <a:spcAft>
                <a:spcPts val="400"/>
              </a:spcAft>
            </a:pPr>
            <a:r>
              <a:rPr sz="1050" b="1">
                <a:solidFill>
                  <a:srgbClr val="000000"/>
                </a:solidFill>
                <a:latin typeface="Arial"/>
              </a:rPr>
              <a:t>auto_router/complexity_router  (alias kairos-auto)</a:t>
            </a:r>
          </a:p>
        </p:txBody>
      </p:sp>
      <p:sp>
        <p:nvSpPr>
          <p:cNvPr id="14" name="Rectangle 13"/>
          <p:cNvSpPr/>
          <p:nvPr/>
        </p:nvSpPr>
        <p:spPr>
          <a:xfrm>
            <a:off x="3520440" y="1719072"/>
            <a:ext cx="4434840" cy="512064"/>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0"/>
              </a:spcAft>
            </a:pPr>
            <a:r>
              <a:rPr sz="1000" b="1">
                <a:solidFill>
                  <a:srgbClr val="000000"/>
                </a:solidFill>
                <a:latin typeface="Arial"/>
              </a:rPr>
              <a:t>1  Rules</a:t>
            </a:r>
          </a:p>
          <a:p>
            <a:pPr algn="l">
              <a:spcAft>
                <a:spcPts val="0"/>
              </a:spcAft>
            </a:pPr>
            <a:r>
              <a:rPr sz="850" b="0">
                <a:solidFill>
                  <a:srgbClr val="333333"/>
                </a:solidFill>
                <a:latin typeface="Arial"/>
              </a:rPr>
              <a:t>keyword_tier_rules · semantic_keyword_matching via kairos-embed (match_threshold)</a:t>
            </a:r>
          </a:p>
        </p:txBody>
      </p:sp>
      <p:cxnSp>
        <p:nvCxnSpPr>
          <p:cNvPr id="15" name="Connector 14"/>
          <p:cNvCxnSpPr/>
          <p:nvPr/>
        </p:nvCxnSpPr>
        <p:spPr>
          <a:xfrm>
            <a:off x="5733288" y="2231136"/>
            <a:ext cx="0" cy="73152"/>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3520440" y="2304288"/>
            <a:ext cx="4434840" cy="512064"/>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0"/>
              </a:spcAft>
            </a:pPr>
            <a:r>
              <a:rPr sz="1000" b="1">
                <a:solidFill>
                  <a:srgbClr val="000000"/>
                </a:solidFill>
                <a:latin typeface="Arial"/>
              </a:rPr>
              <a:t>2  Plugins</a:t>
            </a:r>
          </a:p>
          <a:p>
            <a:pPr algn="l">
              <a:spcAft>
                <a:spcPts val="0"/>
              </a:spcAft>
            </a:pPr>
            <a:r>
              <a:rPr sz="850" b="0">
                <a:solidFill>
                  <a:srgbClr val="333333"/>
                </a:solidFill>
                <a:latin typeface="Arial"/>
              </a:rPr>
              <a:t>classifier_plugin: certified downshift table (slide 11)</a:t>
            </a:r>
          </a:p>
        </p:txBody>
      </p:sp>
      <p:cxnSp>
        <p:nvCxnSpPr>
          <p:cNvPr id="17" name="Connector 16"/>
          <p:cNvCxnSpPr/>
          <p:nvPr/>
        </p:nvCxnSpPr>
        <p:spPr>
          <a:xfrm>
            <a:off x="5733288" y="2816352"/>
            <a:ext cx="0" cy="73152"/>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520440" y="2889504"/>
            <a:ext cx="4434840" cy="512064"/>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0"/>
              </a:spcAft>
            </a:pPr>
            <a:r>
              <a:rPr sz="1000" b="1">
                <a:solidFill>
                  <a:srgbClr val="000000"/>
                </a:solidFill>
                <a:latin typeface="Arial"/>
              </a:rPr>
              <a:t>3  heuristic_first</a:t>
            </a:r>
          </a:p>
          <a:p>
            <a:pPr algn="l">
              <a:spcAft>
                <a:spcPts val="0"/>
              </a:spcAft>
            </a:pPr>
            <a:r>
              <a:rPr sz="850" b="0">
                <a:solidFill>
                  <a:srgbClr val="333333"/>
                </a:solidFill>
                <a:latin typeface="Arial"/>
              </a:rPr>
              <a:t>cheap v1/v2 heuristic up to heuristic_first_max_tier</a:t>
            </a:r>
          </a:p>
        </p:txBody>
      </p:sp>
      <p:cxnSp>
        <p:nvCxnSpPr>
          <p:cNvPr id="19" name="Connector 18"/>
          <p:cNvCxnSpPr/>
          <p:nvPr/>
        </p:nvCxnSpPr>
        <p:spPr>
          <a:xfrm>
            <a:off x="5733288" y="3401568"/>
            <a:ext cx="0" cy="73152"/>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520440" y="3474720"/>
            <a:ext cx="4434840" cy="512064"/>
          </a:xfrm>
          <a:prstGeom prst="rect">
            <a:avLst/>
          </a:prstGeom>
          <a:solidFill>
            <a:srgbClr val="000000"/>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0"/>
              </a:spcAft>
            </a:pPr>
            <a:r>
              <a:rPr sz="1000" b="1">
                <a:solidFill>
                  <a:srgbClr val="FFFFFF"/>
                </a:solidFill>
                <a:latin typeface="Arial"/>
              </a:rPr>
              <a:t>4  oss_classifier</a:t>
            </a:r>
          </a:p>
          <a:p>
            <a:pPr algn="l">
              <a:spcAft>
                <a:spcPts val="0"/>
              </a:spcAft>
            </a:pPr>
            <a:r>
              <a:rPr sz="850" b="0">
                <a:solidFill>
                  <a:srgbClr val="D8DADA"/>
                </a:solidFill>
                <a:latin typeface="Arial"/>
              </a:rPr>
              <a:t>Jev decision v1 via /v1/systemone · timeout_ms 1500 · circuit breaker 30 s</a:t>
            </a:r>
          </a:p>
        </p:txBody>
      </p:sp>
      <p:cxnSp>
        <p:nvCxnSpPr>
          <p:cNvPr id="21" name="Connector 20"/>
          <p:cNvCxnSpPr/>
          <p:nvPr/>
        </p:nvCxnSpPr>
        <p:spPr>
          <a:xfrm>
            <a:off x="5733288" y="3986784"/>
            <a:ext cx="0" cy="73152"/>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3520440" y="4059936"/>
            <a:ext cx="4434840" cy="512064"/>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0"/>
              </a:spcAft>
            </a:pPr>
            <a:r>
              <a:rPr sz="1000" b="1">
                <a:solidFill>
                  <a:srgbClr val="000000"/>
                </a:solidFill>
                <a:latin typeface="Arial"/>
              </a:rPr>
              <a:t>5  Fallback</a:t>
            </a:r>
          </a:p>
          <a:p>
            <a:pPr algn="l">
              <a:spcAft>
                <a:spcPts val="0"/>
              </a:spcAft>
            </a:pPr>
            <a:r>
              <a:rPr sz="850" b="0">
                <a:solidFill>
                  <a:srgbClr val="333333"/>
                </a:solidFill>
                <a:latin typeface="Arial"/>
              </a:rPr>
              <a:t>classifier_fallback: heuristic</a:t>
            </a:r>
          </a:p>
        </p:txBody>
      </p:sp>
      <p:sp>
        <p:nvSpPr>
          <p:cNvPr id="23" name="Rectangle 22"/>
          <p:cNvSpPr/>
          <p:nvPr/>
        </p:nvSpPr>
        <p:spPr>
          <a:xfrm>
            <a:off x="3520440" y="4892040"/>
            <a:ext cx="2148840" cy="6858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000000"/>
                </a:solidFill>
                <a:latin typeface="Arial"/>
              </a:rPr>
              <a:t>Jev decision v1</a:t>
            </a:r>
          </a:p>
          <a:p>
            <a:pPr algn="ctr">
              <a:spcAft>
                <a:spcPts val="200"/>
              </a:spcAft>
            </a:pPr>
            <a:r>
              <a:rPr sz="800" b="0">
                <a:solidFill>
                  <a:srgbClr val="000000"/>
                </a:solidFill>
                <a:latin typeface="Arial"/>
              </a:rPr>
              <a:t>hosted_vllm or strands_decider → {answer, probabilities, confidence, certified}</a:t>
            </a:r>
          </a:p>
        </p:txBody>
      </p:sp>
      <p:sp>
        <p:nvSpPr>
          <p:cNvPr id="24" name="Rectangle 23"/>
          <p:cNvSpPr/>
          <p:nvPr/>
        </p:nvSpPr>
        <p:spPr>
          <a:xfrm>
            <a:off x="5806440" y="4892040"/>
            <a:ext cx="2148840" cy="6858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000000"/>
                </a:solidFill>
                <a:latin typeface="Arial"/>
              </a:rPr>
              <a:t>kairos-embed</a:t>
            </a:r>
          </a:p>
          <a:p>
            <a:pPr algn="ctr">
              <a:spcAft>
                <a:spcPts val="200"/>
              </a:spcAft>
            </a:pPr>
            <a:r>
              <a:rPr sz="800" b="0">
                <a:solidFill>
                  <a:srgbClr val="000000"/>
                </a:solidFill>
                <a:latin typeface="Arial"/>
              </a:rPr>
              <a:t>Kairos embedding deployment for semantic rules and clustering</a:t>
            </a:r>
          </a:p>
        </p:txBody>
      </p:sp>
      <p:cxnSp>
        <p:nvCxnSpPr>
          <p:cNvPr id="25" name="Connector 24"/>
          <p:cNvCxnSpPr/>
          <p:nvPr/>
        </p:nvCxnSpPr>
        <p:spPr>
          <a:xfrm flipV="1">
            <a:off x="5486400" y="3986784"/>
            <a:ext cx="0" cy="905256"/>
          </a:xfrm>
          <a:prstGeom prst="line">
            <a:avLst/>
          </a:prstGeom>
          <a:ln w="12700">
            <a:solidFill>
              <a:srgbClr val="00000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7772400" y="2231136"/>
            <a:ext cx="0" cy="2660904"/>
          </a:xfrm>
          <a:prstGeom prst="line">
            <a:avLst/>
          </a:prstGeom>
          <a:ln w="12700">
            <a:solidFill>
              <a:srgbClr val="00000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092440" y="3017520"/>
            <a:ext cx="274320" cy="0"/>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366760" y="1325880"/>
            <a:ext cx="1828800" cy="274320"/>
          </a:xfrm>
          <a:prstGeom prst="rect">
            <a:avLst/>
          </a:prstGeom>
          <a:noFill/>
        </p:spPr>
        <p:txBody>
          <a:bodyPr wrap="square" lIns="0" rIns="0" tIns="0" bIns="0" anchor="t">
            <a:noAutofit/>
          </a:bodyPr>
          <a:lstStyle/>
          <a:p>
            <a:pPr>
              <a:spcAft>
                <a:spcPts val="400"/>
              </a:spcAft>
            </a:pPr>
            <a:r>
              <a:rPr sz="1050" b="1">
                <a:solidFill>
                  <a:srgbClr val="000000"/>
                </a:solidFill>
                <a:latin typeface="Arial"/>
              </a:rPr>
              <a:t>Tier pools</a:t>
            </a:r>
          </a:p>
        </p:txBody>
      </p:sp>
      <p:sp>
        <p:nvSpPr>
          <p:cNvPr id="29" name="Rectangle 28"/>
          <p:cNvSpPr/>
          <p:nvPr/>
        </p:nvSpPr>
        <p:spPr>
          <a:xfrm>
            <a:off x="8366760" y="1664208"/>
            <a:ext cx="1783080" cy="658368"/>
          </a:xfrm>
          <a:prstGeom prst="rect">
            <a:avLst/>
          </a:prstGeom>
          <a:solidFill>
            <a:srgbClr val="FFFFFF"/>
          </a:solidFill>
          <a:ln w="19050">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950" b="1">
                <a:solidFill>
                  <a:srgbClr val="000000"/>
                </a:solidFill>
                <a:latin typeface="Arial"/>
              </a:rPr>
              <a:t>SIMPLE  ·  flash-pool</a:t>
            </a:r>
          </a:p>
          <a:p>
            <a:pPr algn="l">
              <a:spcAft>
                <a:spcPts val="200"/>
              </a:spcAft>
            </a:pPr>
            <a:r>
              <a:rPr sz="850" b="0">
                <a:solidFill>
                  <a:srgbClr val="000000"/>
                </a:solidFill>
                <a:latin typeface="Arial"/>
              </a:rPr>
              <a:t>Flash-tier e.g. Gemini 3.8 Flash</a:t>
            </a:r>
          </a:p>
        </p:txBody>
      </p:sp>
      <p:sp>
        <p:nvSpPr>
          <p:cNvPr id="30" name="Rectangle 29"/>
          <p:cNvSpPr/>
          <p:nvPr/>
        </p:nvSpPr>
        <p:spPr>
          <a:xfrm>
            <a:off x="8366760" y="2414016"/>
            <a:ext cx="1783080" cy="658368"/>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950" b="1">
                <a:solidFill>
                  <a:srgbClr val="000000"/>
                </a:solidFill>
                <a:latin typeface="Arial"/>
              </a:rPr>
              <a:t>MEDIUM  ·  sonnet-pool</a:t>
            </a:r>
          </a:p>
          <a:p>
            <a:pPr algn="l">
              <a:spcAft>
                <a:spcPts val="200"/>
              </a:spcAft>
            </a:pPr>
            <a:r>
              <a:rPr sz="850" b="0">
                <a:solidFill>
                  <a:srgbClr val="000000"/>
                </a:solidFill>
                <a:latin typeface="Arial"/>
              </a:rPr>
              <a:t>e.g. Claude Sonnet 5.5</a:t>
            </a:r>
          </a:p>
        </p:txBody>
      </p:sp>
      <p:sp>
        <p:nvSpPr>
          <p:cNvPr id="31" name="Rectangle 30"/>
          <p:cNvSpPr/>
          <p:nvPr/>
        </p:nvSpPr>
        <p:spPr>
          <a:xfrm>
            <a:off x="8366760" y="3163824"/>
            <a:ext cx="1783080" cy="658368"/>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950" b="1">
                <a:solidFill>
                  <a:srgbClr val="000000"/>
                </a:solidFill>
                <a:latin typeface="Arial"/>
              </a:rPr>
              <a:t>COMPLEX  ·  pro-pool</a:t>
            </a:r>
          </a:p>
          <a:p>
            <a:pPr algn="l">
              <a:spcAft>
                <a:spcPts val="200"/>
              </a:spcAft>
            </a:pPr>
            <a:r>
              <a:rPr sz="850" b="0">
                <a:solidFill>
                  <a:srgbClr val="000000"/>
                </a:solidFill>
                <a:latin typeface="Arial"/>
              </a:rPr>
              <a:t>Pro-tier e.g. Gemini 3.1 Pro</a:t>
            </a:r>
          </a:p>
        </p:txBody>
      </p:sp>
      <p:sp>
        <p:nvSpPr>
          <p:cNvPr id="32" name="Rectangle 31"/>
          <p:cNvSpPr/>
          <p:nvPr/>
        </p:nvSpPr>
        <p:spPr>
          <a:xfrm>
            <a:off x="8366760" y="3913632"/>
            <a:ext cx="1783080" cy="658368"/>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950" b="1">
                <a:solidFill>
                  <a:srgbClr val="000000"/>
                </a:solidFill>
                <a:latin typeface="Arial"/>
              </a:rPr>
              <a:t>REASONING  ·  opus-pool</a:t>
            </a:r>
          </a:p>
          <a:p>
            <a:pPr algn="l">
              <a:spcAft>
                <a:spcPts val="200"/>
              </a:spcAft>
            </a:pPr>
            <a:r>
              <a:rPr sz="850" b="0">
                <a:solidFill>
                  <a:srgbClr val="000000"/>
                </a:solidFill>
                <a:latin typeface="Arial"/>
              </a:rPr>
              <a:t>Opus-tier e.g. Claude Opus 5.5</a:t>
            </a:r>
          </a:p>
        </p:txBody>
      </p:sp>
      <p:sp>
        <p:nvSpPr>
          <p:cNvPr id="33" name="TextBox 32"/>
          <p:cNvSpPr txBox="1"/>
          <p:nvPr/>
        </p:nvSpPr>
        <p:spPr>
          <a:xfrm>
            <a:off x="8366760" y="4681728"/>
            <a:ext cx="1783080" cy="548640"/>
          </a:xfrm>
          <a:prstGeom prst="rect">
            <a:avLst/>
          </a:prstGeom>
          <a:noFill/>
        </p:spPr>
        <p:txBody>
          <a:bodyPr wrap="square" lIns="0" rIns="0" tIns="0" bIns="0" anchor="t">
            <a:noAutofit/>
          </a:bodyPr>
          <a:lstStyle/>
          <a:p>
            <a:pPr>
              <a:spcAft>
                <a:spcPts val="400"/>
              </a:spcAft>
            </a:pPr>
            <a:r>
              <a:rPr sz="850" b="0">
                <a:solidFill>
                  <a:srgbClr val="747676"/>
                </a:solidFill>
                <a:latin typeface="Arial"/>
              </a:rPr>
              <a:t>Pools: random or adaptive: true · session_affinity on for agents</a:t>
            </a:r>
          </a:p>
        </p:txBody>
      </p:sp>
      <p:sp>
        <p:nvSpPr>
          <p:cNvPr id="34" name="Rectangle 33"/>
          <p:cNvSpPr/>
          <p:nvPr/>
        </p:nvSpPr>
        <p:spPr>
          <a:xfrm>
            <a:off x="10469880" y="1783080"/>
            <a:ext cx="1280160" cy="59436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000000"/>
                </a:solidFill>
                <a:latin typeface="Arial"/>
              </a:rPr>
              <a:t>Vertex AI</a:t>
            </a:r>
          </a:p>
        </p:txBody>
      </p:sp>
      <p:cxnSp>
        <p:nvCxnSpPr>
          <p:cNvPr id="35" name="Connector 34"/>
          <p:cNvCxnSpPr/>
          <p:nvPr/>
        </p:nvCxnSpPr>
        <p:spPr>
          <a:xfrm flipV="1">
            <a:off x="10149840" y="2075688"/>
            <a:ext cx="320040" cy="941832"/>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0469880" y="2651760"/>
            <a:ext cx="1280160" cy="59436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000000"/>
                </a:solidFill>
                <a:latin typeface="Arial"/>
              </a:rPr>
              <a:t>AWS Bedrock</a:t>
            </a:r>
          </a:p>
        </p:txBody>
      </p:sp>
      <p:cxnSp>
        <p:nvCxnSpPr>
          <p:cNvPr id="37" name="Connector 36"/>
          <p:cNvCxnSpPr/>
          <p:nvPr/>
        </p:nvCxnSpPr>
        <p:spPr>
          <a:xfrm flipV="1">
            <a:off x="10149840" y="2944368"/>
            <a:ext cx="320040" cy="73152"/>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0469880" y="3520439"/>
            <a:ext cx="1280160" cy="59436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000000"/>
                </a:solidFill>
                <a:latin typeface="Arial"/>
              </a:rPr>
              <a:t>Azure</a:t>
            </a:r>
          </a:p>
        </p:txBody>
      </p:sp>
      <p:cxnSp>
        <p:nvCxnSpPr>
          <p:cNvPr id="39" name="Connector 38"/>
          <p:cNvCxnSpPr/>
          <p:nvPr/>
        </p:nvCxnSpPr>
        <p:spPr>
          <a:xfrm>
            <a:off x="10149840" y="3017520"/>
            <a:ext cx="320040" cy="795528"/>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469880" y="4434840"/>
            <a:ext cx="1325880" cy="822960"/>
          </a:xfrm>
          <a:prstGeom prst="rect">
            <a:avLst/>
          </a:prstGeom>
          <a:noFill/>
        </p:spPr>
        <p:txBody>
          <a:bodyPr wrap="square" lIns="0" rIns="0" tIns="0" bIns="0" anchor="t">
            <a:noAutofit/>
          </a:bodyPr>
          <a:lstStyle/>
          <a:p>
            <a:pPr>
              <a:spcAft>
                <a:spcPts val="400"/>
              </a:spcAft>
            </a:pPr>
            <a:r>
              <a:rPr sz="850" b="1">
                <a:solidFill>
                  <a:srgbClr val="EE0000"/>
                </a:solidFill>
                <a:latin typeface="Arial"/>
              </a:rPr>
              <a:t>enable_context_window_escalation: safety net, moves up only</a:t>
            </a:r>
          </a:p>
        </p:txBody>
      </p:sp>
      <p:sp>
        <p:nvSpPr>
          <p:cNvPr id="41" name="Rectangle 40"/>
          <p:cNvSpPr/>
          <p:nvPr/>
        </p:nvSpPr>
        <p:spPr>
          <a:xfrm>
            <a:off x="365760" y="5715000"/>
            <a:ext cx="11384280" cy="59436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5742432"/>
            <a:ext cx="11155680" cy="548640"/>
          </a:xfrm>
          <a:prstGeom prst="rect">
            <a:avLst/>
          </a:prstGeom>
          <a:noFill/>
        </p:spPr>
        <p:txBody>
          <a:bodyPr wrap="square" lIns="0" rIns="0" tIns="0" bIns="0" anchor="t">
            <a:noAutofit/>
          </a:bodyPr>
          <a:lstStyle/>
          <a:p>
            <a:pPr>
              <a:spcAft>
                <a:spcPts val="400"/>
              </a:spcAft>
            </a:pPr>
            <a:r>
              <a:rPr sz="1000" b="1">
                <a:solidFill>
                  <a:srgbClr val="000000"/>
                </a:solidFill>
                <a:latin typeface="Arial"/>
              </a:rPr>
              <a:t>Telemetry and recalibration loop:  </a:t>
            </a:r>
          </a:p>
        </p:txBody>
      </p:sp>
      <p:sp>
        <p:nvSpPr>
          <p:cNvPr id="43" name="TextBox 42"/>
          <p:cNvSpPr txBox="1"/>
          <p:nvPr/>
        </p:nvSpPr>
        <p:spPr>
          <a:xfrm>
            <a:off x="502920" y="5961888"/>
            <a:ext cx="11155680" cy="365760"/>
          </a:xfrm>
          <a:prstGeom prst="rect">
            <a:avLst/>
          </a:prstGeom>
          <a:noFill/>
        </p:spPr>
        <p:txBody>
          <a:bodyPr wrap="square" lIns="0" rIns="0" tIns="0" bIns="0" anchor="t">
            <a:noAutofit/>
          </a:bodyPr>
          <a:lstStyle/>
          <a:p>
            <a:pPr>
              <a:spcAft>
                <a:spcPts val="400"/>
              </a:spcAft>
            </a:pPr>
            <a:r>
              <a:rPr sz="950" b="0">
                <a:solidFill>
                  <a:srgbClr val="333333"/>
                </a:solidFill>
                <a:latin typeface="Arial"/>
              </a:rPr>
              <a:t>routing headers · decision-log cause= · SpendLogs / Savings tab · OTel gen_ai.evaluation.result → Galileo  ⟶  playground (slide 12) emits heuristic_v2_artifact, thresholds, rules  ⟶  PR into this config. OpenJev-4B (Databricks) runs only in bake-off / shadow.</a:t>
            </a:r>
          </a:p>
        </p:txBody>
      </p:sp>
      <p:cxnSp>
        <p:nvCxnSpPr>
          <p:cNvPr id="44" name="Connector 43"/>
          <p:cNvCxnSpPr/>
          <p:nvPr/>
        </p:nvCxnSpPr>
        <p:spPr>
          <a:xfrm flipV="1">
            <a:off x="914400" y="3291840"/>
            <a:ext cx="0" cy="2423160"/>
          </a:xfrm>
          <a:prstGeom prst="line">
            <a:avLst/>
          </a:prstGeom>
          <a:ln w="12700">
            <a:solidFill>
              <a:srgbClr val="74767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005840" y="4114800"/>
            <a:ext cx="685800" cy="1463040"/>
          </a:xfrm>
          <a:prstGeom prst="rect">
            <a:avLst/>
          </a:prstGeom>
          <a:noFill/>
        </p:spPr>
        <p:txBody>
          <a:bodyPr wrap="square" lIns="0" rIns="0" tIns="0" bIns="0" anchor="t">
            <a:noAutofit/>
          </a:bodyPr>
          <a:lstStyle/>
          <a:p>
            <a:pPr>
              <a:spcAft>
                <a:spcPts val="400"/>
              </a:spcAft>
            </a:pPr>
            <a:r>
              <a:rPr sz="850" b="0">
                <a:solidFill>
                  <a:srgbClr val="747676"/>
                </a:solidFill>
                <a:latin typeface="Arial"/>
              </a:rPr>
              <a:t>decision logs and eval results feed back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JEV DECISION V1 INTEGRATION</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Jev decision v1 plugs in as a first-class oss_classifier through deployment_name, with fail-closed escalation when a slice is not certified</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research §0.3, §1 (code config.py@v1.106.2 L690–835) · docs.litellm.ai/docs/decisions · /providers/vllm · /providers/strands_decider · user's SERVING.md (/v1/systemone contract).</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6</a:t>
            </a:r>
          </a:p>
        </p:txBody>
      </p:sp>
      <p:sp>
        <p:nvSpPr>
          <p:cNvPr id="8" name="TextBox 7"/>
          <p:cNvSpPr txBox="1"/>
          <p:nvPr/>
        </p:nvSpPr>
        <p:spPr>
          <a:xfrm>
            <a:off x="457200" y="1325880"/>
            <a:ext cx="5486400" cy="274320"/>
          </a:xfrm>
          <a:prstGeom prst="rect">
            <a:avLst/>
          </a:prstGeom>
          <a:noFill/>
        </p:spPr>
        <p:txBody>
          <a:bodyPr wrap="square" lIns="0" rIns="0" tIns="0" bIns="0" anchor="t">
            <a:noAutofit/>
          </a:bodyPr>
          <a:lstStyle/>
          <a:p>
            <a:pPr>
              <a:spcAft>
                <a:spcPts val="400"/>
              </a:spcAft>
            </a:pPr>
            <a:r>
              <a:rPr sz="1300" b="1">
                <a:solidFill>
                  <a:srgbClr val="000000"/>
                </a:solidFill>
                <a:latin typeface="Arial"/>
              </a:rPr>
              <a:t>Two serving paths, one contract</a:t>
            </a:r>
          </a:p>
        </p:txBody>
      </p:sp>
      <p:sp>
        <p:nvSpPr>
          <p:cNvPr id="9" name="Rectangle 8"/>
          <p:cNvSpPr/>
          <p:nvPr/>
        </p:nvSpPr>
        <p:spPr>
          <a:xfrm>
            <a:off x="457200" y="1828800"/>
            <a:ext cx="1554480" cy="137160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100" b="1">
                <a:solidFill>
                  <a:srgbClr val="FFFFFF"/>
                </a:solidFill>
                <a:latin typeface="Arial"/>
              </a:rPr>
              <a:t>kairos-auto</a:t>
            </a:r>
          </a:p>
          <a:p>
            <a:pPr algn="ctr">
              <a:spcAft>
                <a:spcPts val="200"/>
              </a:spcAft>
            </a:pPr>
            <a:r>
              <a:rPr sz="900" b="0">
                <a:solidFill>
                  <a:srgbClr val="FFFFFF"/>
                </a:solidFill>
                <a:latin typeface="Arial"/>
              </a:rPr>
              <a:t>oss_classifier</a:t>
            </a:r>
          </a:p>
          <a:p>
            <a:pPr algn="ctr">
              <a:spcAft>
                <a:spcPts val="200"/>
              </a:spcAft>
            </a:pPr>
            <a:r>
              <a:rPr sz="850" b="0">
                <a:solidFill>
                  <a:srgbClr val="FFFFFF"/>
                </a:solidFill>
                <a:latin typeface="Arial"/>
              </a:rPr>
              <a:t>deployment_name: jev-decision-v1</a:t>
            </a:r>
          </a:p>
        </p:txBody>
      </p:sp>
      <p:sp>
        <p:nvSpPr>
          <p:cNvPr id="10" name="Rectangle 9"/>
          <p:cNvSpPr/>
          <p:nvPr/>
        </p:nvSpPr>
        <p:spPr>
          <a:xfrm>
            <a:off x="2423160" y="1691640"/>
            <a:ext cx="1920240" cy="73152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950" b="1">
                <a:solidFill>
                  <a:srgbClr val="000000"/>
                </a:solidFill>
                <a:latin typeface="Arial"/>
              </a:rPr>
              <a:t>A  hosted_vllm/&lt;served-name&gt;</a:t>
            </a:r>
          </a:p>
          <a:p>
            <a:pPr algn="l">
              <a:spcAft>
                <a:spcPts val="200"/>
              </a:spcAft>
            </a:pPr>
            <a:r>
              <a:rPr sz="850" b="0">
                <a:solidFill>
                  <a:srgbClr val="000000"/>
                </a:solidFill>
                <a:latin typeface="Arial"/>
              </a:rPr>
              <a:t>native vLLM ≥0.32 /v1/systemone on a READ_STRATEGIES arch</a:t>
            </a:r>
          </a:p>
        </p:txBody>
      </p:sp>
      <p:sp>
        <p:nvSpPr>
          <p:cNvPr id="11" name="Rectangle 10"/>
          <p:cNvSpPr/>
          <p:nvPr/>
        </p:nvSpPr>
        <p:spPr>
          <a:xfrm>
            <a:off x="2423160" y="2606040"/>
            <a:ext cx="1920240" cy="73152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950" b="1">
                <a:solidFill>
                  <a:srgbClr val="000000"/>
                </a:solidFill>
                <a:latin typeface="Arial"/>
              </a:rPr>
              <a:t>B  strands_decider/&lt;served-name&gt;</a:t>
            </a:r>
          </a:p>
          <a:p>
            <a:pPr algn="l">
              <a:spcAft>
                <a:spcPts val="200"/>
              </a:spcAft>
            </a:pPr>
            <a:r>
              <a:rPr sz="850" b="0">
                <a:solidFill>
                  <a:srgbClr val="000000"/>
                </a:solidFill>
                <a:latin typeface="Arial"/>
              </a:rPr>
              <a:t>generic System One client; appends /v1/systemone</a:t>
            </a:r>
          </a:p>
        </p:txBody>
      </p:sp>
      <p:cxnSp>
        <p:nvCxnSpPr>
          <p:cNvPr id="12" name="Connector 11"/>
          <p:cNvCxnSpPr/>
          <p:nvPr/>
        </p:nvCxnSpPr>
        <p:spPr>
          <a:xfrm flipV="1">
            <a:off x="2011680" y="2057400"/>
            <a:ext cx="411480" cy="320040"/>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11680" y="2651760"/>
            <a:ext cx="411480" cy="320040"/>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709160" y="1691640"/>
            <a:ext cx="1234440" cy="1645920"/>
          </a:xfrm>
          <a:prstGeom prst="rect">
            <a:avLst/>
          </a:prstGeom>
          <a:solidFill>
            <a:srgbClr val="FFFFFF"/>
          </a:solidFill>
          <a:ln w="19050">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000000"/>
                </a:solidFill>
                <a:latin typeface="Arial"/>
              </a:rPr>
              <a:t>Jev decision v1</a:t>
            </a:r>
          </a:p>
          <a:p>
            <a:pPr algn="ctr">
              <a:spcAft>
                <a:spcPts val="200"/>
              </a:spcAft>
            </a:pPr>
            <a:r>
              <a:rPr sz="850" b="0">
                <a:solidFill>
                  <a:srgbClr val="000000"/>
                </a:solidFill>
                <a:latin typeface="Arial"/>
              </a:rPr>
              <a:t>returns</a:t>
            </a:r>
          </a:p>
          <a:p>
            <a:pPr algn="ctr">
              <a:spcAft>
                <a:spcPts val="200"/>
              </a:spcAft>
            </a:pPr>
            <a:r>
              <a:rPr sz="850" b="0">
                <a:solidFill>
                  <a:srgbClr val="000000"/>
                </a:solidFill>
                <a:latin typeface="Arial"/>
              </a:rPr>
              <a:t>answer · probabilities · confidence · certified</a:t>
            </a:r>
          </a:p>
        </p:txBody>
      </p:sp>
      <p:cxnSp>
        <p:nvCxnSpPr>
          <p:cNvPr id="15" name="Connector 14"/>
          <p:cNvCxnSpPr/>
          <p:nvPr/>
        </p:nvCxnSpPr>
        <p:spPr>
          <a:xfrm>
            <a:off x="4343400" y="2057400"/>
            <a:ext cx="365760" cy="228600"/>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343400" y="2743200"/>
            <a:ext cx="365760" cy="228600"/>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 y="3520440"/>
            <a:ext cx="5486400" cy="274320"/>
          </a:xfrm>
          <a:prstGeom prst="rect">
            <a:avLst/>
          </a:prstGeom>
          <a:noFill/>
        </p:spPr>
        <p:txBody>
          <a:bodyPr wrap="square" lIns="0" rIns="0" tIns="0" bIns="0" anchor="t">
            <a:noAutofit/>
          </a:bodyPr>
          <a:lstStyle/>
          <a:p>
            <a:pPr>
              <a:spcAft>
                <a:spcPts val="400"/>
              </a:spcAft>
            </a:pPr>
            <a:r>
              <a:rPr sz="1300" b="1">
                <a:solidFill>
                  <a:srgbClr val="000000"/>
                </a:solidFill>
                <a:latin typeface="Arial"/>
              </a:rPr>
              <a:t>Decision logic per request</a:t>
            </a:r>
          </a:p>
        </p:txBody>
      </p:sp>
      <p:sp>
        <p:nvSpPr>
          <p:cNvPr id="18" name="Rectangle 17"/>
          <p:cNvSpPr/>
          <p:nvPr/>
        </p:nvSpPr>
        <p:spPr>
          <a:xfrm>
            <a:off x="457200" y="3886200"/>
            <a:ext cx="3017520" cy="475488"/>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950" b="0">
                <a:solidFill>
                  <a:srgbClr val="000000"/>
                </a:solidFill>
                <a:latin typeface="Arial"/>
              </a:rPr>
              <a:t>certified = true and confidence ≥ θ for the slice</a:t>
            </a:r>
          </a:p>
        </p:txBody>
      </p:sp>
      <p:cxnSp>
        <p:nvCxnSpPr>
          <p:cNvPr id="19" name="Connector 18"/>
          <p:cNvCxnSpPr/>
          <p:nvPr/>
        </p:nvCxnSpPr>
        <p:spPr>
          <a:xfrm>
            <a:off x="3474720" y="4123944"/>
            <a:ext cx="320040"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794760" y="3886200"/>
            <a:ext cx="2148840" cy="475488"/>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950" b="1">
                <a:solidFill>
                  <a:srgbClr val="FFFFFF"/>
                </a:solidFill>
                <a:latin typeface="Arial"/>
              </a:rPr>
              <a:t>use the classified tier</a:t>
            </a:r>
          </a:p>
        </p:txBody>
      </p:sp>
      <p:sp>
        <p:nvSpPr>
          <p:cNvPr id="21" name="Rectangle 20"/>
          <p:cNvSpPr/>
          <p:nvPr/>
        </p:nvSpPr>
        <p:spPr>
          <a:xfrm>
            <a:off x="457200" y="4471416"/>
            <a:ext cx="3017520" cy="475488"/>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950" b="0">
                <a:solidFill>
                  <a:srgbClr val="000000"/>
                </a:solidFill>
                <a:latin typeface="Arial"/>
              </a:rPr>
              <a:t>not certified or below θ</a:t>
            </a:r>
          </a:p>
        </p:txBody>
      </p:sp>
      <p:cxnSp>
        <p:nvCxnSpPr>
          <p:cNvPr id="22" name="Connector 21"/>
          <p:cNvCxnSpPr/>
          <p:nvPr/>
        </p:nvCxnSpPr>
        <p:spPr>
          <a:xfrm>
            <a:off x="3474720" y="4709159"/>
            <a:ext cx="320040" cy="0"/>
          </a:xfrm>
          <a:prstGeom prst="line">
            <a:avLst/>
          </a:prstGeom>
          <a:ln w="15875">
            <a:solidFill>
              <a:srgbClr val="EE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3794760" y="4471416"/>
            <a:ext cx="2148840" cy="475488"/>
          </a:xfrm>
          <a:prstGeom prst="rect">
            <a:avLst/>
          </a:prstGeom>
          <a:solidFill>
            <a:srgbClr val="EE0000"/>
          </a:solidFill>
          <a:ln w="952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950" b="1">
                <a:solidFill>
                  <a:srgbClr val="FFFFFF"/>
                </a:solidFill>
                <a:latin typeface="Arial"/>
              </a:rPr>
              <a:t>escalate one tier (fail-closed, SERVING.md)</a:t>
            </a:r>
          </a:p>
        </p:txBody>
      </p:sp>
      <p:sp>
        <p:nvSpPr>
          <p:cNvPr id="24" name="Rectangle 23"/>
          <p:cNvSpPr/>
          <p:nvPr/>
        </p:nvSpPr>
        <p:spPr>
          <a:xfrm>
            <a:off x="457200" y="5056631"/>
            <a:ext cx="3017520" cy="475488"/>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950" b="0">
                <a:solidFill>
                  <a:srgbClr val="000000"/>
                </a:solidFill>
                <a:latin typeface="Arial"/>
              </a:rPr>
              <a:t>timeout (1500 ms here; default 3000) or breaker open (30 s)</a:t>
            </a:r>
          </a:p>
        </p:txBody>
      </p:sp>
      <p:cxnSp>
        <p:nvCxnSpPr>
          <p:cNvPr id="25" name="Connector 24"/>
          <p:cNvCxnSpPr/>
          <p:nvPr/>
        </p:nvCxnSpPr>
        <p:spPr>
          <a:xfrm>
            <a:off x="3474720" y="5294375"/>
            <a:ext cx="320040" cy="0"/>
          </a:xfrm>
          <a:prstGeom prst="line">
            <a:avLst/>
          </a:prstGeom>
          <a:ln w="15875">
            <a:solidFill>
              <a:srgbClr val="747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3794760" y="5056631"/>
            <a:ext cx="2148840" cy="475488"/>
          </a:xfrm>
          <a:prstGeom prst="rect">
            <a:avLst/>
          </a:prstGeom>
          <a:solidFill>
            <a:srgbClr val="747676"/>
          </a:solidFill>
          <a:ln w="9525">
            <a:solidFill>
              <a:srgbClr val="747676"/>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950" b="1">
                <a:solidFill>
                  <a:srgbClr val="FFFFFF"/>
                </a:solidFill>
                <a:latin typeface="Arial"/>
              </a:rPr>
              <a:t>classifier_fallback: heuristic</a:t>
            </a:r>
          </a:p>
        </p:txBody>
      </p:sp>
      <p:sp>
        <p:nvSpPr>
          <p:cNvPr id="27" name="TextBox 26"/>
          <p:cNvSpPr txBox="1"/>
          <p:nvPr/>
        </p:nvSpPr>
        <p:spPr>
          <a:xfrm>
            <a:off x="457200" y="5669280"/>
            <a:ext cx="5486400" cy="640080"/>
          </a:xfrm>
          <a:prstGeom prst="rect">
            <a:avLst/>
          </a:prstGeom>
          <a:noFill/>
        </p:spPr>
        <p:txBody>
          <a:bodyPr wrap="square" lIns="0" rIns="0" tIns="0" bIns="0" anchor="t">
            <a:noAutofit/>
          </a:bodyPr>
          <a:lstStyle/>
          <a:p>
            <a:pPr>
              <a:spcAft>
                <a:spcPts val="400"/>
              </a:spcAft>
            </a:pPr>
            <a:r>
              <a:rPr sz="900" b="1">
                <a:solidFill>
                  <a:srgbClr val="333333"/>
                </a:solidFill>
                <a:latin typeface="Arial"/>
              </a:rPr>
              <a:t>Rules [V]:</a:t>
            </a:r>
            <a:r>
              <a:rPr sz="900" b="0">
                <a:solidFill>
                  <a:srgbClr val="333333"/>
                </a:solidFill>
                <a:latin typeface="Arial"/>
              </a:rPr>
              <a:t> deployment_name must not carry api_key or api_base. Self-hosted vLLM has no price, so no x-litellm-classifier-cost header. Legacy alias classifier_type: jev. vLLM limits: 64 questions, 26 options, 10 levels.</a:t>
            </a:r>
          </a:p>
        </p:txBody>
      </p:sp>
      <p:sp>
        <p:nvSpPr>
          <p:cNvPr id="28" name="Rectangle 27"/>
          <p:cNvSpPr/>
          <p:nvPr/>
        </p:nvSpPr>
        <p:spPr>
          <a:xfrm>
            <a:off x="6263640" y="1325880"/>
            <a:ext cx="5468112" cy="292608"/>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00" b="1">
                <a:solidFill>
                  <a:srgbClr val="FFFFFF"/>
                </a:solidFill>
                <a:latin typeface="Arial"/>
              </a:rPr>
              <a:t>config.yaml  ·  Jev decision v1 registration (from research §1)</a:t>
            </a:r>
          </a:p>
        </p:txBody>
      </p:sp>
      <p:sp>
        <p:nvSpPr>
          <p:cNvPr id="29" name="Rectangle 28"/>
          <p:cNvSpPr/>
          <p:nvPr/>
        </p:nvSpPr>
        <p:spPr>
          <a:xfrm>
            <a:off x="6263640" y="1618488"/>
            <a:ext cx="5468112" cy="333756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82512" y="1691640"/>
            <a:ext cx="5257800" cy="3200400"/>
          </a:xfrm>
          <a:prstGeom prst="rect">
            <a:avLst/>
          </a:prstGeom>
          <a:noFill/>
        </p:spPr>
        <p:txBody>
          <a:bodyPr wrap="square" lIns="0" rIns="0" tIns="0" bIns="0" anchor="t">
            <a:noAutofit/>
          </a:bodyPr>
          <a:lstStyle/>
          <a:p>
            <a:pPr>
              <a:spcAft>
                <a:spcPts val="0"/>
              </a:spcAft>
            </a:pPr>
            <a:r>
              <a:rPr sz="880" b="0">
                <a:solidFill>
                  <a:srgbClr val="F2F2F2"/>
                </a:solidFill>
                <a:latin typeface="Courier New"/>
              </a:rPr>
              <a:t>model_list:</a:t>
            </a:r>
          </a:p>
          <a:p>
            <a:pPr>
              <a:spcAft>
                <a:spcPts val="0"/>
              </a:spcAft>
            </a:pPr>
            <a:r>
              <a:rPr sz="880" b="0">
                <a:solidFill>
                  <a:srgbClr val="F2F2F2"/>
                </a:solidFill>
                <a:latin typeface="Courier New"/>
              </a:rPr>
              <a:t>  - model_name: jev-decision-v1</a:t>
            </a:r>
          </a:p>
          <a:p>
            <a:pPr>
              <a:spcAft>
                <a:spcPts val="0"/>
              </a:spcAft>
            </a:pPr>
            <a:r>
              <a:rPr sz="880" b="0">
                <a:solidFill>
                  <a:srgbClr val="F2F2F2"/>
                </a:solidFill>
                <a:latin typeface="Courier New"/>
              </a:rPr>
              <a:t>    litellm_params:</a:t>
            </a:r>
          </a:p>
          <a:p>
            <a:pPr>
              <a:spcAft>
                <a:spcPts val="0"/>
              </a:spcAft>
            </a:pPr>
            <a:r>
              <a:rPr sz="880" b="0">
                <a:solidFill>
                  <a:srgbClr val="F2F2F2"/>
                </a:solidFill>
                <a:latin typeface="Courier New"/>
              </a:rPr>
              <a:t>      model: hosted_vllm/&lt;served-name&gt;  # path A</a:t>
            </a:r>
          </a:p>
          <a:p>
            <a:pPr>
              <a:spcAft>
                <a:spcPts val="0"/>
              </a:spcAft>
            </a:pPr>
            <a:r>
              <a:rPr sz="880" b="0">
                <a:solidFill>
                  <a:srgbClr val="F2F2F2"/>
                </a:solidFill>
                <a:latin typeface="Courier New"/>
              </a:rPr>
              <a:t>      # model: strands_decider/&lt;served-name&gt;  # path B</a:t>
            </a:r>
          </a:p>
          <a:p>
            <a:pPr>
              <a:spcAft>
                <a:spcPts val="0"/>
              </a:spcAft>
            </a:pPr>
            <a:r>
              <a:rPr sz="880" b="0">
                <a:solidFill>
                  <a:srgbClr val="F2F2F2"/>
                </a:solidFill>
                <a:latin typeface="Courier New"/>
              </a:rPr>
              <a:t>      api_base: os.environ/JEV_DECISION_API_BASE</a:t>
            </a:r>
          </a:p>
          <a:p>
            <a:pPr>
              <a:spcAft>
                <a:spcPts val="0"/>
              </a:spcAft>
            </a:pPr>
            <a:r>
              <a:rPr sz="880" b="0">
                <a:solidFill>
                  <a:srgbClr val="F2F2F2"/>
                </a:solidFill>
                <a:latin typeface="Courier New"/>
              </a:rPr>
              <a:t>    model_info: { mode: evaluation }</a:t>
            </a:r>
          </a:p>
          <a:p>
            <a:pPr>
              <a:spcAft>
                <a:spcPts val="0"/>
              </a:spcAft>
            </a:pPr>
            <a:r>
              <a:rPr sz="880" b="0">
                <a:solidFill>
                  <a:srgbClr val="F2F2F2"/>
                </a:solidFill>
                <a:latin typeface="Courier New"/>
              </a:rPr>
              <a:t>  - model_name: kairos-auto</a:t>
            </a:r>
          </a:p>
          <a:p>
            <a:pPr>
              <a:spcAft>
                <a:spcPts val="0"/>
              </a:spcAft>
            </a:pPr>
            <a:r>
              <a:rPr sz="880" b="0">
                <a:solidFill>
                  <a:srgbClr val="F2F2F2"/>
                </a:solidFill>
                <a:latin typeface="Courier New"/>
              </a:rPr>
              <a:t>    litellm_params:</a:t>
            </a:r>
          </a:p>
          <a:p>
            <a:pPr>
              <a:spcAft>
                <a:spcPts val="0"/>
              </a:spcAft>
            </a:pPr>
            <a:r>
              <a:rPr sz="880" b="0">
                <a:solidFill>
                  <a:srgbClr val="F2F2F2"/>
                </a:solidFill>
                <a:latin typeface="Courier New"/>
              </a:rPr>
              <a:t>      model: auto_router/complexity_router</a:t>
            </a:r>
          </a:p>
          <a:p>
            <a:pPr>
              <a:spcAft>
                <a:spcPts val="0"/>
              </a:spcAft>
            </a:pPr>
            <a:r>
              <a:rPr sz="880" b="0">
                <a:solidFill>
                  <a:srgbClr val="F2F2F2"/>
                </a:solidFill>
                <a:latin typeface="Courier New"/>
              </a:rPr>
              <a:t>      complexity_router_config:</a:t>
            </a:r>
          </a:p>
          <a:p>
            <a:pPr>
              <a:spcAft>
                <a:spcPts val="0"/>
              </a:spcAft>
            </a:pPr>
            <a:r>
              <a:rPr sz="880" b="0">
                <a:solidFill>
                  <a:srgbClr val="F2F2F2"/>
                </a:solidFill>
                <a:latin typeface="Courier New"/>
              </a:rPr>
              <a:t>        tiers: { SIMPLE: flash-pool, MEDIUM: sonnet-pool,</a:t>
            </a:r>
          </a:p>
          <a:p>
            <a:pPr>
              <a:spcAft>
                <a:spcPts val="0"/>
              </a:spcAft>
            </a:pPr>
            <a:r>
              <a:rPr sz="880" b="0">
                <a:solidFill>
                  <a:srgbClr val="F2F2F2"/>
                </a:solidFill>
                <a:latin typeface="Courier New"/>
              </a:rPr>
              <a:t>                 COMPLEX: pro-pool, REASONING: opus-pool }</a:t>
            </a:r>
          </a:p>
          <a:p>
            <a:pPr>
              <a:spcAft>
                <a:spcPts val="0"/>
              </a:spcAft>
            </a:pPr>
            <a:r>
              <a:rPr sz="880" b="0">
                <a:solidFill>
                  <a:srgbClr val="F2F2F2"/>
                </a:solidFill>
                <a:latin typeface="Courier New"/>
              </a:rPr>
              <a:t>        classifier_type: oss_classifier</a:t>
            </a:r>
          </a:p>
          <a:p>
            <a:pPr>
              <a:spcAft>
                <a:spcPts val="0"/>
              </a:spcAft>
            </a:pPr>
            <a:r>
              <a:rPr sz="880" b="0">
                <a:solidFill>
                  <a:srgbClr val="F2F2F2"/>
                </a:solidFill>
                <a:latin typeface="Courier New"/>
              </a:rPr>
              <a:t>        opensource_classifier_config:</a:t>
            </a:r>
          </a:p>
          <a:p>
            <a:pPr>
              <a:spcAft>
                <a:spcPts val="0"/>
              </a:spcAft>
            </a:pPr>
            <a:r>
              <a:rPr sz="880" b="0">
                <a:solidFill>
                  <a:srgbClr val="F2F2F2"/>
                </a:solidFill>
                <a:latin typeface="Courier New"/>
              </a:rPr>
              <a:t>          { deployment_name: jev-decision-v1, timeout_ms: 1500 }</a:t>
            </a:r>
          </a:p>
          <a:p>
            <a:pPr>
              <a:spcAft>
                <a:spcPts val="0"/>
              </a:spcAft>
            </a:pPr>
            <a:r>
              <a:rPr sz="880" b="0">
                <a:solidFill>
                  <a:srgbClr val="F2F2F2"/>
                </a:solidFill>
                <a:latin typeface="Courier New"/>
              </a:rPr>
              <a:t>        classifier_fallback: heuristic</a:t>
            </a:r>
          </a:p>
          <a:p>
            <a:pPr>
              <a:spcAft>
                <a:spcPts val="0"/>
              </a:spcAft>
            </a:pPr>
            <a:r>
              <a:rPr sz="880" b="0">
                <a:solidFill>
                  <a:srgbClr val="F2F2F2"/>
                </a:solidFill>
                <a:latin typeface="Courier New"/>
              </a:rPr>
              <a:t>        semantic_keyword_matching: true</a:t>
            </a:r>
          </a:p>
          <a:p>
            <a:pPr>
              <a:spcAft>
                <a:spcPts val="0"/>
              </a:spcAft>
            </a:pPr>
            <a:r>
              <a:rPr sz="880" b="0">
                <a:solidFill>
                  <a:srgbClr val="F2F2F2"/>
                </a:solidFill>
                <a:latin typeface="Courier New"/>
              </a:rPr>
              <a:t>        embedding_model: kairos-embed</a:t>
            </a:r>
          </a:p>
          <a:p>
            <a:pPr>
              <a:spcAft>
                <a:spcPts val="0"/>
              </a:spcAft>
            </a:pPr>
            <a:r>
              <a:rPr sz="880" b="0">
                <a:solidFill>
                  <a:srgbClr val="F2F2F2"/>
                </a:solidFill>
                <a:latin typeface="Courier New"/>
              </a:rPr>
              <a:t>        session_affinity: true</a:t>
            </a:r>
          </a:p>
        </p:txBody>
      </p:sp>
      <p:sp>
        <p:nvSpPr>
          <p:cNvPr id="31" name="Rectangle 30"/>
          <p:cNvSpPr/>
          <p:nvPr/>
        </p:nvSpPr>
        <p:spPr>
          <a:xfrm>
            <a:off x="6263640" y="5074920"/>
            <a:ext cx="5468112" cy="1234440"/>
          </a:xfrm>
          <a:prstGeom prst="rect">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5120640"/>
            <a:ext cx="5212080" cy="1143000"/>
          </a:xfrm>
          <a:prstGeom prst="rect">
            <a:avLst/>
          </a:prstGeom>
          <a:noFill/>
        </p:spPr>
        <p:txBody>
          <a:bodyPr wrap="square" lIns="0" rIns="0" tIns="0" bIns="0" anchor="t">
            <a:noAutofit/>
          </a:bodyPr>
          <a:lstStyle/>
          <a:p>
            <a:pPr>
              <a:spcAft>
                <a:spcPts val="200"/>
              </a:spcAft>
            </a:pPr>
            <a:r>
              <a:rPr sz="1100" b="1">
                <a:solidFill>
                  <a:srgbClr val="EE0000"/>
                </a:solidFill>
                <a:latin typeface="Arial"/>
              </a:rPr>
              <a:t>To verify in P0 [Verify]</a:t>
            </a:r>
          </a:p>
          <a:p>
            <a:pPr>
              <a:spcAft>
                <a:spcPts val="200"/>
              </a:spcAft>
            </a:pPr>
            <a:r>
              <a:rPr sz="950" b="0">
                <a:solidFill>
                  <a:srgbClr val="333333"/>
                </a:solidFill>
                <a:latin typeface="Arial"/>
              </a:rPr>
              <a:t>Gemma-based Jev on native vLLM /v1/systemone is unconfirmed; if unsupported, use path B.</a:t>
            </a:r>
          </a:p>
          <a:p>
            <a:pPr>
              <a:spcAft>
                <a:spcPts val="200"/>
              </a:spcAft>
            </a:pPr>
            <a:r>
              <a:rPr sz="950" b="0">
                <a:solidFill>
                  <a:srgbClr val="333333"/>
                </a:solidFill>
                <a:latin typeface="Arial"/>
              </a:rPr>
              <a:t>Same jev-decision-v1 deployment also backs the governance decision_model guardrail (Track A): size capacity for both.</a:t>
            </a:r>
          </a:p>
          <a:p>
            <a:pPr>
              <a:spcAft>
                <a:spcPts val="200"/>
              </a:spcAft>
            </a:pPr>
            <a:r>
              <a:rPr sz="950" b="0">
                <a:solidFill>
                  <a:srgbClr val="333333"/>
                </a:solidFill>
                <a:latin typeface="Arial"/>
              </a:rPr>
              <a:t>Confirm the serving stack in open question 2 (slide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DATABRICKS BASELINE</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Databricks OpenJev (Qwen3.5 4B) is the reference challenger; on v1.106.2 it is reachable only through the serving endpoint</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docs.databricks.com/aws/en/machine-learning/foundation-model-apis/supported-models · …/sql/language-manual/functions/ai_decide · LiteLLM config.py@v1.106.2 L771–777, llms/databricks/decisions/transformation.py@v1.106.2 · HF model card [Claim].</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7</a:t>
            </a:r>
          </a:p>
        </p:txBody>
      </p:sp>
      <p:graphicFrame>
        <p:nvGraphicFramePr>
          <p:cNvPr id="8" name="Table 7"/>
          <p:cNvGraphicFramePr>
            <a:graphicFrameLocks noGrp="1"/>
          </p:cNvGraphicFramePr>
          <p:nvPr/>
        </p:nvGraphicFramePr>
        <p:xfrm>
          <a:off x="457200" y="1325880"/>
          <a:ext cx="5760720" cy="2743200"/>
        </p:xfrm>
        <a:graphic>
          <a:graphicData uri="http://schemas.openxmlformats.org/drawingml/2006/table">
            <a:tbl>
              <a:tblPr firstRow="0" bandRow="0">
                <a:tableStyleId>{5940675A-B579-460E-94D1-54222C63F5DA}</a:tableStyleId>
              </a:tblPr>
              <a:tblGrid>
                <a:gridCol w="1325880"/>
                <a:gridCol w="4434840"/>
              </a:tblGrid>
              <a:tr h="457200">
                <a:tc>
                  <a:txBody>
                    <a:bodyPr wrap="square">
                      <a:noAutofit/>
                    </a:bodyPr>
                    <a:lstStyle/>
                    <a:p>
                      <a:pPr>
                        <a:spcAft>
                          <a:spcPts val="0"/>
                        </a:spcAft>
                      </a:pPr>
                      <a:r>
                        <a:rPr sz="950" b="1">
                          <a:solidFill>
                            <a:srgbClr val="FFFFFF"/>
                          </a:solidFill>
                          <a:latin typeface="Arial"/>
                        </a:rPr>
                        <a:t>Item</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950" b="1">
                          <a:solidFill>
                            <a:srgbClr val="FFFFFF"/>
                          </a:solidFill>
                          <a:latin typeface="Arial"/>
                        </a:rPr>
                        <a:t>Value [V]</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r>
              <a:tr h="457200">
                <a:tc>
                  <a:txBody>
                    <a:bodyPr wrap="square">
                      <a:noAutofit/>
                    </a:bodyPr>
                    <a:lstStyle/>
                    <a:p>
                      <a:pPr>
                        <a:spcAft>
                          <a:spcPts val="0"/>
                        </a:spcAft>
                      </a:pPr>
                      <a:r>
                        <a:rPr sz="950" b="1">
                          <a:solidFill>
                            <a:srgbClr val="000000"/>
                          </a:solidFill>
                          <a:latin typeface="Arial"/>
                        </a:rPr>
                        <a:t>Model</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OpenJev (Qwen3.5 4B), Databricks model service system.ai.openjev-qwen35-4b</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57200">
                <a:tc>
                  <a:txBody>
                    <a:bodyPr wrap="square">
                      <a:noAutofit/>
                    </a:bodyPr>
                    <a:lstStyle/>
                    <a:p>
                      <a:pPr>
                        <a:spcAft>
                          <a:spcPts val="0"/>
                        </a:spcAft>
                      </a:pPr>
                      <a:r>
                        <a:rPr sz="950" b="1">
                          <a:solidFill>
                            <a:srgbClr val="000000"/>
                          </a:solidFill>
                          <a:latin typeface="Arial"/>
                        </a:rPr>
                        <a:t>Endpoint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databricks-openjev-qwen35-4b · pay-per-token · text input · System One API</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57200">
                <a:tc>
                  <a:txBody>
                    <a:bodyPr wrap="square">
                      <a:noAutofit/>
                    </a:bodyPr>
                    <a:lstStyle/>
                    <a:p>
                      <a:pPr>
                        <a:spcAft>
                          <a:spcPts val="0"/>
                        </a:spcAft>
                      </a:pPr>
                      <a:r>
                        <a:rPr sz="950" b="1">
                          <a:solidFill>
                            <a:srgbClr val="000000"/>
                          </a:solidFill>
                          <a:latin typeface="Arial"/>
                        </a:rPr>
                        <a:t>AI Function</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ai_decide (Beta), POST /api/2.0/ai-functions/ai-decide; underlying Apache 2.0 models "may change"</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57200">
                <a:tc>
                  <a:txBody>
                    <a:bodyPr wrap="square">
                      <a:noAutofit/>
                    </a:bodyPr>
                    <a:lstStyle/>
                    <a:p>
                      <a:pPr>
                        <a:spcAft>
                          <a:spcPts val="0"/>
                        </a:spcAft>
                      </a:pPr>
                      <a:r>
                        <a:rPr sz="950" b="1">
                          <a:solidFill>
                            <a:srgbClr val="000000"/>
                          </a:solidFill>
                          <a:latin typeface="Arial"/>
                        </a:rPr>
                        <a:t>Also on Databricks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TypeSafe Jev 1.14.0 via Unity Gateway</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57200">
                <a:tc>
                  <a:txBody>
                    <a:bodyPr wrap="square">
                      <a:noAutofit/>
                    </a:bodyPr>
                    <a:lstStyle/>
                    <a:p>
                      <a:pPr>
                        <a:spcAft>
                          <a:spcPts val="0"/>
                        </a:spcAft>
                      </a:pPr>
                      <a:r>
                        <a:rPr sz="950" b="1">
                          <a:solidFill>
                            <a:srgbClr val="000000"/>
                          </a:solidFill>
                          <a:latin typeface="Arial"/>
                        </a:rPr>
                        <a:t>Caveats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Beta, region-limited. "Production" means Databricks-hosted FMAPI, not a published routing accuracy</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bl>
          </a:graphicData>
        </a:graphic>
      </p:graphicFrame>
      <p:sp>
        <p:nvSpPr>
          <p:cNvPr id="9" name="TextBox 8"/>
          <p:cNvSpPr txBox="1"/>
          <p:nvPr/>
        </p:nvSpPr>
        <p:spPr>
          <a:xfrm>
            <a:off x="6492240" y="1325880"/>
            <a:ext cx="5212080" cy="274320"/>
          </a:xfrm>
          <a:prstGeom prst="rect">
            <a:avLst/>
          </a:prstGeom>
          <a:noFill/>
        </p:spPr>
        <p:txBody>
          <a:bodyPr wrap="square" lIns="0" rIns="0" tIns="0" bIns="0" anchor="t">
            <a:noAutofit/>
          </a:bodyPr>
          <a:lstStyle/>
          <a:p>
            <a:pPr>
              <a:spcAft>
                <a:spcPts val="400"/>
              </a:spcAft>
            </a:pPr>
            <a:r>
              <a:rPr sz="1300" b="1">
                <a:solidFill>
                  <a:srgbClr val="000000"/>
                </a:solidFill>
                <a:latin typeface="Arial"/>
              </a:rPr>
              <a:t>How Kairos Gateway reaches it</a:t>
            </a:r>
          </a:p>
        </p:txBody>
      </p:sp>
      <p:sp>
        <p:nvSpPr>
          <p:cNvPr id="10" name="Rectangle 9"/>
          <p:cNvSpPr/>
          <p:nvPr/>
        </p:nvSpPr>
        <p:spPr>
          <a:xfrm>
            <a:off x="6492240" y="1691640"/>
            <a:ext cx="2514600" cy="178308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200"/>
              </a:spcAft>
            </a:pPr>
            <a:r>
              <a:rPr sz="1100" b="1">
                <a:solidFill>
                  <a:srgbClr val="FFFFFF"/>
                </a:solidFill>
                <a:latin typeface="Arial"/>
              </a:rPr>
              <a:t>v1.106.2  (our pin)</a:t>
            </a:r>
          </a:p>
          <a:p>
            <a:pPr algn="l">
              <a:spcAft>
                <a:spcPts val="200"/>
              </a:spcAft>
            </a:pPr>
            <a:r>
              <a:rPr sz="900" b="0">
                <a:solidFill>
                  <a:srgbClr val="D8DADA"/>
                </a:solidFill>
                <a:latin typeface="Arial"/>
              </a:rPr>
              <a:t>classifier_type: oss_classifier</a:t>
            </a:r>
          </a:p>
          <a:p>
            <a:pPr algn="l">
              <a:spcAft>
                <a:spcPts val="200"/>
              </a:spcAft>
            </a:pPr>
            <a:r>
              <a:rPr sz="900" b="0">
                <a:solidFill>
                  <a:srgbClr val="D8DADA"/>
                </a:solidFill>
                <a:latin typeface="Arial"/>
              </a:rPr>
              <a:t>provider: databricks</a:t>
            </a:r>
          </a:p>
          <a:p>
            <a:pPr algn="l">
              <a:spcAft>
                <a:spcPts val="200"/>
              </a:spcAft>
            </a:pPr>
            <a:r>
              <a:rPr sz="900" b="0">
                <a:solidFill>
                  <a:srgbClr val="D8DADA"/>
                </a:solidFill>
                <a:latin typeface="Arial"/>
              </a:rPr>
              <a:t>model: databricks-openjev-qwen35-4b</a:t>
            </a:r>
          </a:p>
          <a:p>
            <a:pPr algn="l">
              <a:spcAft>
                <a:spcPts val="200"/>
              </a:spcAft>
            </a:pPr>
            <a:r>
              <a:rPr sz="900" b="0">
                <a:solidFill>
                  <a:srgbClr val="D8DADA"/>
                </a:solidFill>
                <a:latin typeface="Arial"/>
              </a:rPr>
              <a:t>DATABRICKS_API_BASE + token</a:t>
            </a:r>
          </a:p>
          <a:p>
            <a:pPr algn="l">
              <a:spcAft>
                <a:spcPts val="200"/>
              </a:spcAft>
            </a:pPr>
            <a:r>
              <a:rPr sz="900" b="1">
                <a:solidFill>
                  <a:srgbClr val="FFFFFF"/>
                </a:solidFill>
                <a:latin typeface="Arial"/>
              </a:rPr>
              <a:t>→ /serving-endpoints/&lt;name&gt;/invocations</a:t>
            </a:r>
          </a:p>
        </p:txBody>
      </p:sp>
      <p:sp>
        <p:nvSpPr>
          <p:cNvPr id="11" name="Rectangle 10"/>
          <p:cNvSpPr/>
          <p:nvPr/>
        </p:nvSpPr>
        <p:spPr>
          <a:xfrm>
            <a:off x="9189720" y="1691640"/>
            <a:ext cx="2542032" cy="1783080"/>
          </a:xfrm>
          <a:prstGeom prst="rect">
            <a:avLst/>
          </a:prstGeom>
          <a:solidFill>
            <a:srgbClr val="FFFFFF"/>
          </a:solidFill>
          <a:ln w="9525">
            <a:solidFill>
              <a:srgbClr val="747676"/>
            </a:solidFill>
            <a:prstDash val="dash"/>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200"/>
              </a:spcAft>
            </a:pPr>
            <a:r>
              <a:rPr sz="1100" b="1">
                <a:solidFill>
                  <a:srgbClr val="000000"/>
                </a:solidFill>
                <a:latin typeface="Arial"/>
              </a:rPr>
              <a:t>v1.107 line only</a:t>
            </a:r>
          </a:p>
          <a:p>
            <a:pPr algn="l">
              <a:spcAft>
                <a:spcPts val="200"/>
              </a:spcAft>
            </a:pPr>
            <a:r>
              <a:rPr sz="900" b="0">
                <a:solidFill>
                  <a:srgbClr val="000000"/>
                </a:solidFill>
                <a:latin typeface="Arial"/>
              </a:rPr>
              <a:t>model: ai_decide (timeout 5000 ms)</a:t>
            </a:r>
          </a:p>
          <a:p>
            <a:pPr algn="l">
              <a:spcAft>
                <a:spcPts val="200"/>
              </a:spcAft>
            </a:pPr>
            <a:r>
              <a:rPr sz="900" b="0">
                <a:solidFill>
                  <a:srgbClr val="000000"/>
                </a:solidFill>
                <a:latin typeface="Arial"/>
              </a:rPr>
              <a:t>PRs #45200 / #45722, tagged v1.107.0-rc.1</a:t>
            </a:r>
          </a:p>
          <a:p>
            <a:pPr algn="l">
              <a:spcAft>
                <a:spcPts val="200"/>
              </a:spcAft>
            </a:pPr>
            <a:r>
              <a:rPr sz="900" b="1">
                <a:solidFill>
                  <a:srgbClr val="EE0000"/>
                </a:solidFill>
                <a:latin typeface="Arial"/>
              </a:rPr>
              <a:t>Not available on our pin.</a:t>
            </a:r>
          </a:p>
        </p:txBody>
      </p:sp>
      <p:sp>
        <p:nvSpPr>
          <p:cNvPr id="12" name="Rectangle 11"/>
          <p:cNvSpPr/>
          <p:nvPr/>
        </p:nvSpPr>
        <p:spPr>
          <a:xfrm>
            <a:off x="6492240" y="3611880"/>
            <a:ext cx="5239512" cy="914400"/>
          </a:xfrm>
          <a:prstGeom prst="rect">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657600"/>
            <a:ext cx="5029200" cy="822960"/>
          </a:xfrm>
          <a:prstGeom prst="rect">
            <a:avLst/>
          </a:prstGeom>
          <a:noFill/>
        </p:spPr>
        <p:txBody>
          <a:bodyPr wrap="square" lIns="0" rIns="0" tIns="0" bIns="0" anchor="t">
            <a:noAutofit/>
          </a:bodyPr>
          <a:lstStyle/>
          <a:p>
            <a:pPr>
              <a:spcAft>
                <a:spcPts val="200"/>
              </a:spcAft>
            </a:pPr>
            <a:r>
              <a:rPr sz="1100" b="1">
                <a:solidFill>
                  <a:srgbClr val="EE0000"/>
                </a:solidFill>
                <a:latin typeface="Arial"/>
              </a:rPr>
              <a:t>Cost trap: $0 recorded ≠ $0 spent</a:t>
            </a:r>
          </a:p>
          <a:p>
            <a:pPr>
              <a:spcAft>
                <a:spcPts val="200"/>
              </a:spcAft>
            </a:pPr>
            <a:r>
              <a:rPr sz="950" b="0">
                <a:solidFill>
                  <a:srgbClr val="333333"/>
                </a:solidFill>
                <a:latin typeface="Arial"/>
              </a:rPr>
              <a:t>LiteLLM's cost map prices it at $0, so there is no classifier-cost header. Databricks still bills the workspace: reconcile from Databricks system tables.</a:t>
            </a:r>
          </a:p>
        </p:txBody>
      </p:sp>
      <p:sp>
        <p:nvSpPr>
          <p:cNvPr id="14" name="Rectangle 13"/>
          <p:cNvSpPr/>
          <p:nvPr/>
        </p:nvSpPr>
        <p:spPr>
          <a:xfrm>
            <a:off x="457200" y="4251960"/>
            <a:ext cx="5760720" cy="10058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297680"/>
            <a:ext cx="5532120" cy="914400"/>
          </a:xfrm>
          <a:prstGeom prst="rect">
            <a:avLst/>
          </a:prstGeom>
          <a:noFill/>
        </p:spPr>
        <p:txBody>
          <a:bodyPr wrap="square" lIns="0" rIns="0" tIns="0" bIns="0" anchor="t">
            <a:noAutofit/>
          </a:bodyPr>
          <a:lstStyle/>
          <a:p>
            <a:pPr>
              <a:spcAft>
                <a:spcPts val="200"/>
              </a:spcAft>
            </a:pPr>
            <a:r>
              <a:rPr sz="1100" b="1">
                <a:solidFill>
                  <a:srgbClr val="000000"/>
                </a:solidFill>
                <a:latin typeface="Arial"/>
              </a:rPr>
              <a:t>Do not confuse with HF openjev/openjev</a:t>
            </a:r>
          </a:p>
          <a:p>
            <a:pPr>
              <a:spcAft>
                <a:spcPts val="200"/>
              </a:spcAft>
            </a:pPr>
            <a:r>
              <a:rPr sz="950" b="0">
                <a:solidFill>
                  <a:srgbClr val="333333"/>
                </a:solidFill>
                <a:latin typeface="Arial"/>
              </a:rPr>
              <a:t>A different model: Qwen3.8-27B base, CC-BY-NC-4.0 (commercial licence via the vendor). Card claims 84.0% vs hosted Jev 85.4% on 10k questions, ~80 ms on H100 FP8, 16,384-token limit, 52 options [Claim].</a:t>
            </a:r>
          </a:p>
        </p:txBody>
      </p:sp>
      <p:sp>
        <p:nvSpPr>
          <p:cNvPr id="16" name="Rectangle 15"/>
          <p:cNvSpPr/>
          <p:nvPr/>
        </p:nvSpPr>
        <p:spPr>
          <a:xfrm>
            <a:off x="457200" y="5394960"/>
            <a:ext cx="5760720" cy="914400"/>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5440680"/>
            <a:ext cx="5532120" cy="822960"/>
          </a:xfrm>
          <a:prstGeom prst="rect">
            <a:avLst/>
          </a:prstGeom>
          <a:noFill/>
        </p:spPr>
        <p:txBody>
          <a:bodyPr wrap="square" lIns="0" rIns="0" tIns="0" bIns="0" anchor="t">
            <a:noAutofit/>
          </a:bodyPr>
          <a:lstStyle/>
          <a:p>
            <a:pPr>
              <a:spcAft>
                <a:spcPts val="100"/>
              </a:spcAft>
            </a:pPr>
            <a:r>
              <a:rPr sz="1000" b="1">
                <a:solidFill>
                  <a:srgbClr val="000000"/>
                </a:solidFill>
                <a:latin typeface="Arial"/>
              </a:rPr>
              <a:t>Community pattern [Claim]</a:t>
            </a:r>
          </a:p>
          <a:p>
            <a:pPr>
              <a:spcAft>
                <a:spcPts val="100"/>
              </a:spcAft>
            </a:pPr>
            <a:r>
              <a:rPr sz="900" b="0">
                <a:solidFill>
                  <a:srgbClr val="333333"/>
                </a:solidFill>
                <a:latin typeface="Arial"/>
              </a:rPr>
              <a:t>GLM 5.3 Flash vs full with ai_decide: confidence ≥0.7 → Flash, else full. A useful idea, but untested by us.</a:t>
            </a:r>
          </a:p>
        </p:txBody>
      </p:sp>
      <p:sp>
        <p:nvSpPr>
          <p:cNvPr id="18" name="TextBox 17"/>
          <p:cNvSpPr txBox="1"/>
          <p:nvPr/>
        </p:nvSpPr>
        <p:spPr>
          <a:xfrm>
            <a:off x="6492240" y="4663440"/>
            <a:ext cx="5239512" cy="274320"/>
          </a:xfrm>
          <a:prstGeom prst="rect">
            <a:avLst/>
          </a:prstGeom>
          <a:noFill/>
        </p:spPr>
        <p:txBody>
          <a:bodyPr wrap="square" lIns="0" rIns="0" tIns="0" bIns="0" anchor="t">
            <a:noAutofit/>
          </a:bodyPr>
          <a:lstStyle/>
          <a:p>
            <a:pPr>
              <a:spcAft>
                <a:spcPts val="400"/>
              </a:spcAft>
            </a:pPr>
            <a:r>
              <a:rPr sz="1050" b="1">
                <a:solidFill>
                  <a:srgbClr val="000000"/>
                </a:solidFill>
                <a:latin typeface="Arial"/>
              </a:rPr>
              <a:t>Role in Kairos: 4-way bake-off on the same golden set and heatmap</a:t>
            </a:r>
          </a:p>
        </p:txBody>
      </p:sp>
      <p:sp>
        <p:nvSpPr>
          <p:cNvPr id="19" name="Rectangle 18"/>
          <p:cNvSpPr/>
          <p:nvPr/>
        </p:nvSpPr>
        <p:spPr>
          <a:xfrm>
            <a:off x="6492240" y="4983480"/>
            <a:ext cx="1234440" cy="73152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50" b="1">
                <a:solidFill>
                  <a:srgbClr val="FFFFFF"/>
                </a:solidFill>
                <a:latin typeface="Arial"/>
              </a:rPr>
              <a:t>Jev decision v1</a:t>
            </a:r>
          </a:p>
        </p:txBody>
      </p:sp>
      <p:sp>
        <p:nvSpPr>
          <p:cNvPr id="20" name="Rectangle 19"/>
          <p:cNvSpPr/>
          <p:nvPr/>
        </p:nvSpPr>
        <p:spPr>
          <a:xfrm>
            <a:off x="7818119" y="4983480"/>
            <a:ext cx="1234440" cy="73152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50" b="1">
                <a:solidFill>
                  <a:srgbClr val="000000"/>
                </a:solidFill>
                <a:latin typeface="Arial"/>
              </a:rPr>
              <a:t>OpenJev-4B</a:t>
            </a:r>
          </a:p>
        </p:txBody>
      </p:sp>
      <p:sp>
        <p:nvSpPr>
          <p:cNvPr id="21" name="Rectangle 20"/>
          <p:cNvSpPr/>
          <p:nvPr/>
        </p:nvSpPr>
        <p:spPr>
          <a:xfrm>
            <a:off x="9144000" y="4983480"/>
            <a:ext cx="1234440" cy="73152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50" b="1">
                <a:solidFill>
                  <a:srgbClr val="000000"/>
                </a:solidFill>
                <a:latin typeface="Arial"/>
              </a:rPr>
              <a:t>heuristic v1/v2</a:t>
            </a:r>
          </a:p>
        </p:txBody>
      </p:sp>
      <p:sp>
        <p:nvSpPr>
          <p:cNvPr id="22" name="Rectangle 21"/>
          <p:cNvSpPr/>
          <p:nvPr/>
        </p:nvSpPr>
        <p:spPr>
          <a:xfrm>
            <a:off x="10469880" y="4983480"/>
            <a:ext cx="1234440" cy="73152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50" b="1">
                <a:solidFill>
                  <a:srgbClr val="000000"/>
                </a:solidFill>
                <a:latin typeface="Arial"/>
              </a:rPr>
              <a:t>LLM classifier e.g. Haiku 5.5</a:t>
            </a:r>
          </a:p>
        </p:txBody>
      </p:sp>
      <p:sp>
        <p:nvSpPr>
          <p:cNvPr id="23" name="TextBox 22"/>
          <p:cNvSpPr txBox="1"/>
          <p:nvPr/>
        </p:nvSpPr>
        <p:spPr>
          <a:xfrm>
            <a:off x="6492240" y="5806440"/>
            <a:ext cx="5239512" cy="502920"/>
          </a:xfrm>
          <a:prstGeom prst="rect">
            <a:avLst/>
          </a:prstGeom>
          <a:noFill/>
        </p:spPr>
        <p:txBody>
          <a:bodyPr wrap="square" lIns="0" rIns="0" tIns="0" bIns="0" anchor="t">
            <a:noAutofit/>
          </a:bodyPr>
          <a:lstStyle/>
          <a:p>
            <a:pPr>
              <a:spcAft>
                <a:spcPts val="400"/>
              </a:spcAft>
            </a:pPr>
            <a:r>
              <a:rPr sz="950" b="0">
                <a:solidFill>
                  <a:srgbClr val="333333"/>
                </a:solidFill>
                <a:latin typeface="Arial"/>
              </a:rPr>
              <a:t>Same inputs and metrics for all four: routing accuracy vs cheapest passing tier, p95 latency, cost incl. Databricks billing.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PUBLISHED EVIDENCE AND ITS LIMITS</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The vendor evidence is promising, but none of it is a quality-controlled A/B on Kairos traffic</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docs.litellm.ai/blog/jev-auto-router-benchmark · docs.litellm.ai/blog/auto-router-production-savings · LiteLLM blog series. All numbers are vendor claims, not reproduced by us.</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8</a:t>
            </a:r>
          </a:p>
        </p:txBody>
      </p:sp>
      <p:sp>
        <p:nvSpPr>
          <p:cNvPr id="8" name="Rectangle 7"/>
          <p:cNvSpPr/>
          <p:nvPr/>
        </p:nvSpPr>
        <p:spPr>
          <a:xfrm>
            <a:off x="457200" y="1325880"/>
            <a:ext cx="3291840" cy="49834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63040"/>
            <a:ext cx="2926080" cy="274320"/>
          </a:xfrm>
          <a:prstGeom prst="rect">
            <a:avLst/>
          </a:prstGeom>
          <a:noFill/>
        </p:spPr>
        <p:txBody>
          <a:bodyPr wrap="square" lIns="0" rIns="0" tIns="0" bIns="0" anchor="t">
            <a:noAutofit/>
          </a:bodyPr>
          <a:lstStyle/>
          <a:p>
            <a:pPr>
              <a:spcAft>
                <a:spcPts val="400"/>
              </a:spcAft>
            </a:pPr>
            <a:r>
              <a:rPr sz="1000" b="1">
                <a:solidFill>
                  <a:srgbClr val="D8DADA"/>
                </a:solidFill>
                <a:latin typeface="Arial"/>
              </a:rPr>
              <a:t>HEADLINE VENDOR CLAIM</a:t>
            </a:r>
          </a:p>
        </p:txBody>
      </p:sp>
      <p:sp>
        <p:nvSpPr>
          <p:cNvPr id="10" name="TextBox 9"/>
          <p:cNvSpPr txBox="1"/>
          <p:nvPr/>
        </p:nvSpPr>
        <p:spPr>
          <a:xfrm>
            <a:off x="640080" y="1783080"/>
            <a:ext cx="2926080" cy="1097280"/>
          </a:xfrm>
          <a:prstGeom prst="rect">
            <a:avLst/>
          </a:prstGeom>
          <a:noFill/>
        </p:spPr>
        <p:txBody>
          <a:bodyPr wrap="square" lIns="0" rIns="0" tIns="0" bIns="0" anchor="t">
            <a:noAutofit/>
          </a:bodyPr>
          <a:lstStyle/>
          <a:p>
            <a:pPr>
              <a:spcAft>
                <a:spcPts val="400"/>
              </a:spcAft>
            </a:pPr>
            <a:r>
              <a:rPr sz="6000" b="1">
                <a:solidFill>
                  <a:srgbClr val="FFFFFF"/>
                </a:solidFill>
                <a:latin typeface="Arial"/>
              </a:rPr>
              <a:t>51.1%</a:t>
            </a:r>
          </a:p>
        </p:txBody>
      </p:sp>
      <p:sp>
        <p:nvSpPr>
          <p:cNvPr id="11" name="TextBox 10"/>
          <p:cNvSpPr txBox="1"/>
          <p:nvPr/>
        </p:nvSpPr>
        <p:spPr>
          <a:xfrm>
            <a:off x="640080" y="2880360"/>
            <a:ext cx="2926080" cy="1005840"/>
          </a:xfrm>
          <a:prstGeom prst="rect">
            <a:avLst/>
          </a:prstGeom>
          <a:noFill/>
        </p:spPr>
        <p:txBody>
          <a:bodyPr wrap="square" lIns="0" rIns="0" tIns="0" bIns="0" anchor="t">
            <a:noAutofit/>
          </a:bodyPr>
          <a:lstStyle/>
          <a:p>
            <a:pPr>
              <a:spcAft>
                <a:spcPts val="400"/>
              </a:spcAft>
            </a:pPr>
            <a:r>
              <a:rPr sz="1100" b="0">
                <a:solidFill>
                  <a:srgbClr val="D8DADA"/>
                </a:solidFill>
                <a:latin typeface="Arial"/>
              </a:rPr>
              <a:t>saved ($12,249) on 272,876 requests, 450+ users, 15 Apr–9 Aug 2026; 42.9% → 60.7% after tier tuning</a:t>
            </a:r>
          </a:p>
        </p:txBody>
      </p:sp>
      <p:sp>
        <p:nvSpPr>
          <p:cNvPr id="12" name="Rectangle 11"/>
          <p:cNvSpPr/>
          <p:nvPr/>
        </p:nvSpPr>
        <p:spPr>
          <a:xfrm>
            <a:off x="640080" y="3977639"/>
            <a:ext cx="548640"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114800"/>
            <a:ext cx="2926080" cy="2103120"/>
          </a:xfrm>
          <a:prstGeom prst="rect">
            <a:avLst/>
          </a:prstGeom>
          <a:noFill/>
        </p:spPr>
        <p:txBody>
          <a:bodyPr wrap="square" lIns="0" rIns="0" tIns="0" bIns="0" anchor="t">
            <a:noAutofit/>
          </a:bodyPr>
          <a:lstStyle/>
          <a:p>
            <a:pPr>
              <a:spcAft>
                <a:spcPts val="400"/>
              </a:spcAft>
            </a:pPr>
            <a:r>
              <a:rPr sz="1200" b="1">
                <a:solidFill>
                  <a:srgbClr val="FFFFFF"/>
                </a:solidFill>
                <a:latin typeface="Arial"/>
              </a:rPr>
              <a:t>The limit</a:t>
            </a:r>
          </a:p>
          <a:p>
            <a:pPr>
              <a:spcAft>
                <a:spcPts val="400"/>
              </a:spcAft>
            </a:pPr>
            <a:r>
              <a:rPr sz="1050" b="0">
                <a:solidFill>
                  <a:srgbClr val="D8DADA"/>
                </a:solidFill>
                <a:latin typeface="Arial"/>
              </a:rPr>
              <a:t>Counterfactual repricing at the REASONING tier from SpendLogs. It assumes every request would have gone to the top tier and that quality held. It is not a quality-controlled A/B.</a:t>
            </a:r>
          </a:p>
        </p:txBody>
      </p:sp>
      <p:graphicFrame>
        <p:nvGraphicFramePr>
          <p:cNvPr id="14" name="Table 13"/>
          <p:cNvGraphicFramePr>
            <a:graphicFrameLocks noGrp="1"/>
          </p:cNvGraphicFramePr>
          <p:nvPr/>
        </p:nvGraphicFramePr>
        <p:xfrm>
          <a:off x="3977639" y="1325880"/>
          <a:ext cx="7754112" cy="3803904"/>
        </p:xfrm>
        <a:graphic>
          <a:graphicData uri="http://schemas.openxmlformats.org/drawingml/2006/table">
            <a:tbl>
              <a:tblPr firstRow="0" bandRow="0">
                <a:tableStyleId>{5940675A-B579-460E-94D1-54222C63F5DA}</a:tableStyleId>
              </a:tblPr>
              <a:tblGrid>
                <a:gridCol w="1828800"/>
                <a:gridCol w="3657600"/>
                <a:gridCol w="2267712"/>
              </a:tblGrid>
              <a:tr h="475488">
                <a:tc>
                  <a:txBody>
                    <a:bodyPr wrap="square">
                      <a:noAutofit/>
                    </a:bodyPr>
                    <a:lstStyle/>
                    <a:p>
                      <a:pPr>
                        <a:spcAft>
                          <a:spcPts val="0"/>
                        </a:spcAft>
                      </a:pPr>
                      <a:r>
                        <a:rPr sz="950" b="1">
                          <a:solidFill>
                            <a:srgbClr val="FFFFFF"/>
                          </a:solidFill>
                          <a:latin typeface="Arial"/>
                        </a:rPr>
                        <a:t>Claim [Claim]</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950" b="1">
                          <a:solidFill>
                            <a:srgbClr val="FFFFFF"/>
                          </a:solidFill>
                          <a:latin typeface="Arial"/>
                        </a:rPr>
                        <a:t>Number</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950" b="1">
                          <a:solidFill>
                            <a:srgbClr val="FFFFFF"/>
                          </a:solidFill>
                          <a:latin typeface="Arial"/>
                        </a:rPr>
                        <a:t>Method caveat</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r>
              <a:tr h="475488">
                <a:tc>
                  <a:txBody>
                    <a:bodyPr wrap="square">
                      <a:noAutofit/>
                    </a:bodyPr>
                    <a:lstStyle/>
                    <a:p>
                      <a:pPr>
                        <a:spcAft>
                          <a:spcPts val="0"/>
                        </a:spcAft>
                      </a:pPr>
                      <a:r>
                        <a:rPr sz="950" b="1">
                          <a:solidFill>
                            <a:srgbClr val="000000"/>
                          </a:solidFill>
                          <a:latin typeface="Arial"/>
                        </a:rPr>
                        <a:t>JEV vs Haiku 4.5 classifier</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p50 126.81 vs 688.40 ms; p95 231.16 vs 896.94 ms; 95.00% vs 73.75% match; 96.12% lower classifier cost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jev-1.13.0; only 80 author-written cases ×3</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75488">
                <a:tc>
                  <a:txBody>
                    <a:bodyPr wrap="square">
                      <a:noAutofit/>
                    </a:bodyPr>
                    <a:lstStyle/>
                    <a:p>
                      <a:pPr>
                        <a:spcAft>
                          <a:spcPts val="0"/>
                        </a:spcAft>
                      </a:pPr>
                      <a:r>
                        <a:rPr sz="950" b="1">
                          <a:solidFill>
                            <a:srgbClr val="000000"/>
                          </a:solidFill>
                          <a:latin typeface="Arial"/>
                        </a:rPr>
                        <a:t>Shadow eval</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88.1% matched or beat; 143 turns; $1.55</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Small n; LLM judge</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75488">
                <a:tc>
                  <a:txBody>
                    <a:bodyPr wrap="square">
                      <a:noAutofit/>
                    </a:bodyPr>
                    <a:lstStyle/>
                    <a:p>
                      <a:pPr>
                        <a:spcAft>
                          <a:spcPts val="0"/>
                        </a:spcAft>
                      </a:pPr>
                      <a:r>
                        <a:rPr sz="950" b="1">
                          <a:solidFill>
                            <a:srgbClr val="000000"/>
                          </a:solidFill>
                          <a:latin typeface="Arial"/>
                        </a:rPr>
                        <a:t>Terminal-Bench subset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27% cheaper at Opus-5 parity</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Subset only</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75488">
                <a:tc>
                  <a:txBody>
                    <a:bodyPr wrap="square">
                      <a:noAutofit/>
                    </a:bodyPr>
                    <a:lstStyle/>
                    <a:p>
                      <a:pPr>
                        <a:spcAft>
                          <a:spcPts val="0"/>
                        </a:spcAft>
                      </a:pPr>
                      <a:r>
                        <a:rPr sz="950" b="1">
                          <a:solidFill>
                            <a:srgbClr val="000000"/>
                          </a:solidFill>
                          <a:latin typeface="Arial"/>
                        </a:rPr>
                        <a:t>Heuristic v2</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+27% tasks solved at −45% cost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Vendor-reported</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75488">
                <a:tc>
                  <a:txBody>
                    <a:bodyPr wrap="square">
                      <a:noAutofit/>
                    </a:bodyPr>
                    <a:lstStyle/>
                    <a:p>
                      <a:pPr>
                        <a:spcAft>
                          <a:spcPts val="0"/>
                        </a:spcAft>
                      </a:pPr>
                      <a:r>
                        <a:rPr sz="950" b="1">
                          <a:solidFill>
                            <a:srgbClr val="000000"/>
                          </a:solidFill>
                          <a:latin typeface="Arial"/>
                        </a:rPr>
                        <a:t>RouterArena</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74.5% cheaper at 87.3% quality (8,399 queries)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Vendor-reported</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75488">
                <a:tc>
                  <a:txBody>
                    <a:bodyPr wrap="square">
                      <a:noAutofit/>
                    </a:bodyPr>
                    <a:lstStyle/>
                    <a:p>
                      <a:pPr>
                        <a:spcAft>
                          <a:spcPts val="0"/>
                        </a:spcAft>
                      </a:pPr>
                      <a:r>
                        <a:rPr sz="950" b="1">
                          <a:solidFill>
                            <a:srgbClr val="000000"/>
                          </a:solidFill>
                          <a:latin typeface="Arial"/>
                        </a:rPr>
                        <a:t>Prompt caching + routing</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37–69% cheaper than caching alone; 99.3% warm on switch-back at 1 h TTL</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Vendor-reported</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75488">
                <a:tc>
                  <a:txBody>
                    <a:bodyPr wrap="square">
                      <a:noAutofit/>
                    </a:bodyPr>
                    <a:lstStyle/>
                    <a:p>
                      <a:pPr>
                        <a:spcAft>
                          <a:spcPts val="0"/>
                        </a:spcAft>
                      </a:pPr>
                      <a:r>
                        <a:rPr sz="950" b="1">
                          <a:solidFill>
                            <a:srgbClr val="000000"/>
                          </a:solidFill>
                          <a:latin typeface="Arial"/>
                        </a:rPr>
                        <a:t>Classifier context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Follow-up agreement 14% / 47% / 78% at 0 / 1 / 2 turns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Why classifier_context_window_size matters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bl>
          </a:graphicData>
        </a:graphic>
      </p:graphicFrame>
      <p:sp>
        <p:nvSpPr>
          <p:cNvPr id="15" name="Rectangle 14"/>
          <p:cNvSpPr/>
          <p:nvPr/>
        </p:nvSpPr>
        <p:spPr>
          <a:xfrm>
            <a:off x="3977639" y="5349240"/>
            <a:ext cx="7754112" cy="9601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0" y="5394960"/>
            <a:ext cx="7498079" cy="868680"/>
          </a:xfrm>
          <a:prstGeom prst="rect">
            <a:avLst/>
          </a:prstGeom>
          <a:noFill/>
        </p:spPr>
        <p:txBody>
          <a:bodyPr wrap="square" lIns="0" rIns="0" tIns="0" bIns="0" anchor="t">
            <a:noAutofit/>
          </a:bodyPr>
          <a:lstStyle/>
          <a:p>
            <a:pPr>
              <a:spcAft>
                <a:spcPts val="200"/>
              </a:spcAft>
            </a:pPr>
            <a:r>
              <a:rPr sz="1100" b="1">
                <a:solidFill>
                  <a:srgbClr val="000000"/>
                </a:solidFill>
                <a:latin typeface="Arial"/>
              </a:rPr>
              <a:t>What we do differently</a:t>
            </a:r>
          </a:p>
          <a:p>
            <a:pPr>
              <a:spcAft>
                <a:spcPts val="200"/>
              </a:spcAft>
            </a:pPr>
            <a:r>
              <a:rPr sz="1000" b="0">
                <a:solidFill>
                  <a:srgbClr val="333333"/>
                </a:solidFill>
                <a:latin typeface="Arial"/>
              </a:rPr>
              <a:t>Our own golden set from Galileo traces (not author-written), labels from task checks + Jev-as-judge + 5–10% human audit, and savings from paired shadow evals with quality, not repricing alone.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BENCHMARK METHODOLOGY</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Ground truth first: a Kairos-owned golden set, labelled on every tier, turns routing into a measurable cost-quality Pareto</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research §5.1–5.2 · RouterBench arXiv 2403.12031 · RouteLLM 2406.18665 · MT-Bench judge 2306.05685 · LC-AlpacaEval 2404.04475.</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9</a:t>
            </a:r>
          </a:p>
        </p:txBody>
      </p:sp>
      <p:sp>
        <p:nvSpPr>
          <p:cNvPr id="8" name="Rectangle 7"/>
          <p:cNvSpPr/>
          <p:nvPr/>
        </p:nvSpPr>
        <p:spPr>
          <a:xfrm>
            <a:off x="457200" y="1371600"/>
            <a:ext cx="2176272" cy="118872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300"/>
              </a:spcAft>
            </a:pPr>
            <a:r>
              <a:rPr sz="1150" b="1">
                <a:solidFill>
                  <a:srgbClr val="000000"/>
                </a:solidFill>
                <a:latin typeface="Arial"/>
              </a:rPr>
              <a:t>1  Collect</a:t>
            </a:r>
          </a:p>
          <a:p>
            <a:pPr algn="l">
              <a:spcAft>
                <a:spcPts val="300"/>
              </a:spcAft>
            </a:pPr>
            <a:r>
              <a:rPr sz="950" b="0">
                <a:solidFill>
                  <a:srgbClr val="333333"/>
                </a:solidFill>
                <a:latin typeface="Arial"/>
              </a:rPr>
              <a:t>Galileo traces (PII-redacted) + public sets: RouterBench, RouteLLM data, MT-Bench style, LC-AlpacaEval</a:t>
            </a:r>
          </a:p>
        </p:txBody>
      </p:sp>
      <p:cxnSp>
        <p:nvCxnSpPr>
          <p:cNvPr id="9" name="Connector 8"/>
          <p:cNvCxnSpPr/>
          <p:nvPr/>
        </p:nvCxnSpPr>
        <p:spPr>
          <a:xfrm>
            <a:off x="2633472" y="1965960"/>
            <a:ext cx="100584" cy="0"/>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734056" y="1371600"/>
            <a:ext cx="2176272" cy="118872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300"/>
              </a:spcAft>
            </a:pPr>
            <a:r>
              <a:rPr sz="1150" b="1">
                <a:solidFill>
                  <a:srgbClr val="000000"/>
                </a:solidFill>
                <a:latin typeface="Arial"/>
              </a:rPr>
              <a:t>2  Cluster</a:t>
            </a:r>
          </a:p>
          <a:p>
            <a:pPr algn="l">
              <a:spcAft>
                <a:spcPts val="300"/>
              </a:spcAft>
            </a:pPr>
            <a:r>
              <a:rPr sz="950" b="0">
                <a:solidFill>
                  <a:srgbClr val="333333"/>
                </a:solidFill>
                <a:latin typeface="Arial"/>
              </a:rPr>
              <a:t>Kairos embedding models cluster traces; sample each cluster so common chat is not over-represented</a:t>
            </a:r>
          </a:p>
        </p:txBody>
      </p:sp>
      <p:cxnSp>
        <p:nvCxnSpPr>
          <p:cNvPr id="11" name="Connector 10"/>
          <p:cNvCxnSpPr/>
          <p:nvPr/>
        </p:nvCxnSpPr>
        <p:spPr>
          <a:xfrm>
            <a:off x="4910327" y="1965960"/>
            <a:ext cx="100585" cy="0"/>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010912" y="1371600"/>
            <a:ext cx="2176272" cy="118872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300"/>
              </a:spcAft>
            </a:pPr>
            <a:r>
              <a:rPr sz="1150" b="1">
                <a:solidFill>
                  <a:srgbClr val="000000"/>
                </a:solidFill>
                <a:latin typeface="Arial"/>
              </a:rPr>
              <a:t>3  Stratify</a:t>
            </a:r>
          </a:p>
          <a:p>
            <a:pPr algn="l">
              <a:spcAft>
                <a:spcPts val="300"/>
              </a:spcAft>
            </a:pPr>
            <a:r>
              <a:rPr sz="950" b="0">
                <a:solidFill>
                  <a:srgbClr val="333333"/>
                </a:solidFill>
                <a:latin typeface="Arial"/>
              </a:rPr>
              <a:t>task type (Jev choice questions), tenant/app, language, tool use, turn position, length bucket</a:t>
            </a:r>
          </a:p>
        </p:txBody>
      </p:sp>
      <p:cxnSp>
        <p:nvCxnSpPr>
          <p:cNvPr id="13" name="Connector 12"/>
          <p:cNvCxnSpPr/>
          <p:nvPr/>
        </p:nvCxnSpPr>
        <p:spPr>
          <a:xfrm>
            <a:off x="7187183" y="1965960"/>
            <a:ext cx="100585" cy="0"/>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287767" y="1371600"/>
            <a:ext cx="2176272" cy="118872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300"/>
              </a:spcAft>
            </a:pPr>
            <a:r>
              <a:rPr sz="1150" b="1">
                <a:solidFill>
                  <a:srgbClr val="000000"/>
                </a:solidFill>
                <a:latin typeface="Arial"/>
              </a:rPr>
              <a:t>4  Run all tiers</a:t>
            </a:r>
          </a:p>
          <a:p>
            <a:pPr algn="l">
              <a:spcAft>
                <a:spcPts val="300"/>
              </a:spcAft>
            </a:pPr>
            <a:r>
              <a:rPr sz="950" b="0">
                <a:solidFill>
                  <a:srgbClr val="333333"/>
                </a:solidFill>
                <a:latin typeface="Arial"/>
              </a:rPr>
              <a:t>every prompt through every tier alias in Kairos Gateway (real latency, spend logs)</a:t>
            </a:r>
          </a:p>
        </p:txBody>
      </p:sp>
      <p:cxnSp>
        <p:nvCxnSpPr>
          <p:cNvPr id="15" name="Connector 14"/>
          <p:cNvCxnSpPr/>
          <p:nvPr/>
        </p:nvCxnSpPr>
        <p:spPr>
          <a:xfrm>
            <a:off x="9464039" y="1965960"/>
            <a:ext cx="100584" cy="0"/>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9564624" y="1371600"/>
            <a:ext cx="2176272" cy="118872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300"/>
              </a:spcAft>
            </a:pPr>
            <a:r>
              <a:rPr sz="1150" b="1">
                <a:solidFill>
                  <a:srgbClr val="FFFFFF"/>
                </a:solidFill>
                <a:latin typeface="Arial"/>
              </a:rPr>
              <a:t>5  Label</a:t>
            </a:r>
          </a:p>
          <a:p>
            <a:pPr algn="l">
              <a:spcAft>
                <a:spcPts val="300"/>
              </a:spcAft>
            </a:pPr>
            <a:r>
              <a:rPr sz="950" b="0">
                <a:solidFill>
                  <a:srgbClr val="D8DADA"/>
                </a:solidFill>
                <a:latin typeface="Arial"/>
              </a:rPr>
              <a:t>(a) task checks: tests, exact match, JSON schema  (b) Jev-as-judge pairwise vs top tier, position swap  (c) 5–10% human audit</a:t>
            </a:r>
          </a:p>
        </p:txBody>
      </p:sp>
      <p:sp>
        <p:nvSpPr>
          <p:cNvPr id="17" name="TextBox 16"/>
          <p:cNvSpPr txBox="1"/>
          <p:nvPr/>
        </p:nvSpPr>
        <p:spPr>
          <a:xfrm>
            <a:off x="457200" y="2724912"/>
            <a:ext cx="2743200" cy="274320"/>
          </a:xfrm>
          <a:prstGeom prst="rect">
            <a:avLst/>
          </a:prstGeom>
          <a:noFill/>
        </p:spPr>
        <p:txBody>
          <a:bodyPr wrap="square" lIns="0" rIns="0" tIns="0" bIns="0" anchor="t">
            <a:noAutofit/>
          </a:bodyPr>
          <a:lstStyle/>
          <a:p>
            <a:pPr>
              <a:spcAft>
                <a:spcPts val="400"/>
              </a:spcAft>
            </a:pPr>
            <a:r>
              <a:rPr sz="1050" b="1">
                <a:solidFill>
                  <a:srgbClr val="000000"/>
                </a:solidFill>
                <a:latin typeface="Arial"/>
              </a:rPr>
              <a:t>Length buckets (tokens)</a:t>
            </a:r>
          </a:p>
        </p:txBody>
      </p:sp>
      <p:sp>
        <p:nvSpPr>
          <p:cNvPr id="18" name="Rectangle 17"/>
          <p:cNvSpPr/>
          <p:nvPr/>
        </p:nvSpPr>
        <p:spPr>
          <a:xfrm>
            <a:off x="2377440" y="2697480"/>
            <a:ext cx="960120" cy="329184"/>
          </a:xfrm>
          <a:prstGeom prst="rect">
            <a:avLst/>
          </a:prstGeom>
          <a:solidFill>
            <a:srgbClr val="D8DADA"/>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000000"/>
                </a:solidFill>
                <a:latin typeface="Arial"/>
              </a:rPr>
              <a:t>0–2K</a:t>
            </a:r>
          </a:p>
        </p:txBody>
      </p:sp>
      <p:sp>
        <p:nvSpPr>
          <p:cNvPr id="19" name="Rectangle 18"/>
          <p:cNvSpPr/>
          <p:nvPr/>
        </p:nvSpPr>
        <p:spPr>
          <a:xfrm>
            <a:off x="3401568" y="2697480"/>
            <a:ext cx="960120" cy="329184"/>
          </a:xfrm>
          <a:prstGeom prst="rect">
            <a:avLst/>
          </a:prstGeom>
          <a:solidFill>
            <a:srgbClr val="EE0000"/>
          </a:solidFill>
          <a:ln w="952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FFFFFF"/>
                </a:solidFill>
                <a:latin typeface="Arial"/>
              </a:rPr>
              <a:t>2–5K</a:t>
            </a:r>
          </a:p>
        </p:txBody>
      </p:sp>
      <p:sp>
        <p:nvSpPr>
          <p:cNvPr id="20" name="Rectangle 19"/>
          <p:cNvSpPr/>
          <p:nvPr/>
        </p:nvSpPr>
        <p:spPr>
          <a:xfrm>
            <a:off x="4425696" y="2697480"/>
            <a:ext cx="960120" cy="329184"/>
          </a:xfrm>
          <a:prstGeom prst="rect">
            <a:avLst/>
          </a:prstGeom>
          <a:solidFill>
            <a:srgbClr val="EE0000"/>
          </a:solidFill>
          <a:ln w="952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FFFFFF"/>
                </a:solidFill>
                <a:latin typeface="Arial"/>
              </a:rPr>
              <a:t>5–10K</a:t>
            </a:r>
          </a:p>
        </p:txBody>
      </p:sp>
      <p:sp>
        <p:nvSpPr>
          <p:cNvPr id="21" name="Rectangle 20"/>
          <p:cNvSpPr/>
          <p:nvPr/>
        </p:nvSpPr>
        <p:spPr>
          <a:xfrm>
            <a:off x="5449824" y="2697480"/>
            <a:ext cx="960120" cy="329184"/>
          </a:xfrm>
          <a:prstGeom prst="rect">
            <a:avLst/>
          </a:prstGeom>
          <a:solidFill>
            <a:srgbClr val="D8DADA"/>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000000"/>
                </a:solidFill>
                <a:latin typeface="Arial"/>
              </a:rPr>
              <a:t>10–32K</a:t>
            </a:r>
          </a:p>
        </p:txBody>
      </p:sp>
      <p:sp>
        <p:nvSpPr>
          <p:cNvPr id="22" name="Rectangle 21"/>
          <p:cNvSpPr/>
          <p:nvPr/>
        </p:nvSpPr>
        <p:spPr>
          <a:xfrm>
            <a:off x="6473952" y="2697480"/>
            <a:ext cx="960120" cy="329184"/>
          </a:xfrm>
          <a:prstGeom prst="rect">
            <a:avLst/>
          </a:prstGeom>
          <a:solidFill>
            <a:srgbClr val="D8DADA"/>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000000"/>
                </a:solidFill>
                <a:latin typeface="Arial"/>
              </a:rPr>
              <a:t>32–128K</a:t>
            </a:r>
          </a:p>
        </p:txBody>
      </p:sp>
      <p:sp>
        <p:nvSpPr>
          <p:cNvPr id="23" name="Rectangle 22"/>
          <p:cNvSpPr/>
          <p:nvPr/>
        </p:nvSpPr>
        <p:spPr>
          <a:xfrm>
            <a:off x="7498080" y="2697480"/>
            <a:ext cx="960120" cy="329184"/>
          </a:xfrm>
          <a:prstGeom prst="rect">
            <a:avLst/>
          </a:prstGeom>
          <a:solidFill>
            <a:srgbClr val="D8DADA"/>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000000"/>
                </a:solidFill>
                <a:latin typeface="Arial"/>
              </a:rPr>
              <a:t>128K–1M</a:t>
            </a:r>
          </a:p>
        </p:txBody>
      </p:sp>
      <p:sp>
        <p:nvSpPr>
          <p:cNvPr id="24" name="TextBox 23"/>
          <p:cNvSpPr txBox="1"/>
          <p:nvPr/>
        </p:nvSpPr>
        <p:spPr>
          <a:xfrm>
            <a:off x="8595360" y="2697480"/>
            <a:ext cx="3154680" cy="365760"/>
          </a:xfrm>
          <a:prstGeom prst="rect">
            <a:avLst/>
          </a:prstGeom>
          <a:noFill/>
        </p:spPr>
        <p:txBody>
          <a:bodyPr wrap="square" lIns="0" rIns="0" tIns="0" bIns="0" anchor="ctr">
            <a:noAutofit/>
          </a:bodyPr>
          <a:lstStyle/>
          <a:p>
            <a:pPr>
              <a:spcAft>
                <a:spcPts val="400"/>
              </a:spcAft>
            </a:pPr>
            <a:r>
              <a:rPr sz="950" b="1">
                <a:solidFill>
                  <a:srgbClr val="EE0000"/>
                </a:solidFill>
                <a:latin typeface="Arial"/>
              </a:rPr>
              <a:t>red = the user's question band (under 5K–10K)</a:t>
            </a:r>
          </a:p>
        </p:txBody>
      </p:sp>
      <p:sp>
        <p:nvSpPr>
          <p:cNvPr id="25" name="Rectangle 24"/>
          <p:cNvSpPr/>
          <p:nvPr/>
        </p:nvSpPr>
        <p:spPr>
          <a:xfrm>
            <a:off x="457200" y="3246120"/>
            <a:ext cx="3749039" cy="30632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3319272"/>
            <a:ext cx="3566160" cy="274320"/>
          </a:xfrm>
          <a:prstGeom prst="rect">
            <a:avLst/>
          </a:prstGeom>
          <a:noFill/>
        </p:spPr>
        <p:txBody>
          <a:bodyPr wrap="square" lIns="0" rIns="0" tIns="0" bIns="0" anchor="t">
            <a:noAutofit/>
          </a:bodyPr>
          <a:lstStyle/>
          <a:p>
            <a:pPr>
              <a:spcAft>
                <a:spcPts val="400"/>
              </a:spcAft>
            </a:pPr>
            <a:r>
              <a:rPr sz="1300" b="1">
                <a:solidFill>
                  <a:srgbClr val="000000"/>
                </a:solidFill>
                <a:latin typeface="Arial"/>
              </a:rPr>
              <a:t>Metrics</a:t>
            </a:r>
          </a:p>
        </p:txBody>
      </p:sp>
      <p:sp>
        <p:nvSpPr>
          <p:cNvPr id="27" name="TextBox 26"/>
          <p:cNvSpPr txBox="1"/>
          <p:nvPr/>
        </p:nvSpPr>
        <p:spPr>
          <a:xfrm>
            <a:off x="594360" y="3657600"/>
            <a:ext cx="3520440" cy="2606040"/>
          </a:xfrm>
          <a:prstGeom prst="rect">
            <a:avLst/>
          </a:prstGeom>
          <a:noFill/>
        </p:spPr>
        <p:txBody>
          <a:bodyPr wrap="square" lIns="0" rIns="0" tIns="0" bIns="0" anchor="t">
            <a:noAutofit/>
          </a:bodyPr>
          <a:lstStyle/>
          <a:p>
            <a:pPr>
              <a:spcAft>
                <a:spcPts val="600"/>
              </a:spcAft>
            </a:pPr>
            <a:r>
              <a:rPr sz="1050" b="1">
                <a:solidFill>
                  <a:srgbClr val="333333"/>
                </a:solidFill>
                <a:latin typeface="Arial"/>
              </a:rPr>
              <a:t>Quality:</a:t>
            </a:r>
            <a:r>
              <a:rPr sz="1050" b="0">
                <a:solidFill>
                  <a:srgbClr val="333333"/>
                </a:solidFill>
                <a:latin typeface="Arial"/>
              </a:rPr>
              <a:t> win-or-tie rate vs top-tier reference; task pass rate.</a:t>
            </a:r>
          </a:p>
          <a:p>
            <a:pPr>
              <a:spcAft>
                <a:spcPts val="600"/>
              </a:spcAft>
            </a:pPr>
            <a:r>
              <a:rPr sz="1050" b="1">
                <a:solidFill>
                  <a:srgbClr val="333333"/>
                </a:solidFill>
                <a:latin typeface="Arial"/>
              </a:rPr>
              <a:t>Cost / latency:</a:t>
            </a:r>
            <a:r>
              <a:rPr sz="1050" b="0">
                <a:solidFill>
                  <a:srgbClr val="333333"/>
                </a:solidFill>
                <a:latin typeface="Arial"/>
              </a:rPr>
              <a:t> cost per successful task; p50/p95 end-to-end incl. classifier.</a:t>
            </a:r>
          </a:p>
          <a:p>
            <a:pPr>
              <a:spcAft>
                <a:spcPts val="600"/>
              </a:spcAft>
            </a:pPr>
            <a:r>
              <a:rPr sz="1050" b="1">
                <a:solidFill>
                  <a:srgbClr val="333333"/>
                </a:solidFill>
                <a:latin typeface="Arial"/>
              </a:rPr>
              <a:t>Routing accuracy:</a:t>
            </a:r>
            <a:r>
              <a:rPr sz="1050" b="0">
                <a:solidFill>
                  <a:srgbClr val="333333"/>
                </a:solidFill>
                <a:latin typeface="Arial"/>
              </a:rPr>
              <a:t> vs "cheapest tier that passes"; APGR / CPT curves (RouteLLM).</a:t>
            </a:r>
          </a:p>
          <a:p>
            <a:pPr>
              <a:spcAft>
                <a:spcPts val="600"/>
              </a:spcAft>
            </a:pPr>
            <a:r>
              <a:rPr sz="1050" b="1">
                <a:solidFill>
                  <a:srgbClr val="333333"/>
                </a:solidFill>
                <a:latin typeface="Arial"/>
              </a:rPr>
              <a:t>Classifier economics:</a:t>
            </a:r>
            <a:r>
              <a:rPr sz="1050" b="0">
                <a:solidFill>
                  <a:srgbClr val="333333"/>
                </a:solidFill>
                <a:latin typeface="Arial"/>
              </a:rPr>
              <a:t> overhead and share of spend.</a:t>
            </a:r>
          </a:p>
          <a:p>
            <a:pPr>
              <a:spcAft>
                <a:spcPts val="600"/>
              </a:spcAft>
            </a:pPr>
            <a:r>
              <a:rPr sz="1050" b="1">
                <a:solidFill>
                  <a:srgbClr val="333333"/>
                </a:solidFill>
                <a:latin typeface="Arial"/>
              </a:rPr>
              <a:t>Stability:</a:t>
            </a:r>
            <a:r>
              <a:rPr sz="1050" b="0">
                <a:solidFill>
                  <a:srgbClr val="333333"/>
                </a:solidFill>
                <a:latin typeface="Arial"/>
              </a:rPr>
              <a:t> escalation, fallback, breaker trips, cache-hit retention.</a:t>
            </a:r>
          </a:p>
        </p:txBody>
      </p:sp>
      <p:sp>
        <p:nvSpPr>
          <p:cNvPr id="28" name="TextBox 27"/>
          <p:cNvSpPr txBox="1"/>
          <p:nvPr/>
        </p:nvSpPr>
        <p:spPr>
          <a:xfrm>
            <a:off x="4434840" y="3246120"/>
            <a:ext cx="3566160" cy="274320"/>
          </a:xfrm>
          <a:prstGeom prst="rect">
            <a:avLst/>
          </a:prstGeom>
          <a:noFill/>
        </p:spPr>
        <p:txBody>
          <a:bodyPr wrap="square" lIns="0" rIns="0" tIns="0" bIns="0" anchor="t">
            <a:noAutofit/>
          </a:bodyPr>
          <a:lstStyle/>
          <a:p>
            <a:pPr>
              <a:spcAft>
                <a:spcPts val="400"/>
              </a:spcAft>
            </a:pPr>
            <a:r>
              <a:rPr sz="1100" b="1">
                <a:solidFill>
                  <a:srgbClr val="000000"/>
                </a:solidFill>
                <a:latin typeface="Arial"/>
              </a:rPr>
              <a:t>Cost / quality Pareto (schematic, no data)</a:t>
            </a:r>
          </a:p>
        </p:txBody>
      </p:sp>
      <p:cxnSp>
        <p:nvCxnSpPr>
          <p:cNvPr id="29" name="Connector 28"/>
          <p:cNvCxnSpPr/>
          <p:nvPr/>
        </p:nvCxnSpPr>
        <p:spPr>
          <a:xfrm>
            <a:off x="4754880" y="6035040"/>
            <a:ext cx="3108960" cy="0"/>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754880" y="3749039"/>
            <a:ext cx="0" cy="2286001"/>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0" y="6062472"/>
            <a:ext cx="1463040" cy="228600"/>
          </a:xfrm>
          <a:prstGeom prst="rect">
            <a:avLst/>
          </a:prstGeom>
          <a:noFill/>
        </p:spPr>
        <p:txBody>
          <a:bodyPr wrap="square" lIns="0" rIns="0" tIns="0" bIns="0" anchor="t">
            <a:noAutofit/>
          </a:bodyPr>
          <a:lstStyle/>
          <a:p>
            <a:pPr algn="r">
              <a:spcAft>
                <a:spcPts val="400"/>
              </a:spcAft>
            </a:pPr>
            <a:r>
              <a:rPr sz="850" b="0">
                <a:solidFill>
                  <a:srgbClr val="747676"/>
                </a:solidFill>
                <a:latin typeface="Arial"/>
              </a:rPr>
              <a:t>cost per task →</a:t>
            </a:r>
          </a:p>
        </p:txBody>
      </p:sp>
      <p:sp>
        <p:nvSpPr>
          <p:cNvPr id="32" name="TextBox 31"/>
          <p:cNvSpPr txBox="1"/>
          <p:nvPr/>
        </p:nvSpPr>
        <p:spPr>
          <a:xfrm>
            <a:off x="4434840" y="3703320"/>
            <a:ext cx="1463040" cy="228600"/>
          </a:xfrm>
          <a:prstGeom prst="rect">
            <a:avLst/>
          </a:prstGeom>
          <a:noFill/>
        </p:spPr>
        <p:txBody>
          <a:bodyPr wrap="square" lIns="0" rIns="0" tIns="0" bIns="0" anchor="t">
            <a:noAutofit/>
          </a:bodyPr>
          <a:lstStyle/>
          <a:p>
            <a:pPr>
              <a:spcAft>
                <a:spcPts val="400"/>
              </a:spcAft>
            </a:pPr>
            <a:r>
              <a:rPr sz="850" b="0">
                <a:solidFill>
                  <a:srgbClr val="747676"/>
                </a:solidFill>
                <a:latin typeface="Arial"/>
              </a:rPr>
              <a:t>↑ quality</a:t>
            </a:r>
          </a:p>
        </p:txBody>
      </p:sp>
      <p:sp>
        <p:nvSpPr>
          <p:cNvPr id="33" name="Oval 32"/>
          <p:cNvSpPr/>
          <p:nvPr/>
        </p:nvSpPr>
        <p:spPr>
          <a:xfrm>
            <a:off x="5054803" y="4933188"/>
            <a:ext cx="146304" cy="146304"/>
          </a:xfrm>
          <a:prstGeom prst="ellipse">
            <a:avLst/>
          </a:prstGeom>
          <a:solidFill>
            <a:srgbClr val="747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19395" y="4869179"/>
            <a:ext cx="822960" cy="228600"/>
          </a:xfrm>
          <a:prstGeom prst="rect">
            <a:avLst/>
          </a:prstGeom>
          <a:noFill/>
        </p:spPr>
        <p:txBody>
          <a:bodyPr wrap="square" lIns="0" rIns="0" tIns="0" bIns="0" anchor="t">
            <a:noAutofit/>
          </a:bodyPr>
          <a:lstStyle/>
          <a:p>
            <a:pPr>
              <a:spcAft>
                <a:spcPts val="400"/>
              </a:spcAft>
            </a:pPr>
            <a:r>
              <a:rPr sz="900" b="1">
                <a:solidFill>
                  <a:srgbClr val="747676"/>
                </a:solidFill>
                <a:latin typeface="Arial"/>
              </a:rPr>
              <a:t>Flash</a:t>
            </a:r>
          </a:p>
        </p:txBody>
      </p:sp>
      <p:sp>
        <p:nvSpPr>
          <p:cNvPr id="35" name="Oval 34"/>
          <p:cNvSpPr/>
          <p:nvPr/>
        </p:nvSpPr>
        <p:spPr>
          <a:xfrm>
            <a:off x="6080760" y="4315968"/>
            <a:ext cx="146304" cy="146304"/>
          </a:xfrm>
          <a:prstGeom prst="ellipse">
            <a:avLst/>
          </a:prstGeom>
          <a:solidFill>
            <a:srgbClr val="747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45352" y="4251959"/>
            <a:ext cx="822960" cy="228600"/>
          </a:xfrm>
          <a:prstGeom prst="rect">
            <a:avLst/>
          </a:prstGeom>
          <a:noFill/>
        </p:spPr>
        <p:txBody>
          <a:bodyPr wrap="square" lIns="0" rIns="0" tIns="0" bIns="0" anchor="t">
            <a:noAutofit/>
          </a:bodyPr>
          <a:lstStyle/>
          <a:p>
            <a:pPr>
              <a:spcAft>
                <a:spcPts val="400"/>
              </a:spcAft>
            </a:pPr>
            <a:r>
              <a:rPr sz="900" b="1">
                <a:solidFill>
                  <a:srgbClr val="747676"/>
                </a:solidFill>
                <a:latin typeface="Arial"/>
              </a:rPr>
              <a:t>Pro</a:t>
            </a:r>
          </a:p>
        </p:txBody>
      </p:sp>
      <p:sp>
        <p:nvSpPr>
          <p:cNvPr id="37" name="Oval 36"/>
          <p:cNvSpPr/>
          <p:nvPr/>
        </p:nvSpPr>
        <p:spPr>
          <a:xfrm>
            <a:off x="7479792" y="4087368"/>
            <a:ext cx="146304" cy="146304"/>
          </a:xfrm>
          <a:prstGeom prst="ellipse">
            <a:avLst/>
          </a:prstGeom>
          <a:solidFill>
            <a:srgbClr val="747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44383" y="4023359"/>
            <a:ext cx="822960" cy="228600"/>
          </a:xfrm>
          <a:prstGeom prst="rect">
            <a:avLst/>
          </a:prstGeom>
          <a:noFill/>
        </p:spPr>
        <p:txBody>
          <a:bodyPr wrap="square" lIns="0" rIns="0" tIns="0" bIns="0" anchor="t">
            <a:noAutofit/>
          </a:bodyPr>
          <a:lstStyle/>
          <a:p>
            <a:pPr>
              <a:spcAft>
                <a:spcPts val="400"/>
              </a:spcAft>
            </a:pPr>
            <a:r>
              <a:rPr sz="900" b="1">
                <a:solidFill>
                  <a:srgbClr val="747676"/>
                </a:solidFill>
                <a:latin typeface="Arial"/>
              </a:rPr>
              <a:t>Opus</a:t>
            </a:r>
          </a:p>
        </p:txBody>
      </p:sp>
      <p:sp>
        <p:nvSpPr>
          <p:cNvPr id="39" name="Oval 38"/>
          <p:cNvSpPr/>
          <p:nvPr/>
        </p:nvSpPr>
        <p:spPr>
          <a:xfrm>
            <a:off x="5552236" y="4247388"/>
            <a:ext cx="146304" cy="146304"/>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16828" y="4183379"/>
            <a:ext cx="822960" cy="228600"/>
          </a:xfrm>
          <a:prstGeom prst="rect">
            <a:avLst/>
          </a:prstGeom>
          <a:noFill/>
        </p:spPr>
        <p:txBody>
          <a:bodyPr wrap="square" lIns="0" rIns="0" tIns="0" bIns="0" anchor="t">
            <a:noAutofit/>
          </a:bodyPr>
          <a:lstStyle/>
          <a:p>
            <a:pPr>
              <a:spcAft>
                <a:spcPts val="400"/>
              </a:spcAft>
            </a:pPr>
            <a:r>
              <a:rPr sz="900" b="1">
                <a:solidFill>
                  <a:srgbClr val="EE0000"/>
                </a:solidFill>
                <a:latin typeface="Arial"/>
              </a:rPr>
              <a:t>router</a:t>
            </a:r>
          </a:p>
        </p:txBody>
      </p:sp>
      <p:sp>
        <p:nvSpPr>
          <p:cNvPr id="41" name="TextBox 40"/>
          <p:cNvSpPr txBox="1"/>
          <p:nvPr/>
        </p:nvSpPr>
        <p:spPr>
          <a:xfrm>
            <a:off x="5943600" y="5349240"/>
            <a:ext cx="1920240" cy="457200"/>
          </a:xfrm>
          <a:prstGeom prst="rect">
            <a:avLst/>
          </a:prstGeom>
          <a:noFill/>
        </p:spPr>
        <p:txBody>
          <a:bodyPr wrap="square" lIns="0" rIns="0" tIns="0" bIns="0" anchor="t">
            <a:noAutofit/>
          </a:bodyPr>
          <a:lstStyle/>
          <a:p>
            <a:pPr>
              <a:spcAft>
                <a:spcPts val="400"/>
              </a:spcAft>
            </a:pPr>
            <a:r>
              <a:rPr sz="850" b="0">
                <a:solidFill>
                  <a:srgbClr val="EE0000"/>
                </a:solidFill>
                <a:latin typeface="Arial"/>
              </a:rPr>
              <a:t>goal: router point up-left of the fixed tiers</a:t>
            </a:r>
          </a:p>
        </p:txBody>
      </p:sp>
      <p:sp>
        <p:nvSpPr>
          <p:cNvPr id="42" name="Rectangle 41"/>
          <p:cNvSpPr/>
          <p:nvPr/>
        </p:nvSpPr>
        <p:spPr>
          <a:xfrm>
            <a:off x="8229600" y="3246120"/>
            <a:ext cx="3502152" cy="3063240"/>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29600" y="3246120"/>
            <a:ext cx="54864" cy="306324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12480" y="3319272"/>
            <a:ext cx="3246120" cy="274320"/>
          </a:xfrm>
          <a:prstGeom prst="rect">
            <a:avLst/>
          </a:prstGeom>
          <a:noFill/>
        </p:spPr>
        <p:txBody>
          <a:bodyPr wrap="square" lIns="0" rIns="0" tIns="0" bIns="0" anchor="t">
            <a:noAutofit/>
          </a:bodyPr>
          <a:lstStyle/>
          <a:p>
            <a:pPr>
              <a:spcAft>
                <a:spcPts val="400"/>
              </a:spcAft>
            </a:pPr>
            <a:r>
              <a:rPr sz="1300" b="1">
                <a:solidFill>
                  <a:srgbClr val="000000"/>
                </a:solidFill>
                <a:latin typeface="Arial"/>
              </a:rPr>
              <a:t>Three evaluation modes</a:t>
            </a:r>
          </a:p>
        </p:txBody>
      </p:sp>
      <p:sp>
        <p:nvSpPr>
          <p:cNvPr id="45" name="TextBox 44"/>
          <p:cNvSpPr txBox="1"/>
          <p:nvPr/>
        </p:nvSpPr>
        <p:spPr>
          <a:xfrm>
            <a:off x="8412480" y="3657600"/>
            <a:ext cx="3246120" cy="2606040"/>
          </a:xfrm>
          <a:prstGeom prst="rect">
            <a:avLst/>
          </a:prstGeom>
          <a:noFill/>
        </p:spPr>
        <p:txBody>
          <a:bodyPr wrap="square" lIns="0" rIns="0" tIns="0" bIns="0" anchor="t">
            <a:noAutofit/>
          </a:bodyPr>
          <a:lstStyle/>
          <a:p>
            <a:pPr>
              <a:spcAft>
                <a:spcPts val="800"/>
              </a:spcAft>
            </a:pPr>
            <a:r>
              <a:rPr sz="1050" b="1">
                <a:solidFill>
                  <a:srgbClr val="333333"/>
                </a:solidFill>
                <a:latin typeface="Arial"/>
              </a:rPr>
              <a:t>Offline replay:</a:t>
            </a:r>
            <a:r>
              <a:rPr sz="1050" b="0">
                <a:solidFill>
                  <a:srgbClr val="333333"/>
                </a:solidFill>
                <a:latin typeface="Arial"/>
              </a:rPr>
              <a:t> golden set through all tiers; tools stubbed, no side effects.</a:t>
            </a:r>
          </a:p>
          <a:p>
            <a:pPr>
              <a:spcAft>
                <a:spcPts val="800"/>
              </a:spcAft>
            </a:pPr>
            <a:r>
              <a:rPr sz="1050" b="1">
                <a:solidFill>
                  <a:srgbClr val="333333"/>
                </a:solidFill>
                <a:latin typeface="Arial"/>
              </a:rPr>
              <a:t>Counterfactual replay:</a:t>
            </a:r>
            <a:r>
              <a:rPr sz="1050" b="0">
                <a:solidFill>
                  <a:srgbClr val="333333"/>
                </a:solidFill>
                <a:latin typeface="Arial"/>
              </a:rPr>
              <a:t> replay real traces on the candidate config and judge the answers. Quality is measured, not just repriced.</a:t>
            </a:r>
          </a:p>
          <a:p>
            <a:pPr>
              <a:spcAft>
                <a:spcPts val="800"/>
              </a:spcAft>
            </a:pPr>
            <a:r>
              <a:rPr sz="1050" b="1">
                <a:solidFill>
                  <a:srgbClr val="333333"/>
                </a:solidFill>
                <a:latin typeface="Arial"/>
              </a:rPr>
              <a:t>Shadow eval:</a:t>
            </a:r>
            <a:r>
              <a:rPr sz="1050" b="0">
                <a:solidFill>
                  <a:srgbClr val="333333"/>
                </a:solidFill>
                <a:latin typeface="Arial"/>
              </a:rPr>
              <a:t> live paired configs, budget-capped, key/team targeted (slide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LONG-CONTEXT HEATMAP · NIAH / RULER / NOLIMA</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The heatmap answers the user's question: where a cell is certified for Flash-tier, those prompts can leave Pro and Opus</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research §5.3 · gkamradt/needle-in-a-haystack (licence NOASSERTION, check) · NVIDIA/RULER Apache-2.0, arXiv 2404.06654 · NoLiMa 2502.05167 · LongBench v2 2412.15204 · HELMET 2410.02694 · Lost in the Middle 2307.03172.</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10</a:t>
            </a:r>
          </a:p>
        </p:txBody>
      </p:sp>
      <p:sp>
        <p:nvSpPr>
          <p:cNvPr id="8" name="Rectangle 7"/>
          <p:cNvSpPr/>
          <p:nvPr/>
        </p:nvSpPr>
        <p:spPr>
          <a:xfrm>
            <a:off x="457200" y="1280160"/>
            <a:ext cx="11274552" cy="310896"/>
          </a:xfrm>
          <a:prstGeom prst="rect">
            <a:avLst/>
          </a:prstGeom>
          <a:solidFill>
            <a:srgbClr val="EE0000"/>
          </a:solidFill>
          <a:ln w="952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50" b="1">
                <a:solidFill>
                  <a:srgbClr val="FFFFFF"/>
                </a:solidFill>
                <a:latin typeface="Arial"/>
              </a:rPr>
              <a:t>ILLUSTRATIVE  /  example data, not measured. Pass rate (%) on NIAH single-needle, context length × needle depth × model. Real values come from POC phase P1.</a:t>
            </a:r>
          </a:p>
        </p:txBody>
      </p:sp>
      <p:sp>
        <p:nvSpPr>
          <p:cNvPr id="9" name="TextBox 8"/>
          <p:cNvSpPr txBox="1"/>
          <p:nvPr/>
        </p:nvSpPr>
        <p:spPr>
          <a:xfrm>
            <a:off x="457199" y="1673352"/>
            <a:ext cx="3566160" cy="274320"/>
          </a:xfrm>
          <a:prstGeom prst="rect">
            <a:avLst/>
          </a:prstGeom>
          <a:noFill/>
        </p:spPr>
        <p:txBody>
          <a:bodyPr wrap="square" lIns="0" rIns="0" tIns="0" bIns="0" anchor="t">
            <a:noAutofit/>
          </a:bodyPr>
          <a:lstStyle/>
          <a:p>
            <a:pPr>
              <a:spcAft>
                <a:spcPts val="400"/>
              </a:spcAft>
            </a:pPr>
            <a:r>
              <a:rPr sz="1050" b="1">
                <a:solidFill>
                  <a:srgbClr val="000000"/>
                </a:solidFill>
                <a:latin typeface="Arial"/>
              </a:rPr>
              <a:t>Flash-tier (e.g. Gemini 3.8 Flash)</a:t>
            </a:r>
          </a:p>
        </p:txBody>
      </p:sp>
      <p:sp>
        <p:nvSpPr>
          <p:cNvPr id="10" name="TextBox 9"/>
          <p:cNvSpPr txBox="1"/>
          <p:nvPr/>
        </p:nvSpPr>
        <p:spPr>
          <a:xfrm>
            <a:off x="457199" y="1993392"/>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1K</a:t>
            </a:r>
          </a:p>
        </p:txBody>
      </p:sp>
      <p:sp>
        <p:nvSpPr>
          <p:cNvPr id="11" name="Rectangle 10"/>
          <p:cNvSpPr/>
          <p:nvPr/>
        </p:nvSpPr>
        <p:spPr>
          <a:xfrm>
            <a:off x="86868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300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17319"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91639"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96596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4028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1460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8892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063239"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37559"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1188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199" y="2258568"/>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2K</a:t>
            </a:r>
          </a:p>
        </p:txBody>
      </p:sp>
      <p:sp>
        <p:nvSpPr>
          <p:cNvPr id="23" name="Rectangle 22"/>
          <p:cNvSpPr/>
          <p:nvPr/>
        </p:nvSpPr>
        <p:spPr>
          <a:xfrm>
            <a:off x="86868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4300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417319"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691639"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96596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24028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1460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063239"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337559"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1188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199" y="2523744"/>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4K</a:t>
            </a:r>
          </a:p>
        </p:txBody>
      </p:sp>
      <p:sp>
        <p:nvSpPr>
          <p:cNvPr id="35" name="Rectangle 34"/>
          <p:cNvSpPr/>
          <p:nvPr/>
        </p:nvSpPr>
        <p:spPr>
          <a:xfrm>
            <a:off x="86868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4300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17319"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691639"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96596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240280" y="2523744"/>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51460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78892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063239"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337559"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1188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199" y="2788920"/>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8K</a:t>
            </a:r>
          </a:p>
        </p:txBody>
      </p:sp>
      <p:sp>
        <p:nvSpPr>
          <p:cNvPr id="47" name="Rectangle 46"/>
          <p:cNvSpPr/>
          <p:nvPr/>
        </p:nvSpPr>
        <p:spPr>
          <a:xfrm>
            <a:off x="86868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4300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417319"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691639"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965960" y="2788920"/>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240280" y="2788920"/>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514600" y="2788920"/>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78892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063239"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337559"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61188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199" y="3054096"/>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16K</a:t>
            </a:r>
          </a:p>
        </p:txBody>
      </p:sp>
      <p:sp>
        <p:nvSpPr>
          <p:cNvPr id="59" name="Rectangle 58"/>
          <p:cNvSpPr/>
          <p:nvPr/>
        </p:nvSpPr>
        <p:spPr>
          <a:xfrm>
            <a:off x="868680" y="3054096"/>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143000" y="3054096"/>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417319" y="3054096"/>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691639" y="3054096"/>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965960" y="3054096"/>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240280" y="3054096"/>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514600" y="3054096"/>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788920" y="3054096"/>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063239" y="3054096"/>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337559" y="3054096"/>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611880" y="3054096"/>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57199" y="3319272"/>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32K</a:t>
            </a:r>
          </a:p>
        </p:txBody>
      </p:sp>
      <p:sp>
        <p:nvSpPr>
          <p:cNvPr id="71" name="Rectangle 70"/>
          <p:cNvSpPr/>
          <p:nvPr/>
        </p:nvSpPr>
        <p:spPr>
          <a:xfrm>
            <a:off x="868680" y="3319272"/>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143000" y="3319272"/>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417319" y="3319272"/>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691639" y="3319272"/>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965960" y="3319272"/>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2240280" y="3319272"/>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14600" y="3319272"/>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788920" y="3319272"/>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063239" y="3319272"/>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3337559" y="3319272"/>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611880" y="3319272"/>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57199" y="3584448"/>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64K</a:t>
            </a:r>
          </a:p>
        </p:txBody>
      </p:sp>
      <p:sp>
        <p:nvSpPr>
          <p:cNvPr id="83" name="Rectangle 82"/>
          <p:cNvSpPr/>
          <p:nvPr/>
        </p:nvSpPr>
        <p:spPr>
          <a:xfrm>
            <a:off x="868680" y="3584448"/>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143000" y="3584448"/>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417319" y="3584448"/>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691639" y="3584448"/>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965960" y="3584448"/>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2240280" y="3584448"/>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2514600" y="3584448"/>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2788920" y="3584448"/>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3063239" y="3584448"/>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3337559" y="3584448"/>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3611880" y="3584448"/>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57199" y="3849624"/>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128K</a:t>
            </a:r>
          </a:p>
        </p:txBody>
      </p:sp>
      <p:sp>
        <p:nvSpPr>
          <p:cNvPr id="95" name="Rectangle 94"/>
          <p:cNvSpPr/>
          <p:nvPr/>
        </p:nvSpPr>
        <p:spPr>
          <a:xfrm>
            <a:off x="868680" y="3849624"/>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143000" y="3849624"/>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417319" y="3849624"/>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691639" y="3849624"/>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965960" y="3849624"/>
            <a:ext cx="274320" cy="265176"/>
          </a:xfrm>
          <a:prstGeom prst="rect">
            <a:avLst/>
          </a:prstGeom>
          <a:solidFill>
            <a:srgbClr val="EE0000"/>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2240280" y="3849624"/>
            <a:ext cx="274320" cy="265176"/>
          </a:xfrm>
          <a:prstGeom prst="rect">
            <a:avLst/>
          </a:prstGeom>
          <a:solidFill>
            <a:srgbClr val="EE0000"/>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2514600" y="3849624"/>
            <a:ext cx="274320" cy="265176"/>
          </a:xfrm>
          <a:prstGeom prst="rect">
            <a:avLst/>
          </a:prstGeom>
          <a:solidFill>
            <a:srgbClr val="EE0000"/>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2788920" y="3849624"/>
            <a:ext cx="274320" cy="265176"/>
          </a:xfrm>
          <a:prstGeom prst="rect">
            <a:avLst/>
          </a:prstGeom>
          <a:solidFill>
            <a:srgbClr val="EE0000"/>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3063239" y="3849624"/>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3337559" y="3849624"/>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3611880" y="3849624"/>
            <a:ext cx="274320" cy="265176"/>
          </a:xfrm>
          <a:prstGeom prst="rect">
            <a:avLst/>
          </a:prstGeom>
          <a:solidFill>
            <a:srgbClr val="F6B3B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77724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0%</a:t>
            </a:r>
          </a:p>
        </p:txBody>
      </p:sp>
      <p:sp>
        <p:nvSpPr>
          <p:cNvPr id="107" name="TextBox 106"/>
          <p:cNvSpPr txBox="1"/>
          <p:nvPr/>
        </p:nvSpPr>
        <p:spPr>
          <a:xfrm>
            <a:off x="1325879"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20%</a:t>
            </a:r>
          </a:p>
        </p:txBody>
      </p:sp>
      <p:sp>
        <p:nvSpPr>
          <p:cNvPr id="108" name="TextBox 107"/>
          <p:cNvSpPr txBox="1"/>
          <p:nvPr/>
        </p:nvSpPr>
        <p:spPr>
          <a:xfrm>
            <a:off x="1874519"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40%</a:t>
            </a:r>
          </a:p>
        </p:txBody>
      </p:sp>
      <p:sp>
        <p:nvSpPr>
          <p:cNvPr id="109" name="TextBox 108"/>
          <p:cNvSpPr txBox="1"/>
          <p:nvPr/>
        </p:nvSpPr>
        <p:spPr>
          <a:xfrm>
            <a:off x="242316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60%</a:t>
            </a:r>
          </a:p>
        </p:txBody>
      </p:sp>
      <p:sp>
        <p:nvSpPr>
          <p:cNvPr id="110" name="TextBox 109"/>
          <p:cNvSpPr txBox="1"/>
          <p:nvPr/>
        </p:nvSpPr>
        <p:spPr>
          <a:xfrm>
            <a:off x="2971799"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80%</a:t>
            </a:r>
          </a:p>
        </p:txBody>
      </p:sp>
      <p:sp>
        <p:nvSpPr>
          <p:cNvPr id="111" name="TextBox 110"/>
          <p:cNvSpPr txBox="1"/>
          <p:nvPr/>
        </p:nvSpPr>
        <p:spPr>
          <a:xfrm>
            <a:off x="352044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100%</a:t>
            </a:r>
          </a:p>
        </p:txBody>
      </p:sp>
      <p:sp>
        <p:nvSpPr>
          <p:cNvPr id="112" name="TextBox 111"/>
          <p:cNvSpPr txBox="1"/>
          <p:nvPr/>
        </p:nvSpPr>
        <p:spPr>
          <a:xfrm>
            <a:off x="868680" y="4315968"/>
            <a:ext cx="3017520" cy="201168"/>
          </a:xfrm>
          <a:prstGeom prst="rect">
            <a:avLst/>
          </a:prstGeom>
          <a:noFill/>
        </p:spPr>
        <p:txBody>
          <a:bodyPr wrap="square" lIns="0" rIns="0" tIns="0" bIns="0" anchor="t">
            <a:noAutofit/>
          </a:bodyPr>
          <a:lstStyle/>
          <a:p>
            <a:pPr algn="ctr">
              <a:spcAft>
                <a:spcPts val="400"/>
              </a:spcAft>
            </a:pPr>
            <a:r>
              <a:rPr sz="800" b="0">
                <a:solidFill>
                  <a:srgbClr val="747676"/>
                </a:solidFill>
                <a:latin typeface="Arial"/>
              </a:rPr>
              <a:t>needle depth →</a:t>
            </a:r>
          </a:p>
        </p:txBody>
      </p:sp>
      <p:sp>
        <p:nvSpPr>
          <p:cNvPr id="113" name="Rectangle 112"/>
          <p:cNvSpPr/>
          <p:nvPr/>
        </p:nvSpPr>
        <p:spPr>
          <a:xfrm>
            <a:off x="850392" y="2505456"/>
            <a:ext cx="3054096" cy="566928"/>
          </a:xfrm>
          <a:prstGeom prst="rect">
            <a:avLst/>
          </a:prstGeom>
          <a:noFill/>
          <a:ln w="25400">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922776" y="2505456"/>
            <a:ext cx="365760" cy="566928"/>
          </a:xfrm>
          <a:prstGeom prst="rect">
            <a:avLst/>
          </a:prstGeom>
          <a:noFill/>
        </p:spPr>
        <p:txBody>
          <a:bodyPr wrap="square" lIns="0" rIns="0" tIns="0" bIns="0" anchor="ctr">
            <a:noAutofit/>
          </a:bodyPr>
          <a:lstStyle/>
          <a:p>
            <a:pPr>
              <a:spcAft>
                <a:spcPts val="400"/>
              </a:spcAft>
            </a:pPr>
            <a:r>
              <a:rPr sz="750" b="1">
                <a:solidFill>
                  <a:srgbClr val="EE0000"/>
                </a:solidFill>
                <a:latin typeface="Arial"/>
              </a:rPr>
              <a:t>5–10K band</a:t>
            </a:r>
          </a:p>
        </p:txBody>
      </p:sp>
      <p:sp>
        <p:nvSpPr>
          <p:cNvPr id="115" name="TextBox 114"/>
          <p:cNvSpPr txBox="1"/>
          <p:nvPr/>
        </p:nvSpPr>
        <p:spPr>
          <a:xfrm>
            <a:off x="4251960" y="1673352"/>
            <a:ext cx="3566160" cy="274320"/>
          </a:xfrm>
          <a:prstGeom prst="rect">
            <a:avLst/>
          </a:prstGeom>
          <a:noFill/>
        </p:spPr>
        <p:txBody>
          <a:bodyPr wrap="square" lIns="0" rIns="0" tIns="0" bIns="0" anchor="t">
            <a:noAutofit/>
          </a:bodyPr>
          <a:lstStyle/>
          <a:p>
            <a:pPr>
              <a:spcAft>
                <a:spcPts val="400"/>
              </a:spcAft>
            </a:pPr>
            <a:r>
              <a:rPr sz="1050" b="1">
                <a:solidFill>
                  <a:srgbClr val="000000"/>
                </a:solidFill>
                <a:latin typeface="Arial"/>
              </a:rPr>
              <a:t>Pro-tier (e.g. Gemini 3.1 Pro)</a:t>
            </a:r>
          </a:p>
        </p:txBody>
      </p:sp>
      <p:sp>
        <p:nvSpPr>
          <p:cNvPr id="116" name="TextBox 115"/>
          <p:cNvSpPr txBox="1"/>
          <p:nvPr/>
        </p:nvSpPr>
        <p:spPr>
          <a:xfrm>
            <a:off x="4251960" y="1993392"/>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1K</a:t>
            </a:r>
          </a:p>
        </p:txBody>
      </p:sp>
      <p:sp>
        <p:nvSpPr>
          <p:cNvPr id="117" name="Rectangle 116"/>
          <p:cNvSpPr/>
          <p:nvPr/>
        </p:nvSpPr>
        <p:spPr>
          <a:xfrm>
            <a:off x="466344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493776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521208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48640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576072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603504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630936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658368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85800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713232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740664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251960" y="2258568"/>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2K</a:t>
            </a:r>
          </a:p>
        </p:txBody>
      </p:sp>
      <p:sp>
        <p:nvSpPr>
          <p:cNvPr id="129" name="Rectangle 128"/>
          <p:cNvSpPr/>
          <p:nvPr/>
        </p:nvSpPr>
        <p:spPr>
          <a:xfrm>
            <a:off x="466344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493776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521208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548640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76072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603504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630936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658368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85800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713232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740664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4251960" y="2523744"/>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4K</a:t>
            </a:r>
          </a:p>
        </p:txBody>
      </p:sp>
      <p:sp>
        <p:nvSpPr>
          <p:cNvPr id="141" name="Rectangle 140"/>
          <p:cNvSpPr/>
          <p:nvPr/>
        </p:nvSpPr>
        <p:spPr>
          <a:xfrm>
            <a:off x="466344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493776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521208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548640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76072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603504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30936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658368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685800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713232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40664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4251960" y="2788920"/>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8K</a:t>
            </a:r>
          </a:p>
        </p:txBody>
      </p:sp>
      <p:sp>
        <p:nvSpPr>
          <p:cNvPr id="153" name="Rectangle 152"/>
          <p:cNvSpPr/>
          <p:nvPr/>
        </p:nvSpPr>
        <p:spPr>
          <a:xfrm>
            <a:off x="466344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493776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521208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548640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576072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603504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630936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658368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85800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713232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740664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4251960" y="3054096"/>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16K</a:t>
            </a:r>
          </a:p>
        </p:txBody>
      </p:sp>
      <p:sp>
        <p:nvSpPr>
          <p:cNvPr id="165" name="Rectangle 164"/>
          <p:cNvSpPr/>
          <p:nvPr/>
        </p:nvSpPr>
        <p:spPr>
          <a:xfrm>
            <a:off x="466344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493776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521208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548640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576072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603504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630936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658368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685800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713232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740664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4251960" y="3319272"/>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32K</a:t>
            </a:r>
          </a:p>
        </p:txBody>
      </p:sp>
      <p:sp>
        <p:nvSpPr>
          <p:cNvPr id="177" name="Rectangle 176"/>
          <p:cNvSpPr/>
          <p:nvPr/>
        </p:nvSpPr>
        <p:spPr>
          <a:xfrm>
            <a:off x="466344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493776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5212080" y="3319272"/>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5486400" y="3319272"/>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5760720" y="3319272"/>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6035040" y="3319272"/>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6309360" y="3319272"/>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6583680" y="3319272"/>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685800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7132320" y="3319272"/>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740664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4251960" y="3584448"/>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64K</a:t>
            </a:r>
          </a:p>
        </p:txBody>
      </p:sp>
      <p:sp>
        <p:nvSpPr>
          <p:cNvPr id="189" name="Rectangle 188"/>
          <p:cNvSpPr/>
          <p:nvPr/>
        </p:nvSpPr>
        <p:spPr>
          <a:xfrm>
            <a:off x="4663440" y="3584448"/>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4937760" y="3584448"/>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5212080" y="3584448"/>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5486400" y="3584448"/>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760720" y="3584448"/>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6035040" y="3584448"/>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309360" y="3584448"/>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6583680" y="3584448"/>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6858000" y="3584448"/>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7132320" y="3584448"/>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7406640" y="3584448"/>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4251960" y="3849624"/>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128K</a:t>
            </a:r>
          </a:p>
        </p:txBody>
      </p:sp>
      <p:sp>
        <p:nvSpPr>
          <p:cNvPr id="201" name="Rectangle 200"/>
          <p:cNvSpPr/>
          <p:nvPr/>
        </p:nvSpPr>
        <p:spPr>
          <a:xfrm>
            <a:off x="4663440" y="3849624"/>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4937760" y="3849624"/>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212080" y="3849624"/>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5486400" y="3849624"/>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5760720" y="3849624"/>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6035040" y="3849624"/>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6309360" y="3849624"/>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6583680" y="3849624"/>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6858000" y="3849624"/>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7132320" y="3849624"/>
            <a:ext cx="274320" cy="265176"/>
          </a:xfrm>
          <a:prstGeom prst="rect">
            <a:avLst/>
          </a:prstGeom>
          <a:solidFill>
            <a:srgbClr val="D8DAD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7406640" y="3849624"/>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457200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0%</a:t>
            </a:r>
          </a:p>
        </p:txBody>
      </p:sp>
      <p:sp>
        <p:nvSpPr>
          <p:cNvPr id="213" name="TextBox 212"/>
          <p:cNvSpPr txBox="1"/>
          <p:nvPr/>
        </p:nvSpPr>
        <p:spPr>
          <a:xfrm>
            <a:off x="512064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20%</a:t>
            </a:r>
          </a:p>
        </p:txBody>
      </p:sp>
      <p:sp>
        <p:nvSpPr>
          <p:cNvPr id="214" name="TextBox 213"/>
          <p:cNvSpPr txBox="1"/>
          <p:nvPr/>
        </p:nvSpPr>
        <p:spPr>
          <a:xfrm>
            <a:off x="566928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40%</a:t>
            </a:r>
          </a:p>
        </p:txBody>
      </p:sp>
      <p:sp>
        <p:nvSpPr>
          <p:cNvPr id="215" name="TextBox 214"/>
          <p:cNvSpPr txBox="1"/>
          <p:nvPr/>
        </p:nvSpPr>
        <p:spPr>
          <a:xfrm>
            <a:off x="621792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60%</a:t>
            </a:r>
          </a:p>
        </p:txBody>
      </p:sp>
      <p:sp>
        <p:nvSpPr>
          <p:cNvPr id="216" name="TextBox 215"/>
          <p:cNvSpPr txBox="1"/>
          <p:nvPr/>
        </p:nvSpPr>
        <p:spPr>
          <a:xfrm>
            <a:off x="676656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80%</a:t>
            </a:r>
          </a:p>
        </p:txBody>
      </p:sp>
      <p:sp>
        <p:nvSpPr>
          <p:cNvPr id="217" name="TextBox 216"/>
          <p:cNvSpPr txBox="1"/>
          <p:nvPr/>
        </p:nvSpPr>
        <p:spPr>
          <a:xfrm>
            <a:off x="731520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100%</a:t>
            </a:r>
          </a:p>
        </p:txBody>
      </p:sp>
      <p:sp>
        <p:nvSpPr>
          <p:cNvPr id="218" name="TextBox 217"/>
          <p:cNvSpPr txBox="1"/>
          <p:nvPr/>
        </p:nvSpPr>
        <p:spPr>
          <a:xfrm>
            <a:off x="4663440" y="4315968"/>
            <a:ext cx="3017520" cy="201168"/>
          </a:xfrm>
          <a:prstGeom prst="rect">
            <a:avLst/>
          </a:prstGeom>
          <a:noFill/>
        </p:spPr>
        <p:txBody>
          <a:bodyPr wrap="square" lIns="0" rIns="0" tIns="0" bIns="0" anchor="t">
            <a:noAutofit/>
          </a:bodyPr>
          <a:lstStyle/>
          <a:p>
            <a:pPr algn="ctr">
              <a:spcAft>
                <a:spcPts val="400"/>
              </a:spcAft>
            </a:pPr>
            <a:r>
              <a:rPr sz="800" b="0">
                <a:solidFill>
                  <a:srgbClr val="747676"/>
                </a:solidFill>
                <a:latin typeface="Arial"/>
              </a:rPr>
              <a:t>needle depth →</a:t>
            </a:r>
          </a:p>
        </p:txBody>
      </p:sp>
      <p:sp>
        <p:nvSpPr>
          <p:cNvPr id="219" name="Rectangle 218"/>
          <p:cNvSpPr/>
          <p:nvPr/>
        </p:nvSpPr>
        <p:spPr>
          <a:xfrm>
            <a:off x="4645152" y="2505456"/>
            <a:ext cx="3054096" cy="566928"/>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8046720" y="1673352"/>
            <a:ext cx="3566160" cy="274320"/>
          </a:xfrm>
          <a:prstGeom prst="rect">
            <a:avLst/>
          </a:prstGeom>
          <a:noFill/>
        </p:spPr>
        <p:txBody>
          <a:bodyPr wrap="square" lIns="0" rIns="0" tIns="0" bIns="0" anchor="t">
            <a:noAutofit/>
          </a:bodyPr>
          <a:lstStyle/>
          <a:p>
            <a:pPr>
              <a:spcAft>
                <a:spcPts val="400"/>
              </a:spcAft>
            </a:pPr>
            <a:r>
              <a:rPr sz="1050" b="1">
                <a:solidFill>
                  <a:srgbClr val="000000"/>
                </a:solidFill>
                <a:latin typeface="Arial"/>
              </a:rPr>
              <a:t>Opus-tier (e.g. Claude Opus 5.5)</a:t>
            </a:r>
          </a:p>
        </p:txBody>
      </p:sp>
      <p:sp>
        <p:nvSpPr>
          <p:cNvPr id="221" name="TextBox 220"/>
          <p:cNvSpPr txBox="1"/>
          <p:nvPr/>
        </p:nvSpPr>
        <p:spPr>
          <a:xfrm>
            <a:off x="8046720" y="1993392"/>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1K</a:t>
            </a:r>
          </a:p>
        </p:txBody>
      </p:sp>
      <p:sp>
        <p:nvSpPr>
          <p:cNvPr id="222" name="Rectangle 221"/>
          <p:cNvSpPr/>
          <p:nvPr/>
        </p:nvSpPr>
        <p:spPr>
          <a:xfrm>
            <a:off x="845820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873252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900684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928116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955548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982980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010412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037844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065276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092708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201400" y="199339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8046720" y="2258568"/>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2K</a:t>
            </a:r>
          </a:p>
        </p:txBody>
      </p:sp>
      <p:sp>
        <p:nvSpPr>
          <p:cNvPr id="234" name="Rectangle 233"/>
          <p:cNvSpPr/>
          <p:nvPr/>
        </p:nvSpPr>
        <p:spPr>
          <a:xfrm>
            <a:off x="845820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873252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900684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928116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955548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982980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1010412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037844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065276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1092708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11201400" y="225856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8046720" y="2523744"/>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4K</a:t>
            </a:r>
          </a:p>
        </p:txBody>
      </p:sp>
      <p:sp>
        <p:nvSpPr>
          <p:cNvPr id="246" name="Rectangle 245"/>
          <p:cNvSpPr/>
          <p:nvPr/>
        </p:nvSpPr>
        <p:spPr>
          <a:xfrm>
            <a:off x="845820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73252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00684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28116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955548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982980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1010412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1037844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1065276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1092708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11201400" y="252374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8046720" y="2788920"/>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8K</a:t>
            </a:r>
          </a:p>
        </p:txBody>
      </p:sp>
      <p:sp>
        <p:nvSpPr>
          <p:cNvPr id="258" name="Rectangle 257"/>
          <p:cNvSpPr/>
          <p:nvPr/>
        </p:nvSpPr>
        <p:spPr>
          <a:xfrm>
            <a:off x="845820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873252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900684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928116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955548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82980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1010412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37844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1065276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1092708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11201400" y="2788920"/>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8046720" y="3054096"/>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16K</a:t>
            </a:r>
          </a:p>
        </p:txBody>
      </p:sp>
      <p:sp>
        <p:nvSpPr>
          <p:cNvPr id="270" name="Rectangle 269"/>
          <p:cNvSpPr/>
          <p:nvPr/>
        </p:nvSpPr>
        <p:spPr>
          <a:xfrm>
            <a:off x="845820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873252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900684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928116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955548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982980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1010412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1037844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1065276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1092708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1201400" y="3054096"/>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8046720" y="3319272"/>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32K</a:t>
            </a:r>
          </a:p>
        </p:txBody>
      </p:sp>
      <p:sp>
        <p:nvSpPr>
          <p:cNvPr id="282" name="Rectangle 281"/>
          <p:cNvSpPr/>
          <p:nvPr/>
        </p:nvSpPr>
        <p:spPr>
          <a:xfrm>
            <a:off x="845820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873252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900684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928116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955548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982980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1010412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1037844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1065276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1092708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11201400" y="3319272"/>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8046720" y="3584448"/>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64K</a:t>
            </a:r>
          </a:p>
        </p:txBody>
      </p:sp>
      <p:sp>
        <p:nvSpPr>
          <p:cNvPr id="294" name="Rectangle 293"/>
          <p:cNvSpPr/>
          <p:nvPr/>
        </p:nvSpPr>
        <p:spPr>
          <a:xfrm>
            <a:off x="8458200" y="358444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8732520" y="358444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9006840" y="3584448"/>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9281160" y="358444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9555480" y="3584448"/>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9829800" y="3584448"/>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10104120" y="358444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10378440" y="3584448"/>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10652760" y="358444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10927080" y="358444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11201400" y="3584448"/>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8046720" y="3849624"/>
            <a:ext cx="384048" cy="265176"/>
          </a:xfrm>
          <a:prstGeom prst="rect">
            <a:avLst/>
          </a:prstGeom>
          <a:noFill/>
        </p:spPr>
        <p:txBody>
          <a:bodyPr wrap="square" lIns="0" rIns="0" tIns="0" bIns="0" anchor="ctr">
            <a:noAutofit/>
          </a:bodyPr>
          <a:lstStyle/>
          <a:p>
            <a:pPr algn="r">
              <a:spcAft>
                <a:spcPts val="400"/>
              </a:spcAft>
            </a:pPr>
            <a:r>
              <a:rPr sz="800" b="0">
                <a:solidFill>
                  <a:srgbClr val="333333"/>
                </a:solidFill>
                <a:latin typeface="Arial"/>
              </a:rPr>
              <a:t>128K</a:t>
            </a:r>
          </a:p>
        </p:txBody>
      </p:sp>
      <p:sp>
        <p:nvSpPr>
          <p:cNvPr id="306" name="Rectangle 305"/>
          <p:cNvSpPr/>
          <p:nvPr/>
        </p:nvSpPr>
        <p:spPr>
          <a:xfrm>
            <a:off x="8458200" y="3849624"/>
            <a:ext cx="274320" cy="265176"/>
          </a:xfrm>
          <a:prstGeom prst="rect">
            <a:avLst/>
          </a:prstGeom>
          <a:solidFill>
            <a:srgbClr val="3333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8732520" y="3849624"/>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9006840" y="3849624"/>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9281160" y="3849624"/>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9555480" y="3849624"/>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9829800" y="3849624"/>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10104120" y="3849624"/>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10378440" y="3849624"/>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10652760" y="3849624"/>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ectangle 314"/>
          <p:cNvSpPr/>
          <p:nvPr/>
        </p:nvSpPr>
        <p:spPr>
          <a:xfrm>
            <a:off x="10927080" y="3849624"/>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Rectangle 315"/>
          <p:cNvSpPr/>
          <p:nvPr/>
        </p:nvSpPr>
        <p:spPr>
          <a:xfrm>
            <a:off x="11201400" y="3849624"/>
            <a:ext cx="274320" cy="265176"/>
          </a:xfrm>
          <a:prstGeom prst="rect">
            <a:avLst/>
          </a:prstGeom>
          <a:solidFill>
            <a:srgbClr val="74767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836676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0%</a:t>
            </a:r>
          </a:p>
        </p:txBody>
      </p:sp>
      <p:sp>
        <p:nvSpPr>
          <p:cNvPr id="318" name="TextBox 317"/>
          <p:cNvSpPr txBox="1"/>
          <p:nvPr/>
        </p:nvSpPr>
        <p:spPr>
          <a:xfrm>
            <a:off x="891540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20%</a:t>
            </a:r>
          </a:p>
        </p:txBody>
      </p:sp>
      <p:sp>
        <p:nvSpPr>
          <p:cNvPr id="319" name="TextBox 318"/>
          <p:cNvSpPr txBox="1"/>
          <p:nvPr/>
        </p:nvSpPr>
        <p:spPr>
          <a:xfrm>
            <a:off x="946404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40%</a:t>
            </a:r>
          </a:p>
        </p:txBody>
      </p:sp>
      <p:sp>
        <p:nvSpPr>
          <p:cNvPr id="320" name="TextBox 319"/>
          <p:cNvSpPr txBox="1"/>
          <p:nvPr/>
        </p:nvSpPr>
        <p:spPr>
          <a:xfrm>
            <a:off x="1001268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60%</a:t>
            </a:r>
          </a:p>
        </p:txBody>
      </p:sp>
      <p:sp>
        <p:nvSpPr>
          <p:cNvPr id="321" name="TextBox 320"/>
          <p:cNvSpPr txBox="1"/>
          <p:nvPr/>
        </p:nvSpPr>
        <p:spPr>
          <a:xfrm>
            <a:off x="1056132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80%</a:t>
            </a:r>
          </a:p>
        </p:txBody>
      </p:sp>
      <p:sp>
        <p:nvSpPr>
          <p:cNvPr id="322" name="TextBox 321"/>
          <p:cNvSpPr txBox="1"/>
          <p:nvPr/>
        </p:nvSpPr>
        <p:spPr>
          <a:xfrm>
            <a:off x="11109960" y="4133087"/>
            <a:ext cx="457200" cy="201168"/>
          </a:xfrm>
          <a:prstGeom prst="rect">
            <a:avLst/>
          </a:prstGeom>
          <a:noFill/>
        </p:spPr>
        <p:txBody>
          <a:bodyPr wrap="square" lIns="0" rIns="0" tIns="0" bIns="0" anchor="t">
            <a:noAutofit/>
          </a:bodyPr>
          <a:lstStyle/>
          <a:p>
            <a:pPr algn="ctr">
              <a:spcAft>
                <a:spcPts val="400"/>
              </a:spcAft>
            </a:pPr>
            <a:r>
              <a:rPr sz="750" b="0">
                <a:solidFill>
                  <a:srgbClr val="747676"/>
                </a:solidFill>
                <a:latin typeface="Arial"/>
              </a:rPr>
              <a:t>100%</a:t>
            </a:r>
          </a:p>
        </p:txBody>
      </p:sp>
      <p:sp>
        <p:nvSpPr>
          <p:cNvPr id="323" name="TextBox 322"/>
          <p:cNvSpPr txBox="1"/>
          <p:nvPr/>
        </p:nvSpPr>
        <p:spPr>
          <a:xfrm>
            <a:off x="8458200" y="4315968"/>
            <a:ext cx="3017520" cy="201168"/>
          </a:xfrm>
          <a:prstGeom prst="rect">
            <a:avLst/>
          </a:prstGeom>
          <a:noFill/>
        </p:spPr>
        <p:txBody>
          <a:bodyPr wrap="square" lIns="0" rIns="0" tIns="0" bIns="0" anchor="t">
            <a:noAutofit/>
          </a:bodyPr>
          <a:lstStyle/>
          <a:p>
            <a:pPr algn="ctr">
              <a:spcAft>
                <a:spcPts val="400"/>
              </a:spcAft>
            </a:pPr>
            <a:r>
              <a:rPr sz="800" b="0">
                <a:solidFill>
                  <a:srgbClr val="747676"/>
                </a:solidFill>
                <a:latin typeface="Arial"/>
              </a:rPr>
              <a:t>needle depth →</a:t>
            </a:r>
          </a:p>
        </p:txBody>
      </p:sp>
      <p:sp>
        <p:nvSpPr>
          <p:cNvPr id="324" name="Rectangle 323"/>
          <p:cNvSpPr/>
          <p:nvPr/>
        </p:nvSpPr>
        <p:spPr>
          <a:xfrm>
            <a:off x="8439912" y="2505456"/>
            <a:ext cx="3054096" cy="566928"/>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73152" y="2103120"/>
            <a:ext cx="365760" cy="1645920"/>
          </a:xfrm>
          <a:prstGeom prst="rect">
            <a:avLst/>
          </a:prstGeom>
          <a:noFill/>
        </p:spPr>
        <p:txBody>
          <a:bodyPr wrap="square" lIns="0" rIns="0" tIns="0" bIns="0" anchor="t">
            <a:noAutofit/>
          </a:bodyPr>
          <a:lstStyle/>
          <a:p>
            <a:pPr>
              <a:spcAft>
                <a:spcPts val="400"/>
              </a:spcAft>
            </a:pPr>
            <a:r>
              <a:rPr sz="800" b="0">
                <a:solidFill>
                  <a:srgbClr val="747676"/>
                </a:solidFill>
                <a:latin typeface="Arial"/>
              </a:rPr>
              <a:t>context length</a:t>
            </a:r>
          </a:p>
        </p:txBody>
      </p:sp>
      <p:sp>
        <p:nvSpPr>
          <p:cNvPr id="326" name="TextBox 325"/>
          <p:cNvSpPr txBox="1"/>
          <p:nvPr/>
        </p:nvSpPr>
        <p:spPr>
          <a:xfrm>
            <a:off x="457200" y="4617720"/>
            <a:ext cx="1280160" cy="274320"/>
          </a:xfrm>
          <a:prstGeom prst="rect">
            <a:avLst/>
          </a:prstGeom>
          <a:noFill/>
        </p:spPr>
        <p:txBody>
          <a:bodyPr wrap="square" lIns="0" rIns="0" tIns="0" bIns="0" anchor="ctr">
            <a:noAutofit/>
          </a:bodyPr>
          <a:lstStyle/>
          <a:p>
            <a:pPr>
              <a:spcAft>
                <a:spcPts val="400"/>
              </a:spcAft>
            </a:pPr>
            <a:r>
              <a:rPr sz="1000" b="1">
                <a:solidFill>
                  <a:srgbClr val="000000"/>
                </a:solidFill>
                <a:latin typeface="Arial"/>
              </a:rPr>
              <a:t>Pass rate</a:t>
            </a:r>
          </a:p>
        </p:txBody>
      </p:sp>
      <p:sp>
        <p:nvSpPr>
          <p:cNvPr id="327" name="Rectangle 326"/>
          <p:cNvSpPr/>
          <p:nvPr/>
        </p:nvSpPr>
        <p:spPr>
          <a:xfrm>
            <a:off x="1371600" y="4617720"/>
            <a:ext cx="731520" cy="2743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00" b="1">
                <a:solidFill>
                  <a:srgbClr val="FFFFFF"/>
                </a:solidFill>
                <a:latin typeface="Arial"/>
              </a:rPr>
              <a:t>≥95</a:t>
            </a:r>
          </a:p>
        </p:txBody>
      </p:sp>
      <p:sp>
        <p:nvSpPr>
          <p:cNvPr id="328" name="Rectangle 327"/>
          <p:cNvSpPr/>
          <p:nvPr/>
        </p:nvSpPr>
        <p:spPr>
          <a:xfrm>
            <a:off x="2148840" y="4617720"/>
            <a:ext cx="731520" cy="274320"/>
          </a:xfrm>
          <a:prstGeom prst="rect">
            <a:avLst/>
          </a:prstGeom>
          <a:solidFill>
            <a:srgbClr val="747676"/>
          </a:solidFill>
          <a:ln w="9525">
            <a:solidFill>
              <a:srgbClr val="747676"/>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00" b="1">
                <a:solidFill>
                  <a:srgbClr val="FFFFFF"/>
                </a:solidFill>
                <a:latin typeface="Arial"/>
              </a:rPr>
              <a:t>90–95</a:t>
            </a:r>
          </a:p>
        </p:txBody>
      </p:sp>
      <p:sp>
        <p:nvSpPr>
          <p:cNvPr id="329" name="Rectangle 328"/>
          <p:cNvSpPr/>
          <p:nvPr/>
        </p:nvSpPr>
        <p:spPr>
          <a:xfrm>
            <a:off x="2926080" y="4617720"/>
            <a:ext cx="731520" cy="274320"/>
          </a:xfrm>
          <a:prstGeom prst="rect">
            <a:avLst/>
          </a:prstGeom>
          <a:solidFill>
            <a:srgbClr val="D8DADA"/>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00" b="1">
                <a:solidFill>
                  <a:srgbClr val="000000"/>
                </a:solidFill>
                <a:latin typeface="Arial"/>
              </a:rPr>
              <a:t>80–90</a:t>
            </a:r>
          </a:p>
        </p:txBody>
      </p:sp>
      <p:sp>
        <p:nvSpPr>
          <p:cNvPr id="330" name="Rectangle 329"/>
          <p:cNvSpPr/>
          <p:nvPr/>
        </p:nvSpPr>
        <p:spPr>
          <a:xfrm>
            <a:off x="3703320" y="4617720"/>
            <a:ext cx="731520" cy="274320"/>
          </a:xfrm>
          <a:prstGeom prst="rect">
            <a:avLst/>
          </a:prstGeom>
          <a:solidFill>
            <a:srgbClr val="F6B3B3"/>
          </a:solidFill>
          <a:ln w="9525">
            <a:solidFill>
              <a:srgbClr val="F6B3B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00" b="1">
                <a:solidFill>
                  <a:srgbClr val="000000"/>
                </a:solidFill>
                <a:latin typeface="Arial"/>
              </a:rPr>
              <a:t>70–80</a:t>
            </a:r>
          </a:p>
        </p:txBody>
      </p:sp>
      <p:sp>
        <p:nvSpPr>
          <p:cNvPr id="331" name="Rectangle 330"/>
          <p:cNvSpPr/>
          <p:nvPr/>
        </p:nvSpPr>
        <p:spPr>
          <a:xfrm>
            <a:off x="4480560" y="4617720"/>
            <a:ext cx="731520" cy="274320"/>
          </a:xfrm>
          <a:prstGeom prst="rect">
            <a:avLst/>
          </a:prstGeom>
          <a:solidFill>
            <a:srgbClr val="EE0000"/>
          </a:solidFill>
          <a:ln w="952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00" b="1">
                <a:solidFill>
                  <a:srgbClr val="FFFFFF"/>
                </a:solidFill>
                <a:latin typeface="Arial"/>
              </a:rPr>
              <a:t>&lt;70</a:t>
            </a:r>
          </a:p>
        </p:txBody>
      </p:sp>
      <p:sp>
        <p:nvSpPr>
          <p:cNvPr id="332" name="TextBox 331"/>
          <p:cNvSpPr txBox="1"/>
          <p:nvPr/>
        </p:nvSpPr>
        <p:spPr>
          <a:xfrm>
            <a:off x="5394960" y="4617720"/>
            <a:ext cx="6309360" cy="274320"/>
          </a:xfrm>
          <a:prstGeom prst="rect">
            <a:avLst/>
          </a:prstGeom>
          <a:noFill/>
        </p:spPr>
        <p:txBody>
          <a:bodyPr wrap="square" lIns="0" rIns="0" tIns="0" bIns="0" anchor="ctr">
            <a:noAutofit/>
          </a:bodyPr>
          <a:lstStyle/>
          <a:p>
            <a:pPr>
              <a:spcAft>
                <a:spcPts val="400"/>
              </a:spcAft>
            </a:pPr>
            <a:r>
              <a:rPr sz="950" b="0">
                <a:solidFill>
                  <a:srgbClr val="333333"/>
                </a:solidFill>
                <a:latin typeface="Arial"/>
              </a:rPr>
              <a:t>Red outline: 4K–8K rows, nearest the 5–10K band. Here Flash is ≥95% at 4K and ≥90% at 8K; the 8K mid-depth cells decide whether the band certifies.</a:t>
            </a:r>
          </a:p>
        </p:txBody>
      </p:sp>
      <p:sp>
        <p:nvSpPr>
          <p:cNvPr id="333" name="Rectangle 332"/>
          <p:cNvSpPr/>
          <p:nvPr/>
        </p:nvSpPr>
        <p:spPr>
          <a:xfrm>
            <a:off x="457200" y="5029200"/>
            <a:ext cx="5532120" cy="12801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594360" y="5074920"/>
            <a:ext cx="5303520" cy="1188720"/>
          </a:xfrm>
          <a:prstGeom prst="rect">
            <a:avLst/>
          </a:prstGeom>
          <a:noFill/>
        </p:spPr>
        <p:txBody>
          <a:bodyPr wrap="square" lIns="0" rIns="0" tIns="0" bIns="0" anchor="t">
            <a:noAutofit/>
          </a:bodyPr>
          <a:lstStyle/>
          <a:p>
            <a:pPr>
              <a:spcAft>
                <a:spcPts val="200"/>
              </a:spcAft>
            </a:pPr>
            <a:r>
              <a:rPr sz="1100" b="1">
                <a:solidFill>
                  <a:srgbClr val="000000"/>
                </a:solidFill>
                <a:latin typeface="Arial"/>
              </a:rPr>
              <a:t>Certified cell rule</a:t>
            </a:r>
          </a:p>
          <a:p>
            <a:pPr>
              <a:spcAft>
                <a:spcPts val="200"/>
              </a:spcAft>
            </a:pPr>
            <a:r>
              <a:rPr sz="950" b="0">
                <a:solidFill>
                  <a:srgbClr val="333333"/>
                </a:solidFill>
                <a:latin typeface="Arial"/>
              </a:rPr>
              <a:t>For each (task family × length bucket): the cheapest model whose </a:t>
            </a:r>
            <a:r>
              <a:rPr sz="950" b="1">
                <a:solidFill>
                  <a:srgbClr val="333333"/>
                </a:solidFill>
                <a:latin typeface="Arial"/>
              </a:rPr>
              <a:t>lower-95% CI pass rate ≥ target</a:t>
            </a:r>
            <a:r>
              <a:rPr sz="950" b="0">
                <a:solidFill>
                  <a:srgbClr val="333333"/>
                </a:solidFill>
                <a:latin typeface="Arial"/>
              </a:rPr>
              <a:t> (e.g. ≥ top-tier minus 2 pts, target TBD by team). Run it through Kairos itself: same aliases, drop_params, real latencies, costs from spend logs.</a:t>
            </a:r>
          </a:p>
        </p:txBody>
      </p:sp>
      <p:sp>
        <p:nvSpPr>
          <p:cNvPr id="335" name="Rectangle 334"/>
          <p:cNvSpPr/>
          <p:nvPr/>
        </p:nvSpPr>
        <p:spPr>
          <a:xfrm>
            <a:off x="6172200" y="5029200"/>
            <a:ext cx="5559552" cy="1280160"/>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6309360" y="5074920"/>
            <a:ext cx="5349240" cy="1188720"/>
          </a:xfrm>
          <a:prstGeom prst="rect">
            <a:avLst/>
          </a:prstGeom>
          <a:noFill/>
        </p:spPr>
        <p:txBody>
          <a:bodyPr wrap="square" lIns="0" rIns="0" tIns="0" bIns="0" anchor="t">
            <a:noAutofit/>
          </a:bodyPr>
          <a:lstStyle/>
          <a:p>
            <a:pPr>
              <a:spcAft>
                <a:spcPts val="200"/>
              </a:spcAft>
            </a:pPr>
            <a:r>
              <a:rPr sz="1100" b="1">
                <a:solidFill>
                  <a:srgbClr val="000000"/>
                </a:solidFill>
                <a:latin typeface="Arial"/>
              </a:rPr>
              <a:t>One heatmap per task family</a:t>
            </a:r>
          </a:p>
          <a:p>
            <a:pPr>
              <a:spcAft>
                <a:spcPts val="200"/>
              </a:spcAft>
            </a:pPr>
            <a:r>
              <a:rPr sz="950" b="0">
                <a:solidFill>
                  <a:srgbClr val="333333"/>
                </a:solidFill>
                <a:latin typeface="Arial"/>
              </a:rPr>
              <a:t>NIAH single + multi-needle · </a:t>
            </a:r>
            <a:r>
              <a:rPr sz="950" b="1">
                <a:solidFill>
                  <a:srgbClr val="333333"/>
                </a:solidFill>
                <a:latin typeface="Arial"/>
              </a:rPr>
              <a:t>RULER</a:t>
            </a:r>
            <a:r>
              <a:rPr sz="950" b="0">
                <a:solidFill>
                  <a:srgbClr val="333333"/>
                </a:solidFill>
                <a:latin typeface="Arial"/>
              </a:rPr>
              <a:t>: retrieval, multi-hop, aggregation, QA (effective-context threshold [Verify]) · </a:t>
            </a:r>
            <a:r>
              <a:rPr sz="950" b="1">
                <a:solidFill>
                  <a:srgbClr val="333333"/>
                </a:solidFill>
                <a:latin typeface="Arial"/>
              </a:rPr>
              <a:t>NoLiMa</a:t>
            </a:r>
            <a:r>
              <a:rPr sz="950" b="0">
                <a:solidFill>
                  <a:srgbClr val="333333"/>
                </a:solidFill>
                <a:latin typeface="Arial"/>
              </a:rPr>
              <a:t> non-literal needles (stops lexical inflation) · LongBench v2 + HELMET (realistic) · Lost-in-the-Middle depth. Depth steps 0–100% by 10%; lengths up to 1M where a model allows.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CALIBRATION TO ROUTER CONFIG</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Calibration turns golden-set labels and certified cells into four router artefacts; the downshift needs the artefact or a plugin</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research §0.4, §1, §5.4 · classifier_plugin contract async classify(context) → tier or None [V]. Plugin code below is a sketch, not shipped code.</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11</a:t>
            </a:r>
          </a:p>
        </p:txBody>
      </p:sp>
      <p:sp>
        <p:nvSpPr>
          <p:cNvPr id="8" name="Rectangle 7"/>
          <p:cNvSpPr/>
          <p:nvPr/>
        </p:nvSpPr>
        <p:spPr>
          <a:xfrm>
            <a:off x="457200" y="1325880"/>
            <a:ext cx="11274552" cy="502920"/>
          </a:xfrm>
          <a:prstGeom prst="rect">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325880"/>
            <a:ext cx="10972800" cy="502920"/>
          </a:xfrm>
          <a:prstGeom prst="rect">
            <a:avLst/>
          </a:prstGeom>
          <a:noFill/>
        </p:spPr>
        <p:txBody>
          <a:bodyPr wrap="square" lIns="0" rIns="0" tIns="0" bIns="0" anchor="ctr">
            <a:noAutofit/>
          </a:bodyPr>
          <a:lstStyle/>
          <a:p>
            <a:pPr>
              <a:spcAft>
                <a:spcPts val="400"/>
              </a:spcAft>
            </a:pPr>
            <a:r>
              <a:rPr sz="1100" b="1">
                <a:solidFill>
                  <a:srgbClr val="EE0000"/>
                </a:solidFill>
                <a:latin typeface="Arial"/>
              </a:rPr>
              <a:t>Gap [V]: no built-in down-routing of long-but-easy prompts. </a:t>
            </a:r>
          </a:p>
        </p:txBody>
      </p:sp>
      <p:sp>
        <p:nvSpPr>
          <p:cNvPr id="10" name="TextBox 9"/>
          <p:cNvSpPr txBox="1"/>
          <p:nvPr/>
        </p:nvSpPr>
        <p:spPr>
          <a:xfrm>
            <a:off x="5074920" y="1325880"/>
            <a:ext cx="6583680" cy="502920"/>
          </a:xfrm>
          <a:prstGeom prst="rect">
            <a:avLst/>
          </a:prstGeom>
          <a:noFill/>
        </p:spPr>
        <p:txBody>
          <a:bodyPr wrap="square" lIns="0" rIns="0" tIns="0" bIns="0" anchor="ctr">
            <a:noAutofit/>
          </a:bodyPr>
          <a:lstStyle/>
          <a:p>
            <a:pPr>
              <a:spcAft>
                <a:spcPts val="400"/>
              </a:spcAft>
            </a:pPr>
            <a:r>
              <a:rPr sz="1000" b="0">
                <a:solidFill>
                  <a:srgbClr val="333333"/>
                </a:solidFill>
                <a:latin typeface="Arial"/>
              </a:rPr>
              <a:t>enable_context_window_escalation only moves up when a prompt does not fit. "Long but easy → Flash" must be encoded by Kairos.</a:t>
            </a:r>
          </a:p>
        </p:txBody>
      </p:sp>
      <p:sp>
        <p:nvSpPr>
          <p:cNvPr id="11" name="Rectangle 10"/>
          <p:cNvSpPr/>
          <p:nvPr/>
        </p:nvSpPr>
        <p:spPr>
          <a:xfrm>
            <a:off x="457200" y="2103120"/>
            <a:ext cx="2103120" cy="77724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50" b="1">
                <a:solidFill>
                  <a:srgbClr val="FFFFFF"/>
                </a:solidFill>
                <a:latin typeface="Arial"/>
              </a:rPr>
              <a:t>Golden-set labels</a:t>
            </a:r>
          </a:p>
          <a:p>
            <a:pPr algn="l">
              <a:spcAft>
                <a:spcPts val="200"/>
              </a:spcAft>
            </a:pPr>
            <a:r>
              <a:rPr sz="900" b="0">
                <a:solidFill>
                  <a:srgbClr val="FFFFFF"/>
                </a:solidFill>
                <a:latin typeface="Arial"/>
              </a:rPr>
              <a:t>pass / win-or-tie per tier</a:t>
            </a:r>
          </a:p>
        </p:txBody>
      </p:sp>
      <p:cxnSp>
        <p:nvCxnSpPr>
          <p:cNvPr id="12" name="Connector 11"/>
          <p:cNvCxnSpPr/>
          <p:nvPr/>
        </p:nvCxnSpPr>
        <p:spPr>
          <a:xfrm>
            <a:off x="2560320" y="2487168"/>
            <a:ext cx="365760" cy="484632"/>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3063239"/>
            <a:ext cx="2103120" cy="77724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50" b="1">
                <a:solidFill>
                  <a:srgbClr val="FFFFFF"/>
                </a:solidFill>
                <a:latin typeface="Arial"/>
              </a:rPr>
              <a:t>Heatmap certified cells</a:t>
            </a:r>
          </a:p>
          <a:p>
            <a:pPr algn="l">
              <a:spcAft>
                <a:spcPts val="200"/>
              </a:spcAft>
            </a:pPr>
            <a:r>
              <a:rPr sz="900" b="0">
                <a:solidFill>
                  <a:srgbClr val="FFFFFF"/>
                </a:solidFill>
                <a:latin typeface="Arial"/>
              </a:rPr>
              <a:t>task family × length bucket</a:t>
            </a:r>
          </a:p>
        </p:txBody>
      </p:sp>
      <p:cxnSp>
        <p:nvCxnSpPr>
          <p:cNvPr id="14" name="Connector 13"/>
          <p:cNvCxnSpPr/>
          <p:nvPr/>
        </p:nvCxnSpPr>
        <p:spPr>
          <a:xfrm flipV="1">
            <a:off x="2560320" y="2971800"/>
            <a:ext cx="365760" cy="475488"/>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57200" y="4023360"/>
            <a:ext cx="2103120" cy="77724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50" b="1">
                <a:solidFill>
                  <a:srgbClr val="FFFFFF"/>
                </a:solidFill>
                <a:latin typeface="Arial"/>
              </a:rPr>
              <a:t>Jev decision v1 outputs</a:t>
            </a:r>
          </a:p>
          <a:p>
            <a:pPr algn="l">
              <a:spcAft>
                <a:spcPts val="200"/>
              </a:spcAft>
            </a:pPr>
            <a:r>
              <a:rPr sz="900" b="0">
                <a:solidFill>
                  <a:srgbClr val="FFFFFF"/>
                </a:solidFill>
                <a:latin typeface="Arial"/>
              </a:rPr>
              <a:t>confidence + certified per slice</a:t>
            </a:r>
          </a:p>
        </p:txBody>
      </p:sp>
      <p:cxnSp>
        <p:nvCxnSpPr>
          <p:cNvPr id="16" name="Connector 15"/>
          <p:cNvCxnSpPr/>
          <p:nvPr/>
        </p:nvCxnSpPr>
        <p:spPr>
          <a:xfrm flipV="1">
            <a:off x="2560320" y="2971800"/>
            <a:ext cx="365760" cy="1435608"/>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926080" y="2514600"/>
            <a:ext cx="1097280" cy="914400"/>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000000"/>
                </a:solidFill>
                <a:latin typeface="Arial"/>
              </a:rPr>
              <a:t>Fit + certify</a:t>
            </a:r>
          </a:p>
          <a:p>
            <a:pPr algn="ctr">
              <a:spcAft>
                <a:spcPts val="200"/>
              </a:spcAft>
            </a:pPr>
            <a:r>
              <a:rPr sz="850" b="0">
                <a:solidFill>
                  <a:srgbClr val="000000"/>
                </a:solidFill>
                <a:latin typeface="Arial"/>
              </a:rPr>
              <a:t>held-out data</a:t>
            </a:r>
          </a:p>
        </p:txBody>
      </p:sp>
      <p:cxnSp>
        <p:nvCxnSpPr>
          <p:cNvPr id="18" name="Connector 17"/>
          <p:cNvCxnSpPr/>
          <p:nvPr/>
        </p:nvCxnSpPr>
        <p:spPr>
          <a:xfrm flipV="1">
            <a:off x="4023360" y="2331720"/>
            <a:ext cx="320040" cy="640080"/>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343400" y="2011680"/>
            <a:ext cx="3566160" cy="667512"/>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100"/>
              </a:spcAft>
            </a:pPr>
            <a:r>
              <a:rPr sz="1000" b="1">
                <a:solidFill>
                  <a:srgbClr val="000000"/>
                </a:solidFill>
                <a:latin typeface="Arial"/>
              </a:rPr>
              <a:t>1  Jev thresholds</a:t>
            </a:r>
          </a:p>
          <a:p>
            <a:pPr algn="l">
              <a:spcAft>
                <a:spcPts val="100"/>
              </a:spcAft>
            </a:pPr>
            <a:r>
              <a:rPr sz="850" b="0">
                <a:solidFill>
                  <a:srgbClr val="000000"/>
                </a:solidFill>
                <a:latin typeface="Arial"/>
              </a:rPr>
              <a:t>θ per (question type × length bucket). Keep θ only if calibration error ≤ target on held-out data; otherwise escalate (fail-closed).</a:t>
            </a:r>
          </a:p>
        </p:txBody>
      </p:sp>
      <p:cxnSp>
        <p:nvCxnSpPr>
          <p:cNvPr id="20" name="Connector 19"/>
          <p:cNvCxnSpPr/>
          <p:nvPr/>
        </p:nvCxnSpPr>
        <p:spPr>
          <a:xfrm>
            <a:off x="4023360" y="2971800"/>
            <a:ext cx="320040" cy="118872"/>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343400" y="2770632"/>
            <a:ext cx="3566160" cy="667512"/>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100"/>
              </a:spcAft>
            </a:pPr>
            <a:r>
              <a:rPr sz="1000" b="1">
                <a:solidFill>
                  <a:srgbClr val="000000"/>
                </a:solidFill>
                <a:latin typeface="Arial"/>
              </a:rPr>
              <a:t>2  heuristic_v2_artifact</a:t>
            </a:r>
          </a:p>
          <a:p>
            <a:pPr algn="l">
              <a:spcAft>
                <a:spcPts val="100"/>
              </a:spcAft>
            </a:pPr>
            <a:r>
              <a:rPr sz="850" b="0">
                <a:solidFill>
                  <a:srgbClr val="000000"/>
                </a:solidFill>
                <a:latin typeface="Arial"/>
              </a:rPr>
              <a:t>inline YAML of per-tier / domain / cohort success stats from the labels; tune heuristic_v2_success_threshold.</a:t>
            </a:r>
          </a:p>
        </p:txBody>
      </p:sp>
      <p:cxnSp>
        <p:nvCxnSpPr>
          <p:cNvPr id="22" name="Connector 21"/>
          <p:cNvCxnSpPr/>
          <p:nvPr/>
        </p:nvCxnSpPr>
        <p:spPr>
          <a:xfrm>
            <a:off x="4023360" y="2971800"/>
            <a:ext cx="320040" cy="877824"/>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343400" y="3529584"/>
            <a:ext cx="3566160" cy="667512"/>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100"/>
              </a:spcAft>
            </a:pPr>
            <a:r>
              <a:rPr sz="1000" b="1">
                <a:solidFill>
                  <a:srgbClr val="000000"/>
                </a:solidFill>
                <a:latin typeface="Arial"/>
              </a:rPr>
              <a:t>3  keyword_tier_rules + semantic clusters</a:t>
            </a:r>
          </a:p>
          <a:p>
            <a:pPr algn="l">
              <a:spcAft>
                <a:spcPts val="100"/>
              </a:spcAft>
            </a:pPr>
            <a:r>
              <a:rPr sz="850" b="0">
                <a:solidFill>
                  <a:srgbClr val="000000"/>
                </a:solidFill>
                <a:latin typeface="Arial"/>
              </a:rPr>
              <a:t>embedding_model: kairos-embed; match_threshold from a precision-recall sweep.</a:t>
            </a:r>
          </a:p>
        </p:txBody>
      </p:sp>
      <p:cxnSp>
        <p:nvCxnSpPr>
          <p:cNvPr id="24" name="Connector 23"/>
          <p:cNvCxnSpPr/>
          <p:nvPr/>
        </p:nvCxnSpPr>
        <p:spPr>
          <a:xfrm>
            <a:off x="4023360" y="2971800"/>
            <a:ext cx="320040" cy="1636775"/>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343400" y="4288536"/>
            <a:ext cx="3566160" cy="667512"/>
          </a:xfrm>
          <a:prstGeom prst="rect">
            <a:avLst/>
          </a:prstGeom>
          <a:solidFill>
            <a:srgbClr val="FFFFFF"/>
          </a:solidFill>
          <a:ln w="19050">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100"/>
              </a:spcAft>
            </a:pPr>
            <a:r>
              <a:rPr sz="1000" b="1">
                <a:solidFill>
                  <a:srgbClr val="000000"/>
                </a:solidFill>
                <a:latin typeface="Arial"/>
              </a:rPr>
              <a:t>4  classifier_plugin (downshift)</a:t>
            </a:r>
          </a:p>
          <a:p>
            <a:pPr algn="l">
              <a:spcAft>
                <a:spcPts val="100"/>
              </a:spcAft>
            </a:pPr>
            <a:r>
              <a:rPr sz="850" b="0">
                <a:solidFill>
                  <a:srgbClr val="000000"/>
                </a:solidFill>
                <a:latin typeface="Arial"/>
              </a:rPr>
              <a:t>reads token count + Jev task type + certified-cell table → tier, or None to defer.</a:t>
            </a:r>
          </a:p>
        </p:txBody>
      </p:sp>
      <p:sp>
        <p:nvSpPr>
          <p:cNvPr id="26" name="TextBox 25"/>
          <p:cNvSpPr txBox="1"/>
          <p:nvPr/>
        </p:nvSpPr>
        <p:spPr>
          <a:xfrm>
            <a:off x="457200" y="5120640"/>
            <a:ext cx="7452360" cy="1188720"/>
          </a:xfrm>
          <a:prstGeom prst="rect">
            <a:avLst/>
          </a:prstGeom>
          <a:noFill/>
        </p:spPr>
        <p:txBody>
          <a:bodyPr wrap="square" lIns="0" rIns="0" tIns="0" bIns="0" anchor="t">
            <a:noAutofit/>
          </a:bodyPr>
          <a:lstStyle/>
          <a:p>
            <a:pPr>
              <a:spcAft>
                <a:spcPts val="200"/>
              </a:spcAft>
            </a:pPr>
            <a:r>
              <a:rPr sz="1100" b="1">
                <a:solidFill>
                  <a:srgbClr val="000000"/>
                </a:solidFill>
                <a:latin typeface="Arial"/>
              </a:rPr>
              <a:t>Safety nets</a:t>
            </a:r>
          </a:p>
          <a:p>
            <a:pPr>
              <a:spcAft>
                <a:spcPts val="200"/>
              </a:spcAft>
            </a:pPr>
            <a:r>
              <a:rPr sz="950" b="0">
                <a:solidFill>
                  <a:srgbClr val="333333"/>
                </a:solidFill>
                <a:latin typeface="Arial"/>
              </a:rPr>
              <a:t>Turn on enable_context_window_escalation (buffer 0.95). Validate every artefact with /auto_router/test_routing on the golden set, then shadow eval before promotion (slide 13). A slice whose live judge win-rate drops below θ minus margin is frozen and routed up.</a:t>
            </a:r>
          </a:p>
        </p:txBody>
      </p:sp>
      <p:sp>
        <p:nvSpPr>
          <p:cNvPr id="27" name="Rectangle 26"/>
          <p:cNvSpPr/>
          <p:nvPr/>
        </p:nvSpPr>
        <p:spPr>
          <a:xfrm>
            <a:off x="8183879" y="2011680"/>
            <a:ext cx="3547872" cy="292608"/>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00" b="1">
                <a:solidFill>
                  <a:srgbClr val="FFFFFF"/>
                </a:solidFill>
                <a:latin typeface="Arial"/>
              </a:rPr>
              <a:t>kairos_downshift.py  (sketch)</a:t>
            </a:r>
          </a:p>
        </p:txBody>
      </p:sp>
      <p:sp>
        <p:nvSpPr>
          <p:cNvPr id="28" name="Rectangle 27"/>
          <p:cNvSpPr/>
          <p:nvPr/>
        </p:nvSpPr>
        <p:spPr>
          <a:xfrm>
            <a:off x="8183879" y="2304288"/>
            <a:ext cx="3547872" cy="274320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20" y="2377440"/>
            <a:ext cx="3383280" cy="2606040"/>
          </a:xfrm>
          <a:prstGeom prst="rect">
            <a:avLst/>
          </a:prstGeom>
          <a:noFill/>
        </p:spPr>
        <p:txBody>
          <a:bodyPr wrap="square" lIns="0" rIns="0" tIns="0" bIns="0" anchor="t">
            <a:noAutofit/>
          </a:bodyPr>
          <a:lstStyle/>
          <a:p>
            <a:pPr>
              <a:spcAft>
                <a:spcPts val="0"/>
              </a:spcAft>
            </a:pPr>
            <a:r>
              <a:rPr sz="819" b="0">
                <a:solidFill>
                  <a:srgbClr val="F2F2F2"/>
                </a:solidFill>
                <a:latin typeface="Courier New"/>
              </a:rPr>
              <a:t># certified cells exported by the playground</a:t>
            </a:r>
          </a:p>
          <a:p>
            <a:pPr>
              <a:spcAft>
                <a:spcPts val="0"/>
              </a:spcAft>
            </a:pPr>
            <a:r>
              <a:rPr sz="819" b="0">
                <a:solidFill>
                  <a:srgbClr val="F2F2F2"/>
                </a:solidFill>
                <a:latin typeface="Courier New"/>
              </a:rPr>
              <a:t>CERTIFIED = load_yaml("certified_cells.yaml")</a:t>
            </a:r>
          </a:p>
          <a:p>
            <a:pPr>
              <a:spcAft>
                <a:spcPts val="0"/>
              </a:spcAft>
            </a:pPr>
          </a:p>
          <a:p>
            <a:pPr>
              <a:spcAft>
                <a:spcPts val="0"/>
              </a:spcAft>
            </a:pPr>
            <a:r>
              <a:rPr sz="819" b="0">
                <a:solidFill>
                  <a:srgbClr val="F2F2F2"/>
                </a:solidFill>
                <a:latin typeface="Courier New"/>
              </a:rPr>
              <a:t>async def classify(context):</a:t>
            </a:r>
          </a:p>
          <a:p>
            <a:pPr>
              <a:spcAft>
                <a:spcPts val="0"/>
              </a:spcAft>
            </a:pPr>
            <a:r>
              <a:rPr sz="819" b="0">
                <a:solidFill>
                  <a:srgbClr val="F2F2F2"/>
                </a:solidFill>
                <a:latin typeface="Courier New"/>
              </a:rPr>
              <a:t>    bucket = length_bucket(token_count(context))</a:t>
            </a:r>
          </a:p>
          <a:p>
            <a:pPr>
              <a:spcAft>
                <a:spcPts val="0"/>
              </a:spcAft>
            </a:pPr>
            <a:r>
              <a:rPr sz="819" b="0">
                <a:solidFill>
                  <a:srgbClr val="F2F2F2"/>
                </a:solidFill>
                <a:latin typeface="Courier New"/>
              </a:rPr>
              <a:t>    task = jev_task_type(context)  # Jev v1</a:t>
            </a:r>
          </a:p>
          <a:p>
            <a:pPr>
              <a:spcAft>
                <a:spcPts val="0"/>
              </a:spcAft>
            </a:pPr>
            <a:r>
              <a:rPr sz="819" b="0">
                <a:solidFill>
                  <a:srgbClr val="F2F2F2"/>
                </a:solidFill>
                <a:latin typeface="Courier New"/>
              </a:rPr>
              <a:t>    cell = CERTIFIED.get((task, bucket))</a:t>
            </a:r>
          </a:p>
          <a:p>
            <a:pPr>
              <a:spcAft>
                <a:spcPts val="0"/>
              </a:spcAft>
            </a:pPr>
            <a:r>
              <a:rPr sz="819" b="0">
                <a:solidFill>
                  <a:srgbClr val="F2F2F2"/>
                </a:solidFill>
                <a:latin typeface="Courier New"/>
              </a:rPr>
              <a:t>    if cell and cell["certified"]:</a:t>
            </a:r>
          </a:p>
          <a:p>
            <a:pPr>
              <a:spcAft>
                <a:spcPts val="0"/>
              </a:spcAft>
            </a:pPr>
            <a:r>
              <a:rPr sz="819" b="0">
                <a:solidFill>
                  <a:srgbClr val="F2F2F2"/>
                </a:solidFill>
                <a:latin typeface="Courier New"/>
              </a:rPr>
              <a:t>        return cell["tier"]   # e.g. SIMPLE</a:t>
            </a:r>
          </a:p>
          <a:p>
            <a:pPr>
              <a:spcAft>
                <a:spcPts val="0"/>
              </a:spcAft>
            </a:pPr>
            <a:r>
              <a:rPr sz="819" b="0">
                <a:solidFill>
                  <a:srgbClr val="F2F2F2"/>
                </a:solidFill>
                <a:latin typeface="Courier New"/>
              </a:rPr>
              <a:t>    return None  # defer to the chain</a:t>
            </a:r>
          </a:p>
        </p:txBody>
      </p:sp>
      <p:sp>
        <p:nvSpPr>
          <p:cNvPr id="30" name="TextBox 29"/>
          <p:cNvSpPr txBox="1"/>
          <p:nvPr/>
        </p:nvSpPr>
        <p:spPr>
          <a:xfrm>
            <a:off x="8183879" y="5120640"/>
            <a:ext cx="3547872" cy="1188720"/>
          </a:xfrm>
          <a:prstGeom prst="rect">
            <a:avLst/>
          </a:prstGeom>
          <a:noFill/>
        </p:spPr>
        <p:txBody>
          <a:bodyPr wrap="square" lIns="0" rIns="0" tIns="0" bIns="0" anchor="t">
            <a:noAutofit/>
          </a:bodyPr>
          <a:lstStyle/>
          <a:p>
            <a:pPr>
              <a:spcAft>
                <a:spcPts val="400"/>
              </a:spcAft>
            </a:pPr>
            <a:r>
              <a:rPr sz="900" b="0">
                <a:solidFill>
                  <a:srgbClr val="747676"/>
                </a:solidFill>
                <a:latin typeface="Arial"/>
              </a:rPr>
              <a:t>Wire as complexity_router_config classifier_plugin with classifier_plugin_timeout_ms. Helper names are placeholders for the dev team.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PLAYGROUND-AS-A-SERVICE</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Playground-as-a-service: any team brings a workload and gets back a certified router config and a savings forecast, with no code</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research §6 · LiteLLM Admin UI: Decisions / System One playground (#44043), Test Routing, Savings tab.</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12</a:t>
            </a:r>
          </a:p>
        </p:txBody>
      </p:sp>
      <p:sp>
        <p:nvSpPr>
          <p:cNvPr id="8" name="Rectangle 7"/>
          <p:cNvSpPr/>
          <p:nvPr/>
        </p:nvSpPr>
        <p:spPr>
          <a:xfrm>
            <a:off x="457200" y="1371600"/>
            <a:ext cx="2011680" cy="68580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50" b="1">
                <a:solidFill>
                  <a:srgbClr val="000000"/>
                </a:solidFill>
                <a:latin typeface="Arial"/>
              </a:rPr>
              <a:t>Kairos portal</a:t>
            </a:r>
          </a:p>
          <a:p>
            <a:pPr algn="ctr">
              <a:spcAft>
                <a:spcPts val="200"/>
              </a:spcAft>
            </a:pPr>
            <a:r>
              <a:rPr sz="900" b="0">
                <a:solidFill>
                  <a:srgbClr val="000000"/>
                </a:solidFill>
                <a:latin typeface="Arial"/>
              </a:rPr>
              <a:t>for product teams</a:t>
            </a:r>
          </a:p>
        </p:txBody>
      </p:sp>
      <p:sp>
        <p:nvSpPr>
          <p:cNvPr id="9" name="Rectangle 8"/>
          <p:cNvSpPr/>
          <p:nvPr/>
        </p:nvSpPr>
        <p:spPr>
          <a:xfrm>
            <a:off x="457200" y="2194560"/>
            <a:ext cx="2011680" cy="68580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50" b="1">
                <a:solidFill>
                  <a:srgbClr val="000000"/>
                </a:solidFill>
                <a:latin typeface="Arial"/>
              </a:rPr>
              <a:t>LiteLLM Admin UI</a:t>
            </a:r>
          </a:p>
          <a:p>
            <a:pPr algn="ctr">
              <a:spcAft>
                <a:spcPts val="200"/>
              </a:spcAft>
            </a:pPr>
            <a:r>
              <a:rPr sz="900" b="0">
                <a:solidFill>
                  <a:srgbClr val="000000"/>
                </a:solidFill>
                <a:latin typeface="Arial"/>
              </a:rPr>
              <a:t>operators: single-prompt tests</a:t>
            </a:r>
          </a:p>
        </p:txBody>
      </p:sp>
      <p:sp>
        <p:nvSpPr>
          <p:cNvPr id="10" name="Rectangle 9"/>
          <p:cNvSpPr/>
          <p:nvPr/>
        </p:nvSpPr>
        <p:spPr>
          <a:xfrm>
            <a:off x="2788920" y="1371600"/>
            <a:ext cx="1554480" cy="150876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50" b="1">
                <a:solidFill>
                  <a:srgbClr val="FFFFFF"/>
                </a:solidFill>
                <a:latin typeface="Arial"/>
              </a:rPr>
              <a:t>Playground API</a:t>
            </a:r>
          </a:p>
          <a:p>
            <a:pPr algn="ctr">
              <a:spcAft>
                <a:spcPts val="200"/>
              </a:spcAft>
            </a:pPr>
            <a:r>
              <a:rPr sz="900" b="0">
                <a:solidFill>
                  <a:srgbClr val="D8DADA"/>
                </a:solidFill>
                <a:latin typeface="Arial"/>
              </a:rPr>
              <a:t>run = workload + candidate configs + budget</a:t>
            </a:r>
          </a:p>
        </p:txBody>
      </p:sp>
      <p:cxnSp>
        <p:nvCxnSpPr>
          <p:cNvPr id="11" name="Connector 10"/>
          <p:cNvCxnSpPr/>
          <p:nvPr/>
        </p:nvCxnSpPr>
        <p:spPr>
          <a:xfrm>
            <a:off x="2468880" y="1709928"/>
            <a:ext cx="320040" cy="210312"/>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468880" y="2331720"/>
            <a:ext cx="320040" cy="201168"/>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663440" y="1371600"/>
            <a:ext cx="1371600" cy="123444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200"/>
              </a:spcAft>
            </a:pPr>
            <a:r>
              <a:rPr sz="1000" b="1">
                <a:solidFill>
                  <a:srgbClr val="000000"/>
                </a:solidFill>
                <a:latin typeface="Arial"/>
              </a:rPr>
              <a:t>Trace import</a:t>
            </a:r>
          </a:p>
          <a:p>
            <a:pPr algn="l">
              <a:spcAft>
                <a:spcPts val="200"/>
              </a:spcAft>
            </a:pPr>
            <a:r>
              <a:rPr sz="850" b="0">
                <a:solidFill>
                  <a:srgbClr val="000000"/>
                </a:solidFill>
                <a:latin typeface="Arial"/>
              </a:rPr>
              <a:t>Galileo export (redacted) or JSONL; embed + cluster; stratified sample</a:t>
            </a:r>
          </a:p>
        </p:txBody>
      </p:sp>
      <p:cxnSp>
        <p:nvCxnSpPr>
          <p:cNvPr id="14" name="Connector 13"/>
          <p:cNvCxnSpPr/>
          <p:nvPr/>
        </p:nvCxnSpPr>
        <p:spPr>
          <a:xfrm>
            <a:off x="4343400" y="2011680"/>
            <a:ext cx="320040" cy="0"/>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089904" y="1371600"/>
            <a:ext cx="1371600" cy="123444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200"/>
              </a:spcAft>
            </a:pPr>
            <a:r>
              <a:rPr sz="1000" b="1">
                <a:solidFill>
                  <a:srgbClr val="000000"/>
                </a:solidFill>
                <a:latin typeface="Arial"/>
              </a:rPr>
              <a:t>Replay engine</a:t>
            </a:r>
          </a:p>
          <a:p>
            <a:pPr algn="l">
              <a:spcAft>
                <a:spcPts val="200"/>
              </a:spcAft>
            </a:pPr>
            <a:r>
              <a:rPr sz="850" b="0">
                <a:solidFill>
                  <a:srgbClr val="000000"/>
                </a:solidFill>
                <a:latin typeface="Arial"/>
              </a:rPr>
              <a:t>virtual key per run, budget-capped; fan-out to N tier aliases; idempotent, tools stubbed</a:t>
            </a:r>
          </a:p>
        </p:txBody>
      </p:sp>
      <p:cxnSp>
        <p:nvCxnSpPr>
          <p:cNvPr id="16" name="Connector 15"/>
          <p:cNvCxnSpPr/>
          <p:nvPr/>
        </p:nvCxnSpPr>
        <p:spPr>
          <a:xfrm>
            <a:off x="6035040" y="2011680"/>
            <a:ext cx="54864" cy="0"/>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7516368" y="1371600"/>
            <a:ext cx="1371600" cy="123444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200"/>
              </a:spcAft>
            </a:pPr>
            <a:r>
              <a:rPr sz="1000" b="1">
                <a:solidFill>
                  <a:srgbClr val="000000"/>
                </a:solidFill>
                <a:latin typeface="Arial"/>
              </a:rPr>
              <a:t>Scoring</a:t>
            </a:r>
          </a:p>
          <a:p>
            <a:pPr algn="l">
              <a:spcAft>
                <a:spcPts val="200"/>
              </a:spcAft>
            </a:pPr>
            <a:r>
              <a:rPr sz="850" b="0">
                <a:solidFill>
                  <a:srgbClr val="000000"/>
                </a:solidFill>
                <a:latin typeface="Arial"/>
              </a:rPr>
              <a:t>task checks + Jev-as-judge (pairwise, swap) + optional human queue</a:t>
            </a:r>
          </a:p>
        </p:txBody>
      </p:sp>
      <p:cxnSp>
        <p:nvCxnSpPr>
          <p:cNvPr id="18" name="Connector 17"/>
          <p:cNvCxnSpPr/>
          <p:nvPr/>
        </p:nvCxnSpPr>
        <p:spPr>
          <a:xfrm>
            <a:off x="7461504" y="2011680"/>
            <a:ext cx="54864" cy="0"/>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8942832" y="1371600"/>
            <a:ext cx="1371600" cy="123444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200"/>
              </a:spcAft>
            </a:pPr>
            <a:r>
              <a:rPr sz="1000" b="1">
                <a:solidFill>
                  <a:srgbClr val="000000"/>
                </a:solidFill>
                <a:latin typeface="Arial"/>
              </a:rPr>
              <a:t>Heatmaps</a:t>
            </a:r>
          </a:p>
          <a:p>
            <a:pPr algn="l">
              <a:spcAft>
                <a:spcPts val="200"/>
              </a:spcAft>
            </a:pPr>
            <a:r>
              <a:rPr sz="850" b="0">
                <a:solidFill>
                  <a:srgbClr val="000000"/>
                </a:solidFill>
                <a:latin typeface="Arial"/>
              </a:rPr>
              <a:t>NIAH / RULER / NoLiMa jobs per model; cached per model version</a:t>
            </a:r>
          </a:p>
        </p:txBody>
      </p:sp>
      <p:cxnSp>
        <p:nvCxnSpPr>
          <p:cNvPr id="20" name="Connector 19"/>
          <p:cNvCxnSpPr/>
          <p:nvPr/>
        </p:nvCxnSpPr>
        <p:spPr>
          <a:xfrm>
            <a:off x="8887968" y="2011680"/>
            <a:ext cx="54864" cy="0"/>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0369296" y="1371600"/>
            <a:ext cx="1371600" cy="123444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200"/>
              </a:spcAft>
            </a:pPr>
            <a:r>
              <a:rPr sz="1000" b="1">
                <a:solidFill>
                  <a:srgbClr val="000000"/>
                </a:solidFill>
                <a:latin typeface="Arial"/>
              </a:rPr>
              <a:t>Classifier bake-off</a:t>
            </a:r>
          </a:p>
          <a:p>
            <a:pPr algn="l">
              <a:spcAft>
                <a:spcPts val="200"/>
              </a:spcAft>
            </a:pPr>
            <a:r>
              <a:rPr sz="850" b="0">
                <a:solidFill>
                  <a:srgbClr val="000000"/>
                </a:solidFill>
                <a:latin typeface="Arial"/>
              </a:rPr>
              <a:t>Jev decision v1 vs OpenJev-4B vs heuristic v1/v2 vs LLM classifier; latency + cost</a:t>
            </a:r>
          </a:p>
        </p:txBody>
      </p:sp>
      <p:cxnSp>
        <p:nvCxnSpPr>
          <p:cNvPr id="22" name="Connector 21"/>
          <p:cNvCxnSpPr/>
          <p:nvPr/>
        </p:nvCxnSpPr>
        <p:spPr>
          <a:xfrm>
            <a:off x="10314432" y="2011680"/>
            <a:ext cx="54864" cy="0"/>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663440" y="2926080"/>
            <a:ext cx="7068312" cy="822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2953512"/>
            <a:ext cx="6858000" cy="777240"/>
          </a:xfrm>
          <a:prstGeom prst="rect">
            <a:avLst/>
          </a:prstGeom>
          <a:noFill/>
        </p:spPr>
        <p:txBody>
          <a:bodyPr wrap="square" lIns="0" rIns="0" tIns="0" bIns="0" anchor="ctr">
            <a:noAutofit/>
          </a:bodyPr>
          <a:lstStyle/>
          <a:p>
            <a:pPr>
              <a:spcAft>
                <a:spcPts val="400"/>
              </a:spcAft>
            </a:pPr>
            <a:r>
              <a:rPr sz="1100" b="1">
                <a:solidFill>
                  <a:srgbClr val="FFFFFF"/>
                </a:solidFill>
                <a:latin typeface="Arial"/>
              </a:rPr>
              <a:t>Kairos Gateway (same production plane)</a:t>
            </a:r>
          </a:p>
          <a:p>
            <a:pPr>
              <a:spcAft>
                <a:spcPts val="400"/>
              </a:spcAft>
            </a:pPr>
            <a:r>
              <a:rPr sz="950" b="0">
                <a:solidFill>
                  <a:srgbClr val="D8DADA"/>
                </a:solidFill>
                <a:latin typeface="Arial"/>
              </a:rPr>
              <a:t>tier aliases · jev-decision-v1 · kairos-embed · OpenJev on Databricks · spend logs give the cost of every replayed call</a:t>
            </a:r>
          </a:p>
        </p:txBody>
      </p:sp>
      <p:cxnSp>
        <p:nvCxnSpPr>
          <p:cNvPr id="25" name="Connector 24"/>
          <p:cNvCxnSpPr/>
          <p:nvPr/>
        </p:nvCxnSpPr>
        <p:spPr>
          <a:xfrm>
            <a:off x="5349240" y="2606040"/>
            <a:ext cx="0" cy="320040"/>
          </a:xfrm>
          <a:prstGeom prst="line">
            <a:avLst/>
          </a:prstGeom>
          <a:ln w="12700">
            <a:solidFill>
              <a:srgbClr val="7476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766560" y="2606040"/>
            <a:ext cx="0" cy="320040"/>
          </a:xfrm>
          <a:prstGeom prst="line">
            <a:avLst/>
          </a:prstGeom>
          <a:ln w="12700">
            <a:solidFill>
              <a:srgbClr val="7476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183879" y="2606040"/>
            <a:ext cx="0" cy="320040"/>
          </a:xfrm>
          <a:prstGeom prst="line">
            <a:avLst/>
          </a:prstGeom>
          <a:ln w="12700">
            <a:solidFill>
              <a:srgbClr val="7476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01200" y="2606040"/>
            <a:ext cx="0" cy="320040"/>
          </a:xfrm>
          <a:prstGeom prst="line">
            <a:avLst/>
          </a:prstGeom>
          <a:ln w="12700">
            <a:solidFill>
              <a:srgbClr val="7476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018520" y="2606040"/>
            <a:ext cx="0" cy="320040"/>
          </a:xfrm>
          <a:prstGeom prst="line">
            <a:avLst/>
          </a:prstGeom>
          <a:ln w="12700">
            <a:solidFill>
              <a:srgbClr val="747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4663440" y="3977639"/>
            <a:ext cx="1664208" cy="384048"/>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50" b="1">
                <a:solidFill>
                  <a:srgbClr val="000000"/>
                </a:solidFill>
                <a:latin typeface="Arial"/>
              </a:rPr>
              <a:t>Vertex AI</a:t>
            </a:r>
          </a:p>
        </p:txBody>
      </p:sp>
      <p:cxnSp>
        <p:nvCxnSpPr>
          <p:cNvPr id="31" name="Connector 30"/>
          <p:cNvCxnSpPr/>
          <p:nvPr/>
        </p:nvCxnSpPr>
        <p:spPr>
          <a:xfrm>
            <a:off x="5486400" y="3749039"/>
            <a:ext cx="0" cy="228600"/>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6464807" y="3977639"/>
            <a:ext cx="1664208" cy="384048"/>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50" b="1">
                <a:solidFill>
                  <a:srgbClr val="000000"/>
                </a:solidFill>
                <a:latin typeface="Arial"/>
              </a:rPr>
              <a:t>AWS Bedrock</a:t>
            </a:r>
          </a:p>
        </p:txBody>
      </p:sp>
      <p:cxnSp>
        <p:nvCxnSpPr>
          <p:cNvPr id="33" name="Connector 32"/>
          <p:cNvCxnSpPr/>
          <p:nvPr/>
        </p:nvCxnSpPr>
        <p:spPr>
          <a:xfrm>
            <a:off x="7287768" y="3749039"/>
            <a:ext cx="0" cy="228600"/>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8266175" y="3977639"/>
            <a:ext cx="1664208" cy="384048"/>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50" b="1">
                <a:solidFill>
                  <a:srgbClr val="000000"/>
                </a:solidFill>
                <a:latin typeface="Arial"/>
              </a:rPr>
              <a:t>Azure</a:t>
            </a:r>
          </a:p>
        </p:txBody>
      </p:sp>
      <p:cxnSp>
        <p:nvCxnSpPr>
          <p:cNvPr id="35" name="Connector 34"/>
          <p:cNvCxnSpPr/>
          <p:nvPr/>
        </p:nvCxnSpPr>
        <p:spPr>
          <a:xfrm>
            <a:off x="9089136" y="3749039"/>
            <a:ext cx="0" cy="228600"/>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0067544" y="3977639"/>
            <a:ext cx="1664208" cy="384048"/>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50" b="1">
                <a:solidFill>
                  <a:srgbClr val="000000"/>
                </a:solidFill>
                <a:latin typeface="Arial"/>
              </a:rPr>
              <a:t>self-hosted vLLM</a:t>
            </a:r>
          </a:p>
        </p:txBody>
      </p:sp>
      <p:cxnSp>
        <p:nvCxnSpPr>
          <p:cNvPr id="37" name="Connector 36"/>
          <p:cNvCxnSpPr/>
          <p:nvPr/>
        </p:nvCxnSpPr>
        <p:spPr>
          <a:xfrm>
            <a:off x="10890504" y="3749039"/>
            <a:ext cx="0" cy="228600"/>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457200" y="3108960"/>
            <a:ext cx="3886200" cy="1252728"/>
          </a:xfrm>
          <a:prstGeom prst="rect">
            <a:avLst/>
          </a:prstGeom>
          <a:solidFill>
            <a:srgbClr val="F6F6F6"/>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200"/>
              </a:spcAft>
            </a:pPr>
            <a:r>
              <a:rPr sz="1050" b="1">
                <a:solidFill>
                  <a:srgbClr val="000000"/>
                </a:solidFill>
                <a:latin typeface="Arial"/>
              </a:rPr>
              <a:t>Results store</a:t>
            </a:r>
          </a:p>
          <a:p>
            <a:pPr algn="l">
              <a:spcAft>
                <a:spcPts val="200"/>
              </a:spcAft>
            </a:pPr>
            <a:r>
              <a:rPr sz="900" b="0">
                <a:solidFill>
                  <a:srgbClr val="000000"/>
                </a:solidFill>
                <a:latin typeface="Arial"/>
              </a:rPr>
              <a:t>per-prompt labels, judge verdicts, heatmap tables, certified cells; versioned per model version and config</a:t>
            </a:r>
          </a:p>
        </p:txBody>
      </p:sp>
      <p:cxnSp>
        <p:nvCxnSpPr>
          <p:cNvPr id="39" name="Connector 38"/>
          <p:cNvCxnSpPr/>
          <p:nvPr/>
        </p:nvCxnSpPr>
        <p:spPr>
          <a:xfrm flipH="1">
            <a:off x="4343400" y="3337560"/>
            <a:ext cx="320040" cy="0"/>
          </a:xfrm>
          <a:prstGeom prst="line">
            <a:avLst/>
          </a:prstGeom>
          <a:ln w="1587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457200" y="4709160"/>
            <a:ext cx="5577840" cy="960120"/>
          </a:xfrm>
          <a:prstGeom prst="rect">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4754880"/>
            <a:ext cx="5349240" cy="868680"/>
          </a:xfrm>
          <a:prstGeom prst="rect">
            <a:avLst/>
          </a:prstGeom>
          <a:noFill/>
        </p:spPr>
        <p:txBody>
          <a:bodyPr wrap="square" lIns="0" rIns="0" tIns="0" bIns="0" anchor="t">
            <a:noAutofit/>
          </a:bodyPr>
          <a:lstStyle/>
          <a:p>
            <a:pPr>
              <a:spcAft>
                <a:spcPts val="300"/>
              </a:spcAft>
            </a:pPr>
            <a:r>
              <a:rPr sz="1100" b="1">
                <a:solidFill>
                  <a:srgbClr val="EE0000"/>
                </a:solidFill>
                <a:latin typeface="Arial"/>
              </a:rPr>
              <a:t>Output per run</a:t>
            </a:r>
          </a:p>
          <a:p>
            <a:pPr>
              <a:spcAft>
                <a:spcPts val="300"/>
              </a:spcAft>
            </a:pPr>
            <a:r>
              <a:rPr sz="950" b="0">
                <a:solidFill>
                  <a:srgbClr val="333333"/>
                </a:solidFill>
                <a:latin typeface="Arial"/>
              </a:rPr>
              <a:t>Versioned YAML: tiers, heuristic_v2_artifact, thresholds, keyword rules, certified-cell table.</a:t>
            </a:r>
          </a:p>
          <a:p>
            <a:pPr>
              <a:spcAft>
                <a:spcPts val="300"/>
              </a:spcAft>
            </a:pPr>
            <a:r>
              <a:rPr sz="950" b="0">
                <a:solidFill>
                  <a:srgbClr val="333333"/>
                </a:solidFill>
                <a:latin typeface="Arial"/>
              </a:rPr>
              <a:t>Savings forecast with confidence interval, and a diff vs the current config.</a:t>
            </a:r>
          </a:p>
        </p:txBody>
      </p:sp>
      <p:sp>
        <p:nvSpPr>
          <p:cNvPr id="42" name="Rectangle 41"/>
          <p:cNvSpPr/>
          <p:nvPr/>
        </p:nvSpPr>
        <p:spPr>
          <a:xfrm>
            <a:off x="6217920" y="4709160"/>
            <a:ext cx="5513832" cy="54864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000" b="1">
                <a:solidFill>
                  <a:srgbClr val="FFFFFF"/>
                </a:solidFill>
                <a:latin typeface="Arial"/>
              </a:rPr>
              <a:t>Promote:  PR → validate_complexity_router_config → shadow eval → canary key/team → GA</a:t>
            </a:r>
          </a:p>
        </p:txBody>
      </p:sp>
      <p:sp>
        <p:nvSpPr>
          <p:cNvPr id="43" name="TextBox 42"/>
          <p:cNvSpPr txBox="1"/>
          <p:nvPr/>
        </p:nvSpPr>
        <p:spPr>
          <a:xfrm>
            <a:off x="6217920" y="5394960"/>
            <a:ext cx="5513832" cy="868680"/>
          </a:xfrm>
          <a:prstGeom prst="rect">
            <a:avLst/>
          </a:prstGeom>
          <a:noFill/>
        </p:spPr>
        <p:txBody>
          <a:bodyPr wrap="square" lIns="0" rIns="0" tIns="0" bIns="0" anchor="t">
            <a:noAutofit/>
          </a:bodyPr>
          <a:lstStyle/>
          <a:p>
            <a:pPr>
              <a:spcAft>
                <a:spcPts val="400"/>
              </a:spcAft>
            </a:pPr>
            <a:r>
              <a:rPr sz="950" b="0">
                <a:solidFill>
                  <a:srgbClr val="333333"/>
                </a:solidFill>
                <a:latin typeface="Arial"/>
              </a:rPr>
              <a:t>The vendor UI already covers single-prompt testing. Kairos adds workload-level replay, certification and governance on top of the same gateway, so results match production behaviour.</a:t>
            </a:r>
          </a:p>
        </p:txBody>
      </p:sp>
      <p:cxnSp>
        <p:nvCxnSpPr>
          <p:cNvPr id="44" name="Connector 43"/>
          <p:cNvCxnSpPr/>
          <p:nvPr/>
        </p:nvCxnSpPr>
        <p:spPr>
          <a:xfrm>
            <a:off x="3108960" y="4361688"/>
            <a:ext cx="0" cy="347472"/>
          </a:xfrm>
          <a:prstGeom prst="line">
            <a:avLst/>
          </a:prstGeom>
          <a:ln w="1270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VALIDATION AND PROMOTION</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Every config change walks the same five gates, and drift on any slice freezes it back to the higher tier</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research §1 (Ops, Shadow evals [V]), §5.4, §8 (P4 criteria). All gate thresholds are target (TBD by team).</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13</a:t>
            </a:r>
          </a:p>
        </p:txBody>
      </p:sp>
      <p:sp>
        <p:nvSpPr>
          <p:cNvPr id="8" name="Rectangle 7"/>
          <p:cNvSpPr/>
          <p:nvPr/>
        </p:nvSpPr>
        <p:spPr>
          <a:xfrm>
            <a:off x="457200" y="1371600"/>
            <a:ext cx="2176272" cy="54864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200" b="1">
                <a:solidFill>
                  <a:srgbClr val="FFFFFF"/>
                </a:solidFill>
                <a:latin typeface="Arial"/>
              </a:rPr>
              <a:t>1  Config validation</a:t>
            </a:r>
          </a:p>
        </p:txBody>
      </p:sp>
      <p:sp>
        <p:nvSpPr>
          <p:cNvPr id="9" name="Rectangle 8"/>
          <p:cNvSpPr/>
          <p:nvPr/>
        </p:nvSpPr>
        <p:spPr>
          <a:xfrm>
            <a:off x="457200" y="1920240"/>
            <a:ext cx="2176272" cy="114300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200"/>
              </a:spcAft>
            </a:pPr>
            <a:r>
              <a:rPr sz="950" b="0">
                <a:solidFill>
                  <a:srgbClr val="333333"/>
                </a:solidFill>
                <a:latin typeface="Arial"/>
              </a:rPr>
              <a:t>PR with versioned YAML → /auto_router/validate_complexity_router_config</a:t>
            </a:r>
          </a:p>
        </p:txBody>
      </p:sp>
      <p:sp>
        <p:nvSpPr>
          <p:cNvPr id="10" name="Rectangle 9"/>
          <p:cNvSpPr/>
          <p:nvPr/>
        </p:nvSpPr>
        <p:spPr>
          <a:xfrm>
            <a:off x="457200" y="3154680"/>
            <a:ext cx="2176272" cy="594360"/>
          </a:xfrm>
          <a:prstGeom prst="rect">
            <a:avLst/>
          </a:prstGeom>
          <a:solidFill>
            <a:srgbClr val="F6F6F6"/>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100"/>
              </a:spcAft>
            </a:pPr>
            <a:r>
              <a:rPr sz="850" b="1">
                <a:solidFill>
                  <a:srgbClr val="747676"/>
                </a:solidFill>
                <a:latin typeface="Arial"/>
              </a:rPr>
              <a:t>Gate · target (TBD by team)</a:t>
            </a:r>
          </a:p>
          <a:p>
            <a:pPr algn="l">
              <a:spcAft>
                <a:spcPts val="100"/>
              </a:spcAft>
            </a:pPr>
            <a:r>
              <a:rPr sz="950" b="1">
                <a:solidFill>
                  <a:srgbClr val="000000"/>
                </a:solidFill>
                <a:latin typeface="Arial"/>
              </a:rPr>
              <a:t>passes; no schema errors</a:t>
            </a:r>
          </a:p>
        </p:txBody>
      </p:sp>
      <p:cxnSp>
        <p:nvCxnSpPr>
          <p:cNvPr id="11" name="Connector 10"/>
          <p:cNvCxnSpPr/>
          <p:nvPr/>
        </p:nvCxnSpPr>
        <p:spPr>
          <a:xfrm>
            <a:off x="2633472" y="1645920"/>
            <a:ext cx="100584" cy="0"/>
          </a:xfrm>
          <a:prstGeom prst="line">
            <a:avLst/>
          </a:prstGeom>
          <a:ln w="1905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734056" y="1371600"/>
            <a:ext cx="2176272" cy="54864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200" b="1">
                <a:solidFill>
                  <a:srgbClr val="FFFFFF"/>
                </a:solidFill>
                <a:latin typeface="Arial"/>
              </a:rPr>
              <a:t>2  Golden-set routing</a:t>
            </a:r>
          </a:p>
        </p:txBody>
      </p:sp>
      <p:sp>
        <p:nvSpPr>
          <p:cNvPr id="13" name="Rectangle 12"/>
          <p:cNvSpPr/>
          <p:nvPr/>
        </p:nvSpPr>
        <p:spPr>
          <a:xfrm>
            <a:off x="2734056" y="1920240"/>
            <a:ext cx="2176272" cy="114300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200"/>
              </a:spcAft>
            </a:pPr>
            <a:r>
              <a:rPr sz="950" b="0">
                <a:solidFill>
                  <a:srgbClr val="333333"/>
                </a:solidFill>
                <a:latin typeface="Arial"/>
              </a:rPr>
              <a:t>/auto_router/test_routing on the golden set; decision-log cause= per sample</a:t>
            </a:r>
          </a:p>
        </p:txBody>
      </p:sp>
      <p:sp>
        <p:nvSpPr>
          <p:cNvPr id="14" name="Rectangle 13"/>
          <p:cNvSpPr/>
          <p:nvPr/>
        </p:nvSpPr>
        <p:spPr>
          <a:xfrm>
            <a:off x="2734056" y="3154680"/>
            <a:ext cx="2176272" cy="594360"/>
          </a:xfrm>
          <a:prstGeom prst="rect">
            <a:avLst/>
          </a:prstGeom>
          <a:solidFill>
            <a:srgbClr val="F6F6F6"/>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100"/>
              </a:spcAft>
            </a:pPr>
            <a:r>
              <a:rPr sz="850" b="1">
                <a:solidFill>
                  <a:srgbClr val="747676"/>
                </a:solidFill>
                <a:latin typeface="Arial"/>
              </a:rPr>
              <a:t>Gate · target (TBD by team)</a:t>
            </a:r>
          </a:p>
          <a:p>
            <a:pPr algn="l">
              <a:spcAft>
                <a:spcPts val="100"/>
              </a:spcAft>
            </a:pPr>
            <a:r>
              <a:rPr sz="950" b="1">
                <a:solidFill>
                  <a:srgbClr val="000000"/>
                </a:solidFill>
                <a:latin typeface="Arial"/>
              </a:rPr>
              <a:t>routing accuracy ≥ target</a:t>
            </a:r>
          </a:p>
        </p:txBody>
      </p:sp>
      <p:cxnSp>
        <p:nvCxnSpPr>
          <p:cNvPr id="15" name="Connector 14"/>
          <p:cNvCxnSpPr/>
          <p:nvPr/>
        </p:nvCxnSpPr>
        <p:spPr>
          <a:xfrm>
            <a:off x="4910327" y="1645920"/>
            <a:ext cx="100585" cy="0"/>
          </a:xfrm>
          <a:prstGeom prst="line">
            <a:avLst/>
          </a:prstGeom>
          <a:ln w="1905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010912" y="1371600"/>
            <a:ext cx="2176272" cy="54864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200" b="1">
                <a:solidFill>
                  <a:srgbClr val="FFFFFF"/>
                </a:solidFill>
                <a:latin typeface="Arial"/>
              </a:rPr>
              <a:t>3  Shadow eval</a:t>
            </a:r>
          </a:p>
        </p:txBody>
      </p:sp>
      <p:sp>
        <p:nvSpPr>
          <p:cNvPr id="17" name="Rectangle 16"/>
          <p:cNvSpPr/>
          <p:nvPr/>
        </p:nvSpPr>
        <p:spPr>
          <a:xfrm>
            <a:off x="5010912" y="1920240"/>
            <a:ext cx="2176272" cy="114300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200"/>
              </a:spcAft>
            </a:pPr>
            <a:r>
              <a:rPr sz="950" b="0">
                <a:solidFill>
                  <a:srgbClr val="333333"/>
                </a:solidFill>
                <a:latin typeface="Arial"/>
              </a:rPr>
              <a:t>POST /auto_router/shadow_eval/start; up to 4 configs paired; key/team/user targeting; max_budget (default $10); up to 30 days; blind judge</a:t>
            </a:r>
          </a:p>
        </p:txBody>
      </p:sp>
      <p:sp>
        <p:nvSpPr>
          <p:cNvPr id="18" name="Rectangle 17"/>
          <p:cNvSpPr/>
          <p:nvPr/>
        </p:nvSpPr>
        <p:spPr>
          <a:xfrm>
            <a:off x="5010912" y="3154680"/>
            <a:ext cx="2176272" cy="594360"/>
          </a:xfrm>
          <a:prstGeom prst="rect">
            <a:avLst/>
          </a:prstGeom>
          <a:solidFill>
            <a:srgbClr val="F6F6F6"/>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100"/>
              </a:spcAft>
            </a:pPr>
            <a:r>
              <a:rPr sz="850" b="1">
                <a:solidFill>
                  <a:srgbClr val="747676"/>
                </a:solidFill>
                <a:latin typeface="Arial"/>
              </a:rPr>
              <a:t>Gate · target (TBD by team)</a:t>
            </a:r>
          </a:p>
          <a:p>
            <a:pPr algn="l">
              <a:spcAft>
                <a:spcPts val="100"/>
              </a:spcAft>
            </a:pPr>
            <a:r>
              <a:rPr sz="950" b="1">
                <a:solidFill>
                  <a:srgbClr val="000000"/>
                </a:solidFill>
                <a:latin typeface="Arial"/>
              </a:rPr>
              <a:t>win-or-tie ≥ target</a:t>
            </a:r>
          </a:p>
        </p:txBody>
      </p:sp>
      <p:cxnSp>
        <p:nvCxnSpPr>
          <p:cNvPr id="19" name="Connector 18"/>
          <p:cNvCxnSpPr/>
          <p:nvPr/>
        </p:nvCxnSpPr>
        <p:spPr>
          <a:xfrm>
            <a:off x="7187183" y="1645920"/>
            <a:ext cx="100585" cy="0"/>
          </a:xfrm>
          <a:prstGeom prst="line">
            <a:avLst/>
          </a:prstGeom>
          <a:ln w="1905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287767" y="1371600"/>
            <a:ext cx="2176272" cy="54864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200" b="1">
                <a:solidFill>
                  <a:srgbClr val="FFFFFF"/>
                </a:solidFill>
                <a:latin typeface="Arial"/>
              </a:rPr>
              <a:t>4  Canary team</a:t>
            </a:r>
          </a:p>
        </p:txBody>
      </p:sp>
      <p:sp>
        <p:nvSpPr>
          <p:cNvPr id="21" name="Rectangle 20"/>
          <p:cNvSpPr/>
          <p:nvPr/>
        </p:nvSpPr>
        <p:spPr>
          <a:xfrm>
            <a:off x="7287767" y="1920240"/>
            <a:ext cx="2176272" cy="114300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200"/>
              </a:spcAft>
            </a:pPr>
            <a:r>
              <a:rPr sz="950" b="0">
                <a:solidFill>
                  <a:srgbClr val="333333"/>
                </a:solidFill>
                <a:latin typeface="Arial"/>
              </a:rPr>
              <a:t>one virtual key or team on the new config; watch governance and cache hits</a:t>
            </a:r>
          </a:p>
        </p:txBody>
      </p:sp>
      <p:sp>
        <p:nvSpPr>
          <p:cNvPr id="22" name="Rectangle 21"/>
          <p:cNvSpPr/>
          <p:nvPr/>
        </p:nvSpPr>
        <p:spPr>
          <a:xfrm>
            <a:off x="7287767" y="3154680"/>
            <a:ext cx="2176272" cy="594360"/>
          </a:xfrm>
          <a:prstGeom prst="rect">
            <a:avLst/>
          </a:prstGeom>
          <a:solidFill>
            <a:srgbClr val="F6F6F6"/>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100"/>
              </a:spcAft>
            </a:pPr>
            <a:r>
              <a:rPr sz="850" b="1">
                <a:solidFill>
                  <a:srgbClr val="747676"/>
                </a:solidFill>
                <a:latin typeface="Arial"/>
              </a:rPr>
              <a:t>Gate · target (TBD by team)</a:t>
            </a:r>
          </a:p>
          <a:p>
            <a:pPr algn="l">
              <a:spcAft>
                <a:spcPts val="100"/>
              </a:spcAft>
            </a:pPr>
            <a:r>
              <a:rPr sz="950" b="1">
                <a:solidFill>
                  <a:srgbClr val="000000"/>
                </a:solidFill>
                <a:latin typeface="Arial"/>
              </a:rPr>
              <a:t>0 governance regressions; cache-hit drop ≤ X%</a:t>
            </a:r>
          </a:p>
        </p:txBody>
      </p:sp>
      <p:cxnSp>
        <p:nvCxnSpPr>
          <p:cNvPr id="23" name="Connector 22"/>
          <p:cNvCxnSpPr/>
          <p:nvPr/>
        </p:nvCxnSpPr>
        <p:spPr>
          <a:xfrm>
            <a:off x="9464039" y="1645920"/>
            <a:ext cx="100584" cy="0"/>
          </a:xfrm>
          <a:prstGeom prst="line">
            <a:avLst/>
          </a:prstGeom>
          <a:ln w="1905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564624" y="1371600"/>
            <a:ext cx="2176272" cy="548640"/>
          </a:xfrm>
          <a:prstGeom prst="rect">
            <a:avLst/>
          </a:prstGeom>
          <a:solidFill>
            <a:srgbClr val="EE0000"/>
          </a:solidFill>
          <a:ln w="952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l">
              <a:spcAft>
                <a:spcPts val="200"/>
              </a:spcAft>
            </a:pPr>
            <a:r>
              <a:rPr sz="1200" b="1">
                <a:solidFill>
                  <a:srgbClr val="FFFFFF"/>
                </a:solidFill>
                <a:latin typeface="Arial"/>
              </a:rPr>
              <a:t>5  GA</a:t>
            </a:r>
          </a:p>
        </p:txBody>
      </p:sp>
      <p:sp>
        <p:nvSpPr>
          <p:cNvPr id="25" name="Rectangle 24"/>
          <p:cNvSpPr/>
          <p:nvPr/>
        </p:nvSpPr>
        <p:spPr>
          <a:xfrm>
            <a:off x="9564624" y="1920240"/>
            <a:ext cx="2176272" cy="114300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200"/>
              </a:spcAft>
            </a:pPr>
            <a:r>
              <a:rPr sz="950" b="0">
                <a:solidFill>
                  <a:srgbClr val="333333"/>
                </a:solidFill>
                <a:latin typeface="Arial"/>
              </a:rPr>
              <a:t>promote to all aliases; keep the previous config as rollback</a:t>
            </a:r>
          </a:p>
        </p:txBody>
      </p:sp>
      <p:sp>
        <p:nvSpPr>
          <p:cNvPr id="26" name="Rectangle 25"/>
          <p:cNvSpPr/>
          <p:nvPr/>
        </p:nvSpPr>
        <p:spPr>
          <a:xfrm>
            <a:off x="9564624" y="3154680"/>
            <a:ext cx="2176272" cy="594360"/>
          </a:xfrm>
          <a:prstGeom prst="rect">
            <a:avLst/>
          </a:prstGeom>
          <a:solidFill>
            <a:srgbClr val="F6F6F6"/>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100"/>
              </a:spcAft>
            </a:pPr>
            <a:r>
              <a:rPr sz="850" b="1">
                <a:solidFill>
                  <a:srgbClr val="747676"/>
                </a:solidFill>
                <a:latin typeface="Arial"/>
              </a:rPr>
              <a:t>Gate · target (TBD by team)</a:t>
            </a:r>
          </a:p>
          <a:p>
            <a:pPr algn="l">
              <a:spcAft>
                <a:spcPts val="100"/>
              </a:spcAft>
            </a:pPr>
            <a:r>
              <a:rPr sz="950" b="1">
                <a:solidFill>
                  <a:srgbClr val="000000"/>
                </a:solidFill>
                <a:latin typeface="Arial"/>
              </a:rPr>
              <a:t>rollback ≤ 5 min</a:t>
            </a:r>
          </a:p>
        </p:txBody>
      </p:sp>
      <p:sp>
        <p:nvSpPr>
          <p:cNvPr id="27" name="Rectangle 26"/>
          <p:cNvSpPr/>
          <p:nvPr/>
        </p:nvSpPr>
        <p:spPr>
          <a:xfrm>
            <a:off x="457200" y="4069080"/>
            <a:ext cx="11274552" cy="2240280"/>
          </a:xfrm>
          <a:prstGeom prst="rect">
            <a:avLst/>
          </a:prstGeom>
          <a:solidFill>
            <a:srgbClr val="FFFFFF"/>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4160520"/>
            <a:ext cx="3657600" cy="274320"/>
          </a:xfrm>
          <a:prstGeom prst="rect">
            <a:avLst/>
          </a:prstGeom>
          <a:noFill/>
        </p:spPr>
        <p:txBody>
          <a:bodyPr wrap="square" lIns="0" rIns="0" tIns="0" bIns="0" anchor="t">
            <a:noAutofit/>
          </a:bodyPr>
          <a:lstStyle/>
          <a:p>
            <a:pPr>
              <a:spcAft>
                <a:spcPts val="400"/>
              </a:spcAft>
            </a:pPr>
            <a:r>
              <a:rPr sz="1300" b="1">
                <a:solidFill>
                  <a:srgbClr val="000000"/>
                </a:solidFill>
                <a:latin typeface="Arial"/>
              </a:rPr>
              <a:t>Drift freeze loop (after GA)</a:t>
            </a:r>
          </a:p>
        </p:txBody>
      </p:sp>
      <p:sp>
        <p:nvSpPr>
          <p:cNvPr id="29" name="Rectangle 28"/>
          <p:cNvSpPr/>
          <p:nvPr/>
        </p:nvSpPr>
        <p:spPr>
          <a:xfrm>
            <a:off x="640080" y="4663440"/>
            <a:ext cx="2423160" cy="118872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50" b="1">
                <a:solidFill>
                  <a:srgbClr val="000000"/>
                </a:solidFill>
                <a:latin typeface="Arial"/>
              </a:rPr>
              <a:t>Per-decision OTel</a:t>
            </a:r>
          </a:p>
          <a:p>
            <a:pPr algn="ctr">
              <a:spcAft>
                <a:spcPts val="200"/>
              </a:spcAft>
            </a:pPr>
            <a:r>
              <a:rPr sz="900" b="0">
                <a:solidFill>
                  <a:srgbClr val="000000"/>
                </a:solidFill>
                <a:latin typeface="Arial"/>
              </a:rPr>
              <a:t>gen_ai.evaluation.result per routed request</a:t>
            </a:r>
          </a:p>
        </p:txBody>
      </p:sp>
      <p:cxnSp>
        <p:nvCxnSpPr>
          <p:cNvPr id="30" name="Connector 29"/>
          <p:cNvCxnSpPr/>
          <p:nvPr/>
        </p:nvCxnSpPr>
        <p:spPr>
          <a:xfrm>
            <a:off x="3063239" y="5257800"/>
            <a:ext cx="320041" cy="0"/>
          </a:xfrm>
          <a:prstGeom prst="line">
            <a:avLst/>
          </a:prstGeom>
          <a:ln w="1905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383280" y="4663440"/>
            <a:ext cx="2423160" cy="1188720"/>
          </a:xfrm>
          <a:prstGeom prst="rect">
            <a:avLst/>
          </a:prstGeom>
          <a:solidFill>
            <a:srgbClr val="FFFFFF"/>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50" b="1">
                <a:solidFill>
                  <a:srgbClr val="000000"/>
                </a:solidFill>
                <a:latin typeface="Arial"/>
              </a:rPr>
              <a:t>Galileo</a:t>
            </a:r>
          </a:p>
          <a:p>
            <a:pPr algn="ctr">
              <a:spcAft>
                <a:spcPts val="200"/>
              </a:spcAft>
            </a:pPr>
            <a:r>
              <a:rPr sz="900" b="0">
                <a:solidFill>
                  <a:srgbClr val="000000"/>
                </a:solidFill>
                <a:latin typeface="Arial"/>
              </a:rPr>
              <a:t>live judge win-rate per slice (task × length bucket)</a:t>
            </a:r>
          </a:p>
        </p:txBody>
      </p:sp>
      <p:cxnSp>
        <p:nvCxnSpPr>
          <p:cNvPr id="32" name="Connector 31"/>
          <p:cNvCxnSpPr/>
          <p:nvPr/>
        </p:nvCxnSpPr>
        <p:spPr>
          <a:xfrm>
            <a:off x="5806440" y="5257800"/>
            <a:ext cx="320040" cy="0"/>
          </a:xfrm>
          <a:prstGeom prst="line">
            <a:avLst/>
          </a:prstGeom>
          <a:ln w="1905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6126480" y="4663440"/>
            <a:ext cx="2423160" cy="1188720"/>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50" b="1">
                <a:solidFill>
                  <a:srgbClr val="FFFFFF"/>
                </a:solidFill>
                <a:latin typeface="Arial"/>
              </a:rPr>
              <a:t>Check</a:t>
            </a:r>
          </a:p>
          <a:p>
            <a:pPr algn="ctr">
              <a:spcAft>
                <a:spcPts val="200"/>
              </a:spcAft>
            </a:pPr>
            <a:r>
              <a:rPr sz="900" b="0">
                <a:solidFill>
                  <a:srgbClr val="FFFFFF"/>
                </a:solidFill>
                <a:latin typeface="Arial"/>
              </a:rPr>
              <a:t>win-rate &lt; θ − margin ?</a:t>
            </a:r>
          </a:p>
        </p:txBody>
      </p:sp>
      <p:cxnSp>
        <p:nvCxnSpPr>
          <p:cNvPr id="34" name="Connector 33"/>
          <p:cNvCxnSpPr/>
          <p:nvPr/>
        </p:nvCxnSpPr>
        <p:spPr>
          <a:xfrm>
            <a:off x="8549640" y="5257800"/>
            <a:ext cx="320040" cy="0"/>
          </a:xfrm>
          <a:prstGeom prst="line">
            <a:avLst/>
          </a:prstGeom>
          <a:ln w="1905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8869680" y="4663440"/>
            <a:ext cx="2423160" cy="1188720"/>
          </a:xfrm>
          <a:prstGeom prst="rect">
            <a:avLst/>
          </a:prstGeom>
          <a:solidFill>
            <a:srgbClr val="EE0000"/>
          </a:solidFill>
          <a:ln w="952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50" b="1">
                <a:solidFill>
                  <a:srgbClr val="FFFFFF"/>
                </a:solidFill>
                <a:latin typeface="Arial"/>
              </a:rPr>
              <a:t>Freeze slice</a:t>
            </a:r>
          </a:p>
          <a:p>
            <a:pPr algn="ctr">
              <a:spcAft>
                <a:spcPts val="200"/>
              </a:spcAft>
            </a:pPr>
            <a:r>
              <a:rPr sz="900" b="0">
                <a:solidFill>
                  <a:srgbClr val="FFFFFF"/>
                </a:solidFill>
                <a:latin typeface="Arial"/>
              </a:rPr>
              <a:t>route that slice up a tier; open a recalibration PR</a:t>
            </a:r>
          </a:p>
        </p:txBody>
      </p:sp>
      <p:sp>
        <p:nvSpPr>
          <p:cNvPr id="36" name="TextBox 35"/>
          <p:cNvSpPr txBox="1"/>
          <p:nvPr/>
        </p:nvSpPr>
        <p:spPr>
          <a:xfrm>
            <a:off x="8915400" y="4160520"/>
            <a:ext cx="2697480" cy="365760"/>
          </a:xfrm>
          <a:prstGeom prst="rect">
            <a:avLst/>
          </a:prstGeom>
          <a:noFill/>
        </p:spPr>
        <p:txBody>
          <a:bodyPr wrap="square" lIns="0" rIns="0" tIns="0" bIns="0" anchor="t">
            <a:noAutofit/>
          </a:bodyPr>
          <a:lstStyle/>
          <a:p>
            <a:pPr algn="r">
              <a:spcAft>
                <a:spcPts val="400"/>
              </a:spcAft>
            </a:pPr>
            <a:r>
              <a:rPr sz="950" b="0">
                <a:solidFill>
                  <a:srgbClr val="747676"/>
                </a:solidFill>
                <a:latin typeface="Arial"/>
              </a:rPr>
              <a:t>monthly recalibration is routine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POC PLAN</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Start the POC in eight weeks: the architect sets the bar and approves cells, the dev team builds the harness and runs it</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research §8. Every success-criteria number is a placeholder target (TBD by team), not a commitment. Week numbers count from POC kick-off.</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14</a:t>
            </a:r>
          </a:p>
        </p:txBody>
      </p:sp>
      <p:sp>
        <p:nvSpPr>
          <p:cNvPr id="8" name="TextBox 7"/>
          <p:cNvSpPr txBox="1"/>
          <p:nvPr/>
        </p:nvSpPr>
        <p:spPr>
          <a:xfrm>
            <a:off x="457200" y="1298448"/>
            <a:ext cx="11247120" cy="274320"/>
          </a:xfrm>
          <a:prstGeom prst="rect">
            <a:avLst/>
          </a:prstGeom>
          <a:noFill/>
        </p:spPr>
        <p:txBody>
          <a:bodyPr wrap="square" lIns="0" rIns="0" tIns="0" bIns="0" anchor="t">
            <a:noAutofit/>
          </a:bodyPr>
          <a:lstStyle/>
          <a:p>
            <a:pPr>
              <a:spcAft>
                <a:spcPts val="400"/>
              </a:spcAft>
            </a:pPr>
            <a:r>
              <a:rPr sz="1050" b="1">
                <a:solidFill>
                  <a:srgbClr val="000000"/>
                </a:solidFill>
                <a:latin typeface="Arial"/>
              </a:rPr>
              <a:t>First week: pin 1.106.2 by digest · register jev-decision-v1, kairos-embed and OpenJev-4B · create the kairos-auto alias · agree tier definitions.</a:t>
            </a:r>
          </a:p>
        </p:txBody>
      </p:sp>
      <p:graphicFrame>
        <p:nvGraphicFramePr>
          <p:cNvPr id="9" name="Table 8"/>
          <p:cNvGraphicFramePr>
            <a:graphicFrameLocks noGrp="1"/>
          </p:cNvGraphicFramePr>
          <p:nvPr/>
        </p:nvGraphicFramePr>
        <p:xfrm>
          <a:off x="457200" y="1691640"/>
          <a:ext cx="11274552" cy="3931920"/>
        </p:xfrm>
        <a:graphic>
          <a:graphicData uri="http://schemas.openxmlformats.org/drawingml/2006/table">
            <a:tbl>
              <a:tblPr firstRow="0" bandRow="0">
                <a:tableStyleId>{5940675A-B579-460E-94D1-54222C63F5DA}</a:tableStyleId>
              </a:tblPr>
              <a:tblGrid>
                <a:gridCol w="1920240"/>
                <a:gridCol w="2468880"/>
                <a:gridCol w="3291840"/>
                <a:gridCol w="3593592"/>
              </a:tblGrid>
              <a:tr h="365760">
                <a:tc>
                  <a:txBody>
                    <a:bodyPr wrap="square">
                      <a:noAutofit/>
                    </a:bodyPr>
                    <a:lstStyle/>
                    <a:p>
                      <a:pPr>
                        <a:spcAft>
                          <a:spcPts val="0"/>
                        </a:spcAft>
                      </a:pPr>
                      <a:r>
                        <a:rPr sz="1000" b="1">
                          <a:solidFill>
                            <a:srgbClr val="FFFFFF"/>
                          </a:solidFill>
                          <a:latin typeface="Arial"/>
                        </a:rPr>
                        <a:t>Phase</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1000" b="1">
                          <a:solidFill>
                            <a:srgbClr val="FFFFFF"/>
                          </a:solidFill>
                          <a:latin typeface="Arial"/>
                        </a:rPr>
                        <a:t>Architect (Varun)</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1000" b="1">
                          <a:solidFill>
                            <a:srgbClr val="FFFFFF"/>
                          </a:solidFill>
                          <a:latin typeface="Arial"/>
                        </a:rPr>
                        <a:t>Dev team (incl. Dex)</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1000" b="1">
                          <a:solidFill>
                            <a:srgbClr val="FFFFFF"/>
                          </a:solidFill>
                          <a:latin typeface="Arial"/>
                        </a:rPr>
                        <a:t>Success criteria · target (TBD by team)</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r>
              <a:tr h="713232">
                <a:tc>
                  <a:txBody>
                    <a:bodyPr wrap="square">
                      <a:noAutofit/>
                    </a:bodyPr>
                    <a:lstStyle/>
                    <a:p>
                      <a:pPr>
                        <a:spcAft>
                          <a:spcPts val="0"/>
                        </a:spcAft>
                      </a:pPr>
                      <a:r>
                        <a:rPr sz="1000" b="1">
                          <a:solidFill>
                            <a:srgbClr val="000000"/>
                          </a:solidFill>
                          <a:latin typeface="Arial"/>
                        </a:rPr>
                        <a:t>P0  Setup</a:t>
                      </a:r>
                    </a:p>
                    <a:p>
                      <a:pPr>
                        <a:spcAft>
                          <a:spcPts val="0"/>
                        </a:spcAft>
                      </a:pPr>
                      <a:r>
                        <a:rPr sz="1000" b="1">
                          <a:solidFill>
                            <a:srgbClr val="000000"/>
                          </a:solidFill>
                          <a:latin typeface="Arial"/>
                        </a:rPr>
                        <a:t>wk 0–1</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333333"/>
                          </a:solidFill>
                          <a:latin typeface="Arial"/>
                        </a:rPr>
                        <a:t>Tier definitions, model allow-list, licence decision</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333333"/>
                          </a:solidFill>
                          <a:latin typeface="Arial"/>
                        </a:rPr>
                        <a:t>Pin 1.106.2; register Jev decision v1 + embeddings + OpenJev-4B; kairos-auto alias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000000"/>
                          </a:solidFill>
                          <a:latin typeface="Arial"/>
                        </a:rPr>
                        <a:t>validate_complexity_router_config passes; test_routing returns cause= for 100 samples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713232">
                <a:tc>
                  <a:txBody>
                    <a:bodyPr wrap="square">
                      <a:noAutofit/>
                    </a:bodyPr>
                    <a:lstStyle/>
                    <a:p>
                      <a:pPr>
                        <a:spcAft>
                          <a:spcPts val="0"/>
                        </a:spcAft>
                      </a:pPr>
                      <a:r>
                        <a:rPr sz="1000" b="1">
                          <a:solidFill>
                            <a:srgbClr val="000000"/>
                          </a:solidFill>
                          <a:latin typeface="Arial"/>
                        </a:rPr>
                        <a:t>P1  Golden set + heatmaps</a:t>
                      </a:r>
                    </a:p>
                    <a:p>
                      <a:pPr>
                        <a:spcAft>
                          <a:spcPts val="0"/>
                        </a:spcAft>
                      </a:pPr>
                      <a:r>
                        <a:rPr sz="1000" b="1">
                          <a:solidFill>
                            <a:srgbClr val="000000"/>
                          </a:solidFill>
                          <a:latin typeface="Arial"/>
                        </a:rPr>
                        <a:t>wk 1–3</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333333"/>
                          </a:solidFill>
                          <a:latin typeface="Arial"/>
                        </a:rPr>
                        <a:t>Strata, metrics, quality bar</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333333"/>
                          </a:solidFill>
                          <a:latin typeface="Arial"/>
                        </a:rPr>
                        <a:t>Trace export and redaction, replay harness, NIAH / RULER / NoLiMa jobs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000000"/>
                          </a:solidFill>
                          <a:latin typeface="Arial"/>
                        </a:rPr>
                        <a:t>≥2k labelled prompts across all length buckets; heatmaps for ≥3 tier models; judge–human agreement ≥ agreed bar (e.g. κ ≥0.6)</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713232">
                <a:tc>
                  <a:txBody>
                    <a:bodyPr wrap="square">
                      <a:noAutofit/>
                    </a:bodyPr>
                    <a:lstStyle/>
                    <a:p>
                      <a:pPr>
                        <a:spcAft>
                          <a:spcPts val="0"/>
                        </a:spcAft>
                      </a:pPr>
                      <a:r>
                        <a:rPr sz="1000" b="1">
                          <a:solidFill>
                            <a:srgbClr val="000000"/>
                          </a:solidFill>
                          <a:latin typeface="Arial"/>
                        </a:rPr>
                        <a:t>P2  Classifier bake-off</a:t>
                      </a:r>
                    </a:p>
                    <a:p>
                      <a:pPr>
                        <a:spcAft>
                          <a:spcPts val="0"/>
                        </a:spcAft>
                      </a:pPr>
                      <a:r>
                        <a:rPr sz="1000" b="1">
                          <a:solidFill>
                            <a:srgbClr val="000000"/>
                          </a:solidFill>
                          <a:latin typeface="Arial"/>
                        </a:rPr>
                        <a:t>wk 3–4</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333333"/>
                          </a:solidFill>
                          <a:latin typeface="Arial"/>
                        </a:rPr>
                        <a:t>Choose primary + fallback</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333333"/>
                          </a:solidFill>
                          <a:latin typeface="Arial"/>
                        </a:rPr>
                        <a:t>Run 4 classifiers on the same set</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000000"/>
                          </a:solidFill>
                          <a:latin typeface="Arial"/>
                        </a:rPr>
                        <a:t>Jev decision v1 routing accuracy ≥ OpenJev-4B and heuristic; classifier p95 ≤ e.g. 150 ms and ≤ agreed % of spend</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713232">
                <a:tc>
                  <a:txBody>
                    <a:bodyPr wrap="square">
                      <a:noAutofit/>
                    </a:bodyPr>
                    <a:lstStyle/>
                    <a:p>
                      <a:pPr>
                        <a:spcAft>
                          <a:spcPts val="0"/>
                        </a:spcAft>
                      </a:pPr>
                      <a:r>
                        <a:rPr sz="1000" b="1">
                          <a:solidFill>
                            <a:srgbClr val="000000"/>
                          </a:solidFill>
                          <a:latin typeface="Arial"/>
                        </a:rPr>
                        <a:t>P3  Calibrate</a:t>
                      </a:r>
                    </a:p>
                    <a:p>
                      <a:pPr>
                        <a:spcAft>
                          <a:spcPts val="0"/>
                        </a:spcAft>
                      </a:pPr>
                      <a:r>
                        <a:rPr sz="1000" b="1">
                          <a:solidFill>
                            <a:srgbClr val="000000"/>
                          </a:solidFill>
                          <a:latin typeface="Arial"/>
                        </a:rPr>
                        <a:t>wk 4–5</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333333"/>
                          </a:solidFill>
                          <a:latin typeface="Arial"/>
                        </a:rPr>
                        <a:t>Approve certified cells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333333"/>
                          </a:solidFill>
                          <a:latin typeface="Arial"/>
                        </a:rPr>
                        <a:t>Emit artefact, thresholds, keyword rules, downshift plugin</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000000"/>
                          </a:solidFill>
                          <a:latin typeface="Arial"/>
                        </a:rPr>
                        <a:t>Held-out: quality within 2 pts of top tier at ≥30% cost reduction</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713232">
                <a:tc>
                  <a:txBody>
                    <a:bodyPr wrap="square">
                      <a:noAutofit/>
                    </a:bodyPr>
                    <a:lstStyle/>
                    <a:p>
                      <a:pPr>
                        <a:spcAft>
                          <a:spcPts val="0"/>
                        </a:spcAft>
                      </a:pPr>
                      <a:r>
                        <a:rPr sz="1000" b="1">
                          <a:solidFill>
                            <a:srgbClr val="000000"/>
                          </a:solidFill>
                          <a:latin typeface="Arial"/>
                        </a:rPr>
                        <a:t>P4  Shadow + canary</a:t>
                      </a:r>
                    </a:p>
                    <a:p>
                      <a:pPr>
                        <a:spcAft>
                          <a:spcPts val="0"/>
                        </a:spcAft>
                      </a:pPr>
                      <a:r>
                        <a:rPr sz="1000" b="1">
                          <a:solidFill>
                            <a:srgbClr val="000000"/>
                          </a:solidFill>
                          <a:latin typeface="Arial"/>
                        </a:rPr>
                        <a:t>wk 5–8</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333333"/>
                          </a:solidFill>
                          <a:latin typeface="Arial"/>
                        </a:rPr>
                        <a:t>Go / no-go</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333333"/>
                          </a:solidFill>
                          <a:latin typeface="Arial"/>
                        </a:rPr>
                        <a:t>Shadow eval → canary team</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1000" b="0">
                          <a:solidFill>
                            <a:srgbClr val="000000"/>
                          </a:solidFill>
                          <a:latin typeface="Arial"/>
                        </a:rPr>
                        <a:t>Shadow win-or-tie ≥ target; 0 governance regressions; no cache-hit drop &gt; X%; rollback ≤ 5 min</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bl>
          </a:graphicData>
        </a:graphic>
      </p:graphicFrame>
      <p:sp>
        <p:nvSpPr>
          <p:cNvPr id="10" name="TextBox 9"/>
          <p:cNvSpPr txBox="1"/>
          <p:nvPr/>
        </p:nvSpPr>
        <p:spPr>
          <a:xfrm>
            <a:off x="457200" y="5879592"/>
            <a:ext cx="822960" cy="320040"/>
          </a:xfrm>
          <a:prstGeom prst="rect">
            <a:avLst/>
          </a:prstGeom>
          <a:noFill/>
        </p:spPr>
        <p:txBody>
          <a:bodyPr wrap="square" lIns="0" rIns="0" tIns="0" bIns="0" anchor="ctr">
            <a:noAutofit/>
          </a:bodyPr>
          <a:lstStyle/>
          <a:p>
            <a:pPr>
              <a:spcAft>
                <a:spcPts val="400"/>
              </a:spcAft>
            </a:pPr>
            <a:r>
              <a:rPr sz="900" b="0">
                <a:solidFill>
                  <a:srgbClr val="747676"/>
                </a:solidFill>
                <a:latin typeface="Arial"/>
              </a:rPr>
              <a:t>weeks</a:t>
            </a:r>
          </a:p>
        </p:txBody>
      </p:sp>
      <p:sp>
        <p:nvSpPr>
          <p:cNvPr id="11" name="Rectangle 10"/>
          <p:cNvSpPr/>
          <p:nvPr/>
        </p:nvSpPr>
        <p:spPr>
          <a:xfrm>
            <a:off x="1207008" y="5897880"/>
            <a:ext cx="1280160" cy="29260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50" b="1">
                <a:solidFill>
                  <a:srgbClr val="FFFFFF"/>
                </a:solidFill>
                <a:latin typeface="Arial"/>
              </a:rPr>
              <a:t>P0</a:t>
            </a:r>
          </a:p>
        </p:txBody>
      </p:sp>
      <p:sp>
        <p:nvSpPr>
          <p:cNvPr id="12" name="Rectangle 11"/>
          <p:cNvSpPr/>
          <p:nvPr/>
        </p:nvSpPr>
        <p:spPr>
          <a:xfrm>
            <a:off x="2523744" y="5897880"/>
            <a:ext cx="2596896" cy="292608"/>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50" b="1">
                <a:solidFill>
                  <a:srgbClr val="FFFFFF"/>
                </a:solidFill>
                <a:latin typeface="Arial"/>
              </a:rPr>
              <a:t>P1</a:t>
            </a:r>
          </a:p>
        </p:txBody>
      </p:sp>
      <p:sp>
        <p:nvSpPr>
          <p:cNvPr id="13" name="Rectangle 12"/>
          <p:cNvSpPr/>
          <p:nvPr/>
        </p:nvSpPr>
        <p:spPr>
          <a:xfrm>
            <a:off x="5157216" y="5897880"/>
            <a:ext cx="1280160" cy="29260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50" b="1">
                <a:solidFill>
                  <a:srgbClr val="FFFFFF"/>
                </a:solidFill>
                <a:latin typeface="Arial"/>
              </a:rPr>
              <a:t>P2</a:t>
            </a:r>
          </a:p>
        </p:txBody>
      </p:sp>
      <p:sp>
        <p:nvSpPr>
          <p:cNvPr id="14" name="Rectangle 13"/>
          <p:cNvSpPr/>
          <p:nvPr/>
        </p:nvSpPr>
        <p:spPr>
          <a:xfrm>
            <a:off x="6473951" y="5897880"/>
            <a:ext cx="1280160" cy="292608"/>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50" b="1">
                <a:solidFill>
                  <a:srgbClr val="FFFFFF"/>
                </a:solidFill>
                <a:latin typeface="Arial"/>
              </a:rPr>
              <a:t>P3</a:t>
            </a:r>
          </a:p>
        </p:txBody>
      </p:sp>
      <p:sp>
        <p:nvSpPr>
          <p:cNvPr id="15" name="Rectangle 14"/>
          <p:cNvSpPr/>
          <p:nvPr/>
        </p:nvSpPr>
        <p:spPr>
          <a:xfrm>
            <a:off x="7790688" y="5897880"/>
            <a:ext cx="3913632" cy="292608"/>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950" b="1">
                <a:solidFill>
                  <a:srgbClr val="FFFFFF"/>
                </a:solidFill>
                <a:latin typeface="Arial"/>
              </a:rPr>
              <a:t>P4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ENTERPRISE LEARNINGS → ROADMAP</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Roadmap Q4 2026 – Q3 2027: each quarter enables specific router features, and each item traces to a learning</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research §7 · Pfizer: docs.litellm.ai/blog/pfizer-gateway-performance-and-resiliency. Quarter scope is a plan, not a commitment.</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15</a:t>
            </a:r>
          </a:p>
        </p:txBody>
      </p:sp>
      <p:cxnSp>
        <p:nvCxnSpPr>
          <p:cNvPr id="8" name="Connector 7"/>
          <p:cNvCxnSpPr/>
          <p:nvPr/>
        </p:nvCxnSpPr>
        <p:spPr>
          <a:xfrm>
            <a:off x="457200" y="1536192"/>
            <a:ext cx="11274552" cy="0"/>
          </a:xfrm>
          <a:prstGeom prst="line">
            <a:avLst/>
          </a:prstGeom>
          <a:ln w="19050">
            <a:solidFill>
              <a:srgbClr val="7476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57200" y="1463040"/>
            <a:ext cx="146304" cy="146304"/>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353312"/>
            <a:ext cx="2468880" cy="365760"/>
          </a:xfrm>
          <a:prstGeom prst="rect">
            <a:avLst/>
          </a:prstGeom>
          <a:noFill/>
        </p:spPr>
        <p:txBody>
          <a:bodyPr wrap="square" lIns="0" rIns="0" tIns="0" bIns="0" anchor="ctr">
            <a:noAutofit/>
          </a:bodyPr>
          <a:lstStyle/>
          <a:p>
            <a:pPr>
              <a:spcAft>
                <a:spcPts val="400"/>
              </a:spcAft>
            </a:pPr>
            <a:r>
              <a:rPr sz="1200" b="1">
                <a:solidFill>
                  <a:srgbClr val="000000"/>
                </a:solidFill>
                <a:latin typeface="Arial"/>
              </a:rPr>
              <a:t>Q4 2026  ·  Foundation</a:t>
            </a:r>
          </a:p>
        </p:txBody>
      </p:sp>
      <p:sp>
        <p:nvSpPr>
          <p:cNvPr id="11" name="TextBox 10"/>
          <p:cNvSpPr txBox="1"/>
          <p:nvPr/>
        </p:nvSpPr>
        <p:spPr>
          <a:xfrm>
            <a:off x="457200" y="1783080"/>
            <a:ext cx="2670048" cy="1051560"/>
          </a:xfrm>
          <a:prstGeom prst="rect">
            <a:avLst/>
          </a:prstGeom>
          <a:noFill/>
        </p:spPr>
        <p:txBody>
          <a:bodyPr wrap="square" lIns="0" rIns="0" tIns="0" bIns="0" anchor="t">
            <a:noAutofit/>
          </a:bodyPr>
          <a:lstStyle/>
          <a:p>
            <a:pPr>
              <a:spcAft>
                <a:spcPts val="200"/>
              </a:spcAft>
            </a:pPr>
            <a:r>
              <a:rPr sz="950" b="0">
                <a:solidFill>
                  <a:srgbClr val="333333"/>
                </a:solidFill>
                <a:latin typeface="Arial"/>
              </a:rPr>
              <a:t>– Pin 1.106.2 by digest</a:t>
            </a:r>
          </a:p>
          <a:p>
            <a:pPr>
              <a:spcAft>
                <a:spcPts val="200"/>
              </a:spcAft>
            </a:pPr>
            <a:r>
              <a:rPr sz="950" b="0">
                <a:solidFill>
                  <a:srgbClr val="333333"/>
                </a:solidFill>
                <a:latin typeface="Arial"/>
              </a:rPr>
              <a:t>– OSS classifier with Jev decision v1</a:t>
            </a:r>
          </a:p>
          <a:p>
            <a:pPr>
              <a:spcAft>
                <a:spcPts val="200"/>
              </a:spcAft>
            </a:pPr>
            <a:r>
              <a:rPr sz="950" b="0">
                <a:solidFill>
                  <a:srgbClr val="333333"/>
                </a:solidFill>
                <a:latin typeface="Arial"/>
              </a:rPr>
              <a:t>– Heatmap v1 (NIAH + RULER) on 3 tiers</a:t>
            </a:r>
          </a:p>
          <a:p>
            <a:pPr>
              <a:spcAft>
                <a:spcPts val="200"/>
              </a:spcAft>
            </a:pPr>
            <a:r>
              <a:rPr sz="950" b="0">
                <a:solidFill>
                  <a:srgbClr val="333333"/>
                </a:solidFill>
                <a:latin typeface="Arial"/>
              </a:rPr>
              <a:t>– Shadow evals for 2 pilot teams</a:t>
            </a:r>
          </a:p>
        </p:txBody>
      </p:sp>
      <p:sp>
        <p:nvSpPr>
          <p:cNvPr id="12" name="Rectangle 11"/>
          <p:cNvSpPr/>
          <p:nvPr/>
        </p:nvSpPr>
        <p:spPr>
          <a:xfrm>
            <a:off x="457200" y="2880360"/>
            <a:ext cx="2670048" cy="502920"/>
          </a:xfrm>
          <a:prstGeom prst="rect">
            <a:avLst/>
          </a:prstGeom>
          <a:solidFill>
            <a:srgbClr val="F6F6F6"/>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0"/>
              </a:spcAft>
            </a:pPr>
            <a:r>
              <a:rPr sz="850" b="1">
                <a:solidFill>
                  <a:srgbClr val="EE0000"/>
                </a:solidFill>
                <a:latin typeface="Arial"/>
              </a:rPr>
              <a:t>Enable: </a:t>
            </a:r>
          </a:p>
          <a:p>
            <a:pPr algn="l">
              <a:spcAft>
                <a:spcPts val="0"/>
              </a:spcAft>
            </a:pPr>
            <a:r>
              <a:rPr sz="850" b="0">
                <a:solidFill>
                  <a:srgbClr val="000000"/>
                </a:solidFill>
                <a:latin typeface="Arial"/>
              </a:rPr>
              <a:t>oss_classifier · heuristic_first · session_affinity · enable_context_window_escalation · shadow_eval</a:t>
            </a:r>
          </a:p>
        </p:txBody>
      </p:sp>
      <p:sp>
        <p:nvSpPr>
          <p:cNvPr id="13" name="Oval 12"/>
          <p:cNvSpPr/>
          <p:nvPr/>
        </p:nvSpPr>
        <p:spPr>
          <a:xfrm>
            <a:off x="3300984" y="1463040"/>
            <a:ext cx="146304" cy="146304"/>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9584" y="1353312"/>
            <a:ext cx="2468880" cy="365760"/>
          </a:xfrm>
          <a:prstGeom prst="rect">
            <a:avLst/>
          </a:prstGeom>
          <a:noFill/>
        </p:spPr>
        <p:txBody>
          <a:bodyPr wrap="square" lIns="0" rIns="0" tIns="0" bIns="0" anchor="ctr">
            <a:noAutofit/>
          </a:bodyPr>
          <a:lstStyle/>
          <a:p>
            <a:pPr>
              <a:spcAft>
                <a:spcPts val="400"/>
              </a:spcAft>
            </a:pPr>
            <a:r>
              <a:rPr sz="1200" b="1">
                <a:solidFill>
                  <a:srgbClr val="000000"/>
                </a:solidFill>
                <a:latin typeface="Arial"/>
              </a:rPr>
              <a:t>Q1 2027  ·  Certified routing</a:t>
            </a:r>
          </a:p>
        </p:txBody>
      </p:sp>
      <p:sp>
        <p:nvSpPr>
          <p:cNvPr id="15" name="TextBox 14"/>
          <p:cNvSpPr txBox="1"/>
          <p:nvPr/>
        </p:nvSpPr>
        <p:spPr>
          <a:xfrm>
            <a:off x="3300984" y="1783080"/>
            <a:ext cx="2670048" cy="1051560"/>
          </a:xfrm>
          <a:prstGeom prst="rect">
            <a:avLst/>
          </a:prstGeom>
          <a:noFill/>
        </p:spPr>
        <p:txBody>
          <a:bodyPr wrap="square" lIns="0" rIns="0" tIns="0" bIns="0" anchor="t">
            <a:noAutofit/>
          </a:bodyPr>
          <a:lstStyle/>
          <a:p>
            <a:pPr>
              <a:spcAft>
                <a:spcPts val="200"/>
              </a:spcAft>
            </a:pPr>
            <a:r>
              <a:rPr sz="950" b="0">
                <a:solidFill>
                  <a:srgbClr val="333333"/>
                </a:solidFill>
                <a:latin typeface="Arial"/>
              </a:rPr>
              <a:t>– heuristic_v2_artifact from golden set</a:t>
            </a:r>
          </a:p>
          <a:p>
            <a:pPr>
              <a:spcAft>
                <a:spcPts val="200"/>
              </a:spcAft>
            </a:pPr>
            <a:r>
              <a:rPr sz="950" b="0">
                <a:solidFill>
                  <a:srgbClr val="333333"/>
                </a:solidFill>
                <a:latin typeface="Arial"/>
              </a:rPr>
              <a:t>– Long-but-easy downshift rules</a:t>
            </a:r>
          </a:p>
          <a:p>
            <a:pPr>
              <a:spcAft>
                <a:spcPts val="200"/>
              </a:spcAft>
            </a:pPr>
            <a:r>
              <a:rPr sz="950" b="0">
                <a:solidFill>
                  <a:srgbClr val="333333"/>
                </a:solidFill>
                <a:latin typeface="Arial"/>
              </a:rPr>
              <a:t>– Playground MVP</a:t>
            </a:r>
          </a:p>
          <a:p>
            <a:pPr>
              <a:spcAft>
                <a:spcPts val="200"/>
              </a:spcAft>
            </a:pPr>
            <a:r>
              <a:rPr sz="950" b="0">
                <a:solidFill>
                  <a:srgbClr val="333333"/>
                </a:solidFill>
                <a:latin typeface="Arial"/>
              </a:rPr>
              <a:t>– OpenJev baseline on Databricks</a:t>
            </a:r>
          </a:p>
          <a:p>
            <a:pPr>
              <a:spcAft>
                <a:spcPts val="200"/>
              </a:spcAft>
            </a:pPr>
            <a:r>
              <a:rPr sz="950" b="0">
                <a:solidFill>
                  <a:srgbClr val="333333"/>
                </a:solidFill>
                <a:latin typeface="Arial"/>
              </a:rPr>
              <a:t>– Galileo drift dashboards</a:t>
            </a:r>
          </a:p>
        </p:txBody>
      </p:sp>
      <p:sp>
        <p:nvSpPr>
          <p:cNvPr id="16" name="Rectangle 15"/>
          <p:cNvSpPr/>
          <p:nvPr/>
        </p:nvSpPr>
        <p:spPr>
          <a:xfrm>
            <a:off x="3300984" y="2880360"/>
            <a:ext cx="2670048" cy="502920"/>
          </a:xfrm>
          <a:prstGeom prst="rect">
            <a:avLst/>
          </a:prstGeom>
          <a:solidFill>
            <a:srgbClr val="F6F6F6"/>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0"/>
              </a:spcAft>
            </a:pPr>
            <a:r>
              <a:rPr sz="850" b="1">
                <a:solidFill>
                  <a:srgbClr val="EE0000"/>
                </a:solidFill>
                <a:latin typeface="Arial"/>
              </a:rPr>
              <a:t>Enable: </a:t>
            </a:r>
          </a:p>
          <a:p>
            <a:pPr algn="l">
              <a:spcAft>
                <a:spcPts val="0"/>
              </a:spcAft>
            </a:pPr>
            <a:r>
              <a:rPr sz="850" b="0">
                <a:solidFill>
                  <a:srgbClr val="000000"/>
                </a:solidFill>
                <a:latin typeface="Arial"/>
              </a:rPr>
              <a:t>heuristic_v2 · classifier_plugin · semantic_keyword_matching</a:t>
            </a:r>
          </a:p>
        </p:txBody>
      </p:sp>
      <p:sp>
        <p:nvSpPr>
          <p:cNvPr id="17" name="Oval 16"/>
          <p:cNvSpPr/>
          <p:nvPr/>
        </p:nvSpPr>
        <p:spPr>
          <a:xfrm>
            <a:off x="6144768" y="1463040"/>
            <a:ext cx="146304" cy="146304"/>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1353312"/>
            <a:ext cx="2468880" cy="365760"/>
          </a:xfrm>
          <a:prstGeom prst="rect">
            <a:avLst/>
          </a:prstGeom>
          <a:noFill/>
        </p:spPr>
        <p:txBody>
          <a:bodyPr wrap="square" lIns="0" rIns="0" tIns="0" bIns="0" anchor="ctr">
            <a:noAutofit/>
          </a:bodyPr>
          <a:lstStyle/>
          <a:p>
            <a:pPr>
              <a:spcAft>
                <a:spcPts val="400"/>
              </a:spcAft>
            </a:pPr>
            <a:r>
              <a:rPr sz="1200" b="1">
                <a:solidFill>
                  <a:srgbClr val="000000"/>
                </a:solidFill>
                <a:latin typeface="Arial"/>
              </a:rPr>
              <a:t>Q2 2027  ·  Self-service</a:t>
            </a:r>
          </a:p>
        </p:txBody>
      </p:sp>
      <p:sp>
        <p:nvSpPr>
          <p:cNvPr id="19" name="TextBox 18"/>
          <p:cNvSpPr txBox="1"/>
          <p:nvPr/>
        </p:nvSpPr>
        <p:spPr>
          <a:xfrm>
            <a:off x="6144768" y="1783080"/>
            <a:ext cx="2670048" cy="1051560"/>
          </a:xfrm>
          <a:prstGeom prst="rect">
            <a:avLst/>
          </a:prstGeom>
          <a:noFill/>
        </p:spPr>
        <p:txBody>
          <a:bodyPr wrap="square" lIns="0" rIns="0" tIns="0" bIns="0" anchor="t">
            <a:noAutofit/>
          </a:bodyPr>
          <a:lstStyle/>
          <a:p>
            <a:pPr>
              <a:spcAft>
                <a:spcPts val="200"/>
              </a:spcAft>
            </a:pPr>
            <a:r>
              <a:rPr sz="950" b="0">
                <a:solidFill>
                  <a:srgbClr val="333333"/>
                </a:solidFill>
                <a:latin typeface="Arial"/>
              </a:rPr>
              <a:t>– Playground-as-a-service for all teams</a:t>
            </a:r>
          </a:p>
          <a:p>
            <a:pPr>
              <a:spcAft>
                <a:spcPts val="200"/>
              </a:spcAft>
            </a:pPr>
            <a:r>
              <a:rPr sz="950" b="0">
                <a:solidFill>
                  <a:srgbClr val="333333"/>
                </a:solidFill>
                <a:latin typeface="Arial"/>
              </a:rPr>
              <a:t>– Adaptive pools</a:t>
            </a:r>
          </a:p>
          <a:p>
            <a:pPr>
              <a:spcAft>
                <a:spcPts val="200"/>
              </a:spcAft>
            </a:pPr>
            <a:r>
              <a:rPr sz="950" b="0">
                <a:solidFill>
                  <a:srgbClr val="333333"/>
                </a:solidFill>
                <a:latin typeface="Arial"/>
              </a:rPr>
              <a:t>– Cache-aware routing, self-hosted vLLM</a:t>
            </a:r>
          </a:p>
          <a:p>
            <a:pPr>
              <a:spcAft>
                <a:spcPts val="200"/>
              </a:spcAft>
            </a:pPr>
            <a:r>
              <a:rPr sz="950" b="0">
                <a:solidFill>
                  <a:srgbClr val="333333"/>
                </a:solidFill>
                <a:latin typeface="Arial"/>
              </a:rPr>
              <a:t>– Monthly auto-recalibration PRs</a:t>
            </a:r>
          </a:p>
        </p:txBody>
      </p:sp>
      <p:sp>
        <p:nvSpPr>
          <p:cNvPr id="20" name="Rectangle 19"/>
          <p:cNvSpPr/>
          <p:nvPr/>
        </p:nvSpPr>
        <p:spPr>
          <a:xfrm>
            <a:off x="6144768" y="2880360"/>
            <a:ext cx="2670048" cy="502920"/>
          </a:xfrm>
          <a:prstGeom prst="rect">
            <a:avLst/>
          </a:prstGeom>
          <a:solidFill>
            <a:srgbClr val="F6F6F6"/>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0"/>
              </a:spcAft>
            </a:pPr>
            <a:r>
              <a:rPr sz="850" b="1">
                <a:solidFill>
                  <a:srgbClr val="EE0000"/>
                </a:solidFill>
                <a:latin typeface="Arial"/>
              </a:rPr>
              <a:t>Enable: </a:t>
            </a:r>
          </a:p>
          <a:p>
            <a:pPr algn="l">
              <a:spcAft>
                <a:spcPts val="0"/>
              </a:spcAft>
            </a:pPr>
            <a:r>
              <a:rPr sz="850" b="0">
                <a:solidFill>
                  <a:srgbClr val="000000"/>
                </a:solidFill>
                <a:latin typeface="Arial"/>
              </a:rPr>
              <a:t>adaptive: true · cache-aware routing [Verify release]</a:t>
            </a:r>
          </a:p>
        </p:txBody>
      </p:sp>
      <p:sp>
        <p:nvSpPr>
          <p:cNvPr id="21" name="Oval 20"/>
          <p:cNvSpPr/>
          <p:nvPr/>
        </p:nvSpPr>
        <p:spPr>
          <a:xfrm>
            <a:off x="8988552" y="1463040"/>
            <a:ext cx="146304" cy="146304"/>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17152" y="1353312"/>
            <a:ext cx="2468880" cy="365760"/>
          </a:xfrm>
          <a:prstGeom prst="rect">
            <a:avLst/>
          </a:prstGeom>
          <a:noFill/>
        </p:spPr>
        <p:txBody>
          <a:bodyPr wrap="square" lIns="0" rIns="0" tIns="0" bIns="0" anchor="ctr">
            <a:noAutofit/>
          </a:bodyPr>
          <a:lstStyle/>
          <a:p>
            <a:pPr>
              <a:spcAft>
                <a:spcPts val="400"/>
              </a:spcAft>
            </a:pPr>
            <a:r>
              <a:rPr sz="1200" b="1">
                <a:solidFill>
                  <a:srgbClr val="000000"/>
                </a:solidFill>
                <a:latin typeface="Arial"/>
              </a:rPr>
              <a:t>Q3 2027  ·  Optimise</a:t>
            </a:r>
          </a:p>
        </p:txBody>
      </p:sp>
      <p:sp>
        <p:nvSpPr>
          <p:cNvPr id="23" name="TextBox 22"/>
          <p:cNvSpPr txBox="1"/>
          <p:nvPr/>
        </p:nvSpPr>
        <p:spPr>
          <a:xfrm>
            <a:off x="8988552" y="1783080"/>
            <a:ext cx="2670048" cy="1051560"/>
          </a:xfrm>
          <a:prstGeom prst="rect">
            <a:avLst/>
          </a:prstGeom>
          <a:noFill/>
        </p:spPr>
        <p:txBody>
          <a:bodyPr wrap="square" lIns="0" rIns="0" tIns="0" bIns="0" anchor="t">
            <a:noAutofit/>
          </a:bodyPr>
          <a:lstStyle/>
          <a:p>
            <a:pPr>
              <a:spcAft>
                <a:spcPts val="200"/>
              </a:spcAft>
            </a:pPr>
            <a:r>
              <a:rPr sz="950" b="0">
                <a:solidFill>
                  <a:srgbClr val="333333"/>
                </a:solidFill>
                <a:latin typeface="Arial"/>
              </a:rPr>
              <a:t>– Router + governance co-policy (sensitive data to approved regions)</a:t>
            </a:r>
          </a:p>
          <a:p>
            <a:pPr>
              <a:spcAft>
                <a:spcPts val="200"/>
              </a:spcAft>
            </a:pPr>
            <a:r>
              <a:rPr sz="950" b="0">
                <a:solidFill>
                  <a:srgbClr val="333333"/>
                </a:solidFill>
                <a:latin typeface="Arial"/>
              </a:rPr>
              <a:t>– Jev 64K native path</a:t>
            </a:r>
          </a:p>
          <a:p>
            <a:pPr>
              <a:spcAft>
                <a:spcPts val="200"/>
              </a:spcAft>
            </a:pPr>
            <a:r>
              <a:rPr sz="950" b="0">
                <a:solidFill>
                  <a:srgbClr val="333333"/>
                </a:solidFill>
                <a:latin typeface="Arial"/>
              </a:rPr>
              <a:t>– Multi-objective (carbon / latency) tiers</a:t>
            </a:r>
          </a:p>
        </p:txBody>
      </p:sp>
      <p:sp>
        <p:nvSpPr>
          <p:cNvPr id="24" name="Rectangle 23"/>
          <p:cNvSpPr/>
          <p:nvPr/>
        </p:nvSpPr>
        <p:spPr>
          <a:xfrm>
            <a:off x="8988552" y="2880360"/>
            <a:ext cx="2670048" cy="502920"/>
          </a:xfrm>
          <a:prstGeom prst="rect">
            <a:avLst/>
          </a:prstGeom>
          <a:solidFill>
            <a:srgbClr val="F6F6F6"/>
          </a:solidFill>
          <a:ln w="9525">
            <a:solidFill>
              <a:srgbClr val="D8DADA"/>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noAutofit/>
          </a:bodyPr>
          <a:lstStyle/>
          <a:p>
            <a:pPr algn="l">
              <a:spcAft>
                <a:spcPts val="0"/>
              </a:spcAft>
            </a:pPr>
            <a:r>
              <a:rPr sz="850" b="1">
                <a:solidFill>
                  <a:srgbClr val="EE0000"/>
                </a:solidFill>
                <a:latin typeface="Arial"/>
              </a:rPr>
              <a:t>Enable: </a:t>
            </a:r>
          </a:p>
          <a:p>
            <a:pPr algn="l">
              <a:spcAft>
                <a:spcPts val="0"/>
              </a:spcAft>
            </a:pPr>
            <a:r>
              <a:rPr sz="850" b="0">
                <a:solidFill>
                  <a:srgbClr val="000000"/>
                </a:solidFill>
                <a:latin typeface="Arial"/>
              </a:rPr>
              <a:t>router plugins + policies co-policy</a:t>
            </a:r>
          </a:p>
        </p:txBody>
      </p:sp>
      <p:sp>
        <p:nvSpPr>
          <p:cNvPr id="25" name="TextBox 24"/>
          <p:cNvSpPr txBox="1"/>
          <p:nvPr/>
        </p:nvSpPr>
        <p:spPr>
          <a:xfrm>
            <a:off x="457200" y="3611880"/>
            <a:ext cx="11247120" cy="274320"/>
          </a:xfrm>
          <a:prstGeom prst="rect">
            <a:avLst/>
          </a:prstGeom>
          <a:noFill/>
        </p:spPr>
        <p:txBody>
          <a:bodyPr wrap="square" lIns="0" rIns="0" tIns="0" bIns="0" anchor="t">
            <a:noAutofit/>
          </a:bodyPr>
          <a:lstStyle/>
          <a:p>
            <a:pPr>
              <a:spcAft>
                <a:spcPts val="400"/>
              </a:spcAft>
            </a:pPr>
            <a:r>
              <a:rPr sz="1200" b="1">
                <a:solidFill>
                  <a:srgbClr val="000000"/>
                </a:solidFill>
                <a:latin typeface="Arial"/>
              </a:rPr>
              <a:t>Enterprise learnings that shaped it</a:t>
            </a:r>
          </a:p>
        </p:txBody>
      </p:sp>
      <p:graphicFrame>
        <p:nvGraphicFramePr>
          <p:cNvPr id="26" name="Table 25"/>
          <p:cNvGraphicFramePr>
            <a:graphicFrameLocks noGrp="1"/>
          </p:cNvGraphicFramePr>
          <p:nvPr/>
        </p:nvGraphicFramePr>
        <p:xfrm>
          <a:off x="457200" y="3931920"/>
          <a:ext cx="11274552" cy="2286000"/>
        </p:xfrm>
        <a:graphic>
          <a:graphicData uri="http://schemas.openxmlformats.org/drawingml/2006/table">
            <a:tbl>
              <a:tblPr firstRow="0" bandRow="0">
                <a:tableStyleId>{5940675A-B579-460E-94D1-54222C63F5DA}</a:tableStyleId>
              </a:tblPr>
              <a:tblGrid>
                <a:gridCol w="6766560"/>
                <a:gridCol w="4507992"/>
              </a:tblGrid>
              <a:tr h="457200">
                <a:tc>
                  <a:txBody>
                    <a:bodyPr wrap="square">
                      <a:noAutofit/>
                    </a:bodyPr>
                    <a:lstStyle/>
                    <a:p>
                      <a:pPr>
                        <a:spcAft>
                          <a:spcPts val="0"/>
                        </a:spcAft>
                      </a:pPr>
                      <a:r>
                        <a:rPr sz="950" b="1">
                          <a:solidFill>
                            <a:srgbClr val="FFFFFF"/>
                          </a:solidFill>
                          <a:latin typeface="Arial"/>
                        </a:rPr>
                        <a:t>Learning (source)</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c>
                  <a:txBody>
                    <a:bodyPr wrap="square">
                      <a:noAutofit/>
                    </a:bodyPr>
                    <a:lstStyle/>
                    <a:p>
                      <a:pPr>
                        <a:spcAft>
                          <a:spcPts val="0"/>
                        </a:spcAft>
                      </a:pPr>
                      <a:r>
                        <a:rPr sz="950" b="1">
                          <a:solidFill>
                            <a:srgbClr val="FFFFFF"/>
                          </a:solidFill>
                          <a:latin typeface="Arial"/>
                        </a:rPr>
                        <a:t>Roadmap item</a:t>
                      </a:r>
                    </a:p>
                  </a:txBody>
                  <a:tcPr marL="54864" marR="54864" marT="27432" marB="27432"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000000"/>
                    </a:solidFill>
                  </a:tcPr>
                </a:tc>
              </a:tr>
              <a:tr h="457200">
                <a:tc>
                  <a:txBody>
                    <a:bodyPr wrap="square">
                      <a:noAutofit/>
                    </a:bodyPr>
                    <a:lstStyle/>
                    <a:p>
                      <a:pPr>
                        <a:spcAft>
                          <a:spcPts val="0"/>
                        </a:spcAft>
                      </a:pPr>
                      <a:r>
                        <a:rPr sz="950" b="1">
                          <a:solidFill>
                            <a:srgbClr val="000000"/>
                          </a:solidFill>
                          <a:latin typeface="Arial"/>
                        </a:rPr>
                        <a:t>Pfizer: CI load test caught ~48% throughput drop (300 → 156 RPS) with 0% HTTP errors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Load-test every version bump; config bisection; throughput SLO gates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57200">
                <a:tc>
                  <a:txBody>
                    <a:bodyPr wrap="square">
                      <a:noAutofit/>
                    </a:bodyPr>
                    <a:lstStyle/>
                    <a:p>
                      <a:pPr>
                        <a:spcAft>
                          <a:spcPts val="0"/>
                        </a:spcAft>
                      </a:pPr>
                      <a:r>
                        <a:rPr sz="950" b="1">
                          <a:solidFill>
                            <a:srgbClr val="000000"/>
                          </a:solidFill>
                          <a:latin typeface="Arial"/>
                        </a:rPr>
                        <a:t>Only the 4 most recent stable lines are supported</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Quarterly upgrades; digest pins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57200">
                <a:tc>
                  <a:txBody>
                    <a:bodyPr wrap="square">
                      <a:noAutofit/>
                    </a:bodyPr>
                    <a:lstStyle/>
                    <a:p>
                      <a:pPr>
                        <a:spcAft>
                          <a:spcPts val="0"/>
                        </a:spcAft>
                      </a:pPr>
                      <a:r>
                        <a:rPr sz="950" b="1">
                          <a:solidFill>
                            <a:srgbClr val="000000"/>
                          </a:solidFill>
                          <a:latin typeface="Arial"/>
                        </a:rPr>
                        <a:t>Production savings study used counterfactual repricing; tier tuning moved 42.9% → 60.7%</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Measure with paired shadow evals + quality; monthly recalibration</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r h="457200">
                <a:tc>
                  <a:txBody>
                    <a:bodyPr wrap="square">
                      <a:noAutofit/>
                    </a:bodyPr>
                    <a:lstStyle/>
                    <a:p>
                      <a:pPr>
                        <a:spcAft>
                          <a:spcPts val="0"/>
                        </a:spcAft>
                      </a:pPr>
                      <a:r>
                        <a:rPr sz="950" b="1">
                          <a:solidFill>
                            <a:srgbClr val="000000"/>
                          </a:solidFill>
                          <a:latin typeface="Arial"/>
                        </a:rPr>
                        <a:t>Classifier context 14 → 78% agreement; caching interacts with routing</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c>
                  <a:txBody>
                    <a:bodyPr wrap="square">
                      <a:noAutofit/>
                    </a:bodyPr>
                    <a:lstStyle/>
                    <a:p>
                      <a:pPr>
                        <a:spcAft>
                          <a:spcPts val="0"/>
                        </a:spcAft>
                      </a:pPr>
                      <a:r>
                        <a:rPr sz="950" b="0">
                          <a:solidFill>
                            <a:srgbClr val="333333"/>
                          </a:solidFill>
                          <a:latin typeface="Arial"/>
                        </a:rPr>
                        <a:t>Set classifier_context_window_size; session_affinity on for agents</a:t>
                      </a:r>
                    </a:p>
                  </a:txBody>
                  <a:tcPr marL="54864" marR="54864" marT="27432" marB="27432" anchor="ctr">
                    <a:lnL w="9525" cmpd="sng">
                      <a:solidFill>
                        <a:srgbClr val="D8DADA"/>
                      </a:solidFill>
                    </a:lnL>
                    <a:lnR w="9525" cmpd="sng">
                      <a:solidFill>
                        <a:srgbClr val="D8DADA"/>
                      </a:solidFill>
                    </a:lnR>
                    <a:lnT w="9525" cmpd="sng">
                      <a:solidFill>
                        <a:srgbClr val="D8DADA"/>
                      </a:solidFill>
                    </a:lnT>
                    <a:lnB w="9525" cmpd="sng">
                      <a:solidFill>
                        <a:srgbClr val="D8DADA"/>
                      </a:solidFill>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OPEN QUESTIONS AND DECISIONS</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Six decisions unblock the POC</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Sources: research §8 (open questions). Decision owners and dates to be agreed in the kick-off.</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16</a:t>
            </a:r>
          </a:p>
        </p:txBody>
      </p:sp>
      <p:sp>
        <p:nvSpPr>
          <p:cNvPr id="15" name="TextBox 14"/>
          <p:cNvSpPr txBox="1"/>
          <p:nvPr/>
        </p:nvSpPr>
        <p:spPr>
          <a:xfrm>
            <a:off x="457200" y="1325880"/>
            <a:ext cx="5394960" cy="274320"/>
          </a:xfrm>
          <a:prstGeom prst="rect">
            <a:avLst/>
          </a:prstGeom>
          <a:noFill/>
        </p:spPr>
        <p:txBody>
          <a:bodyPr wrap="square" lIns="0" rIns="0" tIns="0" bIns="0" anchor="t">
            <a:noAutofit/>
          </a:bodyPr>
          <a:lstStyle/>
          <a:p>
            <a:pPr>
              <a:spcAft>
                <a:spcPts val="400"/>
              </a:spcAft>
            </a:pPr>
            <a:r>
              <a:rPr sz="1200" b="1">
                <a:solidFill>
                  <a:srgbClr val="000000"/>
                </a:solidFill>
                <a:latin typeface="Arial"/>
              </a:rPr>
              <a:t>Open questions</a:t>
            </a:r>
          </a:p>
        </p:txBody>
      </p:sp>
      <p:sp>
        <p:nvSpPr>
          <p:cNvPr id="16" name="Rectangle 15"/>
          <p:cNvSpPr/>
          <p:nvPr/>
        </p:nvSpPr>
        <p:spPr>
          <a:xfrm>
            <a:off x="457200" y="1691640"/>
            <a:ext cx="329184" cy="3291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FFFFFF"/>
                </a:solidFill>
                <a:latin typeface="Arial"/>
              </a:rPr>
              <a:t>1</a:t>
            </a:r>
          </a:p>
        </p:txBody>
      </p:sp>
      <p:sp>
        <p:nvSpPr>
          <p:cNvPr id="17" name="TextBox 16"/>
          <p:cNvSpPr txBox="1"/>
          <p:nvPr/>
        </p:nvSpPr>
        <p:spPr>
          <a:xfrm>
            <a:off x="868680" y="1673352"/>
            <a:ext cx="4983480" cy="731520"/>
          </a:xfrm>
          <a:prstGeom prst="rect">
            <a:avLst/>
          </a:prstGeom>
          <a:noFill/>
        </p:spPr>
        <p:txBody>
          <a:bodyPr wrap="square" lIns="0" rIns="0" tIns="0" bIns="0" anchor="t">
            <a:noAutofit/>
          </a:bodyPr>
          <a:lstStyle/>
          <a:p>
            <a:pPr>
              <a:spcAft>
                <a:spcPts val="400"/>
              </a:spcAft>
            </a:pPr>
            <a:r>
              <a:rPr sz="1100" b="0">
                <a:solidFill>
                  <a:srgbClr val="333333"/>
                </a:solidFill>
                <a:latin typeface="Arial"/>
              </a:rPr>
              <a:t>Is the Enterprise auto_router entitlement needed for custom tier instructions and v2 customisation?</a:t>
            </a:r>
          </a:p>
        </p:txBody>
      </p:sp>
      <p:sp>
        <p:nvSpPr>
          <p:cNvPr id="18" name="Rectangle 17"/>
          <p:cNvSpPr/>
          <p:nvPr/>
        </p:nvSpPr>
        <p:spPr>
          <a:xfrm>
            <a:off x="457200" y="2459736"/>
            <a:ext cx="329184" cy="3291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FFFFFF"/>
                </a:solidFill>
                <a:latin typeface="Arial"/>
              </a:rPr>
              <a:t>2</a:t>
            </a:r>
          </a:p>
        </p:txBody>
      </p:sp>
      <p:sp>
        <p:nvSpPr>
          <p:cNvPr id="19" name="TextBox 18"/>
          <p:cNvSpPr txBox="1"/>
          <p:nvPr/>
        </p:nvSpPr>
        <p:spPr>
          <a:xfrm>
            <a:off x="868680" y="2441448"/>
            <a:ext cx="4983480" cy="731520"/>
          </a:xfrm>
          <a:prstGeom prst="rect">
            <a:avLst/>
          </a:prstGeom>
          <a:noFill/>
        </p:spPr>
        <p:txBody>
          <a:bodyPr wrap="square" lIns="0" rIns="0" tIns="0" bIns="0" anchor="t">
            <a:noAutofit/>
          </a:bodyPr>
          <a:lstStyle/>
          <a:p>
            <a:pPr>
              <a:spcAft>
                <a:spcPts val="400"/>
              </a:spcAft>
            </a:pPr>
            <a:r>
              <a:rPr sz="1100" b="0">
                <a:solidFill>
                  <a:srgbClr val="333333"/>
                </a:solidFill>
                <a:latin typeface="Arial"/>
              </a:rPr>
              <a:t>Is Jev decision v1 served on native vLLM /v1/systemone (Gemma arch support) or a custom System One server?</a:t>
            </a:r>
          </a:p>
        </p:txBody>
      </p:sp>
      <p:sp>
        <p:nvSpPr>
          <p:cNvPr id="20" name="Rectangle 19"/>
          <p:cNvSpPr/>
          <p:nvPr/>
        </p:nvSpPr>
        <p:spPr>
          <a:xfrm>
            <a:off x="457200" y="3227832"/>
            <a:ext cx="329184" cy="3291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FFFFFF"/>
                </a:solidFill>
                <a:latin typeface="Arial"/>
              </a:rPr>
              <a:t>3</a:t>
            </a:r>
          </a:p>
        </p:txBody>
      </p:sp>
      <p:sp>
        <p:nvSpPr>
          <p:cNvPr id="21" name="TextBox 20"/>
          <p:cNvSpPr txBox="1"/>
          <p:nvPr/>
        </p:nvSpPr>
        <p:spPr>
          <a:xfrm>
            <a:off x="868680" y="3209544"/>
            <a:ext cx="4983480" cy="731520"/>
          </a:xfrm>
          <a:prstGeom prst="rect">
            <a:avLst/>
          </a:prstGeom>
          <a:noFill/>
        </p:spPr>
        <p:txBody>
          <a:bodyPr wrap="square" lIns="0" rIns="0" tIns="0" bIns="0" anchor="t">
            <a:noAutofit/>
          </a:bodyPr>
          <a:lstStyle/>
          <a:p>
            <a:pPr>
              <a:spcAft>
                <a:spcPts val="400"/>
              </a:spcAft>
            </a:pPr>
            <a:r>
              <a:rPr sz="1100" b="0">
                <a:solidFill>
                  <a:srgbClr val="333333"/>
                </a:solidFill>
                <a:latin typeface="Arial"/>
              </a:rPr>
              <a:t>Quality bar per business tier: how much quality loss is acceptable for how much saving?</a:t>
            </a:r>
          </a:p>
        </p:txBody>
      </p:sp>
      <p:sp>
        <p:nvSpPr>
          <p:cNvPr id="22" name="Rectangle 21"/>
          <p:cNvSpPr/>
          <p:nvPr/>
        </p:nvSpPr>
        <p:spPr>
          <a:xfrm>
            <a:off x="457200" y="3995928"/>
            <a:ext cx="329184" cy="3291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FFFFFF"/>
                </a:solidFill>
                <a:latin typeface="Arial"/>
              </a:rPr>
              <a:t>4</a:t>
            </a:r>
          </a:p>
        </p:txBody>
      </p:sp>
      <p:sp>
        <p:nvSpPr>
          <p:cNvPr id="23" name="TextBox 22"/>
          <p:cNvSpPr txBox="1"/>
          <p:nvPr/>
        </p:nvSpPr>
        <p:spPr>
          <a:xfrm>
            <a:off x="868680" y="3977640"/>
            <a:ext cx="4983480" cy="731520"/>
          </a:xfrm>
          <a:prstGeom prst="rect">
            <a:avLst/>
          </a:prstGeom>
          <a:noFill/>
        </p:spPr>
        <p:txBody>
          <a:bodyPr wrap="square" lIns="0" rIns="0" tIns="0" bIns="0" anchor="t">
            <a:noAutofit/>
          </a:bodyPr>
          <a:lstStyle/>
          <a:p>
            <a:pPr>
              <a:spcAft>
                <a:spcPts val="400"/>
              </a:spcAft>
            </a:pPr>
            <a:r>
              <a:rPr sz="1100" b="0">
                <a:solidFill>
                  <a:srgbClr val="333333"/>
                </a:solidFill>
                <a:latin typeface="Arial"/>
              </a:rPr>
              <a:t>Data-handling approval for replaying production traces (redaction, residency)?</a:t>
            </a:r>
          </a:p>
        </p:txBody>
      </p:sp>
      <p:sp>
        <p:nvSpPr>
          <p:cNvPr id="24" name="Rectangle 23"/>
          <p:cNvSpPr/>
          <p:nvPr/>
        </p:nvSpPr>
        <p:spPr>
          <a:xfrm>
            <a:off x="457200" y="4764024"/>
            <a:ext cx="329184" cy="3291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FFFFFF"/>
                </a:solidFill>
                <a:latin typeface="Arial"/>
              </a:rPr>
              <a:t>5</a:t>
            </a:r>
          </a:p>
        </p:txBody>
      </p:sp>
      <p:sp>
        <p:nvSpPr>
          <p:cNvPr id="25" name="TextBox 24"/>
          <p:cNvSpPr txBox="1"/>
          <p:nvPr/>
        </p:nvSpPr>
        <p:spPr>
          <a:xfrm>
            <a:off x="868680" y="4745736"/>
            <a:ext cx="4983480" cy="731520"/>
          </a:xfrm>
          <a:prstGeom prst="rect">
            <a:avLst/>
          </a:prstGeom>
          <a:noFill/>
        </p:spPr>
        <p:txBody>
          <a:bodyPr wrap="square" lIns="0" rIns="0" tIns="0" bIns="0" anchor="t">
            <a:noAutofit/>
          </a:bodyPr>
          <a:lstStyle/>
          <a:p>
            <a:pPr>
              <a:spcAft>
                <a:spcPts val="400"/>
              </a:spcAft>
            </a:pPr>
            <a:r>
              <a:rPr sz="1100" b="0">
                <a:solidFill>
                  <a:srgbClr val="333333"/>
                </a:solidFill>
                <a:latin typeface="Arial"/>
              </a:rPr>
              <a:t>Is Databricks OpenJev available in our region and workspace? Who pays for that spend?</a:t>
            </a:r>
          </a:p>
        </p:txBody>
      </p:sp>
      <p:sp>
        <p:nvSpPr>
          <p:cNvPr id="26" name="Rectangle 25"/>
          <p:cNvSpPr/>
          <p:nvPr/>
        </p:nvSpPr>
        <p:spPr>
          <a:xfrm>
            <a:off x="457200" y="5532120"/>
            <a:ext cx="329184" cy="329184"/>
          </a:xfrm>
          <a:prstGeom prst="rect">
            <a:avLst/>
          </a:prstGeom>
          <a:solidFill>
            <a:srgbClr val="0000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spcAft>
                <a:spcPts val="200"/>
              </a:spcAft>
            </a:pPr>
            <a:r>
              <a:rPr sz="1000" b="1">
                <a:solidFill>
                  <a:srgbClr val="FFFFFF"/>
                </a:solidFill>
                <a:latin typeface="Arial"/>
              </a:rPr>
              <a:t>6</a:t>
            </a:r>
          </a:p>
        </p:txBody>
      </p:sp>
      <p:sp>
        <p:nvSpPr>
          <p:cNvPr id="27" name="TextBox 26"/>
          <p:cNvSpPr txBox="1"/>
          <p:nvPr/>
        </p:nvSpPr>
        <p:spPr>
          <a:xfrm>
            <a:off x="868680" y="5513832"/>
            <a:ext cx="4983480" cy="731520"/>
          </a:xfrm>
          <a:prstGeom prst="rect">
            <a:avLst/>
          </a:prstGeom>
          <a:noFill/>
        </p:spPr>
        <p:txBody>
          <a:bodyPr wrap="square" lIns="0" rIns="0" tIns="0" bIns="0" anchor="t">
            <a:noAutofit/>
          </a:bodyPr>
          <a:lstStyle/>
          <a:p>
            <a:pPr>
              <a:spcAft>
                <a:spcPts val="400"/>
              </a:spcAft>
            </a:pPr>
            <a:r>
              <a:rPr sz="1100" b="0">
                <a:solidFill>
                  <a:srgbClr val="333333"/>
                </a:solidFill>
                <a:latin typeface="Arial"/>
              </a:rPr>
              <a:t>May routing cross clouds (Vertex ↔ Bedrock ↔ Azure) per tenant policy?</a:t>
            </a:r>
          </a:p>
        </p:txBody>
      </p:sp>
      <p:sp>
        <p:nvSpPr>
          <p:cNvPr id="28" name="Rectangle 27"/>
          <p:cNvSpPr/>
          <p:nvPr/>
        </p:nvSpPr>
        <p:spPr>
          <a:xfrm>
            <a:off x="6172200" y="1325880"/>
            <a:ext cx="5559552" cy="49834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200" y="1325880"/>
            <a:ext cx="73152" cy="498348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1389888"/>
            <a:ext cx="5120640" cy="274320"/>
          </a:xfrm>
          <a:prstGeom prst="rect">
            <a:avLst/>
          </a:prstGeom>
          <a:noFill/>
        </p:spPr>
        <p:txBody>
          <a:bodyPr wrap="square" lIns="0" rIns="0" tIns="0" bIns="0" anchor="t">
            <a:noAutofit/>
          </a:bodyPr>
          <a:lstStyle/>
          <a:p>
            <a:pPr>
              <a:spcAft>
                <a:spcPts val="400"/>
              </a:spcAft>
            </a:pPr>
            <a:r>
              <a:rPr sz="1200" b="1">
                <a:solidFill>
                  <a:srgbClr val="FFFFFF"/>
                </a:solidFill>
                <a:latin typeface="Arial"/>
              </a:rPr>
              <a:t>Decisions needed</a:t>
            </a:r>
          </a:p>
        </p:txBody>
      </p:sp>
      <p:sp>
        <p:nvSpPr>
          <p:cNvPr id="31" name="TextBox 30"/>
          <p:cNvSpPr txBox="1"/>
          <p:nvPr/>
        </p:nvSpPr>
        <p:spPr>
          <a:xfrm>
            <a:off x="6400800" y="1783080"/>
            <a:ext cx="5120640" cy="731520"/>
          </a:xfrm>
          <a:prstGeom prst="rect">
            <a:avLst/>
          </a:prstGeom>
          <a:noFill/>
        </p:spPr>
        <p:txBody>
          <a:bodyPr wrap="square" lIns="0" rIns="0" tIns="0" bIns="0" anchor="t">
            <a:noAutofit/>
          </a:bodyPr>
          <a:lstStyle/>
          <a:p>
            <a:pPr>
              <a:spcAft>
                <a:spcPts val="100"/>
              </a:spcAft>
            </a:pPr>
            <a:r>
              <a:rPr sz="1050" b="1">
                <a:solidFill>
                  <a:srgbClr val="FFFFFF"/>
                </a:solidFill>
                <a:latin typeface="Arial"/>
              </a:rPr>
              <a:t>Licence (Q1)</a:t>
            </a:r>
          </a:p>
          <a:p>
            <a:pPr>
              <a:spcAft>
                <a:spcPts val="400"/>
              </a:spcAft>
            </a:pPr>
            <a:r>
              <a:rPr sz="950" b="0">
                <a:solidFill>
                  <a:srgbClr val="D8DADA"/>
                </a:solidFill>
                <a:latin typeface="Arial"/>
              </a:rPr>
              <a:t>buy the Enterprise entitlement, or stay on free built-ins + classifier_plugin</a:t>
            </a:r>
          </a:p>
        </p:txBody>
      </p:sp>
      <p:sp>
        <p:nvSpPr>
          <p:cNvPr id="32" name="TextBox 31"/>
          <p:cNvSpPr txBox="1"/>
          <p:nvPr/>
        </p:nvSpPr>
        <p:spPr>
          <a:xfrm>
            <a:off x="6400800" y="2514600"/>
            <a:ext cx="5120640" cy="731520"/>
          </a:xfrm>
          <a:prstGeom prst="rect">
            <a:avLst/>
          </a:prstGeom>
          <a:noFill/>
        </p:spPr>
        <p:txBody>
          <a:bodyPr wrap="square" lIns="0" rIns="0" tIns="0" bIns="0" anchor="t">
            <a:noAutofit/>
          </a:bodyPr>
          <a:lstStyle/>
          <a:p>
            <a:pPr>
              <a:spcAft>
                <a:spcPts val="100"/>
              </a:spcAft>
            </a:pPr>
            <a:r>
              <a:rPr sz="1050" b="1">
                <a:solidFill>
                  <a:srgbClr val="FFFFFF"/>
                </a:solidFill>
                <a:latin typeface="Arial"/>
              </a:rPr>
              <a:t>Jev serving path (Q2)</a:t>
            </a:r>
          </a:p>
          <a:p>
            <a:pPr>
              <a:spcAft>
                <a:spcPts val="400"/>
              </a:spcAft>
            </a:pPr>
            <a:r>
              <a:rPr sz="950" b="0">
                <a:solidFill>
                  <a:srgbClr val="D8DADA"/>
                </a:solidFill>
                <a:latin typeface="Arial"/>
              </a:rPr>
              <a:t>path A native vLLM or path B strands_decider, decided in P0</a:t>
            </a:r>
          </a:p>
        </p:txBody>
      </p:sp>
      <p:sp>
        <p:nvSpPr>
          <p:cNvPr id="33" name="TextBox 32"/>
          <p:cNvSpPr txBox="1"/>
          <p:nvPr/>
        </p:nvSpPr>
        <p:spPr>
          <a:xfrm>
            <a:off x="6400800" y="3246120"/>
            <a:ext cx="5120640" cy="731520"/>
          </a:xfrm>
          <a:prstGeom prst="rect">
            <a:avLst/>
          </a:prstGeom>
          <a:noFill/>
        </p:spPr>
        <p:txBody>
          <a:bodyPr wrap="square" lIns="0" rIns="0" tIns="0" bIns="0" anchor="t">
            <a:noAutofit/>
          </a:bodyPr>
          <a:lstStyle/>
          <a:p>
            <a:pPr>
              <a:spcAft>
                <a:spcPts val="100"/>
              </a:spcAft>
            </a:pPr>
            <a:r>
              <a:rPr sz="1050" b="1">
                <a:solidFill>
                  <a:srgbClr val="FFFFFF"/>
                </a:solidFill>
                <a:latin typeface="Arial"/>
              </a:rPr>
              <a:t>Quality bar (Q3)</a:t>
            </a:r>
          </a:p>
          <a:p>
            <a:pPr>
              <a:spcAft>
                <a:spcPts val="400"/>
              </a:spcAft>
            </a:pPr>
            <a:r>
              <a:rPr sz="950" b="0">
                <a:solidFill>
                  <a:srgbClr val="D8DADA"/>
                </a:solidFill>
                <a:latin typeface="Arial"/>
              </a:rPr>
              <a:t>per business tier; sets the certified-cell target</a:t>
            </a:r>
          </a:p>
        </p:txBody>
      </p:sp>
      <p:sp>
        <p:nvSpPr>
          <p:cNvPr id="34" name="TextBox 33"/>
          <p:cNvSpPr txBox="1"/>
          <p:nvPr/>
        </p:nvSpPr>
        <p:spPr>
          <a:xfrm>
            <a:off x="6400800" y="3977639"/>
            <a:ext cx="5120640" cy="731520"/>
          </a:xfrm>
          <a:prstGeom prst="rect">
            <a:avLst/>
          </a:prstGeom>
          <a:noFill/>
        </p:spPr>
        <p:txBody>
          <a:bodyPr wrap="square" lIns="0" rIns="0" tIns="0" bIns="0" anchor="t">
            <a:noAutofit/>
          </a:bodyPr>
          <a:lstStyle/>
          <a:p>
            <a:pPr>
              <a:spcAft>
                <a:spcPts val="100"/>
              </a:spcAft>
            </a:pPr>
            <a:r>
              <a:rPr sz="1050" b="1">
                <a:solidFill>
                  <a:srgbClr val="FFFFFF"/>
                </a:solidFill>
                <a:latin typeface="Arial"/>
              </a:rPr>
              <a:t>Trace replay (Q4)</a:t>
            </a:r>
          </a:p>
          <a:p>
            <a:pPr>
              <a:spcAft>
                <a:spcPts val="400"/>
              </a:spcAft>
            </a:pPr>
            <a:r>
              <a:rPr sz="950" b="0">
                <a:solidFill>
                  <a:srgbClr val="D8DADA"/>
                </a:solidFill>
                <a:latin typeface="Arial"/>
              </a:rPr>
              <a:t>approve redaction + residency before P1</a:t>
            </a:r>
          </a:p>
        </p:txBody>
      </p:sp>
      <p:sp>
        <p:nvSpPr>
          <p:cNvPr id="35" name="TextBox 34"/>
          <p:cNvSpPr txBox="1"/>
          <p:nvPr/>
        </p:nvSpPr>
        <p:spPr>
          <a:xfrm>
            <a:off x="6400800" y="4709159"/>
            <a:ext cx="5120640" cy="731520"/>
          </a:xfrm>
          <a:prstGeom prst="rect">
            <a:avLst/>
          </a:prstGeom>
          <a:noFill/>
        </p:spPr>
        <p:txBody>
          <a:bodyPr wrap="square" lIns="0" rIns="0" tIns="0" bIns="0" anchor="t">
            <a:noAutofit/>
          </a:bodyPr>
          <a:lstStyle/>
          <a:p>
            <a:pPr>
              <a:spcAft>
                <a:spcPts val="100"/>
              </a:spcAft>
            </a:pPr>
            <a:r>
              <a:rPr sz="1050" b="1">
                <a:solidFill>
                  <a:srgbClr val="FFFFFF"/>
                </a:solidFill>
                <a:latin typeface="Arial"/>
              </a:rPr>
              <a:t>Databricks (Q5)</a:t>
            </a:r>
          </a:p>
          <a:p>
            <a:pPr>
              <a:spcAft>
                <a:spcPts val="400"/>
              </a:spcAft>
            </a:pPr>
            <a:r>
              <a:rPr sz="950" b="0">
                <a:solidFill>
                  <a:srgbClr val="D8DADA"/>
                </a:solidFill>
                <a:latin typeface="Arial"/>
              </a:rPr>
              <a:t>approve OpenJev spend owner and region, or drop the baseline</a:t>
            </a:r>
          </a:p>
        </p:txBody>
      </p:sp>
      <p:sp>
        <p:nvSpPr>
          <p:cNvPr id="36" name="TextBox 35"/>
          <p:cNvSpPr txBox="1"/>
          <p:nvPr/>
        </p:nvSpPr>
        <p:spPr>
          <a:xfrm>
            <a:off x="6400800" y="5440679"/>
            <a:ext cx="5120640" cy="731520"/>
          </a:xfrm>
          <a:prstGeom prst="rect">
            <a:avLst/>
          </a:prstGeom>
          <a:noFill/>
        </p:spPr>
        <p:txBody>
          <a:bodyPr wrap="square" lIns="0" rIns="0" tIns="0" bIns="0" anchor="t">
            <a:noAutofit/>
          </a:bodyPr>
          <a:lstStyle/>
          <a:p>
            <a:pPr>
              <a:spcAft>
                <a:spcPts val="100"/>
              </a:spcAft>
            </a:pPr>
            <a:r>
              <a:rPr sz="1050" b="1">
                <a:solidFill>
                  <a:srgbClr val="FFFFFF"/>
                </a:solidFill>
                <a:latin typeface="Arial"/>
              </a:rPr>
              <a:t>Cross-cloud (Q6)</a:t>
            </a:r>
          </a:p>
          <a:p>
            <a:pPr>
              <a:spcAft>
                <a:spcPts val="400"/>
              </a:spcAft>
            </a:pPr>
            <a:r>
              <a:rPr sz="950" b="0">
                <a:solidFill>
                  <a:srgbClr val="D8DADA"/>
                </a:solidFill>
                <a:latin typeface="Arial"/>
              </a:rPr>
              <a:t>allow or restrict per tenant before canary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37744"/>
            <a:ext cx="292608" cy="54864"/>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6304"/>
            <a:ext cx="10881360" cy="256032"/>
          </a:xfrm>
          <a:prstGeom prst="rect">
            <a:avLst/>
          </a:prstGeom>
          <a:noFill/>
        </p:spPr>
        <p:txBody>
          <a:bodyPr wrap="square" lIns="0" rIns="0" tIns="0" bIns="0" anchor="t">
            <a:noAutofit/>
          </a:bodyPr>
          <a:lstStyle/>
          <a:p>
            <a:pPr>
              <a:spcAft>
                <a:spcPts val="400"/>
              </a:spcAft>
            </a:pPr>
            <a:r>
              <a:rPr sz="1050" b="1">
                <a:solidFill>
                  <a:srgbClr val="000000"/>
                </a:solidFill>
                <a:latin typeface="Arial"/>
              </a:rPr>
              <a:t>SOURCES</a:t>
            </a:r>
          </a:p>
        </p:txBody>
      </p:sp>
      <p:sp>
        <p:nvSpPr>
          <p:cNvPr id="4" name="TextBox 3"/>
          <p:cNvSpPr txBox="1"/>
          <p:nvPr/>
        </p:nvSpPr>
        <p:spPr>
          <a:xfrm>
            <a:off x="457200" y="438912"/>
            <a:ext cx="11247120" cy="777240"/>
          </a:xfrm>
          <a:prstGeom prst="rect">
            <a:avLst/>
          </a:prstGeom>
          <a:noFill/>
        </p:spPr>
        <p:txBody>
          <a:bodyPr wrap="square" lIns="0" rIns="0" tIns="0" bIns="0" anchor="t">
            <a:noAutofit/>
          </a:bodyPr>
          <a:lstStyle/>
          <a:p>
            <a:pPr>
              <a:spcAft>
                <a:spcPts val="0"/>
              </a:spcAft>
            </a:pPr>
            <a:r>
              <a:rPr sz="2300" b="1">
                <a:solidFill>
                  <a:srgbClr val="000000"/>
                </a:solidFill>
                <a:latin typeface="Arial"/>
              </a:rPr>
              <a:t>Primary sources</a:t>
            </a:r>
          </a:p>
        </p:txBody>
      </p:sp>
      <p:cxnSp>
        <p:nvCxnSpPr>
          <p:cNvPr id="5" name="Connector 4"/>
          <p:cNvCxnSpPr/>
          <p:nvPr/>
        </p:nvCxnSpPr>
        <p:spPr>
          <a:xfrm>
            <a:off x="457200" y="6400800"/>
            <a:ext cx="11274552" cy="0"/>
          </a:xfrm>
          <a:prstGeom prst="line">
            <a:avLst/>
          </a:prstGeom>
          <a:ln w="9525">
            <a:solidFill>
              <a:srgbClr val="D8DA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5664"/>
            <a:ext cx="10515600" cy="329184"/>
          </a:xfrm>
          <a:prstGeom prst="rect">
            <a:avLst/>
          </a:prstGeom>
          <a:noFill/>
        </p:spPr>
        <p:txBody>
          <a:bodyPr wrap="square" lIns="0" rIns="0" tIns="0" bIns="0" anchor="t">
            <a:noAutofit/>
          </a:bodyPr>
          <a:lstStyle/>
          <a:p>
            <a:pPr>
              <a:spcAft>
                <a:spcPts val="0"/>
              </a:spcAft>
            </a:pPr>
            <a:r>
              <a:rPr sz="850" b="0">
                <a:solidFill>
                  <a:srgbClr val="747676"/>
                </a:solidFill>
                <a:latin typeface="Arial"/>
              </a:rPr>
              <a:t>All facts from research/auto-router-2026-10.md (cut-off 22 Oct 2026 IST). [V] verified · [Claim] vendor-reported · [Verify] confirm in POC.</a:t>
            </a:r>
          </a:p>
        </p:txBody>
      </p:sp>
      <p:sp>
        <p:nvSpPr>
          <p:cNvPr id="7" name="TextBox 6"/>
          <p:cNvSpPr txBox="1"/>
          <p:nvPr/>
        </p:nvSpPr>
        <p:spPr>
          <a:xfrm>
            <a:off x="11155680" y="6473952"/>
            <a:ext cx="594360" cy="274320"/>
          </a:xfrm>
          <a:prstGeom prst="rect">
            <a:avLst/>
          </a:prstGeom>
          <a:noFill/>
        </p:spPr>
        <p:txBody>
          <a:bodyPr wrap="square" lIns="0" rIns="0" tIns="0" bIns="0" anchor="t">
            <a:noAutofit/>
          </a:bodyPr>
          <a:lstStyle/>
          <a:p>
            <a:pPr algn="r">
              <a:spcAft>
                <a:spcPts val="400"/>
              </a:spcAft>
            </a:pPr>
            <a:r>
              <a:rPr sz="900" b="0">
                <a:solidFill>
                  <a:srgbClr val="747676"/>
                </a:solidFill>
                <a:latin typeface="Arial"/>
              </a:rPr>
              <a:t>17</a:t>
            </a:r>
          </a:p>
        </p:txBody>
      </p:sp>
      <p:sp>
        <p:nvSpPr>
          <p:cNvPr id="8" name="TextBox 7"/>
          <p:cNvSpPr txBox="1"/>
          <p:nvPr/>
        </p:nvSpPr>
        <p:spPr>
          <a:xfrm>
            <a:off x="457200" y="1325880"/>
            <a:ext cx="5669280" cy="4983480"/>
          </a:xfrm>
          <a:prstGeom prst="rect">
            <a:avLst/>
          </a:prstGeom>
          <a:noFill/>
        </p:spPr>
        <p:txBody>
          <a:bodyPr wrap="square" lIns="0" rIns="0" tIns="0" bIns="0" anchor="t">
            <a:noAutofit/>
          </a:bodyPr>
          <a:lstStyle/>
          <a:p>
            <a:pPr>
              <a:spcAft>
                <a:spcPts val="300"/>
              </a:spcAft>
            </a:pPr>
            <a:r>
              <a:rPr sz="1100" b="1">
                <a:solidFill>
                  <a:srgbClr val="000000"/>
                </a:solidFill>
                <a:latin typeface="Arial"/>
              </a:rPr>
              <a:t>LiteLLM docs and code (v1.106.2)</a:t>
            </a:r>
          </a:p>
          <a:p>
            <a:pPr>
              <a:spcAft>
                <a:spcPts val="300"/>
              </a:spcAft>
            </a:pPr>
            <a:r>
              <a:rPr sz="950" b="0">
                <a:solidFill>
                  <a:srgbClr val="333333"/>
                </a:solidFill>
                <a:latin typeface="Arial"/>
              </a:rPr>
              <a:t>docs.litellm.ai/docs/proxy/auto_routing</a:t>
            </a:r>
          </a:p>
          <a:p>
            <a:pPr>
              <a:spcAft>
                <a:spcPts val="300"/>
              </a:spcAft>
            </a:pPr>
            <a:r>
              <a:rPr sz="950" b="0">
                <a:solidFill>
                  <a:srgbClr val="333333"/>
                </a:solidFill>
                <a:latin typeface="Arial"/>
              </a:rPr>
              <a:t>github.com/BerriAI/litellm/blob/v1.106.2/litellm/router_strategy/complexity_router/config.py</a:t>
            </a:r>
          </a:p>
          <a:p>
            <a:pPr>
              <a:spcAft>
                <a:spcPts val="300"/>
              </a:spcAft>
            </a:pPr>
            <a:r>
              <a:rPr sz="950" b="0">
                <a:solidFill>
                  <a:srgbClr val="333333"/>
                </a:solidFill>
                <a:latin typeface="Arial"/>
              </a:rPr>
              <a:t>github.com/BerriAI/litellm/blob/v1.106.2/litellm/llms/databricks/decisions/transformation.py</a:t>
            </a:r>
          </a:p>
          <a:p>
            <a:pPr>
              <a:spcAft>
                <a:spcPts val="300"/>
              </a:spcAft>
            </a:pPr>
            <a:r>
              <a:rPr sz="950" b="0">
                <a:solidFill>
                  <a:srgbClr val="333333"/>
                </a:solidFill>
                <a:latin typeface="Arial"/>
              </a:rPr>
              <a:t>docs.litellm.ai/docs/decisions · /docs/providers/vllm · /docs/providers/strands_decider</a:t>
            </a:r>
          </a:p>
          <a:p>
            <a:pPr>
              <a:spcAft>
                <a:spcPts val="300"/>
              </a:spcAft>
            </a:pPr>
            <a:r>
              <a:rPr sz="1100" b="1">
                <a:solidFill>
                  <a:srgbClr val="000000"/>
                </a:solidFill>
                <a:latin typeface="Arial"/>
              </a:rPr>
              <a:t>LiteLLM blogs [Claim]</a:t>
            </a:r>
          </a:p>
          <a:p>
            <a:pPr>
              <a:spcAft>
                <a:spcPts val="300"/>
              </a:spcAft>
            </a:pPr>
            <a:r>
              <a:rPr sz="950" b="0">
                <a:solidFill>
                  <a:srgbClr val="333333"/>
                </a:solidFill>
                <a:latin typeface="Arial"/>
              </a:rPr>
              <a:t>docs.litellm.ai/blog/jev-auto-router-benchmark</a:t>
            </a:r>
          </a:p>
          <a:p>
            <a:pPr>
              <a:spcAft>
                <a:spcPts val="300"/>
              </a:spcAft>
            </a:pPr>
            <a:r>
              <a:rPr sz="950" b="0">
                <a:solidFill>
                  <a:srgbClr val="333333"/>
                </a:solidFill>
                <a:latin typeface="Arial"/>
              </a:rPr>
              <a:t>docs.litellm.ai/blog/auto-router-production-savings</a:t>
            </a:r>
          </a:p>
          <a:p>
            <a:pPr>
              <a:spcAft>
                <a:spcPts val="300"/>
              </a:spcAft>
            </a:pPr>
            <a:r>
              <a:rPr sz="950" b="0">
                <a:solidFill>
                  <a:srgbClr val="333333"/>
                </a:solidFill>
                <a:latin typeface="Arial"/>
              </a:rPr>
              <a:t>docs.litellm.ai/blog/pfizer-gateway-performance-and-resiliency</a:t>
            </a:r>
          </a:p>
          <a:p>
            <a:pPr>
              <a:spcAft>
                <a:spcPts val="300"/>
              </a:spcAft>
            </a:pPr>
            <a:r>
              <a:rPr sz="1100" b="1">
                <a:solidFill>
                  <a:srgbClr val="000000"/>
                </a:solidFill>
                <a:latin typeface="Arial"/>
              </a:rPr>
              <a:t>Databricks</a:t>
            </a:r>
          </a:p>
          <a:p>
            <a:pPr>
              <a:spcAft>
                <a:spcPts val="300"/>
              </a:spcAft>
            </a:pPr>
            <a:r>
              <a:rPr sz="950" b="0">
                <a:solidFill>
                  <a:srgbClr val="333333"/>
                </a:solidFill>
                <a:latin typeface="Arial"/>
              </a:rPr>
              <a:t>docs.databricks.com/aws/en/machine-learning/foundation-model-apis/supported-models</a:t>
            </a:r>
          </a:p>
          <a:p>
            <a:pPr>
              <a:spcAft>
                <a:spcPts val="300"/>
              </a:spcAft>
            </a:pPr>
            <a:r>
              <a:rPr sz="950" b="0">
                <a:solidFill>
                  <a:srgbClr val="333333"/>
                </a:solidFill>
                <a:latin typeface="Arial"/>
              </a:rPr>
              <a:t>docs.databricks.com/aws/en/sql/language-manual/functions/ai_decide</a:t>
            </a:r>
          </a:p>
          <a:p>
            <a:pPr>
              <a:spcAft>
                <a:spcPts val="300"/>
              </a:spcAft>
            </a:pPr>
            <a:r>
              <a:rPr sz="950" b="0">
                <a:solidFill>
                  <a:srgbClr val="333333"/>
                </a:solidFill>
                <a:latin typeface="Arial"/>
              </a:rPr>
              <a:t>databricks.com/blog/introducing-aidecide-make-fast-decisions-your-governed-data</a:t>
            </a:r>
          </a:p>
          <a:p>
            <a:pPr>
              <a:spcAft>
                <a:spcPts val="300"/>
              </a:spcAft>
            </a:pPr>
            <a:r>
              <a:rPr sz="950" b="0">
                <a:solidFill>
                  <a:srgbClr val="333333"/>
                </a:solidFill>
                <a:latin typeface="Arial"/>
              </a:rPr>
              <a:t>docs.databricks.com/aws/en/machine-learning/model-serving/query-systemone-models</a:t>
            </a:r>
          </a:p>
          <a:p>
            <a:pPr>
              <a:spcAft>
                <a:spcPts val="300"/>
              </a:spcAft>
            </a:pPr>
            <a:r>
              <a:rPr sz="950" b="0">
                <a:solidFill>
                  <a:srgbClr val="333333"/>
                </a:solidFill>
                <a:latin typeface="Arial"/>
              </a:rPr>
              <a:t>databricks.com/blog/running-open-jev-sql-databricks</a:t>
            </a:r>
          </a:p>
          <a:p>
            <a:pPr>
              <a:spcAft>
                <a:spcPts val="300"/>
              </a:spcAft>
            </a:pPr>
            <a:r>
              <a:rPr sz="950" b="0">
                <a:solidFill>
                  <a:srgbClr val="333333"/>
                </a:solidFill>
                <a:latin typeface="Arial"/>
              </a:rPr>
              <a:t>community.databricks.com … routing-between-glm-5-3-flash-and-glm-5-3-with-ai-decide [Claim]</a:t>
            </a:r>
          </a:p>
        </p:txBody>
      </p:sp>
      <p:sp>
        <p:nvSpPr>
          <p:cNvPr id="9" name="TextBox 8"/>
          <p:cNvSpPr txBox="1"/>
          <p:nvPr/>
        </p:nvSpPr>
        <p:spPr>
          <a:xfrm>
            <a:off x="6309360" y="1325880"/>
            <a:ext cx="5422392" cy="4983480"/>
          </a:xfrm>
          <a:prstGeom prst="rect">
            <a:avLst/>
          </a:prstGeom>
          <a:noFill/>
        </p:spPr>
        <p:txBody>
          <a:bodyPr wrap="square" lIns="0" rIns="0" tIns="0" bIns="0" anchor="t">
            <a:noAutofit/>
          </a:bodyPr>
          <a:lstStyle/>
          <a:p>
            <a:pPr>
              <a:spcAft>
                <a:spcPts val="300"/>
              </a:spcAft>
            </a:pPr>
            <a:r>
              <a:rPr sz="1100" b="1">
                <a:solidFill>
                  <a:srgbClr val="000000"/>
                </a:solidFill>
                <a:latin typeface="Arial"/>
              </a:rPr>
              <a:t>Other routers</a:t>
            </a:r>
          </a:p>
          <a:p>
            <a:pPr>
              <a:spcAft>
                <a:spcPts val="300"/>
              </a:spcAft>
            </a:pPr>
            <a:r>
              <a:rPr sz="950" b="0">
                <a:solidFill>
                  <a:srgbClr val="333333"/>
                </a:solidFill>
                <a:latin typeface="Arial"/>
              </a:rPr>
              <a:t>vllm-sr.ai/blog/v0.4-vllm-sr-hermes-release</a:t>
            </a:r>
          </a:p>
          <a:p>
            <a:pPr>
              <a:spcAft>
                <a:spcPts val="300"/>
              </a:spcAft>
            </a:pPr>
            <a:r>
              <a:rPr sz="950" b="0">
                <a:solidFill>
                  <a:srgbClr val="333333"/>
                </a:solidFill>
                <a:latin typeface="Arial"/>
              </a:rPr>
              <a:t>github.com/lm-sys/RouteLLM · github.com/katanemo/plano</a:t>
            </a:r>
          </a:p>
          <a:p>
            <a:pPr>
              <a:spcAft>
                <a:spcPts val="300"/>
              </a:spcAft>
            </a:pPr>
            <a:r>
              <a:rPr sz="950" b="0">
                <a:solidFill>
                  <a:srgbClr val="333333"/>
                </a:solidFill>
                <a:latin typeface="Arial"/>
              </a:rPr>
              <a:t>OpenRouter auto-router blog (10 Aug 2026) · Azure model router docs (2025-11-18) · Bedrock IPR docs</a:t>
            </a:r>
          </a:p>
          <a:p>
            <a:pPr>
              <a:spcAft>
                <a:spcPts val="300"/>
              </a:spcAft>
            </a:pPr>
            <a:r>
              <a:rPr sz="1100" b="1">
                <a:solidFill>
                  <a:srgbClr val="000000"/>
                </a:solidFill>
                <a:latin typeface="Arial"/>
              </a:rPr>
              <a:t>Papers (arXiv)</a:t>
            </a:r>
          </a:p>
          <a:p>
            <a:pPr>
              <a:spcAft>
                <a:spcPts val="300"/>
              </a:spcAft>
            </a:pPr>
            <a:r>
              <a:rPr sz="950" b="0">
                <a:solidFill>
                  <a:srgbClr val="333333"/>
                </a:solidFill>
                <a:latin typeface="Arial"/>
              </a:rPr>
              <a:t>2403.12031 RouterBench · 2406.18665 RouteLLM · 2404.06654 RULER</a:t>
            </a:r>
          </a:p>
          <a:p>
            <a:pPr>
              <a:spcAft>
                <a:spcPts val="300"/>
              </a:spcAft>
            </a:pPr>
            <a:r>
              <a:rPr sz="950" b="0">
                <a:solidFill>
                  <a:srgbClr val="333333"/>
                </a:solidFill>
                <a:latin typeface="Arial"/>
              </a:rPr>
              <a:t>2412.15204 LongBench v2 · 2502.05167 NoLiMa · 2307.03172 Lost in the Middle</a:t>
            </a:r>
          </a:p>
          <a:p>
            <a:pPr>
              <a:spcAft>
                <a:spcPts val="300"/>
              </a:spcAft>
            </a:pPr>
            <a:r>
              <a:rPr sz="950" b="0">
                <a:solidFill>
                  <a:srgbClr val="333333"/>
                </a:solidFill>
                <a:latin typeface="Arial"/>
              </a:rPr>
              <a:t>2410.02694 HELMET · 2306.05685 MT-Bench judge · 2404.04475 LC-AlpacaEval</a:t>
            </a:r>
          </a:p>
          <a:p>
            <a:pPr>
              <a:spcAft>
                <a:spcPts val="300"/>
              </a:spcAft>
            </a:pPr>
            <a:r>
              <a:rPr sz="1100" b="1">
                <a:solidFill>
                  <a:srgbClr val="000000"/>
                </a:solidFill>
                <a:latin typeface="Arial"/>
              </a:rPr>
              <a:t>Eval tooling</a:t>
            </a:r>
          </a:p>
          <a:p>
            <a:pPr>
              <a:spcAft>
                <a:spcPts val="300"/>
              </a:spcAft>
            </a:pPr>
            <a:r>
              <a:rPr sz="950" b="0">
                <a:solidFill>
                  <a:srgbClr val="333333"/>
                </a:solidFill>
                <a:latin typeface="Arial"/>
              </a:rPr>
              <a:t>NVIDIA/RULER (Apache-2.0) · gkamradt/needle-in-a-haystack (NOASSERTION)</a:t>
            </a:r>
          </a:p>
          <a:p>
            <a:pPr>
              <a:spcAft>
                <a:spcPts val="300"/>
              </a:spcAft>
            </a:pPr>
            <a:r>
              <a:rPr sz="950" b="0">
                <a:solidFill>
                  <a:srgbClr val="333333"/>
                </a:solidFill>
                <a:latin typeface="Arial"/>
              </a:rPr>
              <a:t>EleutherAI lm-evaluation-harness (MIT) · promptfoo (MIT) · deepeval (Apache-2.0) · THUDM/LongBench (MIT)</a:t>
            </a:r>
          </a:p>
          <a:p>
            <a:pPr>
              <a:spcAft>
                <a:spcPts val="300"/>
              </a:spcAft>
            </a:pPr>
            <a:r>
              <a:rPr sz="1100" b="1">
                <a:solidFill>
                  <a:srgbClr val="000000"/>
                </a:solidFill>
                <a:latin typeface="Arial"/>
              </a:rPr>
              <a:t>Internal</a:t>
            </a:r>
          </a:p>
          <a:p>
            <a:pPr>
              <a:spcAft>
                <a:spcPts val="300"/>
              </a:spcAft>
            </a:pPr>
            <a:r>
              <a:rPr sz="950" b="0">
                <a:solidFill>
                  <a:srgbClr val="333333"/>
                </a:solidFill>
                <a:latin typeface="Arial"/>
              </a:rPr>
              <a:t>Track A governance doc §0 · Jev decision v1 SERVING.md</a:t>
            </a:r>
          </a:p>
          <a:p>
            <a:pPr>
              <a:spcAft>
                <a:spcPts val="300"/>
              </a:spcAft>
            </a:pPr>
            <a:r>
              <a:rPr sz="950" b="1">
                <a:solidFill>
                  <a:srgbClr val="EE0000"/>
                </a:solidFill>
                <a:latin typeface="Arial"/>
              </a:rPr>
              <a:t>Security note: the playground credentials published in the vLLM SR README were not used and must not be used.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Kairos Gateway runtime guardrails and auto routing v2</dc:title>
  <dc:subject/>
  <dc:creator>Grok Bot for Varun Saagar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