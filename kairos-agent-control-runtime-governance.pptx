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This is the governance companion to the guardrails and auto-router work: how Kairos Gateway (built on LiteLLM) controls agents at runtime, and how we start the POC.</a:t>
            </a:r>
          </a:p>
          <a:p/>
          <a:p>
            <a:r>
              <a:t>TALK TRACK: Set the frame: Kairos Gateway is the LiteLLM proxy in front of Vertex (Gemini Enterprise Agent Platform), Bedrock, Azure and our self-hosted vLLM, with Galileo for observability. From here on I say Kairos Gateway; every parameter and guardrail name is the real LiteLLM name. The deck compares Galileo Agent Control and the Microsoft option, recommends a layered design, and ends with a P0-P5 plan. Explain the four labels: verified, vendor claim, to verify, target (TBD by team).</a:t>
            </a:r>
          </a:p>
          <a:p/>
          <a:p>
            <a:r>
              <a:t>EXECUTION: No action on this slide. Make sure everyone has the research file path: /workspace/research/agent-control-governance-2026-10.md.</a:t>
            </a:r>
          </a:p>
          <a:p/>
          <a:p>
            <a:r>
              <a:t>EXPECTATIONS: The team understands this is separate from the auto-router deck and that the decision model throughout is Jev decision v1 plus Kairos embeddings.</a:t>
            </a:r>
          </a:p>
          <a:p/>
          <a:p>
            <a:r>
              <a:t>LIKELY QUESTIONS:</a:t>
            </a:r>
          </a:p>
          <a:p>
            <a:r>
              <a:t>- Why not just extend the guardrails v2 deck? Governance needs its own identity, policy and MCP decisions, and the team wants a POC plan.</a:t>
            </a:r>
          </a:p>
          <a:p>
            <a:r>
              <a:t>- Which LiteLLM version? 1.106.2.</a:t>
            </a:r>
          </a:p>
          <a:p/>
          <a:p>
            <a:r>
              <a:t>SOURCES:</a:t>
            </a:r>
          </a:p>
          <a:p>
            <a:r>
              <a:t>- /workspace/research/agent-control-governance-2026-10.md</a:t>
            </a:r>
          </a:p>
          <a:p>
            <a:r>
              <a:t>- /workspace/deliverables/litellm-guardrails-v2-findings.md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gateway sees every model and MCP call but not agent-internal planning or local tools, so we need a gateway floor plus in-agent control, from one catalogue.</a:t>
            </a:r>
          </a:p>
          <a:p/>
          <a:p>
            <a:r>
              <a:t>TALK TRACK: Walk the diagram left to right. Agents built on ADK, Strands, LangChain, Claude Code or Codex plan and call local tools internally; the pink boxes are invisible to Kairos Gateway, which is also the documented ACS limitation (client-side tools are outside mediation). Everything that leaves the agent through the Kairos SDK wrapper, or a plain client on a governed alias, hits the gateway's pre_call, post_call, pre_mcp_call and post_mcp_call hooks before reaching providers or MCP servers. Galileo sees all of it, with redaction on. Then the scope panel: this deck is governance only; routing is in the auto-router deck.</a:t>
            </a:r>
          </a:p>
          <a:p/>
          <a:p>
            <a:r>
              <a:t>EXECUTION: Agree the four requirements as POC acceptance principles: one control catalogue, every verdict in Galileo, no-code and SDK paths, explicit fail-open/fail-closed per control.</a:t>
            </a:r>
          </a:p>
          <a:p/>
          <a:p>
            <a:r>
              <a:t>EXPECTATIONS: Agreement that neither gateway-only nor agent-only control is enough.</a:t>
            </a:r>
          </a:p>
          <a:p/>
          <a:p>
            <a:r>
              <a:t>LIKELY QUESTIONS:</a:t>
            </a:r>
          </a:p>
          <a:p>
            <a:r>
              <a:t>- Can we skip in-agent control? Only if agents have no local tools or planning steps worth governing.</a:t>
            </a:r>
          </a:p>
          <a:p>
            <a:r>
              <a:t>- Does this replace the guardrails v2 design? No, it builds on it; the native guardrails remain the floor.</a:t>
            </a:r>
          </a:p>
          <a:p/>
          <a:p>
            <a:r>
              <a:t>SOURCES:</a:t>
            </a:r>
          </a:p>
          <a:p>
            <a:r>
              <a:t>- Research §1 implication, §2.1 limitations, §4 reference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Galileo Agent Control is a mature OSS control server with native steering, but Kairos Gateway has no integration for it; we would build an adapter.</a:t>
            </a:r>
          </a:p>
          <a:p/>
          <a:p>
            <a:r>
              <a:t>TALK TRACK: Agent Control is Apache-2.0, v8.14.0 released 19 Oct 2026, with the agent-control-sdk 8.14.0 on PyPI. Agents register via /api/v1/agents/initAgent, controls are CRUD-managed on the server, evaluation is POST /api/v1/evaluation with an X-API-Key, and events go to /api/v1/observability/events. Its five decisions are deny, steer, warn, log and allow; steer is the differentiator, it returns corrective guidance instead of a hard block. Evaluators include regex, list, JSON and SQL-style rules plus galileo.luna2, which needs GALILEO_API_KEY and is Enterprise tier only. Latency numbers are the vendor's, measured on an Apple M5 with docker compose. The important gap: there is no LiteLLM guardrail type and no Galileo value in the 61-value enum at v1.106.2.</a:t>
            </a:r>
          </a:p>
          <a:p/>
          <a:p>
            <a:r>
              <a:t>EXECUTION: Two integration modes for the POC: (a) @control() in agent code for internal steps, (b) a gateway adapter (slide 7). Never use the default credentials published in the Agent Control docs.</a:t>
            </a:r>
          </a:p>
          <a:p/>
          <a:p>
            <a:r>
              <a:t>EXPECTATIONS: The team accepts that Option A means building and owning an adapter.</a:t>
            </a:r>
          </a:p>
          <a:p/>
          <a:p>
            <a:r>
              <a:t>LIKELY QUESTIONS:</a:t>
            </a:r>
          </a:p>
          <a:p>
            <a:r>
              <a:t>- Is 36 ms realistic? Treat it as a vendor claim; add a network hop; measure in P3.</a:t>
            </a:r>
          </a:p>
          <a:p>
            <a:r>
              <a:t>- Do we need Luna-2? Not for the POC; rules and Jev-based evaluators come first.</a:t>
            </a:r>
          </a:p>
          <a:p/>
          <a:p>
            <a:r>
              <a:t>SOURCES:</a:t>
            </a:r>
          </a:p>
          <a:p>
            <a:r>
              <a:t>- https://github.com/agentcontrol/agent-control</a:t>
            </a:r>
          </a:p>
          <a:p>
            <a:r>
              <a:t>- https://docs.agentcontrol.dev</a:t>
            </a:r>
          </a:p>
          <a:p>
            <a:r>
              <a:t>- https://docs.agentcontrol.dev/concepts/performance.md</a:t>
            </a:r>
          </a:p>
          <a:p>
            <a:r>
              <a:t>- https://docs.galileo.ai/concepts/luna/luna</a:t>
            </a:r>
          </a:p>
          <a:p>
            <a:r>
              <a:t>- litellm/types/guardrails.py@v1.106.2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Microsoft option is ACS as an in-process policy library inside Kairos Gateway, plus Agent 365, Purview and Prompt Shields as native guardrails.</a:t>
            </a:r>
          </a:p>
          <a:p/>
          <a:p>
            <a:r>
              <a:t>TALK TRACK: ACS defines eight intervention points; Kairos Gateway can act on the four model and tool points it sees. The shipped hook is agent_control_specification.AgentControlLiteLLMGuardrail, configured with mode [pre_call, post_call], a manifest_path, a streaming mode of buffer, fail_closed or evaluate_only, and session settings. It is stateless, deterministic and fail-closed; verdicts are allow, deny, transform, with warn mapped to allow-with-warnings and escalate to deny-plus-approval. Session identity comes from metadata.agent_control_session_id, so wrappers must set it. Managed controls arrive as native guardrails: agent_365 on pre_mcp_call, microsoft_purview on pre/post_call or logging_only, azure/prompt_shield and azure/text_moderations. Versions matter: AGT v4.1.0 is Public Preview; ACS is beta.</a:t>
            </a:r>
          </a:p>
          <a:p/>
          <a:p>
            <a:r>
              <a:t>EXECUTION: POC: install agent-control-specification[litellm-proxy] in a test image, write one manifest per policy tier, and wire Entra OBO only in P4.</a:t>
            </a:r>
          </a:p>
          <a:p/>
          <a:p>
            <a:r>
              <a:t>EXPECTATIONS: Clarity that Foundry guardrails and ASSERT are not gateway plugins.</a:t>
            </a:r>
          </a:p>
          <a:p/>
          <a:p>
            <a:r>
              <a:t>LIKELY QUESTIONS:</a:t>
            </a:r>
          </a:p>
          <a:p>
            <a:r>
              <a:t>- Is beta acceptable? For the POC yes; production needs a version and support decision.</a:t>
            </a:r>
          </a:p>
          <a:p>
            <a:r>
              <a:t>- Why is Agent 365 risky? Tenant onboarding (409 otherwise), fail-closed 503 and a 10 s timeout.</a:t>
            </a:r>
          </a:p>
          <a:p>
            <a:r>
              <a:t>- Is &lt;0.1 ms real? Vendor claim; measure it.</a:t>
            </a:r>
          </a:p>
          <a:p/>
          <a:p>
            <a:r>
              <a:t>SOURCES:</a:t>
            </a:r>
          </a:p>
          <a:p>
            <a:r>
              <a:t>- https://github.com/microsoft/agent-governance-toolkit</a:t>
            </a:r>
          </a:p>
          <a:p>
            <a:r>
              <a:t>- https://microsoft.github.io/agent-governance-toolkit/packages/agent-control-specification/</a:t>
            </a:r>
          </a:p>
          <a:p>
            <a:r>
              <a:t>- https://github.com/microsoft/agent-governance-toolkit/blob/main/policy-engine/docs/integrations/litellm-proxy.md</a:t>
            </a:r>
          </a:p>
          <a:p>
            <a:r>
              <a:t>- https://docs.litellm.ai/docs/proxy/guardrails/microsoft_agent_365</a:t>
            </a:r>
          </a:p>
          <a:p>
            <a:r>
              <a:t>- https://docs.litellm.ai/docs/proxy/guardrails/microsoft_purview</a:t>
            </a:r>
          </a:p>
          <a:p>
            <a:r>
              <a:t>- https://learn.microsoft.com/en-us/azure/foundry/guardrails/guardrails-overview</a:t>
            </a:r>
          </a:p>
          <a:p>
            <a:r>
              <a:t>- https://docs.litellm.ai/blog/litellm-microsoft-assert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Do not pick one: the Microsoft spec plus native guardrails is the gateway floor, Galileo Agent Control steers inside the agent, Jev decision v1 plus embeddings make the decision checks.</a:t>
            </a:r>
          </a:p>
          <a:p/>
          <a:p>
            <a:r>
              <a:t>TALK TRACK: Read the matrix by row, then land on the stack. ACS wins at the gateway because it is in-process, deterministic and already has a LiteLLM hook. Agent Control wins in the agent because it has native steering and Galileo-native events, and it can see steps the gateway cannot. Jev decision v1 sits in the middle as the decision model behind decision_model checks, with semantic_guard on Kairos embeddings as the cheap pass. Agent 365 and Purview are switched on per tenant where M365 data or Defender coverage is required. Everything lands in Galileo from one control catalogue.</a:t>
            </a:r>
          </a:p>
          <a:p/>
          <a:p>
            <a:r>
              <a:t>EXECUTION: Adopt the layered model as the POC hypothesis; P3 tests ACS vs Agent Control verdict parity on the same scenarios.</a:t>
            </a:r>
          </a:p>
          <a:p/>
          <a:p>
            <a:r>
              <a:t>EXPECTATIONS: Sign-off on the layered POV, or explicit objections to test in P3.</a:t>
            </a:r>
          </a:p>
          <a:p/>
          <a:p>
            <a:r>
              <a:t>LIKELY QUESTIONS:</a:t>
            </a:r>
          </a:p>
          <a:p>
            <a:r>
              <a:t>- Two policy engines means two catalogues? No: the beyond-OOB compiler emits both from one YAML (slide 11).</a:t>
            </a:r>
          </a:p>
          <a:p>
            <a:r>
              <a:t>- Why is Galileo not the floor? It needs a network hop and an adapter we have not built yet.</a:t>
            </a:r>
          </a:p>
          <a:p/>
          <a:p>
            <a:r>
              <a:t>SOURCES:</a:t>
            </a:r>
          </a:p>
          <a:p>
            <a:r>
              <a:t>- Research §2.2 head-to-head and POV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Kairos Gateway offers four integration surfaces and eight hooks; choosing the surface decides latency, ownership and what can be blocked.</a:t>
            </a:r>
          </a:p>
          <a:p/>
          <a:p>
            <a:r>
              <a:t>TALK TRACK: Hooks first: pre_call can block or rewrite before the model; during_call runs alongside and can only block; post_call sees the response and needs buffering to block streams; logging_only never blocks and is our observe tier. On MCP traffic: pre_mcp_call (including tools/list descriptions), during_mcp_call and post_mcp_call; plus realtime_input_transcription for voice. Then the surfaces: native guardrails from the 61-value enum, the Generic Guardrail API where Kairos calls our HTTP service at /beta/litellm_basic_guardrail_api, a CustomGuardrail class in-process, and custom_code for small rules. Close with the per-guardrail controls, especially default_on and unreachable_fallback.</a:t>
            </a:r>
          </a:p>
          <a:p/>
          <a:p>
            <a:r>
              <a:t>EXECUTION: Rule of thumb: Microsoft and Jev via native; Galileo via Generic Guardrail API first (separate deployable), in-process later if latency demands; ACS via its CustomGuardrail.</a:t>
            </a:r>
          </a:p>
          <a:p/>
          <a:p>
            <a:r>
              <a:t>EXPECTATIONS: Developers know which surface each POC component uses.</a:t>
            </a:r>
          </a:p>
          <a:p/>
          <a:p>
            <a:r>
              <a:t>LIKELY QUESTIONS:</a:t>
            </a:r>
          </a:p>
          <a:p>
            <a:r>
              <a:t>- Generic API vs CustomGuardrail? Generic is a separate service with its own release cycle; CustomGuardrail avoids the hop but runs in the proxy process.</a:t>
            </a:r>
          </a:p>
          <a:p/>
          <a:p>
            <a:r>
              <a:t>SOURCES:</a:t>
            </a:r>
          </a:p>
          <a:p>
            <a:r>
              <a:t>- https://docs.litellm.ai/docs/proxy/guardrails/quick_start</a:t>
            </a:r>
          </a:p>
          <a:p>
            <a:r>
              <a:t>- https://docs.litellm.ai/docs/adding_provider/generic_guardrail_api</a:t>
            </a:r>
          </a:p>
          <a:p>
            <a:r>
              <a:t>- https://docs.litellm.ai/docs/mcp_guardrail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Galileo adapter is a small microservice that speaks the Generic Guardrail API on one side and Agent Control on the other; the mapping is our design and must be verified.</a:t>
            </a:r>
          </a:p>
          <a:p/>
          <a:p>
            <a:r>
              <a:t>TALK TRACK: Kairos Gateway calls the adapter on pre_call and post_mcp_call for the kairos-agentic tier. The adapter maps key_alias to agent_name, litellm_trace_id to the session/trace so Galileo traces join, texts and tool_calls to an llm or tool step, and input_type to the pre/post stage. It calls POST /api/v1/evaluation and maps the result: deny becomes BLOCKED with a reason (400 to the client), steer becomes GUARDRAIL_INTERVENED with the steering text appended, warn and log pass with the decision logged, allow passes.</a:t>
            </a:r>
          </a:p>
          <a:p/>
          <a:p>
            <a:r>
              <a:t>EXECUTION: Dev: build the adapter skeleton with contract tests; register agents with initAgent; choose unreachable_fallback per tier (fail_closed proposed for agentic). Verify which Agent Control response field carries deny/steer.</a:t>
            </a:r>
          </a:p>
          <a:p/>
          <a:p>
            <a:r>
              <a:t>EXPECTATIONS: An adapter design the dev team can start in P3, with open points listed.</a:t>
            </a:r>
          </a:p>
          <a:p/>
          <a:p>
            <a:r>
              <a:t>LIKELY QUESTIONS:</a:t>
            </a:r>
          </a:p>
          <a:p>
            <a:r>
              <a:t>- Why not wait for a native Galileo guardrail? None exists and none is announced in our sources.</a:t>
            </a:r>
          </a:p>
          <a:p>
            <a:r>
              <a:t>- Latency? Vendor 36-63 ms p50 plus our hop; measured in P3.</a:t>
            </a:r>
          </a:p>
          <a:p/>
          <a:p>
            <a:r>
              <a:t>SOURCES:</a:t>
            </a:r>
          </a:p>
          <a:p>
            <a:r>
              <a:t>- https://docs.litellm.ai/docs/adding_provider/generic_guardrail_api</a:t>
            </a:r>
          </a:p>
          <a:p>
            <a:r>
              <a:t>- https://docs.agentcontrol.dev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Governance is expressed as four inheriting policy tiers, rolled out observe-first, and proven per response with applied-policy headers.</a:t>
            </a:r>
          </a:p>
          <a:p/>
          <a:p>
            <a:r>
              <a:t>TALK TRACK: kairos-baseline is attached globally with scope '*': hide-secrets, presidio masking, Prompt Shields or a Jev decision_model injection check, and mcp_security plus tool_permission. kairos-agentic inherits it and attaches through condition.model kairos-agent-.*: the ACS hook, the Galileo adapter and block_code_execution. kairos-m365 inherits agentic and adds agent_365 and microsoft_purview on tenant aliases. kairos-observe runs the same checks in logging_only as phase one of every control. Resolution is global, teams, keys, tags, models. The pipeline flow builder lets a cheap check escalate to an expensive one with on_pass, on_fail and on_error. Every response carries x-litellm-applied-policies, -guardrails and -policy-sources.</a:t>
            </a:r>
          </a:p>
          <a:p/>
          <a:p>
            <a:r>
              <a:t>EXECUTION: Dev: policy-as-code repo; CI calls /policies/resolve and the Policy Simulator and asserts headers. Architect: fail-open/closed per control.</a:t>
            </a:r>
          </a:p>
          <a:p/>
          <a:p>
            <a:r>
              <a:t>EXPECTATIONS: Agreement on tier names and on observe-first rollout.</a:t>
            </a:r>
          </a:p>
          <a:p/>
          <a:p>
            <a:r>
              <a:t>LIKELY QUESTIONS:</a:t>
            </a:r>
          </a:p>
          <a:p>
            <a:r>
              <a:t>- Is hide-secrets OSS? The v2 findings list secret detection as Enterprise; confirm before relying on it in the OSS path.</a:t>
            </a:r>
          </a:p>
          <a:p>
            <a:r>
              <a:t>- Can teams override? Team/key attachments are Enterprise (slide 9).</a:t>
            </a:r>
          </a:p>
          <a:p/>
          <a:p>
            <a:r>
              <a:t>SOURCES:</a:t>
            </a:r>
          </a:p>
          <a:p>
            <a:r>
              <a:t>- https://docs.litellm.ai/docs/proxy/guardrails/guardrail_policies</a:t>
            </a:r>
          </a:p>
          <a:p>
            <a:r>
              <a:t>- Research §3.2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Picking guardrails per key in the UI is Enterprise; without a licence, choosing a governed kairos-agent-* alias at key creation gives teams no-code governance.</a:t>
            </a:r>
          </a:p>
          <a:p/>
          <a:p>
            <a:r>
              <a:t>TALK TRACK: The code is clear: LiteLLM_ManagementEndpoint_MetadataFields_Premium includes guardrails, policies, tags and disable_global_guardrails, and premium_user_check enforces it in key_management_endpoints.py. So the OSS path works differently: we publish governed aliases, the model allow-list on keys and teams is OSS, and a global attachment matches condition.model so default_on guardrails and the kairos-agentic tier run. The user simply picks the alias in the key form. Teams can bring their own guardrail through POST /guardrails/register (generic_guardrail_api only) with an admin approval step. With Enterprise, admins pick guardrails and policies per key or team, lock teams with modify_guardrails: false, and use tag-based policy by User-Agent. Treat policy attachments as Enterprise.</a:t>
            </a:r>
          </a:p>
          <a:p/>
          <a:p>
            <a:r>
              <a:t>EXECUTION: Build the alias path regardless of the licence decision; ask BerriAI to confirm the attachment licensing.</a:t>
            </a:r>
          </a:p>
          <a:p/>
          <a:p>
            <a:r>
              <a:t>EXPECTATIONS: A licence decision owner and date.</a:t>
            </a:r>
          </a:p>
          <a:p/>
          <a:p>
            <a:r>
              <a:t>LIKELY QUESTIONS:</a:t>
            </a:r>
          </a:p>
          <a:p>
            <a:r>
              <a:t>- Can a team bypass by choosing a non-governed model? Only if its allow-list includes one; restrict allow-lists for agent teams.</a:t>
            </a:r>
          </a:p>
          <a:p>
            <a:r>
              <a:t>- Is BYO safe? Only after admin approval and observe-first rollout.</a:t>
            </a:r>
          </a:p>
          <a:p/>
          <a:p>
            <a:r>
              <a:t>SOURCES:</a:t>
            </a:r>
          </a:p>
          <a:p>
            <a:r>
              <a:t>- litellm/proxy/management_endpoints/key_management_endpoints.py@v1.106.2</a:t>
            </a:r>
          </a:p>
          <a:p>
            <a:r>
              <a:t>- https://docs.litellm.ai/docs/proxy/guardrails/quick_start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Teams that wrap Kairos Gateway in an SDK must send identity, session and trace, and must handle a 400 block differently from a 502/503 outage.</a:t>
            </a:r>
          </a:p>
          <a:p/>
          <a:p>
            <a:r>
              <a:t>TALK TRACK: The wrapper adds metadata.session_id and metadata.agent_control_session_id (ACS needs them for session state; the router needs them for affinity), litellm_trace_id or OTel traceparent, user = Entra object ID (Purview needs the key-bound user_id), the key alias as agent id, and, for Agent 365, the user's Entra token for the on-behalf-of exchange. On the way back: read the applied-guardrail and policy headers and log them to Galileo; a 400 is a policy block, parse provider_specific_fields.guardrail_name and do not retry; 502/503 means a guardrail was unreachable and failed closed, so back off and alert rather than retry blindly; steering text arrives in the content. The table contrasts the no-code alias path with the SDK path.</a:t>
            </a:r>
          </a:p>
          <a:p/>
          <a:p>
            <a:r>
              <a:t>EXECUTION: Dev: Python and TS wrappers plus sample agents in P5; contract tests now. Verify the exact field placement and the Entra token header in P4.</a:t>
            </a:r>
          </a:p>
          <a:p/>
          <a:p>
            <a:r>
              <a:t>EXPECTATIONS: An agreed SDK contract the platform publishes.</a:t>
            </a:r>
          </a:p>
          <a:p/>
          <a:p>
            <a:r>
              <a:t>LIKELY QUESTIONS:</a:t>
            </a:r>
          </a:p>
          <a:p>
            <a:r>
              <a:t>- Do no-code teams lose anything? Session-aware ACS state, trace joins and in-agent control (inferred).</a:t>
            </a:r>
          </a:p>
          <a:p>
            <a:r>
              <a:t>- Per-request guardrails with extra_body? Dynamic params are Enterprise.</a:t>
            </a:r>
          </a:p>
          <a:p/>
          <a:p>
            <a:r>
              <a:t>SOURCES:</a:t>
            </a:r>
          </a:p>
          <a:p>
            <a:r>
              <a:t>- Research §3.4</a:t>
            </a:r>
          </a:p>
          <a:p>
            <a:r>
              <a:t>- https://docs.litellm.ai/docs/proxy/guardrails/microsoft_purview</a:t>
            </a:r>
          </a:p>
          <a:p>
            <a:r>
              <a:t>- https://docs.litellm.ai/docs/proxy/guardrails/microsoft_agent_365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Teams customise in three steps: use out-of-box, modify out-of-box through policy PRs, and only go beyond out-of-box through a reviewed platform build.</a:t>
            </a:r>
          </a:p>
          <a:p/>
          <a:p>
            <a:r>
              <a:t>TALK TRACK: Out-of-box: Microsoft guardrails and the ACS hook as shipped, decision_model with Jev checks and semantic_guard with Kairos embeddings; Galileo has nothing native. Modified: ACS manifests per tier, Purview scopes, Presidio recognisers, stream_scope and unreachable_fallback tuning, custom Jev checks up to 128 questions with per-check thresholds, and pipeline escalation from Jev to an LLM judge. Beyond: the Agent Control adapter, a control-catalogue compiler that emits ACS manifests and Agent Control controls from one YAML, the Jev certified-theta fail-closed gate per check type and length bucket from the Gemma4-26B-Jev-64K SERVING.md design, and embedding kNN against an attack corpus.</a:t>
            </a:r>
          </a:p>
          <a:p/>
          <a:p>
            <a:r>
              <a:t>EXECUTION: Policy repo with CODEOWNERS; simulator diff required on every PR (matches the P5 exit criterion).</a:t>
            </a:r>
          </a:p>
          <a:p/>
          <a:p>
            <a:r>
              <a:t>EXPECTATIONS: Teams know where to ask for changes and what review each tier needs.</a:t>
            </a:r>
          </a:p>
          <a:p/>
          <a:p>
            <a:r>
              <a:t>LIKELY QUESTIONS:</a:t>
            </a:r>
          </a:p>
          <a:p>
            <a:r>
              <a:t>- Can a team ship its own beyond-OOB control? Through BYO registration plus platform review only.</a:t>
            </a:r>
          </a:p>
          <a:p/>
          <a:p>
            <a:r>
              <a:t>SOURCES:</a:t>
            </a:r>
          </a:p>
          <a:p>
            <a:r>
              <a:t>- Research §3.5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Jev decision v1 is the decision model for governance checks through the decision_model guardrail; registration and schema round-trip are the POC risks.</a:t>
            </a:r>
          </a:p>
          <a:p/>
          <a:p>
            <a:r>
              <a:t>TALK TRACK: decision_model accepts any model that serves /v1/decisions, in pre_call, during_call or post_call, predicate questions only, default threshold 0.7, max_input_chars 24000 with a 2000-character overlap; block returns 400 and fail_closed returns 502. Two registration paths: hosted_vllm if Jev runs on vLLM 0.32 or later with an architecture in READ_STRATEGIES (Qwen3/3.5 listed, Gemma 4 not confirmed), or strands_decider with api_base pointing at our server, where LiteLLM appends /v1/systemone. Set model_info.mode: evaluation so it shows in the UI picker. Our response fields answer, probabilities, confidence, certified must round-trip: to verify. Budget note: decision calls write no spend rows, and streaming post_call makes N calls.</a:t>
            </a:r>
          </a:p>
          <a:p/>
          <a:p>
            <a:r>
              <a:t>EXECUTION: P2: register Jev, start every check with action: log, calibrate thresholds per check on labelled red-team and benign sets, then promote to block. Budget Jev calls outside LiteLLM spend.</a:t>
            </a:r>
          </a:p>
          <a:p/>
          <a:p>
            <a:r>
              <a:t>EXPECTATIONS: A check taxonomy owner (architect) and a registration owner (dev).</a:t>
            </a:r>
          </a:p>
          <a:p/>
          <a:p>
            <a:r>
              <a:t>LIKELY QUESTIONS:</a:t>
            </a:r>
          </a:p>
          <a:p>
            <a:r>
              <a:t>- Why semantic_guard first? It is the cheap pass; Jev handles predicates; the LLM judge only sees the grey zone (proposed pipeline).</a:t>
            </a:r>
          </a:p>
          <a:p>
            <a:r>
              <a:t>- Latency? ~80-130 ms is a class reference (vendor claim, Haiku-class comparison); measure ours.</a:t>
            </a:r>
          </a:p>
          <a:p/>
          <a:p>
            <a:r>
              <a:t>SOURCES:</a:t>
            </a:r>
          </a:p>
          <a:p>
            <a:r>
              <a:t>- https://docs.litellm.ai/docs/proxy/guardrails/decision_model</a:t>
            </a:r>
          </a:p>
          <a:p>
            <a:r>
              <a:t>- https://docs.litellm.ai/docs/providers/strands_decider</a:t>
            </a:r>
          </a:p>
          <a:p>
            <a:r>
              <a:t>- https://docs.litellm.ai/docs/providers/vllm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MCP needs its own controls: description scanning, tool policies and default-on MCP guardrails.</a:t>
            </a:r>
          </a:p>
          <a:p/>
          <a:p>
            <a:r>
              <a:t>TALK TRACK: On tools/list, pre_mcp_call scans every tool description and hides poisoned tools with the mcp_tool_description_blocked alert. On tools/call, mcp_security, tool_permission allow/deny rules, the Tool Policies registry (input untrusted/trusted/blocked) and agent_365 run before the server; post_mcp_call scans the CallToolResult with output trust levels. One trap: MCP sub-calls do not inherit request guardrails, so MCP-mode guardrails must be default_on. Agent 365 needs an Entra app with access_as_user and delegated ThreatProtection.Evaluate.All, an onboarded tenant, and fails closed with 503 after 10 s.</a:t>
            </a:r>
          </a:p>
          <a:p/>
          <a:p>
            <a:r>
              <a:t>EXECUTION: P2: poisoned-tool fixture in CI.</a:t>
            </a:r>
          </a:p>
          <a:p/>
          <a:p>
            <a:r>
              <a:t>EXPECTATIONS: MCP-mode guardrails are default_on before any agent goes through the POC gateway.</a:t>
            </a:r>
          </a:p>
          <a:p/>
          <a:p>
            <a:r>
              <a:t>LIKELY QUESTIONS:</a:t>
            </a:r>
          </a:p>
          <a:p>
            <a:r>
              <a:t>- None.</a:t>
            </a:r>
          </a:p>
          <a:p/>
          <a:p>
            <a:r>
              <a:t>SOURCES:</a:t>
            </a:r>
          </a:p>
          <a:p>
            <a:r>
              <a:t>- https://docs.litellm.ai/docs/mcp_guardrail</a:t>
            </a:r>
          </a:p>
          <a:p>
            <a:r>
              <a:t>- https://docs.litellm.ai/docs/proxy/tool_policies</a:t>
            </a:r>
          </a:p>
          <a:p>
            <a:r>
              <a:t>- https://docs.litellm.ai/docs/proxy/guardrails/microsoft_agent_365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Start P0 this week; P1-P3 run about six weeks; P4 is parallel and tenant-gated; every success number is a target the team still has to set.</a:t>
            </a:r>
          </a:p>
          <a:p/>
          <a:p>
            <a:r>
              <a:t>TALK TRACK: Walk the phases. P0 hygiene: pin 1.106.2, redaction proven on a canary secret. P1: kairos-baseline globally, logging_only first, headers on every governed call. P2: Jev decision_model checks and MCP description scanning, calibrated thresholds. P3: ACS hook and the Galileo adapter on the same three agent scenarios; verdict parity, overhead, steering effectiveness, Galileo session joins. P4: Agent 365 and Purview on one tenant. P5: productise the key-creation UX, SDK GA and runbooks. Responsibilities split architect vs dev for each phase. Stress that 50 ms, 1%, 95%, 15 min and 5 min are placeholders: target (TBD by team).</a:t>
            </a:r>
          </a:p>
          <a:p/>
          <a:p>
            <a:r>
              <a:t>EXECUTION: Assign P0 owners today; book the P1 kickoff; choose 3 scenarios and 1 tenant this week.</a:t>
            </a:r>
          </a:p>
          <a:p/>
          <a:p>
            <a:r>
              <a:t>EXPECTATIONS: Team commits to the P0-P1 dates and sets the targets in the first P1 standup.</a:t>
            </a:r>
          </a:p>
          <a:p/>
          <a:p>
            <a:r>
              <a:t>LIKELY QUESTIONS:</a:t>
            </a:r>
          </a:p>
          <a:p>
            <a:r>
              <a:t>- Why is P4 parallel? It is gated by tenant onboarding, not by our build.</a:t>
            </a:r>
          </a:p>
          <a:p>
            <a:r>
              <a:t>- What if ACS and Agent Control disagree in P3? That is the point of the bake-off; disagreements feed the catalogue.</a:t>
            </a:r>
          </a:p>
          <a:p/>
          <a:p>
            <a:r>
              <a:t>SOURCES:</a:t>
            </a:r>
          </a:p>
          <a:p>
            <a:r>
              <a:t>- Research §5 phases, responsibilities and exit criteria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We go in with six open questions and six concrete next steps.</a:t>
            </a:r>
          </a:p>
          <a:p/>
          <a:p>
            <a:r>
              <a:t>TALK TRACK: Start with the six questions, especially the 'Proceedo' confirmation, the licence path and fail-open vs fail-closed per tier. End on next steps with owners.</a:t>
            </a:r>
          </a:p>
          <a:p/>
          <a:p>
            <a:r>
              <a:t>EXECUTION: Track every open question on the POC board.</a:t>
            </a:r>
          </a:p>
          <a:p/>
          <a:p>
            <a:r>
              <a:t>EXPECTATIONS: Owners and dates for each open question.</a:t>
            </a:r>
          </a:p>
          <a:p/>
          <a:p>
            <a:r>
              <a:t>LIKELY QUESTIONS:</a:t>
            </a:r>
          </a:p>
          <a:p>
            <a:r>
              <a:t>- None.</a:t>
            </a:r>
          </a:p>
          <a:p/>
          <a:p>
            <a:r>
              <a:t>SOURCES:</a:t>
            </a:r>
          </a:p>
          <a:p>
            <a:r>
              <a:t>- Research §5 open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All claims trace to primary sources checked on 22 Oct 2026; labels on each slide say how strong each claim is.</a:t>
            </a:r>
          </a:p>
          <a:p/>
          <a:p>
            <a:r>
              <a:t>TALK TRACK: Point to the research file for the full index and the verified / vendor claim / to verify labels.</a:t>
            </a:r>
          </a:p>
          <a:p/>
          <a:p>
            <a:r>
              <a:t>EXECUTION: Keep the sources slide current.</a:t>
            </a:r>
          </a:p>
          <a:p/>
          <a:p>
            <a:r>
              <a:t>EXPECTATIONS: None.</a:t>
            </a:r>
          </a:p>
          <a:p/>
          <a:p>
            <a:r>
              <a:t>LIKELY QUESTIONS:</a:t>
            </a:r>
          </a:p>
          <a:p>
            <a:r>
              <a:t>- Where are the raw notes? /workspace/research/agent-control-governance-2026-10.md.</a:t>
            </a:r>
          </a:p>
          <a:p/>
          <a:p>
            <a:r>
              <a:t>SOURCES:</a:t>
            </a:r>
          </a:p>
          <a:p>
            <a:r>
              <a:t>- /workspace/research/agent-control-governance-2026-10.md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txBody>
          <a:bodyPr rtlCol="0" anchor="ctr" wrap="square" lIns="73152" rIns="73152"/>
          <a:lstStyle/>
          <a:p>
            <a:pPr algn="ctr"/>
          </a:p>
        </p:txBody>
      </p:sp>
      <p:sp>
        <p:nvSpPr>
          <p:cNvPr id="3" name="Rectangle 2"/>
          <p:cNvSpPr/>
          <p:nvPr/>
        </p:nvSpPr>
        <p:spPr>
          <a:xfrm>
            <a:off x="640080" y="1143000"/>
            <a:ext cx="822960" cy="91440"/>
          </a:xfrm>
          <a:prstGeom prst="rect">
            <a:avLst/>
          </a:prstGeom>
          <a:solidFill>
            <a:srgbClr val="EE0000"/>
          </a:solidFill>
          <a:ln>
            <a:noFill/>
          </a:ln>
        </p:spPr>
        <p:txBody>
          <a:bodyPr rtlCol="0" anchor="ctr" wrap="square" lIns="73152" rIns="73152"/>
          <a:lstStyle/>
          <a:p>
            <a:pPr algn="ctr"/>
          </a:p>
        </p:txBody>
      </p:sp>
      <p:sp>
        <p:nvSpPr>
          <p:cNvPr id="4" name="TextBox 3"/>
          <p:cNvSpPr txBox="1"/>
          <p:nvPr/>
        </p:nvSpPr>
        <p:spPr>
          <a:xfrm>
            <a:off x="640080" y="1371600"/>
            <a:ext cx="10515600" cy="320040"/>
          </a:xfrm>
          <a:prstGeom prst="rect">
            <a:avLst/>
          </a:prstGeom>
          <a:noFill/>
        </p:spPr>
        <p:txBody>
          <a:bodyPr wrap="square" lIns="0" rIns="0" tIns="0" bIns="0" anchor="t">
            <a:spAutoFit/>
          </a:bodyPr>
          <a:lstStyle/>
          <a:p>
            <a:pPr algn="l">
              <a:spcAft>
                <a:spcPts val="400"/>
              </a:spcAft>
            </a:pPr>
            <a:r>
              <a:rPr sz="1200" b="1">
                <a:solidFill>
                  <a:srgbClr val="D8DADA"/>
                </a:solidFill>
                <a:latin typeface="Arial"/>
              </a:rPr>
              <a:t>ENTERPRISE ARCHITECTURE  ·  AGENT CONTROL  ·  RUNTIME GOVERNANCE  ·  POC ROADMAP</a:t>
            </a:r>
          </a:p>
        </p:txBody>
      </p:sp>
      <p:sp>
        <p:nvSpPr>
          <p:cNvPr id="5" name="TextBox 4"/>
          <p:cNvSpPr txBox="1"/>
          <p:nvPr/>
        </p:nvSpPr>
        <p:spPr>
          <a:xfrm>
            <a:off x="640080" y="1783080"/>
            <a:ext cx="10881360" cy="1554480"/>
          </a:xfrm>
          <a:prstGeom prst="rect">
            <a:avLst/>
          </a:prstGeom>
          <a:noFill/>
        </p:spPr>
        <p:txBody>
          <a:bodyPr wrap="square" lIns="0" rIns="0" tIns="0" bIns="0" anchor="t">
            <a:spAutoFit/>
          </a:bodyPr>
          <a:lstStyle/>
          <a:p>
            <a:pPr algn="l">
              <a:spcAft>
                <a:spcPts val="0"/>
              </a:spcAft>
            </a:pPr>
            <a:r>
              <a:rPr sz="4200" b="1">
                <a:solidFill>
                  <a:srgbClr val="FFFFFF"/>
                </a:solidFill>
                <a:latin typeface="Arial"/>
              </a:rPr>
              <a:t>Kairos Gateway: agent control and runtime governance</a:t>
            </a:r>
          </a:p>
        </p:txBody>
      </p:sp>
      <p:sp>
        <p:nvSpPr>
          <p:cNvPr id="6" name="TextBox 5"/>
          <p:cNvSpPr txBox="1"/>
          <p:nvPr/>
        </p:nvSpPr>
        <p:spPr>
          <a:xfrm>
            <a:off x="640080" y="3429000"/>
            <a:ext cx="10424160" cy="914400"/>
          </a:xfrm>
          <a:prstGeom prst="rect">
            <a:avLst/>
          </a:prstGeom>
          <a:noFill/>
        </p:spPr>
        <p:txBody>
          <a:bodyPr wrap="square" lIns="0" rIns="0" tIns="0" bIns="0" anchor="t">
            <a:spAutoFit/>
          </a:bodyPr>
          <a:lstStyle/>
          <a:p>
            <a:pPr algn="l">
              <a:spcAft>
                <a:spcPts val="0"/>
              </a:spcAft>
            </a:pPr>
            <a:r>
              <a:rPr sz="1700" b="0">
                <a:solidFill>
                  <a:srgbClr val="D8DADA"/>
                </a:solidFill>
                <a:latin typeface="Arial"/>
              </a:rPr>
              <a:t>Kairos Gateway (built on LiteLLM) is the governance floor for every agent model and MCP call. Galileo Agent Control steers in the agent; Microsoft AGT/ACS and native guardrails enforce at the gateway; Jev decision v1 plus Kairos embeddings make the decision checks.</a:t>
            </a:r>
          </a:p>
        </p:txBody>
      </p:sp>
      <p:sp>
        <p:nvSpPr>
          <p:cNvPr id="7" name="TextBox 6"/>
          <p:cNvSpPr txBox="1"/>
          <p:nvPr/>
        </p:nvSpPr>
        <p:spPr>
          <a:xfrm>
            <a:off x="640080" y="4709160"/>
            <a:ext cx="10789920" cy="1463040"/>
          </a:xfrm>
          <a:prstGeom prst="rect">
            <a:avLst/>
          </a:prstGeom>
          <a:noFill/>
        </p:spPr>
        <p:txBody>
          <a:bodyPr wrap="square" lIns="0" rIns="0" tIns="0" bIns="0" anchor="t">
            <a:spAutoFit/>
          </a:bodyPr>
          <a:lstStyle/>
          <a:p>
            <a:pPr algn="l">
              <a:spcAft>
                <a:spcPts val="300"/>
              </a:spcAft>
            </a:pPr>
            <a:r>
              <a:rPr sz="1200" b="0">
                <a:solidFill>
                  <a:srgbClr val="747676"/>
                </a:solidFill>
                <a:latin typeface="Arial"/>
              </a:rPr>
              <a:t>Prepared for </a:t>
            </a:r>
            <a:r>
              <a:rPr sz="1200" b="1">
                <a:solidFill>
                  <a:srgbClr val="FFFFFF"/>
                </a:solidFill>
                <a:latin typeface="Arial"/>
              </a:rPr>
              <a:t>Varun Saagar and the Kairos architecture and dev teams</a:t>
            </a:r>
            <a:r>
              <a:rPr sz="1200" b="0">
                <a:solidFill>
                  <a:srgbClr val="747676"/>
                </a:solidFill>
                <a:latin typeface="Arial"/>
              </a:rPr>
              <a:t>  ·  22 October 2026  ·  architecture + roadmap to start the POC</a:t>
            </a:r>
          </a:p>
          <a:p>
            <a:pPr algn="l">
              <a:spcAft>
                <a:spcPts val="300"/>
              </a:spcAft>
            </a:pPr>
            <a:r>
              <a:rPr sz="1200" b="0">
                <a:solidFill>
                  <a:srgbClr val="747676"/>
                </a:solidFill>
                <a:latin typeface="Arial"/>
              </a:rPr>
              <a:t>Baseline: LiteLLM v1.106.2  ·  research checked 22 Oct 2026  ·  separate from the auto-router deck.</a:t>
            </a:r>
          </a:p>
          <a:p>
            <a:pPr algn="l">
              <a:spcAft>
                <a:spcPts val="300"/>
              </a:spcAft>
            </a:pPr>
            <a:r>
              <a:rPr sz="1200" b="1">
                <a:solidFill>
                  <a:srgbClr val="FFFFFF"/>
                </a:solidFill>
                <a:latin typeface="Arial"/>
              </a:rPr>
              <a:t>Labels:</a:t>
            </a:r>
            <a:r>
              <a:rPr sz="1200" b="0">
                <a:solidFill>
                  <a:srgbClr val="747676"/>
                </a:solidFill>
                <a:latin typeface="Arial"/>
              </a:rPr>
              <a:t> 'verified' = primary source or code. 'vendor claim' = vendor number, not reproduced. 'to verify' = confirm in the POC. 'target (TBD by team)' = placeholder goal.</a:t>
            </a:r>
          </a:p>
        </p:txBody>
      </p:sp>
      <p:sp>
        <p:nvSpPr>
          <p:cNvPr id="8" name="Rectangle 7"/>
          <p:cNvSpPr/>
          <p:nvPr/>
        </p:nvSpPr>
        <p:spPr>
          <a:xfrm>
            <a:off x="640080" y="6263640"/>
            <a:ext cx="320040" cy="54864"/>
          </a:xfrm>
          <a:prstGeom prst="rect">
            <a:avLst/>
          </a:prstGeom>
          <a:solidFill>
            <a:srgbClr val="EE0000"/>
          </a:solidFill>
          <a:ln>
            <a:noFill/>
          </a:ln>
        </p:spPr>
        <p:txBody>
          <a:bodyPr rtlCol="0" anchor="ctr" wrap="square" lIns="73152" rIns="73152"/>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PROBLEM AND SCOPE</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Agents plan and run local tools where Kairos Gateway cannot see: we need one enforcement floor at the gateway plus steering inside the agent</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Scope: agent control and runtime governance only; routing is in the auto-router deck. Visibility limits: ACS docs (client-side tools are outside mediation).</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2</a:t>
            </a:r>
          </a:p>
        </p:txBody>
      </p:sp>
      <p:sp>
        <p:nvSpPr>
          <p:cNvPr id="8" name="Rectangle 7"/>
          <p:cNvSpPr/>
          <p:nvPr/>
        </p:nvSpPr>
        <p:spPr>
          <a:xfrm>
            <a:off x="457200" y="1417320"/>
            <a:ext cx="2697480" cy="3886200"/>
          </a:xfrm>
          <a:prstGeom prst="rect">
            <a:avLst/>
          </a:prstGeom>
          <a:noFill/>
          <a:ln w="9525">
            <a:solidFill>
              <a:srgbClr val="747676"/>
            </a:solidFill>
            <a:prstDash val="dash"/>
          </a:ln>
        </p:spPr>
        <p:txBody>
          <a:bodyPr rtlCol="0" anchor="ctr" wrap="square" lIns="73152" rIns="73152"/>
          <a:lstStyle/>
          <a:p>
            <a:pPr algn="ctr"/>
          </a:p>
        </p:txBody>
      </p:sp>
      <p:sp>
        <p:nvSpPr>
          <p:cNvPr id="9" name="TextBox 8"/>
          <p:cNvSpPr txBox="1"/>
          <p:nvPr/>
        </p:nvSpPr>
        <p:spPr>
          <a:xfrm>
            <a:off x="548640" y="1463040"/>
            <a:ext cx="2514600" cy="502920"/>
          </a:xfrm>
          <a:prstGeom prst="rect">
            <a:avLst/>
          </a:prstGeom>
          <a:noFill/>
        </p:spPr>
        <p:txBody>
          <a:bodyPr wrap="square" lIns="0" rIns="0" tIns="0" bIns="0" anchor="t">
            <a:spAutoFit/>
          </a:bodyPr>
          <a:lstStyle/>
          <a:p>
            <a:pPr algn="l">
              <a:spcAft>
                <a:spcPts val="0"/>
              </a:spcAft>
            </a:pPr>
            <a:r>
              <a:rPr sz="1100" b="1">
                <a:solidFill>
                  <a:srgbClr val="000000"/>
                </a:solidFill>
                <a:latin typeface="Arial"/>
              </a:rPr>
              <a:t>Agent</a:t>
            </a:r>
          </a:p>
          <a:p>
            <a:pPr algn="l">
              <a:spcAft>
                <a:spcPts val="0"/>
              </a:spcAft>
            </a:pPr>
            <a:r>
              <a:rPr sz="1100" b="0">
                <a:solidFill>
                  <a:srgbClr val="747676"/>
                </a:solidFill>
                <a:latin typeface="Arial"/>
              </a:rPr>
              <a:t>ADK · Strands · LangChain · Claude Code · Codex</a:t>
            </a:r>
          </a:p>
        </p:txBody>
      </p:sp>
      <p:sp>
        <p:nvSpPr>
          <p:cNvPr id="10" name="Rectangle 9"/>
          <p:cNvSpPr/>
          <p:nvPr/>
        </p:nvSpPr>
        <p:spPr>
          <a:xfrm>
            <a:off x="640080" y="2057400"/>
            <a:ext cx="2331720" cy="502920"/>
          </a:xfrm>
          <a:prstGeom prst="rect">
            <a:avLst/>
          </a:prstGeom>
          <a:solidFill>
            <a:srgbClr val="FDE5E5"/>
          </a:solidFill>
          <a:ln>
            <a:noFill/>
          </a:ln>
        </p:spPr>
        <p:txBody>
          <a:bodyPr rtlCol="0" anchor="ctr" wrap="square" lIns="73152" rIns="73152"/>
          <a:lstStyle/>
          <a:p>
            <a:pPr algn="ctr">
              <a:spcAft>
                <a:spcPts val="200"/>
              </a:spcAft>
            </a:pPr>
            <a:r>
              <a:rPr sz="1050" b="1">
                <a:solidFill>
                  <a:srgbClr val="000000"/>
                </a:solidFill>
                <a:latin typeface="Arial"/>
              </a:rPr>
              <a:t>Planning / reasoning</a:t>
            </a:r>
          </a:p>
        </p:txBody>
      </p:sp>
      <p:sp>
        <p:nvSpPr>
          <p:cNvPr id="11" name="Rectangle 10"/>
          <p:cNvSpPr/>
          <p:nvPr/>
        </p:nvSpPr>
        <p:spPr>
          <a:xfrm>
            <a:off x="640080" y="2651760"/>
            <a:ext cx="2331720" cy="502920"/>
          </a:xfrm>
          <a:prstGeom prst="rect">
            <a:avLst/>
          </a:prstGeom>
          <a:solidFill>
            <a:srgbClr val="FDE5E5"/>
          </a:solidFill>
          <a:ln>
            <a:noFill/>
          </a:ln>
        </p:spPr>
        <p:txBody>
          <a:bodyPr rtlCol="0" anchor="ctr" wrap="square" lIns="73152" rIns="73152"/>
          <a:lstStyle/>
          <a:p>
            <a:pPr algn="ctr">
              <a:spcAft>
                <a:spcPts val="200"/>
              </a:spcAft>
            </a:pPr>
            <a:r>
              <a:rPr sz="1050" b="1">
                <a:solidFill>
                  <a:srgbClr val="000000"/>
                </a:solidFill>
                <a:latin typeface="Arial"/>
              </a:rPr>
              <a:t>Local and client-side tools</a:t>
            </a:r>
          </a:p>
        </p:txBody>
      </p:sp>
      <p:sp>
        <p:nvSpPr>
          <p:cNvPr id="12" name="TextBox 11"/>
          <p:cNvSpPr txBox="1"/>
          <p:nvPr/>
        </p:nvSpPr>
        <p:spPr>
          <a:xfrm>
            <a:off x="640080" y="3200400"/>
            <a:ext cx="2331720" cy="411480"/>
          </a:xfrm>
          <a:prstGeom prst="rect">
            <a:avLst/>
          </a:prstGeom>
          <a:noFill/>
        </p:spPr>
        <p:txBody>
          <a:bodyPr wrap="square" lIns="0" rIns="0" tIns="0" bIns="0" anchor="t">
            <a:spAutoFit/>
          </a:bodyPr>
          <a:lstStyle/>
          <a:p>
            <a:pPr algn="ctr">
              <a:spcAft>
                <a:spcPts val="400"/>
              </a:spcAft>
            </a:pPr>
            <a:r>
              <a:rPr sz="950" b="1">
                <a:solidFill>
                  <a:srgbClr val="EE0000"/>
                </a:solidFill>
                <a:latin typeface="Arial"/>
              </a:rPr>
              <a:t>Gateway never sees these → Agent Control @control() in the agent</a:t>
            </a:r>
          </a:p>
        </p:txBody>
      </p:sp>
      <p:sp>
        <p:nvSpPr>
          <p:cNvPr id="13" name="Rectangle 12"/>
          <p:cNvSpPr/>
          <p:nvPr/>
        </p:nvSpPr>
        <p:spPr>
          <a:xfrm>
            <a:off x="640080" y="3703320"/>
            <a:ext cx="2331720" cy="914400"/>
          </a:xfrm>
          <a:prstGeom prst="rect">
            <a:avLst/>
          </a:prstGeom>
          <a:solidFill>
            <a:srgbClr val="000000"/>
          </a:solidFill>
          <a:ln>
            <a:noFill/>
          </a:ln>
        </p:spPr>
        <p:txBody>
          <a:bodyPr rtlCol="0" anchor="ctr" wrap="square" lIns="73152" rIns="73152"/>
          <a:lstStyle/>
          <a:p>
            <a:pPr algn="ctr">
              <a:spcAft>
                <a:spcPts val="200"/>
              </a:spcAft>
            </a:pPr>
            <a:r>
              <a:rPr sz="1100" b="1">
                <a:solidFill>
                  <a:srgbClr val="FFFFFF"/>
                </a:solidFill>
                <a:latin typeface="Arial"/>
              </a:rPr>
              <a:t>Kairos SDK wrapper</a:t>
            </a:r>
          </a:p>
          <a:p>
            <a:pPr algn="ctr">
              <a:spcAft>
                <a:spcPts val="200"/>
              </a:spcAft>
            </a:pPr>
            <a:r>
              <a:rPr sz="950" b="0">
                <a:solidFill>
                  <a:srgbClr val="D8DADA"/>
                </a:solidFill>
                <a:latin typeface="Arial"/>
              </a:rPr>
              <a:t>session_id · trace_id · Entra user · agent alias</a:t>
            </a:r>
          </a:p>
        </p:txBody>
      </p:sp>
      <p:sp>
        <p:nvSpPr>
          <p:cNvPr id="14" name="TextBox 13"/>
          <p:cNvSpPr txBox="1"/>
          <p:nvPr/>
        </p:nvSpPr>
        <p:spPr>
          <a:xfrm>
            <a:off x="640080" y="4709160"/>
            <a:ext cx="2331720" cy="502920"/>
          </a:xfrm>
          <a:prstGeom prst="rect">
            <a:avLst/>
          </a:prstGeom>
          <a:noFill/>
        </p:spPr>
        <p:txBody>
          <a:bodyPr wrap="square" lIns="0" rIns="0" tIns="0" bIns="0" anchor="t">
            <a:spAutoFit/>
          </a:bodyPr>
          <a:lstStyle/>
          <a:p>
            <a:pPr algn="ctr">
              <a:spcAft>
                <a:spcPts val="400"/>
              </a:spcAft>
            </a:pPr>
            <a:r>
              <a:rPr sz="950" b="0">
                <a:solidFill>
                  <a:srgbClr val="747676"/>
                </a:solidFill>
                <a:latin typeface="Arial"/>
              </a:rPr>
              <a:t>or no-code: the key just picks a governed kairos-agent-* alias</a:t>
            </a:r>
          </a:p>
        </p:txBody>
      </p:sp>
      <p:sp>
        <p:nvSpPr>
          <p:cNvPr id="15" name="Rectangle 14"/>
          <p:cNvSpPr/>
          <p:nvPr/>
        </p:nvSpPr>
        <p:spPr>
          <a:xfrm>
            <a:off x="3886200" y="1417320"/>
            <a:ext cx="1874519" cy="3886200"/>
          </a:xfrm>
          <a:prstGeom prst="rect">
            <a:avLst/>
          </a:prstGeom>
          <a:solidFill>
            <a:srgbClr val="000000"/>
          </a:solidFill>
          <a:ln>
            <a:noFill/>
          </a:ln>
        </p:spPr>
        <p:txBody>
          <a:bodyPr rtlCol="0" anchor="ctr" wrap="square" lIns="73152" rIns="73152"/>
          <a:lstStyle/>
          <a:p>
            <a:pPr algn="ctr">
              <a:spcAft>
                <a:spcPts val="200"/>
              </a:spcAft>
            </a:pPr>
            <a:r>
              <a:rPr sz="1300" b="1">
                <a:solidFill>
                  <a:srgbClr val="FFFFFF"/>
                </a:solidFill>
                <a:latin typeface="Arial"/>
              </a:rPr>
              <a:t>Kairos Gateway</a:t>
            </a:r>
          </a:p>
          <a:p>
            <a:pPr algn="ctr">
              <a:spcAft>
                <a:spcPts val="200"/>
              </a:spcAft>
            </a:pPr>
            <a:r>
              <a:rPr sz="950" b="0">
                <a:solidFill>
                  <a:srgbClr val="D8DADA"/>
                </a:solidFill>
                <a:latin typeface="Arial"/>
              </a:rPr>
              <a:t>built on LiteLLM 1.106.2</a:t>
            </a:r>
          </a:p>
          <a:p>
            <a:pPr algn="ctr">
              <a:spcAft>
                <a:spcPts val="200"/>
              </a:spcAft>
            </a:pPr>
            <a:r>
              <a:rPr sz="600" b="1">
                <a:solidFill>
                  <a:srgbClr val="FFFFFF"/>
                </a:solidFill>
                <a:latin typeface="Arial"/>
              </a:rPr>
              <a:t> </a:t>
            </a:r>
          </a:p>
          <a:p>
            <a:pPr algn="ctr">
              <a:spcAft>
                <a:spcPts val="200"/>
              </a:spcAft>
            </a:pPr>
            <a:r>
              <a:rPr sz="1000" b="1">
                <a:solidFill>
                  <a:srgbClr val="EE0000"/>
                </a:solidFill>
                <a:latin typeface="Arial"/>
              </a:rPr>
              <a:t>policy floor</a:t>
            </a:r>
          </a:p>
          <a:p>
            <a:pPr algn="ctr">
              <a:spcAft>
                <a:spcPts val="200"/>
              </a:spcAft>
            </a:pPr>
            <a:r>
              <a:rPr sz="1000" b="0">
                <a:solidFill>
                  <a:srgbClr val="FFFFFF"/>
                </a:solidFill>
                <a:latin typeface="Arial"/>
              </a:rPr>
              <a:t>pre_call</a:t>
            </a:r>
          </a:p>
          <a:p>
            <a:pPr algn="ctr">
              <a:spcAft>
                <a:spcPts val="200"/>
              </a:spcAft>
            </a:pPr>
            <a:r>
              <a:rPr sz="1000" b="0">
                <a:solidFill>
                  <a:srgbClr val="FFFFFF"/>
                </a:solidFill>
                <a:latin typeface="Arial"/>
              </a:rPr>
              <a:t>post_call</a:t>
            </a:r>
          </a:p>
          <a:p>
            <a:pPr algn="ctr">
              <a:spcAft>
                <a:spcPts val="200"/>
              </a:spcAft>
            </a:pPr>
            <a:r>
              <a:rPr sz="1000" b="0">
                <a:solidFill>
                  <a:srgbClr val="FFFFFF"/>
                </a:solidFill>
                <a:latin typeface="Arial"/>
              </a:rPr>
              <a:t>pre_mcp_call</a:t>
            </a:r>
          </a:p>
          <a:p>
            <a:pPr algn="ctr">
              <a:spcAft>
                <a:spcPts val="200"/>
              </a:spcAft>
            </a:pPr>
            <a:r>
              <a:rPr sz="1000" b="0">
                <a:solidFill>
                  <a:srgbClr val="FFFFFF"/>
                </a:solidFill>
                <a:latin typeface="Arial"/>
              </a:rPr>
              <a:t>post_mcp_call</a:t>
            </a:r>
          </a:p>
          <a:p>
            <a:pPr algn="ctr">
              <a:spcAft>
                <a:spcPts val="200"/>
              </a:spcAft>
            </a:pPr>
            <a:r>
              <a:rPr sz="600" b="1">
                <a:solidFill>
                  <a:srgbClr val="FFFFFF"/>
                </a:solidFill>
                <a:latin typeface="Arial"/>
              </a:rPr>
              <a:t> </a:t>
            </a:r>
          </a:p>
          <a:p>
            <a:pPr algn="ctr">
              <a:spcAft>
                <a:spcPts val="200"/>
              </a:spcAft>
            </a:pPr>
            <a:r>
              <a:rPr sz="1000" b="0">
                <a:solidFill>
                  <a:srgbClr val="D8DADA"/>
                </a:solidFill>
                <a:latin typeface="Arial"/>
              </a:rPr>
              <a:t>policies · default_on</a:t>
            </a:r>
          </a:p>
        </p:txBody>
      </p:sp>
      <p:cxnSp>
        <p:nvCxnSpPr>
          <p:cNvPr id="16" name="Connector 15"/>
          <p:cNvCxnSpPr/>
          <p:nvPr/>
        </p:nvCxnSpPr>
        <p:spPr>
          <a:xfrm>
            <a:off x="2971800" y="4160520"/>
            <a:ext cx="914400" cy="0"/>
          </a:xfrm>
          <a:prstGeom prst="line">
            <a:avLst/>
          </a:prstGeom>
          <a:ln w="19050">
            <a:solidFill>
              <a:srgbClr val="000000"/>
            </a:solidFill>
            <a:tailEnd type="triangle" w="med" len="med"/>
          </a:ln>
        </p:spPr>
      </p:cxnSp>
      <p:sp>
        <p:nvSpPr>
          <p:cNvPr id="17" name="TextBox 16"/>
          <p:cNvSpPr txBox="1"/>
          <p:nvPr/>
        </p:nvSpPr>
        <p:spPr>
          <a:xfrm>
            <a:off x="2990088" y="3703320"/>
            <a:ext cx="877824" cy="411480"/>
          </a:xfrm>
          <a:prstGeom prst="rect">
            <a:avLst/>
          </a:prstGeom>
          <a:noFill/>
        </p:spPr>
        <p:txBody>
          <a:bodyPr wrap="square" lIns="0" rIns="0" tIns="0" bIns="0" anchor="t">
            <a:spAutoFit/>
          </a:bodyPr>
          <a:lstStyle/>
          <a:p>
            <a:pPr algn="ctr">
              <a:spcAft>
                <a:spcPts val="0"/>
              </a:spcAft>
            </a:pPr>
            <a:r>
              <a:rPr sz="900" b="0">
                <a:solidFill>
                  <a:srgbClr val="747676"/>
                </a:solidFill>
                <a:latin typeface="Arial"/>
              </a:rPr>
              <a:t>model + MCP calls</a:t>
            </a:r>
          </a:p>
        </p:txBody>
      </p:sp>
      <p:sp>
        <p:nvSpPr>
          <p:cNvPr id="18" name="Rectangle 17"/>
          <p:cNvSpPr/>
          <p:nvPr/>
        </p:nvSpPr>
        <p:spPr>
          <a:xfrm>
            <a:off x="6080760" y="1417320"/>
            <a:ext cx="1691640" cy="2148840"/>
          </a:xfrm>
          <a:prstGeom prst="rect">
            <a:avLst/>
          </a:prstGeom>
          <a:solidFill>
            <a:srgbClr val="F6F6F6"/>
          </a:solidFill>
          <a:ln>
            <a:noFill/>
          </a:ln>
        </p:spPr>
        <p:txBody>
          <a:bodyPr rtlCol="0" anchor="ctr" wrap="square" lIns="73152" rIns="73152"/>
          <a:lstStyle/>
          <a:p>
            <a:pPr algn="ctr">
              <a:spcAft>
                <a:spcPts val="300"/>
              </a:spcAft>
            </a:pPr>
            <a:r>
              <a:rPr sz="1100" b="1">
                <a:solidFill>
                  <a:srgbClr val="000000"/>
                </a:solidFill>
                <a:latin typeface="Arial"/>
              </a:rPr>
              <a:t>Model providers</a:t>
            </a:r>
          </a:p>
          <a:p>
            <a:pPr algn="ctr">
              <a:spcAft>
                <a:spcPts val="300"/>
              </a:spcAft>
            </a:pPr>
            <a:r>
              <a:rPr sz="950" b="0">
                <a:solidFill>
                  <a:srgbClr val="000000"/>
                </a:solidFill>
                <a:latin typeface="Arial"/>
              </a:rPr>
              <a:t>Vertex (Gemini Enterprise Agent Platform)</a:t>
            </a:r>
          </a:p>
          <a:p>
            <a:pPr algn="ctr">
              <a:spcAft>
                <a:spcPts val="300"/>
              </a:spcAft>
            </a:pPr>
            <a:r>
              <a:rPr sz="950" b="0">
                <a:solidFill>
                  <a:srgbClr val="000000"/>
                </a:solidFill>
                <a:latin typeface="Arial"/>
              </a:rPr>
              <a:t>Bedrock · Azure</a:t>
            </a:r>
          </a:p>
          <a:p>
            <a:pPr algn="ctr">
              <a:spcAft>
                <a:spcPts val="300"/>
              </a:spcAft>
            </a:pPr>
            <a:r>
              <a:rPr sz="950" b="0">
                <a:solidFill>
                  <a:srgbClr val="000000"/>
                </a:solidFill>
                <a:latin typeface="Arial"/>
              </a:rPr>
              <a:t>self-hosted vLLM: Jev decision v1, embeddings</a:t>
            </a:r>
          </a:p>
        </p:txBody>
      </p:sp>
      <p:sp>
        <p:nvSpPr>
          <p:cNvPr id="19" name="Rectangle 18"/>
          <p:cNvSpPr/>
          <p:nvPr/>
        </p:nvSpPr>
        <p:spPr>
          <a:xfrm>
            <a:off x="6080760" y="3749039"/>
            <a:ext cx="1691640" cy="1554480"/>
          </a:xfrm>
          <a:prstGeom prst="rect">
            <a:avLst/>
          </a:prstGeom>
          <a:solidFill>
            <a:srgbClr val="F6F6F6"/>
          </a:solidFill>
          <a:ln>
            <a:noFill/>
          </a:ln>
        </p:spPr>
        <p:txBody>
          <a:bodyPr rtlCol="0" anchor="ctr" wrap="square" lIns="73152" rIns="73152"/>
          <a:lstStyle/>
          <a:p>
            <a:pPr algn="ctr">
              <a:spcAft>
                <a:spcPts val="300"/>
              </a:spcAft>
            </a:pPr>
            <a:r>
              <a:rPr sz="1100" b="1">
                <a:solidFill>
                  <a:srgbClr val="000000"/>
                </a:solidFill>
                <a:latin typeface="Arial"/>
              </a:rPr>
              <a:t>MCP servers</a:t>
            </a:r>
          </a:p>
          <a:p>
            <a:pPr algn="ctr">
              <a:spcAft>
                <a:spcPts val="300"/>
              </a:spcAft>
            </a:pPr>
            <a:r>
              <a:rPr sz="950" b="0">
                <a:solidFill>
                  <a:srgbClr val="000000"/>
                </a:solidFill>
                <a:latin typeface="Arial"/>
              </a:rPr>
              <a:t>tools/list · tools/call</a:t>
            </a:r>
          </a:p>
          <a:p>
            <a:pPr algn="ctr">
              <a:spcAft>
                <a:spcPts val="300"/>
              </a:spcAft>
            </a:pPr>
            <a:r>
              <a:rPr sz="950" b="0">
                <a:solidFill>
                  <a:srgbClr val="000000"/>
                </a:solidFill>
                <a:latin typeface="Arial"/>
              </a:rPr>
              <a:t>internal and third-party tools</a:t>
            </a:r>
          </a:p>
        </p:txBody>
      </p:sp>
      <p:cxnSp>
        <p:nvCxnSpPr>
          <p:cNvPr id="20" name="Connector 19"/>
          <p:cNvCxnSpPr/>
          <p:nvPr/>
        </p:nvCxnSpPr>
        <p:spPr>
          <a:xfrm>
            <a:off x="5760720" y="2468880"/>
            <a:ext cx="320040" cy="0"/>
          </a:xfrm>
          <a:prstGeom prst="line">
            <a:avLst/>
          </a:prstGeom>
          <a:ln w="19050">
            <a:solidFill>
              <a:srgbClr val="000000"/>
            </a:solidFill>
            <a:tailEnd type="triangle" w="med" len="med"/>
          </a:ln>
        </p:spPr>
      </p:cxnSp>
      <p:cxnSp>
        <p:nvCxnSpPr>
          <p:cNvPr id="21" name="Connector 20"/>
          <p:cNvCxnSpPr/>
          <p:nvPr/>
        </p:nvCxnSpPr>
        <p:spPr>
          <a:xfrm>
            <a:off x="5760720" y="4526280"/>
            <a:ext cx="320040" cy="0"/>
          </a:xfrm>
          <a:prstGeom prst="line">
            <a:avLst/>
          </a:prstGeom>
          <a:ln w="19050">
            <a:solidFill>
              <a:srgbClr val="000000"/>
            </a:solidFill>
            <a:tailEnd type="triangle" w="med" len="med"/>
          </a:ln>
        </p:spPr>
      </p:cxnSp>
      <p:sp>
        <p:nvSpPr>
          <p:cNvPr id="22" name="Rectangle 21"/>
          <p:cNvSpPr/>
          <p:nvPr/>
        </p:nvSpPr>
        <p:spPr>
          <a:xfrm>
            <a:off x="457200" y="5486400"/>
            <a:ext cx="7315200" cy="411480"/>
          </a:xfrm>
          <a:prstGeom prst="rect">
            <a:avLst/>
          </a:prstGeom>
          <a:solidFill>
            <a:srgbClr val="FFFFFF"/>
          </a:solidFill>
          <a:ln w="9525">
            <a:solidFill>
              <a:srgbClr val="D8DADA"/>
            </a:solidFill>
          </a:ln>
        </p:spPr>
        <p:txBody>
          <a:bodyPr rtlCol="0" anchor="ctr" wrap="square" lIns="73152" rIns="73152"/>
          <a:lstStyle/>
          <a:p>
            <a:pPr algn="ctr">
              <a:spcAft>
                <a:spcPts val="200"/>
              </a:spcAft>
            </a:pPr>
            <a:r>
              <a:rPr sz="1050" b="1">
                <a:solidFill>
                  <a:srgbClr val="333333"/>
                </a:solidFill>
                <a:latin typeface="Arial"/>
              </a:rPr>
              <a:t>Galileo</a:t>
            </a:r>
            <a:r>
              <a:rPr sz="1050" b="0">
                <a:solidFill>
                  <a:srgbClr val="333333"/>
                </a:solidFill>
                <a:latin typeface="Arial"/>
              </a:rPr>
              <a:t>: traces, Agent Control events and guardrail verdicts, with prompt/response redaction ON</a:t>
            </a:r>
          </a:p>
        </p:txBody>
      </p:sp>
      <p:sp>
        <p:nvSpPr>
          <p:cNvPr id="23" name="TextBox 22"/>
          <p:cNvSpPr txBox="1"/>
          <p:nvPr/>
        </p:nvSpPr>
        <p:spPr>
          <a:xfrm>
            <a:off x="457200" y="5943600"/>
            <a:ext cx="7315200" cy="365760"/>
          </a:xfrm>
          <a:prstGeom prst="rect">
            <a:avLst/>
          </a:prstGeom>
          <a:noFill/>
        </p:spPr>
        <p:txBody>
          <a:bodyPr wrap="square" lIns="0" rIns="0" tIns="0" bIns="0" anchor="t">
            <a:spAutoFit/>
          </a:bodyPr>
          <a:lstStyle/>
          <a:p>
            <a:pPr algn="l">
              <a:spcAft>
                <a:spcPts val="400"/>
              </a:spcAft>
            </a:pPr>
            <a:r>
              <a:rPr sz="950" b="0">
                <a:solidFill>
                  <a:srgbClr val="747676"/>
                </a:solidFill>
                <a:latin typeface="Arial"/>
              </a:rPr>
              <a:t>Pink = agent-internal steps outside gateway mediation. Black = what Kairos Gateway enforces on every call.</a:t>
            </a:r>
          </a:p>
        </p:txBody>
      </p:sp>
      <p:sp>
        <p:nvSpPr>
          <p:cNvPr id="24" name="Rectangle 23"/>
          <p:cNvSpPr/>
          <p:nvPr/>
        </p:nvSpPr>
        <p:spPr>
          <a:xfrm>
            <a:off x="8092440" y="1417320"/>
            <a:ext cx="3639312" cy="4846320"/>
          </a:xfrm>
          <a:prstGeom prst="rect">
            <a:avLst/>
          </a:prstGeom>
          <a:solidFill>
            <a:srgbClr val="F6F6F6"/>
          </a:solidFill>
          <a:ln>
            <a:noFill/>
          </a:ln>
        </p:spPr>
        <p:txBody>
          <a:bodyPr rtlCol="0" anchor="ctr" wrap="square" lIns="73152" rIns="73152"/>
          <a:lstStyle/>
          <a:p>
            <a:pPr algn="ctr"/>
          </a:p>
        </p:txBody>
      </p:sp>
      <p:sp>
        <p:nvSpPr>
          <p:cNvPr id="25" name="Rectangle 24"/>
          <p:cNvSpPr/>
          <p:nvPr/>
        </p:nvSpPr>
        <p:spPr>
          <a:xfrm>
            <a:off x="8092440" y="1417320"/>
            <a:ext cx="73152" cy="4846320"/>
          </a:xfrm>
          <a:prstGeom prst="rect">
            <a:avLst/>
          </a:prstGeom>
          <a:solidFill>
            <a:srgbClr val="EE0000"/>
          </a:solidFill>
          <a:ln>
            <a:noFill/>
          </a:ln>
        </p:spPr>
        <p:txBody>
          <a:bodyPr rtlCol="0" anchor="ctr" wrap="square" lIns="73152" rIns="73152"/>
          <a:lstStyle/>
          <a:p>
            <a:pPr algn="ctr"/>
          </a:p>
        </p:txBody>
      </p:sp>
      <p:sp>
        <p:nvSpPr>
          <p:cNvPr id="26" name="TextBox 25"/>
          <p:cNvSpPr txBox="1"/>
          <p:nvPr/>
        </p:nvSpPr>
        <p:spPr>
          <a:xfrm>
            <a:off x="8321040" y="1508760"/>
            <a:ext cx="3291840" cy="4663440"/>
          </a:xfrm>
          <a:prstGeom prst="rect">
            <a:avLst/>
          </a:prstGeom>
          <a:noFill/>
        </p:spPr>
        <p:txBody>
          <a:bodyPr wrap="square" lIns="0" rIns="0" tIns="0" bIns="0" anchor="t">
            <a:spAutoFit/>
          </a:bodyPr>
          <a:lstStyle/>
          <a:p>
            <a:pPr algn="l">
              <a:spcAft>
                <a:spcPts val="300"/>
              </a:spcAft>
            </a:pPr>
            <a:r>
              <a:rPr sz="1300" b="1">
                <a:solidFill>
                  <a:srgbClr val="000000"/>
                </a:solidFill>
                <a:latin typeface="Arial"/>
              </a:rPr>
              <a:t>In scope (this deck)</a:t>
            </a:r>
          </a:p>
          <a:p>
            <a:pPr algn="l" marL="120015" indent="-120015">
              <a:spcAft>
                <a:spcPts val="300"/>
              </a:spcAft>
              <a:buClr>
                <a:srgbClr val="747676"/>
              </a:buClr>
              <a:buFont typeface="Arial"/>
              <a:buChar char="•"/>
            </a:pPr>
            <a:r>
              <a:rPr sz="1050" b="0">
                <a:solidFill>
                  <a:srgbClr val="333333"/>
                </a:solidFill>
                <a:latin typeface="Arial"/>
              </a:rPr>
              <a:t>Gateway enforcement floor on every model and MCP call</a:t>
            </a:r>
          </a:p>
          <a:p>
            <a:pPr algn="l" marL="120015" indent="-120015">
              <a:spcAft>
                <a:spcPts val="300"/>
              </a:spcAft>
              <a:buClr>
                <a:srgbClr val="747676"/>
              </a:buClr>
              <a:buFont typeface="Arial"/>
              <a:buChar char="•"/>
            </a:pPr>
            <a:r>
              <a:rPr sz="1050" b="0">
                <a:solidFill>
                  <a:srgbClr val="333333"/>
                </a:solidFill>
                <a:latin typeface="Arial"/>
              </a:rPr>
              <a:t>In-agent steering for steps the gateway cannot see</a:t>
            </a:r>
          </a:p>
          <a:p>
            <a:pPr algn="l" marL="120015" indent="-120015">
              <a:spcAft>
                <a:spcPts val="300"/>
              </a:spcAft>
              <a:buClr>
                <a:srgbClr val="747676"/>
              </a:buClr>
              <a:buFont typeface="Arial"/>
              <a:buChar char="•"/>
            </a:pPr>
            <a:r>
              <a:rPr sz="1050" b="0">
                <a:solidFill>
                  <a:srgbClr val="333333"/>
                </a:solidFill>
                <a:latin typeface="Arial"/>
              </a:rPr>
              <a:t>Policy tiers, key-creation UX, SDK contract</a:t>
            </a:r>
          </a:p>
          <a:p>
            <a:pPr algn="l" marL="120015" indent="-120015">
              <a:spcAft>
                <a:spcPts val="300"/>
              </a:spcAft>
              <a:buClr>
                <a:srgbClr val="747676"/>
              </a:buClr>
              <a:buFont typeface="Arial"/>
              <a:buChar char="•"/>
            </a:pPr>
            <a:r>
              <a:rPr sz="1050" b="0">
                <a:solidFill>
                  <a:srgbClr val="333333"/>
                </a:solidFill>
                <a:latin typeface="Arial"/>
              </a:rPr>
              <a:t>MCP governance and agent identity (Entra)</a:t>
            </a:r>
          </a:p>
          <a:p>
            <a:pPr algn="l" marL="120015" indent="-120015">
              <a:spcAft>
                <a:spcPts val="300"/>
              </a:spcAft>
              <a:buClr>
                <a:srgbClr val="747676"/>
              </a:buClr>
              <a:buFont typeface="Arial"/>
              <a:buChar char="•"/>
            </a:pPr>
            <a:r>
              <a:rPr sz="1050" b="0">
                <a:solidFill>
                  <a:srgbClr val="333333"/>
                </a:solidFill>
                <a:latin typeface="Arial"/>
              </a:rPr>
              <a:t>Decision checks: Jev decision v1 + embeddings</a:t>
            </a:r>
          </a:p>
          <a:p>
            <a:pPr algn="l">
              <a:spcBef>
                <a:spcPts val="600"/>
              </a:spcBef>
              <a:spcAft>
                <a:spcPts val="300"/>
              </a:spcAft>
            </a:pPr>
            <a:r>
              <a:rPr sz="1300" b="1">
                <a:solidFill>
                  <a:srgbClr val="000000"/>
                </a:solidFill>
                <a:latin typeface="Arial"/>
              </a:rPr>
              <a:t>Out of scope</a:t>
            </a:r>
          </a:p>
          <a:p>
            <a:pPr algn="l" marL="120015" indent="-120015">
              <a:spcAft>
                <a:spcPts val="300"/>
              </a:spcAft>
              <a:buClr>
                <a:srgbClr val="747676"/>
              </a:buClr>
              <a:buFont typeface="Arial"/>
              <a:buChar char="•"/>
            </a:pPr>
            <a:r>
              <a:rPr sz="1050" b="0">
                <a:solidFill>
                  <a:srgbClr val="333333"/>
                </a:solidFill>
                <a:latin typeface="Arial"/>
              </a:rPr>
              <a:t>Auto router / complexity routing (separate deck)</a:t>
            </a:r>
          </a:p>
          <a:p>
            <a:pPr algn="l" marL="120015" indent="-120015">
              <a:spcAft>
                <a:spcPts val="300"/>
              </a:spcAft>
              <a:buClr>
                <a:srgbClr val="747676"/>
              </a:buClr>
              <a:buFont typeface="Arial"/>
              <a:buChar char="•"/>
            </a:pPr>
            <a:r>
              <a:rPr sz="1050" b="0">
                <a:solidFill>
                  <a:srgbClr val="333333"/>
                </a:solidFill>
                <a:latin typeface="Arial"/>
              </a:rPr>
              <a:t>Model training and calibration internals</a:t>
            </a:r>
          </a:p>
          <a:p>
            <a:pPr algn="l">
              <a:spcBef>
                <a:spcPts val="600"/>
              </a:spcBef>
              <a:spcAft>
                <a:spcPts val="300"/>
              </a:spcAft>
            </a:pPr>
            <a:r>
              <a:rPr sz="1300" b="1">
                <a:solidFill>
                  <a:srgbClr val="000000"/>
                </a:solidFill>
                <a:latin typeface="Arial"/>
              </a:rPr>
              <a:t>Requirements</a:t>
            </a:r>
          </a:p>
          <a:p>
            <a:pPr algn="l" marL="120015" indent="-120015">
              <a:spcAft>
                <a:spcPts val="300"/>
              </a:spcAft>
              <a:buClr>
                <a:srgbClr val="747676"/>
              </a:buClr>
              <a:buFont typeface="Arial"/>
              <a:buChar char="•"/>
            </a:pPr>
            <a:r>
              <a:rPr sz="1050" b="0">
                <a:solidFill>
                  <a:srgbClr val="333333"/>
                </a:solidFill>
                <a:latin typeface="Arial"/>
              </a:rPr>
              <a:t>One control catalogue shared by gateway and agents</a:t>
            </a:r>
          </a:p>
          <a:p>
            <a:pPr algn="l" marL="120015" indent="-120015">
              <a:spcAft>
                <a:spcPts val="300"/>
              </a:spcAft>
              <a:buClr>
                <a:srgbClr val="747676"/>
              </a:buClr>
              <a:buFont typeface="Arial"/>
              <a:buChar char="•"/>
            </a:pPr>
            <a:r>
              <a:rPr sz="1050" b="0">
                <a:solidFill>
                  <a:srgbClr val="333333"/>
                </a:solidFill>
                <a:latin typeface="Arial"/>
              </a:rPr>
              <a:t>Every verdict visible in Galileo</a:t>
            </a:r>
          </a:p>
          <a:p>
            <a:pPr algn="l" marL="120015" indent="-120015">
              <a:spcAft>
                <a:spcPts val="300"/>
              </a:spcAft>
              <a:buClr>
                <a:srgbClr val="747676"/>
              </a:buClr>
              <a:buFont typeface="Arial"/>
              <a:buChar char="•"/>
            </a:pPr>
            <a:r>
              <a:rPr sz="1050" b="0">
                <a:solidFill>
                  <a:srgbClr val="333333"/>
                </a:solidFill>
                <a:latin typeface="Arial"/>
              </a:rPr>
              <a:t>No-code path for teams, SDK path for depth</a:t>
            </a:r>
          </a:p>
          <a:p>
            <a:pPr algn="l" marL="120015" indent="-120015">
              <a:spcAft>
                <a:spcPts val="300"/>
              </a:spcAft>
              <a:buClr>
                <a:srgbClr val="747676"/>
              </a:buClr>
              <a:buFont typeface="Arial"/>
              <a:buChar char="•"/>
            </a:pPr>
            <a:r>
              <a:rPr sz="1050" b="0">
                <a:solidFill>
                  <a:srgbClr val="333333"/>
                </a:solidFill>
                <a:latin typeface="Arial"/>
              </a:rPr>
              <a:t>Explicit fail-open / fail-closed per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OPTION A · GALILEO AGENT CONTROL</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Option A, Galileo Agent Control: a central control server with native steering, but no Kairos Gateway integration today</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Sources: github.com/agentcontrol/agent-control · docs.agentcontrol.dev · docs.agentcontrol.dev/concepts/performance.md · docs.galileo.ai/concepts/luna/luna · litellm/types/guardrails.py@v1.106.2</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3</a:t>
            </a:r>
          </a:p>
        </p:txBody>
      </p:sp>
      <p:sp>
        <p:nvSpPr>
          <p:cNvPr id="8" name="Rectangle 7"/>
          <p:cNvSpPr/>
          <p:nvPr/>
        </p:nvSpPr>
        <p:spPr>
          <a:xfrm>
            <a:off x="457200" y="1417320"/>
            <a:ext cx="2148840" cy="1783080"/>
          </a:xfrm>
          <a:prstGeom prst="rect">
            <a:avLst/>
          </a:prstGeom>
          <a:solidFill>
            <a:srgbClr val="F6F6F6"/>
          </a:solidFill>
          <a:ln>
            <a:noFill/>
          </a:ln>
        </p:spPr>
        <p:txBody>
          <a:bodyPr rtlCol="0" anchor="ctr" wrap="square" lIns="73152" rIns="73152"/>
          <a:lstStyle/>
          <a:p>
            <a:pPr algn="ctr">
              <a:spcAft>
                <a:spcPts val="300"/>
              </a:spcAft>
            </a:pPr>
            <a:r>
              <a:rPr sz="1200" b="1">
                <a:solidFill>
                  <a:srgbClr val="000000"/>
                </a:solidFill>
                <a:latin typeface="Arial"/>
              </a:rPr>
              <a:t>Agent code</a:t>
            </a:r>
          </a:p>
          <a:p>
            <a:pPr algn="ctr">
              <a:spcAft>
                <a:spcPts val="300"/>
              </a:spcAft>
            </a:pPr>
            <a:r>
              <a:rPr sz="1050" b="1">
                <a:solidFill>
                  <a:srgbClr val="EE0000"/>
                </a:solidFill>
                <a:latin typeface="Arial"/>
              </a:rPr>
              <a:t>@control() decorator</a:t>
            </a:r>
          </a:p>
          <a:p>
            <a:pPr algn="ctr">
              <a:spcAft>
                <a:spcPts val="300"/>
              </a:spcAft>
            </a:pPr>
            <a:r>
              <a:rPr sz="950" b="0">
                <a:solidFill>
                  <a:srgbClr val="000000"/>
                </a:solidFill>
                <a:latin typeface="Arial"/>
              </a:rPr>
              <a:t>agent-control-sdk 8.14.0</a:t>
            </a:r>
          </a:p>
          <a:p>
            <a:pPr algn="ctr">
              <a:spcAft>
                <a:spcPts val="300"/>
              </a:spcAft>
            </a:pPr>
            <a:r>
              <a:rPr sz="950" b="0">
                <a:solidFill>
                  <a:srgbClr val="000000"/>
                </a:solidFill>
                <a:latin typeface="Arial"/>
              </a:rPr>
              <a:t>Strands · Google ADK · CrewAI · LangChain</a:t>
            </a:r>
          </a:p>
        </p:txBody>
      </p:sp>
      <p:sp>
        <p:nvSpPr>
          <p:cNvPr id="9" name="Rectangle 8"/>
          <p:cNvSpPr/>
          <p:nvPr/>
        </p:nvSpPr>
        <p:spPr>
          <a:xfrm>
            <a:off x="3246120" y="1417320"/>
            <a:ext cx="2377440" cy="2697480"/>
          </a:xfrm>
          <a:prstGeom prst="rect">
            <a:avLst/>
          </a:prstGeom>
          <a:solidFill>
            <a:srgbClr val="000000"/>
          </a:solidFill>
          <a:ln>
            <a:noFill/>
          </a:ln>
        </p:spPr>
        <p:txBody>
          <a:bodyPr rtlCol="0" anchor="ctr" wrap="square" lIns="73152" rIns="73152"/>
          <a:lstStyle/>
          <a:p>
            <a:pPr algn="ctr">
              <a:spcAft>
                <a:spcPts val="300"/>
              </a:spcAft>
            </a:pPr>
            <a:r>
              <a:rPr sz="1200" b="1">
                <a:solidFill>
                  <a:srgbClr val="FFFFFF"/>
                </a:solidFill>
                <a:latin typeface="Arial"/>
              </a:rPr>
              <a:t>Agent Control server</a:t>
            </a:r>
          </a:p>
          <a:p>
            <a:pPr algn="ctr">
              <a:spcAft>
                <a:spcPts val="300"/>
              </a:spcAft>
            </a:pPr>
            <a:r>
              <a:rPr sz="950" b="0">
                <a:solidFill>
                  <a:srgbClr val="D8DADA"/>
                </a:solidFill>
                <a:latin typeface="Arial"/>
              </a:rPr>
              <a:t>Apache-2.0 · v8.14.0 (19 Oct 2026)</a:t>
            </a:r>
          </a:p>
          <a:p>
            <a:pPr algn="ctr">
              <a:spcAft>
                <a:spcPts val="300"/>
              </a:spcAft>
            </a:pPr>
            <a:r>
              <a:rPr sz="500" b="1">
                <a:solidFill>
                  <a:srgbClr val="FFFFFF"/>
                </a:solidFill>
                <a:latin typeface="Arial"/>
              </a:rPr>
              <a:t> </a:t>
            </a:r>
          </a:p>
          <a:p>
            <a:pPr algn="ctr">
              <a:spcAft>
                <a:spcPts val="300"/>
              </a:spcAft>
            </a:pPr>
            <a:r>
              <a:rPr sz="950" b="0">
                <a:solidFill>
                  <a:srgbClr val="FFFFFF"/>
                </a:solidFill>
                <a:latin typeface="Arial"/>
              </a:rPr>
              <a:t>POST /api/v1/agents/initAgent</a:t>
            </a:r>
          </a:p>
          <a:p>
            <a:pPr algn="ctr">
              <a:spcAft>
                <a:spcPts val="300"/>
              </a:spcAft>
            </a:pPr>
            <a:r>
              <a:rPr sz="950" b="0">
                <a:solidFill>
                  <a:srgbClr val="FFFFFF"/>
                </a:solidFill>
                <a:latin typeface="Arial"/>
              </a:rPr>
              <a:t>POST /api/v1/evaluation</a:t>
            </a:r>
          </a:p>
          <a:p>
            <a:pPr algn="ctr">
              <a:spcAft>
                <a:spcPts val="300"/>
              </a:spcAft>
            </a:pPr>
            <a:r>
              <a:rPr sz="950" b="0">
                <a:solidFill>
                  <a:srgbClr val="FFFFFF"/>
                </a:solidFill>
                <a:latin typeface="Arial"/>
              </a:rPr>
              <a:t>header X-API-Key</a:t>
            </a:r>
          </a:p>
          <a:p>
            <a:pPr algn="ctr">
              <a:spcAft>
                <a:spcPts val="300"/>
              </a:spcAft>
            </a:pPr>
            <a:r>
              <a:rPr sz="950" b="0">
                <a:solidFill>
                  <a:srgbClr val="FFFFFF"/>
                </a:solidFill>
                <a:latin typeface="Arial"/>
              </a:rPr>
              <a:t>controls: CRUD-managed</a:t>
            </a:r>
          </a:p>
          <a:p>
            <a:pPr algn="ctr">
              <a:spcAft>
                <a:spcPts val="300"/>
              </a:spcAft>
            </a:pPr>
            <a:r>
              <a:rPr sz="950" b="0">
                <a:solidFill>
                  <a:srgbClr val="FFFFFF"/>
                </a:solidFill>
                <a:latin typeface="Arial"/>
              </a:rPr>
              <a:t>→ /api/v1/observability/events</a:t>
            </a:r>
          </a:p>
        </p:txBody>
      </p:sp>
      <p:cxnSp>
        <p:nvCxnSpPr>
          <p:cNvPr id="10" name="Connector 9"/>
          <p:cNvCxnSpPr/>
          <p:nvPr/>
        </p:nvCxnSpPr>
        <p:spPr>
          <a:xfrm>
            <a:off x="2606040" y="1965960"/>
            <a:ext cx="640080" cy="0"/>
          </a:xfrm>
          <a:prstGeom prst="line">
            <a:avLst/>
          </a:prstGeom>
          <a:ln w="19050">
            <a:solidFill>
              <a:srgbClr val="000000"/>
            </a:solidFill>
            <a:tailEnd type="triangle" w="med" len="med"/>
          </a:ln>
        </p:spPr>
      </p:cxnSp>
      <p:cxnSp>
        <p:nvCxnSpPr>
          <p:cNvPr id="11" name="Connector 10"/>
          <p:cNvCxnSpPr/>
          <p:nvPr/>
        </p:nvCxnSpPr>
        <p:spPr>
          <a:xfrm flipH="1">
            <a:off x="2606040" y="2697480"/>
            <a:ext cx="640080" cy="0"/>
          </a:xfrm>
          <a:prstGeom prst="line">
            <a:avLst/>
          </a:prstGeom>
          <a:ln w="19050">
            <a:solidFill>
              <a:srgbClr val="EE0000"/>
            </a:solidFill>
            <a:tailEnd type="triangle" w="med" len="med"/>
          </a:ln>
        </p:spPr>
      </p:cxnSp>
      <p:sp>
        <p:nvSpPr>
          <p:cNvPr id="12" name="TextBox 11"/>
          <p:cNvSpPr txBox="1"/>
          <p:nvPr/>
        </p:nvSpPr>
        <p:spPr>
          <a:xfrm>
            <a:off x="2624328" y="1572768"/>
            <a:ext cx="603504" cy="365760"/>
          </a:xfrm>
          <a:prstGeom prst="rect">
            <a:avLst/>
          </a:prstGeom>
          <a:noFill/>
        </p:spPr>
        <p:txBody>
          <a:bodyPr wrap="square" lIns="0" rIns="0" tIns="0" bIns="0" anchor="t">
            <a:spAutoFit/>
          </a:bodyPr>
          <a:lstStyle/>
          <a:p>
            <a:pPr algn="ctr">
              <a:spcAft>
                <a:spcPts val="0"/>
              </a:spcAft>
            </a:pPr>
            <a:r>
              <a:rPr sz="850" b="0">
                <a:solidFill>
                  <a:srgbClr val="747676"/>
                </a:solidFill>
                <a:latin typeface="Arial"/>
              </a:rPr>
              <a:t>step pre/post</a:t>
            </a:r>
          </a:p>
        </p:txBody>
      </p:sp>
      <p:sp>
        <p:nvSpPr>
          <p:cNvPr id="13" name="TextBox 12"/>
          <p:cNvSpPr txBox="1"/>
          <p:nvPr/>
        </p:nvSpPr>
        <p:spPr>
          <a:xfrm>
            <a:off x="2624328" y="2743200"/>
            <a:ext cx="603504" cy="365760"/>
          </a:xfrm>
          <a:prstGeom prst="rect">
            <a:avLst/>
          </a:prstGeom>
          <a:noFill/>
        </p:spPr>
        <p:txBody>
          <a:bodyPr wrap="square" lIns="0" rIns="0" tIns="0" bIns="0" anchor="t">
            <a:spAutoFit/>
          </a:bodyPr>
          <a:lstStyle/>
          <a:p>
            <a:pPr algn="ctr">
              <a:spcAft>
                <a:spcPts val="0"/>
              </a:spcAft>
            </a:pPr>
            <a:r>
              <a:rPr sz="850" b="0">
                <a:solidFill>
                  <a:srgbClr val="EE0000"/>
                </a:solidFill>
                <a:latin typeface="Arial"/>
              </a:rPr>
              <a:t>decision</a:t>
            </a:r>
          </a:p>
        </p:txBody>
      </p:sp>
      <p:sp>
        <p:nvSpPr>
          <p:cNvPr id="14" name="Rectangle 13"/>
          <p:cNvSpPr/>
          <p:nvPr/>
        </p:nvSpPr>
        <p:spPr>
          <a:xfrm>
            <a:off x="6172200" y="1417320"/>
            <a:ext cx="1645920" cy="1783080"/>
          </a:xfrm>
          <a:prstGeom prst="rect">
            <a:avLst/>
          </a:prstGeom>
          <a:solidFill>
            <a:srgbClr val="F6F6F6"/>
          </a:solidFill>
          <a:ln>
            <a:noFill/>
          </a:ln>
        </p:spPr>
        <p:txBody>
          <a:bodyPr rtlCol="0" anchor="ctr" wrap="square" lIns="73152" rIns="73152"/>
          <a:lstStyle/>
          <a:p>
            <a:pPr algn="ctr">
              <a:spcAft>
                <a:spcPts val="300"/>
              </a:spcAft>
            </a:pPr>
            <a:r>
              <a:rPr sz="1150" b="1">
                <a:solidFill>
                  <a:srgbClr val="000000"/>
                </a:solidFill>
                <a:latin typeface="Arial"/>
              </a:rPr>
              <a:t>Evaluators</a:t>
            </a:r>
          </a:p>
          <a:p>
            <a:pPr algn="ctr">
              <a:spcAft>
                <a:spcPts val="300"/>
              </a:spcAft>
            </a:pPr>
            <a:r>
              <a:rPr sz="950" b="0">
                <a:solidFill>
                  <a:srgbClr val="000000"/>
                </a:solidFill>
                <a:latin typeface="Arial"/>
              </a:rPr>
              <a:t>regex · list · JSON · SQL-style</a:t>
            </a:r>
          </a:p>
          <a:p>
            <a:pPr algn="ctr">
              <a:spcAft>
                <a:spcPts val="300"/>
              </a:spcAft>
            </a:pPr>
            <a:r>
              <a:rPr sz="950" b="1">
                <a:solidFill>
                  <a:srgbClr val="000000"/>
                </a:solidFill>
                <a:latin typeface="Arial"/>
              </a:rPr>
              <a:t>galileo.luna2</a:t>
            </a:r>
          </a:p>
          <a:p>
            <a:pPr algn="ctr">
              <a:spcAft>
                <a:spcPts val="300"/>
              </a:spcAft>
            </a:pPr>
            <a:r>
              <a:rPr sz="900" b="0">
                <a:solidFill>
                  <a:srgbClr val="EE0000"/>
                </a:solidFill>
                <a:latin typeface="Arial"/>
              </a:rPr>
              <a:t>Enterprise tier only; GALILEO_API_KEY</a:t>
            </a:r>
          </a:p>
        </p:txBody>
      </p:sp>
      <p:sp>
        <p:nvSpPr>
          <p:cNvPr id="15" name="Rectangle 14"/>
          <p:cNvSpPr/>
          <p:nvPr/>
        </p:nvSpPr>
        <p:spPr>
          <a:xfrm>
            <a:off x="6172200" y="3337560"/>
            <a:ext cx="1645920" cy="777240"/>
          </a:xfrm>
          <a:prstGeom prst="rect">
            <a:avLst/>
          </a:prstGeom>
          <a:solidFill>
            <a:srgbClr val="FFFFFF"/>
          </a:solidFill>
          <a:ln w="9525">
            <a:solidFill>
              <a:srgbClr val="747676"/>
            </a:solidFill>
          </a:ln>
        </p:spPr>
        <p:txBody>
          <a:bodyPr rtlCol="0" anchor="ctr" wrap="square" lIns="73152" rIns="73152"/>
          <a:lstStyle/>
          <a:p>
            <a:pPr algn="ctr">
              <a:spcAft>
                <a:spcPts val="200"/>
              </a:spcAft>
            </a:pPr>
            <a:r>
              <a:rPr sz="1150" b="1">
                <a:solidFill>
                  <a:srgbClr val="000000"/>
                </a:solidFill>
                <a:latin typeface="Arial"/>
              </a:rPr>
              <a:t>Galileo</a:t>
            </a:r>
          </a:p>
          <a:p>
            <a:pPr algn="ctr">
              <a:spcAft>
                <a:spcPts val="200"/>
              </a:spcAft>
            </a:pPr>
            <a:r>
              <a:rPr sz="950" b="0">
                <a:solidFill>
                  <a:srgbClr val="000000"/>
                </a:solidFill>
                <a:latin typeface="Arial"/>
              </a:rPr>
              <a:t>observability events</a:t>
            </a:r>
          </a:p>
        </p:txBody>
      </p:sp>
      <p:cxnSp>
        <p:nvCxnSpPr>
          <p:cNvPr id="16" name="Connector 15"/>
          <p:cNvCxnSpPr/>
          <p:nvPr/>
        </p:nvCxnSpPr>
        <p:spPr>
          <a:xfrm>
            <a:off x="5623560" y="2286000"/>
            <a:ext cx="548640" cy="0"/>
          </a:xfrm>
          <a:prstGeom prst="line">
            <a:avLst/>
          </a:prstGeom>
          <a:ln w="19050">
            <a:solidFill>
              <a:srgbClr val="000000"/>
            </a:solidFill>
            <a:tailEnd type="triangle" w="med" len="med"/>
          </a:ln>
        </p:spPr>
      </p:cxnSp>
      <p:cxnSp>
        <p:nvCxnSpPr>
          <p:cNvPr id="17" name="Connector 16"/>
          <p:cNvCxnSpPr/>
          <p:nvPr/>
        </p:nvCxnSpPr>
        <p:spPr>
          <a:xfrm>
            <a:off x="5623560" y="3721608"/>
            <a:ext cx="548640" cy="0"/>
          </a:xfrm>
          <a:prstGeom prst="line">
            <a:avLst/>
          </a:prstGeom>
          <a:ln w="15875">
            <a:solidFill>
              <a:srgbClr val="747676"/>
            </a:solidFill>
            <a:tailEnd type="triangle" w="med" len="med"/>
          </a:ln>
        </p:spPr>
      </p:cxnSp>
      <p:sp>
        <p:nvSpPr>
          <p:cNvPr id="18" name="TextBox 17"/>
          <p:cNvSpPr txBox="1"/>
          <p:nvPr/>
        </p:nvSpPr>
        <p:spPr>
          <a:xfrm>
            <a:off x="457200" y="4315968"/>
            <a:ext cx="2743200" cy="256032"/>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Decisions</a:t>
            </a:r>
            <a:r>
              <a:rPr sz="1100" b="0">
                <a:solidFill>
                  <a:srgbClr val="000000"/>
                </a:solidFill>
                <a:latin typeface="Arial"/>
              </a:rPr>
              <a:t> (verified)</a:t>
            </a:r>
          </a:p>
        </p:txBody>
      </p:sp>
      <p:sp>
        <p:nvSpPr>
          <p:cNvPr id="19" name="Rectangle 18"/>
          <p:cNvSpPr/>
          <p:nvPr/>
        </p:nvSpPr>
        <p:spPr>
          <a:xfrm>
            <a:off x="457200" y="4617720"/>
            <a:ext cx="1371600" cy="713232"/>
          </a:xfrm>
          <a:prstGeom prst="rect">
            <a:avLst/>
          </a:prstGeom>
          <a:solidFill>
            <a:srgbClr val="EE0000"/>
          </a:solidFill>
          <a:ln>
            <a:noFill/>
          </a:ln>
        </p:spPr>
        <p:txBody>
          <a:bodyPr rtlCol="0" anchor="ctr" wrap="square" lIns="73152" rIns="73152"/>
          <a:lstStyle/>
          <a:p>
            <a:pPr algn="ctr">
              <a:spcAft>
                <a:spcPts val="100"/>
              </a:spcAft>
            </a:pPr>
            <a:r>
              <a:rPr sz="1200" b="1">
                <a:solidFill>
                  <a:srgbClr val="FFFFFF"/>
                </a:solidFill>
                <a:latin typeface="Arial"/>
              </a:rPr>
              <a:t>deny</a:t>
            </a:r>
          </a:p>
          <a:p>
            <a:pPr algn="ctr">
              <a:spcAft>
                <a:spcPts val="100"/>
              </a:spcAft>
            </a:pPr>
            <a:r>
              <a:rPr sz="900" b="0">
                <a:solidFill>
                  <a:srgbClr val="FFFFFF"/>
                </a:solidFill>
                <a:latin typeface="Arial"/>
              </a:rPr>
              <a:t>hard block</a:t>
            </a:r>
          </a:p>
        </p:txBody>
      </p:sp>
      <p:sp>
        <p:nvSpPr>
          <p:cNvPr id="20" name="Rectangle 19"/>
          <p:cNvSpPr/>
          <p:nvPr/>
        </p:nvSpPr>
        <p:spPr>
          <a:xfrm>
            <a:off x="1938528" y="4617720"/>
            <a:ext cx="1371600" cy="713232"/>
          </a:xfrm>
          <a:prstGeom prst="rect">
            <a:avLst/>
          </a:prstGeom>
          <a:solidFill>
            <a:srgbClr val="000000"/>
          </a:solidFill>
          <a:ln>
            <a:noFill/>
          </a:ln>
        </p:spPr>
        <p:txBody>
          <a:bodyPr rtlCol="0" anchor="ctr" wrap="square" lIns="73152" rIns="73152"/>
          <a:lstStyle/>
          <a:p>
            <a:pPr algn="ctr">
              <a:spcAft>
                <a:spcPts val="100"/>
              </a:spcAft>
            </a:pPr>
            <a:r>
              <a:rPr sz="1200" b="1">
                <a:solidFill>
                  <a:srgbClr val="FFFFFF"/>
                </a:solidFill>
                <a:latin typeface="Arial"/>
              </a:rPr>
              <a:t>steer</a:t>
            </a:r>
          </a:p>
          <a:p>
            <a:pPr algn="ctr">
              <a:spcAft>
                <a:spcPts val="100"/>
              </a:spcAft>
            </a:pPr>
            <a:r>
              <a:rPr sz="900" b="0">
                <a:solidFill>
                  <a:srgbClr val="FFFFFF"/>
                </a:solidFill>
                <a:latin typeface="Arial"/>
              </a:rPr>
              <a:t>corrective guidance, not a hard block</a:t>
            </a:r>
          </a:p>
        </p:txBody>
      </p:sp>
      <p:sp>
        <p:nvSpPr>
          <p:cNvPr id="21" name="Rectangle 20"/>
          <p:cNvSpPr/>
          <p:nvPr/>
        </p:nvSpPr>
        <p:spPr>
          <a:xfrm>
            <a:off x="3419856" y="4617720"/>
            <a:ext cx="1371600" cy="713232"/>
          </a:xfrm>
          <a:prstGeom prst="rect">
            <a:avLst/>
          </a:prstGeom>
          <a:solidFill>
            <a:srgbClr val="F6F6F6"/>
          </a:solidFill>
          <a:ln>
            <a:noFill/>
          </a:ln>
        </p:spPr>
        <p:txBody>
          <a:bodyPr rtlCol="0" anchor="ctr" wrap="square" lIns="73152" rIns="73152"/>
          <a:lstStyle/>
          <a:p>
            <a:pPr algn="ctr">
              <a:spcAft>
                <a:spcPts val="100"/>
              </a:spcAft>
            </a:pPr>
            <a:r>
              <a:rPr sz="1200" b="1">
                <a:solidFill>
                  <a:srgbClr val="000000"/>
                </a:solidFill>
                <a:latin typeface="Arial"/>
              </a:rPr>
              <a:t>warn</a:t>
            </a:r>
          </a:p>
          <a:p>
            <a:pPr algn="ctr">
              <a:spcAft>
                <a:spcPts val="100"/>
              </a:spcAft>
            </a:pPr>
            <a:r>
              <a:rPr sz="900" b="0">
                <a:solidFill>
                  <a:srgbClr val="000000"/>
                </a:solidFill>
                <a:latin typeface="Arial"/>
              </a:rPr>
              <a:t>non-blocking</a:t>
            </a:r>
          </a:p>
        </p:txBody>
      </p:sp>
      <p:sp>
        <p:nvSpPr>
          <p:cNvPr id="22" name="Rectangle 21"/>
          <p:cNvSpPr/>
          <p:nvPr/>
        </p:nvSpPr>
        <p:spPr>
          <a:xfrm>
            <a:off x="4901184" y="4617720"/>
            <a:ext cx="1371600" cy="713232"/>
          </a:xfrm>
          <a:prstGeom prst="rect">
            <a:avLst/>
          </a:prstGeom>
          <a:solidFill>
            <a:srgbClr val="F6F6F6"/>
          </a:solidFill>
          <a:ln>
            <a:noFill/>
          </a:ln>
        </p:spPr>
        <p:txBody>
          <a:bodyPr rtlCol="0" anchor="ctr" wrap="square" lIns="73152" rIns="73152"/>
          <a:lstStyle/>
          <a:p>
            <a:pPr algn="ctr">
              <a:spcAft>
                <a:spcPts val="100"/>
              </a:spcAft>
            </a:pPr>
            <a:r>
              <a:rPr sz="1200" b="1">
                <a:solidFill>
                  <a:srgbClr val="000000"/>
                </a:solidFill>
                <a:latin typeface="Arial"/>
              </a:rPr>
              <a:t>log</a:t>
            </a:r>
          </a:p>
          <a:p>
            <a:pPr algn="ctr">
              <a:spcAft>
                <a:spcPts val="100"/>
              </a:spcAft>
            </a:pPr>
            <a:r>
              <a:rPr sz="900" b="0">
                <a:solidFill>
                  <a:srgbClr val="000000"/>
                </a:solidFill>
                <a:latin typeface="Arial"/>
              </a:rPr>
              <a:t>non-blocking, recorded</a:t>
            </a:r>
          </a:p>
        </p:txBody>
      </p:sp>
      <p:sp>
        <p:nvSpPr>
          <p:cNvPr id="23" name="Rectangle 22"/>
          <p:cNvSpPr/>
          <p:nvPr/>
        </p:nvSpPr>
        <p:spPr>
          <a:xfrm>
            <a:off x="6382512" y="4617720"/>
            <a:ext cx="1371600" cy="713232"/>
          </a:xfrm>
          <a:prstGeom prst="rect">
            <a:avLst/>
          </a:prstGeom>
          <a:solidFill>
            <a:srgbClr val="F6F6F6"/>
          </a:solidFill>
          <a:ln>
            <a:noFill/>
          </a:ln>
        </p:spPr>
        <p:txBody>
          <a:bodyPr rtlCol="0" anchor="ctr" wrap="square" lIns="73152" rIns="73152"/>
          <a:lstStyle/>
          <a:p>
            <a:pPr algn="ctr">
              <a:spcAft>
                <a:spcPts val="100"/>
              </a:spcAft>
            </a:pPr>
            <a:r>
              <a:rPr sz="1200" b="1">
                <a:solidFill>
                  <a:srgbClr val="000000"/>
                </a:solidFill>
                <a:latin typeface="Arial"/>
              </a:rPr>
              <a:t>allow</a:t>
            </a:r>
          </a:p>
          <a:p>
            <a:pPr algn="ctr">
              <a:spcAft>
                <a:spcPts val="100"/>
              </a:spcAft>
            </a:pPr>
            <a:r>
              <a:rPr sz="900" b="0">
                <a:solidFill>
                  <a:srgbClr val="000000"/>
                </a:solidFill>
                <a:latin typeface="Arial"/>
              </a:rPr>
              <a:t>pass</a:t>
            </a:r>
          </a:p>
        </p:txBody>
      </p:sp>
      <p:sp>
        <p:nvSpPr>
          <p:cNvPr id="24" name="Rectangle 23"/>
          <p:cNvSpPr/>
          <p:nvPr/>
        </p:nvSpPr>
        <p:spPr>
          <a:xfrm>
            <a:off x="457200" y="5486400"/>
            <a:ext cx="3611880" cy="804672"/>
          </a:xfrm>
          <a:prstGeom prst="rect">
            <a:avLst/>
          </a:prstGeom>
          <a:solidFill>
            <a:srgbClr val="FFFFFF"/>
          </a:solidFill>
          <a:ln w="9525">
            <a:solidFill>
              <a:srgbClr val="D8DADA"/>
            </a:solidFill>
          </a:ln>
        </p:spPr>
        <p:txBody>
          <a:bodyPr rtlCol="0" anchor="ctr" wrap="square" lIns="73152" rIns="73152"/>
          <a:lstStyle/>
          <a:p>
            <a:pPr algn="l">
              <a:spcAft>
                <a:spcPts val="200"/>
              </a:spcAft>
            </a:pPr>
            <a:r>
              <a:rPr sz="1000" b="1">
                <a:solidFill>
                  <a:srgbClr val="333333"/>
                </a:solidFill>
                <a:latin typeface="Arial"/>
              </a:rPr>
              <a:t>(a) In the agent</a:t>
            </a:r>
            <a:r>
              <a:rPr sz="1000" b="0">
                <a:solidFill>
                  <a:srgbClr val="333333"/>
                </a:solidFill>
                <a:latin typeface="Arial"/>
              </a:rPr>
              <a:t>: the SDK decorator sees planning and local tools that the gateway never sees.</a:t>
            </a:r>
          </a:p>
        </p:txBody>
      </p:sp>
      <p:sp>
        <p:nvSpPr>
          <p:cNvPr id="25" name="Rectangle 24"/>
          <p:cNvSpPr/>
          <p:nvPr/>
        </p:nvSpPr>
        <p:spPr>
          <a:xfrm>
            <a:off x="4206240" y="5486400"/>
            <a:ext cx="3611880" cy="804672"/>
          </a:xfrm>
          <a:prstGeom prst="rect">
            <a:avLst/>
          </a:prstGeom>
          <a:solidFill>
            <a:srgbClr val="FFFFFF"/>
          </a:solidFill>
          <a:ln w="9525">
            <a:solidFill>
              <a:srgbClr val="D8DADA"/>
            </a:solidFill>
          </a:ln>
        </p:spPr>
        <p:txBody>
          <a:bodyPr rtlCol="0" anchor="ctr" wrap="square" lIns="73152" rIns="73152"/>
          <a:lstStyle/>
          <a:p>
            <a:pPr algn="l">
              <a:spcAft>
                <a:spcPts val="200"/>
              </a:spcAft>
            </a:pPr>
            <a:r>
              <a:rPr sz="1000" b="1">
                <a:solidFill>
                  <a:srgbClr val="333333"/>
                </a:solidFill>
                <a:latin typeface="Arial"/>
              </a:rPr>
              <a:t>(b) In the gateway</a:t>
            </a:r>
            <a:r>
              <a:rPr sz="1000" b="0">
                <a:solidFill>
                  <a:srgbClr val="333333"/>
                </a:solidFill>
                <a:latin typeface="Arial"/>
              </a:rPr>
              <a:t>: an adapter calls /api/v1/evaluation. One enforcement point, but only LLM and MCP traffic.</a:t>
            </a:r>
          </a:p>
        </p:txBody>
      </p:sp>
      <p:sp>
        <p:nvSpPr>
          <p:cNvPr id="26" name="TextBox 25"/>
          <p:cNvSpPr txBox="1"/>
          <p:nvPr/>
        </p:nvSpPr>
        <p:spPr>
          <a:xfrm>
            <a:off x="8183879" y="1371600"/>
            <a:ext cx="3566160" cy="274320"/>
          </a:xfrm>
          <a:prstGeom prst="rect">
            <a:avLst/>
          </a:prstGeom>
          <a:noFill/>
        </p:spPr>
        <p:txBody>
          <a:bodyPr wrap="square" lIns="0" rIns="0" tIns="0" bIns="0" anchor="t">
            <a:spAutoFit/>
          </a:bodyPr>
          <a:lstStyle/>
          <a:p>
            <a:pPr algn="l">
              <a:spcAft>
                <a:spcPts val="400"/>
              </a:spcAft>
            </a:pPr>
            <a:r>
              <a:rPr sz="1150" b="1">
                <a:solidFill>
                  <a:srgbClr val="000000"/>
                </a:solidFill>
                <a:latin typeface="Arial"/>
              </a:rPr>
              <a:t>Latency per evaluation</a:t>
            </a:r>
            <a:r>
              <a:rPr sz="1150" b="0">
                <a:solidFill>
                  <a:srgbClr val="000000"/>
                </a:solidFill>
                <a:latin typeface="Arial"/>
              </a:rPr>
              <a:t>  </a:t>
            </a:r>
            <a:r>
              <a:rPr sz="1150" b="0">
                <a:solidFill>
                  <a:srgbClr val="747676"/>
                </a:solidFill>
                <a:latin typeface="Arial"/>
              </a:rPr>
              <a:t>vendor claim</a:t>
            </a:r>
          </a:p>
        </p:txBody>
      </p:sp>
      <p:graphicFrame>
        <p:nvGraphicFramePr>
          <p:cNvPr id="27" name="Table 26"/>
          <p:cNvGraphicFramePr>
            <a:graphicFrameLocks noGrp="1"/>
          </p:cNvGraphicFramePr>
          <p:nvPr/>
        </p:nvGraphicFramePr>
        <p:xfrm>
          <a:off x="8183879" y="1691640"/>
          <a:ext cx="3547872" cy="1463040"/>
        </p:xfrm>
        <a:graphic>
          <a:graphicData uri="http://schemas.openxmlformats.org/drawingml/2006/table">
            <a:tbl>
              <a:tblPr firstRow="0" bandRow="0"/>
              <a:tblGrid>
                <a:gridCol w="1188720"/>
                <a:gridCol w="731520"/>
                <a:gridCol w="731520"/>
                <a:gridCol w="896112"/>
              </a:tblGrid>
              <a:tr h="292608">
                <a:tc>
                  <a:txBody>
                    <a:bodyPr wrap="square"/>
                    <a:lstStyle/>
                    <a:p>
                      <a:pPr algn="l">
                        <a:spcAft>
                          <a:spcPts val="0"/>
                        </a:spcAft>
                      </a:pPr>
                      <a:r>
                        <a:rPr sz="1000" b="1">
                          <a:solidFill>
                            <a:srgbClr val="FFFFFF"/>
                          </a:solidFill>
                          <a:latin typeface="Arial"/>
                        </a:rPr>
                        <a:t>Controls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p50</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p99</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Note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292608">
                <a:tc>
                  <a:txBody>
                    <a:bodyPr wrap="square"/>
                    <a:lstStyle/>
                    <a:p>
                      <a:pPr algn="l">
                        <a:spcAft>
                          <a:spcPts val="0"/>
                        </a:spcAft>
                      </a:pPr>
                      <a:r>
                        <a:rPr sz="1000" b="1">
                          <a:solidFill>
                            <a:srgbClr val="000000"/>
                          </a:solidFill>
                          <a:latin typeface="Arial"/>
                        </a:rPr>
                        <a:t>1 control</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36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61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437 RPS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292608">
                <a:tc>
                  <a:txBody>
                    <a:bodyPr wrap="square"/>
                    <a:lstStyle/>
                    <a:p>
                      <a:pPr algn="l">
                        <a:spcAft>
                          <a:spcPts val="0"/>
                        </a:spcAft>
                      </a:pPr>
                      <a:r>
                        <a:rPr sz="1000" b="1">
                          <a:solidFill>
                            <a:srgbClr val="000000"/>
                          </a:solidFill>
                          <a:latin typeface="Arial"/>
                        </a:rPr>
                        <a:t>10 controls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35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66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292608">
                <a:tc>
                  <a:txBody>
                    <a:bodyPr wrap="square"/>
                    <a:lstStyle/>
                    <a:p>
                      <a:pPr algn="l">
                        <a:spcAft>
                          <a:spcPts val="0"/>
                        </a:spcAft>
                      </a:pPr>
                      <a:r>
                        <a:rPr sz="1000" b="1">
                          <a:solidFill>
                            <a:srgbClr val="000000"/>
                          </a:solidFill>
                          <a:latin typeface="Arial"/>
                        </a:rPr>
                        <a:t>50 controls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63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91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292608">
                <a:tc>
                  <a:txBody>
                    <a:bodyPr wrap="square"/>
                    <a:lstStyle/>
                    <a:p>
                      <a:pPr algn="l">
                        <a:spcAft>
                          <a:spcPts val="0"/>
                        </a:spcAft>
                      </a:pPr>
                      <a:r>
                        <a:rPr sz="1000" b="1">
                          <a:solidFill>
                            <a:srgbClr val="000000"/>
                          </a:solidFill>
                          <a:latin typeface="Arial"/>
                        </a:rPr>
                        <a:t>init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19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54 ms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28" name="TextBox 27"/>
          <p:cNvSpPr txBox="1"/>
          <p:nvPr/>
        </p:nvSpPr>
        <p:spPr>
          <a:xfrm>
            <a:off x="8183879" y="3346704"/>
            <a:ext cx="3566160" cy="457200"/>
          </a:xfrm>
          <a:prstGeom prst="rect">
            <a:avLst/>
          </a:prstGeom>
          <a:noFill/>
        </p:spPr>
        <p:txBody>
          <a:bodyPr wrap="square" lIns="0" rIns="0" tIns="0" bIns="0" anchor="t">
            <a:spAutoFit/>
          </a:bodyPr>
          <a:lstStyle/>
          <a:p>
            <a:pPr algn="l">
              <a:spcAft>
                <a:spcPts val="400"/>
              </a:spcAft>
            </a:pPr>
            <a:r>
              <a:rPr sz="950" b="0">
                <a:solidFill>
                  <a:srgbClr val="747676"/>
                </a:solidFill>
                <a:latin typeface="Arial"/>
              </a:rPr>
              <a:t>Measured on an Apple M5 with docker compose. Add the network hop; re-measure in P3.</a:t>
            </a:r>
          </a:p>
        </p:txBody>
      </p:sp>
      <p:sp>
        <p:nvSpPr>
          <p:cNvPr id="29" name="TextBox 28"/>
          <p:cNvSpPr txBox="1"/>
          <p:nvPr/>
        </p:nvSpPr>
        <p:spPr>
          <a:xfrm>
            <a:off x="8183879" y="3840480"/>
            <a:ext cx="3566160" cy="274320"/>
          </a:xfrm>
          <a:prstGeom prst="rect">
            <a:avLst/>
          </a:prstGeom>
          <a:noFill/>
        </p:spPr>
        <p:txBody>
          <a:bodyPr wrap="square" lIns="0" rIns="0" tIns="0" bIns="0" anchor="t">
            <a:spAutoFit/>
          </a:bodyPr>
          <a:lstStyle/>
          <a:p>
            <a:pPr algn="l">
              <a:spcAft>
                <a:spcPts val="400"/>
              </a:spcAft>
            </a:pPr>
            <a:r>
              <a:rPr sz="1150" b="1">
                <a:solidFill>
                  <a:srgbClr val="000000"/>
                </a:solidFill>
                <a:latin typeface="Arial"/>
              </a:rPr>
              <a:t>Gaps for Kairos</a:t>
            </a:r>
          </a:p>
        </p:txBody>
      </p:sp>
      <p:sp>
        <p:nvSpPr>
          <p:cNvPr id="30" name="TextBox 29"/>
          <p:cNvSpPr txBox="1"/>
          <p:nvPr/>
        </p:nvSpPr>
        <p:spPr>
          <a:xfrm>
            <a:off x="8183879" y="4133087"/>
            <a:ext cx="3566160" cy="2194560"/>
          </a:xfrm>
          <a:prstGeom prst="rect">
            <a:avLst/>
          </a:prstGeom>
          <a:noFill/>
        </p:spPr>
        <p:txBody>
          <a:bodyPr wrap="square" lIns="0" rIns="0" tIns="0" bIns="0" anchor="t">
            <a:spAutoFit/>
          </a:bodyPr>
          <a:lstStyle/>
          <a:p>
            <a:pPr algn="l" marL="114300" indent="-114300">
              <a:spcAft>
                <a:spcPts val="400"/>
              </a:spcAft>
              <a:buClr>
                <a:srgbClr val="747676"/>
              </a:buClr>
              <a:buFont typeface="Arial"/>
              <a:buChar char="•"/>
            </a:pPr>
            <a:r>
              <a:rPr sz="1000" b="1">
                <a:solidFill>
                  <a:srgbClr val="EE0000"/>
                </a:solidFill>
                <a:latin typeface="Arial"/>
              </a:rPr>
              <a:t>No LiteLLM integration:</a:t>
            </a:r>
            <a:r>
              <a:rPr sz="1000" b="0">
                <a:solidFill>
                  <a:srgbClr val="333333"/>
                </a:solidFill>
                <a:latin typeface="Arial"/>
              </a:rPr>
              <a:t> no native guardrail type or Galileo enum value at v1.106.2 </a:t>
            </a:r>
            <a:r>
              <a:rPr sz="1000" b="0">
                <a:solidFill>
                  <a:srgbClr val="747676"/>
                </a:solidFill>
                <a:latin typeface="Arial"/>
              </a:rPr>
              <a:t>(verified)</a:t>
            </a:r>
          </a:p>
          <a:p>
            <a:pPr algn="l" marL="114300" indent="-114300">
              <a:spcAft>
                <a:spcPts val="400"/>
              </a:spcAft>
              <a:buClr>
                <a:srgbClr val="747676"/>
              </a:buClr>
              <a:buFont typeface="Arial"/>
              <a:buChar char="•"/>
            </a:pPr>
            <a:r>
              <a:rPr sz="1000" b="0">
                <a:solidFill>
                  <a:srgbClr val="333333"/>
                </a:solidFill>
                <a:latin typeface="Arial"/>
              </a:rPr>
              <a:t>Luna-2 evaluator is Enterprise tier only </a:t>
            </a:r>
            <a:r>
              <a:rPr sz="1000" b="0">
                <a:solidFill>
                  <a:srgbClr val="747676"/>
                </a:solidFill>
                <a:latin typeface="Arial"/>
              </a:rPr>
              <a:t>(verified)</a:t>
            </a:r>
          </a:p>
          <a:p>
            <a:pPr algn="l" marL="114300" indent="-114300">
              <a:spcAft>
                <a:spcPts val="400"/>
              </a:spcAft>
              <a:buClr>
                <a:srgbClr val="747676"/>
              </a:buClr>
              <a:buFont typeface="Arial"/>
              <a:buChar char="•"/>
            </a:pPr>
            <a:r>
              <a:rPr sz="1000" b="0">
                <a:solidFill>
                  <a:srgbClr val="333333"/>
                </a:solidFill>
                <a:latin typeface="Arial"/>
              </a:rPr>
              <a:t>Never use the default credentials published in the Agent Control docs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OPTION B · MICROSOFT TOOLKIT / SPEC + MANAGED CONTROLS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Option B, Microsoft: ACS runs in-process inside Kairos Gateway, and managed Microsoft controls plug in as native guardrails</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Sources: github.com/microsoft/agent-governance-toolkit (ACS package, litellm-proxy integration) · docs.litellm.ai …/microsoft_agent_365, …/microsoft_purview · learn.microsoft.com Foundry guardrails</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4</a:t>
            </a:r>
          </a:p>
        </p:txBody>
      </p:sp>
      <p:sp>
        <p:nvSpPr>
          <p:cNvPr id="8" name="TextBox 7"/>
          <p:cNvSpPr txBox="1"/>
          <p:nvPr/>
        </p:nvSpPr>
        <p:spPr>
          <a:xfrm>
            <a:off x="457200" y="1325880"/>
            <a:ext cx="1124712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ACS: eight intervention points</a:t>
            </a:r>
            <a:r>
              <a:rPr sz="1050" b="0">
                <a:solidFill>
                  <a:srgbClr val="747676"/>
                </a:solidFill>
                <a:latin typeface="Arial"/>
              </a:rPr>
              <a:t>  ·  black = model and tool points Kairos Gateway can act on; grey = agent lifecycle points it cannot see</a:t>
            </a:r>
          </a:p>
        </p:txBody>
      </p:sp>
      <p:sp>
        <p:nvSpPr>
          <p:cNvPr id="9" name="Rectangle 8"/>
          <p:cNvSpPr/>
          <p:nvPr/>
        </p:nvSpPr>
        <p:spPr>
          <a:xfrm>
            <a:off x="457200" y="1627632"/>
            <a:ext cx="1325880" cy="384048"/>
          </a:xfrm>
          <a:prstGeom prst="rect">
            <a:avLst/>
          </a:prstGeom>
          <a:solidFill>
            <a:srgbClr val="F6F6F6"/>
          </a:solidFill>
          <a:ln>
            <a:noFill/>
          </a:ln>
        </p:spPr>
        <p:txBody>
          <a:bodyPr rtlCol="0" anchor="ctr" wrap="square" lIns="73152" rIns="73152"/>
          <a:lstStyle/>
          <a:p>
            <a:pPr algn="ctr">
              <a:spcAft>
                <a:spcPts val="200"/>
              </a:spcAft>
            </a:pPr>
            <a:r>
              <a:rPr sz="950" b="1">
                <a:solidFill>
                  <a:srgbClr val="747676"/>
                </a:solidFill>
                <a:latin typeface="Arial"/>
              </a:rPr>
              <a:t>agent_startup</a:t>
            </a:r>
          </a:p>
        </p:txBody>
      </p:sp>
      <p:sp>
        <p:nvSpPr>
          <p:cNvPr id="10" name="Rectangle 9"/>
          <p:cNvSpPr/>
          <p:nvPr/>
        </p:nvSpPr>
        <p:spPr>
          <a:xfrm>
            <a:off x="1869948" y="1627632"/>
            <a:ext cx="1325880" cy="384048"/>
          </a:xfrm>
          <a:prstGeom prst="rect">
            <a:avLst/>
          </a:prstGeom>
          <a:solidFill>
            <a:srgbClr val="F6F6F6"/>
          </a:solidFill>
          <a:ln>
            <a:noFill/>
          </a:ln>
        </p:spPr>
        <p:txBody>
          <a:bodyPr rtlCol="0" anchor="ctr" wrap="square" lIns="73152" rIns="73152"/>
          <a:lstStyle/>
          <a:p>
            <a:pPr algn="ctr">
              <a:spcAft>
                <a:spcPts val="200"/>
              </a:spcAft>
            </a:pPr>
            <a:r>
              <a:rPr sz="950" b="1">
                <a:solidFill>
                  <a:srgbClr val="747676"/>
                </a:solidFill>
                <a:latin typeface="Arial"/>
              </a:rPr>
              <a:t>input</a:t>
            </a:r>
          </a:p>
        </p:txBody>
      </p:sp>
      <p:sp>
        <p:nvSpPr>
          <p:cNvPr id="11" name="Rectangle 10"/>
          <p:cNvSpPr/>
          <p:nvPr/>
        </p:nvSpPr>
        <p:spPr>
          <a:xfrm>
            <a:off x="3282696" y="1627632"/>
            <a:ext cx="1325880" cy="384048"/>
          </a:xfrm>
          <a:prstGeom prst="rect">
            <a:avLst/>
          </a:prstGeom>
          <a:solidFill>
            <a:srgbClr val="000000"/>
          </a:solidFill>
          <a:ln>
            <a:noFill/>
          </a:ln>
        </p:spPr>
        <p:txBody>
          <a:bodyPr rtlCol="0" anchor="ctr" wrap="square" lIns="73152" rIns="73152"/>
          <a:lstStyle/>
          <a:p>
            <a:pPr algn="ctr">
              <a:spcAft>
                <a:spcPts val="200"/>
              </a:spcAft>
            </a:pPr>
            <a:r>
              <a:rPr sz="950" b="1">
                <a:solidFill>
                  <a:srgbClr val="FFFFFF"/>
                </a:solidFill>
                <a:latin typeface="Arial"/>
              </a:rPr>
              <a:t>pre_model_call</a:t>
            </a:r>
          </a:p>
        </p:txBody>
      </p:sp>
      <p:sp>
        <p:nvSpPr>
          <p:cNvPr id="12" name="Rectangle 11"/>
          <p:cNvSpPr/>
          <p:nvPr/>
        </p:nvSpPr>
        <p:spPr>
          <a:xfrm>
            <a:off x="4695444" y="1627632"/>
            <a:ext cx="1325880" cy="384048"/>
          </a:xfrm>
          <a:prstGeom prst="rect">
            <a:avLst/>
          </a:prstGeom>
          <a:solidFill>
            <a:srgbClr val="000000"/>
          </a:solidFill>
          <a:ln>
            <a:noFill/>
          </a:ln>
        </p:spPr>
        <p:txBody>
          <a:bodyPr rtlCol="0" anchor="ctr" wrap="square" lIns="73152" rIns="73152"/>
          <a:lstStyle/>
          <a:p>
            <a:pPr algn="ctr">
              <a:spcAft>
                <a:spcPts val="200"/>
              </a:spcAft>
            </a:pPr>
            <a:r>
              <a:rPr sz="950" b="1">
                <a:solidFill>
                  <a:srgbClr val="FFFFFF"/>
                </a:solidFill>
                <a:latin typeface="Arial"/>
              </a:rPr>
              <a:t>post_model_call</a:t>
            </a:r>
          </a:p>
        </p:txBody>
      </p:sp>
      <p:sp>
        <p:nvSpPr>
          <p:cNvPr id="13" name="Rectangle 12"/>
          <p:cNvSpPr/>
          <p:nvPr/>
        </p:nvSpPr>
        <p:spPr>
          <a:xfrm>
            <a:off x="6108192" y="1627632"/>
            <a:ext cx="1325880" cy="384048"/>
          </a:xfrm>
          <a:prstGeom prst="rect">
            <a:avLst/>
          </a:prstGeom>
          <a:solidFill>
            <a:srgbClr val="000000"/>
          </a:solidFill>
          <a:ln>
            <a:noFill/>
          </a:ln>
        </p:spPr>
        <p:txBody>
          <a:bodyPr rtlCol="0" anchor="ctr" wrap="square" lIns="73152" rIns="73152"/>
          <a:lstStyle/>
          <a:p>
            <a:pPr algn="ctr">
              <a:spcAft>
                <a:spcPts val="200"/>
              </a:spcAft>
            </a:pPr>
            <a:r>
              <a:rPr sz="950" b="1">
                <a:solidFill>
                  <a:srgbClr val="FFFFFF"/>
                </a:solidFill>
                <a:latin typeface="Arial"/>
              </a:rPr>
              <a:t>pre_tool_call</a:t>
            </a:r>
          </a:p>
        </p:txBody>
      </p:sp>
      <p:sp>
        <p:nvSpPr>
          <p:cNvPr id="14" name="Rectangle 13"/>
          <p:cNvSpPr/>
          <p:nvPr/>
        </p:nvSpPr>
        <p:spPr>
          <a:xfrm>
            <a:off x="7520940" y="1627632"/>
            <a:ext cx="1325880" cy="384048"/>
          </a:xfrm>
          <a:prstGeom prst="rect">
            <a:avLst/>
          </a:prstGeom>
          <a:solidFill>
            <a:srgbClr val="000000"/>
          </a:solidFill>
          <a:ln>
            <a:noFill/>
          </a:ln>
        </p:spPr>
        <p:txBody>
          <a:bodyPr rtlCol="0" anchor="ctr" wrap="square" lIns="73152" rIns="73152"/>
          <a:lstStyle/>
          <a:p>
            <a:pPr algn="ctr">
              <a:spcAft>
                <a:spcPts val="200"/>
              </a:spcAft>
            </a:pPr>
            <a:r>
              <a:rPr sz="950" b="1">
                <a:solidFill>
                  <a:srgbClr val="FFFFFF"/>
                </a:solidFill>
                <a:latin typeface="Arial"/>
              </a:rPr>
              <a:t>post_tool_call</a:t>
            </a:r>
          </a:p>
        </p:txBody>
      </p:sp>
      <p:sp>
        <p:nvSpPr>
          <p:cNvPr id="15" name="Rectangle 14"/>
          <p:cNvSpPr/>
          <p:nvPr/>
        </p:nvSpPr>
        <p:spPr>
          <a:xfrm>
            <a:off x="8933688" y="1627632"/>
            <a:ext cx="1325880" cy="384048"/>
          </a:xfrm>
          <a:prstGeom prst="rect">
            <a:avLst/>
          </a:prstGeom>
          <a:solidFill>
            <a:srgbClr val="F6F6F6"/>
          </a:solidFill>
          <a:ln>
            <a:noFill/>
          </a:ln>
        </p:spPr>
        <p:txBody>
          <a:bodyPr rtlCol="0" anchor="ctr" wrap="square" lIns="73152" rIns="73152"/>
          <a:lstStyle/>
          <a:p>
            <a:pPr algn="ctr">
              <a:spcAft>
                <a:spcPts val="200"/>
              </a:spcAft>
            </a:pPr>
            <a:r>
              <a:rPr sz="950" b="1">
                <a:solidFill>
                  <a:srgbClr val="747676"/>
                </a:solidFill>
                <a:latin typeface="Arial"/>
              </a:rPr>
              <a:t>output</a:t>
            </a:r>
          </a:p>
        </p:txBody>
      </p:sp>
      <p:sp>
        <p:nvSpPr>
          <p:cNvPr id="16" name="Rectangle 15"/>
          <p:cNvSpPr/>
          <p:nvPr/>
        </p:nvSpPr>
        <p:spPr>
          <a:xfrm>
            <a:off x="10346436" y="1627632"/>
            <a:ext cx="1325880" cy="384048"/>
          </a:xfrm>
          <a:prstGeom prst="rect">
            <a:avLst/>
          </a:prstGeom>
          <a:solidFill>
            <a:srgbClr val="F6F6F6"/>
          </a:solidFill>
          <a:ln>
            <a:noFill/>
          </a:ln>
        </p:spPr>
        <p:txBody>
          <a:bodyPr rtlCol="0" anchor="ctr" wrap="square" lIns="73152" rIns="73152"/>
          <a:lstStyle/>
          <a:p>
            <a:pPr algn="ctr">
              <a:spcAft>
                <a:spcPts val="200"/>
              </a:spcAft>
            </a:pPr>
            <a:r>
              <a:rPr sz="950" b="1">
                <a:solidFill>
                  <a:srgbClr val="747676"/>
                </a:solidFill>
                <a:latin typeface="Arial"/>
              </a:rPr>
              <a:t>agent_shutdown</a:t>
            </a:r>
          </a:p>
        </p:txBody>
      </p:sp>
      <p:sp>
        <p:nvSpPr>
          <p:cNvPr id="17" name="Rectangle 16"/>
          <p:cNvSpPr/>
          <p:nvPr/>
        </p:nvSpPr>
        <p:spPr>
          <a:xfrm>
            <a:off x="457200" y="2331720"/>
            <a:ext cx="1463040" cy="1783080"/>
          </a:xfrm>
          <a:prstGeom prst="rect">
            <a:avLst/>
          </a:prstGeom>
          <a:solidFill>
            <a:srgbClr val="F6F6F6"/>
          </a:solidFill>
          <a:ln>
            <a:noFill/>
          </a:ln>
        </p:spPr>
        <p:txBody>
          <a:bodyPr rtlCol="0" anchor="ctr" wrap="square" lIns="73152" rIns="73152"/>
          <a:lstStyle/>
          <a:p>
            <a:pPr algn="ctr">
              <a:spcAft>
                <a:spcPts val="300"/>
              </a:spcAft>
            </a:pPr>
            <a:r>
              <a:rPr sz="1150" b="1">
                <a:solidFill>
                  <a:srgbClr val="000000"/>
                </a:solidFill>
                <a:latin typeface="Arial"/>
              </a:rPr>
              <a:t>Agent</a:t>
            </a:r>
          </a:p>
          <a:p>
            <a:pPr algn="ctr">
              <a:spcAft>
                <a:spcPts val="300"/>
              </a:spcAft>
            </a:pPr>
            <a:r>
              <a:rPr sz="950" b="0">
                <a:solidFill>
                  <a:srgbClr val="000000"/>
                </a:solidFill>
                <a:latin typeface="Arial"/>
              </a:rPr>
              <a:t>via Kairos SDK</a:t>
            </a:r>
          </a:p>
          <a:p>
            <a:pPr algn="ctr">
              <a:spcAft>
                <a:spcPts val="300"/>
              </a:spcAft>
            </a:pPr>
            <a:r>
              <a:rPr sz="900" b="0">
                <a:solidFill>
                  <a:srgbClr val="EE0000"/>
                </a:solidFill>
                <a:latin typeface="Arial"/>
              </a:rPr>
              <a:t>metadata.</a:t>
            </a:r>
          </a:p>
          <a:p>
            <a:pPr algn="ctr">
              <a:spcAft>
                <a:spcPts val="300"/>
              </a:spcAft>
            </a:pPr>
            <a:r>
              <a:rPr sz="900" b="0">
                <a:solidFill>
                  <a:srgbClr val="EE0000"/>
                </a:solidFill>
                <a:latin typeface="Arial"/>
              </a:rPr>
              <a:t>agent_control_session_id</a:t>
            </a:r>
          </a:p>
        </p:txBody>
      </p:sp>
      <p:cxnSp>
        <p:nvCxnSpPr>
          <p:cNvPr id="18" name="Connector 17"/>
          <p:cNvCxnSpPr/>
          <p:nvPr/>
        </p:nvCxnSpPr>
        <p:spPr>
          <a:xfrm>
            <a:off x="1920240" y="3218688"/>
            <a:ext cx="274320" cy="0"/>
          </a:xfrm>
          <a:prstGeom prst="line">
            <a:avLst/>
          </a:prstGeom>
          <a:ln w="19050">
            <a:solidFill>
              <a:srgbClr val="000000"/>
            </a:solidFill>
            <a:tailEnd type="triangle" w="med" len="med"/>
          </a:ln>
        </p:spPr>
      </p:cxnSp>
      <p:sp>
        <p:nvSpPr>
          <p:cNvPr id="19" name="Rectangle 18"/>
          <p:cNvSpPr/>
          <p:nvPr/>
        </p:nvSpPr>
        <p:spPr>
          <a:xfrm>
            <a:off x="2194560" y="2194560"/>
            <a:ext cx="5715000" cy="2057400"/>
          </a:xfrm>
          <a:prstGeom prst="rect">
            <a:avLst/>
          </a:prstGeom>
          <a:solidFill>
            <a:srgbClr val="FFFFFF"/>
          </a:solidFill>
          <a:ln w="15875">
            <a:solidFill>
              <a:srgbClr val="000000"/>
            </a:solidFill>
          </a:ln>
        </p:spPr>
        <p:txBody>
          <a:bodyPr rtlCol="0" anchor="ctr" wrap="square" lIns="73152" rIns="73152"/>
          <a:lstStyle/>
          <a:p>
            <a:pPr algn="ctr"/>
          </a:p>
        </p:txBody>
      </p:sp>
      <p:sp>
        <p:nvSpPr>
          <p:cNvPr id="20" name="TextBox 19"/>
          <p:cNvSpPr txBox="1"/>
          <p:nvPr/>
        </p:nvSpPr>
        <p:spPr>
          <a:xfrm>
            <a:off x="2331720" y="2240280"/>
            <a:ext cx="548640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Kairos Gateway</a:t>
            </a:r>
            <a:r>
              <a:rPr sz="1100" b="0">
                <a:solidFill>
                  <a:srgbClr val="747676"/>
                </a:solidFill>
                <a:latin typeface="Arial"/>
              </a:rPr>
              <a:t>  (LiteLLM 1.106.2)</a:t>
            </a:r>
          </a:p>
        </p:txBody>
      </p:sp>
      <p:sp>
        <p:nvSpPr>
          <p:cNvPr id="21" name="Rectangle 20"/>
          <p:cNvSpPr/>
          <p:nvPr/>
        </p:nvSpPr>
        <p:spPr>
          <a:xfrm>
            <a:off x="2331720" y="2578608"/>
            <a:ext cx="2697480" cy="1536192"/>
          </a:xfrm>
          <a:prstGeom prst="rect">
            <a:avLst/>
          </a:prstGeom>
          <a:solidFill>
            <a:srgbClr val="000000"/>
          </a:solidFill>
          <a:ln>
            <a:noFill/>
          </a:ln>
        </p:spPr>
        <p:txBody>
          <a:bodyPr rtlCol="0" anchor="ctr" wrap="square" lIns="73152" rIns="73152"/>
          <a:lstStyle/>
          <a:p>
            <a:pPr algn="ctr">
              <a:spcAft>
                <a:spcPts val="300"/>
              </a:spcAft>
            </a:pPr>
            <a:r>
              <a:rPr sz="1050" b="1">
                <a:solidFill>
                  <a:srgbClr val="FFFFFF"/>
                </a:solidFill>
                <a:latin typeface="Arial"/>
              </a:rPr>
              <a:t>ACS hook (in-process CustomGuardrail)</a:t>
            </a:r>
          </a:p>
          <a:p>
            <a:pPr algn="ctr">
              <a:spcAft>
                <a:spcPts val="300"/>
              </a:spcAft>
            </a:pPr>
            <a:r>
              <a:rPr sz="850" b="0">
                <a:solidFill>
                  <a:srgbClr val="D8DADA"/>
                </a:solidFill>
                <a:latin typeface="Courier New"/>
                <a:cs typeface="Courier New"/>
              </a:rPr>
              <a:t>agent_control_specification.AgentControlLiteLLMGuardrail</a:t>
            </a:r>
          </a:p>
          <a:p>
            <a:pPr algn="ctr">
              <a:spcAft>
                <a:spcPts val="300"/>
              </a:spcAft>
            </a:pPr>
            <a:r>
              <a:rPr sz="900" b="0">
                <a:solidFill>
                  <a:srgbClr val="FFFFFF"/>
                </a:solidFill>
                <a:latin typeface="Arial"/>
              </a:rPr>
              <a:t>mode: [pre_call, post_call] · manifest_path</a:t>
            </a:r>
          </a:p>
          <a:p>
            <a:pPr algn="ctr">
              <a:spcAft>
                <a:spcPts val="300"/>
              </a:spcAft>
            </a:pPr>
            <a:r>
              <a:rPr sz="950" b="1">
                <a:solidFill>
                  <a:srgbClr val="FFFFFF"/>
                </a:solidFill>
                <a:latin typeface="Arial"/>
              </a:rPr>
              <a:t>allow / deny / transform</a:t>
            </a:r>
          </a:p>
        </p:txBody>
      </p:sp>
      <p:sp>
        <p:nvSpPr>
          <p:cNvPr id="22" name="Rectangle 21"/>
          <p:cNvSpPr/>
          <p:nvPr/>
        </p:nvSpPr>
        <p:spPr>
          <a:xfrm>
            <a:off x="5120640" y="2578608"/>
            <a:ext cx="2651760" cy="1536192"/>
          </a:xfrm>
          <a:prstGeom prst="rect">
            <a:avLst/>
          </a:prstGeom>
          <a:solidFill>
            <a:srgbClr val="F6F6F6"/>
          </a:solidFill>
          <a:ln>
            <a:noFill/>
          </a:ln>
        </p:spPr>
        <p:txBody>
          <a:bodyPr rtlCol="0" anchor="ctr" wrap="square" lIns="73152" rIns="73152"/>
          <a:lstStyle/>
          <a:p>
            <a:pPr algn="ctr">
              <a:spcAft>
                <a:spcPts val="200"/>
              </a:spcAft>
            </a:pPr>
            <a:r>
              <a:rPr sz="1050" b="1">
                <a:solidFill>
                  <a:srgbClr val="000000"/>
                </a:solidFill>
                <a:latin typeface="Arial"/>
              </a:rPr>
              <a:t>Native Microsoft guardrails</a:t>
            </a:r>
          </a:p>
          <a:p>
            <a:pPr algn="ctr">
              <a:spcAft>
                <a:spcPts val="200"/>
              </a:spcAft>
            </a:pPr>
            <a:r>
              <a:rPr sz="950" b="0">
                <a:solidFill>
                  <a:srgbClr val="000000"/>
                </a:solidFill>
                <a:latin typeface="Arial"/>
              </a:rPr>
              <a:t>agent_365 → pre_mcp_call</a:t>
            </a:r>
          </a:p>
          <a:p>
            <a:pPr algn="ctr">
              <a:spcAft>
                <a:spcPts val="200"/>
              </a:spcAft>
            </a:pPr>
            <a:r>
              <a:rPr sz="950" b="0">
                <a:solidFill>
                  <a:srgbClr val="000000"/>
                </a:solidFill>
                <a:latin typeface="Arial"/>
              </a:rPr>
              <a:t>microsoft_purview → pre_call / post_call / logging_only</a:t>
            </a:r>
          </a:p>
          <a:p>
            <a:pPr algn="ctr">
              <a:spcAft>
                <a:spcPts val="200"/>
              </a:spcAft>
            </a:pPr>
            <a:r>
              <a:rPr sz="950" b="0">
                <a:solidFill>
                  <a:srgbClr val="000000"/>
                </a:solidFill>
                <a:latin typeface="Arial"/>
              </a:rPr>
              <a:t>azure/prompt_shield · azure/text_moderations</a:t>
            </a:r>
          </a:p>
          <a:p>
            <a:pPr algn="ctr">
              <a:spcAft>
                <a:spcPts val="200"/>
              </a:spcAft>
            </a:pPr>
            <a:r>
              <a:rPr sz="950" b="0">
                <a:solidFill>
                  <a:srgbClr val="747676"/>
                </a:solidFill>
                <a:latin typeface="Arial"/>
              </a:rPr>
              <a:t>presidio (if 'Proceedo' = Presidio)</a:t>
            </a:r>
          </a:p>
        </p:txBody>
      </p:sp>
      <p:cxnSp>
        <p:nvCxnSpPr>
          <p:cNvPr id="23" name="Connector 22"/>
          <p:cNvCxnSpPr/>
          <p:nvPr/>
        </p:nvCxnSpPr>
        <p:spPr>
          <a:xfrm>
            <a:off x="7909560" y="3218688"/>
            <a:ext cx="274319" cy="0"/>
          </a:xfrm>
          <a:prstGeom prst="line">
            <a:avLst/>
          </a:prstGeom>
          <a:ln w="19050">
            <a:solidFill>
              <a:srgbClr val="000000"/>
            </a:solidFill>
            <a:tailEnd type="triangle" w="med" len="med"/>
          </a:ln>
        </p:spPr>
      </p:cxnSp>
      <p:sp>
        <p:nvSpPr>
          <p:cNvPr id="24" name="Rectangle 23"/>
          <p:cNvSpPr/>
          <p:nvPr/>
        </p:nvSpPr>
        <p:spPr>
          <a:xfrm>
            <a:off x="8183879" y="2194560"/>
            <a:ext cx="1691640" cy="2057400"/>
          </a:xfrm>
          <a:prstGeom prst="rect">
            <a:avLst/>
          </a:prstGeom>
          <a:solidFill>
            <a:srgbClr val="F6F6F6"/>
          </a:solidFill>
          <a:ln>
            <a:noFill/>
          </a:ln>
        </p:spPr>
        <p:txBody>
          <a:bodyPr rtlCol="0" anchor="ctr" wrap="square" lIns="73152" rIns="73152"/>
          <a:lstStyle/>
          <a:p>
            <a:pPr algn="ctr">
              <a:spcAft>
                <a:spcPts val="300"/>
              </a:spcAft>
            </a:pPr>
            <a:r>
              <a:rPr sz="1050" b="1">
                <a:solidFill>
                  <a:srgbClr val="000000"/>
                </a:solidFill>
                <a:latin typeface="Arial"/>
              </a:rPr>
              <a:t>Managed services</a:t>
            </a:r>
          </a:p>
          <a:p>
            <a:pPr algn="ctr">
              <a:spcAft>
                <a:spcPts val="300"/>
              </a:spcAft>
            </a:pPr>
            <a:r>
              <a:rPr sz="950" b="0">
                <a:solidFill>
                  <a:srgbClr val="000000"/>
                </a:solidFill>
                <a:latin typeface="Arial"/>
              </a:rPr>
              <a:t>Defender (Agent 365)</a:t>
            </a:r>
          </a:p>
          <a:p>
            <a:pPr algn="ctr">
              <a:spcAft>
                <a:spcPts val="300"/>
              </a:spcAft>
            </a:pPr>
            <a:r>
              <a:rPr sz="950" b="0">
                <a:solidFill>
                  <a:srgbClr val="000000"/>
                </a:solidFill>
                <a:latin typeface="Arial"/>
              </a:rPr>
              <a:t>Purview DLP via Graph processContent</a:t>
            </a:r>
          </a:p>
          <a:p>
            <a:pPr algn="ctr">
              <a:spcAft>
                <a:spcPts val="300"/>
              </a:spcAft>
            </a:pPr>
            <a:r>
              <a:rPr sz="950" b="0">
                <a:solidFill>
                  <a:srgbClr val="000000"/>
                </a:solidFill>
                <a:latin typeface="Arial"/>
              </a:rPr>
              <a:t>Azure AI Content Safety</a:t>
            </a:r>
          </a:p>
        </p:txBody>
      </p:sp>
      <p:cxnSp>
        <p:nvCxnSpPr>
          <p:cNvPr id="25" name="Connector 24"/>
          <p:cNvCxnSpPr/>
          <p:nvPr/>
        </p:nvCxnSpPr>
        <p:spPr>
          <a:xfrm>
            <a:off x="9875520" y="3218688"/>
            <a:ext cx="182880" cy="0"/>
          </a:xfrm>
          <a:prstGeom prst="line">
            <a:avLst/>
          </a:prstGeom>
          <a:ln w="15875">
            <a:solidFill>
              <a:srgbClr val="747676"/>
            </a:solidFill>
            <a:headEnd type="triangle" w="med" len="med"/>
            <a:tailEnd type="triangle" w="med" len="med"/>
          </a:ln>
        </p:spPr>
      </p:cxnSp>
      <p:sp>
        <p:nvSpPr>
          <p:cNvPr id="26" name="Rectangle 25"/>
          <p:cNvSpPr/>
          <p:nvPr/>
        </p:nvSpPr>
        <p:spPr>
          <a:xfrm>
            <a:off x="10058400" y="2194560"/>
            <a:ext cx="1673352" cy="2057400"/>
          </a:xfrm>
          <a:prstGeom prst="rect">
            <a:avLst/>
          </a:prstGeom>
          <a:solidFill>
            <a:srgbClr val="000000"/>
          </a:solidFill>
          <a:ln>
            <a:noFill/>
          </a:ln>
        </p:spPr>
        <p:txBody>
          <a:bodyPr rtlCol="0" anchor="ctr" wrap="square" lIns="73152" rIns="73152"/>
          <a:lstStyle/>
          <a:p>
            <a:pPr algn="ctr">
              <a:spcAft>
                <a:spcPts val="300"/>
              </a:spcAft>
            </a:pPr>
            <a:r>
              <a:rPr sz="1050" b="1">
                <a:solidFill>
                  <a:srgbClr val="FFFFFF"/>
                </a:solidFill>
                <a:latin typeface="Arial"/>
              </a:rPr>
              <a:t>Entra ID</a:t>
            </a:r>
          </a:p>
          <a:p>
            <a:pPr algn="ctr">
              <a:spcAft>
                <a:spcPts val="300"/>
              </a:spcAft>
            </a:pPr>
            <a:r>
              <a:rPr sz="950" b="0">
                <a:solidFill>
                  <a:srgbClr val="FFFFFF"/>
                </a:solidFill>
                <a:latin typeface="Arial"/>
              </a:rPr>
              <a:t>OBO token exchange</a:t>
            </a:r>
          </a:p>
          <a:p>
            <a:pPr algn="ctr">
              <a:spcAft>
                <a:spcPts val="300"/>
              </a:spcAft>
            </a:pPr>
            <a:r>
              <a:rPr sz="950" b="0">
                <a:solidFill>
                  <a:srgbClr val="FFFFFF"/>
                </a:solidFill>
                <a:latin typeface="Arial"/>
              </a:rPr>
              <a:t>Entra Agent ID</a:t>
            </a:r>
          </a:p>
          <a:p>
            <a:pPr algn="ctr">
              <a:spcAft>
                <a:spcPts val="300"/>
              </a:spcAft>
            </a:pPr>
            <a:r>
              <a:rPr sz="950" b="0">
                <a:solidFill>
                  <a:srgbClr val="FFFFFF"/>
                </a:solidFill>
                <a:latin typeface="Arial"/>
              </a:rPr>
              <a:t>Conditional Access</a:t>
            </a:r>
          </a:p>
        </p:txBody>
      </p:sp>
      <p:cxnSp>
        <p:nvCxnSpPr>
          <p:cNvPr id="27" name="Connector 26"/>
          <p:cNvCxnSpPr/>
          <p:nvPr/>
        </p:nvCxnSpPr>
        <p:spPr>
          <a:xfrm>
            <a:off x="457200" y="4462272"/>
            <a:ext cx="3611880" cy="0"/>
          </a:xfrm>
          <a:prstGeom prst="line">
            <a:avLst/>
          </a:prstGeom>
          <a:ln w="12700">
            <a:solidFill>
              <a:srgbClr val="000000"/>
            </a:solidFill>
          </a:ln>
        </p:spPr>
      </p:cxnSp>
      <p:sp>
        <p:nvSpPr>
          <p:cNvPr id="28" name="TextBox 27"/>
          <p:cNvSpPr txBox="1"/>
          <p:nvPr/>
        </p:nvSpPr>
        <p:spPr>
          <a:xfrm>
            <a:off x="457200" y="4526280"/>
            <a:ext cx="361188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ACS semantics  </a:t>
            </a:r>
            <a:r>
              <a:rPr sz="1100" b="1">
                <a:solidFill>
                  <a:srgbClr val="747676"/>
                </a:solidFill>
                <a:latin typeface="Arial"/>
              </a:rPr>
              <a:t>verified</a:t>
            </a:r>
          </a:p>
        </p:txBody>
      </p:sp>
      <p:sp>
        <p:nvSpPr>
          <p:cNvPr id="29" name="TextBox 28"/>
          <p:cNvSpPr txBox="1"/>
          <p:nvPr/>
        </p:nvSpPr>
        <p:spPr>
          <a:xfrm>
            <a:off x="457200" y="4846320"/>
            <a:ext cx="3611880" cy="1463040"/>
          </a:xfrm>
          <a:prstGeom prst="rect">
            <a:avLst/>
          </a:prstGeom>
          <a:noFill/>
        </p:spPr>
        <p:txBody>
          <a:bodyPr wrap="square" lIns="0" rIns="0" tIns="0" bIns="0" anchor="t">
            <a:spAutoFit/>
          </a:bodyPr>
          <a:lstStyle/>
          <a:p>
            <a:pPr algn="l" marL="108585" indent="-108585">
              <a:spcAft>
                <a:spcPts val="300"/>
              </a:spcAft>
              <a:buClr>
                <a:srgbClr val="747676"/>
              </a:buClr>
              <a:buFont typeface="Arial"/>
              <a:buChar char="•"/>
            </a:pPr>
            <a:r>
              <a:rPr sz="950" b="0">
                <a:solidFill>
                  <a:srgbClr val="333333"/>
                </a:solidFill>
                <a:latin typeface="Arial"/>
              </a:rPr>
              <a:t>Stateless, deterministic, </a:t>
            </a:r>
            <a:r>
              <a:rPr sz="950" b="1">
                <a:solidFill>
                  <a:srgbClr val="333333"/>
                </a:solidFill>
                <a:latin typeface="Arial"/>
              </a:rPr>
              <a:t>fail-closed</a:t>
            </a:r>
          </a:p>
          <a:p>
            <a:pPr algn="l" marL="108585" indent="-108585">
              <a:spcAft>
                <a:spcPts val="300"/>
              </a:spcAft>
              <a:buClr>
                <a:srgbClr val="747676"/>
              </a:buClr>
              <a:buFont typeface="Arial"/>
              <a:buChar char="•"/>
            </a:pPr>
            <a:r>
              <a:rPr sz="950" b="0">
                <a:solidFill>
                  <a:srgbClr val="333333"/>
                </a:solidFill>
                <a:latin typeface="Arial"/>
              </a:rPr>
              <a:t>warn → allow-with-warnings; escalate → deny + approval</a:t>
            </a:r>
          </a:p>
          <a:p>
            <a:pPr algn="l" marL="108585" indent="-108585">
              <a:spcAft>
                <a:spcPts val="300"/>
              </a:spcAft>
              <a:buClr>
                <a:srgbClr val="747676"/>
              </a:buClr>
              <a:buFont typeface="Arial"/>
              <a:buChar char="•"/>
            </a:pPr>
            <a:r>
              <a:rPr sz="950" b="0">
                <a:solidFill>
                  <a:srgbClr val="333333"/>
                </a:solidFill>
                <a:latin typeface="Arial"/>
              </a:rPr>
              <a:t>streaming: buffer | fail_closed | evaluate_only</a:t>
            </a:r>
          </a:p>
          <a:p>
            <a:pPr algn="l" marL="108585" indent="-108585">
              <a:spcAft>
                <a:spcPts val="300"/>
              </a:spcAft>
              <a:buClr>
                <a:srgbClr val="747676"/>
              </a:buClr>
              <a:buFont typeface="Arial"/>
              <a:buChar char="•"/>
            </a:pPr>
            <a:r>
              <a:rPr sz="950" b="0">
                <a:solidFill>
                  <a:srgbClr val="333333"/>
                </a:solidFill>
                <a:latin typeface="Arial"/>
              </a:rPr>
              <a:t>reject_unknown_tool_results, session_cache_size, session_ttl_seconds</a:t>
            </a:r>
          </a:p>
        </p:txBody>
      </p:sp>
      <p:cxnSp>
        <p:nvCxnSpPr>
          <p:cNvPr id="30" name="Connector 29"/>
          <p:cNvCxnSpPr/>
          <p:nvPr/>
        </p:nvCxnSpPr>
        <p:spPr>
          <a:xfrm>
            <a:off x="4251960" y="4462272"/>
            <a:ext cx="3611880" cy="0"/>
          </a:xfrm>
          <a:prstGeom prst="line">
            <a:avLst/>
          </a:prstGeom>
          <a:ln w="12700">
            <a:solidFill>
              <a:srgbClr val="000000"/>
            </a:solidFill>
          </a:ln>
        </p:spPr>
      </p:cxnSp>
      <p:sp>
        <p:nvSpPr>
          <p:cNvPr id="31" name="TextBox 30"/>
          <p:cNvSpPr txBox="1"/>
          <p:nvPr/>
        </p:nvSpPr>
        <p:spPr>
          <a:xfrm>
            <a:off x="4251960" y="4526280"/>
            <a:ext cx="361188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Versions and install  </a:t>
            </a:r>
            <a:r>
              <a:rPr sz="1100" b="1">
                <a:solidFill>
                  <a:srgbClr val="747676"/>
                </a:solidFill>
                <a:latin typeface="Arial"/>
              </a:rPr>
              <a:t>verified</a:t>
            </a:r>
          </a:p>
        </p:txBody>
      </p:sp>
      <p:sp>
        <p:nvSpPr>
          <p:cNvPr id="32" name="TextBox 31"/>
          <p:cNvSpPr txBox="1"/>
          <p:nvPr/>
        </p:nvSpPr>
        <p:spPr>
          <a:xfrm>
            <a:off x="4251960" y="4846320"/>
            <a:ext cx="3611880" cy="1463040"/>
          </a:xfrm>
          <a:prstGeom prst="rect">
            <a:avLst/>
          </a:prstGeom>
          <a:noFill/>
        </p:spPr>
        <p:txBody>
          <a:bodyPr wrap="square" lIns="0" rIns="0" tIns="0" bIns="0" anchor="t">
            <a:spAutoFit/>
          </a:bodyPr>
          <a:lstStyle/>
          <a:p>
            <a:pPr algn="l" marL="108585" indent="-108585">
              <a:spcAft>
                <a:spcPts val="300"/>
              </a:spcAft>
              <a:buClr>
                <a:srgbClr val="747676"/>
              </a:buClr>
              <a:buFont typeface="Arial"/>
              <a:buChar char="•"/>
            </a:pPr>
            <a:r>
              <a:rPr sz="950" b="0">
                <a:solidFill>
                  <a:srgbClr val="333333"/>
                </a:solidFill>
                <a:latin typeface="Arial"/>
              </a:rPr>
              <a:t>AGT v4.1.0 (9 Jun 2026), MIT, Public Preview</a:t>
            </a:r>
          </a:p>
          <a:p>
            <a:pPr algn="l" marL="108585" indent="-108585">
              <a:spcAft>
                <a:spcPts val="300"/>
              </a:spcAft>
              <a:buClr>
                <a:srgbClr val="747676"/>
              </a:buClr>
              <a:buFont typeface="Arial"/>
              <a:buChar char="•"/>
            </a:pPr>
            <a:r>
              <a:rPr sz="950" b="0">
                <a:solidFill>
                  <a:srgbClr val="333333"/>
                </a:solidFill>
                <a:latin typeface="Arial"/>
              </a:rPr>
              <a:t>ACS v0.4.0-beta.1 (14 Oct 2026); PyPI agent-control-specification 0.3.1b1</a:t>
            </a:r>
          </a:p>
          <a:p>
            <a:pPr algn="l" marL="108585" indent="-108585">
              <a:spcAft>
                <a:spcPts val="300"/>
              </a:spcAft>
              <a:buClr>
                <a:srgbClr val="747676"/>
              </a:buClr>
              <a:buFont typeface="Arial"/>
              <a:buChar char="•"/>
            </a:pPr>
            <a:r>
              <a:rPr sz="950" b="0">
                <a:solidFill>
                  <a:srgbClr val="333333"/>
                </a:solidFill>
                <a:latin typeface="Courier New"/>
                <a:cs typeface="Courier New"/>
              </a:rPr>
              <a:t>pip install "agent-control-specification[litellm-proxy]"</a:t>
            </a:r>
          </a:p>
          <a:p>
            <a:pPr algn="l" marL="108585" indent="-108585">
              <a:spcAft>
                <a:spcPts val="300"/>
              </a:spcAft>
              <a:buClr>
                <a:srgbClr val="747676"/>
              </a:buClr>
              <a:buFont typeface="Arial"/>
              <a:buChar char="•"/>
            </a:pPr>
            <a:r>
              <a:rPr sz="950" b="0">
                <a:solidFill>
                  <a:srgbClr val="333333"/>
                </a:solidFill>
                <a:latin typeface="Arial"/>
              </a:rPr>
              <a:t>&lt;0.1 ms p99 evaluation, OWASP Agentic Top-10 </a:t>
            </a:r>
            <a:r>
              <a:rPr sz="950" b="0">
                <a:solidFill>
                  <a:srgbClr val="747676"/>
                </a:solidFill>
                <a:latin typeface="Arial"/>
              </a:rPr>
              <a:t>(vendor claim)</a:t>
            </a:r>
          </a:p>
        </p:txBody>
      </p:sp>
      <p:cxnSp>
        <p:nvCxnSpPr>
          <p:cNvPr id="33" name="Connector 32"/>
          <p:cNvCxnSpPr/>
          <p:nvPr/>
        </p:nvCxnSpPr>
        <p:spPr>
          <a:xfrm>
            <a:off x="8046720" y="4462272"/>
            <a:ext cx="3611880" cy="0"/>
          </a:xfrm>
          <a:prstGeom prst="line">
            <a:avLst/>
          </a:prstGeom>
          <a:ln w="12700">
            <a:solidFill>
              <a:srgbClr val="000000"/>
            </a:solidFill>
          </a:ln>
        </p:spPr>
      </p:cxnSp>
      <p:sp>
        <p:nvSpPr>
          <p:cNvPr id="34" name="TextBox 33"/>
          <p:cNvSpPr txBox="1"/>
          <p:nvPr/>
        </p:nvSpPr>
        <p:spPr>
          <a:xfrm>
            <a:off x="8046720" y="4526280"/>
            <a:ext cx="361188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Limits and gates</a:t>
            </a:r>
          </a:p>
        </p:txBody>
      </p:sp>
      <p:sp>
        <p:nvSpPr>
          <p:cNvPr id="35" name="TextBox 34"/>
          <p:cNvSpPr txBox="1"/>
          <p:nvPr/>
        </p:nvSpPr>
        <p:spPr>
          <a:xfrm>
            <a:off x="8046720" y="4846320"/>
            <a:ext cx="3611880" cy="1463040"/>
          </a:xfrm>
          <a:prstGeom prst="rect">
            <a:avLst/>
          </a:prstGeom>
          <a:noFill/>
        </p:spPr>
        <p:txBody>
          <a:bodyPr wrap="square" lIns="0" rIns="0" tIns="0" bIns="0" anchor="t">
            <a:spAutoFit/>
          </a:bodyPr>
          <a:lstStyle/>
          <a:p>
            <a:pPr algn="l" marL="108585" indent="-108585">
              <a:spcAft>
                <a:spcPts val="300"/>
              </a:spcAft>
              <a:buClr>
                <a:srgbClr val="747676"/>
              </a:buClr>
              <a:buFont typeface="Arial"/>
              <a:buChar char="•"/>
            </a:pPr>
            <a:r>
              <a:rPr sz="950" b="0">
                <a:solidFill>
                  <a:srgbClr val="333333"/>
                </a:solidFill>
                <a:latin typeface="Arial"/>
              </a:rPr>
              <a:t>ACS: chat-style requests only; parallel tool calls one at a time; client tools unmediated</a:t>
            </a:r>
          </a:p>
          <a:p>
            <a:pPr algn="l" marL="108585" indent="-108585">
              <a:spcAft>
                <a:spcPts val="300"/>
              </a:spcAft>
              <a:buClr>
                <a:srgbClr val="747676"/>
              </a:buClr>
              <a:buFont typeface="Arial"/>
              <a:buChar char="•"/>
            </a:pPr>
            <a:r>
              <a:rPr sz="950" b="0">
                <a:solidFill>
                  <a:srgbClr val="333333"/>
                </a:solidFill>
                <a:latin typeface="Arial"/>
              </a:rPr>
              <a:t>agent_365: tenant onboarding (409 if not), fail-closed 503, 10 s timeout</a:t>
            </a:r>
          </a:p>
          <a:p>
            <a:pPr algn="l" marL="108585" indent="-108585">
              <a:spcAft>
                <a:spcPts val="300"/>
              </a:spcAft>
              <a:buClr>
                <a:srgbClr val="747676"/>
              </a:buClr>
              <a:buFont typeface="Arial"/>
              <a:buChar char="•"/>
            </a:pPr>
            <a:r>
              <a:rPr sz="950" b="0">
                <a:solidFill>
                  <a:srgbClr val="333333"/>
                </a:solidFill>
                <a:latin typeface="Arial"/>
              </a:rPr>
              <a:t>Not gateway plugins: Foundry guardrails (Foundry agents only), ASSERT (offline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HEAD-TO-HEAD AND RECOMMENDATION</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Recommendation: layer them. Microsoft spec plus native guardrails form the gateway floor, Galileo steers in the agent, Jev decides</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Matrix: research §2.2 (verified unless marked). Latency figures are vendor claims. Layering is our POV; ACS vs Agent Control verdict parity is tested in P3.</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5</a:t>
            </a:r>
          </a:p>
        </p:txBody>
      </p:sp>
      <p:graphicFrame>
        <p:nvGraphicFramePr>
          <p:cNvPr id="8" name="Table 7"/>
          <p:cNvGraphicFramePr>
            <a:graphicFrameLocks noGrp="1"/>
          </p:cNvGraphicFramePr>
          <p:nvPr/>
        </p:nvGraphicFramePr>
        <p:xfrm>
          <a:off x="457200" y="1371600"/>
          <a:ext cx="6858000" cy="4727448"/>
        </p:xfrm>
        <a:graphic>
          <a:graphicData uri="http://schemas.openxmlformats.org/drawingml/2006/table">
            <a:tbl>
              <a:tblPr firstRow="0" bandRow="0"/>
              <a:tblGrid>
                <a:gridCol w="1188720"/>
                <a:gridCol w="2834640"/>
                <a:gridCol w="2834640"/>
              </a:tblGrid>
              <a:tr h="429768">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Galileo Agent Control</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Microsoft AGT/ACS + managed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429768">
                <a:tc>
                  <a:txBody>
                    <a:bodyPr wrap="square"/>
                    <a:lstStyle/>
                    <a:p>
                      <a:pPr algn="l">
                        <a:spcAft>
                          <a:spcPts val="0"/>
                        </a:spcAft>
                      </a:pPr>
                      <a:r>
                        <a:rPr sz="950" b="1">
                          <a:solidFill>
                            <a:srgbClr val="000000"/>
                          </a:solidFill>
                          <a:latin typeface="Arial"/>
                        </a:rPr>
                        <a:t>Licence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Apache-2.0 server and SDK; Luna-2 evaluator is paid Enterprise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MIT; Agent 365, Purview, Content Safety are paid services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Maturity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v8.x, frequent releases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AGT 4.1 Public Preview; ACS beta (0.3.1b1 / 0.4.0-beta.1)</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Architecture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Central server: network hop per evaluation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In-process library, no hop; managed controls are a hop</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Gateway fit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1">
                          <a:solidFill>
                            <a:srgbClr val="EE0000"/>
                          </a:solidFill>
                          <a:latin typeface="Arial"/>
                        </a:rPr>
                        <a:t>Build an adapter</a:t>
                      </a:r>
                      <a:r>
                        <a:rPr sz="950" b="0">
                          <a:solidFill>
                            <a:srgbClr val="333333"/>
                          </a:solidFill>
                          <a:latin typeface="Arial"/>
                        </a:rPr>
                        <a:t> (CustomGuardrail or Generic Guardrail API)</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Shipped LiteLLM hook + native agent_365, microsoft_purview, azure/*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Verdicts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deny / steer / warn / log / allow; native steer</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allow / deny / transform; warn and escalate mapped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Identity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API key per agent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Entra OBO, Entra Agent ID, key alias = agent id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MCP</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SDK decorators on tool functions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agent_365 on pre_mcp_call; ACS pre/post_tool_call</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Observability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Galileo-native events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Logs and OTel; Defender / Purview portals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Latency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36–63 ms p50 per eval </a:t>
                      </a:r>
                      <a:r>
                        <a:rPr sz="950" b="0">
                          <a:solidFill>
                            <a:srgbClr val="747676"/>
                          </a:solidFill>
                          <a:latin typeface="Arial"/>
                        </a:rPr>
                        <a:t>(vendor claim)</a:t>
                      </a:r>
                      <a:r>
                        <a:rPr sz="950" b="0">
                          <a:solidFill>
                            <a:srgbClr val="333333"/>
                          </a:solidFill>
                          <a:latin typeface="Arial"/>
                        </a:rPr>
                        <a:t> + network</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In-process ≪1 ms </a:t>
                      </a:r>
                      <a:r>
                        <a:rPr sz="950" b="0">
                          <a:solidFill>
                            <a:srgbClr val="747676"/>
                          </a:solidFill>
                          <a:latin typeface="Arial"/>
                        </a:rPr>
                        <a:t>(vendor claim)</a:t>
                      </a:r>
                      <a:r>
                        <a:rPr sz="950" b="0">
                          <a:solidFill>
                            <a:srgbClr val="333333"/>
                          </a:solidFill>
                          <a:latin typeface="Arial"/>
                        </a:rPr>
                        <a:t>; Agent 365 10 s timeout, 503</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29768">
                <a:tc>
                  <a:txBody>
                    <a:bodyPr wrap="square"/>
                    <a:lstStyle/>
                    <a:p>
                      <a:pPr algn="l">
                        <a:spcAft>
                          <a:spcPts val="0"/>
                        </a:spcAft>
                      </a:pPr>
                      <a:r>
                        <a:rPr sz="950" b="1">
                          <a:solidFill>
                            <a:srgbClr val="000000"/>
                          </a:solidFill>
                          <a:latin typeface="Arial"/>
                        </a:rPr>
                        <a:t>Lock-in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Low (OSS); Luna-2 ties to Galileo</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Low for ACS; high for Agent 365 / Purview (tenant, 409)</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9" name="TextBox 8"/>
          <p:cNvSpPr txBox="1"/>
          <p:nvPr/>
        </p:nvSpPr>
        <p:spPr>
          <a:xfrm>
            <a:off x="7680960" y="1325880"/>
            <a:ext cx="4050791" cy="274320"/>
          </a:xfrm>
          <a:prstGeom prst="rect">
            <a:avLst/>
          </a:prstGeom>
          <a:noFill/>
        </p:spPr>
        <p:txBody>
          <a:bodyPr wrap="square" lIns="0" rIns="0" tIns="0" bIns="0" anchor="t">
            <a:spAutoFit/>
          </a:bodyPr>
          <a:lstStyle/>
          <a:p>
            <a:pPr algn="l">
              <a:spcAft>
                <a:spcPts val="400"/>
              </a:spcAft>
            </a:pPr>
            <a:r>
              <a:rPr sz="1200" b="1">
                <a:solidFill>
                  <a:srgbClr val="000000"/>
                </a:solidFill>
                <a:latin typeface="Arial"/>
              </a:rPr>
              <a:t>Kairos layered model</a:t>
            </a:r>
          </a:p>
        </p:txBody>
      </p:sp>
      <p:sp>
        <p:nvSpPr>
          <p:cNvPr id="10" name="Rectangle 9"/>
          <p:cNvSpPr/>
          <p:nvPr/>
        </p:nvSpPr>
        <p:spPr>
          <a:xfrm>
            <a:off x="7680960" y="1664208"/>
            <a:ext cx="4050791" cy="868680"/>
          </a:xfrm>
          <a:prstGeom prst="rect">
            <a:avLst/>
          </a:prstGeom>
          <a:solidFill>
            <a:srgbClr val="F6F6F6"/>
          </a:solidFill>
          <a:ln w="9525">
            <a:solidFill>
              <a:srgbClr val="747676"/>
            </a:solidFill>
          </a:ln>
        </p:spPr>
        <p:txBody>
          <a:bodyPr rtlCol="0" anchor="ctr" wrap="square" lIns="73152" rIns="73152"/>
          <a:lstStyle/>
          <a:p>
            <a:pPr algn="ctr">
              <a:spcAft>
                <a:spcPts val="200"/>
              </a:spcAft>
            </a:pPr>
            <a:r>
              <a:rPr sz="1100" b="1">
                <a:solidFill>
                  <a:srgbClr val="000000"/>
                </a:solidFill>
                <a:latin typeface="Arial"/>
              </a:rPr>
              <a:t>In the agent: Galileo Agent Control</a:t>
            </a:r>
          </a:p>
          <a:p>
            <a:pPr algn="ctr">
              <a:spcAft>
                <a:spcPts val="200"/>
              </a:spcAft>
            </a:pPr>
            <a:r>
              <a:rPr sz="950" b="0">
                <a:solidFill>
                  <a:srgbClr val="000000"/>
                </a:solidFill>
                <a:latin typeface="Arial"/>
              </a:rPr>
              <a:t>@control() on planning and local tools · steer</a:t>
            </a:r>
          </a:p>
        </p:txBody>
      </p:sp>
      <p:sp>
        <p:nvSpPr>
          <p:cNvPr id="11" name="Rectangle 10"/>
          <p:cNvSpPr/>
          <p:nvPr/>
        </p:nvSpPr>
        <p:spPr>
          <a:xfrm>
            <a:off x="7680960" y="2624328"/>
            <a:ext cx="4050791" cy="868680"/>
          </a:xfrm>
          <a:prstGeom prst="rect">
            <a:avLst/>
          </a:prstGeom>
          <a:solidFill>
            <a:srgbClr val="000000"/>
          </a:solidFill>
          <a:ln>
            <a:noFill/>
          </a:ln>
        </p:spPr>
        <p:txBody>
          <a:bodyPr rtlCol="0" anchor="ctr" wrap="square" lIns="73152" rIns="73152"/>
          <a:lstStyle/>
          <a:p>
            <a:pPr algn="ctr">
              <a:spcAft>
                <a:spcPts val="200"/>
              </a:spcAft>
            </a:pPr>
            <a:r>
              <a:rPr sz="1100" b="1">
                <a:solidFill>
                  <a:srgbClr val="FFFFFF"/>
                </a:solidFill>
                <a:latin typeface="Arial"/>
              </a:rPr>
              <a:t>Decision checks: Jev decision v1 + embeddings</a:t>
            </a:r>
          </a:p>
          <a:p>
            <a:pPr algn="ctr">
              <a:spcAft>
                <a:spcPts val="200"/>
              </a:spcAft>
            </a:pPr>
            <a:r>
              <a:rPr sz="950" b="0">
                <a:solidFill>
                  <a:srgbClr val="D8DADA"/>
                </a:solidFill>
                <a:latin typeface="Arial"/>
              </a:rPr>
              <a:t>decision_model checks · semantic_guard (Kairos embeddings)</a:t>
            </a:r>
          </a:p>
        </p:txBody>
      </p:sp>
      <p:sp>
        <p:nvSpPr>
          <p:cNvPr id="12" name="Rectangle 11"/>
          <p:cNvSpPr/>
          <p:nvPr/>
        </p:nvSpPr>
        <p:spPr>
          <a:xfrm>
            <a:off x="7680960" y="3584448"/>
            <a:ext cx="4050791" cy="868680"/>
          </a:xfrm>
          <a:prstGeom prst="rect">
            <a:avLst/>
          </a:prstGeom>
          <a:solidFill>
            <a:srgbClr val="EE0000"/>
          </a:solidFill>
          <a:ln>
            <a:noFill/>
          </a:ln>
        </p:spPr>
        <p:txBody>
          <a:bodyPr rtlCol="0" anchor="ctr" wrap="square" lIns="73152" rIns="73152"/>
          <a:lstStyle/>
          <a:p>
            <a:pPr algn="ctr">
              <a:spcAft>
                <a:spcPts val="200"/>
              </a:spcAft>
            </a:pPr>
            <a:r>
              <a:rPr sz="1100" b="1">
                <a:solidFill>
                  <a:srgbClr val="FFFFFF"/>
                </a:solidFill>
                <a:latin typeface="Arial"/>
              </a:rPr>
              <a:t>Gateway floor: ACS hook + native guardrails</a:t>
            </a:r>
          </a:p>
          <a:p>
            <a:pPr algn="ctr">
              <a:spcAft>
                <a:spcPts val="200"/>
              </a:spcAft>
            </a:pPr>
            <a:r>
              <a:rPr sz="950" b="0">
                <a:solidFill>
                  <a:srgbClr val="FFFFFF"/>
                </a:solidFill>
                <a:latin typeface="Arial"/>
              </a:rPr>
              <a:t>hide-secrets · presidio · azure/prompt_shield · mcp_security · tool_permission</a:t>
            </a:r>
          </a:p>
        </p:txBody>
      </p:sp>
      <p:sp>
        <p:nvSpPr>
          <p:cNvPr id="13" name="Rectangle 12"/>
          <p:cNvSpPr/>
          <p:nvPr/>
        </p:nvSpPr>
        <p:spPr>
          <a:xfrm>
            <a:off x="7680960" y="4544568"/>
            <a:ext cx="4050791" cy="731520"/>
          </a:xfrm>
          <a:prstGeom prst="rect">
            <a:avLst/>
          </a:prstGeom>
          <a:solidFill>
            <a:srgbClr val="FFFFFF"/>
          </a:solidFill>
          <a:ln w="9525">
            <a:solidFill>
              <a:srgbClr val="747676"/>
            </a:solidFill>
            <a:prstDash val="dash"/>
          </a:ln>
        </p:spPr>
        <p:txBody>
          <a:bodyPr rtlCol="0" anchor="ctr" wrap="square" lIns="73152" rIns="73152"/>
          <a:lstStyle/>
          <a:p>
            <a:pPr algn="ctr">
              <a:spcAft>
                <a:spcPts val="200"/>
              </a:spcAft>
            </a:pPr>
            <a:r>
              <a:rPr sz="1050" b="1">
                <a:solidFill>
                  <a:srgbClr val="000000"/>
                </a:solidFill>
                <a:latin typeface="Arial"/>
              </a:rPr>
              <a:t>Per tenant: agent_365 · microsoft_purview</a:t>
            </a:r>
          </a:p>
          <a:p>
            <a:pPr algn="ctr">
              <a:spcAft>
                <a:spcPts val="200"/>
              </a:spcAft>
            </a:pPr>
            <a:r>
              <a:rPr sz="950" b="0">
                <a:solidFill>
                  <a:srgbClr val="000000"/>
                </a:solidFill>
                <a:latin typeface="Arial"/>
              </a:rPr>
              <a:t>where M365 data or Defender coverage is required</a:t>
            </a:r>
          </a:p>
        </p:txBody>
      </p:sp>
      <p:sp>
        <p:nvSpPr>
          <p:cNvPr id="14" name="Rectangle 13"/>
          <p:cNvSpPr/>
          <p:nvPr/>
        </p:nvSpPr>
        <p:spPr>
          <a:xfrm>
            <a:off x="7680960" y="5413248"/>
            <a:ext cx="4050791" cy="502920"/>
          </a:xfrm>
          <a:prstGeom prst="rect">
            <a:avLst/>
          </a:prstGeom>
          <a:solidFill>
            <a:srgbClr val="FFFFFF"/>
          </a:solidFill>
          <a:ln w="9525">
            <a:solidFill>
              <a:srgbClr val="D8DADA"/>
            </a:solidFill>
          </a:ln>
        </p:spPr>
        <p:txBody>
          <a:bodyPr rtlCol="0" anchor="ctr" wrap="square" lIns="73152" rIns="73152"/>
          <a:lstStyle/>
          <a:p>
            <a:pPr algn="ctr">
              <a:spcAft>
                <a:spcPts val="200"/>
              </a:spcAft>
            </a:pPr>
            <a:r>
              <a:rPr sz="1000" b="0">
                <a:solidFill>
                  <a:srgbClr val="333333"/>
                </a:solidFill>
                <a:latin typeface="Arial"/>
              </a:rPr>
              <a:t>All layers feed </a:t>
            </a:r>
            <a:r>
              <a:rPr sz="1000" b="1">
                <a:solidFill>
                  <a:srgbClr val="333333"/>
                </a:solidFill>
                <a:latin typeface="Arial"/>
              </a:rPr>
              <a:t>Galileo</a:t>
            </a:r>
            <a:r>
              <a:rPr sz="1000" b="0">
                <a:solidFill>
                  <a:srgbClr val="333333"/>
                </a:solidFill>
                <a:latin typeface="Arial"/>
              </a:rPr>
              <a:t>, from one control catalogue</a:t>
            </a:r>
          </a:p>
        </p:txBody>
      </p:sp>
      <p:sp>
        <p:nvSpPr>
          <p:cNvPr id="15" name="TextBox 14"/>
          <p:cNvSpPr txBox="1"/>
          <p:nvPr/>
        </p:nvSpPr>
        <p:spPr>
          <a:xfrm>
            <a:off x="7680960" y="5961888"/>
            <a:ext cx="4050791" cy="365760"/>
          </a:xfrm>
          <a:prstGeom prst="rect">
            <a:avLst/>
          </a:prstGeom>
          <a:noFill/>
        </p:spPr>
        <p:txBody>
          <a:bodyPr wrap="square" lIns="0" rIns="0" tIns="0" bIns="0" anchor="t">
            <a:spAutoFit/>
          </a:bodyPr>
          <a:lstStyle/>
          <a:p>
            <a:pPr algn="l">
              <a:spcAft>
                <a:spcPts val="400"/>
              </a:spcAft>
            </a:pPr>
            <a:r>
              <a:rPr sz="900" b="0">
                <a:solidFill>
                  <a:srgbClr val="747676"/>
                </a:solidFill>
                <a:latin typeface="Arial"/>
              </a:rPr>
              <a:t>Top = closest to the agent; red = the floor every governed call passes.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KAIROS INTEGRATION SURFACES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Four ways to plug a control into Kairos Gateway, and eight hooks where it can run, three of them on MCP traffic</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Sources: docs.litellm.ai/docs/proxy/guardrails/quick_start · /adding_provider/generic_guardrail_api · /mcp_guardrail · litellm/types/guardrails.py@v1.106.2 (61 enum values). All verified on 22 Oct 2026.</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6</a:t>
            </a:r>
          </a:p>
        </p:txBody>
      </p:sp>
      <p:sp>
        <p:nvSpPr>
          <p:cNvPr id="8" name="Rectangle 7"/>
          <p:cNvSpPr/>
          <p:nvPr/>
        </p:nvSpPr>
        <p:spPr>
          <a:xfrm>
            <a:off x="457200" y="1417320"/>
            <a:ext cx="1143000" cy="2514600"/>
          </a:xfrm>
          <a:prstGeom prst="rect">
            <a:avLst/>
          </a:prstGeom>
          <a:solidFill>
            <a:srgbClr val="F6F6F6"/>
          </a:solidFill>
          <a:ln>
            <a:noFill/>
          </a:ln>
        </p:spPr>
        <p:txBody>
          <a:bodyPr rtlCol="0" anchor="ctr" wrap="square" lIns="73152" rIns="73152"/>
          <a:lstStyle/>
          <a:p>
            <a:pPr algn="ctr">
              <a:spcAft>
                <a:spcPts val="200"/>
              </a:spcAft>
            </a:pPr>
            <a:r>
              <a:rPr sz="1050" b="1">
                <a:solidFill>
                  <a:srgbClr val="000000"/>
                </a:solidFill>
                <a:latin typeface="Arial"/>
              </a:rPr>
              <a:t>Agent / client</a:t>
            </a:r>
          </a:p>
          <a:p>
            <a:pPr algn="ctr">
              <a:spcAft>
                <a:spcPts val="200"/>
              </a:spcAft>
            </a:pPr>
            <a:r>
              <a:rPr sz="900" b="0">
                <a:solidFill>
                  <a:srgbClr val="000000"/>
                </a:solidFill>
                <a:latin typeface="Arial"/>
              </a:rPr>
              <a:t>Kairos SDK or plain OpenAI client</a:t>
            </a:r>
          </a:p>
        </p:txBody>
      </p:sp>
      <p:sp>
        <p:nvSpPr>
          <p:cNvPr id="9" name="Rectangle 8"/>
          <p:cNvSpPr/>
          <p:nvPr/>
        </p:nvSpPr>
        <p:spPr>
          <a:xfrm>
            <a:off x="1783080" y="1371600"/>
            <a:ext cx="9948672" cy="2606040"/>
          </a:xfrm>
          <a:prstGeom prst="rect">
            <a:avLst/>
          </a:prstGeom>
          <a:noFill/>
          <a:ln w="15875">
            <a:solidFill>
              <a:srgbClr val="000000"/>
            </a:solidFill>
          </a:ln>
        </p:spPr>
        <p:txBody>
          <a:bodyPr rtlCol="0" anchor="ctr" wrap="square" lIns="73152" rIns="73152"/>
          <a:lstStyle/>
          <a:p>
            <a:pPr algn="ctr"/>
          </a:p>
        </p:txBody>
      </p:sp>
      <p:sp>
        <p:nvSpPr>
          <p:cNvPr id="10" name="TextBox 9"/>
          <p:cNvSpPr txBox="1"/>
          <p:nvPr/>
        </p:nvSpPr>
        <p:spPr>
          <a:xfrm>
            <a:off x="1920240" y="1417320"/>
            <a:ext cx="731520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Kairos Gateway: guardrail hooks</a:t>
            </a:r>
            <a:r>
              <a:rPr sz="1050" b="0">
                <a:solidFill>
                  <a:srgbClr val="747676"/>
                </a:solidFill>
                <a:latin typeface="Arial"/>
              </a:rPr>
              <a:t>  (verified)</a:t>
            </a:r>
          </a:p>
        </p:txBody>
      </p:sp>
      <p:cxnSp>
        <p:nvCxnSpPr>
          <p:cNvPr id="11" name="Connector 10"/>
          <p:cNvCxnSpPr/>
          <p:nvPr/>
        </p:nvCxnSpPr>
        <p:spPr>
          <a:xfrm>
            <a:off x="1600200" y="2103120"/>
            <a:ext cx="365760" cy="0"/>
          </a:xfrm>
          <a:prstGeom prst="line">
            <a:avLst/>
          </a:prstGeom>
          <a:ln w="15875">
            <a:solidFill>
              <a:srgbClr val="000000"/>
            </a:solidFill>
            <a:tailEnd type="triangle" w="med" len="med"/>
          </a:ln>
        </p:spPr>
      </p:cxnSp>
      <p:sp>
        <p:nvSpPr>
          <p:cNvPr id="12" name="Rectangle 11"/>
          <p:cNvSpPr/>
          <p:nvPr/>
        </p:nvSpPr>
        <p:spPr>
          <a:xfrm>
            <a:off x="1965960" y="1737360"/>
            <a:ext cx="1600200" cy="731520"/>
          </a:xfrm>
          <a:prstGeom prst="rect">
            <a:avLst/>
          </a:prstGeom>
          <a:solidFill>
            <a:srgbClr val="000000"/>
          </a:solidFill>
          <a:ln>
            <a:noFill/>
          </a:ln>
        </p:spPr>
        <p:txBody>
          <a:bodyPr rtlCol="0" anchor="ctr" wrap="square" lIns="73152" rIns="73152"/>
          <a:lstStyle/>
          <a:p>
            <a:pPr algn="ctr">
              <a:spcAft>
                <a:spcPts val="100"/>
              </a:spcAft>
            </a:pPr>
            <a:r>
              <a:rPr sz="1050" b="1">
                <a:solidFill>
                  <a:srgbClr val="FFFFFF"/>
                </a:solidFill>
                <a:latin typeface="Arial"/>
              </a:rPr>
              <a:t>pre_call</a:t>
            </a:r>
          </a:p>
          <a:p>
            <a:pPr algn="ctr">
              <a:spcAft>
                <a:spcPts val="100"/>
              </a:spcAft>
            </a:pPr>
            <a:r>
              <a:rPr sz="900" b="0">
                <a:solidFill>
                  <a:srgbClr val="FFFFFF"/>
                </a:solidFill>
                <a:latin typeface="Arial"/>
              </a:rPr>
              <a:t>before the model; block or rewrite</a:t>
            </a:r>
          </a:p>
        </p:txBody>
      </p:sp>
      <p:cxnSp>
        <p:nvCxnSpPr>
          <p:cNvPr id="13" name="Connector 12"/>
          <p:cNvCxnSpPr/>
          <p:nvPr/>
        </p:nvCxnSpPr>
        <p:spPr>
          <a:xfrm>
            <a:off x="3566160" y="2103120"/>
            <a:ext cx="228600" cy="0"/>
          </a:xfrm>
          <a:prstGeom prst="line">
            <a:avLst/>
          </a:prstGeom>
          <a:ln w="15875">
            <a:solidFill>
              <a:srgbClr val="747676"/>
            </a:solidFill>
            <a:tailEnd type="triangle" w="med" len="med"/>
          </a:ln>
        </p:spPr>
      </p:cxnSp>
      <p:sp>
        <p:nvSpPr>
          <p:cNvPr id="14" name="Rectangle 13"/>
          <p:cNvSpPr/>
          <p:nvPr/>
        </p:nvSpPr>
        <p:spPr>
          <a:xfrm>
            <a:off x="3794760" y="1737360"/>
            <a:ext cx="1600200" cy="731520"/>
          </a:xfrm>
          <a:prstGeom prst="rect">
            <a:avLst/>
          </a:prstGeom>
          <a:solidFill>
            <a:srgbClr val="FFFFFF"/>
          </a:solidFill>
          <a:ln w="9525">
            <a:solidFill>
              <a:srgbClr val="747676"/>
            </a:solidFill>
            <a:prstDash val="dash"/>
          </a:ln>
        </p:spPr>
        <p:txBody>
          <a:bodyPr rtlCol="0" anchor="ctr" wrap="square" lIns="73152" rIns="73152"/>
          <a:lstStyle/>
          <a:p>
            <a:pPr algn="ctr">
              <a:spcAft>
                <a:spcPts val="100"/>
              </a:spcAft>
            </a:pPr>
            <a:r>
              <a:rPr sz="1050" b="1">
                <a:solidFill>
                  <a:srgbClr val="000000"/>
                </a:solidFill>
                <a:latin typeface="Arial"/>
              </a:rPr>
              <a:t>during_call</a:t>
            </a:r>
          </a:p>
          <a:p>
            <a:pPr algn="ctr">
              <a:spcAft>
                <a:spcPts val="100"/>
              </a:spcAft>
            </a:pPr>
            <a:r>
              <a:rPr sz="900" b="0">
                <a:solidFill>
                  <a:srgbClr val="000000"/>
                </a:solidFill>
                <a:latin typeface="Arial"/>
              </a:rPr>
              <a:t>parallel to the model call; block-only</a:t>
            </a:r>
          </a:p>
        </p:txBody>
      </p:sp>
      <p:cxnSp>
        <p:nvCxnSpPr>
          <p:cNvPr id="15" name="Connector 14"/>
          <p:cNvCxnSpPr/>
          <p:nvPr/>
        </p:nvCxnSpPr>
        <p:spPr>
          <a:xfrm>
            <a:off x="5394960" y="2103120"/>
            <a:ext cx="228600" cy="0"/>
          </a:xfrm>
          <a:prstGeom prst="line">
            <a:avLst/>
          </a:prstGeom>
          <a:ln w="15875">
            <a:solidFill>
              <a:srgbClr val="747676"/>
            </a:solidFill>
            <a:tailEnd type="triangle" w="med" len="med"/>
          </a:ln>
        </p:spPr>
      </p:cxnSp>
      <p:sp>
        <p:nvSpPr>
          <p:cNvPr id="16" name="Rectangle 15"/>
          <p:cNvSpPr/>
          <p:nvPr/>
        </p:nvSpPr>
        <p:spPr>
          <a:xfrm>
            <a:off x="5623560" y="1737360"/>
            <a:ext cx="1600200" cy="731520"/>
          </a:xfrm>
          <a:prstGeom prst="rect">
            <a:avLst/>
          </a:prstGeom>
          <a:solidFill>
            <a:srgbClr val="F6F6F6"/>
          </a:solidFill>
          <a:ln>
            <a:noFill/>
          </a:ln>
        </p:spPr>
        <p:txBody>
          <a:bodyPr rtlCol="0" anchor="ctr" wrap="square" lIns="73152" rIns="73152"/>
          <a:lstStyle/>
          <a:p>
            <a:pPr algn="ctr">
              <a:spcAft>
                <a:spcPts val="100"/>
              </a:spcAft>
            </a:pPr>
            <a:r>
              <a:rPr sz="1050" b="1">
                <a:solidFill>
                  <a:srgbClr val="000000"/>
                </a:solidFill>
                <a:latin typeface="Arial"/>
              </a:rPr>
              <a:t>Model provider</a:t>
            </a:r>
          </a:p>
          <a:p>
            <a:pPr algn="ctr">
              <a:spcAft>
                <a:spcPts val="100"/>
              </a:spcAft>
            </a:pPr>
            <a:r>
              <a:rPr sz="900" b="0">
                <a:solidFill>
                  <a:srgbClr val="000000"/>
                </a:solidFill>
                <a:latin typeface="Arial"/>
              </a:rPr>
              <a:t>Vertex · Bedrock · Azure · vLLM</a:t>
            </a:r>
          </a:p>
        </p:txBody>
      </p:sp>
      <p:cxnSp>
        <p:nvCxnSpPr>
          <p:cNvPr id="17" name="Connector 16"/>
          <p:cNvCxnSpPr/>
          <p:nvPr/>
        </p:nvCxnSpPr>
        <p:spPr>
          <a:xfrm>
            <a:off x="7223760" y="2103120"/>
            <a:ext cx="228600" cy="0"/>
          </a:xfrm>
          <a:prstGeom prst="line">
            <a:avLst/>
          </a:prstGeom>
          <a:ln w="15875">
            <a:solidFill>
              <a:srgbClr val="747676"/>
            </a:solidFill>
            <a:tailEnd type="triangle" w="med" len="med"/>
          </a:ln>
        </p:spPr>
      </p:cxnSp>
      <p:sp>
        <p:nvSpPr>
          <p:cNvPr id="18" name="Rectangle 17"/>
          <p:cNvSpPr/>
          <p:nvPr/>
        </p:nvSpPr>
        <p:spPr>
          <a:xfrm>
            <a:off x="7452360" y="1737360"/>
            <a:ext cx="1600200" cy="731520"/>
          </a:xfrm>
          <a:prstGeom prst="rect">
            <a:avLst/>
          </a:prstGeom>
          <a:solidFill>
            <a:srgbClr val="000000"/>
          </a:solidFill>
          <a:ln>
            <a:noFill/>
          </a:ln>
        </p:spPr>
        <p:txBody>
          <a:bodyPr rtlCol="0" anchor="ctr" wrap="square" lIns="73152" rIns="73152"/>
          <a:lstStyle/>
          <a:p>
            <a:pPr algn="ctr">
              <a:spcAft>
                <a:spcPts val="100"/>
              </a:spcAft>
            </a:pPr>
            <a:r>
              <a:rPr sz="1050" b="1">
                <a:solidFill>
                  <a:srgbClr val="FFFFFF"/>
                </a:solidFill>
                <a:latin typeface="Arial"/>
              </a:rPr>
              <a:t>post_call</a:t>
            </a:r>
          </a:p>
          <a:p>
            <a:pPr algn="ctr">
              <a:spcAft>
                <a:spcPts val="100"/>
              </a:spcAft>
            </a:pPr>
            <a:r>
              <a:rPr sz="900" b="0">
                <a:solidFill>
                  <a:srgbClr val="FFFFFF"/>
                </a:solidFill>
                <a:latin typeface="Arial"/>
              </a:rPr>
              <a:t>on the response; streams need buffering</a:t>
            </a:r>
          </a:p>
        </p:txBody>
      </p:sp>
      <p:sp>
        <p:nvSpPr>
          <p:cNvPr id="19" name="Rectangle 18"/>
          <p:cNvSpPr/>
          <p:nvPr/>
        </p:nvSpPr>
        <p:spPr>
          <a:xfrm>
            <a:off x="9326880" y="1737360"/>
            <a:ext cx="2286000" cy="731520"/>
          </a:xfrm>
          <a:prstGeom prst="rect">
            <a:avLst/>
          </a:prstGeom>
          <a:solidFill>
            <a:srgbClr val="FFFFFF"/>
          </a:solidFill>
          <a:ln w="9525">
            <a:solidFill>
              <a:srgbClr val="747676"/>
            </a:solidFill>
            <a:prstDash val="dash"/>
          </a:ln>
        </p:spPr>
        <p:txBody>
          <a:bodyPr rtlCol="0" anchor="ctr" wrap="square" lIns="73152" rIns="73152"/>
          <a:lstStyle/>
          <a:p>
            <a:pPr algn="ctr">
              <a:spcAft>
                <a:spcPts val="100"/>
              </a:spcAft>
            </a:pPr>
            <a:r>
              <a:rPr sz="1000" b="1">
                <a:solidFill>
                  <a:srgbClr val="000000"/>
                </a:solidFill>
                <a:latin typeface="Arial"/>
              </a:rPr>
              <a:t>logging_only</a:t>
            </a:r>
          </a:p>
          <a:p>
            <a:pPr algn="ctr">
              <a:spcAft>
                <a:spcPts val="100"/>
              </a:spcAft>
            </a:pPr>
            <a:r>
              <a:rPr sz="900" b="0">
                <a:solidFill>
                  <a:srgbClr val="000000"/>
                </a:solidFill>
                <a:latin typeface="Arial"/>
              </a:rPr>
              <a:t>off-path, never blocks: the observe tier</a:t>
            </a:r>
          </a:p>
        </p:txBody>
      </p:sp>
      <p:cxnSp>
        <p:nvCxnSpPr>
          <p:cNvPr id="20" name="Connector 19"/>
          <p:cNvCxnSpPr/>
          <p:nvPr/>
        </p:nvCxnSpPr>
        <p:spPr>
          <a:xfrm>
            <a:off x="9052560" y="2103120"/>
            <a:ext cx="274320" cy="0"/>
          </a:xfrm>
          <a:prstGeom prst="line">
            <a:avLst/>
          </a:prstGeom>
          <a:ln w="9525">
            <a:solidFill>
              <a:srgbClr val="747676"/>
            </a:solidFill>
            <a:prstDash val="dash"/>
          </a:ln>
        </p:spPr>
      </p:cxnSp>
      <p:cxnSp>
        <p:nvCxnSpPr>
          <p:cNvPr id="21" name="Connector 20"/>
          <p:cNvCxnSpPr/>
          <p:nvPr/>
        </p:nvCxnSpPr>
        <p:spPr>
          <a:xfrm>
            <a:off x="1600200" y="3291840"/>
            <a:ext cx="365760" cy="0"/>
          </a:xfrm>
          <a:prstGeom prst="line">
            <a:avLst/>
          </a:prstGeom>
          <a:ln w="15875">
            <a:solidFill>
              <a:srgbClr val="000000"/>
            </a:solidFill>
            <a:tailEnd type="triangle" w="med" len="med"/>
          </a:ln>
        </p:spPr>
      </p:cxnSp>
      <p:sp>
        <p:nvSpPr>
          <p:cNvPr id="22" name="Rectangle 21"/>
          <p:cNvSpPr/>
          <p:nvPr/>
        </p:nvSpPr>
        <p:spPr>
          <a:xfrm>
            <a:off x="1965960" y="2926080"/>
            <a:ext cx="1600200" cy="731520"/>
          </a:xfrm>
          <a:prstGeom prst="rect">
            <a:avLst/>
          </a:prstGeom>
          <a:solidFill>
            <a:srgbClr val="000000"/>
          </a:solidFill>
          <a:ln>
            <a:noFill/>
          </a:ln>
        </p:spPr>
        <p:txBody>
          <a:bodyPr rtlCol="0" anchor="ctr" wrap="square" lIns="73152" rIns="73152"/>
          <a:lstStyle/>
          <a:p>
            <a:pPr algn="ctr">
              <a:spcAft>
                <a:spcPts val="100"/>
              </a:spcAft>
            </a:pPr>
            <a:r>
              <a:rPr sz="1050" b="1">
                <a:solidFill>
                  <a:srgbClr val="FFFFFF"/>
                </a:solidFill>
                <a:latin typeface="Arial"/>
              </a:rPr>
              <a:t>pre_mcp_call</a:t>
            </a:r>
          </a:p>
          <a:p>
            <a:pPr algn="ctr">
              <a:spcAft>
                <a:spcPts val="100"/>
              </a:spcAft>
            </a:pPr>
            <a:r>
              <a:rPr sz="900" b="0">
                <a:solidFill>
                  <a:srgbClr val="FFFFFF"/>
                </a:solidFill>
                <a:latin typeface="Arial"/>
              </a:rPr>
              <a:t>tool args + tools/list descriptions</a:t>
            </a:r>
          </a:p>
        </p:txBody>
      </p:sp>
      <p:cxnSp>
        <p:nvCxnSpPr>
          <p:cNvPr id="23" name="Connector 22"/>
          <p:cNvCxnSpPr/>
          <p:nvPr/>
        </p:nvCxnSpPr>
        <p:spPr>
          <a:xfrm>
            <a:off x="3566160" y="3291840"/>
            <a:ext cx="228600" cy="0"/>
          </a:xfrm>
          <a:prstGeom prst="line">
            <a:avLst/>
          </a:prstGeom>
          <a:ln w="15875">
            <a:solidFill>
              <a:srgbClr val="747676"/>
            </a:solidFill>
            <a:tailEnd type="triangle" w="med" len="med"/>
          </a:ln>
        </p:spPr>
      </p:cxnSp>
      <p:sp>
        <p:nvSpPr>
          <p:cNvPr id="24" name="Rectangle 23"/>
          <p:cNvSpPr/>
          <p:nvPr/>
        </p:nvSpPr>
        <p:spPr>
          <a:xfrm>
            <a:off x="3794760" y="2926080"/>
            <a:ext cx="1600200" cy="731520"/>
          </a:xfrm>
          <a:prstGeom prst="rect">
            <a:avLst/>
          </a:prstGeom>
          <a:solidFill>
            <a:srgbClr val="FFFFFF"/>
          </a:solidFill>
          <a:ln w="9525">
            <a:solidFill>
              <a:srgbClr val="747676"/>
            </a:solidFill>
            <a:prstDash val="dash"/>
          </a:ln>
        </p:spPr>
        <p:txBody>
          <a:bodyPr rtlCol="0" anchor="ctr" wrap="square" lIns="73152" rIns="73152"/>
          <a:lstStyle/>
          <a:p>
            <a:pPr algn="ctr">
              <a:spcAft>
                <a:spcPts val="100"/>
              </a:spcAft>
            </a:pPr>
            <a:r>
              <a:rPr sz="1050" b="1">
                <a:solidFill>
                  <a:srgbClr val="000000"/>
                </a:solidFill>
                <a:latin typeface="Arial"/>
              </a:rPr>
              <a:t>during_mcp_call</a:t>
            </a:r>
          </a:p>
          <a:p>
            <a:pPr algn="ctr">
              <a:spcAft>
                <a:spcPts val="100"/>
              </a:spcAft>
            </a:pPr>
            <a:r>
              <a:rPr sz="900" b="0">
                <a:solidFill>
                  <a:srgbClr val="000000"/>
                </a:solidFill>
                <a:latin typeface="Arial"/>
              </a:rPr>
              <a:t>alongside the tool call</a:t>
            </a:r>
          </a:p>
        </p:txBody>
      </p:sp>
      <p:cxnSp>
        <p:nvCxnSpPr>
          <p:cNvPr id="25" name="Connector 24"/>
          <p:cNvCxnSpPr/>
          <p:nvPr/>
        </p:nvCxnSpPr>
        <p:spPr>
          <a:xfrm>
            <a:off x="5394960" y="3291840"/>
            <a:ext cx="228600" cy="0"/>
          </a:xfrm>
          <a:prstGeom prst="line">
            <a:avLst/>
          </a:prstGeom>
          <a:ln w="15875">
            <a:solidFill>
              <a:srgbClr val="747676"/>
            </a:solidFill>
            <a:tailEnd type="triangle" w="med" len="med"/>
          </a:ln>
        </p:spPr>
      </p:cxnSp>
      <p:sp>
        <p:nvSpPr>
          <p:cNvPr id="26" name="Rectangle 25"/>
          <p:cNvSpPr/>
          <p:nvPr/>
        </p:nvSpPr>
        <p:spPr>
          <a:xfrm>
            <a:off x="5623560" y="2926080"/>
            <a:ext cx="1600200" cy="731520"/>
          </a:xfrm>
          <a:prstGeom prst="rect">
            <a:avLst/>
          </a:prstGeom>
          <a:solidFill>
            <a:srgbClr val="F6F6F6"/>
          </a:solidFill>
          <a:ln>
            <a:noFill/>
          </a:ln>
        </p:spPr>
        <p:txBody>
          <a:bodyPr rtlCol="0" anchor="ctr" wrap="square" lIns="73152" rIns="73152"/>
          <a:lstStyle/>
          <a:p>
            <a:pPr algn="ctr">
              <a:spcAft>
                <a:spcPts val="100"/>
              </a:spcAft>
            </a:pPr>
            <a:r>
              <a:rPr sz="1050" b="1">
                <a:solidFill>
                  <a:srgbClr val="000000"/>
                </a:solidFill>
                <a:latin typeface="Arial"/>
              </a:rPr>
              <a:t>MCP server</a:t>
            </a:r>
          </a:p>
          <a:p>
            <a:pPr algn="ctr">
              <a:spcAft>
                <a:spcPts val="100"/>
              </a:spcAft>
            </a:pPr>
            <a:r>
              <a:rPr sz="900" b="0">
                <a:solidFill>
                  <a:srgbClr val="000000"/>
                </a:solidFill>
                <a:latin typeface="Arial"/>
              </a:rPr>
              <a:t>tools/call</a:t>
            </a:r>
          </a:p>
        </p:txBody>
      </p:sp>
      <p:cxnSp>
        <p:nvCxnSpPr>
          <p:cNvPr id="27" name="Connector 26"/>
          <p:cNvCxnSpPr/>
          <p:nvPr/>
        </p:nvCxnSpPr>
        <p:spPr>
          <a:xfrm>
            <a:off x="7223760" y="3291840"/>
            <a:ext cx="228600" cy="0"/>
          </a:xfrm>
          <a:prstGeom prst="line">
            <a:avLst/>
          </a:prstGeom>
          <a:ln w="15875">
            <a:solidFill>
              <a:srgbClr val="747676"/>
            </a:solidFill>
            <a:tailEnd type="triangle" w="med" len="med"/>
          </a:ln>
        </p:spPr>
      </p:cxnSp>
      <p:sp>
        <p:nvSpPr>
          <p:cNvPr id="28" name="Rectangle 27"/>
          <p:cNvSpPr/>
          <p:nvPr/>
        </p:nvSpPr>
        <p:spPr>
          <a:xfrm>
            <a:off x="7452360" y="2926080"/>
            <a:ext cx="1600200" cy="731520"/>
          </a:xfrm>
          <a:prstGeom prst="rect">
            <a:avLst/>
          </a:prstGeom>
          <a:solidFill>
            <a:srgbClr val="000000"/>
          </a:solidFill>
          <a:ln>
            <a:noFill/>
          </a:ln>
        </p:spPr>
        <p:txBody>
          <a:bodyPr rtlCol="0" anchor="ctr" wrap="square" lIns="73152" rIns="73152"/>
          <a:lstStyle/>
          <a:p>
            <a:pPr algn="ctr">
              <a:spcAft>
                <a:spcPts val="100"/>
              </a:spcAft>
            </a:pPr>
            <a:r>
              <a:rPr sz="1050" b="1">
                <a:solidFill>
                  <a:srgbClr val="FFFFFF"/>
                </a:solidFill>
                <a:latin typeface="Arial"/>
              </a:rPr>
              <a:t>post_mcp_call</a:t>
            </a:r>
          </a:p>
          <a:p>
            <a:pPr algn="ctr">
              <a:spcAft>
                <a:spcPts val="100"/>
              </a:spcAft>
            </a:pPr>
            <a:r>
              <a:rPr sz="900" b="0">
                <a:solidFill>
                  <a:srgbClr val="FFFFFF"/>
                </a:solidFill>
                <a:latin typeface="Arial"/>
              </a:rPr>
              <a:t>scans CallToolResult</a:t>
            </a:r>
          </a:p>
        </p:txBody>
      </p:sp>
      <p:sp>
        <p:nvSpPr>
          <p:cNvPr id="29" name="Rectangle 28"/>
          <p:cNvSpPr/>
          <p:nvPr/>
        </p:nvSpPr>
        <p:spPr>
          <a:xfrm>
            <a:off x="9326880" y="2926080"/>
            <a:ext cx="2286000" cy="731520"/>
          </a:xfrm>
          <a:prstGeom prst="rect">
            <a:avLst/>
          </a:prstGeom>
          <a:solidFill>
            <a:srgbClr val="FFFFFF"/>
          </a:solidFill>
          <a:ln w="9525">
            <a:solidFill>
              <a:srgbClr val="747676"/>
            </a:solidFill>
            <a:prstDash val="dash"/>
          </a:ln>
        </p:spPr>
        <p:txBody>
          <a:bodyPr rtlCol="0" anchor="ctr" wrap="square" lIns="73152" rIns="73152"/>
          <a:lstStyle/>
          <a:p>
            <a:pPr algn="ctr">
              <a:spcAft>
                <a:spcPts val="100"/>
              </a:spcAft>
            </a:pPr>
            <a:r>
              <a:rPr sz="1000" b="1">
                <a:solidFill>
                  <a:srgbClr val="000000"/>
                </a:solidFill>
                <a:latin typeface="Arial"/>
              </a:rPr>
              <a:t>realtime_input_transcription</a:t>
            </a:r>
          </a:p>
          <a:p>
            <a:pPr algn="ctr">
              <a:spcAft>
                <a:spcPts val="100"/>
              </a:spcAft>
            </a:pPr>
            <a:r>
              <a:rPr sz="900" b="0">
                <a:solidFill>
                  <a:srgbClr val="000000"/>
                </a:solidFill>
                <a:latin typeface="Arial"/>
              </a:rPr>
              <a:t>voice input hook</a:t>
            </a:r>
          </a:p>
        </p:txBody>
      </p:sp>
      <p:cxnSp>
        <p:nvCxnSpPr>
          <p:cNvPr id="30" name="Connector 29"/>
          <p:cNvCxnSpPr/>
          <p:nvPr/>
        </p:nvCxnSpPr>
        <p:spPr>
          <a:xfrm>
            <a:off x="9052560" y="3291840"/>
            <a:ext cx="274320" cy="0"/>
          </a:xfrm>
          <a:prstGeom prst="line">
            <a:avLst/>
          </a:prstGeom>
          <a:ln w="9525">
            <a:solidFill>
              <a:srgbClr val="747676"/>
            </a:solidFill>
            <a:prstDash val="dash"/>
          </a:ln>
        </p:spPr>
      </p:cxnSp>
      <p:sp>
        <p:nvSpPr>
          <p:cNvPr id="31" name="TextBox 30"/>
          <p:cNvSpPr txBox="1"/>
          <p:nvPr/>
        </p:nvSpPr>
        <p:spPr>
          <a:xfrm>
            <a:off x="1965960" y="3675887"/>
            <a:ext cx="9692640" cy="256032"/>
          </a:xfrm>
          <a:prstGeom prst="rect">
            <a:avLst/>
          </a:prstGeom>
          <a:noFill/>
        </p:spPr>
        <p:txBody>
          <a:bodyPr wrap="square" lIns="0" rIns="0" tIns="0" bIns="0" anchor="t">
            <a:spAutoFit/>
          </a:bodyPr>
          <a:lstStyle/>
          <a:p>
            <a:pPr algn="l">
              <a:spcAft>
                <a:spcPts val="400"/>
              </a:spcAft>
            </a:pPr>
            <a:r>
              <a:rPr sz="900" b="0">
                <a:solidFill>
                  <a:srgbClr val="747676"/>
                </a:solidFill>
                <a:latin typeface="Arial"/>
              </a:rPr>
              <a:t>Black = can block the call. Dashed = runs alongside or off-path. MCP sub-calls do not inherit request guardrails (slide 13).</a:t>
            </a:r>
          </a:p>
        </p:txBody>
      </p:sp>
      <p:sp>
        <p:nvSpPr>
          <p:cNvPr id="32" name="Rectangle 31"/>
          <p:cNvSpPr/>
          <p:nvPr/>
        </p:nvSpPr>
        <p:spPr>
          <a:xfrm>
            <a:off x="457200" y="4069080"/>
            <a:ext cx="2715768" cy="566928"/>
          </a:xfrm>
          <a:prstGeom prst="rect">
            <a:avLst/>
          </a:prstGeom>
          <a:solidFill>
            <a:srgbClr val="000000"/>
          </a:solidFill>
          <a:ln>
            <a:noFill/>
          </a:ln>
        </p:spPr>
        <p:txBody>
          <a:bodyPr rtlCol="0" anchor="ctr" wrap="square" lIns="109728" rIns="109728"/>
          <a:lstStyle/>
          <a:p>
            <a:pPr algn="l">
              <a:spcAft>
                <a:spcPts val="100"/>
              </a:spcAft>
            </a:pPr>
            <a:r>
              <a:rPr sz="1150" b="1">
                <a:solidFill>
                  <a:srgbClr val="FFFFFF"/>
                </a:solidFill>
                <a:latin typeface="Arial"/>
              </a:rPr>
              <a:t>Native guardrail</a:t>
            </a:r>
          </a:p>
          <a:p>
            <a:pPr algn="l">
              <a:spcAft>
                <a:spcPts val="100"/>
              </a:spcAft>
            </a:pPr>
            <a:r>
              <a:rPr sz="900" b="0">
                <a:solidFill>
                  <a:srgbClr val="D8DADA"/>
                </a:solidFill>
                <a:latin typeface="Courier New"/>
                <a:cs typeface="Courier New"/>
              </a:rPr>
              <a:t>one of 61 enum values at v1.106.2</a:t>
            </a:r>
          </a:p>
        </p:txBody>
      </p:sp>
      <p:sp>
        <p:nvSpPr>
          <p:cNvPr id="33" name="Rectangle 32"/>
          <p:cNvSpPr/>
          <p:nvPr/>
        </p:nvSpPr>
        <p:spPr>
          <a:xfrm>
            <a:off x="457200" y="4636008"/>
            <a:ext cx="2715768" cy="1298448"/>
          </a:xfrm>
          <a:prstGeom prst="rect">
            <a:avLst/>
          </a:prstGeom>
          <a:solidFill>
            <a:srgbClr val="F6F6F6"/>
          </a:solidFill>
          <a:ln>
            <a:noFill/>
          </a:ln>
        </p:spPr>
        <p:txBody>
          <a:bodyPr rtlCol="0" anchor="ctr" wrap="square" lIns="73152" rIns="73152"/>
          <a:lstStyle/>
          <a:p>
            <a:pPr algn="ctr"/>
          </a:p>
        </p:txBody>
      </p:sp>
      <p:sp>
        <p:nvSpPr>
          <p:cNvPr id="34" name="TextBox 33"/>
          <p:cNvSpPr txBox="1"/>
          <p:nvPr/>
        </p:nvSpPr>
        <p:spPr>
          <a:xfrm>
            <a:off x="566928" y="4681728"/>
            <a:ext cx="2514600" cy="868680"/>
          </a:xfrm>
          <a:prstGeom prst="rect">
            <a:avLst/>
          </a:prstGeom>
          <a:noFill/>
        </p:spPr>
        <p:txBody>
          <a:bodyPr wrap="square" lIns="0" rIns="0" tIns="0" bIns="0" anchor="t">
            <a:spAutoFit/>
          </a:bodyPr>
          <a:lstStyle/>
          <a:p>
            <a:pPr algn="l">
              <a:spcAft>
                <a:spcPts val="300"/>
              </a:spcAft>
            </a:pPr>
            <a:r>
              <a:rPr sz="950" b="0">
                <a:solidFill>
                  <a:srgbClr val="333333"/>
                </a:solidFill>
                <a:latin typeface="Arial"/>
              </a:rPr>
              <a:t>agent_365 · microsoft_purview · azure/prompt_shield · presidio · decision_model · llm_as_a_judge · tool_permission · mcp_security · semantic_guard · hide-secrets …</a:t>
            </a:r>
          </a:p>
        </p:txBody>
      </p:sp>
      <p:sp>
        <p:nvSpPr>
          <p:cNvPr id="35" name="TextBox 34"/>
          <p:cNvSpPr txBox="1"/>
          <p:nvPr/>
        </p:nvSpPr>
        <p:spPr>
          <a:xfrm>
            <a:off x="566928" y="5550408"/>
            <a:ext cx="2514600" cy="384048"/>
          </a:xfrm>
          <a:prstGeom prst="rect">
            <a:avLst/>
          </a:prstGeom>
          <a:noFill/>
        </p:spPr>
        <p:txBody>
          <a:bodyPr wrap="square" lIns="0" rIns="0" tIns="0" bIns="0" anchor="t">
            <a:spAutoFit/>
          </a:bodyPr>
          <a:lstStyle/>
          <a:p>
            <a:pPr algn="l">
              <a:spcAft>
                <a:spcPts val="0"/>
              </a:spcAft>
            </a:pPr>
            <a:r>
              <a:rPr sz="950" b="1">
                <a:solidFill>
                  <a:srgbClr val="000000"/>
                </a:solidFill>
                <a:latin typeface="Arial"/>
              </a:rPr>
              <a:t>Use for:</a:t>
            </a:r>
            <a:r>
              <a:rPr sz="950" b="0">
                <a:solidFill>
                  <a:srgbClr val="000000"/>
                </a:solidFill>
                <a:latin typeface="Arial"/>
              </a:rPr>
              <a:t> Microsoft managed controls, Jev checks, PII</a:t>
            </a:r>
          </a:p>
        </p:txBody>
      </p:sp>
      <p:sp>
        <p:nvSpPr>
          <p:cNvPr id="36" name="Rectangle 35"/>
          <p:cNvSpPr/>
          <p:nvPr/>
        </p:nvSpPr>
        <p:spPr>
          <a:xfrm>
            <a:off x="3310128" y="4069080"/>
            <a:ext cx="2715768" cy="566928"/>
          </a:xfrm>
          <a:prstGeom prst="rect">
            <a:avLst/>
          </a:prstGeom>
          <a:solidFill>
            <a:srgbClr val="000000"/>
          </a:solidFill>
          <a:ln>
            <a:noFill/>
          </a:ln>
        </p:spPr>
        <p:txBody>
          <a:bodyPr rtlCol="0" anchor="ctr" wrap="square" lIns="109728" rIns="109728"/>
          <a:lstStyle/>
          <a:p>
            <a:pPr algn="l">
              <a:spcAft>
                <a:spcPts val="100"/>
              </a:spcAft>
            </a:pPr>
            <a:r>
              <a:rPr sz="1150" b="1">
                <a:solidFill>
                  <a:srgbClr val="FFFFFF"/>
                </a:solidFill>
                <a:latin typeface="Arial"/>
              </a:rPr>
              <a:t>Generic Guardrail API</a:t>
            </a:r>
          </a:p>
          <a:p>
            <a:pPr algn="l">
              <a:spcAft>
                <a:spcPts val="100"/>
              </a:spcAft>
            </a:pPr>
            <a:r>
              <a:rPr sz="900" b="0">
                <a:solidFill>
                  <a:srgbClr val="D8DADA"/>
                </a:solidFill>
                <a:latin typeface="Courier New"/>
                <a:cs typeface="Courier New"/>
              </a:rPr>
              <a:t>guardrail: generic_guardrail_api</a:t>
            </a:r>
          </a:p>
        </p:txBody>
      </p:sp>
      <p:sp>
        <p:nvSpPr>
          <p:cNvPr id="37" name="Rectangle 36"/>
          <p:cNvSpPr/>
          <p:nvPr/>
        </p:nvSpPr>
        <p:spPr>
          <a:xfrm>
            <a:off x="3310128" y="4636008"/>
            <a:ext cx="2715768" cy="1298448"/>
          </a:xfrm>
          <a:prstGeom prst="rect">
            <a:avLst/>
          </a:prstGeom>
          <a:solidFill>
            <a:srgbClr val="F6F6F6"/>
          </a:solidFill>
          <a:ln>
            <a:noFill/>
          </a:ln>
        </p:spPr>
        <p:txBody>
          <a:bodyPr rtlCol="0" anchor="ctr" wrap="square" lIns="73152" rIns="73152"/>
          <a:lstStyle/>
          <a:p>
            <a:pPr algn="ctr"/>
          </a:p>
        </p:txBody>
      </p:sp>
      <p:sp>
        <p:nvSpPr>
          <p:cNvPr id="38" name="TextBox 37"/>
          <p:cNvSpPr txBox="1"/>
          <p:nvPr/>
        </p:nvSpPr>
        <p:spPr>
          <a:xfrm>
            <a:off x="3419856" y="4681728"/>
            <a:ext cx="2514600" cy="868680"/>
          </a:xfrm>
          <a:prstGeom prst="rect">
            <a:avLst/>
          </a:prstGeom>
          <a:noFill/>
        </p:spPr>
        <p:txBody>
          <a:bodyPr wrap="square" lIns="0" rIns="0" tIns="0" bIns="0" anchor="t">
            <a:spAutoFit/>
          </a:bodyPr>
          <a:lstStyle/>
          <a:p>
            <a:pPr algn="l">
              <a:spcAft>
                <a:spcPts val="300"/>
              </a:spcAft>
            </a:pPr>
            <a:r>
              <a:rPr sz="950" b="0">
                <a:solidFill>
                  <a:srgbClr val="333333"/>
                </a:solidFill>
                <a:latin typeface="Arial"/>
              </a:rPr>
              <a:t>Kairos calls your HTTP service: POST /beta/litellm_basic_guardrail_api</a:t>
            </a:r>
          </a:p>
          <a:p>
            <a:pPr algn="l">
              <a:spcAft>
                <a:spcPts val="300"/>
              </a:spcAft>
            </a:pPr>
            <a:r>
              <a:rPr sz="950" b="0">
                <a:solidFill>
                  <a:srgbClr val="333333"/>
                </a:solidFill>
                <a:latin typeface="Arial"/>
              </a:rPr>
              <a:t>Returns BLOCKED / NONE / GUARDRAIL_INTERVENED</a:t>
            </a:r>
          </a:p>
        </p:txBody>
      </p:sp>
      <p:sp>
        <p:nvSpPr>
          <p:cNvPr id="39" name="TextBox 38"/>
          <p:cNvSpPr txBox="1"/>
          <p:nvPr/>
        </p:nvSpPr>
        <p:spPr>
          <a:xfrm>
            <a:off x="3419856" y="5550408"/>
            <a:ext cx="2514600" cy="384048"/>
          </a:xfrm>
          <a:prstGeom prst="rect">
            <a:avLst/>
          </a:prstGeom>
          <a:noFill/>
        </p:spPr>
        <p:txBody>
          <a:bodyPr wrap="square" lIns="0" rIns="0" tIns="0" bIns="0" anchor="t">
            <a:spAutoFit/>
          </a:bodyPr>
          <a:lstStyle/>
          <a:p>
            <a:pPr algn="l">
              <a:spcAft>
                <a:spcPts val="0"/>
              </a:spcAft>
            </a:pPr>
            <a:r>
              <a:rPr sz="950" b="1">
                <a:solidFill>
                  <a:srgbClr val="000000"/>
                </a:solidFill>
                <a:latin typeface="Arial"/>
              </a:rPr>
              <a:t>Use for:</a:t>
            </a:r>
            <a:r>
              <a:rPr sz="950" b="0">
                <a:solidFill>
                  <a:srgbClr val="000000"/>
                </a:solidFill>
                <a:latin typeface="Arial"/>
              </a:rPr>
              <a:t> Galileo Agent Control adapter as a microservice; team BYO guardrails</a:t>
            </a:r>
          </a:p>
        </p:txBody>
      </p:sp>
      <p:sp>
        <p:nvSpPr>
          <p:cNvPr id="40" name="Rectangle 39"/>
          <p:cNvSpPr/>
          <p:nvPr/>
        </p:nvSpPr>
        <p:spPr>
          <a:xfrm>
            <a:off x="6163056" y="4069080"/>
            <a:ext cx="2715768" cy="566928"/>
          </a:xfrm>
          <a:prstGeom prst="rect">
            <a:avLst/>
          </a:prstGeom>
          <a:solidFill>
            <a:srgbClr val="000000"/>
          </a:solidFill>
          <a:ln>
            <a:noFill/>
          </a:ln>
        </p:spPr>
        <p:txBody>
          <a:bodyPr rtlCol="0" anchor="ctr" wrap="square" lIns="109728" rIns="109728"/>
          <a:lstStyle/>
          <a:p>
            <a:pPr algn="l">
              <a:spcAft>
                <a:spcPts val="100"/>
              </a:spcAft>
            </a:pPr>
            <a:r>
              <a:rPr sz="1150" b="1">
                <a:solidFill>
                  <a:srgbClr val="FFFFFF"/>
                </a:solidFill>
                <a:latin typeface="Arial"/>
              </a:rPr>
              <a:t>CustomGuardrail class</a:t>
            </a:r>
          </a:p>
          <a:p>
            <a:pPr algn="l">
              <a:spcAft>
                <a:spcPts val="100"/>
              </a:spcAft>
            </a:pPr>
            <a:r>
              <a:rPr sz="900" b="0">
                <a:solidFill>
                  <a:srgbClr val="D8DADA"/>
                </a:solidFill>
                <a:latin typeface="Courier New"/>
                <a:cs typeface="Courier New"/>
              </a:rPr>
              <a:t>guardrail: module.Class</a:t>
            </a:r>
          </a:p>
        </p:txBody>
      </p:sp>
      <p:sp>
        <p:nvSpPr>
          <p:cNvPr id="41" name="Rectangle 40"/>
          <p:cNvSpPr/>
          <p:nvPr/>
        </p:nvSpPr>
        <p:spPr>
          <a:xfrm>
            <a:off x="6163056" y="4636008"/>
            <a:ext cx="2715768" cy="1298448"/>
          </a:xfrm>
          <a:prstGeom prst="rect">
            <a:avLst/>
          </a:prstGeom>
          <a:solidFill>
            <a:srgbClr val="F6F6F6"/>
          </a:solidFill>
          <a:ln>
            <a:noFill/>
          </a:ln>
        </p:spPr>
        <p:txBody>
          <a:bodyPr rtlCol="0" anchor="ctr" wrap="square" lIns="73152" rIns="73152"/>
          <a:lstStyle/>
          <a:p>
            <a:pPr algn="ctr"/>
          </a:p>
        </p:txBody>
      </p:sp>
      <p:sp>
        <p:nvSpPr>
          <p:cNvPr id="42" name="TextBox 41"/>
          <p:cNvSpPr txBox="1"/>
          <p:nvPr/>
        </p:nvSpPr>
        <p:spPr>
          <a:xfrm>
            <a:off x="6272784" y="4681728"/>
            <a:ext cx="2514600" cy="868680"/>
          </a:xfrm>
          <a:prstGeom prst="rect">
            <a:avLst/>
          </a:prstGeom>
          <a:noFill/>
        </p:spPr>
        <p:txBody>
          <a:bodyPr wrap="square" lIns="0" rIns="0" tIns="0" bIns="0" anchor="t">
            <a:spAutoFit/>
          </a:bodyPr>
          <a:lstStyle/>
          <a:p>
            <a:pPr algn="l">
              <a:spcAft>
                <a:spcPts val="300"/>
              </a:spcAft>
            </a:pPr>
            <a:r>
              <a:rPr sz="950" b="0">
                <a:solidFill>
                  <a:srgbClr val="333333"/>
                </a:solidFill>
                <a:latin typeface="Arial"/>
              </a:rPr>
              <a:t>Python inside the proxy process: no network hop</a:t>
            </a:r>
          </a:p>
          <a:p>
            <a:pPr algn="l">
              <a:spcAft>
                <a:spcPts val="300"/>
              </a:spcAft>
            </a:pPr>
            <a:r>
              <a:rPr sz="950" b="0">
                <a:solidFill>
                  <a:srgbClr val="333333"/>
                </a:solidFill>
                <a:latin typeface="Arial"/>
              </a:rPr>
              <a:t>Same hooks as native guardrails</a:t>
            </a:r>
          </a:p>
        </p:txBody>
      </p:sp>
      <p:sp>
        <p:nvSpPr>
          <p:cNvPr id="43" name="TextBox 42"/>
          <p:cNvSpPr txBox="1"/>
          <p:nvPr/>
        </p:nvSpPr>
        <p:spPr>
          <a:xfrm>
            <a:off x="6272784" y="5550408"/>
            <a:ext cx="2514600" cy="384048"/>
          </a:xfrm>
          <a:prstGeom prst="rect">
            <a:avLst/>
          </a:prstGeom>
          <a:noFill/>
        </p:spPr>
        <p:txBody>
          <a:bodyPr wrap="square" lIns="0" rIns="0" tIns="0" bIns="0" anchor="t">
            <a:spAutoFit/>
          </a:bodyPr>
          <a:lstStyle/>
          <a:p>
            <a:pPr algn="l">
              <a:spcAft>
                <a:spcPts val="0"/>
              </a:spcAft>
            </a:pPr>
            <a:r>
              <a:rPr sz="950" b="1">
                <a:solidFill>
                  <a:srgbClr val="000000"/>
                </a:solidFill>
                <a:latin typeface="Arial"/>
              </a:rPr>
              <a:t>Use for:</a:t>
            </a:r>
            <a:r>
              <a:rPr sz="950" b="0">
                <a:solidFill>
                  <a:srgbClr val="000000"/>
                </a:solidFill>
                <a:latin typeface="Arial"/>
              </a:rPr>
              <a:t> ACS hook (shipped by Microsoft); Galileo adapter in-process</a:t>
            </a:r>
          </a:p>
        </p:txBody>
      </p:sp>
      <p:sp>
        <p:nvSpPr>
          <p:cNvPr id="44" name="Rectangle 43"/>
          <p:cNvSpPr/>
          <p:nvPr/>
        </p:nvSpPr>
        <p:spPr>
          <a:xfrm>
            <a:off x="9015984" y="4069080"/>
            <a:ext cx="2715768" cy="566928"/>
          </a:xfrm>
          <a:prstGeom prst="rect">
            <a:avLst/>
          </a:prstGeom>
          <a:solidFill>
            <a:srgbClr val="000000"/>
          </a:solidFill>
          <a:ln>
            <a:noFill/>
          </a:ln>
        </p:spPr>
        <p:txBody>
          <a:bodyPr rtlCol="0" anchor="ctr" wrap="square" lIns="109728" rIns="109728"/>
          <a:lstStyle/>
          <a:p>
            <a:pPr algn="l">
              <a:spcAft>
                <a:spcPts val="100"/>
              </a:spcAft>
            </a:pPr>
            <a:r>
              <a:rPr sz="1150" b="1">
                <a:solidFill>
                  <a:srgbClr val="FFFFFF"/>
                </a:solidFill>
                <a:latin typeface="Arial"/>
              </a:rPr>
              <a:t>custom_code</a:t>
            </a:r>
          </a:p>
          <a:p>
            <a:pPr algn="l">
              <a:spcAft>
                <a:spcPts val="100"/>
              </a:spcAft>
            </a:pPr>
            <a:r>
              <a:rPr sz="900" b="0">
                <a:solidFill>
                  <a:srgbClr val="D8DADA"/>
                </a:solidFill>
                <a:latin typeface="Courier New"/>
                <a:cs typeface="Courier New"/>
              </a:rPr>
              <a:t>inline code guardrail</a:t>
            </a:r>
          </a:p>
        </p:txBody>
      </p:sp>
      <p:sp>
        <p:nvSpPr>
          <p:cNvPr id="45" name="Rectangle 44"/>
          <p:cNvSpPr/>
          <p:nvPr/>
        </p:nvSpPr>
        <p:spPr>
          <a:xfrm>
            <a:off x="9015984" y="4636008"/>
            <a:ext cx="2715768" cy="1298448"/>
          </a:xfrm>
          <a:prstGeom prst="rect">
            <a:avLst/>
          </a:prstGeom>
          <a:solidFill>
            <a:srgbClr val="F6F6F6"/>
          </a:solidFill>
          <a:ln>
            <a:noFill/>
          </a:ln>
        </p:spPr>
        <p:txBody>
          <a:bodyPr rtlCol="0" anchor="ctr" wrap="square" lIns="73152" rIns="73152"/>
          <a:lstStyle/>
          <a:p>
            <a:pPr algn="ctr"/>
          </a:p>
        </p:txBody>
      </p:sp>
      <p:sp>
        <p:nvSpPr>
          <p:cNvPr id="46" name="TextBox 45"/>
          <p:cNvSpPr txBox="1"/>
          <p:nvPr/>
        </p:nvSpPr>
        <p:spPr>
          <a:xfrm>
            <a:off x="9125711" y="4681728"/>
            <a:ext cx="2514600" cy="868680"/>
          </a:xfrm>
          <a:prstGeom prst="rect">
            <a:avLst/>
          </a:prstGeom>
          <a:noFill/>
        </p:spPr>
        <p:txBody>
          <a:bodyPr wrap="square" lIns="0" rIns="0" tIns="0" bIns="0" anchor="t">
            <a:spAutoFit/>
          </a:bodyPr>
          <a:lstStyle/>
          <a:p>
            <a:pPr algn="l">
              <a:spcAft>
                <a:spcPts val="300"/>
              </a:spcAft>
            </a:pPr>
            <a:r>
              <a:rPr sz="950" b="0">
                <a:solidFill>
                  <a:srgbClr val="333333"/>
                </a:solidFill>
                <a:latin typeface="Arial"/>
              </a:rPr>
              <a:t>Small code snippet evaluated by Kairos Gateway</a:t>
            </a:r>
          </a:p>
          <a:p>
            <a:pPr algn="l">
              <a:spcAft>
                <a:spcPts val="300"/>
              </a:spcAft>
            </a:pPr>
            <a:r>
              <a:rPr sz="950" b="0">
                <a:solidFill>
                  <a:srgbClr val="333333"/>
                </a:solidFill>
                <a:latin typeface="Arial"/>
              </a:rPr>
              <a:t>No service to run</a:t>
            </a:r>
          </a:p>
        </p:txBody>
      </p:sp>
      <p:sp>
        <p:nvSpPr>
          <p:cNvPr id="47" name="TextBox 46"/>
          <p:cNvSpPr txBox="1"/>
          <p:nvPr/>
        </p:nvSpPr>
        <p:spPr>
          <a:xfrm>
            <a:off x="9125711" y="5550408"/>
            <a:ext cx="2514600" cy="384048"/>
          </a:xfrm>
          <a:prstGeom prst="rect">
            <a:avLst/>
          </a:prstGeom>
          <a:noFill/>
        </p:spPr>
        <p:txBody>
          <a:bodyPr wrap="square" lIns="0" rIns="0" tIns="0" bIns="0" anchor="t">
            <a:spAutoFit/>
          </a:bodyPr>
          <a:lstStyle/>
          <a:p>
            <a:pPr algn="l">
              <a:spcAft>
                <a:spcPts val="0"/>
              </a:spcAft>
            </a:pPr>
            <a:r>
              <a:rPr sz="950" b="1">
                <a:solidFill>
                  <a:srgbClr val="000000"/>
                </a:solidFill>
                <a:latin typeface="Arial"/>
              </a:rPr>
              <a:t>Use for:</a:t>
            </a:r>
            <a:r>
              <a:rPr sz="950" b="0">
                <a:solidFill>
                  <a:srgbClr val="000000"/>
                </a:solidFill>
                <a:latin typeface="Arial"/>
              </a:rPr>
              <a:t> Small deterministic rules</a:t>
            </a:r>
          </a:p>
        </p:txBody>
      </p:sp>
      <p:sp>
        <p:nvSpPr>
          <p:cNvPr id="48" name="TextBox 47"/>
          <p:cNvSpPr txBox="1"/>
          <p:nvPr/>
        </p:nvSpPr>
        <p:spPr>
          <a:xfrm>
            <a:off x="457200" y="6016752"/>
            <a:ext cx="11247120" cy="320040"/>
          </a:xfrm>
          <a:prstGeom prst="rect">
            <a:avLst/>
          </a:prstGeom>
          <a:noFill/>
        </p:spPr>
        <p:txBody>
          <a:bodyPr wrap="square" lIns="0" rIns="0" tIns="0" bIns="0" anchor="t">
            <a:spAutoFit/>
          </a:bodyPr>
          <a:lstStyle/>
          <a:p>
            <a:pPr algn="l">
              <a:spcAft>
                <a:spcPts val="400"/>
              </a:spcAft>
            </a:pPr>
            <a:r>
              <a:rPr sz="1000" b="1">
                <a:solidFill>
                  <a:srgbClr val="333333"/>
                </a:solidFill>
                <a:latin typeface="Arial"/>
              </a:rPr>
              <a:t>Per-guardrail controls:</a:t>
            </a:r>
            <a:r>
              <a:rPr sz="1000" b="0">
                <a:solidFill>
                  <a:srgbClr val="333333"/>
                </a:solidFill>
                <a:latin typeface="Arial"/>
              </a:rPr>
              <a:t>  default_on  ·  stream_scope (streaming / non_streaming / both)  ·  logging_only_scope  ·  skip_system_message_in_guardrail  ·  unreachable_fallback (fail_open / fail_closed)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GALILEO ADAPTER DESIGN</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Galileo adapter: a Generic Guardrail API microservice turns Agent Control decisions into Kairos Gateway actions and joins traces in Galileo</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Mapping is our design (to verify in P3). Contract: docs.litellm.ai/docs/adding_provider/generic_guardrail_api · docs.agentcontrol.dev (components/server, models).</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7</a:t>
            </a:r>
          </a:p>
        </p:txBody>
      </p:sp>
      <p:sp>
        <p:nvSpPr>
          <p:cNvPr id="8" name="Rectangle 7"/>
          <p:cNvSpPr/>
          <p:nvPr/>
        </p:nvSpPr>
        <p:spPr>
          <a:xfrm>
            <a:off x="457200" y="1417320"/>
            <a:ext cx="2011680" cy="2103120"/>
          </a:xfrm>
          <a:prstGeom prst="rect">
            <a:avLst/>
          </a:prstGeom>
          <a:solidFill>
            <a:srgbClr val="000000"/>
          </a:solidFill>
          <a:ln>
            <a:noFill/>
          </a:ln>
        </p:spPr>
        <p:txBody>
          <a:bodyPr rtlCol="0" anchor="ctr" wrap="square" lIns="73152" rIns="73152"/>
          <a:lstStyle/>
          <a:p>
            <a:pPr algn="ctr">
              <a:spcAft>
                <a:spcPts val="200"/>
              </a:spcAft>
            </a:pPr>
            <a:r>
              <a:rPr sz="1200" b="1">
                <a:solidFill>
                  <a:srgbClr val="FFFFFF"/>
                </a:solidFill>
                <a:latin typeface="Arial"/>
              </a:rPr>
              <a:t>Kairos Gateway</a:t>
            </a:r>
          </a:p>
          <a:p>
            <a:pPr algn="ctr">
              <a:spcAft>
                <a:spcPts val="200"/>
              </a:spcAft>
            </a:pPr>
            <a:r>
              <a:rPr sz="900" b="0">
                <a:solidFill>
                  <a:srgbClr val="D8DADA"/>
                </a:solidFill>
                <a:latin typeface="Arial"/>
              </a:rPr>
              <a:t>guardrail: generic_guardrail_api</a:t>
            </a:r>
          </a:p>
          <a:p>
            <a:pPr algn="ctr">
              <a:spcAft>
                <a:spcPts val="200"/>
              </a:spcAft>
            </a:pPr>
            <a:r>
              <a:rPr sz="900" b="0">
                <a:solidFill>
                  <a:srgbClr val="D8DADA"/>
                </a:solidFill>
                <a:latin typeface="Arial"/>
              </a:rPr>
              <a:t>kairos-agentic tier:</a:t>
            </a:r>
          </a:p>
          <a:p>
            <a:pPr algn="ctr">
              <a:spcAft>
                <a:spcPts val="200"/>
              </a:spcAft>
            </a:pPr>
            <a:r>
              <a:rPr sz="950" b="0">
                <a:solidFill>
                  <a:srgbClr val="FFFFFF"/>
                </a:solidFill>
                <a:latin typeface="Arial"/>
              </a:rPr>
              <a:t>pre_call + post_mcp_call</a:t>
            </a:r>
          </a:p>
        </p:txBody>
      </p:sp>
      <p:sp>
        <p:nvSpPr>
          <p:cNvPr id="9" name="Rectangle 8"/>
          <p:cNvSpPr/>
          <p:nvPr/>
        </p:nvSpPr>
        <p:spPr>
          <a:xfrm>
            <a:off x="3383280" y="1417320"/>
            <a:ext cx="2377440" cy="2103120"/>
          </a:xfrm>
          <a:prstGeom prst="rect">
            <a:avLst/>
          </a:prstGeom>
          <a:solidFill>
            <a:srgbClr val="EE0000"/>
          </a:solidFill>
          <a:ln>
            <a:noFill/>
          </a:ln>
        </p:spPr>
        <p:txBody>
          <a:bodyPr rtlCol="0" anchor="ctr" wrap="square" lIns="73152" rIns="73152"/>
          <a:lstStyle/>
          <a:p>
            <a:pPr algn="ctr">
              <a:spcAft>
                <a:spcPts val="200"/>
              </a:spcAft>
            </a:pPr>
            <a:r>
              <a:rPr sz="1200" b="1">
                <a:solidFill>
                  <a:srgbClr val="FFFFFF"/>
                </a:solidFill>
                <a:latin typeface="Arial"/>
              </a:rPr>
              <a:t>Kairos AC adapter</a:t>
            </a:r>
          </a:p>
          <a:p>
            <a:pPr algn="ctr">
              <a:spcAft>
                <a:spcPts val="200"/>
              </a:spcAft>
            </a:pPr>
            <a:r>
              <a:rPr sz="950" b="0">
                <a:solidFill>
                  <a:srgbClr val="FFFFFF"/>
                </a:solidFill>
                <a:latin typeface="Arial"/>
              </a:rPr>
              <a:t>our microservice (beyond OOB)</a:t>
            </a:r>
          </a:p>
          <a:p>
            <a:pPr algn="ctr">
              <a:spcAft>
                <a:spcPts val="200"/>
              </a:spcAft>
            </a:pPr>
            <a:r>
              <a:rPr sz="950" b="0">
                <a:solidFill>
                  <a:srgbClr val="FFFFFF"/>
                </a:solidFill>
                <a:latin typeface="Arial"/>
              </a:rPr>
              <a:t>maps fields + decisions</a:t>
            </a:r>
          </a:p>
          <a:p>
            <a:pPr algn="ctr">
              <a:spcAft>
                <a:spcPts val="200"/>
              </a:spcAft>
            </a:pPr>
            <a:r>
              <a:rPr sz="950" b="0">
                <a:solidFill>
                  <a:srgbClr val="FFFFFF"/>
                </a:solidFill>
                <a:latin typeface="Arial"/>
              </a:rPr>
              <a:t>logs every decision to Galileo</a:t>
            </a:r>
          </a:p>
        </p:txBody>
      </p:sp>
      <p:sp>
        <p:nvSpPr>
          <p:cNvPr id="10" name="Rectangle 9"/>
          <p:cNvSpPr/>
          <p:nvPr/>
        </p:nvSpPr>
        <p:spPr>
          <a:xfrm>
            <a:off x="6675120" y="1417320"/>
            <a:ext cx="2194560" cy="2103120"/>
          </a:xfrm>
          <a:prstGeom prst="rect">
            <a:avLst/>
          </a:prstGeom>
          <a:solidFill>
            <a:srgbClr val="000000"/>
          </a:solidFill>
          <a:ln>
            <a:noFill/>
          </a:ln>
        </p:spPr>
        <p:txBody>
          <a:bodyPr rtlCol="0" anchor="ctr" wrap="square" lIns="73152" rIns="73152"/>
          <a:lstStyle/>
          <a:p>
            <a:pPr algn="ctr">
              <a:spcAft>
                <a:spcPts val="200"/>
              </a:spcAft>
            </a:pPr>
            <a:r>
              <a:rPr sz="1200" b="1">
                <a:solidFill>
                  <a:srgbClr val="FFFFFF"/>
                </a:solidFill>
                <a:latin typeface="Arial"/>
              </a:rPr>
              <a:t>Agent Control server</a:t>
            </a:r>
          </a:p>
          <a:p>
            <a:pPr algn="ctr">
              <a:spcAft>
                <a:spcPts val="200"/>
              </a:spcAft>
            </a:pPr>
            <a:r>
              <a:rPr sz="950" b="0">
                <a:solidFill>
                  <a:srgbClr val="D8DADA"/>
                </a:solidFill>
                <a:latin typeface="Arial"/>
              </a:rPr>
              <a:t>agent registered via /api/v1/agents/initAgent</a:t>
            </a:r>
          </a:p>
          <a:p>
            <a:pPr algn="ctr">
              <a:spcAft>
                <a:spcPts val="200"/>
              </a:spcAft>
            </a:pPr>
            <a:r>
              <a:rPr sz="950" b="0">
                <a:solidFill>
                  <a:srgbClr val="D8DADA"/>
                </a:solidFill>
                <a:latin typeface="Arial"/>
              </a:rPr>
              <a:t>controls catalogue</a:t>
            </a:r>
          </a:p>
        </p:txBody>
      </p:sp>
      <p:sp>
        <p:nvSpPr>
          <p:cNvPr id="11" name="Rectangle 10"/>
          <p:cNvSpPr/>
          <p:nvPr/>
        </p:nvSpPr>
        <p:spPr>
          <a:xfrm>
            <a:off x="9692640" y="1417320"/>
            <a:ext cx="2039112" cy="1234440"/>
          </a:xfrm>
          <a:prstGeom prst="rect">
            <a:avLst/>
          </a:prstGeom>
          <a:solidFill>
            <a:srgbClr val="F6F6F6"/>
          </a:solidFill>
          <a:ln>
            <a:noFill/>
          </a:ln>
        </p:spPr>
        <p:txBody>
          <a:bodyPr rtlCol="0" anchor="ctr" wrap="square" lIns="73152" rIns="73152"/>
          <a:lstStyle/>
          <a:p>
            <a:pPr algn="ctr">
              <a:spcAft>
                <a:spcPts val="200"/>
              </a:spcAft>
            </a:pPr>
            <a:r>
              <a:rPr sz="1100" b="1">
                <a:solidFill>
                  <a:srgbClr val="000000"/>
                </a:solidFill>
                <a:latin typeface="Arial"/>
              </a:rPr>
              <a:t>Evaluators</a:t>
            </a:r>
          </a:p>
          <a:p>
            <a:pPr algn="ctr">
              <a:spcAft>
                <a:spcPts val="200"/>
              </a:spcAft>
            </a:pPr>
            <a:r>
              <a:rPr sz="950" b="0">
                <a:solidFill>
                  <a:srgbClr val="000000"/>
                </a:solidFill>
                <a:latin typeface="Arial"/>
              </a:rPr>
              <a:t>rules · galileo.luna2 (Enterprise) · Jev judge</a:t>
            </a:r>
          </a:p>
        </p:txBody>
      </p:sp>
      <p:sp>
        <p:nvSpPr>
          <p:cNvPr id="12" name="Rectangle 11"/>
          <p:cNvSpPr/>
          <p:nvPr/>
        </p:nvSpPr>
        <p:spPr>
          <a:xfrm>
            <a:off x="9692640" y="2788920"/>
            <a:ext cx="2039112" cy="731520"/>
          </a:xfrm>
          <a:prstGeom prst="rect">
            <a:avLst/>
          </a:prstGeom>
          <a:solidFill>
            <a:srgbClr val="FFFFFF"/>
          </a:solidFill>
          <a:ln w="9525">
            <a:solidFill>
              <a:srgbClr val="747676"/>
            </a:solidFill>
          </a:ln>
        </p:spPr>
        <p:txBody>
          <a:bodyPr rtlCol="0" anchor="ctr" wrap="square" lIns="73152" rIns="73152"/>
          <a:lstStyle/>
          <a:p>
            <a:pPr algn="ctr">
              <a:spcAft>
                <a:spcPts val="200"/>
              </a:spcAft>
            </a:pPr>
            <a:r>
              <a:rPr sz="1100" b="1">
                <a:solidFill>
                  <a:srgbClr val="000000"/>
                </a:solidFill>
                <a:latin typeface="Arial"/>
              </a:rPr>
              <a:t>Galileo</a:t>
            </a:r>
          </a:p>
          <a:p>
            <a:pPr algn="ctr">
              <a:spcAft>
                <a:spcPts val="200"/>
              </a:spcAft>
            </a:pPr>
            <a:r>
              <a:rPr sz="950" b="0">
                <a:solidFill>
                  <a:srgbClr val="000000"/>
                </a:solidFill>
                <a:latin typeface="Arial"/>
              </a:rPr>
              <a:t>events + Kairos traces</a:t>
            </a:r>
          </a:p>
        </p:txBody>
      </p:sp>
      <p:cxnSp>
        <p:nvCxnSpPr>
          <p:cNvPr id="13" name="Connector 12"/>
          <p:cNvCxnSpPr/>
          <p:nvPr/>
        </p:nvCxnSpPr>
        <p:spPr>
          <a:xfrm>
            <a:off x="2468880" y="2103120"/>
            <a:ext cx="914400" cy="0"/>
          </a:xfrm>
          <a:prstGeom prst="line">
            <a:avLst/>
          </a:prstGeom>
          <a:ln w="19050">
            <a:solidFill>
              <a:srgbClr val="000000"/>
            </a:solidFill>
            <a:tailEnd type="triangle" w="med" len="med"/>
          </a:ln>
        </p:spPr>
      </p:cxnSp>
      <p:cxnSp>
        <p:nvCxnSpPr>
          <p:cNvPr id="14" name="Connector 13"/>
          <p:cNvCxnSpPr/>
          <p:nvPr/>
        </p:nvCxnSpPr>
        <p:spPr>
          <a:xfrm flipH="1">
            <a:off x="2468880" y="2834640"/>
            <a:ext cx="914400" cy="0"/>
          </a:xfrm>
          <a:prstGeom prst="line">
            <a:avLst/>
          </a:prstGeom>
          <a:ln w="19050">
            <a:solidFill>
              <a:srgbClr val="EE0000"/>
            </a:solidFill>
            <a:tailEnd type="triangle" w="med" len="med"/>
          </a:ln>
        </p:spPr>
      </p:cxnSp>
      <p:sp>
        <p:nvSpPr>
          <p:cNvPr id="15" name="TextBox 14"/>
          <p:cNvSpPr txBox="1"/>
          <p:nvPr/>
        </p:nvSpPr>
        <p:spPr>
          <a:xfrm>
            <a:off x="2487168" y="1463040"/>
            <a:ext cx="877824" cy="594360"/>
          </a:xfrm>
          <a:prstGeom prst="rect">
            <a:avLst/>
          </a:prstGeom>
          <a:noFill/>
        </p:spPr>
        <p:txBody>
          <a:bodyPr wrap="square" lIns="0" rIns="0" tIns="0" bIns="0" anchor="b">
            <a:spAutoFit/>
          </a:bodyPr>
          <a:lstStyle/>
          <a:p>
            <a:pPr algn="ctr">
              <a:spcAft>
                <a:spcPts val="0"/>
              </a:spcAft>
            </a:pPr>
            <a:r>
              <a:rPr sz="850" b="0">
                <a:solidFill>
                  <a:srgbClr val="747676"/>
                </a:solidFill>
                <a:latin typeface="Arial"/>
              </a:rPr>
              <a:t>POST /beta/litellm_basic_guardrail_api</a:t>
            </a:r>
          </a:p>
        </p:txBody>
      </p:sp>
      <p:sp>
        <p:nvSpPr>
          <p:cNvPr id="16" name="TextBox 15"/>
          <p:cNvSpPr txBox="1"/>
          <p:nvPr/>
        </p:nvSpPr>
        <p:spPr>
          <a:xfrm>
            <a:off x="2487168" y="2880360"/>
            <a:ext cx="877824" cy="411480"/>
          </a:xfrm>
          <a:prstGeom prst="rect">
            <a:avLst/>
          </a:prstGeom>
          <a:noFill/>
        </p:spPr>
        <p:txBody>
          <a:bodyPr wrap="square" lIns="0" rIns="0" tIns="0" bIns="0" anchor="t">
            <a:spAutoFit/>
          </a:bodyPr>
          <a:lstStyle/>
          <a:p>
            <a:pPr algn="ctr">
              <a:spcAft>
                <a:spcPts val="0"/>
              </a:spcAft>
            </a:pPr>
            <a:r>
              <a:rPr sz="850" b="0">
                <a:solidFill>
                  <a:srgbClr val="EE0000"/>
                </a:solidFill>
                <a:latin typeface="Arial"/>
              </a:rPr>
              <a:t>action + texts</a:t>
            </a:r>
          </a:p>
        </p:txBody>
      </p:sp>
      <p:cxnSp>
        <p:nvCxnSpPr>
          <p:cNvPr id="17" name="Connector 16"/>
          <p:cNvCxnSpPr/>
          <p:nvPr/>
        </p:nvCxnSpPr>
        <p:spPr>
          <a:xfrm>
            <a:off x="5760720" y="2103120"/>
            <a:ext cx="914400" cy="0"/>
          </a:xfrm>
          <a:prstGeom prst="line">
            <a:avLst/>
          </a:prstGeom>
          <a:ln w="19050">
            <a:solidFill>
              <a:srgbClr val="000000"/>
            </a:solidFill>
            <a:tailEnd type="triangle" w="med" len="med"/>
          </a:ln>
        </p:spPr>
      </p:cxnSp>
      <p:cxnSp>
        <p:nvCxnSpPr>
          <p:cNvPr id="18" name="Connector 17"/>
          <p:cNvCxnSpPr/>
          <p:nvPr/>
        </p:nvCxnSpPr>
        <p:spPr>
          <a:xfrm flipH="1">
            <a:off x="5760720" y="2834640"/>
            <a:ext cx="914400" cy="0"/>
          </a:xfrm>
          <a:prstGeom prst="line">
            <a:avLst/>
          </a:prstGeom>
          <a:ln w="19050">
            <a:solidFill>
              <a:srgbClr val="EE0000"/>
            </a:solidFill>
            <a:tailEnd type="triangle" w="med" len="med"/>
          </a:ln>
        </p:spPr>
      </p:cxnSp>
      <p:sp>
        <p:nvSpPr>
          <p:cNvPr id="19" name="TextBox 18"/>
          <p:cNvSpPr txBox="1"/>
          <p:nvPr/>
        </p:nvSpPr>
        <p:spPr>
          <a:xfrm>
            <a:off x="5779007" y="1463040"/>
            <a:ext cx="877824" cy="594360"/>
          </a:xfrm>
          <a:prstGeom prst="rect">
            <a:avLst/>
          </a:prstGeom>
          <a:noFill/>
        </p:spPr>
        <p:txBody>
          <a:bodyPr wrap="square" lIns="0" rIns="0" tIns="0" bIns="0" anchor="b">
            <a:spAutoFit/>
          </a:bodyPr>
          <a:lstStyle/>
          <a:p>
            <a:pPr algn="ctr">
              <a:spcAft>
                <a:spcPts val="0"/>
              </a:spcAft>
            </a:pPr>
            <a:r>
              <a:rPr sz="850" b="0">
                <a:solidFill>
                  <a:srgbClr val="747676"/>
                </a:solidFill>
                <a:latin typeface="Arial"/>
              </a:rPr>
              <a:t>POST /api/v1/evaluation · X-API-Key</a:t>
            </a:r>
          </a:p>
        </p:txBody>
      </p:sp>
      <p:sp>
        <p:nvSpPr>
          <p:cNvPr id="20" name="TextBox 19"/>
          <p:cNvSpPr txBox="1"/>
          <p:nvPr/>
        </p:nvSpPr>
        <p:spPr>
          <a:xfrm>
            <a:off x="5779007" y="2880360"/>
            <a:ext cx="877824" cy="411480"/>
          </a:xfrm>
          <a:prstGeom prst="rect">
            <a:avLst/>
          </a:prstGeom>
          <a:noFill/>
        </p:spPr>
        <p:txBody>
          <a:bodyPr wrap="square" lIns="0" rIns="0" tIns="0" bIns="0" anchor="t">
            <a:spAutoFit/>
          </a:bodyPr>
          <a:lstStyle/>
          <a:p>
            <a:pPr algn="ctr">
              <a:spcAft>
                <a:spcPts val="0"/>
              </a:spcAft>
            </a:pPr>
            <a:r>
              <a:rPr sz="850" b="0">
                <a:solidFill>
                  <a:srgbClr val="EE0000"/>
                </a:solidFill>
                <a:latin typeface="Arial"/>
              </a:rPr>
              <a:t>decision + reason</a:t>
            </a:r>
          </a:p>
        </p:txBody>
      </p:sp>
      <p:cxnSp>
        <p:nvCxnSpPr>
          <p:cNvPr id="21" name="Connector 20"/>
          <p:cNvCxnSpPr/>
          <p:nvPr/>
        </p:nvCxnSpPr>
        <p:spPr>
          <a:xfrm>
            <a:off x="8869680" y="2011680"/>
            <a:ext cx="822960" cy="0"/>
          </a:xfrm>
          <a:prstGeom prst="line">
            <a:avLst/>
          </a:prstGeom>
          <a:ln w="15875">
            <a:solidFill>
              <a:srgbClr val="747676"/>
            </a:solidFill>
            <a:tailEnd type="triangle" w="med" len="med"/>
          </a:ln>
        </p:spPr>
      </p:cxnSp>
      <p:cxnSp>
        <p:nvCxnSpPr>
          <p:cNvPr id="22" name="Connector 21"/>
          <p:cNvCxnSpPr/>
          <p:nvPr/>
        </p:nvCxnSpPr>
        <p:spPr>
          <a:xfrm>
            <a:off x="8869680" y="3154680"/>
            <a:ext cx="822960" cy="0"/>
          </a:xfrm>
          <a:prstGeom prst="line">
            <a:avLst/>
          </a:prstGeom>
          <a:ln w="15875">
            <a:solidFill>
              <a:srgbClr val="747676"/>
            </a:solidFill>
            <a:prstDash val="dash"/>
            <a:tailEnd type="triangle" w="med" len="med"/>
          </a:ln>
        </p:spPr>
      </p:cxnSp>
      <p:sp>
        <p:nvSpPr>
          <p:cNvPr id="23" name="TextBox 22"/>
          <p:cNvSpPr txBox="1"/>
          <p:nvPr/>
        </p:nvSpPr>
        <p:spPr>
          <a:xfrm>
            <a:off x="457200" y="3730752"/>
            <a:ext cx="548640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Field mapping</a:t>
            </a:r>
            <a:r>
              <a:rPr sz="1100" b="0">
                <a:solidFill>
                  <a:srgbClr val="747676"/>
                </a:solidFill>
                <a:latin typeface="Arial"/>
              </a:rPr>
              <a:t>  (design, to verify)</a:t>
            </a:r>
          </a:p>
        </p:txBody>
      </p:sp>
      <p:graphicFrame>
        <p:nvGraphicFramePr>
          <p:cNvPr id="24" name="Table 23"/>
          <p:cNvGraphicFramePr>
            <a:graphicFrameLocks noGrp="1"/>
          </p:cNvGraphicFramePr>
          <p:nvPr/>
        </p:nvGraphicFramePr>
        <p:xfrm>
          <a:off x="457200" y="4041648"/>
          <a:ext cx="5394960" cy="1975104"/>
        </p:xfrm>
        <a:graphic>
          <a:graphicData uri="http://schemas.openxmlformats.org/drawingml/2006/table">
            <a:tbl>
              <a:tblPr firstRow="0" bandRow="0"/>
              <a:tblGrid>
                <a:gridCol w="2514600"/>
                <a:gridCol w="2880360"/>
              </a:tblGrid>
              <a:tr h="329184">
                <a:tc>
                  <a:txBody>
                    <a:bodyPr wrap="square"/>
                    <a:lstStyle/>
                    <a:p>
                      <a:pPr algn="l">
                        <a:spcAft>
                          <a:spcPts val="0"/>
                        </a:spcAft>
                      </a:pPr>
                      <a:r>
                        <a:rPr sz="950" b="1">
                          <a:solidFill>
                            <a:srgbClr val="FFFFFF"/>
                          </a:solidFill>
                          <a:latin typeface="Arial"/>
                        </a:rPr>
                        <a:t>Generic Guardrail API request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Agent Control EvaluationRequest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329184">
                <a:tc>
                  <a:txBody>
                    <a:bodyPr wrap="square"/>
                    <a:lstStyle/>
                    <a:p>
                      <a:pPr algn="l">
                        <a:spcAft>
                          <a:spcPts val="0"/>
                        </a:spcAft>
                      </a:pPr>
                      <a:r>
                        <a:rPr sz="950" b="1">
                          <a:solidFill>
                            <a:srgbClr val="000000"/>
                          </a:solidFill>
                          <a:latin typeface="Arial"/>
                        </a:rPr>
                        <a:t>request_data.key_alias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agent_name (agent identity)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29184">
                <a:tc>
                  <a:txBody>
                    <a:bodyPr wrap="square"/>
                    <a:lstStyle/>
                    <a:p>
                      <a:pPr algn="l">
                        <a:spcAft>
                          <a:spcPts val="0"/>
                        </a:spcAft>
                      </a:pPr>
                      <a:r>
                        <a:rPr sz="950" b="1">
                          <a:solidFill>
                            <a:srgbClr val="000000"/>
                          </a:solidFill>
                          <a:latin typeface="Arial"/>
                        </a:rPr>
                        <a:t>litellm_trace_id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session / trace id → joined in Galileo</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29184">
                <a:tc>
                  <a:txBody>
                    <a:bodyPr wrap="square"/>
                    <a:lstStyle/>
                    <a:p>
                      <a:pPr algn="l">
                        <a:spcAft>
                          <a:spcPts val="0"/>
                        </a:spcAft>
                      </a:pPr>
                      <a:r>
                        <a:rPr sz="950" b="1">
                          <a:solidFill>
                            <a:srgbClr val="000000"/>
                          </a:solidFill>
                          <a:latin typeface="Arial"/>
                        </a:rPr>
                        <a:t>texts / structured_messages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step {type: llm, input}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29184">
                <a:tc>
                  <a:txBody>
                    <a:bodyPr wrap="square"/>
                    <a:lstStyle/>
                    <a:p>
                      <a:pPr algn="l">
                        <a:spcAft>
                          <a:spcPts val="0"/>
                        </a:spcAft>
                      </a:pPr>
                      <a:r>
                        <a:rPr sz="950" b="1">
                          <a:solidFill>
                            <a:srgbClr val="000000"/>
                          </a:solidFill>
                          <a:latin typeface="Arial"/>
                        </a:rPr>
                        <a:t>tool_calls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step {type: tool, name, input}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29184">
                <a:tc>
                  <a:txBody>
                    <a:bodyPr wrap="square"/>
                    <a:lstStyle/>
                    <a:p>
                      <a:pPr algn="l">
                        <a:spcAft>
                          <a:spcPts val="0"/>
                        </a:spcAft>
                      </a:pPr>
                      <a:r>
                        <a:rPr sz="950" b="1">
                          <a:solidFill>
                            <a:srgbClr val="000000"/>
                          </a:solidFill>
                          <a:latin typeface="Arial"/>
                        </a:rPr>
                        <a:t>input_type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stage: pre | post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25" name="TextBox 24"/>
          <p:cNvSpPr txBox="1"/>
          <p:nvPr/>
        </p:nvSpPr>
        <p:spPr>
          <a:xfrm>
            <a:off x="6172200" y="3730752"/>
            <a:ext cx="548640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Decision → action mapping</a:t>
            </a:r>
            <a:r>
              <a:rPr sz="1100" b="0">
                <a:solidFill>
                  <a:srgbClr val="747676"/>
                </a:solidFill>
                <a:latin typeface="Arial"/>
              </a:rPr>
              <a:t>  (design, to verify)</a:t>
            </a:r>
          </a:p>
        </p:txBody>
      </p:sp>
      <p:graphicFrame>
        <p:nvGraphicFramePr>
          <p:cNvPr id="26" name="Table 25"/>
          <p:cNvGraphicFramePr>
            <a:graphicFrameLocks noGrp="1"/>
          </p:cNvGraphicFramePr>
          <p:nvPr/>
        </p:nvGraphicFramePr>
        <p:xfrm>
          <a:off x="6172200" y="4041648"/>
          <a:ext cx="5559552" cy="1828800"/>
        </p:xfrm>
        <a:graphic>
          <a:graphicData uri="http://schemas.openxmlformats.org/drawingml/2006/table">
            <a:tbl>
              <a:tblPr firstRow="0" bandRow="0"/>
              <a:tblGrid>
                <a:gridCol w="960120"/>
                <a:gridCol w="2240280"/>
                <a:gridCol w="2359152"/>
              </a:tblGrid>
              <a:tr h="365760">
                <a:tc>
                  <a:txBody>
                    <a:bodyPr wrap="square"/>
                    <a:lstStyle/>
                    <a:p>
                      <a:pPr algn="l">
                        <a:spcAft>
                          <a:spcPts val="0"/>
                        </a:spcAft>
                      </a:pPr>
                      <a:r>
                        <a:rPr sz="950" b="1">
                          <a:solidFill>
                            <a:srgbClr val="FFFFFF"/>
                          </a:solidFill>
                          <a:latin typeface="Arial"/>
                        </a:rPr>
                        <a:t>Decision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Generic API response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Kairos behaviour</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365760">
                <a:tc>
                  <a:txBody>
                    <a:bodyPr wrap="square"/>
                    <a:lstStyle/>
                    <a:p>
                      <a:pPr algn="l">
                        <a:spcAft>
                          <a:spcPts val="0"/>
                        </a:spcAft>
                      </a:pPr>
                      <a:r>
                        <a:rPr sz="950" b="1">
                          <a:solidFill>
                            <a:srgbClr val="FFFFFF"/>
                          </a:solidFill>
                          <a:latin typeface="Arial"/>
                        </a:rPr>
                        <a:t>deny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EE0000"/>
                    </a:solidFill>
                  </a:tcPr>
                </a:tc>
                <a:tc>
                  <a:txBody>
                    <a:bodyPr wrap="square"/>
                    <a:lstStyle/>
                    <a:p>
                      <a:pPr algn="l">
                        <a:spcAft>
                          <a:spcPts val="0"/>
                        </a:spcAft>
                      </a:pPr>
                      <a:r>
                        <a:rPr sz="950" b="0">
                          <a:solidFill>
                            <a:srgbClr val="333333"/>
                          </a:solidFill>
                          <a:latin typeface="Arial"/>
                        </a:rPr>
                        <a:t>BLOCKED + blocked_reason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Block the call (400)</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65760">
                <a:tc>
                  <a:txBody>
                    <a:bodyPr wrap="square"/>
                    <a:lstStyle/>
                    <a:p>
                      <a:pPr algn="l">
                        <a:spcAft>
                          <a:spcPts val="0"/>
                        </a:spcAft>
                      </a:pPr>
                      <a:r>
                        <a:rPr sz="950" b="1">
                          <a:solidFill>
                            <a:srgbClr val="000000"/>
                          </a:solidFill>
                          <a:latin typeface="Arial"/>
                        </a:rPr>
                        <a:t>steer</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GUARDRAIL_INTERVENED + rewritten texts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Continues with steering text appended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65760">
                <a:tc>
                  <a:txBody>
                    <a:bodyPr wrap="square"/>
                    <a:lstStyle/>
                    <a:p>
                      <a:pPr algn="l">
                        <a:spcAft>
                          <a:spcPts val="0"/>
                        </a:spcAft>
                      </a:pPr>
                      <a:r>
                        <a:rPr sz="950" b="1">
                          <a:solidFill>
                            <a:srgbClr val="000000"/>
                          </a:solidFill>
                          <a:latin typeface="Arial"/>
                        </a:rPr>
                        <a:t>warn / log</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NONE + decision logged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Call passes, logged to Galileo</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65760">
                <a:tc>
                  <a:txBody>
                    <a:bodyPr wrap="square"/>
                    <a:lstStyle/>
                    <a:p>
                      <a:pPr algn="l">
                        <a:spcAft>
                          <a:spcPts val="0"/>
                        </a:spcAft>
                      </a:pPr>
                      <a:r>
                        <a:rPr sz="950" b="1">
                          <a:solidFill>
                            <a:srgbClr val="000000"/>
                          </a:solidFill>
                          <a:latin typeface="Arial"/>
                        </a:rPr>
                        <a:t>allow</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NONE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Call passes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27" name="TextBox 26"/>
          <p:cNvSpPr txBox="1"/>
          <p:nvPr/>
        </p:nvSpPr>
        <p:spPr>
          <a:xfrm>
            <a:off x="457200" y="6089904"/>
            <a:ext cx="11247120" cy="292608"/>
          </a:xfrm>
          <a:prstGeom prst="rect">
            <a:avLst/>
          </a:prstGeom>
          <a:noFill/>
        </p:spPr>
        <p:txBody>
          <a:bodyPr wrap="square" lIns="0" rIns="0" tIns="0" bIns="0" anchor="t">
            <a:spAutoFit/>
          </a:bodyPr>
          <a:lstStyle/>
          <a:p>
            <a:pPr algn="l">
              <a:spcAft>
                <a:spcPts val="400"/>
              </a:spcAft>
            </a:pPr>
            <a:r>
              <a:rPr sz="950" b="1">
                <a:solidFill>
                  <a:srgbClr val="EE0000"/>
                </a:solidFill>
                <a:latin typeface="Arial"/>
              </a:rPr>
              <a:t/>
            </a:r>
            <a:r>
              <a:rPr sz="950" b="0">
                <a:solidFill>
                  <a:srgbClr val="333333"/>
                </a:solidFill>
                <a:latin typeface="Arial"/>
              </a:rPr>
              <a:t/>
            </a:r>
            <a:r>
              <a:rPr sz="950" b="0">
                <a:solidFill>
                  <a:srgbClr val="747676"/>
                </a:solidFill>
                <a:latin typeface="Arial"/>
              </a:rPr>
              <a:t>Choose unreachable_fallback per tier. In-process alternative: the same mapping in a CustomGuardrail.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POLICIES AND MODES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Four policy tiers: every new control starts in observe, agent aliases inherit the baseline, and every response says which policies applied</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 docs.litellm.ai/docs/proxy/guardrails/guardrail_policies (verified 22 Oct 2026). Tier names and contents are the Kairos proposal from the research file §3.2.</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8</a:t>
            </a:r>
          </a:p>
        </p:txBody>
      </p:sp>
      <p:sp>
        <p:nvSpPr>
          <p:cNvPr id="8" name="Rectangle 7"/>
          <p:cNvSpPr/>
          <p:nvPr/>
        </p:nvSpPr>
        <p:spPr>
          <a:xfrm>
            <a:off x="457200" y="1417320"/>
            <a:ext cx="3429000" cy="1417320"/>
          </a:xfrm>
          <a:prstGeom prst="rect">
            <a:avLst/>
          </a:prstGeom>
          <a:solidFill>
            <a:srgbClr val="000000"/>
          </a:solidFill>
          <a:ln>
            <a:noFill/>
          </a:ln>
        </p:spPr>
        <p:txBody>
          <a:bodyPr rtlCol="0" anchor="ctr" wrap="square" lIns="137160" rIns="137160"/>
          <a:lstStyle/>
          <a:p>
            <a:pPr algn="l">
              <a:spcAft>
                <a:spcPts val="300"/>
              </a:spcAft>
            </a:pPr>
            <a:r>
              <a:rPr sz="1200" b="1">
                <a:solidFill>
                  <a:srgbClr val="FFFFFF"/>
                </a:solidFill>
                <a:latin typeface="Arial"/>
              </a:rPr>
              <a:t>kairos-baseline</a:t>
            </a:r>
          </a:p>
          <a:p>
            <a:pPr algn="l">
              <a:spcAft>
                <a:spcPts val="300"/>
              </a:spcAft>
            </a:pPr>
            <a:r>
              <a:rPr sz="950" b="0">
                <a:solidFill>
                  <a:srgbClr val="EE0000"/>
                </a:solidFill>
                <a:latin typeface="Arial"/>
              </a:rPr>
              <a:t>attachment: global, scope: "*"</a:t>
            </a:r>
          </a:p>
          <a:p>
            <a:pPr algn="l">
              <a:spcAft>
                <a:spcPts val="300"/>
              </a:spcAft>
            </a:pPr>
            <a:r>
              <a:rPr sz="950" b="0">
                <a:solidFill>
                  <a:srgbClr val="FFFFFF"/>
                </a:solidFill>
                <a:latin typeface="Arial"/>
              </a:rPr>
              <a:t>hide-secrets · presidio (mask) · azure/prompt_shield or Jev decision_model injection check (pre_call) · mcp_security + tool_permission</a:t>
            </a:r>
          </a:p>
        </p:txBody>
      </p:sp>
      <p:sp>
        <p:nvSpPr>
          <p:cNvPr id="9" name="Rectangle 8"/>
          <p:cNvSpPr/>
          <p:nvPr/>
        </p:nvSpPr>
        <p:spPr>
          <a:xfrm>
            <a:off x="457200" y="3154680"/>
            <a:ext cx="3429000" cy="1417320"/>
          </a:xfrm>
          <a:prstGeom prst="rect">
            <a:avLst/>
          </a:prstGeom>
          <a:solidFill>
            <a:srgbClr val="F6F6F6"/>
          </a:solidFill>
          <a:ln>
            <a:noFill/>
          </a:ln>
        </p:spPr>
        <p:txBody>
          <a:bodyPr rtlCol="0" anchor="ctr" wrap="square" lIns="137160" rIns="137160"/>
          <a:lstStyle/>
          <a:p>
            <a:pPr algn="l">
              <a:spcAft>
                <a:spcPts val="300"/>
              </a:spcAft>
            </a:pPr>
            <a:r>
              <a:rPr sz="1200" b="1">
                <a:solidFill>
                  <a:srgbClr val="000000"/>
                </a:solidFill>
                <a:latin typeface="Arial"/>
              </a:rPr>
              <a:t>kairos-agentic</a:t>
            </a:r>
          </a:p>
          <a:p>
            <a:pPr algn="l">
              <a:spcAft>
                <a:spcPts val="300"/>
              </a:spcAft>
            </a:pPr>
            <a:r>
              <a:rPr sz="950" b="0">
                <a:solidFill>
                  <a:srgbClr val="EE0000"/>
                </a:solidFill>
                <a:latin typeface="Arial"/>
              </a:rPr>
              <a:t>inherit: kairos-baseline · condition.model: kairos-agent-.*</a:t>
            </a:r>
          </a:p>
          <a:p>
            <a:pPr algn="l">
              <a:spcAft>
                <a:spcPts val="300"/>
              </a:spcAft>
            </a:pPr>
            <a:r>
              <a:rPr sz="950" b="0">
                <a:solidFill>
                  <a:srgbClr val="000000"/>
                </a:solidFill>
                <a:latin typeface="Arial"/>
              </a:rPr>
              <a:t>ACS hook (pre/post_call) · Galileo AC adapter (pre_call + post_mcp_call) · block_code_execution</a:t>
            </a:r>
          </a:p>
        </p:txBody>
      </p:sp>
      <p:sp>
        <p:nvSpPr>
          <p:cNvPr id="10" name="Rectangle 9"/>
          <p:cNvSpPr/>
          <p:nvPr/>
        </p:nvSpPr>
        <p:spPr>
          <a:xfrm>
            <a:off x="457200" y="4892040"/>
            <a:ext cx="3429000" cy="1371600"/>
          </a:xfrm>
          <a:prstGeom prst="rect">
            <a:avLst/>
          </a:prstGeom>
          <a:solidFill>
            <a:srgbClr val="F6F6F6"/>
          </a:solidFill>
          <a:ln>
            <a:noFill/>
          </a:ln>
        </p:spPr>
        <p:txBody>
          <a:bodyPr rtlCol="0" anchor="ctr" wrap="square" lIns="137160" rIns="137160"/>
          <a:lstStyle/>
          <a:p>
            <a:pPr algn="l">
              <a:spcAft>
                <a:spcPts val="300"/>
              </a:spcAft>
            </a:pPr>
            <a:r>
              <a:rPr sz="1200" b="1">
                <a:solidFill>
                  <a:srgbClr val="000000"/>
                </a:solidFill>
                <a:latin typeface="Arial"/>
              </a:rPr>
              <a:t>kairos-m365</a:t>
            </a:r>
          </a:p>
          <a:p>
            <a:pPr algn="l">
              <a:spcAft>
                <a:spcPts val="300"/>
              </a:spcAft>
            </a:pPr>
            <a:r>
              <a:rPr sz="950" b="0">
                <a:solidFill>
                  <a:srgbClr val="EE0000"/>
                </a:solidFill>
                <a:latin typeface="Arial"/>
              </a:rPr>
              <a:t>inherit: kairos-agentic · tenant-specific aliases</a:t>
            </a:r>
          </a:p>
          <a:p>
            <a:pPr algn="l">
              <a:spcAft>
                <a:spcPts val="300"/>
              </a:spcAft>
            </a:pPr>
            <a:r>
              <a:rPr sz="950" b="0">
                <a:solidFill>
                  <a:srgbClr val="000000"/>
                </a:solidFill>
                <a:latin typeface="Arial"/>
              </a:rPr>
              <a:t>agent_365 (pre_mcp_call) · microsoft_purview (pre/post_call)</a:t>
            </a:r>
          </a:p>
        </p:txBody>
      </p:sp>
      <p:cxnSp>
        <p:nvCxnSpPr>
          <p:cNvPr id="11" name="Connector 10"/>
          <p:cNvCxnSpPr/>
          <p:nvPr/>
        </p:nvCxnSpPr>
        <p:spPr>
          <a:xfrm>
            <a:off x="2171700" y="2834640"/>
            <a:ext cx="0" cy="320040"/>
          </a:xfrm>
          <a:prstGeom prst="line">
            <a:avLst/>
          </a:prstGeom>
          <a:ln w="19050">
            <a:solidFill>
              <a:srgbClr val="000000"/>
            </a:solidFill>
            <a:tailEnd type="triangle" w="med" len="med"/>
          </a:ln>
        </p:spPr>
      </p:cxnSp>
      <p:cxnSp>
        <p:nvCxnSpPr>
          <p:cNvPr id="12" name="Connector 11"/>
          <p:cNvCxnSpPr/>
          <p:nvPr/>
        </p:nvCxnSpPr>
        <p:spPr>
          <a:xfrm>
            <a:off x="2171700" y="4572000"/>
            <a:ext cx="0" cy="320040"/>
          </a:xfrm>
          <a:prstGeom prst="line">
            <a:avLst/>
          </a:prstGeom>
          <a:ln w="19050">
            <a:solidFill>
              <a:srgbClr val="000000"/>
            </a:solidFill>
            <a:tailEnd type="triangle" w="med" len="med"/>
          </a:ln>
        </p:spPr>
      </p:cxnSp>
      <p:sp>
        <p:nvSpPr>
          <p:cNvPr id="13" name="TextBox 12"/>
          <p:cNvSpPr txBox="1"/>
          <p:nvPr/>
        </p:nvSpPr>
        <p:spPr>
          <a:xfrm>
            <a:off x="2240280" y="2852928"/>
            <a:ext cx="1371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inherit</a:t>
            </a:r>
          </a:p>
        </p:txBody>
      </p:sp>
      <p:sp>
        <p:nvSpPr>
          <p:cNvPr id="14" name="TextBox 13"/>
          <p:cNvSpPr txBox="1"/>
          <p:nvPr/>
        </p:nvSpPr>
        <p:spPr>
          <a:xfrm>
            <a:off x="2240280" y="4590288"/>
            <a:ext cx="1371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inherit</a:t>
            </a:r>
          </a:p>
        </p:txBody>
      </p:sp>
      <p:sp>
        <p:nvSpPr>
          <p:cNvPr id="15" name="Rectangle 14"/>
          <p:cNvSpPr/>
          <p:nvPr/>
        </p:nvSpPr>
        <p:spPr>
          <a:xfrm>
            <a:off x="4160520" y="1417320"/>
            <a:ext cx="3429000" cy="1417320"/>
          </a:xfrm>
          <a:prstGeom prst="rect">
            <a:avLst/>
          </a:prstGeom>
          <a:solidFill>
            <a:srgbClr val="FFFFFF"/>
          </a:solidFill>
          <a:ln w="9525">
            <a:solidFill>
              <a:srgbClr val="747676"/>
            </a:solidFill>
            <a:prstDash val="dash"/>
          </a:ln>
        </p:spPr>
        <p:txBody>
          <a:bodyPr rtlCol="0" anchor="ctr" wrap="square" lIns="137160" rIns="137160"/>
          <a:lstStyle/>
          <a:p>
            <a:pPr algn="l">
              <a:spcAft>
                <a:spcPts val="300"/>
              </a:spcAft>
            </a:pPr>
            <a:r>
              <a:rPr sz="1200" b="1">
                <a:solidFill>
                  <a:srgbClr val="000000"/>
                </a:solidFill>
                <a:latin typeface="Arial"/>
              </a:rPr>
              <a:t>kairos-observe</a:t>
            </a:r>
          </a:p>
          <a:p>
            <a:pPr algn="l">
              <a:spcAft>
                <a:spcPts val="300"/>
              </a:spcAft>
            </a:pPr>
            <a:r>
              <a:rPr sz="950" b="0">
                <a:solidFill>
                  <a:srgbClr val="000000"/>
                </a:solidFill>
                <a:latin typeface="Arial"/>
              </a:rPr>
              <a:t>same checks in logging_only</a:t>
            </a:r>
          </a:p>
          <a:p>
            <a:pPr algn="l">
              <a:spcAft>
                <a:spcPts val="300"/>
              </a:spcAft>
            </a:pPr>
            <a:r>
              <a:rPr sz="950" b="0">
                <a:solidFill>
                  <a:srgbClr val="000000"/>
                </a:solidFill>
                <a:latin typeface="Arial"/>
              </a:rPr>
              <a:t>shadow rollout: phase 1 of every new control, then promote to block</a:t>
            </a:r>
          </a:p>
        </p:txBody>
      </p:sp>
      <p:cxnSp>
        <p:nvCxnSpPr>
          <p:cNvPr id="16" name="Connector 15"/>
          <p:cNvCxnSpPr/>
          <p:nvPr/>
        </p:nvCxnSpPr>
        <p:spPr>
          <a:xfrm flipH="1">
            <a:off x="3886200" y="2103120"/>
            <a:ext cx="274320" cy="0"/>
          </a:xfrm>
          <a:prstGeom prst="line">
            <a:avLst/>
          </a:prstGeom>
          <a:ln w="15875">
            <a:solidFill>
              <a:srgbClr val="747676"/>
            </a:solidFill>
            <a:prstDash val="dash"/>
            <a:tailEnd type="triangle" w="med" len="med"/>
          </a:ln>
        </p:spPr>
      </p:cxnSp>
      <p:sp>
        <p:nvSpPr>
          <p:cNvPr id="17" name="TextBox 16"/>
          <p:cNvSpPr txBox="1"/>
          <p:nvPr/>
        </p:nvSpPr>
        <p:spPr>
          <a:xfrm>
            <a:off x="4160520" y="3108960"/>
            <a:ext cx="342900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pipeline</a:t>
            </a:r>
            <a:r>
              <a:rPr sz="1100" b="0">
                <a:solidFill>
                  <a:srgbClr val="000000"/>
                </a:solidFill>
                <a:latin typeface="Arial"/>
              </a:rPr>
              <a:t> (flow builder)</a:t>
            </a:r>
          </a:p>
        </p:txBody>
      </p:sp>
      <p:sp>
        <p:nvSpPr>
          <p:cNvPr id="18" name="Rectangle 17"/>
          <p:cNvSpPr/>
          <p:nvPr/>
        </p:nvSpPr>
        <p:spPr>
          <a:xfrm>
            <a:off x="4160520" y="3429000"/>
            <a:ext cx="1554480" cy="548640"/>
          </a:xfrm>
          <a:prstGeom prst="rect">
            <a:avLst/>
          </a:prstGeom>
          <a:solidFill>
            <a:srgbClr val="F6F6F6"/>
          </a:solidFill>
          <a:ln>
            <a:noFill/>
          </a:ln>
        </p:spPr>
        <p:txBody>
          <a:bodyPr rtlCol="0" anchor="ctr" wrap="square" lIns="73152" rIns="73152"/>
          <a:lstStyle/>
          <a:p>
            <a:pPr algn="ctr">
              <a:spcAft>
                <a:spcPts val="0"/>
              </a:spcAft>
            </a:pPr>
            <a:r>
              <a:rPr sz="1000" b="1">
                <a:solidFill>
                  <a:srgbClr val="000000"/>
                </a:solidFill>
                <a:latin typeface="Arial"/>
              </a:rPr>
              <a:t>cheap check</a:t>
            </a:r>
          </a:p>
          <a:p>
            <a:pPr algn="ctr">
              <a:spcAft>
                <a:spcPts val="0"/>
              </a:spcAft>
            </a:pPr>
            <a:r>
              <a:rPr sz="850" b="0">
                <a:solidFill>
                  <a:srgbClr val="000000"/>
                </a:solidFill>
                <a:latin typeface="Arial"/>
              </a:rPr>
              <a:t>e.g. regex / semantic_guard</a:t>
            </a:r>
          </a:p>
        </p:txBody>
      </p:sp>
      <p:sp>
        <p:nvSpPr>
          <p:cNvPr id="19" name="Rectangle 18"/>
          <p:cNvSpPr/>
          <p:nvPr/>
        </p:nvSpPr>
        <p:spPr>
          <a:xfrm>
            <a:off x="6035040" y="3429000"/>
            <a:ext cx="1554480" cy="548640"/>
          </a:xfrm>
          <a:prstGeom prst="rect">
            <a:avLst/>
          </a:prstGeom>
          <a:solidFill>
            <a:srgbClr val="000000"/>
          </a:solidFill>
          <a:ln>
            <a:noFill/>
          </a:ln>
        </p:spPr>
        <p:txBody>
          <a:bodyPr rtlCol="0" anchor="ctr" wrap="square" lIns="73152" rIns="73152"/>
          <a:lstStyle/>
          <a:p>
            <a:pPr algn="ctr">
              <a:spcAft>
                <a:spcPts val="0"/>
              </a:spcAft>
            </a:pPr>
            <a:r>
              <a:rPr sz="1000" b="1">
                <a:solidFill>
                  <a:srgbClr val="FFFFFF"/>
                </a:solidFill>
                <a:latin typeface="Arial"/>
              </a:rPr>
              <a:t>expensive check</a:t>
            </a:r>
          </a:p>
          <a:p>
            <a:pPr algn="ctr">
              <a:spcAft>
                <a:spcPts val="0"/>
              </a:spcAft>
            </a:pPr>
            <a:r>
              <a:rPr sz="850" b="0">
                <a:solidFill>
                  <a:srgbClr val="D8DADA"/>
                </a:solidFill>
                <a:latin typeface="Arial"/>
              </a:rPr>
              <a:t>e.g. Jev decision_model</a:t>
            </a:r>
          </a:p>
        </p:txBody>
      </p:sp>
      <p:cxnSp>
        <p:nvCxnSpPr>
          <p:cNvPr id="20" name="Connector 19"/>
          <p:cNvCxnSpPr/>
          <p:nvPr/>
        </p:nvCxnSpPr>
        <p:spPr>
          <a:xfrm>
            <a:off x="5715000" y="3703320"/>
            <a:ext cx="320040" cy="0"/>
          </a:xfrm>
          <a:prstGeom prst="line">
            <a:avLst/>
          </a:prstGeom>
          <a:ln w="19050">
            <a:solidFill>
              <a:srgbClr val="EE0000"/>
            </a:solidFill>
            <a:tailEnd type="triangle" w="med" len="med"/>
          </a:ln>
        </p:spPr>
      </p:cxnSp>
      <p:sp>
        <p:nvSpPr>
          <p:cNvPr id="21" name="TextBox 20"/>
          <p:cNvSpPr txBox="1"/>
          <p:nvPr/>
        </p:nvSpPr>
        <p:spPr>
          <a:xfrm>
            <a:off x="5669280" y="3182112"/>
            <a:ext cx="457200" cy="228600"/>
          </a:xfrm>
          <a:prstGeom prst="rect">
            <a:avLst/>
          </a:prstGeom>
          <a:noFill/>
        </p:spPr>
        <p:txBody>
          <a:bodyPr wrap="square" lIns="0" rIns="0" tIns="0" bIns="0" anchor="t">
            <a:spAutoFit/>
          </a:bodyPr>
          <a:lstStyle/>
          <a:p>
            <a:pPr algn="ctr">
              <a:spcAft>
                <a:spcPts val="0"/>
              </a:spcAft>
            </a:pPr>
            <a:r>
              <a:rPr sz="850" b="0">
                <a:solidFill>
                  <a:srgbClr val="EE0000"/>
                </a:solidFill>
                <a:latin typeface="Arial"/>
              </a:rPr>
              <a:t>on_fail</a:t>
            </a:r>
          </a:p>
        </p:txBody>
      </p:sp>
      <p:sp>
        <p:nvSpPr>
          <p:cNvPr id="22" name="Rectangle 21"/>
          <p:cNvSpPr/>
          <p:nvPr/>
        </p:nvSpPr>
        <p:spPr>
          <a:xfrm>
            <a:off x="4160520" y="4343400"/>
            <a:ext cx="1554480" cy="457200"/>
          </a:xfrm>
          <a:prstGeom prst="rect">
            <a:avLst/>
          </a:prstGeom>
          <a:solidFill>
            <a:srgbClr val="FFFFFF"/>
          </a:solidFill>
          <a:ln w="9525">
            <a:solidFill>
              <a:srgbClr val="D8DADA"/>
            </a:solidFill>
          </a:ln>
        </p:spPr>
        <p:txBody>
          <a:bodyPr rtlCol="0" anchor="ctr" wrap="square" lIns="73152" rIns="73152"/>
          <a:lstStyle/>
          <a:p>
            <a:pPr algn="ctr">
              <a:spcAft>
                <a:spcPts val="200"/>
              </a:spcAft>
            </a:pPr>
            <a:r>
              <a:rPr sz="1000" b="1">
                <a:solidFill>
                  <a:srgbClr val="000000"/>
                </a:solidFill>
                <a:latin typeface="Arial"/>
              </a:rPr>
              <a:t>allow</a:t>
            </a:r>
          </a:p>
        </p:txBody>
      </p:sp>
      <p:sp>
        <p:nvSpPr>
          <p:cNvPr id="23" name="Rectangle 22"/>
          <p:cNvSpPr/>
          <p:nvPr/>
        </p:nvSpPr>
        <p:spPr>
          <a:xfrm>
            <a:off x="6035040" y="4343400"/>
            <a:ext cx="1554480" cy="457200"/>
          </a:xfrm>
          <a:prstGeom prst="rect">
            <a:avLst/>
          </a:prstGeom>
          <a:solidFill>
            <a:srgbClr val="EE0000"/>
          </a:solidFill>
          <a:ln>
            <a:noFill/>
          </a:ln>
        </p:spPr>
        <p:txBody>
          <a:bodyPr rtlCol="0" anchor="ctr" wrap="square" lIns="73152" rIns="73152"/>
          <a:lstStyle/>
          <a:p>
            <a:pPr algn="ctr">
              <a:spcAft>
                <a:spcPts val="200"/>
              </a:spcAft>
            </a:pPr>
            <a:r>
              <a:rPr sz="1000" b="1">
                <a:solidFill>
                  <a:srgbClr val="FFFFFF"/>
                </a:solidFill>
                <a:latin typeface="Arial"/>
              </a:rPr>
              <a:t>block (400)</a:t>
            </a:r>
          </a:p>
        </p:txBody>
      </p:sp>
      <p:cxnSp>
        <p:nvCxnSpPr>
          <p:cNvPr id="24" name="Connector 23"/>
          <p:cNvCxnSpPr/>
          <p:nvPr/>
        </p:nvCxnSpPr>
        <p:spPr>
          <a:xfrm>
            <a:off x="4937760" y="3977639"/>
            <a:ext cx="0" cy="365761"/>
          </a:xfrm>
          <a:prstGeom prst="line">
            <a:avLst/>
          </a:prstGeom>
          <a:ln w="15875">
            <a:solidFill>
              <a:srgbClr val="747676"/>
            </a:solidFill>
            <a:tailEnd type="triangle" w="med" len="med"/>
          </a:ln>
        </p:spPr>
      </p:cxnSp>
      <p:sp>
        <p:nvSpPr>
          <p:cNvPr id="25" name="TextBox 24"/>
          <p:cNvSpPr txBox="1"/>
          <p:nvPr/>
        </p:nvSpPr>
        <p:spPr>
          <a:xfrm>
            <a:off x="4983480" y="4023360"/>
            <a:ext cx="822960" cy="274320"/>
          </a:xfrm>
          <a:prstGeom prst="rect">
            <a:avLst/>
          </a:prstGeom>
          <a:noFill/>
        </p:spPr>
        <p:txBody>
          <a:bodyPr wrap="square" lIns="0" rIns="0" tIns="0" bIns="0" anchor="t">
            <a:spAutoFit/>
          </a:bodyPr>
          <a:lstStyle/>
          <a:p>
            <a:pPr algn="l">
              <a:spcAft>
                <a:spcPts val="0"/>
              </a:spcAft>
            </a:pPr>
            <a:r>
              <a:rPr sz="850" b="0">
                <a:solidFill>
                  <a:srgbClr val="747676"/>
                </a:solidFill>
                <a:latin typeface="Arial"/>
              </a:rPr>
              <a:t>on_pass</a:t>
            </a:r>
          </a:p>
        </p:txBody>
      </p:sp>
      <p:cxnSp>
        <p:nvCxnSpPr>
          <p:cNvPr id="26" name="Connector 25"/>
          <p:cNvCxnSpPr/>
          <p:nvPr/>
        </p:nvCxnSpPr>
        <p:spPr>
          <a:xfrm>
            <a:off x="6812280" y="3977639"/>
            <a:ext cx="0" cy="365761"/>
          </a:xfrm>
          <a:prstGeom prst="line">
            <a:avLst/>
          </a:prstGeom>
          <a:ln w="15875">
            <a:solidFill>
              <a:srgbClr val="EE0000"/>
            </a:solidFill>
            <a:tailEnd type="triangle" w="med" len="med"/>
          </a:ln>
        </p:spPr>
      </p:cxnSp>
      <p:sp>
        <p:nvSpPr>
          <p:cNvPr id="27" name="TextBox 26"/>
          <p:cNvSpPr txBox="1"/>
          <p:nvPr/>
        </p:nvSpPr>
        <p:spPr>
          <a:xfrm>
            <a:off x="6858000" y="4023360"/>
            <a:ext cx="731520" cy="274320"/>
          </a:xfrm>
          <a:prstGeom prst="rect">
            <a:avLst/>
          </a:prstGeom>
          <a:noFill/>
        </p:spPr>
        <p:txBody>
          <a:bodyPr wrap="square" lIns="0" rIns="0" tIns="0" bIns="0" anchor="t">
            <a:spAutoFit/>
          </a:bodyPr>
          <a:lstStyle/>
          <a:p>
            <a:pPr algn="l">
              <a:spcAft>
                <a:spcPts val="0"/>
              </a:spcAft>
            </a:pPr>
            <a:r>
              <a:rPr sz="850" b="0">
                <a:solidFill>
                  <a:srgbClr val="EE0000"/>
                </a:solidFill>
                <a:latin typeface="Arial"/>
              </a:rPr>
              <a:t>on_fail</a:t>
            </a:r>
          </a:p>
        </p:txBody>
      </p:sp>
      <p:sp>
        <p:nvSpPr>
          <p:cNvPr id="28" name="TextBox 27"/>
          <p:cNvSpPr txBox="1"/>
          <p:nvPr/>
        </p:nvSpPr>
        <p:spPr>
          <a:xfrm>
            <a:off x="4160520" y="4892040"/>
            <a:ext cx="3429000" cy="1371600"/>
          </a:xfrm>
          <a:prstGeom prst="rect">
            <a:avLst/>
          </a:prstGeom>
          <a:noFill/>
        </p:spPr>
        <p:txBody>
          <a:bodyPr wrap="square" lIns="0" rIns="0" tIns="0" bIns="0" anchor="t">
            <a:spAutoFit/>
          </a:bodyPr>
          <a:lstStyle/>
          <a:p>
            <a:pPr algn="l">
              <a:spcAft>
                <a:spcPts val="400"/>
              </a:spcAft>
            </a:pPr>
            <a:r>
              <a:rPr sz="950" b="1">
                <a:solidFill>
                  <a:srgbClr val="333333"/>
                </a:solidFill>
                <a:latin typeface="Arial"/>
              </a:rPr>
              <a:t>on_error</a:t>
            </a:r>
            <a:r>
              <a:rPr sz="950" b="0">
                <a:solidFill>
                  <a:srgbClr val="333333"/>
                </a:solidFill>
                <a:latin typeface="Arial"/>
              </a:rPr>
              <a:t> → unreachable_fallback (fail_open / fail_closed), set per control</a:t>
            </a:r>
          </a:p>
          <a:p>
            <a:pPr algn="l">
              <a:spcAft>
                <a:spcPts val="400"/>
              </a:spcAft>
            </a:pPr>
            <a:r>
              <a:rPr sz="950" b="0">
                <a:solidFill>
                  <a:srgbClr val="747676"/>
                </a:solidFill>
                <a:latin typeface="Arial"/>
              </a:rPr>
              <a:t>Examples are illustrative; pick checks per tier in P1–P2.</a:t>
            </a:r>
          </a:p>
        </p:txBody>
      </p:sp>
      <p:sp>
        <p:nvSpPr>
          <p:cNvPr id="29" name="TextBox 28"/>
          <p:cNvSpPr txBox="1"/>
          <p:nvPr/>
        </p:nvSpPr>
        <p:spPr>
          <a:xfrm>
            <a:off x="7909560" y="1371600"/>
            <a:ext cx="3840480" cy="27432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Resolution order</a:t>
            </a:r>
          </a:p>
        </p:txBody>
      </p:sp>
      <p:sp>
        <p:nvSpPr>
          <p:cNvPr id="30" name="Rectangle 29"/>
          <p:cNvSpPr/>
          <p:nvPr/>
        </p:nvSpPr>
        <p:spPr>
          <a:xfrm>
            <a:off x="7909560" y="1691640"/>
            <a:ext cx="640080" cy="384048"/>
          </a:xfrm>
          <a:prstGeom prst="rect">
            <a:avLst/>
          </a:prstGeom>
          <a:solidFill>
            <a:srgbClr val="000000"/>
          </a:solidFill>
          <a:ln>
            <a:noFill/>
          </a:ln>
        </p:spPr>
        <p:txBody>
          <a:bodyPr rtlCol="0" anchor="ctr" wrap="square" lIns="18288" rIns="18288" tIns="18288" bIns="18288"/>
          <a:lstStyle/>
          <a:p>
            <a:pPr algn="ctr">
              <a:spcAft>
                <a:spcPts val="200"/>
              </a:spcAft>
            </a:pPr>
            <a:r>
              <a:rPr sz="950" b="1">
                <a:solidFill>
                  <a:srgbClr val="FFFFFF"/>
                </a:solidFill>
                <a:latin typeface="Arial"/>
              </a:rPr>
              <a:t>global</a:t>
            </a:r>
          </a:p>
        </p:txBody>
      </p:sp>
      <p:cxnSp>
        <p:nvCxnSpPr>
          <p:cNvPr id="31" name="Connector 30"/>
          <p:cNvCxnSpPr/>
          <p:nvPr/>
        </p:nvCxnSpPr>
        <p:spPr>
          <a:xfrm>
            <a:off x="8549640" y="1883664"/>
            <a:ext cx="137160" cy="0"/>
          </a:xfrm>
          <a:prstGeom prst="line">
            <a:avLst/>
          </a:prstGeom>
          <a:ln w="12700">
            <a:solidFill>
              <a:srgbClr val="747676"/>
            </a:solidFill>
            <a:tailEnd type="triangle" w="med" len="med"/>
          </a:ln>
        </p:spPr>
      </p:cxnSp>
      <p:sp>
        <p:nvSpPr>
          <p:cNvPr id="32" name="Rectangle 31"/>
          <p:cNvSpPr/>
          <p:nvPr/>
        </p:nvSpPr>
        <p:spPr>
          <a:xfrm>
            <a:off x="8686800" y="1691640"/>
            <a:ext cx="640080" cy="384048"/>
          </a:xfrm>
          <a:prstGeom prst="rect">
            <a:avLst/>
          </a:prstGeom>
          <a:solidFill>
            <a:srgbClr val="F6F6F6"/>
          </a:solidFill>
          <a:ln>
            <a:noFill/>
          </a:ln>
        </p:spPr>
        <p:txBody>
          <a:bodyPr rtlCol="0" anchor="ctr" wrap="square" lIns="18288" rIns="18288" tIns="18288" bIns="18288"/>
          <a:lstStyle/>
          <a:p>
            <a:pPr algn="ctr">
              <a:spcAft>
                <a:spcPts val="200"/>
              </a:spcAft>
            </a:pPr>
            <a:r>
              <a:rPr sz="950" b="1">
                <a:solidFill>
                  <a:srgbClr val="000000"/>
                </a:solidFill>
                <a:latin typeface="Arial"/>
              </a:rPr>
              <a:t>teams</a:t>
            </a:r>
          </a:p>
        </p:txBody>
      </p:sp>
      <p:cxnSp>
        <p:nvCxnSpPr>
          <p:cNvPr id="33" name="Connector 32"/>
          <p:cNvCxnSpPr/>
          <p:nvPr/>
        </p:nvCxnSpPr>
        <p:spPr>
          <a:xfrm>
            <a:off x="9326880" y="1883664"/>
            <a:ext cx="137160" cy="0"/>
          </a:xfrm>
          <a:prstGeom prst="line">
            <a:avLst/>
          </a:prstGeom>
          <a:ln w="12700">
            <a:solidFill>
              <a:srgbClr val="747676"/>
            </a:solidFill>
            <a:tailEnd type="triangle" w="med" len="med"/>
          </a:ln>
        </p:spPr>
      </p:cxnSp>
      <p:sp>
        <p:nvSpPr>
          <p:cNvPr id="34" name="Rectangle 33"/>
          <p:cNvSpPr/>
          <p:nvPr/>
        </p:nvSpPr>
        <p:spPr>
          <a:xfrm>
            <a:off x="9464040" y="1691640"/>
            <a:ext cx="640080" cy="384048"/>
          </a:xfrm>
          <a:prstGeom prst="rect">
            <a:avLst/>
          </a:prstGeom>
          <a:solidFill>
            <a:srgbClr val="F6F6F6"/>
          </a:solidFill>
          <a:ln>
            <a:noFill/>
          </a:ln>
        </p:spPr>
        <p:txBody>
          <a:bodyPr rtlCol="0" anchor="ctr" wrap="square" lIns="18288" rIns="18288" tIns="18288" bIns="18288"/>
          <a:lstStyle/>
          <a:p>
            <a:pPr algn="ctr">
              <a:spcAft>
                <a:spcPts val="200"/>
              </a:spcAft>
            </a:pPr>
            <a:r>
              <a:rPr sz="950" b="1">
                <a:solidFill>
                  <a:srgbClr val="000000"/>
                </a:solidFill>
                <a:latin typeface="Arial"/>
              </a:rPr>
              <a:t>keys</a:t>
            </a:r>
          </a:p>
        </p:txBody>
      </p:sp>
      <p:cxnSp>
        <p:nvCxnSpPr>
          <p:cNvPr id="35" name="Connector 34"/>
          <p:cNvCxnSpPr/>
          <p:nvPr/>
        </p:nvCxnSpPr>
        <p:spPr>
          <a:xfrm>
            <a:off x="10104119" y="1883664"/>
            <a:ext cx="137161" cy="0"/>
          </a:xfrm>
          <a:prstGeom prst="line">
            <a:avLst/>
          </a:prstGeom>
          <a:ln w="12700">
            <a:solidFill>
              <a:srgbClr val="747676"/>
            </a:solidFill>
            <a:tailEnd type="triangle" w="med" len="med"/>
          </a:ln>
        </p:spPr>
      </p:cxnSp>
      <p:sp>
        <p:nvSpPr>
          <p:cNvPr id="36" name="Rectangle 35"/>
          <p:cNvSpPr/>
          <p:nvPr/>
        </p:nvSpPr>
        <p:spPr>
          <a:xfrm>
            <a:off x="10241280" y="1691640"/>
            <a:ext cx="640080" cy="384048"/>
          </a:xfrm>
          <a:prstGeom prst="rect">
            <a:avLst/>
          </a:prstGeom>
          <a:solidFill>
            <a:srgbClr val="F6F6F6"/>
          </a:solidFill>
          <a:ln>
            <a:noFill/>
          </a:ln>
        </p:spPr>
        <p:txBody>
          <a:bodyPr rtlCol="0" anchor="ctr" wrap="square" lIns="18288" rIns="18288" tIns="18288" bIns="18288"/>
          <a:lstStyle/>
          <a:p>
            <a:pPr algn="ctr">
              <a:spcAft>
                <a:spcPts val="200"/>
              </a:spcAft>
            </a:pPr>
            <a:r>
              <a:rPr sz="950" b="1">
                <a:solidFill>
                  <a:srgbClr val="000000"/>
                </a:solidFill>
                <a:latin typeface="Arial"/>
              </a:rPr>
              <a:t>tags</a:t>
            </a:r>
          </a:p>
        </p:txBody>
      </p:sp>
      <p:cxnSp>
        <p:nvCxnSpPr>
          <p:cNvPr id="37" name="Connector 36"/>
          <p:cNvCxnSpPr/>
          <p:nvPr/>
        </p:nvCxnSpPr>
        <p:spPr>
          <a:xfrm>
            <a:off x="10881359" y="1883664"/>
            <a:ext cx="137160" cy="0"/>
          </a:xfrm>
          <a:prstGeom prst="line">
            <a:avLst/>
          </a:prstGeom>
          <a:ln w="12700">
            <a:solidFill>
              <a:srgbClr val="747676"/>
            </a:solidFill>
            <a:tailEnd type="triangle" w="med" len="med"/>
          </a:ln>
        </p:spPr>
      </p:cxnSp>
      <p:sp>
        <p:nvSpPr>
          <p:cNvPr id="38" name="Rectangle 37"/>
          <p:cNvSpPr/>
          <p:nvPr/>
        </p:nvSpPr>
        <p:spPr>
          <a:xfrm>
            <a:off x="11018520" y="1691640"/>
            <a:ext cx="640080" cy="384048"/>
          </a:xfrm>
          <a:prstGeom prst="rect">
            <a:avLst/>
          </a:prstGeom>
          <a:solidFill>
            <a:srgbClr val="F6F6F6"/>
          </a:solidFill>
          <a:ln>
            <a:noFill/>
          </a:ln>
        </p:spPr>
        <p:txBody>
          <a:bodyPr rtlCol="0" anchor="ctr" wrap="square" lIns="18288" rIns="18288" tIns="18288" bIns="18288"/>
          <a:lstStyle/>
          <a:p>
            <a:pPr algn="ctr">
              <a:spcAft>
                <a:spcPts val="200"/>
              </a:spcAft>
            </a:pPr>
            <a:r>
              <a:rPr sz="950" b="1">
                <a:solidFill>
                  <a:srgbClr val="000000"/>
                </a:solidFill>
                <a:latin typeface="Arial"/>
              </a:rPr>
              <a:t>models</a:t>
            </a:r>
          </a:p>
        </p:txBody>
      </p:sp>
      <p:sp>
        <p:nvSpPr>
          <p:cNvPr id="39" name="TextBox 38"/>
          <p:cNvSpPr txBox="1"/>
          <p:nvPr/>
        </p:nvSpPr>
        <p:spPr>
          <a:xfrm>
            <a:off x="7909560" y="2240280"/>
            <a:ext cx="3822191" cy="4069080"/>
          </a:xfrm>
          <a:prstGeom prst="rect">
            <a:avLst/>
          </a:prstGeom>
          <a:noFill/>
        </p:spPr>
        <p:txBody>
          <a:bodyPr wrap="square" lIns="0" rIns="0" tIns="0" bIns="0" anchor="t">
            <a:spAutoFit/>
          </a:bodyPr>
          <a:lstStyle/>
          <a:p>
            <a:pPr algn="l">
              <a:spcAft>
                <a:spcPts val="300"/>
              </a:spcAft>
            </a:pPr>
            <a:r>
              <a:rPr sz="1100" b="1">
                <a:solidFill>
                  <a:srgbClr val="000000"/>
                </a:solidFill>
                <a:latin typeface="Arial"/>
              </a:rPr>
              <a:t>Policy fields</a:t>
            </a:r>
          </a:p>
          <a:p>
            <a:pPr algn="l" marL="114300" indent="-114300">
              <a:spcAft>
                <a:spcPts val="300"/>
              </a:spcAft>
              <a:buClr>
                <a:srgbClr val="747676"/>
              </a:buClr>
              <a:buFont typeface="Arial"/>
              <a:buChar char="•"/>
            </a:pPr>
            <a:r>
              <a:rPr sz="1000" b="0">
                <a:solidFill>
                  <a:srgbClr val="333333"/>
                </a:solidFill>
                <a:latin typeface="Arial"/>
              </a:rPr>
              <a:t>inherit · guardrails.add / guardrails.remove</a:t>
            </a:r>
          </a:p>
          <a:p>
            <a:pPr algn="l" marL="114300" indent="-114300">
              <a:spcAft>
                <a:spcPts val="300"/>
              </a:spcAft>
              <a:buClr>
                <a:srgbClr val="747676"/>
              </a:buClr>
              <a:buFont typeface="Arial"/>
              <a:buChar char="•"/>
            </a:pPr>
            <a:r>
              <a:rPr sz="1000" b="0">
                <a:solidFill>
                  <a:srgbClr val="333333"/>
                </a:solidFill>
                <a:latin typeface="Arial"/>
              </a:rPr>
              <a:t>condition.model (regex or list) · pipeline</a:t>
            </a:r>
          </a:p>
          <a:p>
            <a:pPr algn="l">
              <a:spcBef>
                <a:spcPts val="400"/>
              </a:spcBef>
              <a:spcAft>
                <a:spcPts val="300"/>
              </a:spcAft>
            </a:pPr>
            <a:r>
              <a:rPr sz="1100" b="1">
                <a:solidFill>
                  <a:srgbClr val="000000"/>
                </a:solidFill>
                <a:latin typeface="Arial"/>
              </a:rPr>
              <a:t>policy_attachments</a:t>
            </a:r>
          </a:p>
          <a:p>
            <a:pPr algn="l" marL="114300" indent="-114300">
              <a:spcAft>
                <a:spcPts val="300"/>
              </a:spcAft>
              <a:buClr>
                <a:srgbClr val="747676"/>
              </a:buClr>
              <a:buFont typeface="Arial"/>
              <a:buChar char="•"/>
            </a:pPr>
            <a:r>
              <a:rPr sz="1000" b="0">
                <a:solidFill>
                  <a:srgbClr val="333333"/>
                </a:solidFill>
                <a:latin typeface="Arial"/>
              </a:rPr>
              <a:t>scope: "*" · teams · keys · models · tags · priority · default</a:t>
            </a:r>
          </a:p>
          <a:p>
            <a:pPr algn="l" marL="114300" indent="-114300">
              <a:spcAft>
                <a:spcPts val="300"/>
              </a:spcAft>
              <a:buClr>
                <a:srgbClr val="747676"/>
              </a:buClr>
              <a:buFont typeface="Arial"/>
              <a:buChar char="•"/>
            </a:pPr>
            <a:r>
              <a:rPr sz="1000" b="0">
                <a:solidFill>
                  <a:srgbClr val="333333"/>
                </a:solidFill>
                <a:latin typeface="Arial"/>
              </a:rPr>
              <a:t>team / key attachments: Enterprise (slide 9)</a:t>
            </a:r>
          </a:p>
          <a:p>
            <a:pPr algn="l">
              <a:spcBef>
                <a:spcPts val="400"/>
              </a:spcBef>
              <a:spcAft>
                <a:spcPts val="300"/>
              </a:spcAft>
            </a:pPr>
            <a:r>
              <a:rPr sz="1100" b="1">
                <a:solidFill>
                  <a:srgbClr val="000000"/>
                </a:solidFill>
                <a:latin typeface="Arial"/>
              </a:rPr>
              <a:t>Prove what applied</a:t>
            </a:r>
          </a:p>
          <a:p>
            <a:pPr algn="l" marL="114300" indent="-114300">
              <a:spcAft>
                <a:spcPts val="300"/>
              </a:spcAft>
              <a:buClr>
                <a:srgbClr val="747676"/>
              </a:buClr>
              <a:buFont typeface="Arial"/>
              <a:buChar char="•"/>
            </a:pPr>
            <a:r>
              <a:rPr sz="1000" b="0">
                <a:solidFill>
                  <a:srgbClr val="333333"/>
                </a:solidFill>
                <a:latin typeface="Arial"/>
              </a:rPr>
              <a:t>x-litellm-applied-policies, x-litellm-applied-guardrails, x-litellm-policy-sources: assert them in CI</a:t>
            </a:r>
          </a:p>
          <a:p>
            <a:pPr algn="l" marL="114300" indent="-114300">
              <a:spcAft>
                <a:spcPts val="300"/>
              </a:spcAft>
              <a:buClr>
                <a:srgbClr val="747676"/>
              </a:buClr>
              <a:buFont typeface="Arial"/>
              <a:buChar char="•"/>
            </a:pPr>
            <a:r>
              <a:rPr sz="1000" b="0">
                <a:solidFill>
                  <a:srgbClr val="333333"/>
                </a:solidFill>
                <a:latin typeface="Arial"/>
              </a:rPr>
              <a:t>/policies/resolve and the Policy Simulator before every change</a:t>
            </a:r>
          </a:p>
          <a:p>
            <a:pPr algn="l" marL="114300" indent="-114300">
              <a:spcAft>
                <a:spcPts val="300"/>
              </a:spcAft>
              <a:buClr>
                <a:srgbClr val="747676"/>
              </a:buClr>
              <a:buFont typeface="Arial"/>
              <a:buChar char="•"/>
            </a:pPr>
            <a:r>
              <a:rPr sz="1000" b="0">
                <a:solidFill>
                  <a:srgbClr val="333333"/>
                </a:solidFill>
                <a:latin typeface="Arial"/>
              </a:rPr>
              <a:t>Per request: "policies": [...] in the body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KEY-CREATION UX · OSS VS ENTERPRISE</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Key creation: Enterprise picks guardrails per key; without a licence, teams get no-code governance by choosing a governed kairos-agent-* alias</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Code: key_management_endpoints.py@v1.106.2 (premium_user_check ~L2391; tags ~L1455) · docs.litellm.ai guardrails quick_start, guardrail_policies</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9</a:t>
            </a:r>
          </a:p>
        </p:txBody>
      </p:sp>
      <p:sp>
        <p:nvSpPr>
          <p:cNvPr id="8" name="Rectangle 7"/>
          <p:cNvSpPr/>
          <p:nvPr/>
        </p:nvSpPr>
        <p:spPr>
          <a:xfrm>
            <a:off x="457200" y="1417320"/>
            <a:ext cx="1234440" cy="2606040"/>
          </a:xfrm>
          <a:prstGeom prst="rect">
            <a:avLst/>
          </a:prstGeom>
          <a:solidFill>
            <a:srgbClr val="000000"/>
          </a:solidFill>
          <a:ln>
            <a:noFill/>
          </a:ln>
        </p:spPr>
        <p:txBody>
          <a:bodyPr rtlCol="0" anchor="ctr" wrap="square" lIns="73152" rIns="73152"/>
          <a:lstStyle/>
          <a:p>
            <a:pPr algn="ctr">
              <a:spcAft>
                <a:spcPts val="200"/>
              </a:spcAft>
            </a:pPr>
            <a:r>
              <a:rPr sz="1300" b="1">
                <a:solidFill>
                  <a:srgbClr val="FFFFFF"/>
                </a:solidFill>
                <a:latin typeface="Arial"/>
              </a:rPr>
              <a:t>OSS</a:t>
            </a:r>
          </a:p>
          <a:p>
            <a:pPr algn="ctr">
              <a:spcAft>
                <a:spcPts val="200"/>
              </a:spcAft>
            </a:pPr>
            <a:r>
              <a:rPr sz="950" b="0">
                <a:solidFill>
                  <a:srgbClr val="D8DADA"/>
                </a:solidFill>
                <a:latin typeface="Arial"/>
              </a:rPr>
              <a:t>no licence</a:t>
            </a:r>
          </a:p>
        </p:txBody>
      </p:sp>
      <p:sp>
        <p:nvSpPr>
          <p:cNvPr id="9" name="Rectangle 8"/>
          <p:cNvSpPr/>
          <p:nvPr/>
        </p:nvSpPr>
        <p:spPr>
          <a:xfrm>
            <a:off x="1874519" y="141732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1  Create key in UI</a:t>
            </a:r>
          </a:p>
          <a:p>
            <a:pPr algn="l">
              <a:spcAft>
                <a:spcPts val="300"/>
              </a:spcAft>
            </a:pPr>
            <a:r>
              <a:rPr sz="950" b="0">
                <a:solidFill>
                  <a:srgbClr val="000000"/>
                </a:solidFill>
                <a:latin typeface="Arial"/>
              </a:rPr>
              <a:t>team admin, Kairos admin UI</a:t>
            </a:r>
          </a:p>
        </p:txBody>
      </p:sp>
      <p:cxnSp>
        <p:nvCxnSpPr>
          <p:cNvPr id="10" name="Connector 9"/>
          <p:cNvCxnSpPr/>
          <p:nvPr/>
        </p:nvCxnSpPr>
        <p:spPr>
          <a:xfrm>
            <a:off x="3685031" y="1965960"/>
            <a:ext cx="182881" cy="0"/>
          </a:xfrm>
          <a:prstGeom prst="line">
            <a:avLst/>
          </a:prstGeom>
          <a:ln w="15875">
            <a:solidFill>
              <a:srgbClr val="000000"/>
            </a:solidFill>
            <a:tailEnd type="triangle" w="med" len="med"/>
          </a:ln>
        </p:spPr>
      </p:cxnSp>
      <p:sp>
        <p:nvSpPr>
          <p:cNvPr id="11" name="Rectangle 10"/>
          <p:cNvSpPr/>
          <p:nvPr/>
        </p:nvSpPr>
        <p:spPr>
          <a:xfrm>
            <a:off x="3867912" y="1417320"/>
            <a:ext cx="1810512" cy="1097280"/>
          </a:xfrm>
          <a:prstGeom prst="rect">
            <a:avLst/>
          </a:prstGeom>
          <a:solidFill>
            <a:srgbClr val="EE0000"/>
          </a:solidFill>
          <a:ln>
            <a:noFill/>
          </a:ln>
        </p:spPr>
        <p:txBody>
          <a:bodyPr rtlCol="0" anchor="ctr" wrap="square"/>
          <a:lstStyle/>
          <a:p>
            <a:pPr algn="l">
              <a:spcAft>
                <a:spcPts val="300"/>
              </a:spcAft>
            </a:pPr>
            <a:r>
              <a:rPr sz="1050" b="1">
                <a:solidFill>
                  <a:srgbClr val="FFFFFF"/>
                </a:solidFill>
                <a:latin typeface="Arial"/>
              </a:rPr>
              <a:t>2  Pick governed alias</a:t>
            </a:r>
          </a:p>
          <a:p>
            <a:pPr algn="l">
              <a:spcAft>
                <a:spcPts val="300"/>
              </a:spcAft>
            </a:pPr>
            <a:r>
              <a:rPr sz="950" b="0">
                <a:solidFill>
                  <a:srgbClr val="FFFFFF"/>
                </a:solidFill>
                <a:latin typeface="Arial"/>
              </a:rPr>
              <a:t>kairos-agent-* or kairos-m365-* (model allow-list is OSS)</a:t>
            </a:r>
          </a:p>
        </p:txBody>
      </p:sp>
      <p:cxnSp>
        <p:nvCxnSpPr>
          <p:cNvPr id="12" name="Connector 11"/>
          <p:cNvCxnSpPr/>
          <p:nvPr/>
        </p:nvCxnSpPr>
        <p:spPr>
          <a:xfrm>
            <a:off x="5678424" y="1965960"/>
            <a:ext cx="182880" cy="0"/>
          </a:xfrm>
          <a:prstGeom prst="line">
            <a:avLst/>
          </a:prstGeom>
          <a:ln w="15875">
            <a:solidFill>
              <a:srgbClr val="000000"/>
            </a:solidFill>
            <a:tailEnd type="triangle" w="med" len="med"/>
          </a:ln>
        </p:spPr>
      </p:cxnSp>
      <p:sp>
        <p:nvSpPr>
          <p:cNvPr id="13" name="Rectangle 12"/>
          <p:cNvSpPr/>
          <p:nvPr/>
        </p:nvSpPr>
        <p:spPr>
          <a:xfrm>
            <a:off x="5861304" y="141732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3  Global policy matches</a:t>
            </a:r>
          </a:p>
          <a:p>
            <a:pPr algn="l">
              <a:spcAft>
                <a:spcPts val="300"/>
              </a:spcAft>
            </a:pPr>
            <a:r>
              <a:rPr sz="950" b="0">
                <a:solidFill>
                  <a:srgbClr val="000000"/>
                </a:solidFill>
                <a:latin typeface="Arial"/>
              </a:rPr>
              <a:t>attachment scope "*" + condition.model regex</a:t>
            </a:r>
          </a:p>
        </p:txBody>
      </p:sp>
      <p:cxnSp>
        <p:nvCxnSpPr>
          <p:cNvPr id="14" name="Connector 13"/>
          <p:cNvCxnSpPr/>
          <p:nvPr/>
        </p:nvCxnSpPr>
        <p:spPr>
          <a:xfrm>
            <a:off x="7671816" y="1965960"/>
            <a:ext cx="182880" cy="0"/>
          </a:xfrm>
          <a:prstGeom prst="line">
            <a:avLst/>
          </a:prstGeom>
          <a:ln w="15875">
            <a:solidFill>
              <a:srgbClr val="000000"/>
            </a:solidFill>
            <a:tailEnd type="triangle" w="med" len="med"/>
          </a:ln>
        </p:spPr>
      </p:cxnSp>
      <p:sp>
        <p:nvSpPr>
          <p:cNvPr id="15" name="Rectangle 14"/>
          <p:cNvSpPr/>
          <p:nvPr/>
        </p:nvSpPr>
        <p:spPr>
          <a:xfrm>
            <a:off x="7854696" y="141732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4  Guardrails run</a:t>
            </a:r>
          </a:p>
          <a:p>
            <a:pPr algn="l">
              <a:spcAft>
                <a:spcPts val="300"/>
              </a:spcAft>
            </a:pPr>
            <a:r>
              <a:rPr sz="950" b="0">
                <a:solidFill>
                  <a:srgbClr val="000000"/>
                </a:solidFill>
                <a:latin typeface="Arial"/>
              </a:rPr>
              <a:t>default_on + kairos-agentic on every call</a:t>
            </a:r>
          </a:p>
        </p:txBody>
      </p:sp>
      <p:cxnSp>
        <p:nvCxnSpPr>
          <p:cNvPr id="16" name="Connector 15"/>
          <p:cNvCxnSpPr/>
          <p:nvPr/>
        </p:nvCxnSpPr>
        <p:spPr>
          <a:xfrm>
            <a:off x="9665208" y="1965960"/>
            <a:ext cx="182880" cy="0"/>
          </a:xfrm>
          <a:prstGeom prst="line">
            <a:avLst/>
          </a:prstGeom>
          <a:ln w="15875">
            <a:solidFill>
              <a:srgbClr val="000000"/>
            </a:solidFill>
            <a:tailEnd type="triangle" w="med" len="med"/>
          </a:ln>
        </p:spPr>
      </p:cxnSp>
      <p:sp>
        <p:nvSpPr>
          <p:cNvPr id="17" name="Rectangle 16"/>
          <p:cNvSpPr/>
          <p:nvPr/>
        </p:nvSpPr>
        <p:spPr>
          <a:xfrm>
            <a:off x="9848088" y="141732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5  Headers prove it</a:t>
            </a:r>
          </a:p>
          <a:p>
            <a:pPr algn="l">
              <a:spcAft>
                <a:spcPts val="300"/>
              </a:spcAft>
            </a:pPr>
            <a:r>
              <a:rPr sz="950" b="0">
                <a:solidFill>
                  <a:srgbClr val="000000"/>
                </a:solidFill>
                <a:latin typeface="Arial"/>
              </a:rPr>
              <a:t>x-litellm-applied-guardrails / -policies</a:t>
            </a:r>
          </a:p>
        </p:txBody>
      </p:sp>
      <p:sp>
        <p:nvSpPr>
          <p:cNvPr id="18" name="Rectangle 17"/>
          <p:cNvSpPr/>
          <p:nvPr/>
        </p:nvSpPr>
        <p:spPr>
          <a:xfrm>
            <a:off x="1874519" y="2743200"/>
            <a:ext cx="1810512" cy="1097280"/>
          </a:xfrm>
          <a:prstGeom prst="rect">
            <a:avLst/>
          </a:prstGeom>
          <a:solidFill>
            <a:srgbClr val="FFFFFF"/>
          </a:solidFill>
          <a:ln w="9525">
            <a:solidFill>
              <a:srgbClr val="747676"/>
            </a:solidFill>
          </a:ln>
        </p:spPr>
        <p:txBody>
          <a:bodyPr rtlCol="0" anchor="ctr" wrap="square"/>
          <a:lstStyle/>
          <a:p>
            <a:pPr algn="l">
              <a:spcAft>
                <a:spcPts val="300"/>
              </a:spcAft>
            </a:pPr>
            <a:r>
              <a:rPr sz="1050" b="1">
                <a:solidFill>
                  <a:srgbClr val="000000"/>
                </a:solidFill>
                <a:latin typeface="Arial"/>
              </a:rPr>
              <a:t>Team BYO guardrail</a:t>
            </a:r>
          </a:p>
          <a:p>
            <a:pPr algn="l">
              <a:spcAft>
                <a:spcPts val="300"/>
              </a:spcAft>
            </a:pPr>
            <a:r>
              <a:rPr sz="950" b="0">
                <a:solidFill>
                  <a:srgbClr val="000000"/>
                </a:solidFill>
                <a:latin typeface="Arial"/>
              </a:rPr>
              <a:t>POST /guardrails/register (generic_guardrail_api only)</a:t>
            </a:r>
          </a:p>
        </p:txBody>
      </p:sp>
      <p:cxnSp>
        <p:nvCxnSpPr>
          <p:cNvPr id="19" name="Connector 18"/>
          <p:cNvCxnSpPr/>
          <p:nvPr/>
        </p:nvCxnSpPr>
        <p:spPr>
          <a:xfrm>
            <a:off x="3685031" y="3291840"/>
            <a:ext cx="182881" cy="0"/>
          </a:xfrm>
          <a:prstGeom prst="line">
            <a:avLst/>
          </a:prstGeom>
          <a:ln w="15875">
            <a:solidFill>
              <a:srgbClr val="747676"/>
            </a:solidFill>
            <a:tailEnd type="triangle" w="med" len="med"/>
          </a:ln>
        </p:spPr>
      </p:cxnSp>
      <p:sp>
        <p:nvSpPr>
          <p:cNvPr id="20" name="Rectangle 19"/>
          <p:cNvSpPr/>
          <p:nvPr/>
        </p:nvSpPr>
        <p:spPr>
          <a:xfrm>
            <a:off x="3867912" y="2743200"/>
            <a:ext cx="1810512" cy="1097280"/>
          </a:xfrm>
          <a:prstGeom prst="rect">
            <a:avLst/>
          </a:prstGeom>
          <a:solidFill>
            <a:srgbClr val="FFFFFF"/>
          </a:solidFill>
          <a:ln w="9525">
            <a:solidFill>
              <a:srgbClr val="747676"/>
            </a:solidFill>
          </a:ln>
        </p:spPr>
        <p:txBody>
          <a:bodyPr rtlCol="0" anchor="ctr" wrap="square"/>
          <a:lstStyle/>
          <a:p>
            <a:pPr algn="l">
              <a:spcAft>
                <a:spcPts val="300"/>
              </a:spcAft>
            </a:pPr>
            <a:r>
              <a:rPr sz="1050" b="1">
                <a:solidFill>
                  <a:srgbClr val="000000"/>
                </a:solidFill>
                <a:latin typeface="Arial"/>
              </a:rPr>
              <a:t>Admin approval</a:t>
            </a:r>
          </a:p>
          <a:p>
            <a:pPr algn="l">
              <a:spcAft>
                <a:spcPts val="300"/>
              </a:spcAft>
            </a:pPr>
            <a:r>
              <a:rPr sz="950" b="0">
                <a:solidFill>
                  <a:srgbClr val="000000"/>
                </a:solidFill>
                <a:latin typeface="Arial"/>
              </a:rPr>
              <a:t>approval step in the UI before use</a:t>
            </a:r>
          </a:p>
        </p:txBody>
      </p:sp>
      <p:cxnSp>
        <p:nvCxnSpPr>
          <p:cNvPr id="21" name="Connector 20"/>
          <p:cNvCxnSpPr/>
          <p:nvPr/>
        </p:nvCxnSpPr>
        <p:spPr>
          <a:xfrm>
            <a:off x="5678424" y="3291840"/>
            <a:ext cx="182880" cy="0"/>
          </a:xfrm>
          <a:prstGeom prst="line">
            <a:avLst/>
          </a:prstGeom>
          <a:ln w="15875">
            <a:solidFill>
              <a:srgbClr val="747676"/>
            </a:solidFill>
            <a:tailEnd type="triangle" w="med" len="med"/>
          </a:ln>
        </p:spPr>
      </p:cxnSp>
      <p:sp>
        <p:nvSpPr>
          <p:cNvPr id="22" name="Rectangle 21"/>
          <p:cNvSpPr/>
          <p:nvPr/>
        </p:nvSpPr>
        <p:spPr>
          <a:xfrm>
            <a:off x="5861304" y="2743200"/>
            <a:ext cx="1810512" cy="1097280"/>
          </a:xfrm>
          <a:prstGeom prst="rect">
            <a:avLst/>
          </a:prstGeom>
          <a:solidFill>
            <a:srgbClr val="FFFFFF"/>
          </a:solidFill>
          <a:ln w="9525">
            <a:solidFill>
              <a:srgbClr val="747676"/>
            </a:solidFill>
          </a:ln>
        </p:spPr>
        <p:txBody>
          <a:bodyPr rtlCol="0" anchor="ctr" wrap="square"/>
          <a:lstStyle/>
          <a:p>
            <a:pPr algn="l">
              <a:spcAft>
                <a:spcPts val="300"/>
              </a:spcAft>
            </a:pPr>
            <a:r>
              <a:rPr sz="1050" b="1">
                <a:solidFill>
                  <a:srgbClr val="000000"/>
                </a:solidFill>
                <a:latin typeface="Arial"/>
              </a:rPr>
              <a:t>Added to a tier</a:t>
            </a:r>
          </a:p>
          <a:p>
            <a:pPr algn="l">
              <a:spcAft>
                <a:spcPts val="300"/>
              </a:spcAft>
            </a:pPr>
            <a:r>
              <a:rPr sz="950" b="0">
                <a:solidFill>
                  <a:srgbClr val="000000"/>
                </a:solidFill>
                <a:latin typeface="Arial"/>
              </a:rPr>
              <a:t>platform attaches it via policy PR</a:t>
            </a:r>
          </a:p>
        </p:txBody>
      </p:sp>
      <p:sp>
        <p:nvSpPr>
          <p:cNvPr id="23" name="TextBox 22"/>
          <p:cNvSpPr txBox="1"/>
          <p:nvPr/>
        </p:nvSpPr>
        <p:spPr>
          <a:xfrm>
            <a:off x="7854696" y="2743200"/>
            <a:ext cx="3803904" cy="1143000"/>
          </a:xfrm>
          <a:prstGeom prst="rect">
            <a:avLst/>
          </a:prstGeom>
          <a:noFill/>
        </p:spPr>
        <p:txBody>
          <a:bodyPr wrap="square" lIns="0" rIns="0" tIns="0" bIns="0" anchor="t">
            <a:spAutoFit/>
          </a:bodyPr>
          <a:lstStyle/>
          <a:p>
            <a:pPr algn="l">
              <a:spcAft>
                <a:spcPts val="400"/>
              </a:spcAft>
            </a:pPr>
            <a:r>
              <a:rPr sz="1000" b="1">
                <a:solidFill>
                  <a:srgbClr val="333333"/>
                </a:solidFill>
                <a:latin typeface="Arial"/>
              </a:rPr>
              <a:t>What the user does:</a:t>
            </a:r>
            <a:r>
              <a:rPr sz="1000" b="0">
                <a:solidFill>
                  <a:srgbClr val="333333"/>
                </a:solidFill>
                <a:latin typeface="Arial"/>
              </a:rPr>
              <a:t> pick one alias in the key form. No code, no guardrail picker, no licence.</a:t>
            </a:r>
          </a:p>
          <a:p>
            <a:pPr algn="l">
              <a:spcAft>
                <a:spcPts val="400"/>
              </a:spcAft>
            </a:pPr>
            <a:r>
              <a:rPr sz="1000" b="0">
                <a:solidFill>
                  <a:srgbClr val="747676"/>
                </a:solidFill>
                <a:latin typeface="Arial"/>
              </a:rPr>
              <a:t>Team BYO lane is our proposed flow around the OSS register endpoint.</a:t>
            </a:r>
          </a:p>
        </p:txBody>
      </p:sp>
      <p:sp>
        <p:nvSpPr>
          <p:cNvPr id="24" name="Rectangle 23"/>
          <p:cNvSpPr/>
          <p:nvPr/>
        </p:nvSpPr>
        <p:spPr>
          <a:xfrm>
            <a:off x="457200" y="4206240"/>
            <a:ext cx="1234440" cy="1097280"/>
          </a:xfrm>
          <a:prstGeom prst="rect">
            <a:avLst/>
          </a:prstGeom>
          <a:solidFill>
            <a:srgbClr val="F6F6F6"/>
          </a:solidFill>
          <a:ln>
            <a:noFill/>
          </a:ln>
        </p:spPr>
        <p:txBody>
          <a:bodyPr rtlCol="0" anchor="ctr" wrap="square" lIns="73152" rIns="73152"/>
          <a:lstStyle/>
          <a:p>
            <a:pPr algn="ctr">
              <a:spcAft>
                <a:spcPts val="200"/>
              </a:spcAft>
            </a:pPr>
            <a:r>
              <a:rPr sz="1200" b="1">
                <a:solidFill>
                  <a:srgbClr val="000000"/>
                </a:solidFill>
                <a:latin typeface="Arial"/>
              </a:rPr>
              <a:t>Enterprise</a:t>
            </a:r>
          </a:p>
          <a:p>
            <a:pPr algn="ctr">
              <a:spcAft>
                <a:spcPts val="200"/>
              </a:spcAft>
            </a:pPr>
            <a:r>
              <a:rPr sz="950" b="0">
                <a:solidFill>
                  <a:srgbClr val="000000"/>
                </a:solidFill>
                <a:latin typeface="Arial"/>
              </a:rPr>
              <a:t>licence</a:t>
            </a:r>
          </a:p>
        </p:txBody>
      </p:sp>
      <p:sp>
        <p:nvSpPr>
          <p:cNvPr id="25" name="Rectangle 24"/>
          <p:cNvSpPr/>
          <p:nvPr/>
        </p:nvSpPr>
        <p:spPr>
          <a:xfrm>
            <a:off x="1874519" y="420624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Pick per key / team</a:t>
            </a:r>
          </a:p>
          <a:p>
            <a:pPr algn="l">
              <a:spcAft>
                <a:spcPts val="300"/>
              </a:spcAft>
            </a:pPr>
            <a:r>
              <a:rPr sz="950" b="0">
                <a:solidFill>
                  <a:srgbClr val="000000"/>
                </a:solidFill>
                <a:latin typeface="Arial"/>
              </a:rPr>
              <a:t>guardrails + policies in the UI</a:t>
            </a:r>
          </a:p>
        </p:txBody>
      </p:sp>
      <p:cxnSp>
        <p:nvCxnSpPr>
          <p:cNvPr id="26" name="Connector 25"/>
          <p:cNvCxnSpPr/>
          <p:nvPr/>
        </p:nvCxnSpPr>
        <p:spPr>
          <a:xfrm>
            <a:off x="3685031" y="4754880"/>
            <a:ext cx="182881" cy="0"/>
          </a:xfrm>
          <a:prstGeom prst="line">
            <a:avLst/>
          </a:prstGeom>
          <a:ln w="15875">
            <a:solidFill>
              <a:srgbClr val="000000"/>
            </a:solidFill>
            <a:tailEnd type="triangle" w="med" len="med"/>
          </a:ln>
        </p:spPr>
      </p:cxnSp>
      <p:sp>
        <p:nvSpPr>
          <p:cNvPr id="27" name="Rectangle 26"/>
          <p:cNvSpPr/>
          <p:nvPr/>
        </p:nvSpPr>
        <p:spPr>
          <a:xfrm>
            <a:off x="3867912" y="420624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Lock the team</a:t>
            </a:r>
          </a:p>
          <a:p>
            <a:pPr algn="l">
              <a:spcAft>
                <a:spcPts val="300"/>
              </a:spcAft>
            </a:pPr>
            <a:r>
              <a:rPr sz="950" b="0">
                <a:solidFill>
                  <a:srgbClr val="000000"/>
                </a:solidFill>
                <a:latin typeface="Arial"/>
              </a:rPr>
              <a:t>metadata.guardrails.modify_guardrails: false</a:t>
            </a:r>
          </a:p>
        </p:txBody>
      </p:sp>
      <p:cxnSp>
        <p:nvCxnSpPr>
          <p:cNvPr id="28" name="Connector 27"/>
          <p:cNvCxnSpPr/>
          <p:nvPr/>
        </p:nvCxnSpPr>
        <p:spPr>
          <a:xfrm>
            <a:off x="5678424" y="4754880"/>
            <a:ext cx="182880" cy="0"/>
          </a:xfrm>
          <a:prstGeom prst="line">
            <a:avLst/>
          </a:prstGeom>
          <a:ln w="15875">
            <a:solidFill>
              <a:srgbClr val="000000"/>
            </a:solidFill>
            <a:tailEnd type="triangle" w="med" len="med"/>
          </a:ln>
        </p:spPr>
      </p:cxnSp>
      <p:sp>
        <p:nvSpPr>
          <p:cNvPr id="29" name="Rectangle 28"/>
          <p:cNvSpPr/>
          <p:nvPr/>
        </p:nvSpPr>
        <p:spPr>
          <a:xfrm>
            <a:off x="5861304" y="4206240"/>
            <a:ext cx="1810512" cy="1097280"/>
          </a:xfrm>
          <a:prstGeom prst="rect">
            <a:avLst/>
          </a:prstGeom>
          <a:solidFill>
            <a:srgbClr val="F6F6F6"/>
          </a:solidFill>
          <a:ln>
            <a:noFill/>
          </a:ln>
        </p:spPr>
        <p:txBody>
          <a:bodyPr rtlCol="0" anchor="ctr" wrap="square"/>
          <a:lstStyle/>
          <a:p>
            <a:pPr algn="l">
              <a:spcAft>
                <a:spcPts val="300"/>
              </a:spcAft>
            </a:pPr>
            <a:r>
              <a:rPr sz="1050" b="1">
                <a:solidFill>
                  <a:srgbClr val="000000"/>
                </a:solidFill>
                <a:latin typeface="Arial"/>
              </a:rPr>
              <a:t>Tag-based policy</a:t>
            </a:r>
          </a:p>
          <a:p>
            <a:pPr algn="l">
              <a:spcAft>
                <a:spcPts val="300"/>
              </a:spcAft>
            </a:pPr>
            <a:r>
              <a:rPr sz="950" b="0">
                <a:solidFill>
                  <a:srgbClr val="000000"/>
                </a:solidFill>
                <a:latin typeface="Arial"/>
              </a:rPr>
              <a:t>by User-Agent, e.g. Claude Code vs Codex</a:t>
            </a:r>
          </a:p>
        </p:txBody>
      </p:sp>
      <p:sp>
        <p:nvSpPr>
          <p:cNvPr id="30" name="Rectangle 29"/>
          <p:cNvSpPr/>
          <p:nvPr/>
        </p:nvSpPr>
        <p:spPr>
          <a:xfrm>
            <a:off x="7854696" y="4206240"/>
            <a:ext cx="3803904" cy="1097280"/>
          </a:xfrm>
          <a:prstGeom prst="rect">
            <a:avLst/>
          </a:prstGeom>
          <a:solidFill>
            <a:srgbClr val="FFFFFF"/>
          </a:solidFill>
          <a:ln w="9525">
            <a:solidFill>
              <a:srgbClr val="EE0000"/>
            </a:solidFill>
          </a:ln>
        </p:spPr>
        <p:txBody>
          <a:bodyPr rtlCol="0" anchor="ctr" wrap="square"/>
          <a:lstStyle/>
          <a:p>
            <a:pPr algn="l">
              <a:spcAft>
                <a:spcPts val="200"/>
              </a:spcAft>
            </a:pPr>
            <a:r>
              <a:rPr sz="1050" b="1">
                <a:solidFill>
                  <a:srgbClr val="000000"/>
                </a:solidFill>
                <a:latin typeface="Arial"/>
              </a:rPr>
              <a:t>Policy attachments: treat as Enterprise</a:t>
            </a:r>
          </a:p>
          <a:p>
            <a:pPr algn="l">
              <a:spcAft>
                <a:spcPts val="200"/>
              </a:spcAft>
            </a:pPr>
            <a:r>
              <a:rPr sz="900" b="0">
                <a:solidFill>
                  <a:srgbClr val="000000"/>
                </a:solidFill>
                <a:latin typeface="Arial"/>
              </a:rPr>
              <a:t>Docs mark team/key attachments Enterprise; confirm licensing with BerriAI</a:t>
            </a:r>
          </a:p>
        </p:txBody>
      </p:sp>
      <p:sp>
        <p:nvSpPr>
          <p:cNvPr id="31" name="TextBox 30"/>
          <p:cNvSpPr txBox="1"/>
          <p:nvPr/>
        </p:nvSpPr>
        <p:spPr>
          <a:xfrm>
            <a:off x="457200" y="5468112"/>
            <a:ext cx="11274552" cy="868680"/>
          </a:xfrm>
          <a:prstGeom prst="rect">
            <a:avLst/>
          </a:prstGeom>
          <a:noFill/>
        </p:spPr>
        <p:txBody>
          <a:bodyPr wrap="square" lIns="0" rIns="0" tIns="0" bIns="0" anchor="t">
            <a:spAutoFit/>
          </a:bodyPr>
          <a:lstStyle/>
          <a:p>
            <a:pPr algn="l">
              <a:spcAft>
                <a:spcPts val="0"/>
              </a:spcAft>
            </a:pPr>
            <a:r>
              <a:rPr sz="1000" b="1">
                <a:solidFill>
                  <a:srgbClr val="333333"/>
                </a:solidFill>
                <a:latin typeface="Arial"/>
              </a:rPr>
              <a:t>Premium fields in code (verified):</a:t>
            </a:r>
            <a:r>
              <a:rPr sz="1000" b="0">
                <a:solidFill>
                  <a:srgbClr val="333333"/>
                </a:solidFill>
                <a:latin typeface="Arial"/>
              </a:rPr>
              <a:t> disable_global_guardrails, guardrails, policies, tags, team_member_key_duration, prompts, logging, secret_manager_settings, allowed_passthrough_routes, denied_passthrough_routes. Enforced by premium_user_check, so attaching guardrails or policies to a key or team at creation time is Enterprise.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SDK CONTRACT FOR WRAPPING TEAMS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SDK contract: wrappers add identity, session and trace, and treat a 400 block differently from a 502/503 outage</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Fields from research §3.4 (verified mechanism). Request sketch is illustrative; exact field placement and the Entra token header are to verify in P4–P5. Purview requires the key-bound user_id.</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10</a:t>
            </a:r>
          </a:p>
        </p:txBody>
      </p:sp>
      <p:sp>
        <p:nvSpPr>
          <p:cNvPr id="8" name="Rectangle 7"/>
          <p:cNvSpPr/>
          <p:nvPr/>
        </p:nvSpPr>
        <p:spPr>
          <a:xfrm>
            <a:off x="457200" y="1371600"/>
            <a:ext cx="4343400" cy="2788920"/>
          </a:xfrm>
          <a:prstGeom prst="rect">
            <a:avLst/>
          </a:prstGeom>
          <a:solidFill>
            <a:srgbClr val="111111"/>
          </a:solidFill>
          <a:ln>
            <a:noFill/>
          </a:ln>
        </p:spPr>
        <p:txBody>
          <a:bodyPr rtlCol="0" anchor="ctr" wrap="square" lIns="73152" rIns="73152"/>
          <a:lstStyle/>
          <a:p>
            <a:pPr algn="ctr"/>
          </a:p>
        </p:txBody>
      </p:sp>
      <p:sp>
        <p:nvSpPr>
          <p:cNvPr id="9" name="TextBox 8"/>
          <p:cNvSpPr txBox="1"/>
          <p:nvPr/>
        </p:nvSpPr>
        <p:spPr>
          <a:xfrm>
            <a:off x="594360" y="1444752"/>
            <a:ext cx="4069080" cy="228600"/>
          </a:xfrm>
          <a:prstGeom prst="rect">
            <a:avLst/>
          </a:prstGeom>
          <a:noFill/>
        </p:spPr>
        <p:txBody>
          <a:bodyPr wrap="square" lIns="0" rIns="0" tIns="0" bIns="0" anchor="t">
            <a:spAutoFit/>
          </a:bodyPr>
          <a:lstStyle/>
          <a:p>
            <a:pPr algn="l">
              <a:spcAft>
                <a:spcPts val="400"/>
              </a:spcAft>
            </a:pPr>
            <a:r>
              <a:rPr sz="900" b="1">
                <a:solidFill>
                  <a:srgbClr val="D8DADA"/>
                </a:solidFill>
                <a:latin typeface="Arial"/>
              </a:rPr>
              <a:t>What the Kairos SDK wrapper sends (sketch)</a:t>
            </a:r>
          </a:p>
        </p:txBody>
      </p:sp>
      <p:sp>
        <p:nvSpPr>
          <p:cNvPr id="10" name="TextBox 9"/>
          <p:cNvSpPr txBox="1"/>
          <p:nvPr/>
        </p:nvSpPr>
        <p:spPr>
          <a:xfrm>
            <a:off x="594360" y="1700784"/>
            <a:ext cx="4069080" cy="2414015"/>
          </a:xfrm>
          <a:prstGeom prst="rect">
            <a:avLst/>
          </a:prstGeom>
          <a:noFill/>
        </p:spPr>
        <p:txBody>
          <a:bodyPr wrap="square" lIns="0" rIns="0" tIns="0" bIns="0" anchor="t">
            <a:spAutoFit/>
          </a:bodyPr>
          <a:lstStyle/>
          <a:p>
            <a:pPr algn="l">
              <a:spcAft>
                <a:spcPts val="0"/>
              </a:spcAft>
            </a:pPr>
            <a:r>
              <a:rPr sz="950" b="0">
                <a:solidFill>
                  <a:srgbClr val="F2F2F2"/>
                </a:solidFill>
                <a:latin typeface="Courier New"/>
                <a:cs typeface="Courier New"/>
              </a:rPr>
              <a:t>POST /v1/chat/completions  # key = agent alias</a:t>
            </a:r>
          </a:p>
          <a:p>
            <a:pPr algn="l">
              <a:spcAft>
                <a:spcPts val="0"/>
              </a:spcAft>
            </a:pPr>
            <a:r>
              <a:rPr sz="950" b="0">
                <a:solidFill>
                  <a:srgbClr val="F2F2F2"/>
                </a:solidFill>
                <a:latin typeface="Courier New"/>
                <a:cs typeface="Courier New"/>
              </a:rPr>
              <a:t>{</a:t>
            </a:r>
          </a:p>
          <a:p>
            <a:pPr algn="l">
              <a:spcAft>
                <a:spcPts val="0"/>
              </a:spcAft>
            </a:pPr>
            <a:r>
              <a:rPr sz="950" b="0">
                <a:solidFill>
                  <a:srgbClr val="F2F2F2"/>
                </a:solidFill>
                <a:latin typeface="Courier New"/>
                <a:cs typeface="Courier New"/>
              </a:rPr>
              <a:t>  "model": "kairos-agent-&lt;name&gt;",</a:t>
            </a:r>
          </a:p>
          <a:p>
            <a:pPr algn="l">
              <a:spcAft>
                <a:spcPts val="0"/>
              </a:spcAft>
            </a:pPr>
            <a:r>
              <a:rPr sz="950" b="0">
                <a:solidFill>
                  <a:srgbClr val="F2F2F2"/>
                </a:solidFill>
                <a:latin typeface="Courier New"/>
                <a:cs typeface="Courier New"/>
              </a:rPr>
              <a:t>  "user": "&lt;Entra object ID&gt;",</a:t>
            </a:r>
          </a:p>
          <a:p>
            <a:pPr algn="l">
              <a:spcAft>
                <a:spcPts val="0"/>
              </a:spcAft>
            </a:pPr>
            <a:r>
              <a:rPr sz="950" b="0">
                <a:solidFill>
                  <a:srgbClr val="F2F2F2"/>
                </a:solidFill>
                <a:latin typeface="Courier New"/>
                <a:cs typeface="Courier New"/>
              </a:rPr>
              <a:t>  "metadata": {</a:t>
            </a:r>
          </a:p>
          <a:p>
            <a:pPr algn="l">
              <a:spcAft>
                <a:spcPts val="0"/>
              </a:spcAft>
            </a:pPr>
            <a:r>
              <a:rPr sz="950" b="0">
                <a:solidFill>
                  <a:srgbClr val="F2F2F2"/>
                </a:solidFill>
                <a:latin typeface="Courier New"/>
                <a:cs typeface="Courier New"/>
              </a:rPr>
              <a:t>    "session_id": "&lt;session&gt;",</a:t>
            </a:r>
          </a:p>
          <a:p>
            <a:pPr algn="l">
              <a:spcAft>
                <a:spcPts val="0"/>
              </a:spcAft>
            </a:pPr>
            <a:r>
              <a:rPr sz="950" b="0">
                <a:solidFill>
                  <a:srgbClr val="F2F2F2"/>
                </a:solidFill>
                <a:latin typeface="Courier New"/>
                <a:cs typeface="Courier New"/>
              </a:rPr>
              <a:t>    "agent_control_session_id": "&lt;session&gt;"</a:t>
            </a:r>
          </a:p>
          <a:p>
            <a:pPr algn="l">
              <a:spcAft>
                <a:spcPts val="0"/>
              </a:spcAft>
            </a:pPr>
            <a:r>
              <a:rPr sz="950" b="0">
                <a:solidFill>
                  <a:srgbClr val="F2F2F2"/>
                </a:solidFill>
                <a:latin typeface="Courier New"/>
                <a:cs typeface="Courier New"/>
              </a:rPr>
              <a:t>  },</a:t>
            </a:r>
          </a:p>
          <a:p>
            <a:pPr algn="l">
              <a:spcAft>
                <a:spcPts val="0"/>
              </a:spcAft>
            </a:pPr>
            <a:r>
              <a:rPr sz="950" b="0">
                <a:solidFill>
                  <a:srgbClr val="F2F2F2"/>
                </a:solidFill>
                <a:latin typeface="Courier New"/>
                <a:cs typeface="Courier New"/>
              </a:rPr>
              <a:t>  "litellm_trace_id": "&lt;trace&gt;",</a:t>
            </a:r>
          </a:p>
          <a:p>
            <a:pPr algn="l">
              <a:spcAft>
                <a:spcPts val="0"/>
              </a:spcAft>
            </a:pPr>
            <a:r>
              <a:rPr sz="950" b="0">
                <a:solidFill>
                  <a:srgbClr val="F2F2F2"/>
                </a:solidFill>
                <a:latin typeface="Courier New"/>
                <a:cs typeface="Courier New"/>
              </a:rPr>
              <a:t>  "guardrails": ["&lt;optional opt-in&gt;"],</a:t>
            </a:r>
          </a:p>
          <a:p>
            <a:pPr algn="l">
              <a:spcAft>
                <a:spcPts val="0"/>
              </a:spcAft>
            </a:pPr>
            <a:r>
              <a:rPr sz="950" b="0">
                <a:solidFill>
                  <a:srgbClr val="F2F2F2"/>
                </a:solidFill>
                <a:latin typeface="Courier New"/>
                <a:cs typeface="Courier New"/>
              </a:rPr>
              <a:t>  "policies":   ["&lt;optional&gt;"]</a:t>
            </a:r>
          </a:p>
          <a:p>
            <a:pPr algn="l">
              <a:spcAft>
                <a:spcPts val="0"/>
              </a:spcAft>
            </a:pPr>
            <a:r>
              <a:rPr sz="950" b="0">
                <a:solidFill>
                  <a:srgbClr val="F2F2F2"/>
                </a:solidFill>
                <a:latin typeface="Courier New"/>
                <a:cs typeface="Courier New"/>
              </a:rPr>
              <a:t>}</a:t>
            </a:r>
          </a:p>
          <a:p>
            <a:pPr algn="l">
              <a:spcAft>
                <a:spcPts val="0"/>
              </a:spcAft>
            </a:pPr>
            <a:r>
              <a:rPr sz="950" b="0">
                <a:solidFill>
                  <a:srgbClr val="9FA3A3"/>
                </a:solidFill>
                <a:latin typeface="Courier New"/>
                <a:cs typeface="Courier New"/>
              </a:rPr>
              <a:t># + traceparent (OTel)</a:t>
            </a:r>
          </a:p>
          <a:p>
            <a:pPr algn="l">
              <a:spcAft>
                <a:spcPts val="0"/>
              </a:spcAft>
            </a:pPr>
            <a:r>
              <a:rPr sz="950" b="0">
                <a:solidFill>
                  <a:srgbClr val="9FA3A3"/>
                </a:solidFill>
                <a:latin typeface="Courier New"/>
                <a:cs typeface="Courier New"/>
              </a:rPr>
              <a:t># + user's Entra token -&gt; Agent 365 OBO</a:t>
            </a:r>
          </a:p>
        </p:txBody>
      </p:sp>
      <p:cxnSp>
        <p:nvCxnSpPr>
          <p:cNvPr id="11" name="Connector 10"/>
          <p:cNvCxnSpPr/>
          <p:nvPr/>
        </p:nvCxnSpPr>
        <p:spPr>
          <a:xfrm>
            <a:off x="4800600" y="2743200"/>
            <a:ext cx="320040" cy="0"/>
          </a:xfrm>
          <a:prstGeom prst="line">
            <a:avLst/>
          </a:prstGeom>
          <a:ln w="19050">
            <a:solidFill>
              <a:srgbClr val="000000"/>
            </a:solidFill>
            <a:tailEnd type="triangle" w="med" len="med"/>
          </a:ln>
        </p:spPr>
      </p:cxnSp>
      <p:sp>
        <p:nvSpPr>
          <p:cNvPr id="12" name="Rectangle 11"/>
          <p:cNvSpPr/>
          <p:nvPr/>
        </p:nvSpPr>
        <p:spPr>
          <a:xfrm>
            <a:off x="5120640" y="1371600"/>
            <a:ext cx="1508760" cy="2788920"/>
          </a:xfrm>
          <a:prstGeom prst="rect">
            <a:avLst/>
          </a:prstGeom>
          <a:solidFill>
            <a:srgbClr val="000000"/>
          </a:solidFill>
          <a:ln>
            <a:noFill/>
          </a:ln>
        </p:spPr>
        <p:txBody>
          <a:bodyPr rtlCol="0" anchor="ctr" wrap="square" lIns="73152" rIns="73152"/>
          <a:lstStyle/>
          <a:p>
            <a:pPr algn="ctr">
              <a:spcAft>
                <a:spcPts val="200"/>
              </a:spcAft>
            </a:pPr>
            <a:r>
              <a:rPr sz="1150" b="1">
                <a:solidFill>
                  <a:srgbClr val="FFFFFF"/>
                </a:solidFill>
                <a:latin typeface="Arial"/>
              </a:rPr>
              <a:t>Kairos Gateway</a:t>
            </a:r>
          </a:p>
          <a:p>
            <a:pPr algn="ctr">
              <a:spcAft>
                <a:spcPts val="200"/>
              </a:spcAft>
            </a:pPr>
            <a:r>
              <a:rPr sz="950" b="0">
                <a:solidFill>
                  <a:srgbClr val="D8DADA"/>
                </a:solidFill>
                <a:latin typeface="Arial"/>
              </a:rPr>
              <a:t>policies</a:t>
            </a:r>
          </a:p>
          <a:p>
            <a:pPr algn="ctr">
              <a:spcAft>
                <a:spcPts val="200"/>
              </a:spcAft>
            </a:pPr>
            <a:r>
              <a:rPr sz="950" b="0">
                <a:solidFill>
                  <a:srgbClr val="D8DADA"/>
                </a:solidFill>
                <a:latin typeface="Arial"/>
              </a:rPr>
              <a:t>guardrails</a:t>
            </a:r>
          </a:p>
          <a:p>
            <a:pPr algn="ctr">
              <a:spcAft>
                <a:spcPts val="200"/>
              </a:spcAft>
            </a:pPr>
            <a:r>
              <a:rPr sz="950" b="0">
                <a:solidFill>
                  <a:srgbClr val="D8DADA"/>
                </a:solidFill>
                <a:latin typeface="Arial"/>
              </a:rPr>
              <a:t>MCP hooks</a:t>
            </a:r>
          </a:p>
        </p:txBody>
      </p:sp>
      <p:sp>
        <p:nvSpPr>
          <p:cNvPr id="13" name="Rectangle 12"/>
          <p:cNvSpPr/>
          <p:nvPr/>
        </p:nvSpPr>
        <p:spPr>
          <a:xfrm>
            <a:off x="7086600" y="1371600"/>
            <a:ext cx="4645152" cy="630936"/>
          </a:xfrm>
          <a:prstGeom prst="rect">
            <a:avLst/>
          </a:prstGeom>
          <a:solidFill>
            <a:srgbClr val="F6F6F6"/>
          </a:solidFill>
          <a:ln>
            <a:noFill/>
          </a:ln>
        </p:spPr>
        <p:txBody>
          <a:bodyPr rtlCol="0" anchor="ctr" wrap="square" lIns="109728" rIns="109728"/>
          <a:lstStyle/>
          <a:p>
            <a:pPr algn="l">
              <a:spcAft>
                <a:spcPts val="100"/>
              </a:spcAft>
            </a:pPr>
            <a:r>
              <a:rPr sz="1050" b="1">
                <a:solidFill>
                  <a:srgbClr val="000000"/>
                </a:solidFill>
                <a:latin typeface="Arial"/>
              </a:rPr>
              <a:t>200 OK</a:t>
            </a:r>
          </a:p>
          <a:p>
            <a:pPr algn="l">
              <a:spcAft>
                <a:spcPts val="100"/>
              </a:spcAft>
            </a:pPr>
            <a:r>
              <a:rPr sz="950" b="0">
                <a:solidFill>
                  <a:srgbClr val="000000"/>
                </a:solidFill>
                <a:latin typeface="Arial"/>
              </a:rPr>
              <a:t>read x-litellm-applied-guardrails / -policies → log to Galileo</a:t>
            </a:r>
          </a:p>
        </p:txBody>
      </p:sp>
      <p:cxnSp>
        <p:nvCxnSpPr>
          <p:cNvPr id="14" name="Connector 13"/>
          <p:cNvCxnSpPr/>
          <p:nvPr/>
        </p:nvCxnSpPr>
        <p:spPr>
          <a:xfrm flipV="1">
            <a:off x="6629400" y="1687068"/>
            <a:ext cx="457200" cy="1056132"/>
          </a:xfrm>
          <a:prstGeom prst="line">
            <a:avLst/>
          </a:prstGeom>
          <a:ln w="12700">
            <a:solidFill>
              <a:srgbClr val="747676"/>
            </a:solidFill>
            <a:tailEnd type="triangle" w="med" len="med"/>
          </a:ln>
        </p:spPr>
      </p:cxnSp>
      <p:sp>
        <p:nvSpPr>
          <p:cNvPr id="15" name="Rectangle 14"/>
          <p:cNvSpPr/>
          <p:nvPr/>
        </p:nvSpPr>
        <p:spPr>
          <a:xfrm>
            <a:off x="7086600" y="2093976"/>
            <a:ext cx="4645152" cy="630936"/>
          </a:xfrm>
          <a:prstGeom prst="rect">
            <a:avLst/>
          </a:prstGeom>
          <a:solidFill>
            <a:srgbClr val="F6F6F6"/>
          </a:solidFill>
          <a:ln>
            <a:noFill/>
          </a:ln>
        </p:spPr>
        <p:txBody>
          <a:bodyPr rtlCol="0" anchor="ctr" wrap="square" lIns="109728" rIns="109728"/>
          <a:lstStyle/>
          <a:p>
            <a:pPr algn="l">
              <a:spcAft>
                <a:spcPts val="100"/>
              </a:spcAft>
            </a:pPr>
            <a:r>
              <a:rPr sz="1050" b="1">
                <a:solidFill>
                  <a:srgbClr val="000000"/>
                </a:solidFill>
                <a:latin typeface="Arial"/>
              </a:rPr>
              <a:t>200 + steering text</a:t>
            </a:r>
          </a:p>
          <a:p>
            <a:pPr algn="l">
              <a:spcAft>
                <a:spcPts val="100"/>
              </a:spcAft>
            </a:pPr>
            <a:r>
              <a:rPr sz="950" b="0">
                <a:solidFill>
                  <a:srgbClr val="000000"/>
                </a:solidFill>
                <a:latin typeface="Arial"/>
              </a:rPr>
              <a:t>arrives in the content; the agent continues with the guidance</a:t>
            </a:r>
          </a:p>
        </p:txBody>
      </p:sp>
      <p:cxnSp>
        <p:nvCxnSpPr>
          <p:cNvPr id="16" name="Connector 15"/>
          <p:cNvCxnSpPr/>
          <p:nvPr/>
        </p:nvCxnSpPr>
        <p:spPr>
          <a:xfrm flipV="1">
            <a:off x="6629400" y="2409444"/>
            <a:ext cx="457200" cy="333756"/>
          </a:xfrm>
          <a:prstGeom prst="line">
            <a:avLst/>
          </a:prstGeom>
          <a:ln w="12700">
            <a:solidFill>
              <a:srgbClr val="747676"/>
            </a:solidFill>
            <a:tailEnd type="triangle" w="med" len="med"/>
          </a:ln>
        </p:spPr>
      </p:cxnSp>
      <p:sp>
        <p:nvSpPr>
          <p:cNvPr id="17" name="Rectangle 16"/>
          <p:cNvSpPr/>
          <p:nvPr/>
        </p:nvSpPr>
        <p:spPr>
          <a:xfrm>
            <a:off x="7086600" y="2816352"/>
            <a:ext cx="4645152" cy="630936"/>
          </a:xfrm>
          <a:prstGeom prst="rect">
            <a:avLst/>
          </a:prstGeom>
          <a:solidFill>
            <a:srgbClr val="000000"/>
          </a:solidFill>
          <a:ln>
            <a:noFill/>
          </a:ln>
        </p:spPr>
        <p:txBody>
          <a:bodyPr rtlCol="0" anchor="ctr" wrap="square" lIns="109728" rIns="109728"/>
          <a:lstStyle/>
          <a:p>
            <a:pPr algn="l">
              <a:spcAft>
                <a:spcPts val="100"/>
              </a:spcAft>
            </a:pPr>
            <a:r>
              <a:rPr sz="1050" b="1">
                <a:solidFill>
                  <a:srgbClr val="FFFFFF"/>
                </a:solidFill>
                <a:latin typeface="Arial"/>
              </a:rPr>
              <a:t>400 policy block</a:t>
            </a:r>
          </a:p>
          <a:p>
            <a:pPr algn="l">
              <a:spcAft>
                <a:spcPts val="100"/>
              </a:spcAft>
            </a:pPr>
            <a:r>
              <a:rPr sz="950" b="0">
                <a:solidFill>
                  <a:srgbClr val="FFFFFF"/>
                </a:solidFill>
                <a:latin typeface="Arial"/>
              </a:rPr>
              <a:t>parse provider_specific_fields.guardrail_name; surface it, do not retry</a:t>
            </a:r>
          </a:p>
        </p:txBody>
      </p:sp>
      <p:cxnSp>
        <p:nvCxnSpPr>
          <p:cNvPr id="18" name="Connector 17"/>
          <p:cNvCxnSpPr/>
          <p:nvPr/>
        </p:nvCxnSpPr>
        <p:spPr>
          <a:xfrm>
            <a:off x="6629400" y="2743200"/>
            <a:ext cx="457200" cy="388620"/>
          </a:xfrm>
          <a:prstGeom prst="line">
            <a:avLst/>
          </a:prstGeom>
          <a:ln w="12700">
            <a:solidFill>
              <a:srgbClr val="747676"/>
            </a:solidFill>
            <a:tailEnd type="triangle" w="med" len="med"/>
          </a:ln>
        </p:spPr>
      </p:cxnSp>
      <p:sp>
        <p:nvSpPr>
          <p:cNvPr id="19" name="Rectangle 18"/>
          <p:cNvSpPr/>
          <p:nvPr/>
        </p:nvSpPr>
        <p:spPr>
          <a:xfrm>
            <a:off x="7086600" y="3538728"/>
            <a:ext cx="4645152" cy="630936"/>
          </a:xfrm>
          <a:prstGeom prst="rect">
            <a:avLst/>
          </a:prstGeom>
          <a:solidFill>
            <a:srgbClr val="EE0000"/>
          </a:solidFill>
          <a:ln>
            <a:noFill/>
          </a:ln>
        </p:spPr>
        <p:txBody>
          <a:bodyPr rtlCol="0" anchor="ctr" wrap="square" lIns="109728" rIns="109728"/>
          <a:lstStyle/>
          <a:p>
            <a:pPr algn="l">
              <a:spcAft>
                <a:spcPts val="100"/>
              </a:spcAft>
            </a:pPr>
            <a:r>
              <a:rPr sz="1050" b="1">
                <a:solidFill>
                  <a:srgbClr val="FFFFFF"/>
                </a:solidFill>
                <a:latin typeface="Arial"/>
              </a:rPr>
              <a:t>502 / 503 guardrail unreachable</a:t>
            </a:r>
          </a:p>
          <a:p>
            <a:pPr algn="l">
              <a:spcAft>
                <a:spcPts val="100"/>
              </a:spcAft>
            </a:pPr>
            <a:r>
              <a:rPr sz="950" b="0">
                <a:solidFill>
                  <a:srgbClr val="FFFFFF"/>
                </a:solidFill>
                <a:latin typeface="Arial"/>
              </a:rPr>
              <a:t>fail-closed; do not retry blindly, back off and alert</a:t>
            </a:r>
          </a:p>
        </p:txBody>
      </p:sp>
      <p:cxnSp>
        <p:nvCxnSpPr>
          <p:cNvPr id="20" name="Connector 19"/>
          <p:cNvCxnSpPr/>
          <p:nvPr/>
        </p:nvCxnSpPr>
        <p:spPr>
          <a:xfrm>
            <a:off x="6629400" y="2743200"/>
            <a:ext cx="457200" cy="1110996"/>
          </a:xfrm>
          <a:prstGeom prst="line">
            <a:avLst/>
          </a:prstGeom>
          <a:ln w="12700">
            <a:solidFill>
              <a:srgbClr val="747676"/>
            </a:solidFill>
            <a:tailEnd type="triangle" w="med" len="med"/>
          </a:ln>
        </p:spPr>
      </p:cxnSp>
      <p:graphicFrame>
        <p:nvGraphicFramePr>
          <p:cNvPr id="21" name="Table 20"/>
          <p:cNvGraphicFramePr>
            <a:graphicFrameLocks noGrp="1"/>
          </p:cNvGraphicFramePr>
          <p:nvPr/>
        </p:nvGraphicFramePr>
        <p:xfrm>
          <a:off x="457200" y="4389120"/>
          <a:ext cx="11274552" cy="1865376"/>
        </p:xfrm>
        <a:graphic>
          <a:graphicData uri="http://schemas.openxmlformats.org/drawingml/2006/table">
            <a:tbl>
              <a:tblPr firstRow="0" bandRow="0"/>
              <a:tblGrid>
                <a:gridCol w="1828800"/>
                <a:gridCol w="4572000"/>
                <a:gridCol w="4873752"/>
              </a:tblGrid>
              <a:tr h="310896">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No-code path (governed alias)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SDK path (Kairos SDK, Python / TS)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310896">
                <a:tc>
                  <a:txBody>
                    <a:bodyPr wrap="square"/>
                    <a:lstStyle/>
                    <a:p>
                      <a:pPr algn="l">
                        <a:spcAft>
                          <a:spcPts val="0"/>
                        </a:spcAft>
                      </a:pPr>
                      <a:r>
                        <a:rPr sz="950" b="1">
                          <a:solidFill>
                            <a:srgbClr val="000000"/>
                          </a:solidFill>
                          <a:latin typeface="Arial"/>
                        </a:rPr>
                        <a:t>How teams opt in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Pick kairos-agent-* at key creation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Wrap the client; same aliases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10896">
                <a:tc>
                  <a:txBody>
                    <a:bodyPr wrap="square"/>
                    <a:lstStyle/>
                    <a:p>
                      <a:pPr algn="l">
                        <a:spcAft>
                          <a:spcPts val="0"/>
                        </a:spcAft>
                      </a:pPr>
                      <a:r>
                        <a:rPr sz="950" b="1">
                          <a:solidFill>
                            <a:srgbClr val="000000"/>
                          </a:solidFill>
                          <a:latin typeface="Arial"/>
                        </a:rPr>
                        <a:t>Pre / post controls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Tier floor on pre_call, post_call and MCP hooks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Same floor + per-request "guardrails" / "policies" (dynamic extra_body params: Enterprise)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10896">
                <a:tc>
                  <a:txBody>
                    <a:bodyPr wrap="square"/>
                    <a:lstStyle/>
                    <a:p>
                      <a:pPr algn="l">
                        <a:spcAft>
                          <a:spcPts val="0"/>
                        </a:spcAft>
                      </a:pPr>
                      <a:r>
                        <a:rPr sz="950" b="1">
                          <a:solidFill>
                            <a:srgbClr val="000000"/>
                          </a:solidFill>
                          <a:latin typeface="Arial"/>
                        </a:rPr>
                        <a:t>Identity, session, trace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Key alias only; no session id for ACS state </a:t>
                      </a:r>
                      <a:r>
                        <a:rPr sz="950" b="0">
                          <a:solidFill>
                            <a:srgbClr val="747676"/>
                          </a:solidFill>
                          <a:latin typeface="Arial"/>
                        </a:rPr>
                        <a:t>(inferred)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Entra object ID, agent alias, session_id, agent_control_session_id, trace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10896">
                <a:tc>
                  <a:txBody>
                    <a:bodyPr wrap="square"/>
                    <a:lstStyle/>
                    <a:p>
                      <a:pPr algn="l">
                        <a:spcAft>
                          <a:spcPts val="0"/>
                        </a:spcAft>
                      </a:pPr>
                      <a:r>
                        <a:rPr sz="950" b="1">
                          <a:solidFill>
                            <a:srgbClr val="000000"/>
                          </a:solidFill>
                          <a:latin typeface="Arial"/>
                        </a:rPr>
                        <a:t>Agent-internal steps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Not covered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@control() via agent-control-sdk for planning and local tools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310896">
                <a:tc>
                  <a:txBody>
                    <a:bodyPr wrap="square"/>
                    <a:lstStyle/>
                    <a:p>
                      <a:pPr algn="l">
                        <a:spcAft>
                          <a:spcPts val="0"/>
                        </a:spcAft>
                      </a:pPr>
                      <a:r>
                        <a:rPr sz="950" b="1">
                          <a:solidFill>
                            <a:srgbClr val="000000"/>
                          </a:solidFill>
                          <a:latin typeface="Arial"/>
                        </a:rPr>
                        <a:t>Errors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950" b="0">
                          <a:solidFill>
                            <a:srgbClr val="333333"/>
                          </a:solidFill>
                          <a:latin typeface="Arial"/>
                        </a:rPr>
                        <a:t>Client sees raw 400 / 502 / 503</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50" b="0">
                          <a:solidFill>
                            <a:srgbClr val="333333"/>
                          </a:solidFill>
                          <a:latin typeface="Arial"/>
                        </a:rPr>
                        <a:t>Typed: block vs outage; steering surfaced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EXTENSION MODEL</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Extension model: teams start out-of-box, tune out-of-box through policy PRs, and go beyond out-of-box only through a reviewed build</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 research §3.5 (tiers and contents). 'How teams customise' is our proposal; the PR + simulator diff matches the P5 exit criterion. Certified-theta gate: Gemma4-26B-Jev-64K SERVING.md design.</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11</a:t>
            </a:r>
          </a:p>
        </p:txBody>
      </p:sp>
      <p:graphicFrame>
        <p:nvGraphicFramePr>
          <p:cNvPr id="8" name="Table 7"/>
          <p:cNvGraphicFramePr>
            <a:graphicFrameLocks noGrp="1"/>
          </p:cNvGraphicFramePr>
          <p:nvPr/>
        </p:nvGraphicFramePr>
        <p:xfrm>
          <a:off x="457200" y="1417320"/>
          <a:ext cx="11274552" cy="4279392"/>
        </p:xfrm>
        <a:graphic>
          <a:graphicData uri="http://schemas.openxmlformats.org/drawingml/2006/table">
            <a:tbl>
              <a:tblPr firstRow="0" bandRow="0"/>
              <a:tblGrid>
                <a:gridCol w="1325880"/>
                <a:gridCol w="2331720"/>
                <a:gridCol w="2697480"/>
                <a:gridCol w="2606040"/>
                <a:gridCol w="2313432"/>
              </a:tblGrid>
              <a:tr h="384048">
                <a:tc>
                  <a:txBody>
                    <a:bodyPr wrap="square"/>
                    <a:lstStyle/>
                    <a:p>
                      <a:pPr algn="l">
                        <a:spcAft>
                          <a:spcPts val="0"/>
                        </a:spcAft>
                      </a:pPr>
                      <a:r>
                        <a:rPr sz="1000" b="1">
                          <a:solidFill>
                            <a:srgbClr val="FFFFFF"/>
                          </a:solidFill>
                          <a:latin typeface="Arial"/>
                        </a:rPr>
                        <a:t>Tier</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Galileo</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Microsoft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Jev decision v1 + embeddings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FFFFFF"/>
                          </a:solidFill>
                          <a:latin typeface="Arial"/>
                        </a:rPr>
                        <a:t>How teams customise (proposal)</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1298448">
                <a:tc>
                  <a:txBody>
                    <a:bodyPr wrap="square"/>
                    <a:lstStyle/>
                    <a:p>
                      <a:pPr algn="l">
                        <a:spcAft>
                          <a:spcPts val="0"/>
                        </a:spcAft>
                      </a:pPr>
                      <a:r>
                        <a:rPr sz="1000" b="1">
                          <a:solidFill>
                            <a:srgbClr val="000000"/>
                          </a:solidFill>
                          <a:latin typeface="Arial"/>
                        </a:rPr>
                        <a:t>Out-of-box</a:t>
                      </a:r>
                    </a:p>
                    <a:p>
                      <a:pPr algn="l">
                        <a:spcAft>
                          <a:spcPts val="0"/>
                        </a:spcAft>
                      </a:pPr>
                      <a:r>
                        <a:rPr sz="900" b="0">
                          <a:solidFill>
                            <a:srgbClr val="747676"/>
                          </a:solidFill>
                          <a:latin typeface="Arial"/>
                        </a:rPr>
                        <a:t>OOB</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No native guardrail type; keep the galileo callback for observability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agent_365, microsoft_purview, azure/prompt_shield, azure/text_moderations, presidio; ACS hook as shipped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decision_model guardrail with Jev checks; semantic_guard with Kairos embeddings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Pick a governed alias or toggle default_on guardrails. No code.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1298448">
                <a:tc>
                  <a:txBody>
                    <a:bodyPr wrap="square"/>
                    <a:lstStyle/>
                    <a:p>
                      <a:pPr algn="l">
                        <a:spcAft>
                          <a:spcPts val="0"/>
                        </a:spcAft>
                      </a:pPr>
                      <a:r>
                        <a:rPr sz="1000" b="1">
                          <a:solidFill>
                            <a:srgbClr val="000000"/>
                          </a:solidFill>
                          <a:latin typeface="Arial"/>
                        </a:rPr>
                        <a:t>Modified OOB</a:t>
                      </a:r>
                    </a:p>
                    <a:p>
                      <a:pPr algn="l">
                        <a:spcAft>
                          <a:spcPts val="0"/>
                        </a:spcAft>
                      </a:pPr>
                      <a:r>
                        <a:rPr sz="900" b="0">
                          <a:solidFill>
                            <a:srgbClr val="747676"/>
                          </a:solidFill>
                          <a:latin typeface="Arial"/>
                        </a:rPr>
                        <a:t>config</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r>
                        <a:rPr sz="1000" b="0">
                          <a:solidFill>
                            <a:srgbClr val="333333"/>
                          </a:solidFill>
                          <a:latin typeface="Arial"/>
                        </a:rPr>
                        <a: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ACS manifests (YAML) per policy tier; Purview policy scopes; Presidio custom recognisers; stream_scope and unreachable_fallback tuning</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Custom checks (≤128 questions, threshold per check); pipeline on_fail escalation from Jev to an LLM judge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PR to the policy repo; /policies/resolve + simulator diff in CI; platform approves.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1298448">
                <a:tc>
                  <a:txBody>
                    <a:bodyPr wrap="square"/>
                    <a:lstStyle/>
                    <a:p>
                      <a:pPr algn="l">
                        <a:spcAft>
                          <a:spcPts val="0"/>
                        </a:spcAft>
                      </a:pPr>
                      <a:r>
                        <a:rPr sz="1000" b="1">
                          <a:solidFill>
                            <a:srgbClr val="FFFFFF"/>
                          </a:solidFill>
                          <a:latin typeface="Arial"/>
                        </a:rPr>
                        <a:t>Beyond OOB</a:t>
                      </a:r>
                    </a:p>
                    <a:p>
                      <a:pPr algn="l">
                        <a:spcAft>
                          <a:spcPts val="0"/>
                        </a:spcAft>
                      </a:pPr>
                      <a:r>
                        <a:rPr sz="900" b="0">
                          <a:solidFill>
                            <a:srgbClr val="D8DADA"/>
                          </a:solidFill>
                          <a:latin typeface="Arial"/>
                        </a:rPr>
                        <a:t>build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1000" b="1">
                          <a:solidFill>
                            <a:srgbClr val="EE0000"/>
                          </a:solidFill>
                          <a:latin typeface="Arial"/>
                        </a:rPr>
                        <a:t>Agent Control adapter</a:t>
                      </a:r>
                      <a:r>
                        <a:rPr sz="1000" b="0">
                          <a:solidFill>
                            <a:srgbClr val="333333"/>
                          </a:solidFill>
                          <a:latin typeface="Arial"/>
                        </a:rPr>
                        <a:t> (Generic Guardrail API microservice or CustomGuardrail) mapping deny / steer / warn / log</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Unified control-catalogue compiler: one source YAML emits ACS manifests and Agent Control controls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Jev certified-theta fail-closed gate per (check type × length bucket); embedding kNN against an attack corpus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1000" b="0">
                          <a:solidFill>
                            <a:srgbClr val="333333"/>
                          </a:solidFill>
                          <a:latin typeface="Arial"/>
                        </a:rPr>
                        <a:t>Platform-reviewed build with an owner, tests and a runbook; ships as a new catalogue entry.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9" name="Pentagon 8"/>
          <p:cNvSpPr/>
          <p:nvPr/>
        </p:nvSpPr>
        <p:spPr>
          <a:xfrm>
            <a:off x="457200" y="5943600"/>
            <a:ext cx="1828800" cy="347472"/>
          </a:xfrm>
          <a:prstGeom prst="homePlate">
            <a:avLst/>
          </a:prstGeom>
          <a:solidFill>
            <a:srgbClr val="F6F6F6"/>
          </a:solidFill>
          <a:ln>
            <a:noFill/>
          </a:ln>
        </p:spPr>
        <p:txBody>
          <a:bodyPr rtlCol="0" anchor="ctr" wrap="square" lIns="73152" rIns="73152"/>
          <a:lstStyle/>
          <a:p>
            <a:pPr algn="ctr">
              <a:spcAft>
                <a:spcPts val="200"/>
              </a:spcAft>
            </a:pPr>
            <a:r>
              <a:rPr sz="1000" b="1">
                <a:solidFill>
                  <a:srgbClr val="000000"/>
                </a:solidFill>
                <a:latin typeface="Arial"/>
              </a:rPr>
              <a:t>OOB</a:t>
            </a:r>
          </a:p>
        </p:txBody>
      </p:sp>
      <p:sp>
        <p:nvSpPr>
          <p:cNvPr id="10" name="Chevron 9"/>
          <p:cNvSpPr/>
          <p:nvPr/>
        </p:nvSpPr>
        <p:spPr>
          <a:xfrm>
            <a:off x="2468880" y="5943600"/>
            <a:ext cx="1828800" cy="347472"/>
          </a:xfrm>
          <a:prstGeom prst="chevron">
            <a:avLst/>
          </a:prstGeom>
          <a:solidFill>
            <a:srgbClr val="D8DADA"/>
          </a:solidFill>
          <a:ln>
            <a:noFill/>
          </a:ln>
        </p:spPr>
        <p:txBody>
          <a:bodyPr rtlCol="0" anchor="ctr" wrap="square" lIns="73152" rIns="73152"/>
          <a:lstStyle/>
          <a:p>
            <a:pPr algn="ctr">
              <a:spcAft>
                <a:spcPts val="200"/>
              </a:spcAft>
            </a:pPr>
            <a:r>
              <a:rPr sz="1000" b="1">
                <a:solidFill>
                  <a:srgbClr val="000000"/>
                </a:solidFill>
                <a:latin typeface="Arial"/>
              </a:rPr>
              <a:t>Modified OOB</a:t>
            </a:r>
          </a:p>
        </p:txBody>
      </p:sp>
      <p:sp>
        <p:nvSpPr>
          <p:cNvPr id="11" name="Chevron 10"/>
          <p:cNvSpPr/>
          <p:nvPr/>
        </p:nvSpPr>
        <p:spPr>
          <a:xfrm>
            <a:off x="4480560" y="5943600"/>
            <a:ext cx="1828800" cy="347472"/>
          </a:xfrm>
          <a:prstGeom prst="chevron">
            <a:avLst/>
          </a:prstGeom>
          <a:solidFill>
            <a:srgbClr val="000000"/>
          </a:solidFill>
          <a:ln>
            <a:noFill/>
          </a:ln>
        </p:spPr>
        <p:txBody>
          <a:bodyPr rtlCol="0" anchor="ctr" wrap="square" lIns="73152" rIns="73152"/>
          <a:lstStyle/>
          <a:p>
            <a:pPr algn="ctr">
              <a:spcAft>
                <a:spcPts val="200"/>
              </a:spcAft>
            </a:pPr>
            <a:r>
              <a:rPr sz="1000" b="1">
                <a:solidFill>
                  <a:srgbClr val="FFFFFF"/>
                </a:solidFill>
                <a:latin typeface="Arial"/>
              </a:rPr>
              <a:t>Beyond OOB</a:t>
            </a:r>
          </a:p>
        </p:txBody>
      </p:sp>
      <p:sp>
        <p:nvSpPr>
          <p:cNvPr id="12" name="TextBox 11"/>
          <p:cNvSpPr txBox="1"/>
          <p:nvPr/>
        </p:nvSpPr>
        <p:spPr>
          <a:xfrm>
            <a:off x="6675120" y="5943600"/>
            <a:ext cx="5029200" cy="347472"/>
          </a:xfrm>
          <a:prstGeom prst="rect">
            <a:avLst/>
          </a:prstGeom>
          <a:noFill/>
        </p:spPr>
        <p:txBody>
          <a:bodyPr wrap="square" lIns="0" rIns="0" tIns="0" bIns="0" anchor="ctr">
            <a:spAutoFit/>
          </a:bodyPr>
          <a:lstStyle/>
          <a:p>
            <a:pPr algn="l">
              <a:spcAft>
                <a:spcPts val="400"/>
              </a:spcAft>
            </a:pPr>
            <a:r>
              <a:rPr sz="1000" b="0">
                <a:solidFill>
                  <a:srgbClr val="747676"/>
                </a:solidFill>
                <a:latin typeface="Arial"/>
              </a:rPr>
              <a:t>more effort, ownership and review at each step; start every team at OOB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JEV DECISION V1 IN GOVERNANCE</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Jev decision v1 is the decision engine: the decision_model guardrail asks it predicate checks, with Kairos embeddings as a cheap first pass</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Sources: docs.litellm.ai …/guardrails/decision_model, …/providers/strands_decider, …/providers/vllm (mechanism verified). Server registration and schema round-trip: to verify.</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12</a:t>
            </a:r>
          </a:p>
        </p:txBody>
      </p:sp>
      <p:sp>
        <p:nvSpPr>
          <p:cNvPr id="8" name="Rectangle 7"/>
          <p:cNvSpPr/>
          <p:nvPr/>
        </p:nvSpPr>
        <p:spPr>
          <a:xfrm>
            <a:off x="457200" y="1417320"/>
            <a:ext cx="2103120" cy="2103120"/>
          </a:xfrm>
          <a:prstGeom prst="rect">
            <a:avLst/>
          </a:prstGeom>
          <a:solidFill>
            <a:srgbClr val="000000"/>
          </a:solidFill>
          <a:ln>
            <a:noFill/>
          </a:ln>
        </p:spPr>
        <p:txBody>
          <a:bodyPr rtlCol="0" anchor="ctr" wrap="square" lIns="73152" rIns="73152"/>
          <a:lstStyle/>
          <a:p>
            <a:pPr algn="ctr">
              <a:spcAft>
                <a:spcPts val="300"/>
              </a:spcAft>
            </a:pPr>
            <a:r>
              <a:rPr sz="1200" b="1">
                <a:solidFill>
                  <a:srgbClr val="FFFFFF"/>
                </a:solidFill>
                <a:latin typeface="Arial"/>
              </a:rPr>
              <a:t>Kairos Gateway</a:t>
            </a:r>
          </a:p>
          <a:p>
            <a:pPr algn="ctr">
              <a:spcAft>
                <a:spcPts val="300"/>
              </a:spcAft>
            </a:pPr>
            <a:r>
              <a:rPr sz="950" b="0">
                <a:solidFill>
                  <a:srgbClr val="D8DADA"/>
                </a:solidFill>
                <a:latin typeface="Arial"/>
              </a:rPr>
              <a:t>decision_model guardrail</a:t>
            </a:r>
          </a:p>
          <a:p>
            <a:pPr algn="ctr">
              <a:spcAft>
                <a:spcPts val="300"/>
              </a:spcAft>
            </a:pPr>
            <a:r>
              <a:rPr sz="950" b="0">
                <a:solidFill>
                  <a:srgbClr val="FFFFFF"/>
                </a:solidFill>
                <a:latin typeface="Arial"/>
              </a:rPr>
              <a:t>pre_call · during_call · post_call</a:t>
            </a:r>
          </a:p>
        </p:txBody>
      </p:sp>
      <p:cxnSp>
        <p:nvCxnSpPr>
          <p:cNvPr id="9" name="Connector 8"/>
          <p:cNvCxnSpPr/>
          <p:nvPr/>
        </p:nvCxnSpPr>
        <p:spPr>
          <a:xfrm flipV="1">
            <a:off x="2560320" y="1920240"/>
            <a:ext cx="502920" cy="548640"/>
          </a:xfrm>
          <a:prstGeom prst="line">
            <a:avLst/>
          </a:prstGeom>
          <a:ln w="15875">
            <a:solidFill>
              <a:srgbClr val="000000"/>
            </a:solidFill>
            <a:tailEnd type="triangle" w="med" len="med"/>
          </a:ln>
        </p:spPr>
      </p:cxnSp>
      <p:cxnSp>
        <p:nvCxnSpPr>
          <p:cNvPr id="10" name="Connector 9"/>
          <p:cNvCxnSpPr/>
          <p:nvPr/>
        </p:nvCxnSpPr>
        <p:spPr>
          <a:xfrm>
            <a:off x="2560320" y="2468880"/>
            <a:ext cx="502920" cy="548640"/>
          </a:xfrm>
          <a:prstGeom prst="line">
            <a:avLst/>
          </a:prstGeom>
          <a:ln w="15875">
            <a:solidFill>
              <a:srgbClr val="000000"/>
            </a:solidFill>
            <a:tailEnd type="triangle" w="med" len="med"/>
          </a:ln>
        </p:spPr>
      </p:cxnSp>
      <p:sp>
        <p:nvSpPr>
          <p:cNvPr id="11" name="TextBox 10"/>
          <p:cNvSpPr txBox="1"/>
          <p:nvPr/>
        </p:nvSpPr>
        <p:spPr>
          <a:xfrm>
            <a:off x="2578608" y="1463040"/>
            <a:ext cx="502920" cy="365760"/>
          </a:xfrm>
          <a:prstGeom prst="rect">
            <a:avLst/>
          </a:prstGeom>
          <a:noFill/>
        </p:spPr>
        <p:txBody>
          <a:bodyPr wrap="square" lIns="0" rIns="0" tIns="0" bIns="0" anchor="t">
            <a:spAutoFit/>
          </a:bodyPr>
          <a:lstStyle/>
          <a:p>
            <a:pPr algn="ctr">
              <a:spcAft>
                <a:spcPts val="0"/>
              </a:spcAft>
            </a:pPr>
            <a:r>
              <a:rPr sz="850" b="0">
                <a:solidFill>
                  <a:srgbClr val="747676"/>
                </a:solidFill>
                <a:latin typeface="Arial"/>
              </a:rPr>
              <a:t>/v1/ decisions</a:t>
            </a:r>
          </a:p>
        </p:txBody>
      </p:sp>
      <p:sp>
        <p:nvSpPr>
          <p:cNvPr id="12" name="Rectangle 11"/>
          <p:cNvSpPr/>
          <p:nvPr/>
        </p:nvSpPr>
        <p:spPr>
          <a:xfrm>
            <a:off x="3063240" y="1417320"/>
            <a:ext cx="3154680" cy="1005840"/>
          </a:xfrm>
          <a:prstGeom prst="rect">
            <a:avLst/>
          </a:prstGeom>
          <a:solidFill>
            <a:srgbClr val="F6F6F6"/>
          </a:solidFill>
          <a:ln>
            <a:noFill/>
          </a:ln>
        </p:spPr>
        <p:txBody>
          <a:bodyPr rtlCol="0" anchor="ctr" wrap="square" lIns="109728" rIns="109728"/>
          <a:lstStyle/>
          <a:p>
            <a:pPr algn="l">
              <a:spcAft>
                <a:spcPts val="200"/>
              </a:spcAft>
            </a:pPr>
            <a:r>
              <a:rPr sz="1050" b="1">
                <a:solidFill>
                  <a:srgbClr val="000000"/>
                </a:solidFill>
                <a:latin typeface="Arial"/>
              </a:rPr>
              <a:t>Path 1: hosted_vllm/&lt;model&gt;</a:t>
            </a:r>
          </a:p>
          <a:p>
            <a:pPr algn="l">
              <a:spcAft>
                <a:spcPts val="200"/>
              </a:spcAft>
            </a:pPr>
            <a:r>
              <a:rPr sz="900" b="0">
                <a:solidFill>
                  <a:srgbClr val="000000"/>
                </a:solidFill>
                <a:latin typeface="Arial"/>
              </a:rPr>
              <a:t>vLLM ≥0.32 with an architecture in READ_STRATEGIES. Qwen3/3.5 listed; Gemma 4 not confirmed</a:t>
            </a:r>
          </a:p>
        </p:txBody>
      </p:sp>
      <p:sp>
        <p:nvSpPr>
          <p:cNvPr id="13" name="Rectangle 12"/>
          <p:cNvSpPr/>
          <p:nvPr/>
        </p:nvSpPr>
        <p:spPr>
          <a:xfrm>
            <a:off x="3063240" y="2514600"/>
            <a:ext cx="3154680" cy="1005840"/>
          </a:xfrm>
          <a:prstGeom prst="rect">
            <a:avLst/>
          </a:prstGeom>
          <a:solidFill>
            <a:srgbClr val="FFFFFF"/>
          </a:solidFill>
          <a:ln w="15875">
            <a:solidFill>
              <a:srgbClr val="EE0000"/>
            </a:solidFill>
          </a:ln>
        </p:spPr>
        <p:txBody>
          <a:bodyPr rtlCol="0" anchor="ctr" wrap="square" lIns="109728" rIns="109728"/>
          <a:lstStyle/>
          <a:p>
            <a:pPr algn="l">
              <a:spcAft>
                <a:spcPts val="200"/>
              </a:spcAft>
            </a:pPr>
            <a:r>
              <a:rPr sz="1050" b="1">
                <a:solidFill>
                  <a:srgbClr val="000000"/>
                </a:solidFill>
                <a:latin typeface="Arial"/>
              </a:rPr>
              <a:t>Path 2: strands_decider/&lt;model&gt;</a:t>
            </a:r>
          </a:p>
          <a:p>
            <a:pPr algn="l">
              <a:spcAft>
                <a:spcPts val="200"/>
              </a:spcAft>
            </a:pPr>
            <a:r>
              <a:rPr sz="900" b="0">
                <a:solidFill>
                  <a:srgbClr val="000000"/>
                </a:solidFill>
                <a:latin typeface="Arial"/>
              </a:rPr>
              <a:t>api_base = your server; LiteLLM appends /v1/systemone; Bearer only if a key is set</a:t>
            </a:r>
          </a:p>
        </p:txBody>
      </p:sp>
      <p:cxnSp>
        <p:nvCxnSpPr>
          <p:cNvPr id="14" name="Connector 13"/>
          <p:cNvCxnSpPr/>
          <p:nvPr/>
        </p:nvCxnSpPr>
        <p:spPr>
          <a:xfrm>
            <a:off x="6217920" y="1920240"/>
            <a:ext cx="502920" cy="548640"/>
          </a:xfrm>
          <a:prstGeom prst="line">
            <a:avLst/>
          </a:prstGeom>
          <a:ln w="15875">
            <a:solidFill>
              <a:srgbClr val="000000"/>
            </a:solidFill>
            <a:tailEnd type="triangle" w="med" len="med"/>
          </a:ln>
        </p:spPr>
      </p:cxnSp>
      <p:cxnSp>
        <p:nvCxnSpPr>
          <p:cNvPr id="15" name="Connector 14"/>
          <p:cNvCxnSpPr/>
          <p:nvPr/>
        </p:nvCxnSpPr>
        <p:spPr>
          <a:xfrm flipV="1">
            <a:off x="6217920" y="2468880"/>
            <a:ext cx="502920" cy="548640"/>
          </a:xfrm>
          <a:prstGeom prst="line">
            <a:avLst/>
          </a:prstGeom>
          <a:ln w="15875">
            <a:solidFill>
              <a:srgbClr val="000000"/>
            </a:solidFill>
            <a:tailEnd type="triangle" w="med" len="med"/>
          </a:ln>
        </p:spPr>
      </p:cxnSp>
      <p:sp>
        <p:nvSpPr>
          <p:cNvPr id="16" name="Rectangle 15"/>
          <p:cNvSpPr/>
          <p:nvPr/>
        </p:nvSpPr>
        <p:spPr>
          <a:xfrm>
            <a:off x="6720840" y="1417320"/>
            <a:ext cx="2377440" cy="2103120"/>
          </a:xfrm>
          <a:prstGeom prst="rect">
            <a:avLst/>
          </a:prstGeom>
          <a:solidFill>
            <a:srgbClr val="EE0000"/>
          </a:solidFill>
          <a:ln>
            <a:noFill/>
          </a:ln>
        </p:spPr>
        <p:txBody>
          <a:bodyPr rtlCol="0" anchor="ctr" wrap="square" lIns="73152" rIns="73152"/>
          <a:lstStyle/>
          <a:p>
            <a:pPr algn="ctr">
              <a:spcAft>
                <a:spcPts val="300"/>
              </a:spcAft>
            </a:pPr>
            <a:r>
              <a:rPr sz="1200" b="1">
                <a:solidFill>
                  <a:srgbClr val="FFFFFF"/>
                </a:solidFill>
                <a:latin typeface="Arial"/>
              </a:rPr>
              <a:t>Jev decision v1</a:t>
            </a:r>
          </a:p>
          <a:p>
            <a:pPr algn="ctr">
              <a:spcAft>
                <a:spcPts val="300"/>
              </a:spcAft>
            </a:pPr>
            <a:r>
              <a:rPr sz="950" b="0">
                <a:solidFill>
                  <a:srgbClr val="FFFFFF"/>
                </a:solidFill>
                <a:latin typeface="Arial"/>
              </a:rPr>
              <a:t>/v1/systemone (your SERVING.md)</a:t>
            </a:r>
          </a:p>
          <a:p>
            <a:pPr algn="ctr">
              <a:spcAft>
                <a:spcPts val="300"/>
              </a:spcAft>
            </a:pPr>
            <a:r>
              <a:rPr sz="950" b="0">
                <a:solidFill>
                  <a:srgbClr val="FFFFFF"/>
                </a:solidFill>
                <a:latin typeface="Arial"/>
              </a:rPr>
              <a:t>answer · probabilities · confidence · certified</a:t>
            </a:r>
          </a:p>
          <a:p>
            <a:pPr algn="ctr">
              <a:spcAft>
                <a:spcPts val="300"/>
              </a:spcAft>
            </a:pPr>
            <a:r>
              <a:rPr sz="900" b="0">
                <a:solidFill>
                  <a:srgbClr val="FFE5E5"/>
                </a:solidFill>
                <a:latin typeface="Arial"/>
              </a:rPr>
              <a:t>round-trip: to verify</a:t>
            </a:r>
          </a:p>
        </p:txBody>
      </p:sp>
      <p:cxnSp>
        <p:nvCxnSpPr>
          <p:cNvPr id="17" name="Connector 16"/>
          <p:cNvCxnSpPr/>
          <p:nvPr/>
        </p:nvCxnSpPr>
        <p:spPr>
          <a:xfrm>
            <a:off x="9098280" y="2468880"/>
            <a:ext cx="365760" cy="0"/>
          </a:xfrm>
          <a:prstGeom prst="line">
            <a:avLst/>
          </a:prstGeom>
          <a:ln w="15875">
            <a:solidFill>
              <a:srgbClr val="000000"/>
            </a:solidFill>
            <a:tailEnd type="triangle" w="med" len="med"/>
          </a:ln>
        </p:spPr>
      </p:cxnSp>
      <p:sp>
        <p:nvSpPr>
          <p:cNvPr id="18" name="Rectangle 17"/>
          <p:cNvSpPr/>
          <p:nvPr/>
        </p:nvSpPr>
        <p:spPr>
          <a:xfrm>
            <a:off x="9464040" y="1417320"/>
            <a:ext cx="2267712" cy="2103120"/>
          </a:xfrm>
          <a:prstGeom prst="rect">
            <a:avLst/>
          </a:prstGeom>
          <a:solidFill>
            <a:srgbClr val="F6F6F6"/>
          </a:solidFill>
          <a:ln>
            <a:noFill/>
          </a:ln>
        </p:spPr>
        <p:txBody>
          <a:bodyPr rtlCol="0" anchor="ctr" wrap="square" lIns="73152" rIns="73152"/>
          <a:lstStyle/>
          <a:p>
            <a:pPr algn="ctr">
              <a:spcAft>
                <a:spcPts val="300"/>
              </a:spcAft>
            </a:pPr>
            <a:r>
              <a:rPr sz="1100" b="1">
                <a:solidFill>
                  <a:srgbClr val="000000"/>
                </a:solidFill>
                <a:latin typeface="Arial"/>
              </a:rPr>
              <a:t>Certified-theta gate</a:t>
            </a:r>
          </a:p>
          <a:p>
            <a:pPr algn="ctr">
              <a:spcAft>
                <a:spcPts val="300"/>
              </a:spcAft>
            </a:pPr>
            <a:r>
              <a:rPr sz="900" b="0">
                <a:solidFill>
                  <a:srgbClr val="747676"/>
                </a:solidFill>
                <a:latin typeface="Arial"/>
              </a:rPr>
              <a:t>beyond OOB</a:t>
            </a:r>
          </a:p>
          <a:p>
            <a:pPr algn="ctr">
              <a:spcAft>
                <a:spcPts val="300"/>
              </a:spcAft>
            </a:pPr>
            <a:r>
              <a:rPr sz="950" b="0">
                <a:solidFill>
                  <a:srgbClr val="000000"/>
                </a:solidFill>
                <a:latin typeface="Arial"/>
              </a:rPr>
              <a:t>fail-closed per (check type × length bucket), from the Gemma4-26B-Jev-64K SERVING.md design</a:t>
            </a:r>
          </a:p>
        </p:txBody>
      </p:sp>
      <p:sp>
        <p:nvSpPr>
          <p:cNvPr id="19" name="TextBox 18"/>
          <p:cNvSpPr txBox="1"/>
          <p:nvPr/>
        </p:nvSpPr>
        <p:spPr>
          <a:xfrm>
            <a:off x="457200" y="3703320"/>
            <a:ext cx="5486400" cy="274320"/>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Proposed check pipeline</a:t>
            </a:r>
            <a:r>
              <a:rPr sz="1050" b="0">
                <a:solidFill>
                  <a:srgbClr val="747676"/>
                </a:solidFill>
                <a:latin typeface="Arial"/>
              </a:rPr>
              <a:t>  (policy pipeline with on_fail escalation; Kairos design)</a:t>
            </a:r>
          </a:p>
        </p:txBody>
      </p:sp>
      <p:sp>
        <p:nvSpPr>
          <p:cNvPr id="20" name="Rectangle 19"/>
          <p:cNvSpPr/>
          <p:nvPr/>
        </p:nvSpPr>
        <p:spPr>
          <a:xfrm>
            <a:off x="457200" y="4023360"/>
            <a:ext cx="2377440" cy="566928"/>
          </a:xfrm>
          <a:prstGeom prst="rect">
            <a:avLst/>
          </a:prstGeom>
          <a:solidFill>
            <a:srgbClr val="F6F6F6"/>
          </a:solidFill>
          <a:ln>
            <a:noFill/>
          </a:ln>
        </p:spPr>
        <p:txBody>
          <a:bodyPr rtlCol="0" anchor="ctr" wrap="square" lIns="73152" rIns="73152"/>
          <a:lstStyle/>
          <a:p>
            <a:pPr algn="ctr">
              <a:spcAft>
                <a:spcPts val="0"/>
              </a:spcAft>
            </a:pPr>
            <a:r>
              <a:rPr sz="1050" b="1">
                <a:solidFill>
                  <a:srgbClr val="000000"/>
                </a:solidFill>
                <a:latin typeface="Arial"/>
              </a:rPr>
              <a:t>semantic_guard</a:t>
            </a:r>
          </a:p>
          <a:p>
            <a:pPr algn="ctr">
              <a:spcAft>
                <a:spcPts val="0"/>
              </a:spcAft>
            </a:pPr>
            <a:r>
              <a:rPr sz="900" b="0">
                <a:solidFill>
                  <a:srgbClr val="000000"/>
                </a:solidFill>
                <a:latin typeface="Arial"/>
              </a:rPr>
              <a:t>Kairos embeddings; cheap</a:t>
            </a:r>
          </a:p>
        </p:txBody>
      </p:sp>
      <p:cxnSp>
        <p:nvCxnSpPr>
          <p:cNvPr id="21" name="Connector 20"/>
          <p:cNvCxnSpPr/>
          <p:nvPr/>
        </p:nvCxnSpPr>
        <p:spPr>
          <a:xfrm>
            <a:off x="2834640" y="4306824"/>
            <a:ext cx="457200" cy="0"/>
          </a:xfrm>
          <a:prstGeom prst="line">
            <a:avLst/>
          </a:prstGeom>
          <a:ln w="19050">
            <a:solidFill>
              <a:srgbClr val="EE0000"/>
            </a:solidFill>
            <a:tailEnd type="triangle" w="med" len="med"/>
          </a:ln>
        </p:spPr>
      </p:cxnSp>
      <p:sp>
        <p:nvSpPr>
          <p:cNvPr id="22" name="TextBox 21"/>
          <p:cNvSpPr txBox="1"/>
          <p:nvPr/>
        </p:nvSpPr>
        <p:spPr>
          <a:xfrm>
            <a:off x="2807208" y="4041648"/>
            <a:ext cx="512064" cy="228600"/>
          </a:xfrm>
          <a:prstGeom prst="rect">
            <a:avLst/>
          </a:prstGeom>
          <a:noFill/>
        </p:spPr>
        <p:txBody>
          <a:bodyPr wrap="square" lIns="0" rIns="0" tIns="0" bIns="0" anchor="t">
            <a:spAutoFit/>
          </a:bodyPr>
          <a:lstStyle/>
          <a:p>
            <a:pPr algn="ctr">
              <a:spcAft>
                <a:spcPts val="0"/>
              </a:spcAft>
            </a:pPr>
            <a:r>
              <a:rPr sz="800" b="0">
                <a:solidFill>
                  <a:srgbClr val="EE0000"/>
                </a:solidFill>
                <a:latin typeface="Arial"/>
              </a:rPr>
              <a:t>on_fail</a:t>
            </a:r>
          </a:p>
        </p:txBody>
      </p:sp>
      <p:sp>
        <p:nvSpPr>
          <p:cNvPr id="23" name="Rectangle 22"/>
          <p:cNvSpPr/>
          <p:nvPr/>
        </p:nvSpPr>
        <p:spPr>
          <a:xfrm>
            <a:off x="3291840" y="4023360"/>
            <a:ext cx="2377440" cy="566928"/>
          </a:xfrm>
          <a:prstGeom prst="rect">
            <a:avLst/>
          </a:prstGeom>
          <a:solidFill>
            <a:srgbClr val="EE0000"/>
          </a:solidFill>
          <a:ln>
            <a:noFill/>
          </a:ln>
        </p:spPr>
        <p:txBody>
          <a:bodyPr rtlCol="0" anchor="ctr" wrap="square" lIns="73152" rIns="73152"/>
          <a:lstStyle/>
          <a:p>
            <a:pPr algn="ctr">
              <a:spcAft>
                <a:spcPts val="0"/>
              </a:spcAft>
            </a:pPr>
            <a:r>
              <a:rPr sz="1050" b="1">
                <a:solidFill>
                  <a:srgbClr val="FFFFFF"/>
                </a:solidFill>
                <a:latin typeface="Arial"/>
              </a:rPr>
              <a:t>Jev decision_model</a:t>
            </a:r>
          </a:p>
          <a:p>
            <a:pPr algn="ctr">
              <a:spcAft>
                <a:spcPts val="0"/>
              </a:spcAft>
            </a:pPr>
            <a:r>
              <a:rPr sz="900" b="0">
                <a:solidFill>
                  <a:srgbClr val="FFFFFF"/>
                </a:solidFill>
                <a:latin typeface="Arial"/>
              </a:rPr>
              <a:t>predicate checks</a:t>
            </a:r>
          </a:p>
        </p:txBody>
      </p:sp>
      <p:cxnSp>
        <p:nvCxnSpPr>
          <p:cNvPr id="24" name="Connector 23"/>
          <p:cNvCxnSpPr/>
          <p:nvPr/>
        </p:nvCxnSpPr>
        <p:spPr>
          <a:xfrm>
            <a:off x="5669280" y="4306824"/>
            <a:ext cx="457200" cy="0"/>
          </a:xfrm>
          <a:prstGeom prst="line">
            <a:avLst/>
          </a:prstGeom>
          <a:ln w="19050">
            <a:solidFill>
              <a:srgbClr val="EE0000"/>
            </a:solidFill>
            <a:tailEnd type="triangle" w="med" len="med"/>
          </a:ln>
        </p:spPr>
      </p:cxnSp>
      <p:sp>
        <p:nvSpPr>
          <p:cNvPr id="25" name="TextBox 24"/>
          <p:cNvSpPr txBox="1"/>
          <p:nvPr/>
        </p:nvSpPr>
        <p:spPr>
          <a:xfrm>
            <a:off x="5641848" y="4041648"/>
            <a:ext cx="512064" cy="228600"/>
          </a:xfrm>
          <a:prstGeom prst="rect">
            <a:avLst/>
          </a:prstGeom>
          <a:noFill/>
        </p:spPr>
        <p:txBody>
          <a:bodyPr wrap="square" lIns="0" rIns="0" tIns="0" bIns="0" anchor="t">
            <a:spAutoFit/>
          </a:bodyPr>
          <a:lstStyle/>
          <a:p>
            <a:pPr algn="ctr">
              <a:spcAft>
                <a:spcPts val="0"/>
              </a:spcAft>
            </a:pPr>
            <a:r>
              <a:rPr sz="800" b="0">
                <a:solidFill>
                  <a:srgbClr val="EE0000"/>
                </a:solidFill>
                <a:latin typeface="Arial"/>
              </a:rPr>
              <a:t>on_fail</a:t>
            </a:r>
          </a:p>
        </p:txBody>
      </p:sp>
      <p:sp>
        <p:nvSpPr>
          <p:cNvPr id="26" name="Rectangle 25"/>
          <p:cNvSpPr/>
          <p:nvPr/>
        </p:nvSpPr>
        <p:spPr>
          <a:xfrm>
            <a:off x="6126480" y="4023360"/>
            <a:ext cx="2377440" cy="566928"/>
          </a:xfrm>
          <a:prstGeom prst="rect">
            <a:avLst/>
          </a:prstGeom>
          <a:solidFill>
            <a:srgbClr val="000000"/>
          </a:solidFill>
          <a:ln>
            <a:noFill/>
          </a:ln>
        </p:spPr>
        <p:txBody>
          <a:bodyPr rtlCol="0" anchor="ctr" wrap="square" lIns="73152" rIns="73152"/>
          <a:lstStyle/>
          <a:p>
            <a:pPr algn="ctr">
              <a:spcAft>
                <a:spcPts val="0"/>
              </a:spcAft>
            </a:pPr>
            <a:r>
              <a:rPr sz="1050" b="1">
                <a:solidFill>
                  <a:srgbClr val="FFFFFF"/>
                </a:solidFill>
                <a:latin typeface="Arial"/>
              </a:rPr>
              <a:t>llm_as_a_judge</a:t>
            </a:r>
          </a:p>
          <a:p>
            <a:pPr algn="ctr">
              <a:spcAft>
                <a:spcPts val="0"/>
              </a:spcAft>
            </a:pPr>
            <a:r>
              <a:rPr sz="900" b="0">
                <a:solidFill>
                  <a:srgbClr val="FFFFFF"/>
                </a:solidFill>
                <a:latin typeface="Arial"/>
              </a:rPr>
              <a:t>grey zone only</a:t>
            </a:r>
          </a:p>
        </p:txBody>
      </p:sp>
      <p:cxnSp>
        <p:nvCxnSpPr>
          <p:cNvPr id="27" name="Connector 26"/>
          <p:cNvCxnSpPr/>
          <p:nvPr/>
        </p:nvCxnSpPr>
        <p:spPr>
          <a:xfrm>
            <a:off x="8503920" y="4306824"/>
            <a:ext cx="457200" cy="0"/>
          </a:xfrm>
          <a:prstGeom prst="line">
            <a:avLst/>
          </a:prstGeom>
          <a:ln w="19050">
            <a:solidFill>
              <a:srgbClr val="747676"/>
            </a:solidFill>
            <a:tailEnd type="triangle" w="med" len="med"/>
          </a:ln>
        </p:spPr>
      </p:cxnSp>
      <p:sp>
        <p:nvSpPr>
          <p:cNvPr id="28" name="TextBox 27"/>
          <p:cNvSpPr txBox="1"/>
          <p:nvPr/>
        </p:nvSpPr>
        <p:spPr>
          <a:xfrm>
            <a:off x="8476488" y="4041648"/>
            <a:ext cx="512064" cy="228600"/>
          </a:xfrm>
          <a:prstGeom prst="rect">
            <a:avLst/>
          </a:prstGeom>
          <a:noFill/>
        </p:spPr>
        <p:txBody>
          <a:bodyPr wrap="square" lIns="0" rIns="0" tIns="0" bIns="0" anchor="t">
            <a:spAutoFit/>
          </a:bodyPr>
          <a:lstStyle/>
          <a:p>
            <a:pPr algn="ctr">
              <a:spcAft>
                <a:spcPts val="0"/>
              </a:spcAft>
            </a:pPr>
          </a:p>
        </p:txBody>
      </p:sp>
      <p:sp>
        <p:nvSpPr>
          <p:cNvPr id="29" name="Rectangle 28"/>
          <p:cNvSpPr/>
          <p:nvPr/>
        </p:nvSpPr>
        <p:spPr>
          <a:xfrm>
            <a:off x="8961120" y="4023360"/>
            <a:ext cx="2377440" cy="566928"/>
          </a:xfrm>
          <a:prstGeom prst="rect">
            <a:avLst/>
          </a:prstGeom>
          <a:solidFill>
            <a:srgbClr val="FFFFFF"/>
          </a:solidFill>
          <a:ln w="9525">
            <a:solidFill>
              <a:srgbClr val="D8DADA"/>
            </a:solidFill>
          </a:ln>
        </p:spPr>
        <p:txBody>
          <a:bodyPr rtlCol="0" anchor="ctr" wrap="square" lIns="73152" rIns="73152"/>
          <a:lstStyle/>
          <a:p>
            <a:pPr algn="ctr">
              <a:spcAft>
                <a:spcPts val="0"/>
              </a:spcAft>
            </a:pPr>
            <a:r>
              <a:rPr sz="1050" b="1">
                <a:solidFill>
                  <a:srgbClr val="000000"/>
                </a:solidFill>
                <a:latin typeface="Arial"/>
              </a:rPr>
              <a:t>verdict</a:t>
            </a:r>
          </a:p>
          <a:p>
            <a:pPr algn="ctr">
              <a:spcAft>
                <a:spcPts val="0"/>
              </a:spcAft>
            </a:pPr>
            <a:r>
              <a:rPr sz="900" b="0">
                <a:solidFill>
                  <a:srgbClr val="000000"/>
                </a:solidFill>
                <a:latin typeface="Arial"/>
              </a:rPr>
              <a:t>allow · 400 block · log</a:t>
            </a:r>
          </a:p>
        </p:txBody>
      </p:sp>
      <p:sp>
        <p:nvSpPr>
          <p:cNvPr id="30" name="Rectangle 29"/>
          <p:cNvSpPr/>
          <p:nvPr/>
        </p:nvSpPr>
        <p:spPr>
          <a:xfrm>
            <a:off x="457200" y="4709160"/>
            <a:ext cx="5669280" cy="1645920"/>
          </a:xfrm>
          <a:prstGeom prst="rect">
            <a:avLst/>
          </a:prstGeom>
          <a:solidFill>
            <a:srgbClr val="111111"/>
          </a:solidFill>
          <a:ln>
            <a:noFill/>
          </a:ln>
        </p:spPr>
        <p:txBody>
          <a:bodyPr rtlCol="0" anchor="ctr" wrap="square" lIns="73152" rIns="73152"/>
          <a:lstStyle/>
          <a:p>
            <a:pPr algn="ctr"/>
          </a:p>
        </p:txBody>
      </p:sp>
      <p:sp>
        <p:nvSpPr>
          <p:cNvPr id="31" name="TextBox 30"/>
          <p:cNvSpPr txBox="1"/>
          <p:nvPr/>
        </p:nvSpPr>
        <p:spPr>
          <a:xfrm>
            <a:off x="594360" y="4782312"/>
            <a:ext cx="5394960" cy="228600"/>
          </a:xfrm>
          <a:prstGeom prst="rect">
            <a:avLst/>
          </a:prstGeom>
          <a:noFill/>
        </p:spPr>
        <p:txBody>
          <a:bodyPr wrap="square" lIns="0" rIns="0" tIns="0" bIns="0" anchor="t">
            <a:spAutoFit/>
          </a:bodyPr>
          <a:lstStyle/>
          <a:p>
            <a:pPr algn="l">
              <a:spcAft>
                <a:spcPts val="400"/>
              </a:spcAft>
            </a:pPr>
            <a:r>
              <a:rPr sz="900" b="1">
                <a:solidFill>
                  <a:srgbClr val="D8DADA"/>
                </a:solidFill>
                <a:latin typeface="Arial"/>
              </a:rPr>
              <a:t>Sketch: start with action: log, promote to block after calibration</a:t>
            </a:r>
          </a:p>
        </p:txBody>
      </p:sp>
      <p:sp>
        <p:nvSpPr>
          <p:cNvPr id="32" name="TextBox 31"/>
          <p:cNvSpPr txBox="1"/>
          <p:nvPr/>
        </p:nvSpPr>
        <p:spPr>
          <a:xfrm>
            <a:off x="594360" y="5038344"/>
            <a:ext cx="5394960" cy="1271015"/>
          </a:xfrm>
          <a:prstGeom prst="rect">
            <a:avLst/>
          </a:prstGeom>
          <a:noFill/>
        </p:spPr>
        <p:txBody>
          <a:bodyPr wrap="square" lIns="0" rIns="0" tIns="0" bIns="0" anchor="t">
            <a:spAutoFit/>
          </a:bodyPr>
          <a:lstStyle/>
          <a:p>
            <a:pPr algn="l">
              <a:spcAft>
                <a:spcPts val="0"/>
              </a:spcAft>
            </a:pPr>
            <a:r>
              <a:rPr sz="850" b="0">
                <a:solidFill>
                  <a:srgbClr val="F2F2F2"/>
                </a:solidFill>
                <a:latin typeface="Courier New"/>
                <a:cs typeface="Courier New"/>
              </a:rPr>
              <a:t>guardrails:</a:t>
            </a:r>
          </a:p>
          <a:p>
            <a:pPr algn="l">
              <a:spcAft>
                <a:spcPts val="0"/>
              </a:spcAft>
            </a:pPr>
            <a:r>
              <a:rPr sz="850" b="0">
                <a:solidFill>
                  <a:srgbClr val="F2F2F2"/>
                </a:solidFill>
                <a:latin typeface="Courier New"/>
                <a:cs typeface="Courier New"/>
              </a:rPr>
              <a:t>  - guardrail_name: jev-injection</a:t>
            </a:r>
          </a:p>
          <a:p>
            <a:pPr algn="l">
              <a:spcAft>
                <a:spcPts val="0"/>
              </a:spcAft>
            </a:pPr>
            <a:r>
              <a:rPr sz="850" b="0">
                <a:solidFill>
                  <a:srgbClr val="F2F2F2"/>
                </a:solidFill>
                <a:latin typeface="Courier New"/>
                <a:cs typeface="Courier New"/>
              </a:rPr>
              <a:t>    litellm_params:</a:t>
            </a:r>
          </a:p>
          <a:p>
            <a:pPr algn="l">
              <a:spcAft>
                <a:spcPts val="0"/>
              </a:spcAft>
            </a:pPr>
            <a:r>
              <a:rPr sz="850" b="0">
                <a:solidFill>
                  <a:srgbClr val="F2F2F2"/>
                </a:solidFill>
                <a:latin typeface="Courier New"/>
                <a:cs typeface="Courier New"/>
              </a:rPr>
              <a:t>      guardrail: decision_model</a:t>
            </a:r>
          </a:p>
          <a:p>
            <a:pPr algn="l">
              <a:spcAft>
                <a:spcPts val="0"/>
              </a:spcAft>
            </a:pPr>
            <a:r>
              <a:rPr sz="850" b="0">
                <a:solidFill>
                  <a:srgbClr val="F2F2F2"/>
                </a:solidFill>
                <a:latin typeface="Courier New"/>
                <a:cs typeface="Courier New"/>
              </a:rPr>
              <a:t>      mode: pre_call</a:t>
            </a:r>
          </a:p>
          <a:p>
            <a:pPr algn="l">
              <a:spcAft>
                <a:spcPts val="0"/>
              </a:spcAft>
            </a:pPr>
            <a:r>
              <a:rPr sz="850" b="0">
                <a:solidFill>
                  <a:srgbClr val="F2F2F2"/>
                </a:solidFill>
                <a:latin typeface="Courier New"/>
                <a:cs typeface="Courier New"/>
              </a:rPr>
              <a:t>      decision_model: jev-decision-v1  # model_info.mode: evaluation</a:t>
            </a:r>
          </a:p>
          <a:p>
            <a:pPr algn="l">
              <a:spcAft>
                <a:spcPts val="0"/>
              </a:spcAft>
            </a:pPr>
            <a:r>
              <a:rPr sz="850" b="0">
                <a:solidFill>
                  <a:srgbClr val="F2F2F2"/>
                </a:solidFill>
                <a:latin typeface="Courier New"/>
                <a:cs typeface="Courier New"/>
              </a:rPr>
              <a:t>      checks:</a:t>
            </a:r>
          </a:p>
          <a:p>
            <a:pPr algn="l">
              <a:spcAft>
                <a:spcPts val="0"/>
              </a:spcAft>
            </a:pPr>
            <a:r>
              <a:rPr sz="850" b="0">
                <a:solidFill>
                  <a:srgbClr val="F2F2F2"/>
                </a:solidFill>
                <a:latin typeface="Courier New"/>
                <a:cs typeface="Courier New"/>
              </a:rPr>
              <a:t>        - {name: injection, instructions: "...", threshold: 0.7, action: log}</a:t>
            </a:r>
          </a:p>
          <a:p>
            <a:pPr algn="l">
              <a:spcAft>
                <a:spcPts val="0"/>
              </a:spcAft>
            </a:pPr>
            <a:r>
              <a:rPr sz="850" b="0">
                <a:solidFill>
                  <a:srgbClr val="F2F2F2"/>
                </a:solidFill>
                <a:latin typeface="Courier New"/>
                <a:cs typeface="Courier New"/>
              </a:rPr>
              <a:t>      unreachable_fallback: fail_closed</a:t>
            </a:r>
          </a:p>
        </p:txBody>
      </p:sp>
      <p:sp>
        <p:nvSpPr>
          <p:cNvPr id="33" name="TextBox 32"/>
          <p:cNvSpPr txBox="1"/>
          <p:nvPr/>
        </p:nvSpPr>
        <p:spPr>
          <a:xfrm>
            <a:off x="6355080" y="4709160"/>
            <a:ext cx="5376672" cy="1645920"/>
          </a:xfrm>
          <a:prstGeom prst="rect">
            <a:avLst/>
          </a:prstGeom>
          <a:noFill/>
        </p:spPr>
        <p:txBody>
          <a:bodyPr wrap="square" lIns="0" rIns="0" tIns="0" bIns="0" anchor="t">
            <a:spAutoFit/>
          </a:bodyPr>
          <a:lstStyle/>
          <a:p>
            <a:pPr algn="l" marL="108585" indent="-108585">
              <a:spcAft>
                <a:spcPts val="300"/>
              </a:spcAft>
              <a:buClr>
                <a:srgbClr val="747676"/>
              </a:buClr>
              <a:buFont typeface="Arial"/>
              <a:buChar char="•"/>
            </a:pPr>
            <a:r>
              <a:rPr sz="950" b="0">
                <a:solidFill>
                  <a:srgbClr val="333333"/>
                </a:solidFill>
                <a:latin typeface="Arial"/>
              </a:rPr>
              <a:t>Predicate questions only; ≤128 checks; default threshold 0.7; max_input_chars 24000 with 2000-char overlap</a:t>
            </a:r>
          </a:p>
          <a:p>
            <a:pPr algn="l" marL="108585" indent="-108585">
              <a:spcAft>
                <a:spcPts val="300"/>
              </a:spcAft>
              <a:buClr>
                <a:srgbClr val="747676"/>
              </a:buClr>
              <a:buFont typeface="Arial"/>
              <a:buChar char="•"/>
            </a:pPr>
            <a:r>
              <a:rPr sz="950" b="0">
                <a:solidFill>
                  <a:srgbClr val="333333"/>
                </a:solidFill>
                <a:latin typeface="Arial"/>
              </a:rPr>
              <a:t>Block → 400; fail_closed → 502</a:t>
            </a:r>
          </a:p>
          <a:p>
            <a:pPr algn="l" marL="108585" indent="-108585">
              <a:spcAft>
                <a:spcPts val="300"/>
              </a:spcAft>
              <a:buClr>
                <a:srgbClr val="747676"/>
              </a:buClr>
              <a:buFont typeface="Arial"/>
              <a:buChar char="•"/>
            </a:pPr>
            <a:r>
              <a:rPr sz="950" b="1">
                <a:solidFill>
                  <a:srgbClr val="EE0000"/>
                </a:solidFill>
                <a:latin typeface="Arial"/>
              </a:rPr>
              <a:t>Decision calls write no spend rows:</a:t>
            </a:r>
            <a:r>
              <a:rPr sz="950" b="0">
                <a:solidFill>
                  <a:srgbClr val="333333"/>
                </a:solidFill>
                <a:latin typeface="Arial"/>
              </a:rPr>
              <a:t> budget them separately</a:t>
            </a:r>
          </a:p>
          <a:p>
            <a:pPr algn="l" marL="108585" indent="-108585">
              <a:spcAft>
                <a:spcPts val="300"/>
              </a:spcAft>
              <a:buClr>
                <a:srgbClr val="747676"/>
              </a:buClr>
              <a:buFont typeface="Arial"/>
              <a:buChar char="•"/>
            </a:pPr>
            <a:r>
              <a:rPr sz="950" b="0">
                <a:solidFill>
                  <a:srgbClr val="333333"/>
                </a:solidFill>
                <a:latin typeface="Arial"/>
              </a:rPr>
              <a:t>Streaming post_call makes N calls → streaming_end_of_stream_only</a:t>
            </a:r>
          </a:p>
          <a:p>
            <a:pPr algn="l" marL="108585" indent="-108585">
              <a:spcAft>
                <a:spcPts val="300"/>
              </a:spcAft>
              <a:buClr>
                <a:srgbClr val="747676"/>
              </a:buClr>
              <a:buFont typeface="Arial"/>
              <a:buChar char="•"/>
            </a:pPr>
            <a:r>
              <a:rPr sz="950" b="0">
                <a:solidFill>
                  <a:srgbClr val="333333"/>
                </a:solidFill>
                <a:latin typeface="Arial"/>
              </a:rPr>
              <a:t>~80–130 ms class reference </a:t>
            </a:r>
            <a:r>
              <a:rPr sz="950" b="0">
                <a:solidFill>
                  <a:srgbClr val="747676"/>
                </a:solidFill>
                <a:latin typeface="Arial"/>
              </a:rPr>
              <a:t>(vendor claim, Haiku-class comparison)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MCP GOVERNANCE</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MCP governance: scan tool descriptions and results, and make every MCP guardrail default-on</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Sources: docs.litellm.ai/docs/mcp_guardrail · /proxy/tool_policies · /proxy/guardrails/microsoft_agent_365.</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13</a:t>
            </a:r>
          </a:p>
        </p:txBody>
      </p:sp>
      <p:sp>
        <p:nvSpPr>
          <p:cNvPr id="8" name="Rectangle 7"/>
          <p:cNvSpPr/>
          <p:nvPr/>
        </p:nvSpPr>
        <p:spPr>
          <a:xfrm>
            <a:off x="457200" y="1371600"/>
            <a:ext cx="1097280" cy="3337560"/>
          </a:xfrm>
          <a:prstGeom prst="rect">
            <a:avLst/>
          </a:prstGeom>
          <a:solidFill>
            <a:srgbClr val="F6F6F6"/>
          </a:solidFill>
          <a:ln>
            <a:noFill/>
          </a:ln>
        </p:spPr>
        <p:txBody>
          <a:bodyPr rtlCol="0" anchor="ctr" wrap="square" lIns="73152" rIns="73152"/>
          <a:lstStyle/>
          <a:p>
            <a:pPr algn="ctr">
              <a:spcAft>
                <a:spcPts val="200"/>
              </a:spcAft>
            </a:pPr>
            <a:r>
              <a:rPr sz="1100" b="1">
                <a:solidFill>
                  <a:srgbClr val="000000"/>
                </a:solidFill>
                <a:latin typeface="Arial"/>
              </a:rPr>
              <a:t>Agent</a:t>
            </a:r>
          </a:p>
          <a:p>
            <a:pPr algn="ctr">
              <a:spcAft>
                <a:spcPts val="200"/>
              </a:spcAft>
            </a:pPr>
            <a:r>
              <a:rPr sz="900" b="0">
                <a:solidFill>
                  <a:srgbClr val="000000"/>
                </a:solidFill>
                <a:latin typeface="Arial"/>
              </a:rPr>
              <a:t>via Kairos Gateway MCP</a:t>
            </a:r>
          </a:p>
        </p:txBody>
      </p:sp>
      <p:sp>
        <p:nvSpPr>
          <p:cNvPr id="9" name="Rectangle 8"/>
          <p:cNvSpPr/>
          <p:nvPr/>
        </p:nvSpPr>
        <p:spPr>
          <a:xfrm>
            <a:off x="1783080" y="1371600"/>
            <a:ext cx="7406640" cy="3337560"/>
          </a:xfrm>
          <a:prstGeom prst="rect">
            <a:avLst/>
          </a:prstGeom>
          <a:noFill/>
          <a:ln w="15875">
            <a:solidFill>
              <a:srgbClr val="000000"/>
            </a:solidFill>
          </a:ln>
        </p:spPr>
        <p:txBody>
          <a:bodyPr rtlCol="0" anchor="ctr" wrap="square" lIns="73152" rIns="73152"/>
          <a:lstStyle/>
          <a:p>
            <a:pPr algn="ctr"/>
          </a:p>
        </p:txBody>
      </p:sp>
      <p:sp>
        <p:nvSpPr>
          <p:cNvPr id="10" name="TextBox 9"/>
          <p:cNvSpPr txBox="1"/>
          <p:nvPr/>
        </p:nvSpPr>
        <p:spPr>
          <a:xfrm>
            <a:off x="1920240" y="1408176"/>
            <a:ext cx="640080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Kairos Gateway: MCP path</a:t>
            </a:r>
            <a:r>
              <a:rPr sz="1050" b="0">
                <a:solidFill>
                  <a:srgbClr val="747676"/>
                </a:solidFill>
                <a:latin typeface="Arial"/>
              </a:rPr>
              <a:t>  (verified)</a:t>
            </a:r>
          </a:p>
        </p:txBody>
      </p:sp>
      <p:sp>
        <p:nvSpPr>
          <p:cNvPr id="11" name="Rectangle 10"/>
          <p:cNvSpPr/>
          <p:nvPr/>
        </p:nvSpPr>
        <p:spPr>
          <a:xfrm>
            <a:off x="1920240" y="1755648"/>
            <a:ext cx="1188720" cy="731520"/>
          </a:xfrm>
          <a:prstGeom prst="rect">
            <a:avLst/>
          </a:prstGeom>
          <a:solidFill>
            <a:srgbClr val="FFFFFF"/>
          </a:solidFill>
          <a:ln w="9525">
            <a:solidFill>
              <a:srgbClr val="747676"/>
            </a:solidFill>
          </a:ln>
        </p:spPr>
        <p:txBody>
          <a:bodyPr rtlCol="0" anchor="ctr" wrap="square" lIns="73152" rIns="73152"/>
          <a:lstStyle/>
          <a:p>
            <a:pPr algn="ctr">
              <a:spcAft>
                <a:spcPts val="200"/>
              </a:spcAft>
            </a:pPr>
            <a:r>
              <a:rPr sz="1000" b="1">
                <a:solidFill>
                  <a:srgbClr val="000000"/>
                </a:solidFill>
                <a:latin typeface="Arial"/>
              </a:rPr>
              <a:t>tools/list</a:t>
            </a:r>
          </a:p>
        </p:txBody>
      </p:sp>
      <p:sp>
        <p:nvSpPr>
          <p:cNvPr id="12" name="Rectangle 11"/>
          <p:cNvSpPr/>
          <p:nvPr/>
        </p:nvSpPr>
        <p:spPr>
          <a:xfrm>
            <a:off x="3337560" y="1755648"/>
            <a:ext cx="2697480" cy="731520"/>
          </a:xfrm>
          <a:prstGeom prst="rect">
            <a:avLst/>
          </a:prstGeom>
          <a:solidFill>
            <a:srgbClr val="000000"/>
          </a:solidFill>
          <a:ln>
            <a:noFill/>
          </a:ln>
        </p:spPr>
        <p:txBody>
          <a:bodyPr rtlCol="0" anchor="ctr" wrap="square" lIns="73152" rIns="73152"/>
          <a:lstStyle/>
          <a:p>
            <a:pPr algn="ctr">
              <a:spcAft>
                <a:spcPts val="100"/>
              </a:spcAft>
            </a:pPr>
            <a:r>
              <a:rPr sz="1050" b="1">
                <a:solidFill>
                  <a:srgbClr val="FFFFFF"/>
                </a:solidFill>
                <a:latin typeface="Arial"/>
              </a:rPr>
              <a:t>pre_mcp_call</a:t>
            </a:r>
          </a:p>
          <a:p>
            <a:pPr algn="ctr">
              <a:spcAft>
                <a:spcPts val="100"/>
              </a:spcAft>
            </a:pPr>
            <a:r>
              <a:rPr sz="950" b="0">
                <a:solidFill>
                  <a:srgbClr val="FFFFFF"/>
                </a:solidFill>
                <a:latin typeface="Arial"/>
              </a:rPr>
              <a:t>scans every tool description</a:t>
            </a:r>
          </a:p>
        </p:txBody>
      </p:sp>
      <p:sp>
        <p:nvSpPr>
          <p:cNvPr id="13" name="Rectangle 12"/>
          <p:cNvSpPr/>
          <p:nvPr/>
        </p:nvSpPr>
        <p:spPr>
          <a:xfrm>
            <a:off x="6263640" y="1755648"/>
            <a:ext cx="2788920" cy="731520"/>
          </a:xfrm>
          <a:prstGeom prst="rect">
            <a:avLst/>
          </a:prstGeom>
          <a:solidFill>
            <a:srgbClr val="EE0000"/>
          </a:solidFill>
          <a:ln>
            <a:noFill/>
          </a:ln>
        </p:spPr>
        <p:txBody>
          <a:bodyPr rtlCol="0" anchor="ctr" wrap="square" lIns="73152" rIns="73152"/>
          <a:lstStyle/>
          <a:p>
            <a:pPr algn="ctr">
              <a:spcAft>
                <a:spcPts val="100"/>
              </a:spcAft>
            </a:pPr>
            <a:r>
              <a:rPr sz="1050" b="1">
                <a:solidFill>
                  <a:srgbClr val="FFFFFF"/>
                </a:solidFill>
                <a:latin typeface="Arial"/>
              </a:rPr>
              <a:t>Poisoned tool hidden</a:t>
            </a:r>
          </a:p>
          <a:p>
            <a:pPr algn="ctr">
              <a:spcAft>
                <a:spcPts val="100"/>
              </a:spcAft>
            </a:pPr>
            <a:r>
              <a:rPr sz="950" b="0">
                <a:solidFill>
                  <a:srgbClr val="FFFFFF"/>
                </a:solidFill>
                <a:latin typeface="Arial"/>
              </a:rPr>
              <a:t>alert: mcp_tool_description_blocked</a:t>
            </a:r>
          </a:p>
        </p:txBody>
      </p:sp>
      <p:cxnSp>
        <p:nvCxnSpPr>
          <p:cNvPr id="14" name="Connector 13"/>
          <p:cNvCxnSpPr/>
          <p:nvPr/>
        </p:nvCxnSpPr>
        <p:spPr>
          <a:xfrm>
            <a:off x="3108960" y="2121408"/>
            <a:ext cx="228600" cy="0"/>
          </a:xfrm>
          <a:prstGeom prst="line">
            <a:avLst/>
          </a:prstGeom>
          <a:ln w="15875">
            <a:solidFill>
              <a:srgbClr val="747676"/>
            </a:solidFill>
            <a:tailEnd type="triangle" w="med" len="med"/>
          </a:ln>
        </p:spPr>
      </p:cxnSp>
      <p:cxnSp>
        <p:nvCxnSpPr>
          <p:cNvPr id="15" name="Connector 14"/>
          <p:cNvCxnSpPr/>
          <p:nvPr/>
        </p:nvCxnSpPr>
        <p:spPr>
          <a:xfrm>
            <a:off x="6035040" y="2121408"/>
            <a:ext cx="228600" cy="0"/>
          </a:xfrm>
          <a:prstGeom prst="line">
            <a:avLst/>
          </a:prstGeom>
          <a:ln w="19050">
            <a:solidFill>
              <a:srgbClr val="EE0000"/>
            </a:solidFill>
            <a:tailEnd type="triangle" w="med" len="med"/>
          </a:ln>
        </p:spPr>
      </p:cxnSp>
      <p:sp>
        <p:nvSpPr>
          <p:cNvPr id="16" name="Rectangle 15"/>
          <p:cNvSpPr/>
          <p:nvPr/>
        </p:nvSpPr>
        <p:spPr>
          <a:xfrm>
            <a:off x="1920240" y="2670048"/>
            <a:ext cx="1188720" cy="914400"/>
          </a:xfrm>
          <a:prstGeom prst="rect">
            <a:avLst/>
          </a:prstGeom>
          <a:solidFill>
            <a:srgbClr val="FFFFFF"/>
          </a:solidFill>
          <a:ln w="9525">
            <a:solidFill>
              <a:srgbClr val="747676"/>
            </a:solidFill>
          </a:ln>
        </p:spPr>
        <p:txBody>
          <a:bodyPr rtlCol="0" anchor="ctr" wrap="square" lIns="73152" rIns="73152"/>
          <a:lstStyle/>
          <a:p>
            <a:pPr algn="ctr">
              <a:spcAft>
                <a:spcPts val="200"/>
              </a:spcAft>
            </a:pPr>
            <a:r>
              <a:rPr sz="1000" b="1">
                <a:solidFill>
                  <a:srgbClr val="000000"/>
                </a:solidFill>
                <a:latin typeface="Arial"/>
              </a:rPr>
              <a:t>tools/call</a:t>
            </a:r>
          </a:p>
        </p:txBody>
      </p:sp>
      <p:sp>
        <p:nvSpPr>
          <p:cNvPr id="17" name="Rectangle 16"/>
          <p:cNvSpPr/>
          <p:nvPr/>
        </p:nvSpPr>
        <p:spPr>
          <a:xfrm>
            <a:off x="3337560" y="2670048"/>
            <a:ext cx="2697480" cy="914400"/>
          </a:xfrm>
          <a:prstGeom prst="rect">
            <a:avLst/>
          </a:prstGeom>
          <a:solidFill>
            <a:srgbClr val="000000"/>
          </a:solidFill>
          <a:ln>
            <a:noFill/>
          </a:ln>
        </p:spPr>
        <p:txBody>
          <a:bodyPr rtlCol="0" anchor="ctr" wrap="square" lIns="73152" rIns="73152"/>
          <a:lstStyle/>
          <a:p>
            <a:pPr algn="ctr">
              <a:spcAft>
                <a:spcPts val="0"/>
              </a:spcAft>
            </a:pPr>
            <a:r>
              <a:rPr sz="1050" b="1">
                <a:solidFill>
                  <a:srgbClr val="FFFFFF"/>
                </a:solidFill>
                <a:latin typeface="Arial"/>
              </a:rPr>
              <a:t>pre_mcp_call</a:t>
            </a:r>
          </a:p>
          <a:p>
            <a:pPr algn="ctr">
              <a:spcAft>
                <a:spcPts val="0"/>
              </a:spcAft>
            </a:pPr>
            <a:r>
              <a:rPr sz="900" b="0">
                <a:solidFill>
                  <a:srgbClr val="FFFFFF"/>
                </a:solidFill>
                <a:latin typeface="Arial"/>
              </a:rPr>
              <a:t>mcp_security · tool_permission (allow / deny)</a:t>
            </a:r>
          </a:p>
          <a:p>
            <a:pPr algn="ctr">
              <a:spcAft>
                <a:spcPts val="0"/>
              </a:spcAft>
            </a:pPr>
            <a:r>
              <a:rPr sz="900" b="0">
                <a:solidFill>
                  <a:srgbClr val="FFFFFF"/>
                </a:solidFill>
                <a:latin typeface="Arial"/>
              </a:rPr>
              <a:t>Tool Policies input: untrusted / trusted / blocked</a:t>
            </a:r>
          </a:p>
          <a:p>
            <a:pPr algn="ctr">
              <a:spcAft>
                <a:spcPts val="0"/>
              </a:spcAft>
            </a:pPr>
            <a:r>
              <a:rPr sz="900" b="0">
                <a:solidFill>
                  <a:srgbClr val="FFFFFF"/>
                </a:solidFill>
                <a:latin typeface="Arial"/>
              </a:rPr>
              <a:t>agent_365 (Defender)</a:t>
            </a:r>
          </a:p>
        </p:txBody>
      </p:sp>
      <p:cxnSp>
        <p:nvCxnSpPr>
          <p:cNvPr id="18" name="Connector 17"/>
          <p:cNvCxnSpPr/>
          <p:nvPr/>
        </p:nvCxnSpPr>
        <p:spPr>
          <a:xfrm>
            <a:off x="3108960" y="3127248"/>
            <a:ext cx="228600" cy="0"/>
          </a:xfrm>
          <a:prstGeom prst="line">
            <a:avLst/>
          </a:prstGeom>
          <a:ln w="15875">
            <a:solidFill>
              <a:srgbClr val="747676"/>
            </a:solidFill>
            <a:tailEnd type="triangle" w="med" len="med"/>
          </a:ln>
        </p:spPr>
      </p:cxnSp>
      <p:cxnSp>
        <p:nvCxnSpPr>
          <p:cNvPr id="19" name="Connector 18"/>
          <p:cNvCxnSpPr/>
          <p:nvPr/>
        </p:nvCxnSpPr>
        <p:spPr>
          <a:xfrm>
            <a:off x="6035040" y="3127248"/>
            <a:ext cx="3429000" cy="0"/>
          </a:xfrm>
          <a:prstGeom prst="line">
            <a:avLst/>
          </a:prstGeom>
          <a:ln w="19050">
            <a:solidFill>
              <a:srgbClr val="000000"/>
            </a:solidFill>
            <a:tailEnd type="triangle" w="med" len="med"/>
          </a:ln>
        </p:spPr>
      </p:cxnSp>
      <p:sp>
        <p:nvSpPr>
          <p:cNvPr id="20" name="TextBox 19"/>
          <p:cNvSpPr txBox="1"/>
          <p:nvPr/>
        </p:nvSpPr>
        <p:spPr>
          <a:xfrm>
            <a:off x="6172200" y="2852928"/>
            <a:ext cx="2834640" cy="256032"/>
          </a:xfrm>
          <a:prstGeom prst="rect">
            <a:avLst/>
          </a:prstGeom>
          <a:noFill/>
        </p:spPr>
        <p:txBody>
          <a:bodyPr wrap="square" lIns="0" rIns="0" tIns="0" bIns="0" anchor="t">
            <a:spAutoFit/>
          </a:bodyPr>
          <a:lstStyle/>
          <a:p>
            <a:pPr algn="l">
              <a:spcAft>
                <a:spcPts val="0"/>
              </a:spcAft>
            </a:pPr>
            <a:r>
              <a:rPr sz="900" b="0">
                <a:solidFill>
                  <a:srgbClr val="747676"/>
                </a:solidFill>
                <a:latin typeface="Arial"/>
              </a:rPr>
              <a:t>allowed call</a:t>
            </a:r>
          </a:p>
        </p:txBody>
      </p:sp>
      <p:sp>
        <p:nvSpPr>
          <p:cNvPr id="21" name="Rectangle 20"/>
          <p:cNvSpPr/>
          <p:nvPr/>
        </p:nvSpPr>
        <p:spPr>
          <a:xfrm>
            <a:off x="3337560" y="3703320"/>
            <a:ext cx="2697480" cy="731520"/>
          </a:xfrm>
          <a:prstGeom prst="rect">
            <a:avLst/>
          </a:prstGeom>
          <a:solidFill>
            <a:srgbClr val="000000"/>
          </a:solidFill>
          <a:ln>
            <a:noFill/>
          </a:ln>
        </p:spPr>
        <p:txBody>
          <a:bodyPr rtlCol="0" anchor="ctr" wrap="square" lIns="73152" rIns="73152"/>
          <a:lstStyle/>
          <a:p>
            <a:pPr algn="ctr">
              <a:spcAft>
                <a:spcPts val="0"/>
              </a:spcAft>
            </a:pPr>
            <a:r>
              <a:rPr sz="1050" b="1">
                <a:solidFill>
                  <a:srgbClr val="FFFFFF"/>
                </a:solidFill>
                <a:latin typeface="Arial"/>
              </a:rPr>
              <a:t>post_mcp_call</a:t>
            </a:r>
          </a:p>
          <a:p>
            <a:pPr algn="ctr">
              <a:spcAft>
                <a:spcPts val="0"/>
              </a:spcAft>
            </a:pPr>
            <a:r>
              <a:rPr sz="900" b="0">
                <a:solidFill>
                  <a:srgbClr val="FFFFFF"/>
                </a:solidFill>
                <a:latin typeface="Arial"/>
              </a:rPr>
              <a:t>scans CallToolResult · output: untrusted / trusted</a:t>
            </a:r>
          </a:p>
        </p:txBody>
      </p:sp>
      <p:cxnSp>
        <p:nvCxnSpPr>
          <p:cNvPr id="22" name="Connector 21"/>
          <p:cNvCxnSpPr/>
          <p:nvPr/>
        </p:nvCxnSpPr>
        <p:spPr>
          <a:xfrm flipH="1">
            <a:off x="6035040" y="4069080"/>
            <a:ext cx="3429000" cy="0"/>
          </a:xfrm>
          <a:prstGeom prst="line">
            <a:avLst/>
          </a:prstGeom>
          <a:ln w="19050">
            <a:solidFill>
              <a:srgbClr val="000000"/>
            </a:solidFill>
            <a:tailEnd type="triangle" w="med" len="med"/>
          </a:ln>
        </p:spPr>
      </p:cxnSp>
      <p:cxnSp>
        <p:nvCxnSpPr>
          <p:cNvPr id="23" name="Connector 22"/>
          <p:cNvCxnSpPr/>
          <p:nvPr/>
        </p:nvCxnSpPr>
        <p:spPr>
          <a:xfrm flipH="1">
            <a:off x="1554480" y="4069080"/>
            <a:ext cx="1783080" cy="0"/>
          </a:xfrm>
          <a:prstGeom prst="line">
            <a:avLst/>
          </a:prstGeom>
          <a:ln w="19050">
            <a:solidFill>
              <a:srgbClr val="000000"/>
            </a:solidFill>
            <a:tailEnd type="triangle" w="med" len="med"/>
          </a:ln>
        </p:spPr>
      </p:cxnSp>
      <p:sp>
        <p:nvSpPr>
          <p:cNvPr id="24" name="TextBox 23"/>
          <p:cNvSpPr txBox="1"/>
          <p:nvPr/>
        </p:nvSpPr>
        <p:spPr>
          <a:xfrm>
            <a:off x="6172200" y="4114800"/>
            <a:ext cx="2926080" cy="256032"/>
          </a:xfrm>
          <a:prstGeom prst="rect">
            <a:avLst/>
          </a:prstGeom>
          <a:noFill/>
        </p:spPr>
        <p:txBody>
          <a:bodyPr wrap="square" lIns="0" rIns="0" tIns="0" bIns="0" anchor="t">
            <a:spAutoFit/>
          </a:bodyPr>
          <a:lstStyle/>
          <a:p>
            <a:pPr algn="l">
              <a:spcAft>
                <a:spcPts val="0"/>
              </a:spcAft>
            </a:pPr>
            <a:r>
              <a:rPr sz="900" b="0">
                <a:solidFill>
                  <a:srgbClr val="747676"/>
                </a:solidFill>
                <a:latin typeface="Arial"/>
              </a:rPr>
              <a:t>tool result</a:t>
            </a:r>
          </a:p>
        </p:txBody>
      </p:sp>
      <p:sp>
        <p:nvSpPr>
          <p:cNvPr id="25" name="TextBox 24"/>
          <p:cNvSpPr txBox="1"/>
          <p:nvPr/>
        </p:nvSpPr>
        <p:spPr>
          <a:xfrm>
            <a:off x="1920240" y="4453128"/>
            <a:ext cx="7132320" cy="237744"/>
          </a:xfrm>
          <a:prstGeom prst="rect">
            <a:avLst/>
          </a:prstGeom>
          <a:noFill/>
        </p:spPr>
        <p:txBody>
          <a:bodyPr wrap="square" lIns="0" rIns="0" tIns="0" bIns="0" anchor="t">
            <a:spAutoFit/>
          </a:bodyPr>
          <a:lstStyle/>
          <a:p>
            <a:pPr algn="l">
              <a:spcAft>
                <a:spcPts val="0"/>
              </a:spcAft>
            </a:pPr>
            <a:r>
              <a:rPr sz="900" b="0">
                <a:solidFill>
                  <a:srgbClr val="747676"/>
                </a:solidFill>
                <a:latin typeface="Arial"/>
              </a:rPr>
              <a:t>Also on the gateway: mcp_end_user_permission · mcp_jwt_signer</a:t>
            </a:r>
          </a:p>
        </p:txBody>
      </p:sp>
      <p:sp>
        <p:nvSpPr>
          <p:cNvPr id="26" name="Rectangle 25"/>
          <p:cNvSpPr/>
          <p:nvPr/>
        </p:nvSpPr>
        <p:spPr>
          <a:xfrm>
            <a:off x="9464040" y="1371600"/>
            <a:ext cx="2267712" cy="3337560"/>
          </a:xfrm>
          <a:prstGeom prst="rect">
            <a:avLst/>
          </a:prstGeom>
          <a:solidFill>
            <a:srgbClr val="F6F6F6"/>
          </a:solidFill>
          <a:ln>
            <a:noFill/>
          </a:ln>
        </p:spPr>
        <p:txBody>
          <a:bodyPr rtlCol="0" anchor="ctr" wrap="square" lIns="73152" rIns="73152"/>
          <a:lstStyle/>
          <a:p>
            <a:pPr algn="ctr">
              <a:spcAft>
                <a:spcPts val="200"/>
              </a:spcAft>
            </a:pPr>
            <a:r>
              <a:rPr sz="1100" b="1">
                <a:solidFill>
                  <a:srgbClr val="000000"/>
                </a:solidFill>
                <a:latin typeface="Arial"/>
              </a:rPr>
              <a:t>MCP servers</a:t>
            </a:r>
          </a:p>
          <a:p>
            <a:pPr algn="ctr">
              <a:spcAft>
                <a:spcPts val="200"/>
              </a:spcAft>
            </a:pPr>
            <a:r>
              <a:rPr sz="950" b="0">
                <a:solidFill>
                  <a:srgbClr val="000000"/>
                </a:solidFill>
                <a:latin typeface="Arial"/>
              </a:rPr>
              <a:t>internal and third-party tools</a:t>
            </a:r>
          </a:p>
        </p:txBody>
      </p:sp>
      <p:sp>
        <p:nvSpPr>
          <p:cNvPr id="27" name="Rectangle 26"/>
          <p:cNvSpPr/>
          <p:nvPr/>
        </p:nvSpPr>
        <p:spPr>
          <a:xfrm>
            <a:off x="457200" y="4892040"/>
            <a:ext cx="5486400" cy="914400"/>
          </a:xfrm>
          <a:prstGeom prst="rect">
            <a:avLst/>
          </a:prstGeom>
          <a:solidFill>
            <a:srgbClr val="FFFFFF"/>
          </a:solidFill>
          <a:ln w="15875">
            <a:solidFill>
              <a:srgbClr val="EE0000"/>
            </a:solidFill>
          </a:ln>
        </p:spPr>
        <p:txBody>
          <a:bodyPr rtlCol="0" anchor="ctr" wrap="square" lIns="73152" rIns="73152"/>
          <a:lstStyle/>
          <a:p>
            <a:pPr algn="ctr"/>
          </a:p>
        </p:txBody>
      </p:sp>
      <p:sp>
        <p:nvSpPr>
          <p:cNvPr id="28" name="TextBox 27"/>
          <p:cNvSpPr txBox="1"/>
          <p:nvPr/>
        </p:nvSpPr>
        <p:spPr>
          <a:xfrm>
            <a:off x="594360" y="4965192"/>
            <a:ext cx="5257800" cy="1325880"/>
          </a:xfrm>
          <a:prstGeom prst="rect">
            <a:avLst/>
          </a:prstGeom>
          <a:noFill/>
        </p:spPr>
        <p:txBody>
          <a:bodyPr wrap="square" lIns="0" rIns="0" tIns="0" bIns="0" anchor="t">
            <a:spAutoFit/>
          </a:bodyPr>
          <a:lstStyle/>
          <a:p>
            <a:pPr algn="l">
              <a:spcAft>
                <a:spcPts val="400"/>
              </a:spcAft>
            </a:pPr>
            <a:r>
              <a:rPr sz="1000" b="1">
                <a:solidFill>
                  <a:srgbClr val="333333"/>
                </a:solidFill>
                <a:latin typeface="Arial"/>
              </a:rPr>
              <a:t>MCP sub-calls do not inherit request guardrails</a:t>
            </a:r>
          </a:p>
          <a:p>
            <a:pPr algn="l">
              <a:spcAft>
                <a:spcPts val="400"/>
              </a:spcAft>
            </a:pPr>
            <a:r>
              <a:rPr sz="1000" b="0">
                <a:solidFill>
                  <a:srgbClr val="333333"/>
                </a:solidFill>
                <a:latin typeface="Arial"/>
              </a:rPr>
              <a:t>Set </a:t>
            </a:r>
            <a:r>
              <a:rPr sz="1000" b="1">
                <a:solidFill>
                  <a:srgbClr val="333333"/>
                </a:solidFill>
                <a:latin typeface="Arial"/>
              </a:rPr>
              <a:t>default_on: true</a:t>
            </a:r>
            <a:r>
              <a:rPr sz="1000" b="0">
                <a:solidFill>
                  <a:srgbClr val="333333"/>
                </a:solidFill>
                <a:latin typeface="Arial"/>
              </a:rPr>
              <a:t> on every MCP-mode guardrail in kairos-baseline, so tool traffic is governed even when the request named none.</a:t>
            </a:r>
          </a:p>
        </p:txBody>
      </p:sp>
      <p:sp>
        <p:nvSpPr>
          <p:cNvPr id="36" name="TextBox 35"/>
          <p:cNvSpPr txBox="1"/>
          <p:nvPr/>
        </p:nvSpPr>
        <p:spPr>
          <a:xfrm>
            <a:off x="6245352" y="4892040"/>
            <a:ext cx="5486400" cy="1463040"/>
          </a:xfrm>
          <a:prstGeom prst="rect">
            <a:avLst/>
          </a:prstGeom>
          <a:noFill/>
        </p:spPr>
        <p:txBody>
          <a:bodyPr wrap="square" lIns="0" rIns="0" tIns="0" bIns="0" anchor="t">
            <a:spAutoFit/>
          </a:bodyPr>
          <a:lstStyle/>
          <a:p>
            <a:pPr algn="l">
              <a:spcAft>
                <a:spcPts val="200"/>
              </a:spcAft>
            </a:pPr>
            <a:r>
              <a:rPr sz="950" b="1">
                <a:solidFill>
                  <a:srgbClr val="000000"/>
                </a:solidFill>
                <a:latin typeface="Arial"/>
              </a:rPr>
              <a:t>agent_365 prerequisites</a:t>
            </a:r>
          </a:p>
          <a:p>
            <a:pPr algn="l" marL="108585" indent="-108585">
              <a:spcAft>
                <a:spcPts val="200"/>
              </a:spcAft>
              <a:buClr>
                <a:srgbClr val="747676"/>
              </a:buClr>
              <a:buFont typeface="Arial"/>
              <a:buChar char="•"/>
            </a:pPr>
            <a:r>
              <a:rPr sz="950" b="0">
                <a:solidFill>
                  <a:srgbClr val="333333"/>
                </a:solidFill>
                <a:latin typeface="Arial"/>
              </a:rPr>
              <a:t>Entra app with access_as_user; delegated ThreatProtection.Evaluate.All on the Agent Tools API</a:t>
            </a:r>
          </a:p>
          <a:p>
            <a:pPr algn="l" marL="108585" indent="-108585">
              <a:spcAft>
                <a:spcPts val="200"/>
              </a:spcAft>
              <a:buClr>
                <a:srgbClr val="747676"/>
              </a:buClr>
              <a:buFont typeface="Arial"/>
              <a:buChar char="•"/>
            </a:pPr>
            <a:r>
              <a:rPr sz="950" b="0">
                <a:solidFill>
                  <a:srgbClr val="333333"/>
                </a:solidFill>
                <a:latin typeface="Arial"/>
              </a:rPr>
              <a:t>Tenant onboarded (409 if not); fail-closed 503, 10 s timeout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POC PHASES P0–P5</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POC roadmap: hygiene this week, the OOB floor in two weeks, Jev and MCP by week four, and the ACS vs Agent Control bake-off by week six</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Phases and exit criteria: research §5. Every number is a target (TBD by team); examples are placeholders from the research file. Weeks are indicative. Dev team includes Dex.</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14</a:t>
            </a:r>
          </a:p>
        </p:txBody>
      </p:sp>
      <p:graphicFrame>
        <p:nvGraphicFramePr>
          <p:cNvPr id="8" name="Table 7"/>
          <p:cNvGraphicFramePr>
            <a:graphicFrameLocks noGrp="1"/>
          </p:cNvGraphicFramePr>
          <p:nvPr/>
        </p:nvGraphicFramePr>
        <p:xfrm>
          <a:off x="457200" y="1371600"/>
          <a:ext cx="11274552" cy="4645152"/>
        </p:xfrm>
        <a:graphic>
          <a:graphicData uri="http://schemas.openxmlformats.org/drawingml/2006/table">
            <a:tbl>
              <a:tblPr firstRow="0" bandRow="0"/>
              <a:tblGrid>
                <a:gridCol w="1417320"/>
                <a:gridCol w="1783080"/>
                <a:gridCol w="2240280"/>
                <a:gridCol w="2514600"/>
                <a:gridCol w="3319272"/>
              </a:tblGrid>
              <a:tr h="365760">
                <a:tc>
                  <a:txBody>
                    <a:bodyPr wrap="square"/>
                    <a:lstStyle/>
                    <a:p>
                      <a:pPr algn="l">
                        <a:spcAft>
                          <a:spcPts val="0"/>
                        </a:spcAft>
                      </a:pPr>
                      <a:r>
                        <a:rPr sz="950" b="1">
                          <a:solidFill>
                            <a:srgbClr val="FFFFFF"/>
                          </a:solidFill>
                          <a:latin typeface="Arial"/>
                        </a:rPr>
                        <a:t>Phase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Weeks (indicative)</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Architect (Varun)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Dev team</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c>
                  <a:txBody>
                    <a:bodyPr wrap="square"/>
                    <a:lstStyle/>
                    <a:p>
                      <a:pPr algn="l">
                        <a:spcAft>
                          <a:spcPts val="0"/>
                        </a:spcAft>
                      </a:pPr>
                      <a:r>
                        <a:rPr sz="950" b="1">
                          <a:solidFill>
                            <a:srgbClr val="FFFFFF"/>
                          </a:solidFill>
                          <a:latin typeface="Arial"/>
                        </a:rPr>
                        <a:t>Success criteria · target (TBD by team)</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000000"/>
                    </a:solidFill>
                  </a:tcPr>
                </a:tc>
              </a:tr>
              <a:tr h="713232">
                <a:tc>
                  <a:txBody>
                    <a:bodyPr wrap="square"/>
                    <a:lstStyle/>
                    <a:p>
                      <a:pPr algn="l">
                        <a:spcAft>
                          <a:spcPts val="0"/>
                        </a:spcAft>
                      </a:pPr>
                      <a:r>
                        <a:rPr sz="900" b="1">
                          <a:solidFill>
                            <a:srgbClr val="000000"/>
                          </a:solidFill>
                          <a:latin typeface="Arial"/>
                        </a:rPr>
                        <a:t>P0  Hygiene</a:t>
                      </a:r>
                    </a:p>
                    <a:p>
                      <a:pPr algn="l">
                        <a:spcAft>
                          <a:spcPts val="0"/>
                        </a:spcAft>
                      </a:pPr>
                      <a:r>
                        <a:rPr sz="900" b="0">
                          <a:solidFill>
                            <a:srgbClr val="747676"/>
                          </a:solidFill>
                          <a:latin typeface="Arial"/>
                        </a:rPr>
                        <a:t>week 0</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Pin 1.106.2 by digest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Lockfiles, SBOM; log redaction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Images pinned by digest; redaction proven on a canary secret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lstStyle/>
                    <a:p>
                      <a:pPr algn="l">
                        <a:spcAft>
                          <a:spcPts val="0"/>
                        </a:spcAft>
                      </a:pPr>
                      <a:r>
                        <a:rPr sz="900" b="1">
                          <a:solidFill>
                            <a:srgbClr val="000000"/>
                          </a:solidFill>
                          <a:latin typeface="Arial"/>
                        </a:rPr>
                        <a:t>P1  OOB baseline</a:t>
                      </a:r>
                    </a:p>
                    <a:p>
                      <a:pPr algn="l">
                        <a:spcAft>
                          <a:spcPts val="0"/>
                        </a:spcAft>
                      </a:pPr>
                      <a:r>
                        <a:rPr sz="900" b="0">
                          <a:solidFill>
                            <a:srgbClr val="747676"/>
                          </a:solidFill>
                          <a:latin typeface="Arial"/>
                        </a:rPr>
                        <a:t>weeks 1–2</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Policy tiers; fail-open / fail-closed matrix per control</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Policy-as-code YAML; /policies/resolve tests in CI; kairos-agent-* aliases; logging_only first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Policy headers on 100% of governed calls; added p95 ≤ target (e.g. 50 ms deterministic); zero non-governed traffic on kairos-agent-*</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lstStyle/>
                    <a:p>
                      <a:pPr algn="l">
                        <a:spcAft>
                          <a:spcPts val="0"/>
                        </a:spcAft>
                      </a:pPr>
                      <a:r>
                        <a:rPr sz="900" b="1">
                          <a:solidFill>
                            <a:srgbClr val="000000"/>
                          </a:solidFill>
                          <a:latin typeface="Arial"/>
                        </a:rPr>
                        <a:t>P2  Jev + MCP</a:t>
                      </a:r>
                    </a:p>
                    <a:p>
                      <a:pPr algn="l">
                        <a:spcAft>
                          <a:spcPts val="0"/>
                        </a:spcAft>
                      </a:pPr>
                      <a:r>
                        <a:rPr sz="900" b="0">
                          <a:solidFill>
                            <a:srgbClr val="747676"/>
                          </a:solidFill>
                          <a:latin typeface="Arial"/>
                        </a:rPr>
                        <a:t>weeks 2–4</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Check taxonomy, thresholds, certification policy</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Register Jev (hosted_vllm or strands_decider); calibration notebooks; MCP fixtures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Injection recall ≥ target at FPR ≤ target (e.g. ≤1% benign blocks) on a labelled red-team + benign set; poisoned-tool fixture hidden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lstStyle/>
                    <a:p>
                      <a:pPr algn="l">
                        <a:spcAft>
                          <a:spcPts val="0"/>
                        </a:spcAft>
                      </a:pPr>
                      <a:r>
                        <a:rPr sz="900" b="1">
                          <a:solidFill>
                            <a:srgbClr val="000000"/>
                          </a:solidFill>
                          <a:latin typeface="Arial"/>
                        </a:rPr>
                        <a:t>P3  ACS vs Galileo</a:t>
                      </a:r>
                    </a:p>
                    <a:p>
                      <a:pPr algn="l">
                        <a:spcAft>
                          <a:spcPts val="0"/>
                        </a:spcAft>
                      </a:pPr>
                      <a:r>
                        <a:rPr sz="900" b="0">
                          <a:solidFill>
                            <a:srgbClr val="747676"/>
                          </a:solidFill>
                          <a:latin typeface="Arial"/>
                        </a:rPr>
                        <a:t>weeks 4–6</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Decision mapping; session and trace correlation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Generic Guardrail API adapter; @control() samples; ACS hook + manifests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Same verdict on ≥ target (e.g. 95%) of scripted cases in 3 scenarios; p50/p99 overhead measured; task success after steer; sessions joined in Galileo</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lstStyle/>
                    <a:p>
                      <a:pPr algn="l">
                        <a:spcAft>
                          <a:spcPts val="0"/>
                        </a:spcAft>
                      </a:pPr>
                      <a:r>
                        <a:rPr sz="900" b="1">
                          <a:solidFill>
                            <a:srgbClr val="000000"/>
                          </a:solidFill>
                          <a:latin typeface="Arial"/>
                        </a:rPr>
                        <a:t>P4  Microsoft managed</a:t>
                      </a:r>
                    </a:p>
                    <a:p>
                      <a:pPr algn="l">
                        <a:spcAft>
                          <a:spcPts val="0"/>
                        </a:spcAft>
                      </a:pPr>
                      <a:r>
                        <a:rPr sz="900" b="0">
                          <a:solidFill>
                            <a:srgbClr val="747676"/>
                          </a:solidFill>
                          <a:latin typeface="Arial"/>
                        </a:rPr>
                        <a:t>parallel, tenant-gated</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Tenant onboarding; Entra apps and permissions; data-boundary review</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OBO token plumbing in the SDK; agent_365 + microsoft_purview config</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Onboarding done (no 409); OBO flow works; fail-closed accepted by app owners; DLP fires on test labels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lstStyle/>
                    <a:p>
                      <a:pPr algn="l">
                        <a:spcAft>
                          <a:spcPts val="0"/>
                        </a:spcAft>
                      </a:pPr>
                      <a:r>
                        <a:rPr sz="900" b="1">
                          <a:solidFill>
                            <a:srgbClr val="000000"/>
                          </a:solidFill>
                          <a:latin typeface="Arial"/>
                        </a:rPr>
                        <a:t>P5  Productise</a:t>
                      </a:r>
                    </a:p>
                    <a:p>
                      <a:pPr algn="l">
                        <a:spcAft>
                          <a:spcPts val="0"/>
                        </a:spcAft>
                      </a:pPr>
                      <a:r>
                        <a:rPr sz="900" b="0">
                          <a:solidFill>
                            <a:srgbClr val="747676"/>
                          </a:solidFill>
                          <a:latin typeface="Arial"/>
                        </a:rPr>
                        <a:t>after P3</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6F6F6"/>
                    </a:solidFill>
                  </a:tcPr>
                </a:tc>
                <a:tc>
                  <a:txBody>
                    <a:bodyPr wrap="square"/>
                    <a:lstStyle/>
                    <a:p>
                      <a:pPr algn="l">
                        <a:spcAft>
                          <a:spcPts val="0"/>
                        </a:spcAft>
                      </a:pP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OSS vs Enterprise decision; SDK contract; KPIs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Python / TS wrappers; sample agents; Galileo spans, OTel gen_ai.evaluation.result; runbooks</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lstStyle/>
                    <a:p>
                      <a:pPr algn="l">
                        <a:spcAft>
                          <a:spcPts val="0"/>
                        </a:spcAft>
                      </a:pPr>
                      <a:r>
                        <a:rPr sz="900" b="0">
                          <a:solidFill>
                            <a:srgbClr val="333333"/>
                          </a:solidFill>
                          <a:latin typeface="Arial"/>
                        </a:rPr>
                        <a:t>Self-serve ≤ target (e.g. 15 min); policy change via PR with simulator diff; rollback ≤ target (e.g. 5 min)</a:t>
                      </a:r>
                    </a:p>
                  </a:txBody>
                  <a:tcPr marL="64008" marR="64008"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cxnSp>
        <p:nvCxnSpPr>
          <p:cNvPr id="9" name="Connector 8"/>
          <p:cNvCxnSpPr/>
          <p:nvPr/>
        </p:nvCxnSpPr>
        <p:spPr>
          <a:xfrm>
            <a:off x="1965960" y="2093976"/>
            <a:ext cx="1600200" cy="0"/>
          </a:xfrm>
          <a:prstGeom prst="line">
            <a:avLst/>
          </a:prstGeom>
          <a:ln w="6350">
            <a:solidFill>
              <a:srgbClr val="D8DADA"/>
            </a:solidFill>
          </a:ln>
        </p:spPr>
      </p:cxnSp>
      <p:sp>
        <p:nvSpPr>
          <p:cNvPr id="10" name="Rectangle 9"/>
          <p:cNvSpPr/>
          <p:nvPr/>
        </p:nvSpPr>
        <p:spPr>
          <a:xfrm>
            <a:off x="1965960" y="1984248"/>
            <a:ext cx="228600" cy="219456"/>
          </a:xfrm>
          <a:prstGeom prst="rect">
            <a:avLst/>
          </a:prstGeom>
          <a:solidFill>
            <a:srgbClr val="EE0000"/>
          </a:solidFill>
          <a:ln>
            <a:noFill/>
          </a:ln>
        </p:spPr>
        <p:txBody>
          <a:bodyPr rtlCol="0" anchor="ctr" wrap="square" lIns="73152" rIns="73152"/>
          <a:lstStyle/>
          <a:p>
            <a:pPr algn="ctr"/>
          </a:p>
        </p:txBody>
      </p:sp>
      <p:cxnSp>
        <p:nvCxnSpPr>
          <p:cNvPr id="11" name="Connector 10"/>
          <p:cNvCxnSpPr/>
          <p:nvPr/>
        </p:nvCxnSpPr>
        <p:spPr>
          <a:xfrm>
            <a:off x="1965960" y="2807208"/>
            <a:ext cx="1600200" cy="0"/>
          </a:xfrm>
          <a:prstGeom prst="line">
            <a:avLst/>
          </a:prstGeom>
          <a:ln w="6350">
            <a:solidFill>
              <a:srgbClr val="D8DADA"/>
            </a:solidFill>
          </a:ln>
        </p:spPr>
      </p:cxnSp>
      <p:sp>
        <p:nvSpPr>
          <p:cNvPr id="12" name="Rectangle 11"/>
          <p:cNvSpPr/>
          <p:nvPr/>
        </p:nvSpPr>
        <p:spPr>
          <a:xfrm>
            <a:off x="2194560" y="2697479"/>
            <a:ext cx="457200" cy="219456"/>
          </a:xfrm>
          <a:prstGeom prst="rect">
            <a:avLst/>
          </a:prstGeom>
          <a:solidFill>
            <a:srgbClr val="000000"/>
          </a:solidFill>
          <a:ln>
            <a:noFill/>
          </a:ln>
        </p:spPr>
        <p:txBody>
          <a:bodyPr rtlCol="0" anchor="ctr" wrap="square" lIns="73152" rIns="73152"/>
          <a:lstStyle/>
          <a:p>
            <a:pPr algn="ctr"/>
          </a:p>
        </p:txBody>
      </p:sp>
      <p:cxnSp>
        <p:nvCxnSpPr>
          <p:cNvPr id="13" name="Connector 12"/>
          <p:cNvCxnSpPr/>
          <p:nvPr/>
        </p:nvCxnSpPr>
        <p:spPr>
          <a:xfrm>
            <a:off x="1965960" y="3520440"/>
            <a:ext cx="1600200" cy="0"/>
          </a:xfrm>
          <a:prstGeom prst="line">
            <a:avLst/>
          </a:prstGeom>
          <a:ln w="6350">
            <a:solidFill>
              <a:srgbClr val="D8DADA"/>
            </a:solidFill>
          </a:ln>
        </p:spPr>
      </p:cxnSp>
      <p:sp>
        <p:nvSpPr>
          <p:cNvPr id="14" name="Rectangle 13"/>
          <p:cNvSpPr/>
          <p:nvPr/>
        </p:nvSpPr>
        <p:spPr>
          <a:xfrm>
            <a:off x="2423160" y="3410712"/>
            <a:ext cx="685800" cy="219456"/>
          </a:xfrm>
          <a:prstGeom prst="rect">
            <a:avLst/>
          </a:prstGeom>
          <a:solidFill>
            <a:srgbClr val="000000"/>
          </a:solidFill>
          <a:ln>
            <a:noFill/>
          </a:ln>
        </p:spPr>
        <p:txBody>
          <a:bodyPr rtlCol="0" anchor="ctr" wrap="square" lIns="73152" rIns="73152"/>
          <a:lstStyle/>
          <a:p>
            <a:pPr algn="ctr"/>
          </a:p>
        </p:txBody>
      </p:sp>
      <p:cxnSp>
        <p:nvCxnSpPr>
          <p:cNvPr id="15" name="Connector 14"/>
          <p:cNvCxnSpPr/>
          <p:nvPr/>
        </p:nvCxnSpPr>
        <p:spPr>
          <a:xfrm>
            <a:off x="1965960" y="4233672"/>
            <a:ext cx="1600200" cy="0"/>
          </a:xfrm>
          <a:prstGeom prst="line">
            <a:avLst/>
          </a:prstGeom>
          <a:ln w="6350">
            <a:solidFill>
              <a:srgbClr val="D8DADA"/>
            </a:solidFill>
          </a:ln>
        </p:spPr>
      </p:cxnSp>
      <p:sp>
        <p:nvSpPr>
          <p:cNvPr id="16" name="Rectangle 15"/>
          <p:cNvSpPr/>
          <p:nvPr/>
        </p:nvSpPr>
        <p:spPr>
          <a:xfrm>
            <a:off x="2880360" y="4123944"/>
            <a:ext cx="685800" cy="219456"/>
          </a:xfrm>
          <a:prstGeom prst="rect">
            <a:avLst/>
          </a:prstGeom>
          <a:solidFill>
            <a:srgbClr val="000000"/>
          </a:solidFill>
          <a:ln>
            <a:noFill/>
          </a:ln>
        </p:spPr>
        <p:txBody>
          <a:bodyPr rtlCol="0" anchor="ctr" wrap="square" lIns="73152" rIns="73152"/>
          <a:lstStyle/>
          <a:p>
            <a:pPr algn="ctr"/>
          </a:p>
        </p:txBody>
      </p:sp>
      <p:cxnSp>
        <p:nvCxnSpPr>
          <p:cNvPr id="17" name="Connector 16"/>
          <p:cNvCxnSpPr/>
          <p:nvPr/>
        </p:nvCxnSpPr>
        <p:spPr>
          <a:xfrm>
            <a:off x="1965960" y="4946903"/>
            <a:ext cx="1600200" cy="0"/>
          </a:xfrm>
          <a:prstGeom prst="line">
            <a:avLst/>
          </a:prstGeom>
          <a:ln w="6350">
            <a:solidFill>
              <a:srgbClr val="D8DADA"/>
            </a:solidFill>
          </a:ln>
        </p:spPr>
      </p:cxnSp>
      <p:sp>
        <p:nvSpPr>
          <p:cNvPr id="18" name="Rectangle 17"/>
          <p:cNvSpPr/>
          <p:nvPr/>
        </p:nvSpPr>
        <p:spPr>
          <a:xfrm>
            <a:off x="2194560" y="4837175"/>
            <a:ext cx="1371600" cy="219456"/>
          </a:xfrm>
          <a:prstGeom prst="rect">
            <a:avLst/>
          </a:prstGeom>
          <a:solidFill>
            <a:srgbClr val="FFFFFF"/>
          </a:solidFill>
          <a:ln w="9525">
            <a:solidFill>
              <a:srgbClr val="747676"/>
            </a:solidFill>
            <a:prstDash val="dash"/>
          </a:ln>
        </p:spPr>
        <p:txBody>
          <a:bodyPr rtlCol="0" anchor="ctr" wrap="square" lIns="73152" rIns="73152"/>
          <a:lstStyle/>
          <a:p>
            <a:pPr algn="ctr"/>
          </a:p>
        </p:txBody>
      </p:sp>
      <p:cxnSp>
        <p:nvCxnSpPr>
          <p:cNvPr id="19" name="Connector 18"/>
          <p:cNvCxnSpPr/>
          <p:nvPr/>
        </p:nvCxnSpPr>
        <p:spPr>
          <a:xfrm>
            <a:off x="1965960" y="5660136"/>
            <a:ext cx="1600200" cy="0"/>
          </a:xfrm>
          <a:prstGeom prst="line">
            <a:avLst/>
          </a:prstGeom>
          <a:ln w="6350">
            <a:solidFill>
              <a:srgbClr val="D8DADA"/>
            </a:solidFill>
          </a:ln>
        </p:spPr>
      </p:cxnSp>
      <p:sp>
        <p:nvSpPr>
          <p:cNvPr id="20" name="Rectangle 19"/>
          <p:cNvSpPr/>
          <p:nvPr/>
        </p:nvSpPr>
        <p:spPr>
          <a:xfrm>
            <a:off x="3337560" y="5550408"/>
            <a:ext cx="228600" cy="219456"/>
          </a:xfrm>
          <a:prstGeom prst="rect">
            <a:avLst/>
          </a:prstGeom>
          <a:solidFill>
            <a:srgbClr val="747676"/>
          </a:solidFill>
          <a:ln>
            <a:noFill/>
          </a:ln>
        </p:spPr>
        <p:txBody>
          <a:bodyPr rtlCol="0" anchor="ctr" wrap="square" lIns="73152" rIns="73152"/>
          <a:lstStyle/>
          <a:p>
            <a:pPr algn="ctr"/>
          </a:p>
        </p:txBody>
      </p:sp>
      <p:sp>
        <p:nvSpPr>
          <p:cNvPr id="21" name="TextBox 20"/>
          <p:cNvSpPr txBox="1"/>
          <p:nvPr/>
        </p:nvSpPr>
        <p:spPr>
          <a:xfrm>
            <a:off x="1874519" y="6007608"/>
            <a:ext cx="365760" cy="164592"/>
          </a:xfrm>
          <a:prstGeom prst="rect">
            <a:avLst/>
          </a:prstGeom>
          <a:noFill/>
        </p:spPr>
        <p:txBody>
          <a:bodyPr wrap="square" lIns="0" rIns="0" tIns="0" bIns="0" anchor="t">
            <a:spAutoFit/>
          </a:bodyPr>
          <a:lstStyle/>
          <a:p>
            <a:pPr algn="l">
              <a:spcAft>
                <a:spcPts val="0"/>
              </a:spcAft>
            </a:pPr>
            <a:r>
              <a:rPr sz="800" b="0">
                <a:solidFill>
                  <a:srgbClr val="747676"/>
                </a:solidFill>
                <a:latin typeface="Arial"/>
              </a:rPr>
              <a:t>W0</a:t>
            </a:r>
          </a:p>
        </p:txBody>
      </p:sp>
      <p:sp>
        <p:nvSpPr>
          <p:cNvPr id="22" name="TextBox 21"/>
          <p:cNvSpPr txBox="1"/>
          <p:nvPr/>
        </p:nvSpPr>
        <p:spPr>
          <a:xfrm>
            <a:off x="2331720" y="6007608"/>
            <a:ext cx="365760" cy="164592"/>
          </a:xfrm>
          <a:prstGeom prst="rect">
            <a:avLst/>
          </a:prstGeom>
          <a:noFill/>
        </p:spPr>
        <p:txBody>
          <a:bodyPr wrap="square" lIns="0" rIns="0" tIns="0" bIns="0" anchor="t">
            <a:spAutoFit/>
          </a:bodyPr>
          <a:lstStyle/>
          <a:p>
            <a:pPr algn="l">
              <a:spcAft>
                <a:spcPts val="0"/>
              </a:spcAft>
            </a:pPr>
            <a:r>
              <a:rPr sz="800" b="0">
                <a:solidFill>
                  <a:srgbClr val="747676"/>
                </a:solidFill>
                <a:latin typeface="Arial"/>
              </a:rPr>
              <a:t>W2</a:t>
            </a:r>
          </a:p>
        </p:txBody>
      </p:sp>
      <p:sp>
        <p:nvSpPr>
          <p:cNvPr id="23" name="TextBox 22"/>
          <p:cNvSpPr txBox="1"/>
          <p:nvPr/>
        </p:nvSpPr>
        <p:spPr>
          <a:xfrm>
            <a:off x="2788920" y="6007608"/>
            <a:ext cx="365760" cy="164592"/>
          </a:xfrm>
          <a:prstGeom prst="rect">
            <a:avLst/>
          </a:prstGeom>
          <a:noFill/>
        </p:spPr>
        <p:txBody>
          <a:bodyPr wrap="square" lIns="0" rIns="0" tIns="0" bIns="0" anchor="t">
            <a:spAutoFit/>
          </a:bodyPr>
          <a:lstStyle/>
          <a:p>
            <a:pPr algn="l">
              <a:spcAft>
                <a:spcPts val="0"/>
              </a:spcAft>
            </a:pPr>
            <a:r>
              <a:rPr sz="800" b="0">
                <a:solidFill>
                  <a:srgbClr val="747676"/>
                </a:solidFill>
                <a:latin typeface="Arial"/>
              </a:rPr>
              <a:t>W4</a:t>
            </a:r>
          </a:p>
        </p:txBody>
      </p:sp>
      <p:sp>
        <p:nvSpPr>
          <p:cNvPr id="24" name="TextBox 23"/>
          <p:cNvSpPr txBox="1"/>
          <p:nvPr/>
        </p:nvSpPr>
        <p:spPr>
          <a:xfrm>
            <a:off x="3246120" y="6007608"/>
            <a:ext cx="365760" cy="164592"/>
          </a:xfrm>
          <a:prstGeom prst="rect">
            <a:avLst/>
          </a:prstGeom>
          <a:noFill/>
        </p:spPr>
        <p:txBody>
          <a:bodyPr wrap="square" lIns="0" rIns="0" tIns="0" bIns="0" anchor="t">
            <a:spAutoFit/>
          </a:bodyPr>
          <a:lstStyle/>
          <a:p>
            <a:pPr algn="l">
              <a:spcAft>
                <a:spcPts val="0"/>
              </a:spcAft>
            </a:pPr>
            <a:r>
              <a:rPr sz="800" b="0">
                <a:solidFill>
                  <a:srgbClr val="747676"/>
                </a:solidFill>
                <a:latin typeface="Arial"/>
              </a:rPr>
              <a:t>W6</a:t>
            </a:r>
          </a:p>
        </p:txBody>
      </p:sp>
      <p:sp>
        <p:nvSpPr>
          <p:cNvPr id="25" name="TextBox 24"/>
          <p:cNvSpPr txBox="1"/>
          <p:nvPr/>
        </p:nvSpPr>
        <p:spPr>
          <a:xfrm>
            <a:off x="457200" y="6190488"/>
            <a:ext cx="11274552" cy="201168"/>
          </a:xfrm>
          <a:prstGeom prst="rect">
            <a:avLst/>
          </a:prstGeom>
          <a:noFill/>
        </p:spPr>
        <p:txBody>
          <a:bodyPr wrap="square" lIns="0" rIns="0" tIns="0" bIns="0" anchor="t">
            <a:spAutoFit/>
          </a:bodyPr>
          <a:lstStyle/>
          <a:p>
            <a:pPr algn="l">
              <a:spcAft>
                <a:spcPts val="0"/>
              </a:spcAft>
            </a:pPr>
            <a:r>
              <a:rPr sz="950" b="1">
                <a:solidFill>
                  <a:srgbClr val="333333"/>
                </a:solidFill>
                <a:latin typeface="Arial"/>
              </a:rPr>
              <a:t>Start this week:</a:t>
            </a:r>
            <a:r>
              <a:rPr sz="950" b="0">
                <a:solidFill>
                  <a:srgbClr val="333333"/>
                </a:solidFill>
                <a:latin typeface="Arial"/>
              </a:rPr>
              <a:t> stand up a 1.106.2 POC gateway with kairos-observe on kairos-agent-* aliases  →  pick 3 agent scenarios for P3 and one M365 tenant for P4.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OPEN QUESTIONS AND NEXT STEPS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Answer six questions early and start P0 this week</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Open questions: agent-control-governance-2026-10.md §5. Next steps are our proposal.</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15</a:t>
            </a:r>
          </a:p>
        </p:txBody>
      </p:sp>
      <p:sp>
        <p:nvSpPr>
          <p:cNvPr id="10" name="Rectangle 9"/>
          <p:cNvSpPr/>
          <p:nvPr/>
        </p:nvSpPr>
        <p:spPr>
          <a:xfrm>
            <a:off x="457200" y="1371600"/>
            <a:ext cx="5486400" cy="411480"/>
          </a:xfrm>
          <a:prstGeom prst="rect">
            <a:avLst/>
          </a:prstGeom>
          <a:solidFill>
            <a:srgbClr val="000000"/>
          </a:solidFill>
          <a:ln>
            <a:noFill/>
          </a:ln>
        </p:spPr>
        <p:txBody>
          <a:bodyPr rtlCol="0" anchor="ctr" wrap="square" lIns="137160" rIns="137160"/>
          <a:lstStyle/>
          <a:p>
            <a:pPr algn="l">
              <a:spcAft>
                <a:spcPts val="200"/>
              </a:spcAft>
            </a:pPr>
            <a:r>
              <a:rPr sz="1200" b="1">
                <a:solidFill>
                  <a:srgbClr val="FFFFFF"/>
                </a:solidFill>
                <a:latin typeface="Arial"/>
              </a:rPr>
              <a:t>Open questions</a:t>
            </a:r>
          </a:p>
        </p:txBody>
      </p:sp>
      <p:sp>
        <p:nvSpPr>
          <p:cNvPr id="11" name="TextBox 10"/>
          <p:cNvSpPr txBox="1"/>
          <p:nvPr/>
        </p:nvSpPr>
        <p:spPr>
          <a:xfrm>
            <a:off x="502920" y="1965960"/>
            <a:ext cx="5394960" cy="4343400"/>
          </a:xfrm>
          <a:prstGeom prst="rect">
            <a:avLst/>
          </a:prstGeom>
          <a:noFill/>
        </p:spPr>
        <p:txBody>
          <a:bodyPr wrap="square" lIns="0" rIns="0" tIns="0" bIns="0" anchor="t">
            <a:spAutoFit/>
          </a:bodyPr>
          <a:lstStyle/>
          <a:p>
            <a:pPr algn="l">
              <a:spcAft>
                <a:spcPts val="1000"/>
              </a:spcAft>
            </a:pPr>
            <a:r>
              <a:rPr sz="1500" b="0">
                <a:solidFill>
                  <a:srgbClr val="333333"/>
                </a:solidFill>
                <a:latin typeface="Arial"/>
              </a:rPr>
              <a:t>1. Does 'Proceedo' mean AGT/ACS, or Presidio?</a:t>
            </a:r>
          </a:p>
          <a:p>
            <a:pPr algn="l">
              <a:spcAft>
                <a:spcPts val="1000"/>
              </a:spcAft>
            </a:pPr>
            <a:r>
              <a:rPr sz="1500" b="0">
                <a:solidFill>
                  <a:srgbClr val="333333"/>
                </a:solidFill>
                <a:latin typeface="Arial"/>
              </a:rPr>
              <a:t>2. Enterprise licence for key/team policy attachment, or the OSS alias path only?</a:t>
            </a:r>
          </a:p>
          <a:p>
            <a:pPr algn="l">
              <a:spcAft>
                <a:spcPts val="1000"/>
              </a:spcAft>
            </a:pPr>
            <a:r>
              <a:rPr sz="1500" b="0">
                <a:solidFill>
                  <a:srgbClr val="333333"/>
                </a:solidFill>
                <a:latin typeface="Arial"/>
              </a:rPr>
              <a:t>3. Which tenants must use Agent 365 / Purview? Data-residency constraints for Defender evaluation?</a:t>
            </a:r>
          </a:p>
          <a:p>
            <a:pPr algn="l">
              <a:spcAft>
                <a:spcPts val="1000"/>
              </a:spcAft>
            </a:pPr>
            <a:r>
              <a:rPr sz="1500" b="0">
                <a:solidFill>
                  <a:srgbClr val="333333"/>
                </a:solidFill>
                <a:latin typeface="Arial"/>
              </a:rPr>
              <a:t>4. Who owns the control catalogue: platform or security?</a:t>
            </a:r>
          </a:p>
          <a:p>
            <a:pPr algn="l">
              <a:spcAft>
                <a:spcPts val="1000"/>
              </a:spcAft>
            </a:pPr>
            <a:r>
              <a:rPr sz="1500" b="0">
                <a:solidFill>
                  <a:srgbClr val="333333"/>
                </a:solidFill>
                <a:latin typeface="Arial"/>
              </a:rPr>
              <a:t>5. Fail-open vs fail-closed per control and per business tier.</a:t>
            </a:r>
          </a:p>
          <a:p>
            <a:pPr algn="l">
              <a:spcAft>
                <a:spcPts val="1000"/>
              </a:spcAft>
            </a:pPr>
            <a:r>
              <a:rPr sz="1500" b="0">
                <a:solidFill>
                  <a:srgbClr val="333333"/>
                </a:solidFill>
                <a:latin typeface="Arial"/>
              </a:rPr>
              <a:t>6. Galileo observability path on 1.106.2: callback or OTel?</a:t>
            </a:r>
          </a:p>
        </p:txBody>
      </p:sp>
      <p:sp>
        <p:nvSpPr>
          <p:cNvPr id="12" name="Rectangle 11"/>
          <p:cNvSpPr/>
          <p:nvPr/>
        </p:nvSpPr>
        <p:spPr>
          <a:xfrm>
            <a:off x="6245352" y="1371600"/>
            <a:ext cx="5486400" cy="411480"/>
          </a:xfrm>
          <a:prstGeom prst="rect">
            <a:avLst/>
          </a:prstGeom>
          <a:solidFill>
            <a:srgbClr val="EE0000"/>
          </a:solidFill>
          <a:ln>
            <a:noFill/>
          </a:ln>
        </p:spPr>
        <p:txBody>
          <a:bodyPr rtlCol="0" anchor="ctr" wrap="square" lIns="137160" rIns="137160"/>
          <a:lstStyle/>
          <a:p>
            <a:pPr algn="l">
              <a:spcAft>
                <a:spcPts val="200"/>
              </a:spcAft>
            </a:pPr>
            <a:r>
              <a:rPr sz="1200" b="1">
                <a:solidFill>
                  <a:srgbClr val="FFFFFF"/>
                </a:solidFill>
                <a:latin typeface="Arial"/>
              </a:rPr>
              <a:t>Next steps</a:t>
            </a:r>
          </a:p>
        </p:txBody>
      </p:sp>
      <p:sp>
        <p:nvSpPr>
          <p:cNvPr id="13" name="TextBox 12"/>
          <p:cNvSpPr txBox="1"/>
          <p:nvPr/>
        </p:nvSpPr>
        <p:spPr>
          <a:xfrm>
            <a:off x="6291072" y="1965960"/>
            <a:ext cx="5394960" cy="4343400"/>
          </a:xfrm>
          <a:prstGeom prst="rect">
            <a:avLst/>
          </a:prstGeom>
          <a:noFill/>
        </p:spPr>
        <p:txBody>
          <a:bodyPr wrap="square" lIns="0" rIns="0" tIns="0" bIns="0" anchor="t">
            <a:spAutoFit/>
          </a:bodyPr>
          <a:lstStyle/>
          <a:p>
            <a:pPr algn="l">
              <a:spcAft>
                <a:spcPts val="1000"/>
              </a:spcAft>
            </a:pPr>
            <a:r>
              <a:rPr sz="1500" b="0">
                <a:solidFill>
                  <a:srgbClr val="333333"/>
                </a:solidFill>
                <a:latin typeface="Arial"/>
              </a:rPr>
              <a:t>1. </a:t>
            </a:r>
            <a:r>
              <a:rPr sz="1500" b="1">
                <a:solidFill>
                  <a:srgbClr val="333333"/>
                </a:solidFill>
                <a:latin typeface="Arial"/>
              </a:rPr>
              <a:t>This week:</a:t>
            </a:r>
            <a:r>
              <a:rPr sz="1500" b="0">
                <a:solidFill>
                  <a:srgbClr val="333333"/>
                </a:solidFill>
                <a:latin typeface="Arial"/>
              </a:rPr>
              <a:t> pin 1.106.2 by digest </a:t>
            </a:r>
            <a:r>
              <a:rPr sz="1500" b="0">
                <a:solidFill>
                  <a:srgbClr val="747676"/>
                </a:solidFill>
                <a:latin typeface="Arial"/>
              </a:rPr>
              <a:t>(architect + dev)</a:t>
            </a:r>
          </a:p>
          <a:p>
            <a:pPr algn="l">
              <a:spcAft>
                <a:spcPts val="1000"/>
              </a:spcAft>
            </a:pPr>
            <a:r>
              <a:rPr sz="1500" b="0">
                <a:solidFill>
                  <a:srgbClr val="333333"/>
                </a:solidFill>
                <a:latin typeface="Arial"/>
              </a:rPr>
              <a:t>2. Confirm the 'Proceedo' meaning </a:t>
            </a:r>
            <a:r>
              <a:rPr sz="1500" b="0">
                <a:solidFill>
                  <a:srgbClr val="747676"/>
                </a:solidFill>
                <a:latin typeface="Arial"/>
              </a:rPr>
              <a:t>(Varun)</a:t>
            </a:r>
          </a:p>
          <a:p>
            <a:pPr algn="l">
              <a:spcAft>
                <a:spcPts val="1000"/>
              </a:spcAft>
            </a:pPr>
            <a:r>
              <a:rPr sz="1500" b="0">
                <a:solidFill>
                  <a:srgbClr val="333333"/>
                </a:solidFill>
                <a:latin typeface="Arial"/>
              </a:rPr>
              <a:t>3. Decide the licence path; build the OSS alias path regardless </a:t>
            </a:r>
            <a:r>
              <a:rPr sz="1500" b="0">
                <a:solidFill>
                  <a:srgbClr val="747676"/>
                </a:solidFill>
                <a:latin typeface="Arial"/>
              </a:rPr>
              <a:t>(Varun)</a:t>
            </a:r>
          </a:p>
          <a:p>
            <a:pPr algn="l">
              <a:spcAft>
                <a:spcPts val="1000"/>
              </a:spcAft>
            </a:pPr>
            <a:r>
              <a:rPr sz="1500" b="0">
                <a:solidFill>
                  <a:srgbClr val="333333"/>
                </a:solidFill>
                <a:latin typeface="Arial"/>
              </a:rPr>
              <a:t>4. Stand up the POC gateway: kairos-baseline in logging_only on kairos-agent-* </a:t>
            </a:r>
            <a:r>
              <a:rPr sz="1500" b="0">
                <a:solidFill>
                  <a:srgbClr val="747676"/>
                </a:solidFill>
                <a:latin typeface="Arial"/>
              </a:rPr>
              <a:t>(dev)</a:t>
            </a:r>
          </a:p>
          <a:p>
            <a:pPr algn="l">
              <a:spcAft>
                <a:spcPts val="1000"/>
              </a:spcAft>
            </a:pPr>
            <a:r>
              <a:rPr sz="1500" b="0">
                <a:solidFill>
                  <a:srgbClr val="333333"/>
                </a:solidFill>
                <a:latin typeface="Arial"/>
              </a:rPr>
              <a:t>5. Register Jev decision v1 and draft the check taxonomy </a:t>
            </a:r>
            <a:r>
              <a:rPr sz="1500" b="0">
                <a:solidFill>
                  <a:srgbClr val="747676"/>
                </a:solidFill>
                <a:latin typeface="Arial"/>
              </a:rPr>
              <a:t>(dev + architect)</a:t>
            </a:r>
          </a:p>
          <a:p>
            <a:pPr algn="l">
              <a:spcAft>
                <a:spcPts val="1000"/>
              </a:spcAft>
            </a:pPr>
            <a:r>
              <a:rPr sz="1500" b="0">
                <a:solidFill>
                  <a:srgbClr val="333333"/>
                </a:solidFill>
                <a:latin typeface="Arial"/>
              </a:rPr>
              <a:t>6. Pick 3 agent scenarios (P3) and one M365 tenant (P4) </a:t>
            </a:r>
            <a:r>
              <a:rPr sz="1500" b="0">
                <a:solidFill>
                  <a:srgbClr val="747676"/>
                </a:solidFill>
                <a:latin typeface="Arial"/>
              </a:rPr>
              <a:t>(Varun)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p:spPr>
        <p:txBody>
          <a:bodyPr rtlCol="0" anchor="ctr" wrap="square" lIns="73152" rIns="73152"/>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spAutoFit/>
          </a:bodyPr>
          <a:lstStyle/>
          <a:p>
            <a:pPr algn="l">
              <a:spcAft>
                <a:spcPts val="400"/>
              </a:spcAft>
            </a:pPr>
            <a:r>
              <a:rPr sz="1050" b="1">
                <a:solidFill>
                  <a:srgbClr val="000000"/>
                </a:solidFill>
                <a:latin typeface="Arial"/>
              </a:rPr>
              <a:t>SOURCES</a:t>
            </a:r>
          </a:p>
        </p:txBody>
      </p:sp>
      <p:sp>
        <p:nvSpPr>
          <p:cNvPr id="4" name="TextBox 3"/>
          <p:cNvSpPr txBox="1"/>
          <p:nvPr/>
        </p:nvSpPr>
        <p:spPr>
          <a:xfrm>
            <a:off x="457200" y="438912"/>
            <a:ext cx="11247120" cy="777240"/>
          </a:xfrm>
          <a:prstGeom prst="rect">
            <a:avLst/>
          </a:prstGeom>
          <a:noFill/>
        </p:spPr>
        <p:txBody>
          <a:bodyPr wrap="square" lIns="0" rIns="0" tIns="0" bIns="0" anchor="t">
            <a:spAutoFit/>
          </a:bodyPr>
          <a:lstStyle/>
          <a:p>
            <a:pPr algn="l">
              <a:spcAft>
                <a:spcPts val="0"/>
              </a:spcAft>
            </a:pPr>
            <a:r>
              <a:rPr sz="2300" b="1">
                <a:solidFill>
                  <a:srgbClr val="000000"/>
                </a:solidFill>
                <a:latin typeface="Arial"/>
              </a:rPr>
              <a:t>Primary sources (research cut-off 22 Oct 2026)</a:t>
            </a:r>
          </a:p>
        </p:txBody>
      </p:sp>
      <p:cxnSp>
        <p:nvCxnSpPr>
          <p:cNvPr id="5" name="Connector 4"/>
          <p:cNvCxnSpPr/>
          <p:nvPr/>
        </p:nvCxnSpPr>
        <p:spPr>
          <a:xfrm>
            <a:off x="457200" y="6400800"/>
            <a:ext cx="11274552" cy="0"/>
          </a:xfrm>
          <a:prstGeom prst="line">
            <a:avLst/>
          </a:prstGeom>
          <a:ln w="9525">
            <a:solidFill>
              <a:srgbClr val="D8DADA"/>
            </a:solidFill>
          </a:ln>
        </p:spPr>
      </p:cxnSp>
      <p:sp>
        <p:nvSpPr>
          <p:cNvPr id="6" name="TextBox 5"/>
          <p:cNvSpPr txBox="1"/>
          <p:nvPr/>
        </p:nvSpPr>
        <p:spPr>
          <a:xfrm>
            <a:off x="457200" y="6473952"/>
            <a:ext cx="10515600" cy="274320"/>
          </a:xfrm>
          <a:prstGeom prst="rect">
            <a:avLst/>
          </a:prstGeom>
          <a:noFill/>
        </p:spPr>
        <p:txBody>
          <a:bodyPr wrap="square" lIns="0" rIns="0" tIns="0" bIns="0" anchor="t">
            <a:spAutoFit/>
          </a:bodyPr>
          <a:lstStyle/>
          <a:p>
            <a:pPr algn="l">
              <a:spcAft>
                <a:spcPts val="0"/>
              </a:spcAft>
            </a:pPr>
            <a:r>
              <a:rPr sz="900" b="0">
                <a:solidFill>
                  <a:srgbClr val="747676"/>
                </a:solidFill>
                <a:latin typeface="Arial"/>
              </a:rPr>
              <a:t>Full index and claim labels: /workspace/research/agent-control-governance-2026-10.md §7. Default or playground credentials in vendor docs were not used and must not be used in Kairos.</a:t>
            </a:r>
          </a:p>
        </p:txBody>
      </p:sp>
      <p:sp>
        <p:nvSpPr>
          <p:cNvPr id="7" name="TextBox 6"/>
          <p:cNvSpPr txBox="1"/>
          <p:nvPr/>
        </p:nvSpPr>
        <p:spPr>
          <a:xfrm>
            <a:off x="11155680" y="6473952"/>
            <a:ext cx="594360" cy="274320"/>
          </a:xfrm>
          <a:prstGeom prst="rect">
            <a:avLst/>
          </a:prstGeom>
          <a:noFill/>
        </p:spPr>
        <p:txBody>
          <a:bodyPr wrap="square" lIns="0" rIns="0" tIns="0" bIns="0" anchor="t">
            <a:spAutoFit/>
          </a:bodyPr>
          <a:lstStyle/>
          <a:p>
            <a:pPr algn="r">
              <a:spcAft>
                <a:spcPts val="0"/>
              </a:spcAft>
            </a:pPr>
            <a:r>
              <a:rPr sz="900" b="0">
                <a:solidFill>
                  <a:srgbClr val="747676"/>
                </a:solidFill>
                <a:latin typeface="Arial"/>
              </a:rPr>
              <a:t>16</a:t>
            </a:r>
          </a:p>
        </p:txBody>
      </p:sp>
      <p:sp>
        <p:nvSpPr>
          <p:cNvPr id="8" name="TextBox 7"/>
          <p:cNvSpPr txBox="1"/>
          <p:nvPr/>
        </p:nvSpPr>
        <p:spPr>
          <a:xfrm>
            <a:off x="457200" y="1325880"/>
            <a:ext cx="5486400" cy="498348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LiteLLM (docs.litellm.ai)</a:t>
            </a:r>
          </a:p>
          <a:p>
            <a:pPr algn="l" marL="125730" indent="-125730">
              <a:spcAft>
                <a:spcPts val="400"/>
              </a:spcAft>
              <a:buClr>
                <a:srgbClr val="747676"/>
              </a:buClr>
              <a:buFont typeface="Arial"/>
              <a:buChar char="•"/>
            </a:pPr>
            <a:r>
              <a:rPr sz="1100" b="0">
                <a:solidFill>
                  <a:srgbClr val="333333"/>
                </a:solidFill>
                <a:latin typeface="Arial"/>
              </a:rPr>
              <a:t>Guardrails quick start: /docs/proxy/guardrails/quick_start</a:t>
            </a:r>
          </a:p>
          <a:p>
            <a:pPr algn="l" marL="125730" indent="-125730">
              <a:spcAft>
                <a:spcPts val="400"/>
              </a:spcAft>
              <a:buClr>
                <a:srgbClr val="747676"/>
              </a:buClr>
              <a:buFont typeface="Arial"/>
              <a:buChar char="•"/>
            </a:pPr>
            <a:r>
              <a:rPr sz="1100" b="0">
                <a:solidFill>
                  <a:srgbClr val="333333"/>
                </a:solidFill>
                <a:latin typeface="Arial"/>
              </a:rPr>
              <a:t>Policies: /docs/proxy/guardrails/guardrail_policies</a:t>
            </a:r>
          </a:p>
          <a:p>
            <a:pPr algn="l" marL="125730" indent="-125730">
              <a:spcAft>
                <a:spcPts val="400"/>
              </a:spcAft>
              <a:buClr>
                <a:srgbClr val="747676"/>
              </a:buClr>
              <a:buFont typeface="Arial"/>
              <a:buChar char="•"/>
            </a:pPr>
            <a:r>
              <a:rPr sz="1100" b="0">
                <a:solidFill>
                  <a:srgbClr val="333333"/>
                </a:solidFill>
                <a:latin typeface="Arial"/>
              </a:rPr>
              <a:t>Generic Guardrail API: /docs/adding_provider/generic_guardrail_api</a:t>
            </a:r>
          </a:p>
          <a:p>
            <a:pPr algn="l" marL="125730" indent="-125730">
              <a:spcAft>
                <a:spcPts val="400"/>
              </a:spcAft>
              <a:buClr>
                <a:srgbClr val="747676"/>
              </a:buClr>
              <a:buFont typeface="Arial"/>
              <a:buChar char="•"/>
            </a:pPr>
            <a:r>
              <a:rPr sz="1100" b="0">
                <a:solidFill>
                  <a:srgbClr val="333333"/>
                </a:solidFill>
                <a:latin typeface="Arial"/>
              </a:rPr>
              <a:t>Decision model guardrail: /docs/proxy/guardrails/decision_model</a:t>
            </a:r>
          </a:p>
          <a:p>
            <a:pPr algn="l" marL="125730" indent="-125730">
              <a:spcAft>
                <a:spcPts val="400"/>
              </a:spcAft>
              <a:buClr>
                <a:srgbClr val="747676"/>
              </a:buClr>
              <a:buFont typeface="Arial"/>
              <a:buChar char="•"/>
            </a:pPr>
            <a:r>
              <a:rPr sz="1100" b="0">
                <a:solidFill>
                  <a:srgbClr val="333333"/>
                </a:solidFill>
                <a:latin typeface="Arial"/>
              </a:rPr>
              <a:t>MCP guardrails: /docs/mcp_guardrail · Tool policies: /docs/proxy/tool_policies</a:t>
            </a:r>
          </a:p>
          <a:p>
            <a:pPr algn="l" marL="125730" indent="-125730">
              <a:spcAft>
                <a:spcPts val="400"/>
              </a:spcAft>
              <a:buClr>
                <a:srgbClr val="747676"/>
              </a:buClr>
              <a:buFont typeface="Arial"/>
              <a:buChar char="•"/>
            </a:pPr>
            <a:r>
              <a:rPr sz="1100" b="0">
                <a:solidFill>
                  <a:srgbClr val="333333"/>
                </a:solidFill>
                <a:latin typeface="Arial"/>
              </a:rPr>
              <a:t>Agent 365: /docs/proxy/guardrails/microsoft_agent_365</a:t>
            </a:r>
          </a:p>
          <a:p>
            <a:pPr algn="l" marL="125730" indent="-125730">
              <a:spcAft>
                <a:spcPts val="400"/>
              </a:spcAft>
              <a:buClr>
                <a:srgbClr val="747676"/>
              </a:buClr>
              <a:buFont typeface="Arial"/>
              <a:buChar char="•"/>
            </a:pPr>
            <a:r>
              <a:rPr sz="1100" b="0">
                <a:solidFill>
                  <a:srgbClr val="333333"/>
                </a:solidFill>
                <a:latin typeface="Arial"/>
              </a:rPr>
              <a:t>Purview: /docs/proxy/guardrails/microsoft_purview</a:t>
            </a:r>
          </a:p>
          <a:p>
            <a:pPr algn="l" marL="125730" indent="-125730">
              <a:spcAft>
                <a:spcPts val="400"/>
              </a:spcAft>
              <a:buClr>
                <a:srgbClr val="747676"/>
              </a:buClr>
              <a:buFont typeface="Arial"/>
              <a:buChar char="•"/>
            </a:pPr>
            <a:r>
              <a:rPr sz="1100" b="0">
                <a:solidFill>
                  <a:srgbClr val="333333"/>
                </a:solidFill>
                <a:latin typeface="Arial"/>
              </a:rPr>
              <a:t>System One providers: /docs/providers/strands_decider · /docs/providers/vllm</a:t>
            </a:r>
          </a:p>
          <a:p>
            <a:pPr algn="l" marL="125730" indent="-125730">
              <a:spcAft>
                <a:spcPts val="400"/>
              </a:spcAft>
              <a:buClr>
                <a:srgbClr val="747676"/>
              </a:buClr>
              <a:buFont typeface="Arial"/>
              <a:buChar char="•"/>
            </a:pPr>
            <a:r>
              <a:rPr sz="1100" b="0">
                <a:solidFill>
                  <a:srgbClr val="333333"/>
                </a:solidFill>
                <a:latin typeface="Arial"/>
              </a:rPr>
              <a:t>ASSERT: /blog/litellm-microsoft-assert</a:t>
            </a:r>
          </a:p>
          <a:p>
            <a:pPr algn="l">
              <a:spcBef>
                <a:spcPts val="600"/>
              </a:spcBef>
              <a:spcAft>
                <a:spcPts val="400"/>
              </a:spcAft>
            </a:pPr>
            <a:r>
              <a:rPr sz="1100" b="1">
                <a:solidFill>
                  <a:srgbClr val="000000"/>
                </a:solidFill>
                <a:latin typeface="Arial"/>
              </a:rPr>
              <a:t>LiteLLM code (github.com/BerriAI/litellm)</a:t>
            </a:r>
          </a:p>
          <a:p>
            <a:pPr algn="l" marL="125730" indent="-125730">
              <a:spcAft>
                <a:spcPts val="400"/>
              </a:spcAft>
              <a:buClr>
                <a:srgbClr val="747676"/>
              </a:buClr>
              <a:buFont typeface="Arial"/>
              <a:buChar char="•"/>
            </a:pPr>
            <a:r>
              <a:rPr sz="1100" b="0">
                <a:solidFill>
                  <a:srgbClr val="333333"/>
                </a:solidFill>
                <a:latin typeface="Arial"/>
              </a:rPr>
              <a:t>litellm/types/guardrails.py@v1.106.2 (SupportedGuardrailIntegrations, 61 values)</a:t>
            </a:r>
          </a:p>
          <a:p>
            <a:pPr algn="l" marL="125730" indent="-125730">
              <a:spcAft>
                <a:spcPts val="400"/>
              </a:spcAft>
              <a:buClr>
                <a:srgbClr val="747676"/>
              </a:buClr>
              <a:buFont typeface="Arial"/>
              <a:buChar char="•"/>
            </a:pPr>
            <a:r>
              <a:rPr sz="1100" b="0">
                <a:solidFill>
                  <a:srgbClr val="333333"/>
                </a:solidFill>
                <a:latin typeface="Arial"/>
              </a:rPr>
              <a:t>litellm/proxy/management_endpoints/key_management_endpoints.py@v1.106.2</a:t>
            </a:r>
          </a:p>
        </p:txBody>
      </p:sp>
      <p:sp>
        <p:nvSpPr>
          <p:cNvPr id="9" name="TextBox 8"/>
          <p:cNvSpPr txBox="1"/>
          <p:nvPr/>
        </p:nvSpPr>
        <p:spPr>
          <a:xfrm>
            <a:off x="6245352" y="1325880"/>
            <a:ext cx="5486400" cy="4983480"/>
          </a:xfrm>
          <a:prstGeom prst="rect">
            <a:avLst/>
          </a:prstGeom>
          <a:noFill/>
        </p:spPr>
        <p:txBody>
          <a:bodyPr wrap="square" lIns="0" rIns="0" tIns="0" bIns="0" anchor="t">
            <a:spAutoFit/>
          </a:bodyPr>
          <a:lstStyle/>
          <a:p>
            <a:pPr algn="l">
              <a:spcAft>
                <a:spcPts val="400"/>
              </a:spcAft>
            </a:pPr>
            <a:r>
              <a:rPr sz="1100" b="1">
                <a:solidFill>
                  <a:srgbClr val="000000"/>
                </a:solidFill>
                <a:latin typeface="Arial"/>
              </a:rPr>
              <a:t>Galileo</a:t>
            </a:r>
          </a:p>
          <a:p>
            <a:pPr algn="l" marL="125730" indent="-125730">
              <a:spcAft>
                <a:spcPts val="400"/>
              </a:spcAft>
              <a:buClr>
                <a:srgbClr val="747676"/>
              </a:buClr>
              <a:buFont typeface="Arial"/>
              <a:buChar char="•"/>
            </a:pPr>
            <a:r>
              <a:rPr sz="1100" b="0">
                <a:solidFill>
                  <a:srgbClr val="333333"/>
                </a:solidFill>
                <a:latin typeface="Arial"/>
              </a:rPr>
              <a:t>github.com/agentcontrol/agent-control · docs.agentcontrol.dev</a:t>
            </a:r>
          </a:p>
          <a:p>
            <a:pPr algn="l" marL="125730" indent="-125730">
              <a:spcAft>
                <a:spcPts val="400"/>
              </a:spcAft>
              <a:buClr>
                <a:srgbClr val="747676"/>
              </a:buClr>
              <a:buFont typeface="Arial"/>
              <a:buChar char="•"/>
            </a:pPr>
            <a:r>
              <a:rPr sz="1100" b="0">
                <a:solidFill>
                  <a:srgbClr val="333333"/>
                </a:solidFill>
                <a:latin typeface="Arial"/>
              </a:rPr>
              <a:t>docs.agentcontrol.dev/concepts/performance.md (vendor latency claims)</a:t>
            </a:r>
          </a:p>
          <a:p>
            <a:pPr algn="l" marL="125730" indent="-125730">
              <a:spcAft>
                <a:spcPts val="400"/>
              </a:spcAft>
              <a:buClr>
                <a:srgbClr val="747676"/>
              </a:buClr>
              <a:buFont typeface="Arial"/>
              <a:buChar char="•"/>
            </a:pPr>
            <a:r>
              <a:rPr sz="1100" b="0">
                <a:solidFill>
                  <a:srgbClr val="333333"/>
                </a:solidFill>
                <a:latin typeface="Arial"/>
              </a:rPr>
              <a:t>docs.galileo.ai/concepts/protect/overview (Protect deprecation)</a:t>
            </a:r>
          </a:p>
          <a:p>
            <a:pPr algn="l" marL="125730" indent="-125730">
              <a:spcAft>
                <a:spcPts val="400"/>
              </a:spcAft>
              <a:buClr>
                <a:srgbClr val="747676"/>
              </a:buClr>
              <a:buFont typeface="Arial"/>
              <a:buChar char="•"/>
            </a:pPr>
            <a:r>
              <a:rPr sz="1100" b="0">
                <a:solidFill>
                  <a:srgbClr val="333333"/>
                </a:solidFill>
                <a:latin typeface="Arial"/>
              </a:rPr>
              <a:t>docs.galileo.ai/concepts/luna/luna (Luna-2, Enterprise tier)</a:t>
            </a:r>
          </a:p>
          <a:p>
            <a:pPr algn="l">
              <a:spcBef>
                <a:spcPts val="600"/>
              </a:spcBef>
              <a:spcAft>
                <a:spcPts val="400"/>
              </a:spcAft>
            </a:pPr>
            <a:r>
              <a:rPr sz="1100" b="1">
                <a:solidFill>
                  <a:srgbClr val="000000"/>
                </a:solidFill>
                <a:latin typeface="Arial"/>
              </a:rPr>
              <a:t>Microsoft</a:t>
            </a:r>
          </a:p>
          <a:p>
            <a:pPr algn="l" marL="125730" indent="-125730">
              <a:spcAft>
                <a:spcPts val="400"/>
              </a:spcAft>
              <a:buClr>
                <a:srgbClr val="747676"/>
              </a:buClr>
              <a:buFont typeface="Arial"/>
              <a:buChar char="•"/>
            </a:pPr>
            <a:r>
              <a:rPr sz="1100" b="0">
                <a:solidFill>
                  <a:srgbClr val="333333"/>
                </a:solidFill>
                <a:latin typeface="Arial"/>
              </a:rPr>
              <a:t>github.com/microsoft/agent-governance-toolkit</a:t>
            </a:r>
          </a:p>
          <a:p>
            <a:pPr algn="l" marL="125730" indent="-125730">
              <a:spcAft>
                <a:spcPts val="400"/>
              </a:spcAft>
              <a:buClr>
                <a:srgbClr val="747676"/>
              </a:buClr>
              <a:buFont typeface="Arial"/>
              <a:buChar char="•"/>
            </a:pPr>
            <a:r>
              <a:rPr sz="1100" b="0">
                <a:solidFill>
                  <a:srgbClr val="333333"/>
                </a:solidFill>
                <a:latin typeface="Arial"/>
              </a:rPr>
              <a:t>microsoft.github.io/agent-governance-toolkit/packages/agent-control-specification/</a:t>
            </a:r>
          </a:p>
          <a:p>
            <a:pPr algn="l" marL="125730" indent="-125730">
              <a:spcAft>
                <a:spcPts val="400"/>
              </a:spcAft>
              <a:buClr>
                <a:srgbClr val="747676"/>
              </a:buClr>
              <a:buFont typeface="Arial"/>
              <a:buChar char="•"/>
            </a:pPr>
            <a:r>
              <a:rPr sz="1100" b="0">
                <a:solidFill>
                  <a:srgbClr val="333333"/>
                </a:solidFill>
                <a:latin typeface="Arial"/>
              </a:rPr>
              <a:t>…/policy-engine/docs/integrations/litellm-proxy.md (LiteLLM hook)</a:t>
            </a:r>
          </a:p>
          <a:p>
            <a:pPr algn="l" marL="125730" indent="-125730">
              <a:spcAft>
                <a:spcPts val="400"/>
              </a:spcAft>
              <a:buClr>
                <a:srgbClr val="747676"/>
              </a:buClr>
              <a:buFont typeface="Arial"/>
              <a:buChar char="•"/>
            </a:pPr>
            <a:r>
              <a:rPr sz="1100" b="0">
                <a:solidFill>
                  <a:srgbClr val="333333"/>
                </a:solidFill>
                <a:latin typeface="Arial"/>
              </a:rPr>
              <a:t>opensource.microsoft.com/blog/2026/04/02/introducing-the-agent-governance-toolkit-…</a:t>
            </a:r>
          </a:p>
          <a:p>
            <a:pPr algn="l" marL="125730" indent="-125730">
              <a:spcAft>
                <a:spcPts val="400"/>
              </a:spcAft>
              <a:buClr>
                <a:srgbClr val="747676"/>
              </a:buClr>
              <a:buFont typeface="Arial"/>
              <a:buChar char="•"/>
            </a:pPr>
            <a:r>
              <a:rPr sz="1100" b="0">
                <a:solidFill>
                  <a:srgbClr val="333333"/>
                </a:solidFill>
                <a:latin typeface="Arial"/>
              </a:rPr>
              <a:t>learn.microsoft.com/en-us/azure/foundry/guardrails/guardrails-overview</a:t>
            </a:r>
          </a:p>
          <a:p>
            <a:pPr algn="l" marL="125730" indent="-125730">
              <a:spcAft>
                <a:spcPts val="400"/>
              </a:spcAft>
              <a:buClr>
                <a:srgbClr val="747676"/>
              </a:buClr>
              <a:buFont typeface="Arial"/>
              <a:buChar char="•"/>
            </a:pPr>
            <a:r>
              <a:rPr sz="1100" b="0">
                <a:solidFill>
                  <a:srgbClr val="333333"/>
                </a:solidFill>
                <a:latin typeface="Arial"/>
              </a:rPr>
              <a:t>learn.microsoft.com/…/content-safety/concepts/jailbreak-detection (Prompt Shields)</a:t>
            </a:r>
          </a:p>
          <a:p>
            <a:pPr algn="l">
              <a:spcBef>
                <a:spcPts val="600"/>
              </a:spcBef>
              <a:spcAft>
                <a:spcPts val="400"/>
              </a:spcAft>
            </a:pPr>
            <a:r>
              <a:rPr sz="1100" b="1">
                <a:solidFill>
                  <a:srgbClr val="000000"/>
                </a:solidFill>
                <a:latin typeface="Arial"/>
              </a:rPr>
              <a:t>Other</a:t>
            </a:r>
          </a:p>
          <a:p>
            <a:pPr algn="l" marL="125730" indent="-125730">
              <a:spcAft>
                <a:spcPts val="400"/>
              </a:spcAft>
              <a:buClr>
                <a:srgbClr val="747676"/>
              </a:buClr>
              <a:buFont typeface="Arial"/>
              <a:buChar char="•"/>
            </a:pPr>
            <a:r>
              <a:rPr sz="1100" b="0">
                <a:solidFill>
                  <a:srgbClr val="333333"/>
                </a:solidFill>
                <a:latin typeface="Arial"/>
              </a:rPr>
              <a:t>github.com/data-privacy-stack/presidio</a:t>
            </a:r>
          </a:p>
          <a:p>
            <a:pPr algn="l" marL="125730" indent="-125730">
              <a:spcAft>
                <a:spcPts val="400"/>
              </a:spcAft>
              <a:buClr>
                <a:srgbClr val="747676"/>
              </a:buClr>
              <a:buFont typeface="Arial"/>
              <a:buChar char="•"/>
            </a:pPr>
            <a:r>
              <a:rPr sz="1100" b="0">
                <a:solidFill>
                  <a:srgbClr val="333333"/>
                </a:solidFill>
                <a:latin typeface="Arial"/>
              </a:rPr>
              <a:t>Background: litellm-guardrails-v2-findings.md (19 Oct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Kairos Gateway runtime guardrails and auto routing v2</dc:title>
  <dc:subject/>
  <dc:creator>Grok Bot for Varun Saagar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